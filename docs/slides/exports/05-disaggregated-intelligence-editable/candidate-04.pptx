
<file path=[Content_Types].xml><?xml version="1.0" encoding="utf-8"?>
<ns0:Types xmlns:ns0="http://schemas.openxmlformats.org/package/2006/content-types">
  <ns0:Default Extension="xml" ContentType="application/xml"/>
  <ns0:Default Extension="rels" ContentType="application/vnd.openxmlformats-package.relationships+xml"/>
  <ns0:Default Extension="jpeg" ContentType="image/jpeg"/>
  <ns0:Default Extension="jpg" ContentType="image/jpg"/>
  <ns0:Default Extension="svg" ContentType="image/svg+xml"/>
  <ns0:Default Extension="png" ContentType="image/png"/>
  <ns0:Default Extension="gif" ContentType="image/gif"/>
  <ns0:Default Extension="m4v" ContentType="video/mp4"/>
  <ns0:Default Extension="mp4" ContentType="video/mp4"/>
  <ns0:Default Extension="vml" ContentType="application/vnd.openxmlformats-officedocument.vmlDrawing"/>
  <ns0:Default Extension="xlsx" ContentType="application/vnd.openxmlformats-officedocument.spreadsheetml.sheet"/>
  <ns0:Override PartName="/ppt/presentation.xml" ContentType="application/vnd.openxmlformats-officedocument.presentationml.presentation.main+xml"/>
  <ns0:Override PartName="/ppt/notesMasters/notesMaster1.xml" ContentType="application/vnd.openxmlformats-officedocument.presentationml.notesMaster+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Masters/slideMaster2.xml" ContentType="application/vnd.openxmlformats-officedocument.presentationml.slideMaster+xml"/>
  <ns0:Override PartName="/ppt/slides/slide2.xml" ContentType="application/vnd.openxmlformats-officedocument.presentationml.slide+xml"/>
  <ns0:Override PartName="/ppt/slideMasters/slideMaster3.xml" ContentType="application/vnd.openxmlformats-officedocument.presentationml.slideMaster+xml"/>
  <ns0:Override PartName="/ppt/slides/slide3.xml" ContentType="application/vnd.openxmlformats-officedocument.presentationml.slide+xml"/>
  <ns0:Override PartName="/ppt/slideMasters/slideMaster4.xml" ContentType="application/vnd.openxmlformats-officedocument.presentationml.slideMaster+xml"/>
  <ns0:Override PartName="/ppt/slides/slide4.xml" ContentType="application/vnd.openxmlformats-officedocument.presentationml.slide+xml"/>
  <ns0:Override PartName="/ppt/slideMasters/slideMaster5.xml" ContentType="application/vnd.openxmlformats-officedocument.presentationml.slideMaster+xml"/>
  <ns0:Override PartName="/ppt/slides/slide5.xml" ContentType="application/vnd.openxmlformats-officedocument.presentationml.slide+xml"/>
  <ns0:Override PartName="/ppt/slideMasters/slideMaster6.xml" ContentType="application/vnd.openxmlformats-officedocument.presentationml.slideMaster+xml"/>
  <ns0:Override PartName="/ppt/slides/slide6.xml" ContentType="application/vnd.openxmlformats-officedocument.presentationml.slide+xml"/>
  <ns0:Override PartName="/ppt/slideMasters/slideMaster7.xml" ContentType="application/vnd.openxmlformats-officedocument.presentationml.slideMaster+xml"/>
  <ns0:Override PartName="/ppt/slides/slide7.xml" ContentType="application/vnd.openxmlformats-officedocument.presentationml.slide+xml"/>
  <ns0:Override PartName="/ppt/slideMasters/slideMaster8.xml" ContentType="application/vnd.openxmlformats-officedocument.presentationml.slideMaster+xml"/>
  <ns0:Override PartName="/ppt/slides/slide8.xml" ContentType="application/vnd.openxmlformats-officedocument.presentationml.slide+xml"/>
  <ns0:Override PartName="/ppt/slideMasters/slideMaster9.xml" ContentType="application/vnd.openxmlformats-officedocument.presentationml.slideMaster+xml"/>
  <ns0:Override PartName="/ppt/slides/slide9.xml" ContentType="application/vnd.openxmlformats-officedocument.presentationml.slide+xml"/>
  <ns0:Override PartName="/ppt/slideMasters/slideMaster10.xml" ContentType="application/vnd.openxmlformats-officedocument.presentationml.slideMaster+xml"/>
  <ns0:Override PartName="/ppt/slides/slide10.xml" ContentType="application/vnd.openxmlformats-officedocument.presentationml.slide+xml"/>
  <ns0:Override PartName="/ppt/slideMasters/slideMaster11.xml" ContentType="application/vnd.openxmlformats-officedocument.presentationml.slideMaster+xml"/>
  <ns0:Override PartName="/ppt/slides/slide11.xml" ContentType="application/vnd.openxmlformats-officedocument.presentationml.slide+xml"/>
  <ns0:Override PartName="/ppt/slideMasters/slideMaster12.xml" ContentType="application/vnd.openxmlformats-officedocument.presentationml.slideMaster+xml"/>
  <ns0:Override PartName="/ppt/slides/slide12.xml" ContentType="application/vnd.openxmlformats-officedocument.presentationml.slide+xml"/>
  <ns0:Override PartName="/ppt/slideMasters/slideMaster13.xml" ContentType="application/vnd.openxmlformats-officedocument.presentationml.slideMaster+xml"/>
  <ns0:Override PartName="/ppt/slides/slide13.xml" ContentType="application/vnd.openxmlformats-officedocument.presentationml.slide+xml"/>
  <ns0:Override PartName="/ppt/slideMasters/slideMaster14.xml" ContentType="application/vnd.openxmlformats-officedocument.presentationml.slideMaster+xml"/>
  <ns0:Override PartName="/ppt/slides/slide14.xml" ContentType="application/vnd.openxmlformats-officedocument.presentationml.slide+xml"/>
  <ns0:Override PartName="/ppt/slideMasters/slideMaster15.xml" ContentType="application/vnd.openxmlformats-officedocument.presentationml.slideMaster+xml"/>
  <ns0:Override PartName="/ppt/slides/slide15.xml" ContentType="application/vnd.openxmlformats-officedocument.presentationml.slide+xml"/>
  <ns0:Override PartName="/ppt/slideMasters/slideMaster16.xml" ContentType="application/vnd.openxmlformats-officedocument.presentationml.slideMaster+xml"/>
  <ns0:Override PartName="/ppt/slides/slide16.xml" ContentType="application/vnd.openxmlformats-officedocument.presentationml.slide+xml"/>
  <ns0:Override PartName="/ppt/slideMasters/slideMaster17.xml" ContentType="application/vnd.openxmlformats-officedocument.presentationml.slideMaster+xml"/>
  <ns0:Override PartName="/ppt/slides/slide17.xml" ContentType="application/vnd.openxmlformats-officedocument.presentationml.slide+xml"/>
  <ns0:Override PartName="/ppt/slideMasters/slideMaster18.xml" ContentType="application/vnd.openxmlformats-officedocument.presentationml.slideMaster+xml"/>
  <ns0:Override PartName="/ppt/slides/slide18.xml" ContentType="application/vnd.openxmlformats-officedocument.presentationml.slide+xml"/>
  <ns0:Override PartName="/ppt/slideMasters/slideMaster19.xml" ContentType="application/vnd.openxmlformats-officedocument.presentationml.slideMaster+xml"/>
  <ns0:Override PartName="/ppt/slides/slide19.xml" ContentType="application/vnd.openxmlformats-officedocument.presentationml.slide+xml"/>
  <ns0:Override PartName="/ppt/slideMasters/slideMaster20.xml" ContentType="application/vnd.openxmlformats-officedocument.presentationml.slideMaster+xml"/>
  <ns0:Override PartName="/ppt/slides/slide20.xml" ContentType="application/vnd.openxmlformats-officedocument.presentationml.slide+xml"/>
  <ns0:Override PartName="/ppt/slideMasters/slideMaster21.xml" ContentType="application/vnd.openxmlformats-officedocument.presentationml.slideMaster+xml"/>
  <ns0:Override PartName="/ppt/slides/slide21.xml" ContentType="application/vnd.openxmlformats-officedocument.presentationml.slide+xml"/>
  <ns0:Override PartName="/ppt/slideMasters/slideMaster22.xml" ContentType="application/vnd.openxmlformats-officedocument.presentationml.slideMaster+xml"/>
  <ns0:Override PartName="/ppt/slides/slide22.xml" ContentType="application/vnd.openxmlformats-officedocument.presentationml.slide+xml"/>
  <ns0:Override PartName="/ppt/slideMasters/slideMaster23.xml" ContentType="application/vnd.openxmlformats-officedocument.presentationml.slideMaster+xml"/>
  <ns0:Override PartName="/ppt/slides/slide23.xml" ContentType="application/vnd.openxmlformats-officedocument.presentationml.slide+xml"/>
  <ns0:Override PartName="/ppt/slideMasters/slideMaster24.xml" ContentType="application/vnd.openxmlformats-officedocument.presentationml.slideMaster+xml"/>
  <ns0:Override PartName="/ppt/slides/slide24.xml" ContentType="application/vnd.openxmlformats-officedocument.presentationml.slide+xml"/>
  <ns0:Override PartName="/ppt/slideMasters/slideMaster25.xml" ContentType="application/vnd.openxmlformats-officedocument.presentationml.slideMaster+xml"/>
  <ns0:Override PartName="/ppt/slides/slide25.xml" ContentType="application/vnd.openxmlformats-officedocument.presentationml.slide+xml"/>
  <ns0:Override PartName="/ppt/slideMasters/slideMaster26.xml" ContentType="application/vnd.openxmlformats-officedocument.presentationml.slideMaster+xml"/>
  <ns0:Override PartName="/ppt/slides/slide26.xml" ContentType="application/vnd.openxmlformats-officedocument.presentationml.slide+xml"/>
  <ns0:Override PartName="/ppt/slideMasters/slideMaster27.xml" ContentType="application/vnd.openxmlformats-officedocument.presentationml.slideMaster+xml"/>
  <ns0:Override PartName="/ppt/slides/slide27.xml" ContentType="application/vnd.openxmlformats-officedocument.presentationml.slide+xml"/>
  <ns0:Override PartName="/ppt/slideMasters/slideMaster28.xml" ContentType="application/vnd.openxmlformats-officedocument.presentationml.slideMaster+xml"/>
  <ns0:Override PartName="/ppt/slides/slide28.xml" ContentType="application/vnd.openxmlformats-officedocument.presentationml.slide+xml"/>
  <ns0:Override PartName="/ppt/slideMasters/slideMaster29.xml" ContentType="application/vnd.openxmlformats-officedocument.presentationml.slideMaster+xml"/>
  <ns0:Override PartName="/ppt/slides/slide29.xml" ContentType="application/vnd.openxmlformats-officedocument.presentationml.slide+xml"/>
  <ns0:Override PartName="/ppt/slideMasters/slideMaster30.xml" ContentType="application/vnd.openxmlformats-officedocument.presentationml.slideMaster+xml"/>
  <ns0:Override PartName="/ppt/slides/slide30.xml" ContentType="application/vnd.openxmlformats-officedocument.presentationml.slide+xml"/>
  <ns0:Override PartName="/ppt/slideMasters/slideMaster31.xml" ContentType="application/vnd.openxmlformats-officedocument.presentationml.slideMaster+xml"/>
  <ns0:Override PartName="/ppt/slides/slide31.xml" ContentType="application/vnd.openxmlformats-officedocument.presentationml.slide+xml"/>
  <ns0:Override PartName="/ppt/slideMasters/slideMaster32.xml" ContentType="application/vnd.openxmlformats-officedocument.presentationml.slideMaster+xml"/>
  <ns0:Override PartName="/ppt/slides/slide32.xml" ContentType="application/vnd.openxmlformats-officedocument.presentationml.slide+xml"/>
  <ns0:Override PartName="/ppt/slideMasters/slideMaster33.xml" ContentType="application/vnd.openxmlformats-officedocument.presentationml.slideMaster+xml"/>
  <ns0:Override PartName="/ppt/slides/slide33.xml" ContentType="application/vnd.openxmlformats-officedocument.presentationml.slide+xml"/>
  <ns0:Override PartName="/ppt/slideMasters/slideMaster34.xml" ContentType="application/vnd.openxmlformats-officedocument.presentationml.slideMaster+xml"/>
  <ns0:Override PartName="/ppt/slides/slide34.xml" ContentType="application/vnd.openxmlformats-officedocument.presentationml.slide+xml"/>
  <ns0:Override PartName="/ppt/slideMasters/slideMaster35.xml" ContentType="application/vnd.openxmlformats-officedocument.presentationml.slideMaster+xml"/>
  <ns0:Override PartName="/ppt/slides/slide35.xml" ContentType="application/vnd.openxmlformats-officedocument.presentationml.slide+xml"/>
  <ns0:Override PartName="/ppt/slideMasters/slideMaster36.xml" ContentType="application/vnd.openxmlformats-officedocument.presentationml.slideMaster+xml"/>
  <ns0:Override PartName="/ppt/slides/slide36.xml" ContentType="application/vnd.openxmlformats-officedocument.presentationml.slide+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ppt/notesSlides/notesSlide16.xml" ContentType="application/vnd.openxmlformats-officedocument.presentationml.notesSlide+xml"/>
  <ns0:Override PartName="/ppt/notesSlides/notesSlide17.xml" ContentType="application/vnd.openxmlformats-officedocument.presentationml.notesSlide+xml"/>
  <ns0:Override PartName="/ppt/notesSlides/notesSlide18.xml" ContentType="application/vnd.openxmlformats-officedocument.presentationml.notesSlide+xml"/>
  <ns0:Override PartName="/ppt/notesSlides/notesSlide19.xml" ContentType="application/vnd.openxmlformats-officedocument.presentationml.notesSlide+xml"/>
  <ns0:Override PartName="/ppt/notesSlides/notesSlide20.xml" ContentType="application/vnd.openxmlformats-officedocument.presentationml.notesSlide+xml"/>
  <ns0:Override PartName="/ppt/notesSlides/notesSlide21.xml" ContentType="application/vnd.openxmlformats-officedocument.presentationml.notesSlide+xml"/>
  <ns0:Override PartName="/ppt/notesSlides/notesSlide22.xml" ContentType="application/vnd.openxmlformats-officedocument.presentationml.notesSlide+xml"/>
  <ns0:Override PartName="/ppt/notesSlides/notesSlide23.xml" ContentType="application/vnd.openxmlformats-officedocument.presentationml.notesSlide+xml"/>
  <ns0:Override PartName="/ppt/notesSlides/notesSlide24.xml" ContentType="application/vnd.openxmlformats-officedocument.presentationml.notesSlide+xml"/>
  <ns0:Override PartName="/ppt/notesSlides/notesSlide25.xml" ContentType="application/vnd.openxmlformats-officedocument.presentationml.notesSlide+xml"/>
  <ns0:Override PartName="/ppt/notesSlides/notesSlide26.xml" ContentType="application/vnd.openxmlformats-officedocument.presentationml.notesSlide+xml"/>
  <ns0:Override PartName="/ppt/notesSlides/notesSlide27.xml" ContentType="application/vnd.openxmlformats-officedocument.presentationml.notesSlide+xml"/>
  <ns0:Override PartName="/ppt/notesSlides/notesSlide28.xml" ContentType="application/vnd.openxmlformats-officedocument.presentationml.notesSlide+xml"/>
  <ns0:Override PartName="/ppt/notesSlides/notesSlide29.xml" ContentType="application/vnd.openxmlformats-officedocument.presentationml.notesSlide+xml"/>
  <ns0:Override PartName="/ppt/notesSlides/notesSlide30.xml" ContentType="application/vnd.openxmlformats-officedocument.presentationml.notesSlide+xml"/>
  <ns0:Override PartName="/ppt/notesSlides/notesSlide31.xml" ContentType="application/vnd.openxmlformats-officedocument.presentationml.notesSlide+xml"/>
  <ns0:Override PartName="/ppt/notesSlides/notesSlide32.xml" ContentType="application/vnd.openxmlformats-officedocument.presentationml.notesSlide+xml"/>
  <ns0:Override PartName="/ppt/notesSlides/notesSlide33.xml" ContentType="application/vnd.openxmlformats-officedocument.presentationml.notesSlide+xml"/>
  <ns0:Override PartName="/ppt/notesSlides/notesSlide34.xml" ContentType="application/vnd.openxmlformats-officedocument.presentationml.notesSlide+xml"/>
  <ns0:Override PartName="/ppt/notesSlides/notesSlide35.xml" ContentType="application/vnd.openxmlformats-officedocument.presentationml.notesSlide+xml"/>
  <ns0:Override PartName="/ppt/notesSlides/notesSlide36.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Disaggregated intelligence assigns different jobs to components suited to them. Services establish facts and authority; specialized models supply bounded semantic judgments; the runtime coordinates the resulting work.
• For Agentforce, AgentScript authors the controls, Agent Graph executes the workflow, and koa-action supplies focused decisions under an evaluated application contract. Frontier reasoning remains available for difficult interpretation.
• Choose the least expensive component that meets the decision’s quality and latency requirements, then measure the whole service. Reliability, predictability, lower cost and faster inference are the goals; their realized gains require evidence.
• System One names a model role here, not human cognition. This composition is proposed: public sources reviewed do not establish a koa-action SDK, native adapter, training interface or benchmark.
Transition: Follow one product-aftercare case from authority checks to complete-case evaluation.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SLIDE TEXT REFERENCE
DISAGGREGATED INTELLIGENCE
01 / 36
Disaggregated
intelligence
Enterprise reasoning with
koa-action
, Agent Graph
and AgentScript.
Fast, focused judgment by default.
Frontier reasoning for the exceptions.
Authored controls
AgentScript
State + transitions
Agent Graph
koa-action
Bounded judgment
Frontier model
Reasoning exceptions
Services
Facts + authority
Agent Graph / guided determinism
·
AgentScript control plane
·
Composable AI
·
Jev + LangGraph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Specialization creates an opportunity for much lower decision cost and faster inference when a bounded task does not require frontier reasoning. The workload and accepted error rate determine the gain.
• Agent Graph makes permitted paths and recovery behavior inspectable, while AgentScript expresses the controls around model choice. Required service checks still execute. Predictable control does not itself establish semantic correctness.
• Keep the complete customer case as the unit of value. A fast exchange route that loses the requested cable return fails the service, even if its local classifier is accurate.
Transition: Follow one case through the rest of the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Composable AI
https://typesafe.ai/manifesto
SLIDE TEXT REFERENCE
DISAGGREGATED INTELLIGENCE
02 / 36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The purchase records establish that the spare cable was purchased separately, so its return concerns a complete purchased item. A cable removed from the headphone kit would require the component handler instead.
• The customer asks for an exchange AND a cable return. Preserve both obligations and their item references; finishing the first cannot erase the second.
• This case is a constructed teaching example. Later we will stop the trace after an exchange authorization while the cable task is active, so the whole case remains unfinished.
Transition: Assign an owner to each kind of work.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SLIDE TEXT REFERENCE
DISAGGREGATED INTELLIGENCE
03 / 36
01 / Service invariant
One customer, two obligations
“Exchange these headphones
and return the spare cable.”
The cable is a separately purchased item.
The case ledger
Exchange
Requested
Pending
Cable return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The throughline is allocation plus coordination. koa-action supplies a bounded interpretation; Agent Graph coordinates task state and escalation; AgentScript configures the controls that constrain each judgment’s effect.
• Backend services establish identity, ownership, stock and policy outcomes. They also enforce their requirements when writing. A high model score cannot substitute for any of these results.
• A clear exchange or kit-component return may use System One and a configured handler without frontier reasoning. A request can have many business steps while remaining easy to interpret.
• The human branch handles configured review and unresolved cases. A reviewer’s interpretation does not invent a missing handler or confer policy-override authority.
Transition: Now move process rules from prose into inspectable structure.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SLIDE TEXT REFERENCE
DISAGGREGATED INTELLIGENCE
04 / 36
01 / Architecture
Give each responsibility an owner
AgentScript
Authors sequencing, action availability, and bound inputs
Agent Graph
Executes the workflow and retains task state
Interpret
koa-action
System One: bounded decisions
Reason
Frontier model
Residual interpretation
after a defined gate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Procedural domain knowledge enters topology: the nodes and transitions specify what runs first, which evidence each step sees and where it can go next.
• The small graph previews the shared front desk. Verified identity allows protected purchase lookup. Missing sessions, rejection and unavailable services have distinct routes, expanded on the next illustration.
• Live purchase facts remain in application records, business policy remains explicit code or configuration, and category definitions remain in the semantic node’s context. Moving process dependencies into a graph does not eliminate these inputs.
• Review the graph itself. It can consistently encode an incorrect policy or accidentally lose a requested task.
Transition: Expand the front desk, then follow three familiar request types.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Agent Graph / guided determinism
https://engineering.salesforce.com/agentforces-agent-graph-toward-guided-determinism-with-hybrid-reasoning/
SLIDE TEXT REFERENCE
DISAGGREGATED INTELLIGENCE
05 / 36
02 / Encode the sequence
Process knowledge becomes topology
A process buried in instructions
Before an exchange, verify identity and match the purchase. Check exchange rules and stock. Preserve the cable return.
Definitions and evidence still belong in node context.
Verify identity
Match the owned purchase
Route the customer’s tasks
Stop or recover
Follow the identity
service result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identity and an owned purchase
Section: Step 01
Purpose: Separate authoritative access gates from the choice of model allocation.
Suggested speaking time: 1.2 minutes
TALKING POINTS
• Follow the shared front desk before comparing models. The identity service supplies a result. Verified access permits protected purchase lookup; neither model grants authentication.
• The no-login branch goes through secure sign-in and returns to the same identity check. The denied branch stops protected work and can offer permitted account support. A service outage also holds or takes bounded recovery; unknown does not mean verified.
• The matched purchase binds owned line items to the authenticated customer. Missing identifiers or a mismatch go to purchase verification and recheck. Only a verified purchase reaches page B; item or kit-component binding can still need clarification there.
• Both architecture choices retain these safeguards. In the selected wrapper design, frontier inference proposes the next step around each service result. In the disaggregated design, authored transitions carry the known process and call a small decision model only for bounded meaning.
• Agent Graph coordinates execution and state. AgentScript configures the control. This is an architectural comparison with LangGraph, not an API compatibility claim or a hosted LangGraph implementation. More predictable transitions create an opportunity for cheaper, faster handling; measurement must establish the gain.
Transition: With access and purchase established, identify the requested remedy and affected unit.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Reliable enterprise agents
https://engineering.salesforce.com/building-enterprise-ai-agents-that-are-both-autonomous-and-reliable/
AgentScript control plane
https://www.salesforce.com/blog/agent-script-control-plane/
Jev + LangGraph
https://www.langchain.com/blog/building-prod-with-jev-and-langgraph
LOCAL COMPANION REFERENCES
Access and allocation · A — diagrams/returns-comparison-access.svg
These identifiers refer to the accompanying repository and are not broken file hyperlinks.
SLIDE TEXT REFERENCE
DISAGGREGATED INTELLIGENCE
06 / 36
Step 01 / One return, two allocations · A
Start with identity and an owned purchase
Reliable enterprise agents
·
AgentScript control plane
·
Jev + LangGraph
·
Access and allocation · A
Proposed design · same service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familiar requests a direct service route
Section: Step 01
Purpose: Show that a familiar exchange or kit-part return can use bounded judgment and a configured service route.
Suggested speaking time: 1.4 minutes
TALKING POINTS
• The small chip answers bounded questions: what remedy is requested, which owned item or kit component is affected, and whether the meaning is clear enough. An authored supported-combination mapping chooses a handler. The three pictured mappings are whole-item return, whole-item exchange and kit-component return.
• The open headphone kit means the complete purchased product; the highlighted cable means one component of that kit. A spare cable purchased as its own line item is an ordinary whole-item return. In the ongoing two-task case, the purchase service has established that the spare cable was bought separately.
• A clear exchange goes to exchange rules and inventory. A clear kit-component return goes to component identity and kit-part rules. Both can be handled without frontier interpretation. Their terms are independent of the whole-item return policy on the later calendar slide.
• The graph follows only registered handlers. Component exchange is a different combination; if the merchant has not registered it, configured specialist handling receives the correctly understood request. Neither model invents a policy or supported route.
• The eligible-quote junction describes a common finish for each selected task. It does not merge their rules. Confirm the exact action and terms; the service rechecks before issuing the corresponding authorization. Missing facts hold and known ineligibility follows the affected handler.
• Clarification can settle an ambiguous item or remedy and return to reassessment. Only meaning that remains unresolved can enter reasoning gate C. Keep AND obligations, OR choices and IF conditions. An exchange for blue if in stock, otherwise return, can be authored logic: unknown stock holds, and only the selected alternative may commit.
Transition: Expand the exception path and examine what must hold before frontier interpretation is useful.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Intent routing
https://docs.typesafe.ai/patterns/intent-routing
LOCAL COMPANION REFERENCES
Bounded request routes · B — diagrams/returns-comparison-routing.svg
These identifiers refer to the accompanying repository and are not broken file hyperlinks.
SLIDE TEXT REFERENCE
DISAGGREGATED INTELLIGENCE
07 / 36
Step 01 / One return, two allocations · B
Give familiar requests a direct service route
Agent Graph / guided determinism
·
AgentScript control plane
·
Intent routing
·
Bounded request routes · B
Illustrated supported combinations · independent handler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frontier reasoning for unresolved meaning
Section: Step 01
Purpose: Make the frontier model a scoped interpretation resource with explicit preconditions and a guarded return path.
Suggested speaking time: 1.5 minutes
TALKING POINTS
• The verified-access and purchase label is a precondition. Read the green route first: clear meaning reaches the authored mapping and its appropriate handler. An unsupported combination goes to configured specialist handling rather than an invented route.
• The detour first asks one useful clarification. If that resolves the meaning, reassess the task and follow its handler without frontier reasoning. More business steps, an exchange, a component request, or a familiar if-condition does not itself make interpretation difficult.
• Facts and checks are branch-aware. Obtain missing evidence from authoritative services; hold when it cannot be obtained. Apply known mandatory rules for the affected handler. A whole-item return deadline does not globally reject an exchange or kit-component request.
• Only substantive interpretation that remains after clarification, with the relevant facts and known checks satisfied, reaches one scoped frontier attempt. It receives the authorized history and remaining question, then proposes a task structure; it does not replace service facts.
• A human validates item references and AND, OR and IF relationships, or holds the case. Validated interpretation re-enters the same supported-combination mapping and the applicable handler. Neither human validation nor model output grants a policy override.
• Only an eligible selected task reaches confirmed terms and an authoritative service write. Bound technical recovery, reconcile an unknown write outcome, and retain every unfinished obligation. Measure the cost of this detour, including any added review, in whole-case evaluation.
Transition: Scope a concrete policy to one handler so that its rules cannot spill into other remedies.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Intent routing
https://docs.typesafe.ai/patterns/intent-routing
AgentScript control plane
https://www.salesforce.com/blog/agent-script-control-plane/
LOCAL COMPANION REFERENCES
Reasoning gate · C — diagrams/returns-reasoning-gate.svg
These identifiers refer to the accompanying repository and are not broken file hyperlinks.
SLIDE TEXT REFERENCE
DISAGGREGATED INTELLIGENCE
08 / 36
Step 01 / The interpretation exception · C
Reserve frontier reasoning for unresolved meaning
Intent routing
·
AgentScript control plane
·
Reasoning gate · C
Scoped interpretation · facts and authority remain with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Whole-item returns follow their own policy
Section: 02
Purpose: Separate trusted eligibility and fee rules from semantic interpretation and from transaction success.
Suggested speaking time: 1.2 minutes
TALKING POINTS
• The scope label matters: this invented merchant table applies only to whole-item returns. A separate service owns exchange rules; kit-component returns have their own rules and terms. These values are not Salesforce product policy.
• A verified owned purchase provides the delivery time, original request time, loyalty tier, item eligibility and available unreturned quantity. Missing or contradictory required facts stay pending. Keep the original request timestamp through retries and handoffs.
• Standard permits an eligible request within 30 days inclusive and quotes five-dollar shipping. Plus permits 60 days inclusive and waives shipping. Standard day 18 and Plus day 45 can qualify if the other rules hold; Standard day 45 fails this ordinary return window.
• Confirm the specific items, quantity and quote. The backend rechecks authority, policy and accepted terms before recording an idempotent return authorization. Changed terms require renewed confirmation; a label in this drawing means authorization, not completed shipping or settled refund.
• A known rule failure does not justify a frontier appeal. A separate eligible task can continue under its own policy while the declined task retains its outcome. This scoped service authority makes the authored route predictable.
Transition: Now connect the illustrated application to the runtime, authored controls and model contracts beneath 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Whole-item return policy — diagrams/returns-whole-item-policy.svg
Tutorial evaluation protocol — blog/09-building-prod.md
These identifiers refer to the accompanying repository and are not broken file hyperlinks.
SLIDE TEXT REFERENCE
DISAGGREGATED INTELLIGENCE
09 / 36
02 / An explicit merchant policy
Whole-item returns follow their own policy
Whole-item return policy
·
Tutorial evaluation protocol
Invented whole-item policy · exchanges and kit parts have separate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Once judgments and services are separated, the runtime coordinates state and decides which configured step executes next. Agent Graph occupies that runtime role in Agentforce.
• AgentScript authors the controls around model choice. The wider agent harness also includes context strategy, tools, operational policy and recovery.
• LangChain’s distinction among its framework, LangGraph runtime and Deep Agents harness provides an architectural analogy. It does not imply LangGraph API compatibility or Deep Agents defaults in Agentforce.
• The public AgentScript repository contains language tooling; Salesforce’s managed runtime is a separate component.
Transition: Define the first decision before selecting its integration.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Runtime, framework, harness
https://www.langchain.com/blog/deep-agents-vs-langchain-vs-langgraph
AgentScript control plane
https://www.salesforce.com/blog/agent-script-control-plane/
SLIDE TEXT REFERENCE
DISAGGREGATED INTELLIGENCE
10 / 36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remedy, the unit and the uncertainty
Section: 03
Purpose: Give a bounded task a testable contract.
Suggested speaking time: 1 minutes
TALKING POINTS
• Separate requested remedy, purchased-unit scope and interpretation status. Exchange does not mean difficult; a whole-item return can still be ambiguous.
• The three familiar supported combinations shown earlier are whole-item return, whole-item exchange and kit-component return. These examples are not an exhaustive provider taxonomy. A component exchange is one request, supported only if its own handler and policy are configured.
• Tie every task to verified candidate items and preserve AND, OR and IF relationships. AND retains every obligation; OR waits for a choice; IF evaluates the customer’s actual condition using authoritative facts.
• These are conceptual application fields, not a documented koa-action response schema. A timeout or malformed result uses bounded technical recovery and must not default into a transaction.
Transition: Match the question to the right primitive.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TypeSafe quickstart
https://docs.typesafe.ai/introduction/quickstart
Intent routing
https://docs.typesafe.ai/patterns/intent-routing
Structured decision criteria
https://docs.typesafe.ai/primitives/advanced
SLIDE TEXT REFERENCE
DISAGGREGATED INTELLIGENCE
11 / 36
03 / Step 1
Separate the remedy, the unit and the uncertainty
Bounded semantic question
What work is
the customer requesting?
Conversation prefix
+ verified candidate items.
Conceptual labels · boundary examples
“Swap for blue.”
exchange
“Only the kit cable.”
component
“Return this one.”
clarify unit
Keep three fields distinct
Remedy
Unit
Interpretation
Clear + supported
Graph selects the applicable handler.
Meaning unclear
Ask one useful clarification.
Unsupported combinations use a configured specialist.
Invalid output follows bounded recovery.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ns2:creationId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TypeSafe quickstart
https://docs.typesafe.ai/introduction/quickstart
Noul
https://docs.typesafe.ai/primitives/noul
Score
https://docs.typesafe.ai/primitives/score
SLIDE TEXT REFERENCE
DISAGGREGATED INTELLIGENCE
12 / 36
03 / System One capabilities
Four bounded decisions, four contracts
01
Classification
Which route?
Select a category.
02
Noul
Return requested?
Assess a yes/no proposition.
03
Scoring
How urgent is this case?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Noul
https://docs.typesafe.ai/primitives/noul
Score
https://docs.typesafe.ai/primitives/score
SLIDE TEXT REFERENCE
DISAGGREGATED INTELLIGENCE
13 / 36
03 / Give every number a meaning
Probability and intensity answer different questions
Noul · TypeSafe semantics
Was a return requested?
A probability-valued
yes/no judgment.
An uncertain answer does not mean
“a medium amount of returning.”
Score · illustrative rubric
How urgent is the case?
Can wait
Use disrupted
Essential use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ns2:creationId val="1024086991"/>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Imagine the spoken request: Exchange these headphones … and return the spare cable. Ending the turn at the pause can drop the second obligation before the routing model sees it.
• The waveform is illustrative. Semantic endpointing asks whether the spoken turn has ended using only the available audio prefix. Future speech may establish the reference label, but must not enter the earlier input.
• Measure premature cutoff and delay separately. Keep all prefixes from a conversation together when splitting data; a fast endpointing call still needs the right decision-time evidence.
Transition: Next decide which decisions may run in parallel.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Building with System One
https://docs.typesafe.ai/concepts/how-to-build-with-system-one
SLIDE TEXT REFERENCE
DISAGGREGATED INTELLIGENCE
14 / 36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ns2:creationId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Two bounded questions may read the same authorized snapshot without depending on one another’s output. This is a workflow-design pattern, not a claim about native koa-action batching.
• A task that needs a new service fact must wait. Protected purchase retrieval follows verified identity; selecting an affected item depends on the authorized candidate list.
• Independent execution does not imply statistically independent errors. Missing context can affect remedy and urgency together. Two requested transactions also cannot be assumed safe to commit in parallel.
Transition: Make each node’s evidence window explicit.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Building with System One
https://docs.typesafe.ai/concepts/how-to-build-with-system-one
A harness with Jev
https://www.langchain.com/blog/building-a-harness-with-jev
SLIDE TEXT REFERENCE
DISAGGREGATED INTELLIGENCE
15 / 36
04 / Step 2
Split work along information dependencies
Same decision-time snapshot
Remedy
Return or exchange?
Urgency
Which rubric level?
Independent execution can still produce correlated errors.
Verify identity
Match owned purchase
Bind the affected item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Agent Graph determines when evidence exists and which view of state each node receives. AgentScript authors the relevant controls and bindings.
• A model interprets the request using the conversation prefix and authorized candidate items. Its proposed item reference must be validated; it cannot make the customer the owner of an order.
• The selected handler obtains its own rules, stock and terms. Narrow context can reduce work, but excluding a required fact can reduce quality. Version and evaluate the input view.
Transition: Use that state to preserve the mixed request.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16 / 36
04 / Context is part of topology
Each node sees a different view of the case
Prefix + task definitions + verified items
Task interpretation
Trusted principal + purchase reference
Ownership check
Selected task + service policy + stock
Eligible offer or denial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ns2:creationId val="1024086991"/>
      </p:ext>
    </p:extLst>
  </p:cSld>
  <p:clrMapOvr>
    <a:masterClrMapping/>
  </p:clrMapOvr>
</p:notes>
</file>

<file path=ppt/notesSlides/notesSlide1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In this AND request, both tasks stay in graph state. The customer starts with the exchange; the cable return waits and then resumes after the exchange service records its authorized result.
• OR and IF have different semantics. Keep alternatives until one is selected or its stated condition is met. Inactive alternatives are unselected or untriggered, not unresolved obligations.
• For Exchange for blue if in stock; otherwise return, unknown stock remains pending. A different exchange-policy denial does not silently activate the stock-conditioned alternative. Only the selected action may commit.
• A time or turn budget bounds priority clarification. A handoff records receiving ownership and every outstanding obligation; it does not finish the customer’s work.
Transition: This is where neural interpretation meets explicit control.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SLIDE TEXT REFERENCE
DISAGGREGATED INTELLIGENCE
17 / 36
04 / Step 3
State preserves work across a branch
Two AND tasks
Record exchange + cable return
Clarify priority
Ask which task to start
Exchange active
Cable return stays pending
Cable return active
Resume after exchange authorization
Recorded handoff
Retain all outstanding work
exchange selected
no choice
within budget
exchange
authorized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ns2:creationId val="1024086991"/>
      </p:ext>
    </p:extLst>
  </p:cSld>
  <p:clrMapOvr>
    <a:masterClrMapping/>
  </p:clrMapOvr>
</p:notes>
</file>

<file path=ppt/notesSlides/notesSlide1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state and rules. System One contributes the judgment; AgentScript authors its permitted effect; Agent Graph executes the resulting path.
• Guided determinism makes the transition constraints inspectable. Classification remains fallible, and explicit controls alone do not guarantee eventual completion.
• The semantic model, route definitions and business services can evolve at their own boundaries when the composition is versioned and tested.
Transition: Three AgentScript concepts make that boundary concrete.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SLIDE TEXT REFERENCE
DISAGGREGATED INTELLIGENCE
18 / 36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ns2:creationId val="1024086991"/>
      </p:ext>
    </p:extLst>
  </p:cSld>
  <p:clrMapOvr>
    <a:masterClrMapping/>
  </p:clrMapOvr>
</p:notes>
</file>

<file path=ppt/notesSlides/notesSlide1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 left sketch is language-neutral design pseudocode, not runnable AgentScript or a documented koa-action adapter. Action definitions, dialect and deployment configuration are omitted. The requireOwnedOrder helper stops for verification or hold unless authoritative ownership is established.
• Required identity, purchase and applicable policy checks belong in authored procedure logic. An available-when condition filters model choices; it does not force the check to execute.
• Bound inputs use trusted service state for consequential identifiers and entitlements. Services independently enforce authority and current policy when committing.
• The selected handler follows its own rules, obtains customer confirmation, rechecks accepted terms and records the actual service result. Graph state retains the other task.
Transition: Walk the proposed request through all of its owners.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AgentScript control plane
https://www.salesforce.com/blog/agent-script-control-plane/
AgentScript specification
https://github.com/salesforce/agentscript/blob/main/SPEC.md
SLIDE TEXT REFERENCE
DISAGGREGATED INTELLIGENCE
19 / 36
05 / Step 4
Availability and required execution differ
Design pseudocode
Control around
the model choice.
identity = verifySession()
if identity != verified: return recovery
purchase = requireOwnedOrder(identity)
tasks = interpretAndValidate(purchase)
run selectedHandler(tasks)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ns2:creationId val="1024086991"/>
      </p:ext>
    </p:extLst>
  </p:cSld>
  <p:clrMapOvr>
    <a:masterClrMapping/>
  </p:clrMapOvr>
</p:notes>
</file>

<file path=ppt/notesSlides/notesSlide2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Authorize the exchange, then resume the cable return
Section: 05
Purpose: Follow the aftercare case while distinguishing interpretation, confirmation, service authorization and unfinished work.
Suggested speaking time: 1.6 minutes
TALKING POINTS
• The eight events follow the same customer case: Exchange these headphones and return the spare cable. The cable is a separately purchased item, not a component removed from the headphone kit.
• First the identity service verifies access, then the order service matches the owned purchase. System One proposes the two AND tasks and their item references; the graph validates that each has a supported handler.
• The customer chooses the exchange first. Exchange rules, stock and terms produce an eligible offer, leaving the task Awaiting confirmation. These are the exchange service’s rules, not the invented whole-item return table.
• Customer confirmation still precedes authorization. The service rechecks authority, policy, stock and accepted terms, then records the exchange ID. Authorized means that service outcome, not a shipped replacement or settled refund.
• Finally Agent Graph activates the cable return. The exchange is Authorized and the cable return is Active. The full case remains unfinished. This clear supported path needs no frontier call; unresolved interpretation has its separate gated route.
Transition: Now design the non-happy paths.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TRACE: Event 8 of 8. Exchange: Authorized; cable return: Active. Agent Graph resumes the cable return. Its policy, confirmation, and authorization are unfinished.
Walkthrough: verify identity, match the owned purchase, interpret both AND tasks, prioritize the exchange, check exchange policy and stock, confirm its terms, obtain a service-issued exchange ID after rechecks, and resume the cable return. The cable is a separately purchased line item. Its return remains unfinished; exchange authorization does not claim completed shipping.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20 / 36
05 / Step 5
Authorize the exchange, then resume the cable return
1
Verify identity
Service
2
Match purchase
Service
3
Interpret
System One
4
Prioritize
Customer
5
Policy + stock
Service
6
Confirm
Customer
7
Authorize
Service
8
Resume
Agent Graph
Agent Graph resumes the cable return. Its policy, confirmation, and authorization are unfinished.
Exchange
Authorized
Confirmation precedes a recheck
and the service-issued exchange ID.
Cable return
Active
A separately purchased item.
Still unfinished when this trace ends.
Next event →
Reset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ns2:creationId val="1024086991"/>
      </p:ext>
    </p:extLst>
  </p:cSld>
  <p:clrMapOvr>
    <a:masterClrMapping/>
  </p:clrMapOvr>
</p:notes>
</file>

<file path=ppt/notesSlides/notesSlide2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Reliable enterprise agents
https://engineering.salesforce.com/building-enterprise-ai-agents-that-are-both-autonomous-and-reliable/
AgentScript specification
https://github.com/salesforce/agentscript/blob/main/SPEC.md
SLIDE TEXT REFERENCE
DISAGGREGATED INTELLIGENCE
21 / 36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ns2:creationId val="1024086991"/>
      </p:ext>
    </p:extLst>
  </p:cSld>
  <p:clrMapOvr>
    <a:masterClrMapping/>
  </p:clrMapOvr>
</p:notes>
</file>

<file path=ppt/notesSlides/notesSlide2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This schematic focuses on the remedy question for one task: return, exchange or other. Purchased-unit scope and task relationships remain separate fields, so parts is not a competing remedy label.
• TypeSafe defines Choice and Score confidence from distribution concentration. Noul has no separate confidence field. A concentrated answer distribution can still be wrong.
• The picture is not a returned koa-action distribution. Validate any provider signal against independently adjudicated labels and choose gates on development data. A numerical score does not establish identity, eligibility or permission.
Transition: Explore what a stricter gate does to a small labeled sample.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Confidence routing
https://docs.typesafe.ai/patterns/confidence-routing
Confidence semantics
https://docs.typesafe.ai/confidence
SLIDE TEXT REFERENCE
DISAGGREGATED INTELLIGENCE
22 / 36
06 / Inspect the signal
Confidence needs evidence in your domain
A concentrated distribution
Return
Exchange
Other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ns2:creationId val="1024086991"/>
      </p:ext>
    </p:extLst>
  </p:cSld>
  <p:clrMapOvr>
    <a:masterClrMapping/>
  </p:clrMapOvr>
</p:notes>
</file>

<file path=ppt/notesSlides/notesSlide2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23 / 36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ns2:creationId val="1024086991"/>
      </p:ext>
    </p:extLst>
  </p:cSld>
  <p:clrMapOvr>
    <a:masterClrMapping/>
  </p:clrMapOvr>
</p:notes>
</file>

<file path=ppt/notesSlides/notesSlide2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a routing decision replaced by a specialized model. Every constant is invented for teaching; G is one expensive routing call, D is specialized judgment, O is added orchestration and p is the fraction still requiring G.
• At p=0.20 the candidate routing cost is 0.27 normalized units, 73% below the one-unit baseline. At p=0.93 they break even. If every case still needs G, adding D and O makes the routing stage 7% more expensive.
• Familiar exchange and return paths can use service offers and standard messages without frontier generation. Any generated explanation, tool call, retry, review, reconciliation or unfinished obligation must enter whole-case accounting.
• The prior synthetic review queue and the frontier routing fallback G here are distinct destinations. Measure actual routes and their capacity costs. Setup and maintenance need an explicit volume and horizon for a total-cost claim.
Transition: Inference latency has an equally important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24 / 36
06 / Interactive break-even
Savings depend on avoiding expensive work
Routing step only · invented unit costs
Baseline = G
Candidate = D + O + pG
G = 1.00 expensive routing call
D = 0.03 specialized decision
O = 0.04 added orchestration
Routes still using G:
20%
20% · saves
93% · even
100% · costs more
Hypothetical routing-stage arithmetic
Baseline
Candidate
73% lower
0.27 normalized units
Break-even: D + O = (1 − p)G
Later messages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ns2:creationId val="1024086991"/>
      </p:ext>
    </p:extLst>
  </p:cSld>
  <p:clrMapOvr>
    <a:masterClrMapping/>
  </p:clrMapOvr>
</p:notes>
</file>

<file path=ppt/notesSlides/notesSlide2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The diagram begins after identity and ownership are established. System One interprets the task, then its handler checks the applicable rules and prepares an offer. A familiar route can use a standard message rather than frontier generation.
• Specialized inference may shorten a repeated semantic step. Complete-case latency also includes services, customer confirmation, recovery and human queues. Measure decision latency, response latency and completion time separately.
• Report latency distributions at the relevant load, including transport and retries. Retain unfinished cases in service-time analysis rather than averaging completed cases alone.
Transition: Apply the control model to a deliberately incomplete design.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 LangGraph
https://www.langchain.com/blog/building-prod-with-jev-and-langgraph
SLIDE TEXT REFERENCE
DISAGGREGATED INTELLIGENCE
25 / 36
06 / Measure the critical path
Fast inference helps the path that uses it
Fast decision
Measure call latency
Handler checks
Policy + stock + quote
Customer offer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ns2:creationId val="1024086991"/>
      </p:ext>
    </p:extLst>
  </p:cSld>
  <p:clrMapOvr>
    <a:masterClrMapping/>
  </p:clrMapOvr>
</p:notes>
</file>

<file path=ppt/notesSlides/notesSlide2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The initial design is intentionally incomplete: recognizing an exchange request immediately reaches a business write. Allow a short pause, then reveal the missing controls.
• A strong model score cannot repair missing identity and ownership checks, exchange policy and stock checks, or customer confirmation of the offered terms. Place required steps in authored control and enforce their results again in the service.
• Retain the cable return through this repair. Reconcile an unknown exchange-write outcome before retrying, using transaction safeguards appropriate to the service.
Transition: Training examples must respect the same decision boundaries.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STATIC EXERCISE: the repair is revealed. A predicted exchange request must still pass verified access, owned-purchase matching, exchange rules, inventory, confirmed terms, and service authorization. The model score is not permission to transact.
WEB REFERENCES
Reliable enterprise agents
https://engineering.salesforce.com/building-enterprise-ai-agents-that-are-both-autonomous-and-reliable/
AgentScript control plane
https://www.salesforce.com/blog/agent-script-control-plane/
SLIDE TEXT REFERENCE
DISAGGREGATED INTELLIGENCE
26 / 36
07 / Exercise
Find the missing boundary
Exchange requested
Strong model score
Create exchange
Business transaction
Hide the repair
Verify access
Identity and owned purchase.
Check policy
Exchange rules, stock, terms + confirmation.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ns2:creationId val="1024086991"/>
      </p:ext>
    </p:extLst>
  </p:cSld>
  <p:clrMapOvr>
    <a:masterClrMapping/>
  </p:clrMapOvr>
</p:notes>
</file>

<file path=ppt/notesSlides/notesSlide2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semantic node could access at the decision time: conversation prefix, verified candidate items and relevant current state.
• Independent reviewers label remedy, purchased-unit scope, interpretation status and AND/OR/IF relationships. Keep the separately purchased cable distinct from a cable inside a kit.
• A later clarification cannot leak into an earlier input. Preserve record order, timestamps and derivation links. Document filtering and redaction because they can change the model-visible distribution.
Transition: Separate fitting and selection from final evaluation.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27 / 36
08 / Step 6
Begin the dataset at the decision boundary
At decision time
Input snapshot
Conversation prefix
Trusted facts available then
Current policy version
Reference label
Remedy, unit and task relationships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ns2:creationId val="1024086991"/>
      </p:ext>
    </p:extLst>
  </p:cSld>
  <p:clrMapOvr>
    <a:masterClrMapping/>
  </p:clrMapOvr>
</p:notes>
</file>

<file path=ppt/notesSlides/notesSlide2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28 / 36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ns2:creationId val="1024086991"/>
      </p:ext>
    </p:extLst>
  </p:cSld>
  <p:clrMapOvr>
    <a:masterClrMapping/>
  </p:clrMapOvr>
</p:notes>
</file>

<file path=ppt/notesSlides/notesSlide2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29 / 36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ns2:creationId val="1024086991"/>
      </p:ext>
    </p:extLst>
  </p:cSld>
  <p:clrMapOvr>
    <a:masterClrMapping/>
  </p:clrMapOvr>
</p:notes>
</file>

<file path=ppt/notesSlides/notesSlide3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Jev-as-a-Judge
https://www.langchain.com/blog/jev-agent-evals-langsmith
LOCAL COMPANION REFERENCES
Tutorial evaluation protocol — blog/09-building-prod.md
These identifiers refer to the accompanying repository and are not broken file hyperlinks.
SLIDE TEXT REFERENCE
DISAGGREGATED INTELLIGENCE
30 / 36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ns2:creationId val="1024086991"/>
      </p:ext>
    </p:extLst>
  </p:cSld>
  <p:clrMapOvr>
    <a:masterClrMapping/>
  </p:clrMapOvr>
</p:notes>
</file>

<file path=ppt/notesSlides/notesSlide3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uncertainty ranges are schematic, not measured results. Predeclare the quality margin, required saving, sample size, grouping and analysis method before testing.
• Quality passes only when the upper uncertainty bound on increased failed-case rate lies below the allowed loss. Cost passes only when the lower bound on saving per incoming case exceeds the required gain. Both must pass; this picture’s candidate still waits.
• The worked trace ends with an Authorized exchange and an Active cable return. If that AND obligation remains unresolved at the fixed service deadline, the whole case is incomplete. Count each incoming case once.
• For OR or IF requests, only the selected or triggered action is an active obligation; inactive alternatives are unselected or untriggered. A justified policy denial can be a correct outcome. Define these statuses before evaluating.
• Consequential-error and latency limits are additional gates, using predeclared relevant cohorts independent of either system’s routes. Include unresolved work. The joint null is unacceptable quality loss OR insufficient saving; a nonsignificant difference cannot establish acceptable equivalence.
Transition: First isolate the decision on held-out snapshots, then measure the whole service in a controlled pilot.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31 / 36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exchange authorized + cable return active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ns2:creationId val="1024086991"/>
      </p:ext>
    </p:extLst>
  </p:cSld>
  <p:clrMapOvr>
    <a:masterClrMapping/>
  </p:clrMapOvr>
</p:notes>
</file>

<file path=ppt/notesSlides/notesSlide3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Tutorial evaluation protocol — blog/09-building-prod.md
These identifiers refer to the accompanying repository and are not broken file hyperlinks.
SLIDE TEXT REFERENCE
DISAGGREGATED INTELLIGENCE
32 / 36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ns2:creationId val="1024086991"/>
      </p:ext>
    </p:extLst>
  </p:cSld>
  <p:clrMapOvr>
    <a:masterClrMapping/>
  </p:clrMapOvr>
</p:notes>
</file>

<file path=ppt/notesSlides/notesSlide3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If only the exchange was proposed, inspect decision definitions and the authorized context for the omitted cable request. If both tasks were recorded, inspect the graph transition that dropped the cable task.
• A component return charged under the whole-item fee points to policy scope or handler selection. Executing both sides of an OR request points to a lost task relationship. Each failure has a different repair.
• Offline judges can prioritize traces, but require validation against independent references. Review apparent successes as well as escalations; post-run feedback cannot prevent a write that has already occurred.
Transition: Finish by identifying one worthwhile first change.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Jev in LangSmith Evals
https://www.langchain.com/blog/jev-is-now-available-in-langsmith-evals
Jev-as-a-Judge
https://www.langchain.com/blog/jev-agent-evals-langsmith
SLIDE TEXT REFERENCE
DISAGGREGATED INTELLIGENCE
33 / 36
09 / Improve the responsible component
Diagnose the boundary that failed
Exchange authorized; cable task lost
Inspect the recorded route and state changes
Only exchange recorded
Decision boundary
Inspect input evidence,
labels, and category definition.
Both tasks recorded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ns2:creationId val="1024086991"/>
      </p:ext>
    </p:extLst>
  </p:cSld>
  <p:clrMapOvr>
    <a:masterClrMapping/>
  </p:clrMapOvr>
</p:notes>
</file>

<file path=ppt/notesSlides/notesSlide3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throughline is an Agentforce composition: koa-action supplies bounded semantic judgment, Agent Graph coordinates state and escalation, and AgentScript defines the controls. Trusted services retain facts and transaction authority.
• Frontier reasoning remains available when a scoped interpretation problem survives clarification and required evidence checks. Familiar exchanges and component returns can use their configured service routes directly.
• LangChain’s September 25, 2026 article attributes the unbundling argument to Jaya Gupta and advocates cheap by default, frontier on exception. Its three-year historical framing is not a measured survey, so this tutorial makes the allocation argument without turning it into a Salesforce development timeline.
• The practical artifact is a bounded decision contract and a small graph. Evaluate complete cases, including every active obligation, before claiming reliability, lower operating cost or shorter completion time.
Transition: Use the source notes and full blog for the details behind this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https://engineering.salesforce.com/agentforces-agent-graph-toward-guided-determinism-with-hybrid-reasoning/
AgentScript control plane
https://www.salesforce.com/blog/agent-script-control-plane/
Composable AI
https://typesafe.ai/manifesto
Jev + LangGraph
https://www.langchain.com/blog/building-prod-with-jev-and-langgraph
LOCAL COMPANION REFERENCES
Throughline source check — research/v5-throughline-source-check.md
These identifiers refer to the accompanying repository and are not broken file hyperlinks.
SLIDE TEXT REFERENCE
DISAGGREGATED INTELLIGENCE
34 / 36
10 / Build, measure, revise
Start with one decision that changes the path
Specialize judgment.
Author the controls.
Keep every task
accounted for.
Agentforce coordinates the work
within quality, cost and latency limits.
01
Write one bounded route question.
02
Label remedies, units and relationships.
03
Declare the node’s input view.
04
Draw the guarded failure route.
05
Define complete-case acceptance.
Agent Graph / guided determinism
·
AgentScript control plane
·
Composable AI
·
Jev + LangGraph
·
Throughline source check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ns2:creationId val="1024086991"/>
      </p:ext>
    </p:extLst>
  </p:cSld>
  <p:clrMapOvr>
    <a:masterClrMapping/>
  </p:clrMapOvr>
</p:notes>
</file>

<file path=ppt/notesSlides/notesSlide3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source ledger covers the requested Salesforce, LangChain and TypeSafe resources. The v5 source check records the historical-attribution boundary and the separation between public Koa reasoning and the user-framed koa-action System One component.
• The direct exchange/component service design, merchant policy and proposed evaluation are authored teaching material. TypeSafe’s intent-routing example instead uses a specialist language model; this tutorial’s service mapping must earn its own evidence.
• No native koa-action adapter, common Jev/Salesforce schema, fine-tuning access, calibrated confidence output or benchmark is asserted. Consult blog 09 and the branching specification for the complete design contract.
Transition: End of tutorial.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Aftercare walkthrough + evaluation ↗ — blog/09-building-prod.md
Full training pipeline ↗ — assets/training-pipeline.svg
These identifiers refer to the accompanying repository and are not broken file hyperlinks.
SLIDE TEXT REFERENCE
DISAGGREGATED INTELLIGENCE
35 / 36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Aftercare walkthrough + evaluation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ns2:creationId val="1024086991"/>
      </p:ext>
    </p:extLst>
  </p:cSld>
  <p:clrMapOvr>
    <a:masterClrMapping/>
  </p:clrMapOvr>
</p:notes>
</file>

<file path=ppt/notesSlides/notesSlide3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visual vocabulary in another workflow
Section: Appendix
Purpose: Provide a reusable visual vocabulary for another enterprise workflow.
Suggested speaking time: 0.5 minutes
TALKING POINTS
• This optional appendix provides independently movable vector illustrations for another workflow. In PowerPoint, use the Selection Pane to select, copy, resize or rearrange a named object.
• The four workflow views and this library retain separate illustrations, labels and routes. Move a node and its label together, then reposition its connectors. The arrows are vector objects; they do not automatically reconnect.
• Labels, calendars and shipping values are native editable PowerPoint text. Illustration parts are native shapes; speaker notes remain editable text. Calendars and shipping tickets preserve their printed values as a unit.
• Keep the meaning consistent when reusing a component: services establish authority, System One interprets bounded meaning, Agent Graph coordinates transitions and state, AgentScript authors the controls, and a frontier model proposes an interpretation only when the configured exception path calls for it.
Transition: Use this vocabulary to sketch another workflow with the same separation of interpretation and authority.
POWERPOINT EXPORT
All 36 slides use native PowerPoint text, shapes and named groups. Titles, paragraphs, code, labels, chart parts and illustration geometry can be edited, recolored, copied and rearranged. Select a group, then select its child or ungroup it to customize a part. Source links move with their native text. Connectors are editable geometry and do not automatically reconnect. Speaker notes remain editable. The companion HTML retains the interactive teaching examples. For the intended typography, install Salesforce Sans, Manrope and IBM Plex Mono.
LOCAL COMPANION REFERENCES
Reusable vector components — assets/components-v5/README.md
These identifiers refer to the accompanying repository and are not broken file hyperlinks.
SLIDE TEXT REFERENCE
DISAGGREGATED INTELLIGENCE
36 / 36
Appendix / A reusable visual vocabulary
Reuse the visual vocabulary in another workflow
Reusable vector components
Reusable vector objects · optional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ns2:creationId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typesafe.ai/manifesto" TargetMode="External" /><ns0:Relationship Id="rId6" Type="http://schemas.openxmlformats.org/officeDocument/2006/relationships/hyperlink" Target="https://www.langchain.com/blog/building-prod-with-jev-and-langgraph" TargetMode="External" /><ns0:Relationship Id="rId7" Type="http://schemas.openxmlformats.org/officeDocument/2006/relationships/slideLayout" Target="../slideLayouts/slideLayout1.xml" /><ns0:Relationship Id="rId8"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hyperlink" Target="https://typesafe.ai/manifesto" TargetMode="External" /><ns0:Relationship Id="rId5" Type="http://schemas.openxmlformats.org/officeDocument/2006/relationships/slideLayout" Target="../slideLayouts/slideLayout1.xml" /><ns0:Relationship Id="rId6"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slideLayout" Target="../slideLayouts/slideLayout1.xml" /><ns0:Relationship Id="rId5"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4.xml" /></ns0:Relationships>
</file>

<file path=ppt/slides/_rels/slide5.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hyperlink" Target="https://engineering.salesforce.com/agentforces-agent-graph-toward-guided-determinism-with-hybrid-reasoning/" TargetMode="External" /><ns0:Relationship Id="rId5" Type="http://schemas.openxmlformats.org/officeDocument/2006/relationships/slideLayout" Target="../slideLayouts/slideLayout1.xml" /><ns0:Relationship Id="rId6"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www.langchain.com/blog/building-prod-with-jev-and-langgraph" TargetMode="External" /><ns0:Relationship Id="rId6" Type="http://schemas.openxmlformats.org/officeDocument/2006/relationships/slideLayout" Target="../slideLayouts/slideLayout1.xml" /><ns0:Relationship Id="rId7" Type="http://schemas.openxmlformats.org/officeDocument/2006/relationships/notesSlide" Target="../notesSlides/notesSlide6.xml" /></ns0:Relationships>
</file>

<file path=ppt/slides/_rels/slide7.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docs.typesafe.ai/patterns/intent-routing" TargetMode="External" /><ns0:Relationship Id="rId6" Type="http://schemas.openxmlformats.org/officeDocument/2006/relationships/slideLayout" Target="../slideLayouts/slideLayout1.xml" /><ns0:Relationship Id="rId7"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3" Type="http://schemas.openxmlformats.org/officeDocument/2006/relationships/hyperlink" Target="https://docs.typesafe.ai/patterns/intent-rout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3" Type="http://schemas.openxmlformats.org/officeDocument/2006/relationships/hyperlink" Target="https://www.langchain.com/blog/deep-agents-vs-langchain-vs-langgraph"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3" Type="http://schemas.openxmlformats.org/officeDocument/2006/relationships/hyperlink" Target="https://docs.typesafe.ai/introduction/quickstart" TargetMode="External" /><ns0:Relationship Id="rId4" Type="http://schemas.openxmlformats.org/officeDocument/2006/relationships/hyperlink" Target="https://docs.typesafe.ai/patterns/intent-routing" TargetMode="External" /><ns0:Relationship Id="rId5" Type="http://schemas.openxmlformats.org/officeDocument/2006/relationships/hyperlink" Target="https://docs.typesafe.ai/primitives/advanced" TargetMode="External" /><ns0:Relationship Id="rId6" Type="http://schemas.openxmlformats.org/officeDocument/2006/relationships/slideLayout" Target="../slideLayouts/slideLayout1.xml" /><ns0:Relationship Id="rId7" Type="http://schemas.openxmlformats.org/officeDocument/2006/relationships/notesSlide" Target="../notesSlides/notesSlide11.xml" /></ns0:Relationships>
</file>

<file path=ppt/slides/_rels/slide12.xml.rels><?xml version='1.0' encoding='utf-8'?>
<ns0:Relationships xmlns:ns0="http://schemas.openxmlformats.org/package/2006/relationships"><ns0:Relationship Id="rId3" Type="http://schemas.openxmlformats.org/officeDocument/2006/relationships/hyperlink" Target="https://docs.typesafe.ai/introduction/quickstart" TargetMode="External" /><ns0:Relationship Id="rId4" Type="http://schemas.openxmlformats.org/officeDocument/2006/relationships/hyperlink" Target="https://docs.typesafe.ai/primitives/noul" TargetMode="External" /><ns0:Relationship Id="rId5" Type="http://schemas.openxmlformats.org/officeDocument/2006/relationships/hyperlink" Target="https://docs.typesafe.ai/primitives/score" TargetMode="External" /><ns0:Relationship Id="rId6" Type="http://schemas.openxmlformats.org/officeDocument/2006/relationships/slideLayout" Target="../slideLayouts/slideLayout1.xml" /><ns0:Relationship Id="rId7"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3" Type="http://schemas.openxmlformats.org/officeDocument/2006/relationships/hyperlink" Target="https://docs.typesafe.ai/primitives/noul" TargetMode="External" /><ns0:Relationship Id="rId4" Type="http://schemas.openxmlformats.org/officeDocument/2006/relationships/hyperlink" Target="https://docs.typesafe.ai/primitives/score" TargetMode="External" /><ns0:Relationship Id="rId5" Type="http://schemas.openxmlformats.org/officeDocument/2006/relationships/slideLayout" Target="../slideLayouts/slideLayout1.xml" /><ns0:Relationship Id="rId6"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3" Type="http://schemas.openxmlformats.org/officeDocument/2006/relationships/hyperlink" Target="https://docs.typesafe.ai/concepts/how-to-build-with-system-one" TargetMode="External" /><ns0:Relationship Id="rId4" Type="http://schemas.openxmlformats.org/officeDocument/2006/relationships/slideLayout" Target="../slideLayouts/slideLayout1.xml" /><ns0:Relationship Id="rId5" Type="http://schemas.openxmlformats.org/officeDocument/2006/relationships/notesSlide" Target="../notesSlides/notesSlide14.xml" /></ns0:Relationships>
</file>

<file path=ppt/slides/_rels/slide15.xml.rels><?xml version='1.0' encoding='utf-8'?>
<ns0:Relationships xmlns:ns0="http://schemas.openxmlformats.org/package/2006/relationships"><ns0:Relationship Id="rId3" Type="http://schemas.openxmlformats.org/officeDocument/2006/relationships/hyperlink" Target="https://docs.typesafe.ai/concepts/how-to-build-with-system-one" TargetMode="External" /><ns0:Relationship Id="rId4" Type="http://schemas.openxmlformats.org/officeDocument/2006/relationships/hyperlink" Target="https://www.langchain.com/blog/building-a-harness-with-jev" TargetMode="External" /><ns0:Relationship Id="rId5" Type="http://schemas.openxmlformats.org/officeDocument/2006/relationships/slideLayout" Target="../slideLayouts/slideLayout1.xml" /><ns0:Relationship Id="rId6" Type="http://schemas.openxmlformats.org/officeDocument/2006/relationships/notesSlide" Target="../notesSlides/notesSlide15.xml" /></ns0:Relationships>
</file>

<file path=ppt/slides/_rels/slide16.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docs.typesafe.ai/concepts/how-to-build-with-system-one" TargetMode="External" /><ns0:Relationship Id="rId6" Type="http://schemas.openxmlformats.org/officeDocument/2006/relationships/slideLayout" Target="../slideLayouts/slideLayout1.xml" /><ns0:Relationship Id="rId7" Type="http://schemas.openxmlformats.org/officeDocument/2006/relationships/notesSlide" Target="../notesSlides/notesSlide16.xml" /></ns0:Relationships>
</file>

<file path=ppt/slides/_rels/slide17.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slideLayout" Target="../slideLayouts/slideLayout1.xml" /><ns0:Relationship Id="rId5" Type="http://schemas.openxmlformats.org/officeDocument/2006/relationships/notesSlide" Target="../notesSlides/notesSlide17.xml" /></ns0:Relationships>
</file>

<file path=ppt/slides/_rels/slide18.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18.xml" /></ns0:Relationships>
</file>

<file path=ppt/slides/_rels/slide19.xml.rels><?xml version='1.0' encoding='utf-8'?>
<ns0:Relationships xmlns:ns0="http://schemas.openxmlformats.org/package/2006/relationships"><ns0:Relationship Id="rId3" Type="http://schemas.openxmlformats.org/officeDocument/2006/relationships/hyperlink" Target="https://www.salesforce.com/blog/agent-script-control-plane/" TargetMode="External" /><ns0:Relationship Id="rId4" Type="http://schemas.openxmlformats.org/officeDocument/2006/relationships/hyperlink" Target="https://github.com/salesforce/agentscript/blob/main/SPEC.md" TargetMode="External" /><ns0:Relationship Id="rId5" Type="http://schemas.openxmlformats.org/officeDocument/2006/relationships/slideLayout" Target="../slideLayouts/slideLayout1.xml" /><ns0:Relationship Id="rId6" Type="http://schemas.openxmlformats.org/officeDocument/2006/relationships/notesSlide" Target="../notesSlides/notesSlide19.xml" /></ns0:Relationships>
</file>

<file path=ppt/slides/_rels/slide20.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engineering.salesforce.com/building-enterprise-ai-agents-that-are-both-autonomous-and-reliable/" TargetMode="External" /><ns0:Relationship Id="rId5" Type="http://schemas.openxmlformats.org/officeDocument/2006/relationships/slideLayout" Target="../slideLayouts/slideLayout1.xml" /><ns0:Relationship Id="rId6" Type="http://schemas.openxmlformats.org/officeDocument/2006/relationships/notesSlide" Target="../notesSlides/notesSlide20.xml" /></ns0:Relationships>
</file>

<file path=ppt/slides/_rels/slide21.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github.com/salesforce/agentscript/blob/main/SPEC.md" TargetMode="External" /><ns0:Relationship Id="rId5" Type="http://schemas.openxmlformats.org/officeDocument/2006/relationships/slideLayout" Target="../slideLayouts/slideLayout1.xml" /><ns0:Relationship Id="rId6" Type="http://schemas.openxmlformats.org/officeDocument/2006/relationships/notesSlide" Target="../notesSlides/notesSlide21.xml" /></ns0:Relationships>
</file>

<file path=ppt/slides/_rels/slide22.xml.rels><?xml version='1.0' encoding='utf-8'?>
<ns0:Relationships xmlns:ns0="http://schemas.openxmlformats.org/package/2006/relationships"><ns0:Relationship Id="rId3" Type="http://schemas.openxmlformats.org/officeDocument/2006/relationships/hyperlink" Target="https://docs.typesafe.ai/patterns/confidence-routing" TargetMode="External" /><ns0:Relationship Id="rId4" Type="http://schemas.openxmlformats.org/officeDocument/2006/relationships/hyperlink" Target="https://docs.typesafe.ai/confidence" TargetMode="External" /><ns0:Relationship Id="rId5" Type="http://schemas.openxmlformats.org/officeDocument/2006/relationships/slideLayout" Target="../slideLayouts/slideLayout1.xml" /><ns0:Relationship Id="rId6" Type="http://schemas.openxmlformats.org/officeDocument/2006/relationships/notesSlide" Target="../notesSlides/notesSlide22.xml" /></ns0:Relationships>
</file>

<file path=ppt/slides/_rels/slide23.xml.rels><?xml version='1.0' encoding='utf-8'?>
<ns0:Relationships xmlns:ns0="http://schemas.openxmlformats.org/package/2006/relationships"><ns0:Relationship Id="rId3" Type="http://schemas.openxmlformats.org/officeDocument/2006/relationships/hyperlink" Target="https://docs.typesafe.ai/patterns/confidence-routing" TargetMode="External" /><ns0:Relationship Id="rId4" Type="http://schemas.openxmlformats.org/officeDocument/2006/relationships/hyperlink" Target="https://docs.typesafe.ai/confidence" TargetMode="External" /><ns0:Relationship Id="rId5" Type="http://schemas.openxmlformats.org/officeDocument/2006/relationships/slideLayout" Target="../slideLayouts/slideLayout1.xml" /><ns0:Relationship Id="rId6" Type="http://schemas.openxmlformats.org/officeDocument/2006/relationships/notesSlide" Target="../notesSlides/notesSlide23.xml" /></ns0:Relationships>
</file>

<file path=ppt/slides/_rels/slide24.xml.rels><?xml version='1.0' encoding='utf-8'?>
<ns0:Relationships xmlns:ns0="http://schemas.openxmlformats.org/package/2006/relationships"><ns0:Relationship Id="rId3" Type="http://schemas.openxmlformats.org/officeDocument/2006/relationships/hyperlink" Target="https://typesafe.ai/manifesto" TargetMode="External" /><ns0:Relationship Id="rId4" Type="http://schemas.openxmlformats.org/officeDocument/2006/relationships/hyperlink" Target="https://docs.typesafe.ai/concepts/how-to-build-with-system-one" TargetMode="External" /><ns0:Relationship Id="rId5" Type="http://schemas.openxmlformats.org/officeDocument/2006/relationships/slideLayout" Target="../slideLayouts/slideLayout1.xml" /><ns0:Relationship Id="rId6" Type="http://schemas.openxmlformats.org/officeDocument/2006/relationships/notesSlide" Target="../notesSlides/notesSlide24.xml" /></ns0:Relationships>
</file>

<file path=ppt/slides/_rels/slide25.xml.rels><?xml version='1.0' encoding='utf-8'?>
<ns0:Relationships xmlns:ns0="http://schemas.openxmlformats.org/package/2006/relationships"><ns0:Relationship Id="rId3" Type="http://schemas.openxmlformats.org/officeDocument/2006/relationships/hyperlink" Target="https://www.langchain.com/blog/building-prod-with-jev-and-langgraph" TargetMode="External" /><ns0:Relationship Id="rId4" Type="http://schemas.openxmlformats.org/officeDocument/2006/relationships/slideLayout" Target="../slideLayouts/slideLayout1.xml" /><ns0:Relationship Id="rId5" Type="http://schemas.openxmlformats.org/officeDocument/2006/relationships/notesSlide" Target="../notesSlides/notesSlide25.xml" /></ns0:Relationships>
</file>

<file path=ppt/slides/_rels/slide26.xml.rels><?xml version='1.0' encoding='utf-8'?>
<ns0:Relationships xmlns:ns0="http://schemas.openxmlformats.org/package/2006/relationships"><ns0:Relationship Id="rId3" Type="http://schemas.openxmlformats.org/officeDocument/2006/relationships/hyperlink" Target="https://engineering.salesforce.com/building-enterprise-ai-agents-that-are-both-autonomous-and-reliable/" TargetMode="External" /><ns0:Relationship Id="rId4" Type="http://schemas.openxmlformats.org/officeDocument/2006/relationships/hyperlink" Target="https://www.salesforce.com/blog/agent-script-control-plane/" TargetMode="External" /><ns0:Relationship Id="rId5" Type="http://schemas.openxmlformats.org/officeDocument/2006/relationships/slideLayout" Target="../slideLayouts/slideLayout1.xml" /><ns0:Relationship Id="rId6" Type="http://schemas.openxmlformats.org/officeDocument/2006/relationships/notesSlide" Target="../notesSlides/notesSlide26.xml" /></ns0:Relationships>
</file>

<file path=ppt/slides/_rels/slide27.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7.xml" /></ns0:Relationships>
</file>

<file path=ppt/slides/_rels/slide28.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8.xml" /></ns0:Relationships>
</file>

<file path=ppt/slides/_rels/slide29.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29.xml" /></ns0:Relationships>
</file>

<file path=ppt/slides/_rels/slide30.xml.rels><?xml version='1.0' encoding='utf-8'?>
<ns0:Relationships xmlns:ns0="http://schemas.openxmlformats.org/package/2006/relationships"><ns0:Relationship Id="rId3" Type="http://schemas.openxmlformats.org/officeDocument/2006/relationships/hyperlink" Target="https://www.langchain.com/blog/jev-agent-evals-langsmith" TargetMode="External" /><ns0:Relationship Id="rId4" Type="http://schemas.openxmlformats.org/officeDocument/2006/relationships/slideLayout" Target="../slideLayouts/slideLayout1.xml" /><ns0:Relationship Id="rId5" Type="http://schemas.openxmlformats.org/officeDocument/2006/relationships/notesSlide" Target="../notesSlides/notesSlide30.xml" /></ns0:Relationships>
</file>

<file path=ppt/slides/_rels/slide31.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1.xml" /></ns0:Relationships>
</file>

<file path=ppt/slides/_rels/slide32.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2.xml" /></ns0:Relationships>
</file>

<file path=ppt/slides/_rels/slide33.xml.rels><?xml version='1.0' encoding='utf-8'?>
<ns0:Relationships xmlns:ns0="http://schemas.openxmlformats.org/package/2006/relationships"><ns0:Relationship Id="rId3" Type="http://schemas.openxmlformats.org/officeDocument/2006/relationships/hyperlink" Target="https://www.langchain.com/blog/jev-is-now-available-in-langsmith-evals" TargetMode="External" /><ns0:Relationship Id="rId4" Type="http://schemas.openxmlformats.org/officeDocument/2006/relationships/hyperlink" Target="https://www.langchain.com/blog/jev-agent-evals-langsmith" TargetMode="External" /><ns0:Relationship Id="rId5" Type="http://schemas.openxmlformats.org/officeDocument/2006/relationships/slideLayout" Target="../slideLayouts/slideLayout1.xml" /><ns0:Relationship Id="rId6" Type="http://schemas.openxmlformats.org/officeDocument/2006/relationships/notesSlide" Target="../notesSlides/notesSlide33.xml" /></ns0:Relationships>
</file>

<file path=ppt/slides/_rels/slide34.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www.salesforce.com/blog/agent-script-control-plane/" TargetMode="External" /><ns0:Relationship Id="rId5" Type="http://schemas.openxmlformats.org/officeDocument/2006/relationships/hyperlink" Target="https://typesafe.ai/manifesto" TargetMode="External" /><ns0:Relationship Id="rId6" Type="http://schemas.openxmlformats.org/officeDocument/2006/relationships/hyperlink" Target="https://www.langchain.com/blog/building-prod-with-jev-and-langgraph" TargetMode="External" /><ns0:Relationship Id="rId7" Type="http://schemas.openxmlformats.org/officeDocument/2006/relationships/slideLayout" Target="../slideLayouts/slideLayout1.xml" /><ns0:Relationship Id="rId8" Type="http://schemas.openxmlformats.org/officeDocument/2006/relationships/notesSlide" Target="../notesSlides/notesSlide34.xml" /></ns0:Relationships>
</file>

<file path=ppt/slides/_rels/slide35.xml.rels><?xml version='1.0' encoding='utf-8'?>
<ns0:Relationships xmlns:ns0="http://schemas.openxmlformats.org/package/2006/relationships"><ns0:Relationship Id="rId3" Type="http://schemas.openxmlformats.org/officeDocument/2006/relationships/hyperlink" Target="https://engineering.salesforce.com/agentforces-agent-graph-toward-guided-determinism-with-hybrid-reasoning/" TargetMode="External" /><ns0:Relationship Id="rId4" Type="http://schemas.openxmlformats.org/officeDocument/2006/relationships/hyperlink" Target="https://engineering.salesforce.com/building-enterprise-ai-agents-that-are-both-autonomous-and-reliable/" TargetMode="External" /><ns0:Relationship Id="rId5" Type="http://schemas.openxmlformats.org/officeDocument/2006/relationships/hyperlink" Target="https://www.salesforce.com/blog/agent-script-control-plane/" TargetMode="External" /><ns0:Relationship Id="rId6" Type="http://schemas.openxmlformats.org/officeDocument/2006/relationships/hyperlink" Target="https://github.com/salesforce/agentscript/blob/main/SPEC.md" TargetMode="External" /><ns0:Relationship Id="rId7" Type="http://schemas.openxmlformats.org/officeDocument/2006/relationships/hyperlink" Target="https://www.langchain.com/blog/building-prod-with-jev-and-langgraph" TargetMode="External" /><ns0:Relationship Id="rId8" Type="http://schemas.openxmlformats.org/officeDocument/2006/relationships/hyperlink" Target="https://www.langchain.com/blog/building-a-harness-with-jev" TargetMode="External" /><ns0:Relationship Id="rId9" Type="http://schemas.openxmlformats.org/officeDocument/2006/relationships/hyperlink" Target="https://www.langchain.com/blog/jev-is-now-available-in-langsmith-evals" TargetMode="External" /><ns0:Relationship Id="rId10" Type="http://schemas.openxmlformats.org/officeDocument/2006/relationships/hyperlink" Target="https://www.langchain.com/blog/jev-agent-evals-langsmith" TargetMode="External" /><ns0:Relationship Id="rId11" Type="http://schemas.openxmlformats.org/officeDocument/2006/relationships/hyperlink" Target="https://www.langchain.com/blog/deep-agents-vs-langchain-vs-langgraph" TargetMode="External" /><ns0:Relationship Id="rId12" Type="http://schemas.openxmlformats.org/officeDocument/2006/relationships/hyperlink" Target="https://typesafe.ai/manifesto" TargetMode="External" /><ns0:Relationship Id="rId13" Type="http://schemas.openxmlformats.org/officeDocument/2006/relationships/hyperlink" Target="https://docs.typesafe.ai/introduction/quickstart" TargetMode="External" /><ns0:Relationship Id="rId14" Type="http://schemas.openxmlformats.org/officeDocument/2006/relationships/hyperlink" Target="https://docs.typesafe.ai/patterns/confidence-routing" TargetMode="External" /><ns0:Relationship Id="rId15" Type="http://schemas.openxmlformats.org/officeDocument/2006/relationships/hyperlink" Target="https://docs.typesafe.ai/patterns/intent-routing" TargetMode="External" /><ns0:Relationship Id="rId16" Type="http://schemas.openxmlformats.org/officeDocument/2006/relationships/hyperlink" Target="https://docs.typesafe.ai/primitives/advanced" TargetMode="External" /><ns0:Relationship Id="rId17" Type="http://schemas.openxmlformats.org/officeDocument/2006/relationships/hyperlink" Target="https://docs.typesafe.ai/concepts/how-to-build-with-system-one" TargetMode="External" /><ns0:Relationship Id="rId18" Type="http://schemas.openxmlformats.org/officeDocument/2006/relationships/hyperlink" Target="https://everythingagents.org/topics/guided-determinism" TargetMode="External" /><ns0:Relationship Id="rId19" Type="http://schemas.openxmlformats.org/officeDocument/2006/relationships/hyperlink" Target="https://docs.typesafe.ai/confidence" TargetMode="External" /><ns0:Relationship Id="rId20" Type="http://schemas.openxmlformats.org/officeDocument/2006/relationships/slideLayout" Target="../slideLayouts/slideLayout1.xml" /><ns0:Relationship Id="rId21" Type="http://schemas.openxmlformats.org/officeDocument/2006/relationships/notesSlide" Target="../notesSlides/notesSlide35.xml" /></ns0:Relationships>
</file>

<file path=ppt/slides/_rels/slide36.xml.rels><?xml version='1.0' encoding='utf-8'?>
<ns0:Relationships xmlns:ns0="http://schemas.openxmlformats.org/package/2006/relationships"><ns0:Relationship Id="rId3" Type="http://schemas.openxmlformats.org/officeDocument/2006/relationships/slideLayout" Target="../slideLayouts/slideLayout1.xml" /><ns0:Relationship Id="rId4" Type="http://schemas.openxmlformats.org/officeDocument/2006/relationships/notesSlide" Target="../notesSlides/notesSlide36.xml" /></ns0:Relationships>
</file>

<file path=ppt/slides/slide1.xml><?xml version="1.0" encoding="utf-8"?>
<p:sld xmlns:a="http://schemas.openxmlformats.org/drawingml/2006/main" xmlns:p="http://schemas.openxmlformats.org/presentationml/2006/main" xmlns:r="http://schemas.openxmlformats.org/officeDocument/2006/relationships">
  <p:cSld name="Disaggregated intelligence">
    <p:bg>
      <p:bgPr>
        <a:solidFill>
          <a:srgbClr val="FFFFFF"/>
        </a:solidFill>
      </p:bgPr>
    </p:bg>
    <p:spTree>
      <p:nvGrpSpPr>
        <p:cNvPr id="1" name=""/>
        <p:cNvGrpSpPr/>
        <p:nvPr/>
      </p:nvGrpSpPr>
      <p:grpSpPr>
        <a:xfrm>
          <a:off x="0" y="0"/>
          <a:ext cx="0" cy="0"/>
          <a:chOff x="0" y="0"/>
          <a:chExt cx="0" cy="0"/>
        </a:xfrm>
      </p:grpSpPr>
      <p:sp>
        <p:nvSpPr>
          <p:cNvPr id="1000" name="01 · slide hero light split · surface [p01-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42" name="01 · chrome-min: DISAGGREGATED INTELLIGENCE"/>
          <p:cNvGrpSpPr/>
          <p:nvPr/>
        </p:nvGrpSpPr>
        <p:grpSpPr>
          <a:xfrm>
            <a:off x="558800" y="356053"/>
            <a:ext cx="11087100" cy="187325"/>
            <a:chOff x="558800" y="356053"/>
            <a:chExt cx="11087100" cy="187325"/>
          </a:xfrm>
        </p:grpSpPr>
        <p:sp>
          <p:nvSpPr>
            <p:cNvPr id="1001" name="01 · l: DISAGGREGATED INTELLIGENCE [p01-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1 · r: 01 / 36 [p01-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01 / 36</a:t>
              </a:r>
              <a:endParaRPr lang="en-US" sz="950" b="1" i="0" kern="0" spc="65" dirty="0">
                <a:solidFill>
                  <a:srgbClr val="022AC0"/>
                </a:solidFill>
                <a:latin typeface="Salesforce Sans"/>
                <a:ea typeface="Salesforce Sans"/>
                <a:cs typeface="Salesforce Sans"/>
              </a:endParaRPr>
            </a:p>
          </p:txBody>
        </p:sp>
      </p:grpSp>
      <p:sp>
        <p:nvSpPr>
          <p:cNvPr id="1003" name="01 · opening-main: Disaggregated intelligence [p01-text-0013]" descr="Native editable Unicode text; authored line breaks retained."/>
          <p:cNvSpPr txBox="1"/>
          <p:nvPr/>
        </p:nvSpPr>
        <p:spPr>
          <a:xfrm>
            <a:off x="558800" y="1539658"/>
            <a:ext cx="5666740" cy="175239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6372"/>
              </a:lnSpc>
              <a:spcBef>
                <a:spcPts val="0"/>
              </a:spcBef>
              <a:spcAft>
                <a:spcPts val="0"/>
              </a:spcAft>
              <a:buNone/>
            </a:pPr>
            <a:r>
              <a:rPr lang="en-US" sz="5400" b="1" i="0" kern="0" spc="-160" dirty="0">
                <a:solidFill>
                  <a:srgbClr val="022AC0"/>
                </a:solidFill>
                <a:latin typeface="Manrope"/>
                <a:ea typeface="Manrope"/>
                <a:cs typeface="Manrope"/>
              </a:rPr>
              <a:t>Disaggregated</a:t>
            </a:r>
            <a:endParaRPr lang="en-US" sz="5400" b="1" i="0" kern="0" spc="-160" dirty="0">
              <a:solidFill>
                <a:srgbClr val="022AC0"/>
              </a:solidFill>
              <a:latin typeface="Manrope"/>
              <a:ea typeface="Manrope"/>
              <a:cs typeface="Manrope"/>
            </a:endParaRPr>
          </a:p>
          <a:p>
            <a:pPr marL="0" marR="0" indent="0" algn="l" fontAlgn="base">
              <a:lnSpc>
                <a:spcPts val="6372"/>
              </a:lnSpc>
              <a:spcBef>
                <a:spcPts val="0"/>
              </a:spcBef>
              <a:spcAft>
                <a:spcPts val="0"/>
              </a:spcAft>
              <a:buNone/>
            </a:pPr>
            <a:r>
              <a:rPr lang="en-US" sz="5400" b="1" i="0" kern="0" spc="-160" dirty="0">
                <a:solidFill>
                  <a:srgbClr val="022AC0"/>
                </a:solidFill>
                <a:latin typeface="Manrope"/>
                <a:ea typeface="Manrope"/>
                <a:cs typeface="Manrope"/>
              </a:rPr>
              <a:t>intelligence</a:t>
            </a:r>
            <a:endParaRPr lang="en-US" sz="5400" b="1" i="0" kern="0" spc="-160" dirty="0">
              <a:solidFill>
                <a:srgbClr val="022AC0"/>
              </a:solidFill>
              <a:latin typeface="Manrope"/>
              <a:ea typeface="Manrope"/>
              <a:cs typeface="Manrope"/>
            </a:endParaRPr>
          </a:p>
        </p:txBody>
      </p:sp>
      <p:sp>
        <p:nvSpPr>
          <p:cNvPr id="1004" name="01 · opening-text-1: Fast, focused judgment by default. Frontier reasoning for the exceptions. [p01-text-0014]" descr="Native editable Unicode text; authored line breaks retained."/>
          <p:cNvSpPr txBox="1"/>
          <p:nvPr/>
        </p:nvSpPr>
        <p:spPr>
          <a:xfrm>
            <a:off x="558800" y="4756722"/>
            <a:ext cx="566674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Fast, focused judgment by default.</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Frontier reasoning for the exceptions.</a:t>
            </a:r>
            <a:endParaRPr lang="en-US" sz="1250" b="0" i="0" kern="0" spc="0" dirty="0">
              <a:solidFill>
                <a:srgbClr val="032D60"/>
              </a:solidFill>
              <a:latin typeface="Salesforce Sans"/>
              <a:ea typeface="Salesforce Sans"/>
              <a:cs typeface="Salesforce Sans"/>
            </a:endParaRPr>
          </a:p>
        </p:txBody>
      </p:sp>
      <p:grpSp>
        <p:nvGrpSpPr>
          <p:cNvPr id="1043" name="01 · lead: Enterprise reasoning with koa-action, Agent Graph and AgentScript."/>
          <p:cNvGrpSpPr/>
          <p:nvPr/>
        </p:nvGrpSpPr>
        <p:grpSpPr>
          <a:xfrm>
            <a:off x="558800" y="3490164"/>
            <a:ext cx="5666740" cy="1019810"/>
            <a:chOff x="558800" y="3490164"/>
            <a:chExt cx="5666740" cy="1019810"/>
          </a:xfrm>
        </p:grpSpPr>
        <p:sp>
          <p:nvSpPr>
            <p:cNvPr id="1005" name="01 · code · surface [p01-e0011]"/>
            <p:cNvSpPr/>
            <p:nvPr/>
          </p:nvSpPr>
          <p:spPr>
            <a:xfrm>
              <a:off x="558800" y="3862046"/>
              <a:ext cx="1393238" cy="245933"/>
            </a:xfrm>
            <a:prstGeom prst="roundRect">
              <a:avLst>
                <a:gd name="adj" fmla="val 15492"/>
              </a:avLst>
            </a:prstGeom>
            <a:solidFill>
              <a:srgbClr val="FFFFFF">
                <a:alpha val="56659"/>
              </a:srgbClr>
            </a:solidFill>
            <a:ln>
              <a:noFill/>
            </a:ln>
          </p:spPr>
        </p:sp>
        <p:sp>
          <p:nvSpPr>
            <p:cNvPr id="1006" name="01 · opening-sub: Enterprise reasoning with koa-action, Agent Graph and AgentScript. [p01-text-0015]" descr="Native editable Unicode text; authored line breaks retained."/>
            <p:cNvSpPr txBox="1"/>
            <p:nvPr/>
          </p:nvSpPr>
          <p:spPr>
            <a:xfrm>
              <a:off x="558800" y="3490164"/>
              <a:ext cx="5666740" cy="10198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Enterprise reasoning with</a:t>
              </a:r>
              <a:endParaRPr lang="en-US" sz="1900" b="0" i="0" kern="0" spc="-10" dirty="0">
                <a:solidFill>
                  <a:srgbClr val="032D60">
                    <a:alpha val="86000"/>
                  </a:srgbClr>
                </a:solidFill>
                <a:latin typeface="Salesforce Sans"/>
                <a:ea typeface="Salesforce Sans"/>
                <a:cs typeface="Salesforce Sans"/>
              </a:endParaRPr>
            </a:p>
            <a:p>
              <a:pPr marL="0" marR="0" indent="43917" algn="l" fontAlgn="base">
                <a:lnSpc>
                  <a:spcPts val="2660"/>
                </a:lnSpc>
                <a:spcBef>
                  <a:spcPts val="0"/>
                </a:spcBef>
                <a:spcAft>
                  <a:spcPts val="0"/>
                </a:spcAft>
                <a:buNone/>
                <a:tabLst>
                  <a:tab pos="1393238" algn="l"/>
                </a:tabLst>
              </a:pPr>
              <a:r>
                <a:rPr lang="en-US" sz="1729" b="0" i="0" kern="0" spc="-10" dirty="0">
                  <a:solidFill>
                    <a:srgbClr val="032D60">
                      <a:alpha val="86000"/>
                    </a:srgbClr>
                  </a:solidFill>
                  <a:latin typeface="IBM Plex Mono"/>
                  <a:ea typeface="IBM Plex Mono"/>
                  <a:cs typeface="IBM Plex Mono"/>
                </a:rPr>
                <a:t>koa-action</a:t>
              </a:r>
              <a:r>
                <a:rPr lang="en-US" sz="1729" b="0" i="0" kern="0" spc="-10" dirty="0">
                  <a:solidFill>
                    <a:srgbClr val="032D60">
                      <a:alpha val="86000"/>
                    </a:srgbClr>
                  </a:solidFill>
                  <a:latin typeface="IBM Plex Mono"/>
                  <a:ea typeface="IBM Plex Mono"/>
                  <a:cs typeface="IBM Plex Mono"/>
                </a:rPr>
                <a:t xml:space="preserve">	</a:t>
              </a:r>
              <a:r>
                <a:rPr lang="en-US" sz="1900" b="0" i="0" kern="0" spc="-10" dirty="0">
                  <a:solidFill>
                    <a:srgbClr val="032D60">
                      <a:alpha val="86000"/>
                    </a:srgbClr>
                  </a:solidFill>
                  <a:latin typeface="Salesforce Sans"/>
                  <a:ea typeface="Salesforce Sans"/>
                  <a:cs typeface="Salesforce Sans"/>
                </a:rPr>
                <a:t>, Agent Graph</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and AgentScript.</a:t>
              </a:r>
              <a:endParaRPr lang="en-US" sz="1900" b="0" i="0" kern="0" spc="-10" dirty="0">
                <a:solidFill>
                  <a:srgbClr val="032D60">
                    <a:alpha val="86000"/>
                  </a:srgbClr>
                </a:solidFill>
                <a:latin typeface="Salesforce Sans"/>
                <a:ea typeface="Salesforce Sans"/>
                <a:cs typeface="Salesforce Sans"/>
              </a:endParaRPr>
            </a:p>
          </p:txBody>
        </p:sp>
      </p:grpSp>
      <p:grpSp>
        <p:nvGrpSpPr>
          <p:cNvPr id="1007" name="01 · svg · drawing [p01-e0015]"/>
          <p:cNvGrpSpPr/>
          <p:nvPr/>
        </p:nvGrpSpPr>
        <p:grpSpPr>
          <a:xfrm>
            <a:off x="7315623" y="2081187"/>
            <a:ext cx="3621193" cy="2177143"/>
            <a:chOff x="7315623" y="2081187"/>
            <a:chExt cx="3621193" cy="2177143"/>
          </a:xfrm>
        </p:grpSpPr>
        <p:grpSp>
          <p:nvGrpSpPr>
            <p:cNvPr id="1008" name="path · 1 + arrowhead"/>
            <p:cNvGrpSpPr/>
            <p:nvPr/>
          </p:nvGrpSpPr>
          <p:grpSpPr>
            <a:xfrm>
              <a:off x="9070509" y="2081187"/>
              <a:ext cx="111421" cy="499937"/>
              <a:chOff x="9070509" y="2081187"/>
              <a:chExt cx="111421" cy="499937"/>
            </a:xfrm>
          </p:grpSpPr>
          <p:sp>
            <p:nvSpPr>
              <p:cNvPr id="1009" name="path · 1"/>
              <p:cNvSpPr/>
              <p:nvPr/>
            </p:nvSpPr>
            <p:spPr>
              <a:xfrm>
                <a:off x="9126220" y="2081187"/>
                <a:ext cx="1" cy="483810"/>
              </a:xfrm>
              <a:custGeom>
                <a:avLst/>
                <a:gdLst/>
                <a:ahLst/>
                <a:cxnLst/>
                <a:rect l="0" t="0" r="r" b="b"/>
                <a:pathLst>
                  <a:path w="1" h="483810" fill="none" stroke="1" extrusionOk="0">
                    <a:moveTo>
                      <a:pt x="0" y="0"/>
                    </a:moveTo>
                    <a:lnTo>
                      <a:pt x="0" y="483810"/>
                    </a:lnTo>
                  </a:path>
                </a:pathLst>
              </a:custGeom>
              <a:noFill/>
              <a:ln w="15875" cap="flat" cmpd="sng" algn="ctr">
                <a:solidFill>
                  <a:srgbClr val="789B8E"/>
                </a:solidFill>
                <a:prstDash val="solid"/>
                <a:miter lim="400000"/>
                <a:headEnd type="none" w="med" len="med"/>
                <a:tailEnd type="none" w="med" len="med"/>
              </a:ln>
            </p:spPr>
          </p:sp>
          <p:grpSp>
            <p:nvGrpSpPr>
              <p:cNvPr id="1010" name="arr1 end"/>
              <p:cNvGrpSpPr/>
              <p:nvPr/>
            </p:nvGrpSpPr>
            <p:grpSpPr>
              <a:xfrm>
                <a:off x="9070509" y="2452108"/>
                <a:ext cx="111421" cy="129016"/>
                <a:chOff x="9070509" y="2452108"/>
                <a:chExt cx="111421" cy="129016"/>
              </a:xfrm>
            </p:grpSpPr>
            <p:sp>
              <p:nvSpPr>
                <p:cNvPr id="1011" name="path · 2"/>
                <p:cNvSpPr/>
                <p:nvPr/>
              </p:nvSpPr>
              <p:spPr>
                <a:xfrm>
                  <a:off x="9070509" y="2452108"/>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12" name="path · 3 + arrowhead"/>
            <p:cNvGrpSpPr/>
            <p:nvPr/>
          </p:nvGrpSpPr>
          <p:grpSpPr>
            <a:xfrm>
              <a:off x="7315623" y="3306838"/>
              <a:ext cx="1810597" cy="951492"/>
              <a:chOff x="7315623" y="3306838"/>
              <a:chExt cx="1810597" cy="951492"/>
            </a:xfrm>
          </p:grpSpPr>
          <p:sp>
            <p:nvSpPr>
              <p:cNvPr id="1013" name="path · 3"/>
              <p:cNvSpPr/>
              <p:nvPr/>
            </p:nvSpPr>
            <p:spPr>
              <a:xfrm>
                <a:off x="7371334" y="3306838"/>
                <a:ext cx="1754886" cy="935365"/>
              </a:xfrm>
              <a:custGeom>
                <a:avLst/>
                <a:gdLst/>
                <a:ahLst/>
                <a:cxnLst/>
                <a:rect l="0" t="0" r="r" b="b"/>
                <a:pathLst>
                  <a:path w="1754886" h="935365" fill="none" stroke="1" extrusionOk="0">
                    <a:moveTo>
                      <a:pt x="1754886" y="0"/>
                    </a:moveTo>
                    <a:lnTo>
                      <a:pt x="1754886" y="483810"/>
                    </a:lnTo>
                    <a:lnTo>
                      <a:pt x="0" y="483810"/>
                    </a:lnTo>
                    <a:lnTo>
                      <a:pt x="0" y="935365"/>
                    </a:lnTo>
                  </a:path>
                </a:pathLst>
              </a:custGeom>
              <a:noFill/>
              <a:ln w="15875" cap="flat" cmpd="sng" algn="ctr">
                <a:solidFill>
                  <a:srgbClr val="789B8E"/>
                </a:solidFill>
                <a:prstDash val="solid"/>
                <a:miter lim="400000"/>
                <a:headEnd type="none" w="med" len="med"/>
                <a:tailEnd type="none" w="med" len="med"/>
              </a:ln>
            </p:spPr>
          </p:sp>
          <p:grpSp>
            <p:nvGrpSpPr>
              <p:cNvPr id="1014" name="arr1 end"/>
              <p:cNvGrpSpPr/>
              <p:nvPr/>
            </p:nvGrpSpPr>
            <p:grpSpPr>
              <a:xfrm>
                <a:off x="7315623" y="4129314"/>
                <a:ext cx="111421" cy="129016"/>
                <a:chOff x="7315623" y="4129314"/>
                <a:chExt cx="111421" cy="129016"/>
              </a:xfrm>
            </p:grpSpPr>
            <p:sp>
              <p:nvSpPr>
                <p:cNvPr id="1015" name="path · 4"/>
                <p:cNvSpPr/>
                <p:nvPr/>
              </p:nvSpPr>
              <p:spPr>
                <a:xfrm>
                  <a:off x="7315623"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16" name="path · 5 + arrowhead"/>
            <p:cNvGrpSpPr/>
            <p:nvPr/>
          </p:nvGrpSpPr>
          <p:grpSpPr>
            <a:xfrm>
              <a:off x="9070509" y="3790648"/>
              <a:ext cx="111421" cy="467683"/>
              <a:chOff x="9070509" y="3790648"/>
              <a:chExt cx="111421" cy="467683"/>
            </a:xfrm>
          </p:grpSpPr>
          <p:sp>
            <p:nvSpPr>
              <p:cNvPr id="1017" name="path · 5"/>
              <p:cNvSpPr/>
              <p:nvPr/>
            </p:nvSpPr>
            <p:spPr>
              <a:xfrm>
                <a:off x="9126220" y="3790648"/>
                <a:ext cx="1" cy="451556"/>
              </a:xfrm>
              <a:custGeom>
                <a:avLst/>
                <a:gdLst/>
                <a:ahLst/>
                <a:cxnLst/>
                <a:rect l="0" t="0" r="r" b="b"/>
                <a:pathLst>
                  <a:path w="1" h="451556" fill="none" stroke="1" extrusionOk="0">
                    <a:moveTo>
                      <a:pt x="0" y="0"/>
                    </a:moveTo>
                    <a:lnTo>
                      <a:pt x="0" y="451555"/>
                    </a:lnTo>
                  </a:path>
                </a:pathLst>
              </a:custGeom>
              <a:noFill/>
              <a:ln w="15875" cap="flat" cmpd="sng" algn="ctr">
                <a:solidFill>
                  <a:srgbClr val="789B8E"/>
                </a:solidFill>
                <a:prstDash val="solid"/>
                <a:miter lim="400000"/>
                <a:headEnd type="none" w="med" len="med"/>
                <a:tailEnd type="none" w="med" len="med"/>
              </a:ln>
            </p:spPr>
          </p:sp>
          <p:grpSp>
            <p:nvGrpSpPr>
              <p:cNvPr id="1018" name="arr1 end"/>
              <p:cNvGrpSpPr/>
              <p:nvPr/>
            </p:nvGrpSpPr>
            <p:grpSpPr>
              <a:xfrm>
                <a:off x="9070509" y="4129314"/>
                <a:ext cx="111421" cy="129016"/>
                <a:chOff x="9070509" y="4129314"/>
                <a:chExt cx="111421" cy="129016"/>
              </a:xfrm>
            </p:grpSpPr>
            <p:sp>
              <p:nvSpPr>
                <p:cNvPr id="1019" name="path · 6"/>
                <p:cNvSpPr/>
                <p:nvPr/>
              </p:nvSpPr>
              <p:spPr>
                <a:xfrm>
                  <a:off x="9070509"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nvGrpSpPr>
            <p:cNvPr id="1020" name="path · 7 + arrowhead"/>
            <p:cNvGrpSpPr/>
            <p:nvPr/>
          </p:nvGrpSpPr>
          <p:grpSpPr>
            <a:xfrm>
              <a:off x="9126220" y="3790648"/>
              <a:ext cx="1810597" cy="467683"/>
              <a:chOff x="9126220" y="3790648"/>
              <a:chExt cx="1810597" cy="467683"/>
            </a:xfrm>
          </p:grpSpPr>
          <p:sp>
            <p:nvSpPr>
              <p:cNvPr id="1021" name="path · 7"/>
              <p:cNvSpPr/>
              <p:nvPr/>
            </p:nvSpPr>
            <p:spPr>
              <a:xfrm>
                <a:off x="9126220" y="3790648"/>
                <a:ext cx="1754886" cy="451556"/>
              </a:xfrm>
              <a:custGeom>
                <a:avLst/>
                <a:gdLst/>
                <a:ahLst/>
                <a:cxnLst/>
                <a:rect l="0" t="0" r="r" b="b"/>
                <a:pathLst>
                  <a:path w="1754886" h="451556" fill="none" stroke="1" extrusionOk="0">
                    <a:moveTo>
                      <a:pt x="0" y="0"/>
                    </a:moveTo>
                    <a:lnTo>
                      <a:pt x="1754886" y="0"/>
                    </a:lnTo>
                    <a:lnTo>
                      <a:pt x="1754886" y="451555"/>
                    </a:lnTo>
                  </a:path>
                </a:pathLst>
              </a:custGeom>
              <a:noFill/>
              <a:ln w="15875" cap="flat" cmpd="sng" algn="ctr">
                <a:solidFill>
                  <a:srgbClr val="789B8E"/>
                </a:solidFill>
                <a:prstDash val="solid"/>
                <a:miter lim="400000"/>
                <a:headEnd type="none" w="med" len="med"/>
                <a:tailEnd type="none" w="med" len="med"/>
              </a:ln>
            </p:spPr>
          </p:sp>
          <p:grpSp>
            <p:nvGrpSpPr>
              <p:cNvPr id="1022" name="arr1 end"/>
              <p:cNvGrpSpPr/>
              <p:nvPr/>
            </p:nvGrpSpPr>
            <p:grpSpPr>
              <a:xfrm>
                <a:off x="10825395" y="4129314"/>
                <a:ext cx="111421" cy="129016"/>
                <a:chOff x="10825395" y="4129314"/>
                <a:chExt cx="111421" cy="129016"/>
              </a:xfrm>
            </p:grpSpPr>
            <p:sp>
              <p:nvSpPr>
                <p:cNvPr id="1023" name="path · 8"/>
                <p:cNvSpPr/>
                <p:nvPr/>
              </p:nvSpPr>
              <p:spPr>
                <a:xfrm>
                  <a:off x="10825395" y="4129314"/>
                  <a:ext cx="111421" cy="129016"/>
                </a:xfrm>
                <a:custGeom>
                  <a:avLst/>
                  <a:gdLst/>
                  <a:ahLst/>
                  <a:cxnLst/>
                  <a:rect l="0" t="0" r="r" b="b"/>
                  <a:pathLst>
                    <a:path w="111421" h="129016" fill="norm" stroke="0" extrusionOk="0">
                      <a:moveTo>
                        <a:pt x="111422" y="0"/>
                      </a:moveTo>
                      <a:lnTo>
                        <a:pt x="55711" y="129016"/>
                      </a:lnTo>
                      <a:lnTo>
                        <a:pt x="0" y="0"/>
                      </a:lnTo>
                      <a:close/>
                    </a:path>
                  </a:pathLst>
                </a:custGeom>
                <a:solidFill>
                  <a:srgbClr val="789B8E"/>
                </a:solidFill>
                <a:ln>
                  <a:noFill/>
                </a:ln>
              </p:spPr>
            </p:sp>
          </p:grpSp>
        </p:grpSp>
      </p:grpSp>
      <p:grpSp>
        <p:nvGrpSpPr>
          <p:cNvPr id="1044" name="01 · node sand: AUTHORED CONTROLS"/>
          <p:cNvGrpSpPr/>
          <p:nvPr/>
        </p:nvGrpSpPr>
        <p:grpSpPr>
          <a:xfrm>
            <a:off x="6897816" y="1436096"/>
            <a:ext cx="4456859" cy="645079"/>
            <a:chOff x="6897816" y="1436096"/>
            <a:chExt cx="4456859" cy="645079"/>
          </a:xfrm>
        </p:grpSpPr>
        <p:sp>
          <p:nvSpPr>
            <p:cNvPr id="1024" name="01 · node sand · surface [p01-e0016]"/>
            <p:cNvSpPr/>
            <p:nvPr/>
          </p:nvSpPr>
          <p:spPr>
            <a:xfrm>
              <a:off x="6897816" y="1436096"/>
              <a:ext cx="4456859" cy="645079"/>
            </a:xfrm>
            <a:prstGeom prst="roundRect">
              <a:avLst>
                <a:gd name="adj" fmla="val 21656"/>
              </a:avLst>
            </a:prstGeom>
            <a:solidFill>
              <a:srgbClr val="FBF0CF"/>
            </a:solidFill>
            <a:ln>
              <a:noFill/>
            </a:ln>
          </p:spPr>
        </p:sp>
        <p:sp>
          <p:nvSpPr>
            <p:cNvPr id="1025" name="01 · mini: AUTHORED CONTROLS [p01-text-0016]" descr="Native editable Unicode text; authored line breaks retained."/>
            <p:cNvSpPr txBox="1"/>
            <p:nvPr/>
          </p:nvSpPr>
          <p:spPr>
            <a:xfrm>
              <a:off x="7024816" y="1543881"/>
              <a:ext cx="4215559"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AUTHORED CONTROLS</a:t>
              </a:r>
              <a:endParaRPr lang="en-US" sz="950" b="0" i="0" kern="0" spc="50" dirty="0">
                <a:solidFill>
                  <a:srgbClr val="022AC0"/>
                </a:solidFill>
                <a:latin typeface="IBM Plex Mono"/>
                <a:ea typeface="IBM Plex Mono"/>
                <a:cs typeface="IBM Plex Mono"/>
              </a:endParaRPr>
            </a:p>
          </p:txBody>
        </p:sp>
        <p:sp>
          <p:nvSpPr>
            <p:cNvPr id="1026" name="01 · strong: AgentScript [p01-text-0017]" descr="Native editable Unicode text; authored line breaks retained."/>
            <p:cNvSpPr txBox="1"/>
            <p:nvPr/>
          </p:nvSpPr>
          <p:spPr>
            <a:xfrm>
              <a:off x="7024816" y="1758905"/>
              <a:ext cx="4215559"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AgentScript</a:t>
              </a:r>
              <a:endParaRPr lang="en-US" sz="1350" b="1" i="0" kern="0" spc="0" dirty="0">
                <a:solidFill>
                  <a:srgbClr val="032D60"/>
                </a:solidFill>
                <a:latin typeface="Salesforce Sans"/>
                <a:ea typeface="Salesforce Sans"/>
                <a:cs typeface="Salesforce Sans"/>
              </a:endParaRPr>
            </a:p>
          </p:txBody>
        </p:sp>
      </p:grpSp>
      <p:grpSp>
        <p:nvGrpSpPr>
          <p:cNvPr id="1045" name="01 · node mint: STATE + TRANSITIONS"/>
          <p:cNvGrpSpPr/>
          <p:nvPr/>
        </p:nvGrpSpPr>
        <p:grpSpPr>
          <a:xfrm>
            <a:off x="6897816" y="2597262"/>
            <a:ext cx="4456859" cy="709574"/>
            <a:chOff x="6897816" y="2597262"/>
            <a:chExt cx="4456859" cy="709574"/>
          </a:xfrm>
        </p:grpSpPr>
        <p:sp>
          <p:nvSpPr>
            <p:cNvPr id="1027" name="01 · node mint · surface [p01-e0019]"/>
            <p:cNvSpPr/>
            <p:nvPr/>
          </p:nvSpPr>
          <p:spPr>
            <a:xfrm>
              <a:off x="6897816" y="2597262"/>
              <a:ext cx="4456859" cy="709574"/>
            </a:xfrm>
            <a:prstGeom prst="roundRect">
              <a:avLst>
                <a:gd name="adj" fmla="val 19688"/>
              </a:avLst>
            </a:prstGeom>
            <a:solidFill>
              <a:srgbClr val="DDF3ED"/>
            </a:solidFill>
            <a:ln>
              <a:noFill/>
            </a:ln>
          </p:spPr>
        </p:sp>
        <p:sp>
          <p:nvSpPr>
            <p:cNvPr id="1028" name="01 · mini: STATE + TRANSITIONS [p01-text-0018]" descr="Native editable Unicode text; authored line breaks retained."/>
            <p:cNvSpPr txBox="1"/>
            <p:nvPr/>
          </p:nvSpPr>
          <p:spPr>
            <a:xfrm>
              <a:off x="7024816" y="2737294"/>
              <a:ext cx="4215559"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STATE + TRANSITIONS</a:t>
              </a:r>
              <a:endParaRPr lang="en-US" sz="950" b="0" i="0" kern="0" spc="50" dirty="0">
                <a:solidFill>
                  <a:srgbClr val="022AC0"/>
                </a:solidFill>
                <a:latin typeface="IBM Plex Mono"/>
                <a:ea typeface="IBM Plex Mono"/>
                <a:cs typeface="IBM Plex Mono"/>
              </a:endParaRPr>
            </a:p>
          </p:txBody>
        </p:sp>
        <p:sp>
          <p:nvSpPr>
            <p:cNvPr id="1029" name="01 · strong: Agent Graph [p01-text-0019]" descr="Native editable Unicode text; authored line breaks retained."/>
            <p:cNvSpPr txBox="1"/>
            <p:nvPr/>
          </p:nvSpPr>
          <p:spPr>
            <a:xfrm>
              <a:off x="7024816" y="2952319"/>
              <a:ext cx="4215559"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Agent Graph</a:t>
              </a:r>
              <a:endParaRPr lang="en-US" sz="1350" b="1" i="0" kern="0" spc="0" dirty="0">
                <a:solidFill>
                  <a:srgbClr val="032D60"/>
                </a:solidFill>
                <a:latin typeface="Salesforce Sans"/>
                <a:ea typeface="Salesforce Sans"/>
                <a:cs typeface="Salesforce Sans"/>
              </a:endParaRPr>
            </a:p>
          </p:txBody>
        </p:sp>
      </p:grpSp>
      <p:grpSp>
        <p:nvGrpSpPr>
          <p:cNvPr id="1046" name="01 · node mint: koa-action"/>
          <p:cNvGrpSpPr/>
          <p:nvPr/>
        </p:nvGrpSpPr>
        <p:grpSpPr>
          <a:xfrm>
            <a:off x="6619240" y="4274475"/>
            <a:ext cx="1504188" cy="935370"/>
            <a:chOff x="6619240" y="4274475"/>
            <a:chExt cx="1504188" cy="935370"/>
          </a:xfrm>
        </p:grpSpPr>
        <p:sp>
          <p:nvSpPr>
            <p:cNvPr id="1030" name="01 · node mint · surface [p01-e0022]"/>
            <p:cNvSpPr/>
            <p:nvPr/>
          </p:nvSpPr>
          <p:spPr>
            <a:xfrm>
              <a:off x="6619240" y="4274475"/>
              <a:ext cx="1504188" cy="935370"/>
            </a:xfrm>
            <a:prstGeom prst="roundRect">
              <a:avLst>
                <a:gd name="adj" fmla="val 14935"/>
              </a:avLst>
            </a:prstGeom>
            <a:solidFill>
              <a:srgbClr val="DDF3ED"/>
            </a:solidFill>
            <a:ln>
              <a:noFill/>
            </a:ln>
          </p:spPr>
        </p:sp>
        <p:sp>
          <p:nvSpPr>
            <p:cNvPr id="1031" name="01 · strong: koa-action [p01-text-0020]" descr="Native editable Unicode text; authored line breaks retained."/>
            <p:cNvSpPr txBox="1"/>
            <p:nvPr/>
          </p:nvSpPr>
          <p:spPr>
            <a:xfrm>
              <a:off x="6746240" y="4527484"/>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koa-action</a:t>
              </a:r>
              <a:endParaRPr lang="en-US" sz="1350" b="1" i="0" kern="0" spc="0" dirty="0">
                <a:solidFill>
                  <a:srgbClr val="032D60"/>
                </a:solidFill>
                <a:latin typeface="Salesforce Sans"/>
                <a:ea typeface="Salesforce Sans"/>
                <a:cs typeface="Salesforce Sans"/>
              </a:endParaRPr>
            </a:p>
          </p:txBody>
        </p:sp>
        <p:sp>
          <p:nvSpPr>
            <p:cNvPr id="1032" name="01 · small: Bounded judgment [p01-text-0021]" descr="Native editable Unicode text; authored line breaks retained."/>
            <p:cNvSpPr txBox="1"/>
            <p:nvPr/>
          </p:nvSpPr>
          <p:spPr>
            <a:xfrm>
              <a:off x="6746240" y="4790738"/>
              <a:ext cx="1262888" cy="16916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Bounded judgment</a:t>
              </a:r>
              <a:endParaRPr lang="en-US" sz="1000" b="0" i="0" kern="0" spc="0" dirty="0">
                <a:solidFill>
                  <a:srgbClr val="032D60"/>
                </a:solidFill>
                <a:latin typeface="Salesforce Sans"/>
                <a:ea typeface="Salesforce Sans"/>
                <a:cs typeface="Salesforce Sans"/>
              </a:endParaRPr>
            </a:p>
          </p:txBody>
        </p:sp>
      </p:grpSp>
      <p:grpSp>
        <p:nvGrpSpPr>
          <p:cNvPr id="1047" name="01 · node lilac: Frontier model"/>
          <p:cNvGrpSpPr/>
          <p:nvPr/>
        </p:nvGrpSpPr>
        <p:grpSpPr>
          <a:xfrm>
            <a:off x="8374126" y="4274475"/>
            <a:ext cx="1504188" cy="935370"/>
            <a:chOff x="8374126" y="4274475"/>
            <a:chExt cx="1504188" cy="935370"/>
          </a:xfrm>
        </p:grpSpPr>
        <p:sp>
          <p:nvSpPr>
            <p:cNvPr id="1033" name="01 · node lilac · surface [p01-e0025]"/>
            <p:cNvSpPr/>
            <p:nvPr/>
          </p:nvSpPr>
          <p:spPr>
            <a:xfrm>
              <a:off x="8374126" y="4274475"/>
              <a:ext cx="1504188" cy="935370"/>
            </a:xfrm>
            <a:prstGeom prst="roundRect">
              <a:avLst>
                <a:gd name="adj" fmla="val 14935"/>
              </a:avLst>
            </a:prstGeom>
            <a:solidFill>
              <a:srgbClr val="EAE6FA"/>
            </a:solidFill>
            <a:ln>
              <a:noFill/>
            </a:ln>
          </p:spPr>
        </p:sp>
        <p:sp>
          <p:nvSpPr>
            <p:cNvPr id="1034" name="01 · strong: Frontier model [p01-text-0022]" descr="Native editable Unicode text; authored line breaks retained."/>
            <p:cNvSpPr txBox="1"/>
            <p:nvPr/>
          </p:nvSpPr>
          <p:spPr>
            <a:xfrm>
              <a:off x="8501126" y="4448109"/>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Frontier model</a:t>
              </a:r>
              <a:endParaRPr lang="en-US" sz="1350" b="1" i="0" kern="0" spc="0" dirty="0">
                <a:solidFill>
                  <a:srgbClr val="032D60"/>
                </a:solidFill>
                <a:latin typeface="Salesforce Sans"/>
                <a:ea typeface="Salesforce Sans"/>
                <a:cs typeface="Salesforce Sans"/>
              </a:endParaRPr>
            </a:p>
          </p:txBody>
        </p:sp>
        <p:sp>
          <p:nvSpPr>
            <p:cNvPr id="1035" name="01 · small: Reasoning exceptions [p01-text-0023]" descr="Native editable Unicode text; authored line breaks retained."/>
            <p:cNvSpPr txBox="1"/>
            <p:nvPr/>
          </p:nvSpPr>
          <p:spPr>
            <a:xfrm>
              <a:off x="8501126" y="4711363"/>
              <a:ext cx="1262888" cy="3279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Reasoning</a:t>
              </a:r>
              <a:endParaRPr lang="en-US" sz="1000" b="0" i="0" kern="0" spc="0" dirty="0">
                <a:solidFill>
                  <a:srgbClr val="032D60"/>
                </a:solidFill>
                <a:latin typeface="Salesforce Sans"/>
                <a:ea typeface="Salesforce Sans"/>
                <a:cs typeface="Salesforce Sans"/>
              </a:endParaRPr>
            </a:p>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exceptions</a:t>
              </a:r>
              <a:endParaRPr lang="en-US" sz="1000" b="0" i="0" kern="0" spc="0" dirty="0">
                <a:solidFill>
                  <a:srgbClr val="032D60"/>
                </a:solidFill>
                <a:latin typeface="Salesforce Sans"/>
                <a:ea typeface="Salesforce Sans"/>
                <a:cs typeface="Salesforce Sans"/>
              </a:endParaRPr>
            </a:p>
          </p:txBody>
        </p:sp>
      </p:grpSp>
      <p:grpSp>
        <p:nvGrpSpPr>
          <p:cNvPr id="1048" name="01 · node blue: Services"/>
          <p:cNvGrpSpPr/>
          <p:nvPr/>
        </p:nvGrpSpPr>
        <p:grpSpPr>
          <a:xfrm>
            <a:off x="10129012" y="4274475"/>
            <a:ext cx="1504188" cy="935370"/>
            <a:chOff x="10129012" y="4274475"/>
            <a:chExt cx="1504188" cy="935370"/>
          </a:xfrm>
        </p:grpSpPr>
        <p:sp>
          <p:nvSpPr>
            <p:cNvPr id="1036" name="01 · node blue · surface [p01-e0029]"/>
            <p:cNvSpPr/>
            <p:nvPr/>
          </p:nvSpPr>
          <p:spPr>
            <a:xfrm>
              <a:off x="10129012" y="4274475"/>
              <a:ext cx="1504188" cy="935370"/>
            </a:xfrm>
            <a:prstGeom prst="roundRect">
              <a:avLst>
                <a:gd name="adj" fmla="val 14935"/>
              </a:avLst>
            </a:prstGeom>
            <a:solidFill>
              <a:srgbClr val="DCEEFE"/>
            </a:solidFill>
            <a:ln>
              <a:noFill/>
            </a:ln>
          </p:spPr>
        </p:sp>
        <p:sp>
          <p:nvSpPr>
            <p:cNvPr id="1037" name="01 · strong: Services [p01-text-0024]" descr="Native editable Unicode text; authored line breaks retained."/>
            <p:cNvSpPr txBox="1"/>
            <p:nvPr/>
          </p:nvSpPr>
          <p:spPr>
            <a:xfrm>
              <a:off x="10256012" y="4527484"/>
              <a:ext cx="1262888" cy="2261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47"/>
                </a:lnSpc>
                <a:spcBef>
                  <a:spcPts val="0"/>
                </a:spcBef>
                <a:spcAft>
                  <a:spcPts val="0"/>
                </a:spcAft>
                <a:buNone/>
              </a:pPr>
              <a:r>
                <a:rPr lang="en-US" sz="1350" b="1" i="0" kern="0" spc="0" dirty="0">
                  <a:solidFill>
                    <a:srgbClr val="032D60"/>
                  </a:solidFill>
                  <a:latin typeface="Salesforce Sans"/>
                  <a:ea typeface="Salesforce Sans"/>
                  <a:cs typeface="Salesforce Sans"/>
                </a:rPr>
                <a:t>Services</a:t>
              </a:r>
              <a:endParaRPr lang="en-US" sz="1350" b="1" i="0" kern="0" spc="0" dirty="0">
                <a:solidFill>
                  <a:srgbClr val="032D60"/>
                </a:solidFill>
                <a:latin typeface="Salesforce Sans"/>
                <a:ea typeface="Salesforce Sans"/>
                <a:cs typeface="Salesforce Sans"/>
              </a:endParaRPr>
            </a:p>
          </p:txBody>
        </p:sp>
        <p:sp>
          <p:nvSpPr>
            <p:cNvPr id="1038" name="01 · small: Facts + authority [p01-text-0025]" descr="Native editable Unicode text; authored line breaks retained."/>
            <p:cNvSpPr txBox="1"/>
            <p:nvPr/>
          </p:nvSpPr>
          <p:spPr>
            <a:xfrm>
              <a:off x="10256012" y="4790738"/>
              <a:ext cx="1262888" cy="16916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50"/>
                </a:lnSpc>
                <a:spcBef>
                  <a:spcPts val="0"/>
                </a:spcBef>
                <a:spcAft>
                  <a:spcPts val="0"/>
                </a:spcAft>
                <a:buNone/>
              </a:pPr>
              <a:r>
                <a:rPr lang="en-US" sz="1000" b="0" i="0" kern="0" spc="0" dirty="0">
                  <a:solidFill>
                    <a:srgbClr val="032D60"/>
                  </a:solidFill>
                  <a:latin typeface="Salesforce Sans"/>
                  <a:ea typeface="Salesforce Sans"/>
                  <a:cs typeface="Salesforce Sans"/>
                </a:rPr>
                <a:t>Facts + authority</a:t>
              </a:r>
              <a:endParaRPr lang="en-US" sz="1000" b="0" i="0" kern="0" spc="0" dirty="0">
                <a:solidFill>
                  <a:srgbClr val="032D60"/>
                </a:solidFill>
                <a:latin typeface="Salesforce Sans"/>
                <a:ea typeface="Salesforce Sans"/>
                <a:cs typeface="Salesforce Sans"/>
              </a:endParaRPr>
            </a:p>
          </p:txBody>
        </p:sp>
      </p:grpSp>
      <p:grpSp>
        <p:nvGrpSpPr>
          <p:cNvPr id="1049" name="01 · source-line: Agent Graph / guided determinism · AgentScript control plane · Composable A"/>
          <p:cNvGrpSpPr/>
          <p:nvPr/>
        </p:nvGrpSpPr>
        <p:grpSpPr>
          <a:xfrm>
            <a:off x="558800" y="6037898"/>
            <a:ext cx="11087100" cy="284456"/>
            <a:chOff x="558800" y="6037898"/>
            <a:chExt cx="11087100" cy="284456"/>
          </a:xfrm>
        </p:grpSpPr>
        <p:sp>
          <p:nvSpPr>
            <p:cNvPr id="1039" name="01 · source-line · top border [p01-e003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0" name="01 · span: Agent Graph / guided determinism · AgentScript control plane · Composable AI · [p01-text-0026]" descr="Native editable Unicode text; authored line breaks retained."/>
            <p:cNvSpPr txBox="1"/>
            <p:nvPr/>
          </p:nvSpPr>
          <p:spPr>
            <a:xfrm>
              <a:off x="558800" y="6153126"/>
              <a:ext cx="54782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6" tooltip="Jev + LangGraph"/>
                </a:rPr>
                <a:t>Jev + LangGraph</a:t>
              </a:r>
              <a:endParaRPr lang="en-US" sz="950" b="0" i="0" kern="0" spc="0" dirty="0" u="sng">
                <a:solidFill>
                  <a:srgbClr val="315A7A"/>
                </a:solidFill>
                <a:latin typeface="Salesforce Sans"/>
                <a:ea typeface="Salesforce Sans"/>
                <a:cs typeface="Salesforce Sans"/>
              </a:endParaRPr>
            </a:p>
          </p:txBody>
        </p:sp>
        <p:sp>
          <p:nvSpPr>
            <p:cNvPr id="1041" name="01 · span: Proposed Salesforce composition [p01-text-0027]" descr="Native editable Unicode text; authored line breaks retained."/>
            <p:cNvSpPr txBox="1"/>
            <p:nvPr/>
          </p:nvSpPr>
          <p:spPr>
            <a:xfrm>
              <a:off x="9768756" y="6153126"/>
              <a:ext cx="187714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Salesforce composition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Four benefits. One service to measure.">
    <p:bg>
      <p:bgPr>
        <a:solidFill>
          <a:srgbClr val="FFFFFF"/>
        </a:solidFill>
      </p:bgPr>
    </p:bg>
    <p:spTree>
      <p:nvGrpSpPr>
        <p:cNvPr id="1" name=""/>
        <p:cNvGrpSpPr/>
        <p:nvPr/>
      </p:nvGrpSpPr>
      <p:grpSpPr>
        <a:xfrm>
          <a:off x="0" y="0"/>
          <a:ext cx="0" cy="0"/>
          <a:chOff x="0" y="0"/>
          <a:chExt cx="0" cy="0"/>
        </a:xfrm>
      </p:grpSpPr>
      <p:sp>
        <p:nvSpPr>
          <p:cNvPr id="1000" name="02 · slide light · surface [p0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3" name="02 · chrome-min: DISAGGREGATED INTELLIGENCE"/>
          <p:cNvGrpSpPr/>
          <p:nvPr/>
        </p:nvGrpSpPr>
        <p:grpSpPr>
          <a:xfrm>
            <a:off x="558800" y="356053"/>
            <a:ext cx="11087100" cy="187325"/>
            <a:chOff x="558800" y="356053"/>
            <a:chExt cx="11087100" cy="187325"/>
          </a:xfrm>
        </p:grpSpPr>
        <p:sp>
          <p:nvSpPr>
            <p:cNvPr id="1001" name="02 · l: DISAGGREGATED INTELLIGENCE [p02-text-0013]"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2 · r: 02 / 36 [p02-text-0014]"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02 / 36</a:t>
              </a:r>
              <a:endParaRPr lang="en-US" sz="950" b="1" i="0" kern="0" spc="65" dirty="0">
                <a:solidFill>
                  <a:srgbClr val="022AC0"/>
                </a:solidFill>
                <a:latin typeface="Salesforce Sans"/>
                <a:ea typeface="Salesforce Sans"/>
                <a:cs typeface="Salesforce Sans"/>
              </a:endParaRPr>
            </a:p>
          </p:txBody>
        </p:sp>
      </p:grpSp>
      <p:grpSp>
        <p:nvGrpSpPr>
          <p:cNvPr id="1044" name="02 · deck-head: 01 / ALLOCATE INTELLIGENCE"/>
          <p:cNvGrpSpPr/>
          <p:nvPr/>
        </p:nvGrpSpPr>
        <p:grpSpPr>
          <a:xfrm>
            <a:off x="558800" y="775901"/>
            <a:ext cx="11087100" cy="871263"/>
            <a:chOff x="558800" y="775901"/>
            <a:chExt cx="11087100" cy="871263"/>
          </a:xfrm>
        </p:grpSpPr>
        <p:sp>
          <p:nvSpPr>
            <p:cNvPr id="1003" name="02 · benefits-eyebrow: 01 / ALLOCATE INTELLIGENCE [p02-text-0015]"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ALLOCATE INTELLIGENCE</a:t>
              </a:r>
              <a:endParaRPr lang="en-US" sz="1050" b="1" i="0" kern="0" spc="68" dirty="0">
                <a:solidFill>
                  <a:srgbClr val="022AC0"/>
                </a:solidFill>
                <a:latin typeface="Salesforce Sans"/>
                <a:ea typeface="Salesforce Sans"/>
                <a:cs typeface="Salesforce Sans"/>
              </a:endParaRPr>
            </a:p>
          </p:txBody>
        </p:sp>
        <p:sp>
          <p:nvSpPr>
            <p:cNvPr id="1004" name="02 · benefits-title: Four benefits. One service to measure. [p02-text-0016]"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Four benefits. One service to measure.</a:t>
              </a:r>
              <a:endParaRPr lang="en-US" sz="3600" b="1" i="0" kern="0" spc="-95" dirty="0">
                <a:solidFill>
                  <a:srgbClr val="022AC0"/>
                </a:solidFill>
                <a:latin typeface="Manrope"/>
                <a:ea typeface="Manrope"/>
                <a:cs typeface="Manrope"/>
              </a:endParaRPr>
            </a:p>
          </p:txBody>
        </p:sp>
      </p:grpSp>
      <p:sp>
        <p:nvSpPr>
          <p:cNvPr id="1005" name="02 · four-cards · top border [p02-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45" name="02 · card mint: "/>
          <p:cNvGrpSpPr/>
          <p:nvPr/>
        </p:nvGrpSpPr>
        <p:grpSpPr>
          <a:xfrm>
            <a:off x="558800" y="1930400"/>
            <a:ext cx="2644775" cy="4102100"/>
            <a:chOff x="558800" y="1930400"/>
            <a:chExt cx="2644775" cy="4102100"/>
          </a:xfrm>
        </p:grpSpPr>
        <p:sp>
          <p:nvSpPr>
            <p:cNvPr id="1006" name="02 · card mint · surface [p02-e0009]"/>
            <p:cNvSpPr/>
            <p:nvPr/>
          </p:nvSpPr>
          <p:spPr>
            <a:xfrm>
              <a:off x="558800" y="1930400"/>
              <a:ext cx="2644775" cy="4102100"/>
            </a:xfrm>
            <a:prstGeom prst="roundRect">
              <a:avLst>
                <a:gd name="adj" fmla="val 5282"/>
              </a:avLst>
            </a:prstGeom>
            <a:solidFill>
              <a:srgbClr val="DDF3ED"/>
            </a:solidFill>
            <a:ln>
              <a:noFill/>
            </a:ln>
          </p:spPr>
        </p:sp>
        <p:sp>
          <p:nvSpPr>
            <p:cNvPr id="1007" name="02 · card mint · outline [p02-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46" name="02 · card lilac: "/>
          <p:cNvGrpSpPr/>
          <p:nvPr/>
        </p:nvGrpSpPr>
        <p:grpSpPr>
          <a:xfrm>
            <a:off x="3368675" y="1930400"/>
            <a:ext cx="2644775" cy="4102100"/>
            <a:chOff x="3368675" y="1930400"/>
            <a:chExt cx="2644775" cy="4102100"/>
          </a:xfrm>
        </p:grpSpPr>
        <p:sp>
          <p:nvSpPr>
            <p:cNvPr id="1008" name="02 · card lilac · surface [p02-e0010]"/>
            <p:cNvSpPr/>
            <p:nvPr/>
          </p:nvSpPr>
          <p:spPr>
            <a:xfrm>
              <a:off x="3368675" y="1930400"/>
              <a:ext cx="2644775" cy="4102100"/>
            </a:xfrm>
            <a:prstGeom prst="roundRect">
              <a:avLst>
                <a:gd name="adj" fmla="val 5282"/>
              </a:avLst>
            </a:prstGeom>
            <a:solidFill>
              <a:srgbClr val="EAE6FA"/>
            </a:solidFill>
            <a:ln>
              <a:noFill/>
            </a:ln>
          </p:spPr>
        </p:sp>
        <p:sp>
          <p:nvSpPr>
            <p:cNvPr id="1009" name="02 · card lilac · outline [p02-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47" name="02 · card sand: "/>
          <p:cNvGrpSpPr/>
          <p:nvPr/>
        </p:nvGrpSpPr>
        <p:grpSpPr>
          <a:xfrm>
            <a:off x="6178550" y="1930400"/>
            <a:ext cx="2644775" cy="4102100"/>
            <a:chOff x="6178550" y="1930400"/>
            <a:chExt cx="2644775" cy="4102100"/>
          </a:xfrm>
        </p:grpSpPr>
        <p:sp>
          <p:nvSpPr>
            <p:cNvPr id="1010" name="02 · card sand · surface [p02-e0011]"/>
            <p:cNvSpPr/>
            <p:nvPr/>
          </p:nvSpPr>
          <p:spPr>
            <a:xfrm>
              <a:off x="6178550" y="1930400"/>
              <a:ext cx="2644775" cy="4102100"/>
            </a:xfrm>
            <a:prstGeom prst="roundRect">
              <a:avLst>
                <a:gd name="adj" fmla="val 5282"/>
              </a:avLst>
            </a:prstGeom>
            <a:solidFill>
              <a:srgbClr val="FBF0CF"/>
            </a:solidFill>
            <a:ln>
              <a:noFill/>
            </a:ln>
          </p:spPr>
        </p:sp>
        <p:sp>
          <p:nvSpPr>
            <p:cNvPr id="1011" name="02 · card sand · outline [p02-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48" name="02 · card blue: "/>
          <p:cNvGrpSpPr/>
          <p:nvPr/>
        </p:nvGrpSpPr>
        <p:grpSpPr>
          <a:xfrm>
            <a:off x="8988425" y="1930400"/>
            <a:ext cx="2644775" cy="4102100"/>
            <a:chOff x="8988425" y="1930400"/>
            <a:chExt cx="2644775" cy="4102100"/>
          </a:xfrm>
        </p:grpSpPr>
        <p:sp>
          <p:nvSpPr>
            <p:cNvPr id="1012" name="02 · card blue · surface [p02-e0012]"/>
            <p:cNvSpPr/>
            <p:nvPr/>
          </p:nvSpPr>
          <p:spPr>
            <a:xfrm>
              <a:off x="8988425" y="1930400"/>
              <a:ext cx="2644775" cy="4102100"/>
            </a:xfrm>
            <a:prstGeom prst="roundRect">
              <a:avLst>
                <a:gd name="adj" fmla="val 5282"/>
              </a:avLst>
            </a:prstGeom>
            <a:solidFill>
              <a:srgbClr val="DCEEFE"/>
            </a:solidFill>
            <a:ln>
              <a:noFill/>
            </a:ln>
          </p:spPr>
        </p:sp>
        <p:sp>
          <p:nvSpPr>
            <p:cNvPr id="1013" name="02 · card blue · outline [p02-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49" name="02 · card mint: Reliability"/>
          <p:cNvGrpSpPr/>
          <p:nvPr/>
        </p:nvGrpSpPr>
        <p:grpSpPr>
          <a:xfrm>
            <a:off x="781050" y="3680334"/>
            <a:ext cx="2212975" cy="961210"/>
            <a:chOff x="781050" y="3680334"/>
            <a:chExt cx="2212975" cy="961210"/>
          </a:xfrm>
        </p:grpSpPr>
        <p:sp>
          <p:nvSpPr>
            <p:cNvPr id="1014" name="02 · benefits-text-1: Reliability [p02-text-0017]" descr="Native editable Unicode text; authored line breaks retained."/>
            <p:cNvSpPr txBox="1"/>
            <p:nvPr/>
          </p:nvSpPr>
          <p:spPr>
            <a:xfrm>
              <a:off x="781050"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Reliability</a:t>
              </a:r>
              <a:endParaRPr lang="en-US" sz="2000" b="1" i="0" kern="0" spc="-38" dirty="0">
                <a:solidFill>
                  <a:srgbClr val="022AC0"/>
                </a:solidFill>
                <a:latin typeface="Manrope"/>
                <a:ea typeface="Manrope"/>
                <a:cs typeface="Manrope"/>
              </a:endParaRPr>
            </a:p>
          </p:txBody>
        </p:sp>
        <p:sp>
          <p:nvSpPr>
            <p:cNvPr id="1015" name="02 · benefits-text-2: Test decisions and enforce required checks. [p02-text-0018]" descr="Native editable Unicode text; authored line breaks retained."/>
            <p:cNvSpPr txBox="1"/>
            <p:nvPr/>
          </p:nvSpPr>
          <p:spPr>
            <a:xfrm>
              <a:off x="781050"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Test decisions and enforce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required checks.</a:t>
              </a:r>
              <a:endParaRPr lang="en-US" sz="1400" b="0" i="0" kern="0" spc="0" dirty="0">
                <a:solidFill>
                  <a:srgbClr val="032D60"/>
                </a:solidFill>
                <a:latin typeface="Salesforce Sans"/>
                <a:ea typeface="Salesforce Sans"/>
                <a:cs typeface="Salesforce Sans"/>
              </a:endParaRPr>
            </a:p>
          </p:txBody>
        </p:sp>
      </p:grpSp>
      <p:grpSp>
        <p:nvGrpSpPr>
          <p:cNvPr id="1050" name="02 · card lilac: Predictability"/>
          <p:cNvGrpSpPr/>
          <p:nvPr/>
        </p:nvGrpSpPr>
        <p:grpSpPr>
          <a:xfrm>
            <a:off x="3590925" y="3680334"/>
            <a:ext cx="2212975" cy="961210"/>
            <a:chOff x="3590925" y="3680334"/>
            <a:chExt cx="2212975" cy="961210"/>
          </a:xfrm>
        </p:grpSpPr>
        <p:sp>
          <p:nvSpPr>
            <p:cNvPr id="1016" name="02 · benefits-text-3: Predictability [p02-text-0019]" descr="Native editable Unicode text; authored line breaks retained."/>
            <p:cNvSpPr txBox="1"/>
            <p:nvPr/>
          </p:nvSpPr>
          <p:spPr>
            <a:xfrm>
              <a:off x="3590925"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Predictability</a:t>
              </a:r>
              <a:endParaRPr lang="en-US" sz="2000" b="1" i="0" kern="0" spc="-38" dirty="0">
                <a:solidFill>
                  <a:srgbClr val="022AC0"/>
                </a:solidFill>
                <a:latin typeface="Manrope"/>
                <a:ea typeface="Manrope"/>
                <a:cs typeface="Manrope"/>
              </a:endParaRPr>
            </a:p>
          </p:txBody>
        </p:sp>
        <p:sp>
          <p:nvSpPr>
            <p:cNvPr id="1017" name="02 · benefits-text-4: Bound outputs, paths, and recovery behavior. [p02-text-0020]" descr="Native editable Unicode text; authored line breaks retained."/>
            <p:cNvSpPr txBox="1"/>
            <p:nvPr/>
          </p:nvSpPr>
          <p:spPr>
            <a:xfrm>
              <a:off x="3590925"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Bound outputs, paths,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and recovery behavior.</a:t>
              </a:r>
              <a:endParaRPr lang="en-US" sz="1400" b="0" i="0" kern="0" spc="0" dirty="0">
                <a:solidFill>
                  <a:srgbClr val="032D60"/>
                </a:solidFill>
                <a:latin typeface="Salesforce Sans"/>
                <a:ea typeface="Salesforce Sans"/>
                <a:cs typeface="Salesforce Sans"/>
              </a:endParaRPr>
            </a:p>
          </p:txBody>
        </p:sp>
      </p:grpSp>
      <p:grpSp>
        <p:nvGrpSpPr>
          <p:cNvPr id="1051" name="02 · card sand: Lower cost"/>
          <p:cNvGrpSpPr/>
          <p:nvPr/>
        </p:nvGrpSpPr>
        <p:grpSpPr>
          <a:xfrm>
            <a:off x="6400800" y="3680334"/>
            <a:ext cx="2212975" cy="961210"/>
            <a:chOff x="6400800" y="3680334"/>
            <a:chExt cx="2212975" cy="961210"/>
          </a:xfrm>
        </p:grpSpPr>
        <p:sp>
          <p:nvSpPr>
            <p:cNvPr id="1018" name="02 · benefits-text-5: Lower cost [p02-text-0021]" descr="Native editable Unicode text; authored line breaks retained."/>
            <p:cNvSpPr txBox="1"/>
            <p:nvPr/>
          </p:nvSpPr>
          <p:spPr>
            <a:xfrm>
              <a:off x="6400800"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Lower cost</a:t>
              </a:r>
              <a:endParaRPr lang="en-US" sz="2000" b="1" i="0" kern="0" spc="-38" dirty="0">
                <a:solidFill>
                  <a:srgbClr val="022AC0"/>
                </a:solidFill>
                <a:latin typeface="Manrope"/>
                <a:ea typeface="Manrope"/>
                <a:cs typeface="Manrope"/>
              </a:endParaRPr>
            </a:p>
          </p:txBody>
        </p:sp>
        <p:sp>
          <p:nvSpPr>
            <p:cNvPr id="1019" name="02 · benefits-text-6: Avoid expensive work that the case does not need. [p02-text-0022]" descr="Native editable Unicode text; authored line breaks retained."/>
            <p:cNvSpPr txBox="1"/>
            <p:nvPr/>
          </p:nvSpPr>
          <p:spPr>
            <a:xfrm>
              <a:off x="6400800"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Avoid expensive work that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the case does not need.</a:t>
              </a:r>
              <a:endParaRPr lang="en-US" sz="1400" b="0" i="0" kern="0" spc="0" dirty="0">
                <a:solidFill>
                  <a:srgbClr val="032D60"/>
                </a:solidFill>
                <a:latin typeface="Salesforce Sans"/>
                <a:ea typeface="Salesforce Sans"/>
                <a:cs typeface="Salesforce Sans"/>
              </a:endParaRPr>
            </a:p>
          </p:txBody>
        </p:sp>
      </p:grpSp>
      <p:grpSp>
        <p:nvGrpSpPr>
          <p:cNvPr id="1052" name="02 · card blue: Faster inference"/>
          <p:cNvGrpSpPr/>
          <p:nvPr/>
        </p:nvGrpSpPr>
        <p:grpSpPr>
          <a:xfrm>
            <a:off x="9210675" y="3680334"/>
            <a:ext cx="2212975" cy="961210"/>
            <a:chOff x="9210675" y="3680334"/>
            <a:chExt cx="2212975" cy="961210"/>
          </a:xfrm>
        </p:grpSpPr>
        <p:sp>
          <p:nvSpPr>
            <p:cNvPr id="1020" name="02 · benefits-text-7: Faster inference [p02-text-0023]" descr="Native editable Unicode text; authored line breaks retained."/>
            <p:cNvSpPr txBox="1"/>
            <p:nvPr/>
          </p:nvSpPr>
          <p:spPr>
            <a:xfrm>
              <a:off x="9210675" y="36803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Faster inference</a:t>
              </a:r>
              <a:endParaRPr lang="en-US" sz="2000" b="1" i="0" kern="0" spc="-38" dirty="0">
                <a:solidFill>
                  <a:srgbClr val="022AC0"/>
                </a:solidFill>
                <a:latin typeface="Manrope"/>
                <a:ea typeface="Manrope"/>
                <a:cs typeface="Manrope"/>
              </a:endParaRPr>
            </a:p>
          </p:txBody>
        </p:sp>
        <p:sp>
          <p:nvSpPr>
            <p:cNvPr id="1021" name="02 · benefits-text-8: Use short decision steps on frequent routes. [p02-text-0024]" descr="Native editable Unicode text; authored line breaks retained."/>
            <p:cNvSpPr txBox="1"/>
            <p:nvPr/>
          </p:nvSpPr>
          <p:spPr>
            <a:xfrm>
              <a:off x="9210675" y="41302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short decision steps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on frequent routes.</a:t>
              </a:r>
              <a:endParaRPr lang="en-US" sz="1400" b="0" i="0" kern="0" spc="0" dirty="0">
                <a:solidFill>
                  <a:srgbClr val="032D60"/>
                </a:solidFill>
                <a:latin typeface="Salesforce Sans"/>
                <a:ea typeface="Salesforce Sans"/>
                <a:cs typeface="Salesforce Sans"/>
              </a:endParaRPr>
            </a:p>
          </p:txBody>
        </p:sp>
      </p:grpSp>
      <p:grpSp>
        <p:nvGrpSpPr>
          <p:cNvPr id="1053" name="02 · card mint: CORRECT OUTCOMES"/>
          <p:cNvGrpSpPr/>
          <p:nvPr/>
        </p:nvGrpSpPr>
        <p:grpSpPr>
          <a:xfrm>
            <a:off x="781050" y="2178048"/>
            <a:ext cx="2212975" cy="1284607"/>
            <a:chOff x="781050" y="2178048"/>
            <a:chExt cx="2212975" cy="1284607"/>
          </a:xfrm>
        </p:grpSpPr>
        <p:sp>
          <p:nvSpPr>
            <p:cNvPr id="1022" name="02 · tag: CORRECT OUTCOMES [p02-text-0025]"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CORRECT OUTCOMES</a:t>
              </a:r>
              <a:endParaRPr lang="en-US" sz="1050" b="0" i="0" kern="0" spc="50" dirty="0">
                <a:solidFill>
                  <a:srgbClr val="022AC0">
                    <a:alpha val="85000"/>
                  </a:srgbClr>
                </a:solidFill>
                <a:latin typeface="IBM Plex Mono"/>
                <a:ea typeface="IBM Plex Mono"/>
                <a:cs typeface="IBM Plex Mono"/>
              </a:endParaRPr>
            </a:p>
          </p:txBody>
        </p:sp>
        <p:grpSp>
          <p:nvGrpSpPr>
            <p:cNvPr id="1023" name="02 · svg · drawing [p02-e0026]"/>
            <p:cNvGrpSpPr/>
            <p:nvPr/>
          </p:nvGrpSpPr>
          <p:grpSpPr>
            <a:xfrm>
              <a:off x="1472973" y="2680244"/>
              <a:ext cx="748393" cy="544286"/>
              <a:chOff x="1472973" y="2680244"/>
              <a:chExt cx="748393" cy="544286"/>
            </a:xfrm>
          </p:grpSpPr>
          <p:grpSp>
            <p:nvGrpSpPr>
              <p:cNvPr id="1024" name="g · 2"/>
              <p:cNvGrpSpPr/>
              <p:nvPr/>
            </p:nvGrpSpPr>
            <p:grpSpPr>
              <a:xfrm>
                <a:off x="1472973" y="2680244"/>
                <a:ext cx="748393" cy="544286"/>
                <a:chOff x="1472973" y="2680244"/>
                <a:chExt cx="748393" cy="544286"/>
              </a:xfrm>
            </p:grpSpPr>
            <p:sp>
              <p:nvSpPr>
                <p:cNvPr id="1025" name="path · 1"/>
                <p:cNvSpPr/>
                <p:nvPr/>
              </p:nvSpPr>
              <p:spPr>
                <a:xfrm>
                  <a:off x="1472973" y="2680244"/>
                  <a:ext cx="748393" cy="544286"/>
                </a:xfrm>
                <a:custGeom>
                  <a:avLst/>
                  <a:gdLst/>
                  <a:ahLst/>
                  <a:cxnLst/>
                  <a:rect l="0" t="0" r="r" b="b"/>
                  <a:pathLst>
                    <a:path w="748393" h="544286" fill="none" stroke="1" extrusionOk="0">
                      <a:moveTo>
                        <a:pt x="0" y="272143"/>
                      </a:moveTo>
                      <a:lnTo>
                        <a:pt x="272143" y="544286"/>
                      </a:lnTo>
                      <a:lnTo>
                        <a:pt x="748393" y="0"/>
                      </a:lnTo>
                    </a:path>
                  </a:pathLst>
                </a:custGeom>
                <a:noFill/>
                <a:ln w="34018" cap="flat" cmpd="sng" algn="ctr">
                  <a:solidFill>
                    <a:srgbClr val="032D60"/>
                  </a:solidFill>
                  <a:prstDash val="solid"/>
                  <a:miter lim="400000"/>
                  <a:headEnd type="none" w="med" len="med"/>
                  <a:tailEnd type="none" w="med" len="med"/>
                </a:ln>
              </p:spPr>
            </p:sp>
          </p:grpSp>
        </p:grpSp>
      </p:grpSp>
      <p:grpSp>
        <p:nvGrpSpPr>
          <p:cNvPr id="1054" name="02 · card lilac: CONTROLLED VARIATION"/>
          <p:cNvGrpSpPr/>
          <p:nvPr/>
        </p:nvGrpSpPr>
        <p:grpSpPr>
          <a:xfrm>
            <a:off x="3590925" y="2178048"/>
            <a:ext cx="2212975" cy="1284607"/>
            <a:chOff x="3590925" y="2178048"/>
            <a:chExt cx="2212975" cy="1284607"/>
          </a:xfrm>
        </p:grpSpPr>
        <p:sp>
          <p:nvSpPr>
            <p:cNvPr id="1026" name="02 · tag: CONTROLLED VARIATION [p02-text-0026]"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CONTROLLED VARIATION</a:t>
              </a:r>
              <a:endParaRPr lang="en-US" sz="1050" b="0" i="0" kern="0" spc="50" dirty="0">
                <a:solidFill>
                  <a:srgbClr val="022AC0">
                    <a:alpha val="85000"/>
                  </a:srgbClr>
                </a:solidFill>
                <a:latin typeface="IBM Plex Mono"/>
                <a:ea typeface="IBM Plex Mono"/>
                <a:cs typeface="IBM Plex Mono"/>
              </a:endParaRPr>
            </a:p>
          </p:txBody>
        </p:sp>
        <p:grpSp>
          <p:nvGrpSpPr>
            <p:cNvPr id="1027" name="02 · svg · drawing [p02-e0028]"/>
            <p:cNvGrpSpPr/>
            <p:nvPr/>
          </p:nvGrpSpPr>
          <p:grpSpPr>
            <a:xfrm>
              <a:off x="4282848" y="2680244"/>
              <a:ext cx="748393" cy="578304"/>
              <a:chOff x="4282848" y="2680244"/>
              <a:chExt cx="748393" cy="578304"/>
            </a:xfrm>
          </p:grpSpPr>
          <p:grpSp>
            <p:nvGrpSpPr>
              <p:cNvPr id="1028" name="g · 3"/>
              <p:cNvGrpSpPr/>
              <p:nvPr/>
            </p:nvGrpSpPr>
            <p:grpSpPr>
              <a:xfrm>
                <a:off x="4282848" y="2680244"/>
                <a:ext cx="748393" cy="578304"/>
                <a:chOff x="4282848" y="2680244"/>
                <a:chExt cx="748393" cy="578304"/>
              </a:xfrm>
            </p:grpSpPr>
            <p:sp>
              <p:nvSpPr>
                <p:cNvPr id="1029" name="rect · 1"/>
                <p:cNvSpPr/>
                <p:nvPr/>
              </p:nvSpPr>
              <p:spPr>
                <a:xfrm>
                  <a:off x="4282848" y="2680244"/>
                  <a:ext cx="748393" cy="578304"/>
                </a:xfrm>
                <a:prstGeom prst="rect">
                  <a:avLst/>
                </a:prstGeom>
                <a:noFill/>
                <a:ln w="34018" cap="flat" cmpd="sng" algn="ctr">
                  <a:solidFill>
                    <a:srgbClr val="032D60"/>
                  </a:solidFill>
                  <a:prstDash val="solid"/>
                  <a:miter lim="400000"/>
                  <a:headEnd type="none" w="med" len="med"/>
                  <a:tailEnd type="none" w="med" len="med"/>
                </a:ln>
              </p:spPr>
            </p:sp>
            <p:sp>
              <p:nvSpPr>
                <p:cNvPr id="1030" name="path · 2"/>
                <p:cNvSpPr/>
                <p:nvPr/>
              </p:nvSpPr>
              <p:spPr>
                <a:xfrm>
                  <a:off x="4282848" y="2884351"/>
                  <a:ext cx="748393" cy="374196"/>
                </a:xfrm>
                <a:custGeom>
                  <a:avLst/>
                  <a:gdLst/>
                  <a:ahLst/>
                  <a:cxnLst/>
                  <a:rect l="0" t="0" r="r" b="b"/>
                  <a:pathLst>
                    <a:path w="748393" h="374196" fill="none" stroke="1" extrusionOk="0">
                      <a:moveTo>
                        <a:pt x="0" y="0"/>
                      </a:moveTo>
                      <a:lnTo>
                        <a:pt x="748393" y="0"/>
                      </a:lnTo>
                      <a:moveTo>
                        <a:pt x="204107" y="0"/>
                      </a:moveTo>
                      <a:lnTo>
                        <a:pt x="204107" y="374197"/>
                      </a:lnTo>
                    </a:path>
                  </a:pathLst>
                </a:custGeom>
                <a:noFill/>
                <a:ln w="34018" cap="flat" cmpd="sng" algn="ctr">
                  <a:solidFill>
                    <a:srgbClr val="032D60"/>
                  </a:solidFill>
                  <a:prstDash val="solid"/>
                  <a:miter lim="400000"/>
                  <a:headEnd type="none" w="med" len="med"/>
                  <a:tailEnd type="none" w="med" len="med"/>
                </a:ln>
              </p:spPr>
            </p:sp>
          </p:grpSp>
        </p:grpSp>
      </p:grpSp>
      <p:grpSp>
        <p:nvGrpSpPr>
          <p:cNvPr id="1055" name="02 · card sand: LESS TOTAL WORK"/>
          <p:cNvGrpSpPr/>
          <p:nvPr/>
        </p:nvGrpSpPr>
        <p:grpSpPr>
          <a:xfrm>
            <a:off x="6400800" y="2178048"/>
            <a:ext cx="2212975" cy="1284607"/>
            <a:chOff x="6400800" y="2178048"/>
            <a:chExt cx="2212975" cy="1284607"/>
          </a:xfrm>
        </p:grpSpPr>
        <p:sp>
          <p:nvSpPr>
            <p:cNvPr id="1031" name="02 · tag: LESS TOTAL WORK [p02-text-0027]"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LESS TOTAL WORK</a:t>
              </a:r>
              <a:endParaRPr lang="en-US" sz="1050" b="0" i="0" kern="0" spc="50" dirty="0">
                <a:solidFill>
                  <a:srgbClr val="022AC0">
                    <a:alpha val="85000"/>
                  </a:srgbClr>
                </a:solidFill>
                <a:latin typeface="IBM Plex Mono"/>
                <a:ea typeface="IBM Plex Mono"/>
                <a:cs typeface="IBM Plex Mono"/>
              </a:endParaRPr>
            </a:p>
          </p:txBody>
        </p:sp>
        <p:grpSp>
          <p:nvGrpSpPr>
            <p:cNvPr id="1032" name="02 · svg · drawing [p02-e0030]"/>
            <p:cNvGrpSpPr/>
            <p:nvPr/>
          </p:nvGrpSpPr>
          <p:grpSpPr>
            <a:xfrm>
              <a:off x="7092723" y="2714262"/>
              <a:ext cx="850446" cy="544286"/>
              <a:chOff x="7092723" y="2714262"/>
              <a:chExt cx="850446" cy="544286"/>
            </a:xfrm>
          </p:grpSpPr>
          <p:grpSp>
            <p:nvGrpSpPr>
              <p:cNvPr id="1033" name="g · 2"/>
              <p:cNvGrpSpPr/>
              <p:nvPr/>
            </p:nvGrpSpPr>
            <p:grpSpPr>
              <a:xfrm>
                <a:off x="7092723" y="2714262"/>
                <a:ext cx="850446" cy="544286"/>
                <a:chOff x="7092723" y="2714262"/>
                <a:chExt cx="850446" cy="544286"/>
              </a:xfrm>
            </p:grpSpPr>
            <p:sp>
              <p:nvSpPr>
                <p:cNvPr id="1034" name="path · 1"/>
                <p:cNvSpPr/>
                <p:nvPr/>
              </p:nvSpPr>
              <p:spPr>
                <a:xfrm>
                  <a:off x="7092723" y="2714262"/>
                  <a:ext cx="850446" cy="544286"/>
                </a:xfrm>
                <a:custGeom>
                  <a:avLst/>
                  <a:gdLst/>
                  <a:ahLst/>
                  <a:cxnLst/>
                  <a:rect l="0" t="0" r="r" b="b"/>
                  <a:pathLst>
                    <a:path w="850446" h="544286" fill="none" stroke="1" extrusionOk="0">
                      <a:moveTo>
                        <a:pt x="0" y="544286"/>
                      </a:moveTo>
                      <a:lnTo>
                        <a:pt x="0" y="170089"/>
                      </a:lnTo>
                      <a:lnTo>
                        <a:pt x="170089" y="170089"/>
                      </a:lnTo>
                      <a:lnTo>
                        <a:pt x="170089" y="544286"/>
                      </a:lnTo>
                      <a:moveTo>
                        <a:pt x="340179" y="544286"/>
                      </a:moveTo>
                      <a:lnTo>
                        <a:pt x="340179" y="0"/>
                      </a:lnTo>
                      <a:lnTo>
                        <a:pt x="510268" y="0"/>
                      </a:lnTo>
                      <a:lnTo>
                        <a:pt x="510268" y="544286"/>
                      </a:lnTo>
                      <a:moveTo>
                        <a:pt x="680357" y="544286"/>
                      </a:moveTo>
                      <a:lnTo>
                        <a:pt x="680357" y="272143"/>
                      </a:lnTo>
                      <a:lnTo>
                        <a:pt x="850447" y="272143"/>
                      </a:lnTo>
                      <a:lnTo>
                        <a:pt x="850447" y="544286"/>
                      </a:lnTo>
                    </a:path>
                  </a:pathLst>
                </a:custGeom>
                <a:noFill/>
                <a:ln w="34018" cap="flat" cmpd="sng" algn="ctr">
                  <a:solidFill>
                    <a:srgbClr val="032D60"/>
                  </a:solidFill>
                  <a:prstDash val="solid"/>
                  <a:miter lim="400000"/>
                  <a:headEnd type="none" w="med" len="med"/>
                  <a:tailEnd type="none" w="med" len="med"/>
                </a:ln>
              </p:spPr>
            </p:sp>
          </p:grpSp>
        </p:grpSp>
      </p:grpSp>
      <p:grpSp>
        <p:nvGrpSpPr>
          <p:cNvPr id="1056" name="02 · card blue: SHORTER CRITICAL PATH"/>
          <p:cNvGrpSpPr/>
          <p:nvPr/>
        </p:nvGrpSpPr>
        <p:grpSpPr>
          <a:xfrm>
            <a:off x="9210675" y="2178048"/>
            <a:ext cx="2212975" cy="1284607"/>
            <a:chOff x="9210675" y="2178048"/>
            <a:chExt cx="2212975" cy="1284607"/>
          </a:xfrm>
        </p:grpSpPr>
        <p:sp>
          <p:nvSpPr>
            <p:cNvPr id="1035" name="02 · tag: SHORTER CRITICAL PATH [p02-text-0028]"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SHORTER CRITICAL PATH</a:t>
              </a:r>
              <a:endParaRPr lang="en-US" sz="1050" b="0" i="0" kern="0" spc="50" dirty="0">
                <a:solidFill>
                  <a:srgbClr val="022AC0">
                    <a:alpha val="85000"/>
                  </a:srgbClr>
                </a:solidFill>
                <a:latin typeface="IBM Plex Mono"/>
                <a:ea typeface="IBM Plex Mono"/>
                <a:cs typeface="IBM Plex Mono"/>
              </a:endParaRPr>
            </a:p>
          </p:txBody>
        </p:sp>
        <p:grpSp>
          <p:nvGrpSpPr>
            <p:cNvPr id="1036" name="02 · svg · drawing [p02-e0032]"/>
            <p:cNvGrpSpPr/>
            <p:nvPr/>
          </p:nvGrpSpPr>
          <p:grpSpPr>
            <a:xfrm>
              <a:off x="9936616" y="2632619"/>
              <a:ext cx="680357" cy="680357"/>
              <a:chOff x="9936616" y="2632619"/>
              <a:chExt cx="680357" cy="680357"/>
            </a:xfrm>
          </p:grpSpPr>
          <p:grpSp>
            <p:nvGrpSpPr>
              <p:cNvPr id="1037" name="g · 3"/>
              <p:cNvGrpSpPr/>
              <p:nvPr/>
            </p:nvGrpSpPr>
            <p:grpSpPr>
              <a:xfrm>
                <a:off x="9936616" y="2632619"/>
                <a:ext cx="680357" cy="680357"/>
                <a:chOff x="9936616" y="2632619"/>
                <a:chExt cx="680357" cy="680357"/>
              </a:xfrm>
            </p:grpSpPr>
            <p:sp>
              <p:nvSpPr>
                <p:cNvPr id="1038" name="circle · 1"/>
                <p:cNvSpPr/>
                <p:nvPr/>
              </p:nvSpPr>
              <p:spPr>
                <a:xfrm>
                  <a:off x="9936616" y="2632619"/>
                  <a:ext cx="680357" cy="680357"/>
                </a:xfrm>
                <a:prstGeom prst="ellipse">
                  <a:avLst/>
                </a:prstGeom>
                <a:noFill/>
                <a:ln w="34018" cap="flat" cmpd="sng" algn="ctr">
                  <a:solidFill>
                    <a:srgbClr val="032D60"/>
                  </a:solidFill>
                  <a:prstDash val="solid"/>
                  <a:miter lim="400000"/>
                  <a:headEnd type="none" w="med" len="med"/>
                  <a:tailEnd type="none" w="med" len="med"/>
                </a:ln>
              </p:spPr>
            </p:sp>
            <p:sp>
              <p:nvSpPr>
                <p:cNvPr id="1039" name="path · 2"/>
                <p:cNvSpPr/>
                <p:nvPr/>
              </p:nvSpPr>
              <p:spPr>
                <a:xfrm>
                  <a:off x="10276795" y="2680244"/>
                  <a:ext cx="238125" cy="442232"/>
                </a:xfrm>
                <a:custGeom>
                  <a:avLst/>
                  <a:gdLst/>
                  <a:ahLst/>
                  <a:cxnLst/>
                  <a:rect l="0" t="0" r="r" b="b"/>
                  <a:pathLst>
                    <a:path w="238125" h="442232" fill="none" stroke="1" extrusionOk="0">
                      <a:moveTo>
                        <a:pt x="0" y="0"/>
                      </a:moveTo>
                      <a:lnTo>
                        <a:pt x="0" y="292554"/>
                      </a:lnTo>
                      <a:lnTo>
                        <a:pt x="238125" y="442232"/>
                      </a:lnTo>
                    </a:path>
                  </a:pathLst>
                </a:custGeom>
                <a:noFill/>
                <a:ln w="34018" cap="flat" cmpd="sng" algn="ctr">
                  <a:solidFill>
                    <a:srgbClr val="032D60"/>
                  </a:solidFill>
                  <a:prstDash val="solid"/>
                  <a:miter lim="400000"/>
                  <a:headEnd type="none" w="med" len="med"/>
                  <a:tailEnd type="none" w="med" len="med"/>
                </a:ln>
              </p:spPr>
            </p:sp>
          </p:grpSp>
        </p:grpSp>
      </p:grpSp>
      <p:grpSp>
        <p:nvGrpSpPr>
          <p:cNvPr id="1057" name="02 · source-line: Jev + LangGraph · Composable AI"/>
          <p:cNvGrpSpPr/>
          <p:nvPr/>
        </p:nvGrpSpPr>
        <p:grpSpPr>
          <a:xfrm>
            <a:off x="558800" y="6037898"/>
            <a:ext cx="11087100" cy="284456"/>
            <a:chOff x="558800" y="6037898"/>
            <a:chExt cx="11087100" cy="284456"/>
          </a:xfrm>
        </p:grpSpPr>
        <p:sp>
          <p:nvSpPr>
            <p:cNvPr id="1040" name="02 · source-line · top border [p02-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1" name="02 · span: Jev + LangGraph · Composable AI [p02-text-0029]" descr="Native editable Unicode text; authored line breaks retained."/>
            <p:cNvSpPr txBox="1"/>
            <p:nvPr/>
          </p:nvSpPr>
          <p:spPr>
            <a:xfrm>
              <a:off x="558800" y="6153126"/>
              <a:ext cx="189729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mposable AI"/>
                </a:rPr>
                <a:t>Composable AI</a:t>
              </a:r>
              <a:endParaRPr lang="en-US" sz="950" b="0" i="0" kern="0" spc="0" dirty="0" u="sng">
                <a:solidFill>
                  <a:srgbClr val="315A7A"/>
                </a:solidFill>
                <a:latin typeface="Salesforce Sans"/>
                <a:ea typeface="Salesforce Sans"/>
                <a:cs typeface="Salesforce Sans"/>
              </a:endParaRPr>
            </a:p>
          </p:txBody>
        </p:sp>
        <p:sp>
          <p:nvSpPr>
            <p:cNvPr id="1042" name="02 · span: Mechanisms and objectives; no koa-action benchmark [p02-text-0030]" descr="Native editable Unicode text; authored line breaks retained."/>
            <p:cNvSpPr txBox="1"/>
            <p:nvPr/>
          </p:nvSpPr>
          <p:spPr>
            <a:xfrm>
              <a:off x="8582168" y="6153126"/>
              <a:ext cx="306373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Mechanisms and objectives; no koa-action benchmark</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One customer, two obligations">
    <p:bg>
      <p:bgPr>
        <a:solidFill>
          <a:srgbClr val="FFFFFF"/>
        </a:solidFill>
      </p:bgPr>
    </p:bg>
    <p:spTree>
      <p:nvGrpSpPr>
        <p:cNvPr id="1" name=""/>
        <p:cNvGrpSpPr/>
        <p:nvPr/>
      </p:nvGrpSpPr>
      <p:grpSpPr>
        <a:xfrm>
          <a:off x="0" y="0"/>
          <a:ext cx="0" cy="0"/>
          <a:chOff x="0" y="0"/>
          <a:chExt cx="0" cy="0"/>
        </a:xfrm>
      </p:grpSpPr>
      <p:sp>
        <p:nvSpPr>
          <p:cNvPr id="1000" name="03 · slide dark · surface [p0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2" name="03 · chrome-min: DISAGGREGATED INTELLIGENCE"/>
          <p:cNvGrpSpPr/>
          <p:nvPr/>
        </p:nvGrpSpPr>
        <p:grpSpPr>
          <a:xfrm>
            <a:off x="558800" y="356053"/>
            <a:ext cx="11087100" cy="187325"/>
            <a:chOff x="558800" y="356053"/>
            <a:chExt cx="11087100" cy="187325"/>
          </a:xfrm>
        </p:grpSpPr>
        <p:sp>
          <p:nvSpPr>
            <p:cNvPr id="1001" name="03 · l: DISAGGREGATED INTELLIGENCE [p03-text-0008]"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3 · r: 03 / 36 [p03-text-0009]"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03 / 36</a:t>
              </a:r>
              <a:endParaRPr lang="en-US" sz="950" b="1" i="0" kern="0" spc="65" dirty="0">
                <a:solidFill>
                  <a:srgbClr val="022AC0"/>
                </a:solidFill>
                <a:latin typeface="Salesforce Sans"/>
                <a:ea typeface="Salesforce Sans"/>
                <a:cs typeface="Salesforce Sans"/>
              </a:endParaRPr>
            </a:p>
          </p:txBody>
        </p:sp>
      </p:grpSp>
      <p:grpSp>
        <p:nvGrpSpPr>
          <p:cNvPr id="1023" name="03 · deck-head: 01 / SERVICE INVARIANT"/>
          <p:cNvGrpSpPr/>
          <p:nvPr/>
        </p:nvGrpSpPr>
        <p:grpSpPr>
          <a:xfrm>
            <a:off x="558800" y="775901"/>
            <a:ext cx="11087100" cy="871263"/>
            <a:chOff x="558800" y="775901"/>
            <a:chExt cx="11087100" cy="871263"/>
          </a:xfrm>
        </p:grpSpPr>
        <p:sp>
          <p:nvSpPr>
            <p:cNvPr id="1003" name="03 · case-eyebrow: 01 / SERVICE INVARIANT [p03-text-0010]"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SERVICE INVARIANT</a:t>
              </a:r>
              <a:endParaRPr lang="en-US" sz="1050" b="1" i="0" kern="0" spc="68" dirty="0">
                <a:solidFill>
                  <a:srgbClr val="022AC0"/>
                </a:solidFill>
                <a:latin typeface="Salesforce Sans"/>
                <a:ea typeface="Salesforce Sans"/>
                <a:cs typeface="Salesforce Sans"/>
              </a:endParaRPr>
            </a:p>
          </p:txBody>
        </p:sp>
        <p:sp>
          <p:nvSpPr>
            <p:cNvPr id="1004" name="03 · case-title: One customer, two obligations [p03-text-0011]"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One customer, two obligations</a:t>
              </a:r>
              <a:endParaRPr lang="en-US" sz="3600" b="1" i="0" kern="0" spc="-95" dirty="0">
                <a:solidFill>
                  <a:srgbClr val="022AC0"/>
                </a:solidFill>
                <a:latin typeface="Manrope"/>
                <a:ea typeface="Manrope"/>
                <a:cs typeface="Manrope"/>
              </a:endParaRPr>
            </a:p>
          </p:txBody>
        </p:sp>
      </p:grpSp>
      <p:sp>
        <p:nvSpPr>
          <p:cNvPr id="1005" name="03 · quote · surface [p03-e0008]"/>
          <p:cNvSpPr/>
          <p:nvPr/>
        </p:nvSpPr>
        <p:spPr>
          <a:xfrm>
            <a:off x="558800" y="1930400"/>
            <a:ext cx="5232400" cy="1952625"/>
          </a:xfrm>
          <a:prstGeom prst="roundRect">
            <a:avLst>
              <a:gd name="adj" fmla="val 7154"/>
            </a:avLst>
          </a:prstGeom>
          <a:solidFill>
            <a:srgbClr val="FFFFFF"/>
          </a:solidFill>
          <a:ln>
            <a:noFill/>
          </a:ln>
        </p:spPr>
      </p:sp>
      <p:sp>
        <p:nvSpPr>
          <p:cNvPr id="1006" name="03 · ledger · top border [p03-e0009]"/>
          <p:cNvSpPr/>
          <p:nvPr/>
        </p:nvSpPr>
        <p:spPr>
          <a:xfrm>
            <a:off x="6426200" y="2439670"/>
            <a:ext cx="5105400" cy="6"/>
          </a:xfrm>
          <a:custGeom>
            <a:avLst/>
            <a:gdLst/>
            <a:ahLst/>
            <a:cxnLst/>
            <a:rect l="0" t="0" r="r" b="b"/>
            <a:pathLst>
              <a:path w="5105400" h="6" fill="none" stroke="1">
                <a:moveTo>
                  <a:pt x="0" y="0"/>
                </a:moveTo>
                <a:lnTo>
                  <a:pt x="5105400" y="0"/>
                </a:lnTo>
              </a:path>
            </a:pathLst>
          </a:custGeom>
          <a:noFill/>
          <a:ln w="12700" cap="flat">
            <a:solidFill>
              <a:srgbClr val="A4C4DC">
                <a:alpha val="50196"/>
              </a:srgbClr>
            </a:solidFill>
            <a:prstDash val="solid"/>
          </a:ln>
        </p:spPr>
      </p:sp>
      <p:sp>
        <p:nvSpPr>
          <p:cNvPr id="1007" name="03 · ledger-row · bottom border [p03-e0010]"/>
          <p:cNvSpPr/>
          <p:nvPr/>
        </p:nvSpPr>
        <p:spPr>
          <a:xfrm>
            <a:off x="6426200" y="2956538"/>
            <a:ext cx="5105400" cy="6"/>
          </a:xfrm>
          <a:custGeom>
            <a:avLst/>
            <a:gdLst/>
            <a:ahLst/>
            <a:cxnLst/>
            <a:rect l="0" t="0" r="r" b="b"/>
            <a:pathLst>
              <a:path w="5105400" h="6" fill="none" stroke="1">
                <a:moveTo>
                  <a:pt x="0" y="0"/>
                </a:moveTo>
                <a:lnTo>
                  <a:pt x="5105400" y="0"/>
                </a:lnTo>
              </a:path>
            </a:pathLst>
          </a:custGeom>
          <a:noFill/>
          <a:ln w="6350" cap="flat">
            <a:solidFill>
              <a:srgbClr val="A4C4DC">
                <a:alpha val="50196"/>
              </a:srgbClr>
            </a:solidFill>
            <a:prstDash val="solid"/>
          </a:ln>
        </p:spPr>
      </p:sp>
      <p:sp>
        <p:nvSpPr>
          <p:cNvPr id="1008" name="03 · ledger-row · bottom border [p03-e0011]"/>
          <p:cNvSpPr/>
          <p:nvPr/>
        </p:nvSpPr>
        <p:spPr>
          <a:xfrm>
            <a:off x="6426200" y="3470230"/>
            <a:ext cx="5105400" cy="6"/>
          </a:xfrm>
          <a:custGeom>
            <a:avLst/>
            <a:gdLst/>
            <a:ahLst/>
            <a:cxnLst/>
            <a:rect l="0" t="0" r="r" b="b"/>
            <a:pathLst>
              <a:path w="5105400" h="6" fill="none" stroke="1">
                <a:moveTo>
                  <a:pt x="0" y="0"/>
                </a:moveTo>
                <a:lnTo>
                  <a:pt x="5105400" y="0"/>
                </a:lnTo>
              </a:path>
            </a:pathLst>
          </a:custGeom>
          <a:noFill/>
          <a:ln w="6350" cap="flat">
            <a:solidFill>
              <a:srgbClr val="A4C4DC">
                <a:alpha val="50196"/>
              </a:srgbClr>
            </a:solidFill>
            <a:prstDash val="solid"/>
          </a:ln>
        </p:spPr>
      </p:sp>
      <p:sp>
        <p:nvSpPr>
          <p:cNvPr id="1009" name="03 · quote: “Exchange these headphones and return the spare cable.” [p03-text-0012]" descr="Native editable Unicode text; authored line breaks retained."/>
          <p:cNvSpPr txBox="1"/>
          <p:nvPr/>
        </p:nvSpPr>
        <p:spPr>
          <a:xfrm>
            <a:off x="863600" y="2210256"/>
            <a:ext cx="4635500" cy="139926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“Exchange these</a:t>
            </a:r>
            <a:endParaRPr lang="en-US" sz="2900" b="0" i="0" kern="0" spc="-50" dirty="0">
              <a:solidFill>
                <a:srgbClr val="022AC0"/>
              </a:solidFill>
              <a:latin typeface="Salesforce Sans"/>
              <a:ea typeface="Salesforce Sans"/>
              <a:cs typeface="Salesforce Sans"/>
            </a:endParaRPr>
          </a:p>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headphones</a:t>
            </a:r>
            <a:endParaRPr lang="en-US" sz="2900" b="0" i="0" kern="0" spc="-50" dirty="0">
              <a:solidFill>
                <a:srgbClr val="022AC0"/>
              </a:solidFill>
              <a:latin typeface="Salesforce Sans"/>
              <a:ea typeface="Salesforce Sans"/>
              <a:cs typeface="Salesforce Sans"/>
            </a:endParaRPr>
          </a:p>
          <a:p>
            <a:pPr marL="0" marR="0" indent="0" algn="l" fontAlgn="base">
              <a:lnSpc>
                <a:spcPts val="3625"/>
              </a:lnSpc>
              <a:spcBef>
                <a:spcPts val="0"/>
              </a:spcBef>
              <a:spcAft>
                <a:spcPts val="0"/>
              </a:spcAft>
              <a:buNone/>
            </a:pPr>
            <a:r>
              <a:rPr lang="en-US" sz="2900" b="0" i="0" kern="0" spc="-50" dirty="0">
                <a:solidFill>
                  <a:srgbClr val="022AC0"/>
                </a:solidFill>
                <a:latin typeface="Salesforce Sans"/>
                <a:ea typeface="Salesforce Sans"/>
                <a:cs typeface="Salesforce Sans"/>
              </a:rPr>
              <a:t>and return the spare cable.”</a:t>
            </a:r>
            <a:endParaRPr lang="en-US" sz="2900" b="0" i="0" kern="0" spc="-50" dirty="0">
              <a:solidFill>
                <a:srgbClr val="022AC0"/>
              </a:solidFill>
              <a:latin typeface="Salesforce Sans"/>
              <a:ea typeface="Salesforce Sans"/>
              <a:cs typeface="Salesforce Sans"/>
            </a:endParaRPr>
          </a:p>
        </p:txBody>
      </p:sp>
      <p:sp>
        <p:nvSpPr>
          <p:cNvPr id="1010" name="03 · case-text-1: The cable is a separately purchased item. [p03-text-0013]" descr="Native editable Unicode text; authored line breaks retained."/>
          <p:cNvSpPr txBox="1"/>
          <p:nvPr/>
        </p:nvSpPr>
        <p:spPr>
          <a:xfrm>
            <a:off x="558800" y="4099561"/>
            <a:ext cx="52451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The cable is a separately purchased item.</a:t>
            </a:r>
            <a:endParaRPr lang="en-US" sz="1250" b="0" i="0" kern="0" spc="0" dirty="0">
              <a:solidFill>
                <a:srgbClr val="032D60"/>
              </a:solidFill>
              <a:latin typeface="Salesforce Sans"/>
              <a:ea typeface="Salesforce Sans"/>
              <a:cs typeface="Salesforce Sans"/>
            </a:endParaRPr>
          </a:p>
        </p:txBody>
      </p:sp>
      <p:sp>
        <p:nvSpPr>
          <p:cNvPr id="1011" name="03 · case-text-2: The case ledger [p03-text-0014]"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The case ledger</a:t>
            </a:r>
            <a:endParaRPr lang="en-US" sz="2000" b="1" i="0" kern="0" spc="-38" dirty="0">
              <a:solidFill>
                <a:srgbClr val="022AC0"/>
              </a:solidFill>
              <a:latin typeface="Manrope"/>
              <a:ea typeface="Manrope"/>
              <a:cs typeface="Manrope"/>
            </a:endParaRPr>
          </a:p>
        </p:txBody>
      </p:sp>
      <p:grpSp>
        <p:nvGrpSpPr>
          <p:cNvPr id="1024" name="03 · ledger-row: Exchange"/>
          <p:cNvGrpSpPr/>
          <p:nvPr/>
        </p:nvGrpSpPr>
        <p:grpSpPr>
          <a:xfrm>
            <a:off x="6426200" y="2585720"/>
            <a:ext cx="5118100" cy="234293"/>
            <a:chOff x="6426200" y="2585720"/>
            <a:chExt cx="5118100" cy="234293"/>
          </a:xfrm>
        </p:grpSpPr>
        <p:sp>
          <p:nvSpPr>
            <p:cNvPr id="1012" name="03 · span: Exchange [p03-text-0015]" descr="Native editable Unicode text; authored line breaks retained."/>
            <p:cNvSpPr txBox="1"/>
            <p:nvPr/>
          </p:nvSpPr>
          <p:spPr>
            <a:xfrm>
              <a:off x="6426200"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Exchange</a:t>
              </a:r>
              <a:endParaRPr lang="en-US" sz="1400" b="0" i="0" kern="0" spc="0" dirty="0">
                <a:solidFill>
                  <a:srgbClr val="032D60"/>
                </a:solidFill>
                <a:latin typeface="Salesforce Sans"/>
                <a:ea typeface="Salesforce Sans"/>
                <a:cs typeface="Salesforce Sans"/>
              </a:endParaRPr>
            </a:p>
          </p:txBody>
        </p:sp>
        <p:sp>
          <p:nvSpPr>
            <p:cNvPr id="1013" name="03 · span: Requested [p03-text-0016]" descr="Native editable Unicode text; authored line breaks retained."/>
            <p:cNvSpPr txBox="1"/>
            <p:nvPr/>
          </p:nvSpPr>
          <p:spPr>
            <a:xfrm>
              <a:off x="8187267"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Requested</a:t>
              </a:r>
              <a:endParaRPr lang="en-US" sz="1400" b="0" i="0" kern="0" spc="0" dirty="0">
                <a:solidFill>
                  <a:srgbClr val="032D60"/>
                </a:solidFill>
                <a:latin typeface="Salesforce Sans"/>
                <a:ea typeface="Salesforce Sans"/>
                <a:cs typeface="Salesforce Sans"/>
              </a:endParaRPr>
            </a:p>
          </p:txBody>
        </p:sp>
        <p:sp>
          <p:nvSpPr>
            <p:cNvPr id="1014" name="03 · status: Pending [p03-text-0017]" descr="Native editable Unicode text; authored line breaks retained."/>
            <p:cNvSpPr txBox="1"/>
            <p:nvPr/>
          </p:nvSpPr>
          <p:spPr>
            <a:xfrm>
              <a:off x="9948333" y="2585720"/>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969865" algn="l" fontAlgn="base">
                <a:lnSpc>
                  <a:spcPts val="1495"/>
                </a:lnSpc>
                <a:spcBef>
                  <a:spcPts val="0"/>
                </a:spcBef>
                <a:spcAft>
                  <a:spcPts val="0"/>
                </a:spcAft>
                <a:buNone/>
              </a:pPr>
              <a:r>
                <a:rPr lang="en-US" sz="1150" b="0" i="0" kern="0" spc="0" dirty="0">
                  <a:solidFill>
                    <a:srgbClr val="147562"/>
                  </a:solidFill>
                  <a:latin typeface="IBM Plex Mono"/>
                  <a:ea typeface="IBM Plex Mono"/>
                  <a:cs typeface="IBM Plex Mono"/>
                </a:rPr>
                <a:t>Pending</a:t>
              </a:r>
              <a:endParaRPr lang="en-US" sz="1150" b="0" i="0" kern="0" spc="0" dirty="0">
                <a:solidFill>
                  <a:srgbClr val="147562"/>
                </a:solidFill>
                <a:latin typeface="IBM Plex Mono"/>
                <a:ea typeface="IBM Plex Mono"/>
                <a:cs typeface="IBM Plex Mono"/>
              </a:endParaRPr>
            </a:p>
          </p:txBody>
        </p:sp>
      </p:grpSp>
      <p:grpSp>
        <p:nvGrpSpPr>
          <p:cNvPr id="1025" name="03 · ledger-row: Cable return"/>
          <p:cNvGrpSpPr/>
          <p:nvPr/>
        </p:nvGrpSpPr>
        <p:grpSpPr>
          <a:xfrm>
            <a:off x="6426200" y="3099413"/>
            <a:ext cx="5118100" cy="234293"/>
            <a:chOff x="6426200" y="3099413"/>
            <a:chExt cx="5118100" cy="234293"/>
          </a:xfrm>
        </p:grpSpPr>
        <p:sp>
          <p:nvSpPr>
            <p:cNvPr id="1015" name="03 · span: Cable return [p03-text-0018]" descr="Native editable Unicode text; authored line breaks retained."/>
            <p:cNvSpPr txBox="1"/>
            <p:nvPr/>
          </p:nvSpPr>
          <p:spPr>
            <a:xfrm>
              <a:off x="6426200"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Cable return</a:t>
              </a:r>
              <a:endParaRPr lang="en-US" sz="1400" b="0" i="0" kern="0" spc="0" dirty="0">
                <a:solidFill>
                  <a:srgbClr val="032D60"/>
                </a:solidFill>
                <a:latin typeface="Salesforce Sans"/>
                <a:ea typeface="Salesforce Sans"/>
                <a:cs typeface="Salesforce Sans"/>
              </a:endParaRPr>
            </a:p>
          </p:txBody>
        </p:sp>
        <p:sp>
          <p:nvSpPr>
            <p:cNvPr id="1016" name="03 · span: Requested [p03-text-0019]" descr="Native editable Unicode text; authored line breaks retained."/>
            <p:cNvSpPr txBox="1"/>
            <p:nvPr/>
          </p:nvSpPr>
          <p:spPr>
            <a:xfrm>
              <a:off x="8187267"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Requested</a:t>
              </a:r>
              <a:endParaRPr lang="en-US" sz="1400" b="0" i="0" kern="0" spc="0" dirty="0">
                <a:solidFill>
                  <a:srgbClr val="032D60"/>
                </a:solidFill>
                <a:latin typeface="Salesforce Sans"/>
                <a:ea typeface="Salesforce Sans"/>
                <a:cs typeface="Salesforce Sans"/>
              </a:endParaRPr>
            </a:p>
          </p:txBody>
        </p:sp>
        <p:sp>
          <p:nvSpPr>
            <p:cNvPr id="1017" name="03 · status: Pending [p03-text-0020]" descr="Native editable Unicode text; authored line breaks retained."/>
            <p:cNvSpPr txBox="1"/>
            <p:nvPr/>
          </p:nvSpPr>
          <p:spPr>
            <a:xfrm>
              <a:off x="9948333" y="3099413"/>
              <a:ext cx="1595967" cy="234293"/>
            </a:xfrm>
            <a:prstGeom prst="rect">
              <a:avLst/>
            </a:prstGeom>
            <a:noFill/>
            <a:ln>
              <a:noFill/>
            </a:ln>
          </p:spPr>
          <p:txBody>
            <a:bodyPr wrap="none" lIns="0" rIns="0" tIns="0" bIns="0" anchor="t" anchorCtr="0" vertOverflow="overflow" horzOverflow="overflow" spcFirstLastPara="0">
              <a:noAutofit/>
            </a:bodyPr>
            <a:lstStyle/>
            <a:p>
              <a:pPr marL="0" marR="0" indent="969865" algn="l" fontAlgn="base">
                <a:lnSpc>
                  <a:spcPts val="1495"/>
                </a:lnSpc>
                <a:spcBef>
                  <a:spcPts val="0"/>
                </a:spcBef>
                <a:spcAft>
                  <a:spcPts val="0"/>
                </a:spcAft>
                <a:buNone/>
              </a:pPr>
              <a:r>
                <a:rPr lang="en-US" sz="1150" b="0" i="0" kern="0" spc="0" dirty="0">
                  <a:solidFill>
                    <a:srgbClr val="147562"/>
                  </a:solidFill>
                  <a:latin typeface="IBM Plex Mono"/>
                  <a:ea typeface="IBM Plex Mono"/>
                  <a:cs typeface="IBM Plex Mono"/>
                </a:rPr>
                <a:t>Pending</a:t>
              </a:r>
              <a:endParaRPr lang="en-US" sz="1150" b="0" i="0" kern="0" spc="0" dirty="0">
                <a:solidFill>
                  <a:srgbClr val="147562"/>
                </a:solidFill>
                <a:latin typeface="IBM Plex Mono"/>
                <a:ea typeface="IBM Plex Mono"/>
                <a:cs typeface="IBM Plex Mono"/>
              </a:endParaRPr>
            </a:p>
          </p:txBody>
        </p:sp>
      </p:grpSp>
      <p:sp>
        <p:nvSpPr>
          <p:cNvPr id="1018" name="03 · case-text-3: What must survive every transition? [p03-text-0021]" descr="Native editable Unicode text; authored line breaks retained."/>
          <p:cNvSpPr txBox="1"/>
          <p:nvPr/>
        </p:nvSpPr>
        <p:spPr>
          <a:xfrm>
            <a:off x="6426200" y="3868643"/>
            <a:ext cx="5118100" cy="6819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What must survive</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every transition?</a:t>
            </a:r>
            <a:endParaRPr lang="en-US" sz="1900" b="0" i="0" kern="0" spc="-10" dirty="0">
              <a:solidFill>
                <a:srgbClr val="032D60">
                  <a:alpha val="86000"/>
                </a:srgbClr>
              </a:solidFill>
              <a:latin typeface="Salesforce Sans"/>
              <a:ea typeface="Salesforce Sans"/>
              <a:cs typeface="Salesforce Sans"/>
            </a:endParaRPr>
          </a:p>
        </p:txBody>
      </p:sp>
      <p:grpSp>
        <p:nvGrpSpPr>
          <p:cNvPr id="1026" name="03 · source-line: Agent Graph / guided determinism"/>
          <p:cNvGrpSpPr/>
          <p:nvPr/>
        </p:nvGrpSpPr>
        <p:grpSpPr>
          <a:xfrm>
            <a:off x="558800" y="6037898"/>
            <a:ext cx="11087100" cy="284456"/>
            <a:chOff x="558800" y="6037898"/>
            <a:chExt cx="11087100" cy="284456"/>
          </a:xfrm>
        </p:grpSpPr>
        <p:sp>
          <p:nvSpPr>
            <p:cNvPr id="1019" name="03 · source-line · top border [p03-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03 · span: Agent Graph / guided determinism [p03-text-0022]" descr="Native editable Unicode text; authored line breaks retained."/>
            <p:cNvSpPr txBox="1"/>
            <p:nvPr/>
          </p:nvSpPr>
          <p:spPr>
            <a:xfrm>
              <a:off x="558800" y="6153126"/>
              <a:ext cx="19825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21" name="03 · span: Constructed service example [p03-text-0023]" descr="Native editable Unicode text; authored line breaks retained."/>
            <p:cNvSpPr txBox="1"/>
            <p:nvPr/>
          </p:nvSpPr>
          <p:spPr>
            <a:xfrm>
              <a:off x="10015866" y="6153126"/>
              <a:ext cx="163003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service example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Give each responsibility an owner">
    <p:bg>
      <p:bgPr>
        <a:solidFill>
          <a:srgbClr val="FFFFFF"/>
        </a:solidFill>
      </p:bgPr>
    </p:bg>
    <p:spTree>
      <p:nvGrpSpPr>
        <p:cNvPr id="1" name=""/>
        <p:cNvGrpSpPr/>
        <p:nvPr/>
      </p:nvGrpSpPr>
      <p:grpSpPr>
        <a:xfrm>
          <a:off x="0" y="0"/>
          <a:ext cx="0" cy="0"/>
          <a:chOff x="0" y="0"/>
          <a:chExt cx="0" cy="0"/>
        </a:xfrm>
      </p:grpSpPr>
      <p:sp>
        <p:nvSpPr>
          <p:cNvPr id="1000" name="04 · slide light · surface [p04-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1" name="04 · chrome-min: DISAGGREGATED INTELLIGENCE"/>
          <p:cNvGrpSpPr/>
          <p:nvPr/>
        </p:nvGrpSpPr>
        <p:grpSpPr>
          <a:xfrm>
            <a:off x="558800" y="356053"/>
            <a:ext cx="11087100" cy="187325"/>
            <a:chOff x="558800" y="356053"/>
            <a:chExt cx="11087100" cy="187325"/>
          </a:xfrm>
        </p:grpSpPr>
        <p:sp>
          <p:nvSpPr>
            <p:cNvPr id="1001" name="04 · l: DISAGGREGATED INTELLIGENCE [p04-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4 · r: 04 / 36 [p04-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04 / 36</a:t>
              </a:r>
              <a:endParaRPr lang="en-US" sz="950" b="1" i="0" kern="0" spc="65" dirty="0">
                <a:solidFill>
                  <a:srgbClr val="022AC0"/>
                </a:solidFill>
                <a:latin typeface="Salesforce Sans"/>
                <a:ea typeface="Salesforce Sans"/>
                <a:cs typeface="Salesforce Sans"/>
              </a:endParaRPr>
            </a:p>
          </p:txBody>
        </p:sp>
      </p:grpSp>
      <p:grpSp>
        <p:nvGrpSpPr>
          <p:cNvPr id="1052" name="04 · deck-head: 01 / ARCHITECTURE"/>
          <p:cNvGrpSpPr/>
          <p:nvPr/>
        </p:nvGrpSpPr>
        <p:grpSpPr>
          <a:xfrm>
            <a:off x="558800" y="775901"/>
            <a:ext cx="11087100" cy="871263"/>
            <a:chOff x="558800" y="775901"/>
            <a:chExt cx="11087100" cy="871263"/>
          </a:xfrm>
        </p:grpSpPr>
        <p:sp>
          <p:nvSpPr>
            <p:cNvPr id="1003" name="04 · ownership-eyebrow: 01 / ARCHITECTURE [p04-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01 / ARCHITECTURE</a:t>
              </a:r>
              <a:endParaRPr lang="en-US" sz="1050" b="1" i="0" kern="0" spc="68" dirty="0">
                <a:solidFill>
                  <a:srgbClr val="022AC0"/>
                </a:solidFill>
                <a:latin typeface="Salesforce Sans"/>
                <a:ea typeface="Salesforce Sans"/>
                <a:cs typeface="Salesforce Sans"/>
              </a:endParaRPr>
            </a:p>
          </p:txBody>
        </p:sp>
        <p:sp>
          <p:nvSpPr>
            <p:cNvPr id="1004" name="04 · ownership-title: Give each responsibility an owner [p04-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Give each responsibility an owner</a:t>
              </a:r>
              <a:endParaRPr lang="en-US" sz="3600" b="1" i="0" kern="0" spc="-95" dirty="0">
                <a:solidFill>
                  <a:srgbClr val="022AC0"/>
                </a:solidFill>
                <a:latin typeface="Manrope"/>
                <a:ea typeface="Manrope"/>
                <a:cs typeface="Manrope"/>
              </a:endParaRPr>
            </a:p>
          </p:txBody>
        </p:sp>
      </p:grpSp>
      <p:grpSp>
        <p:nvGrpSpPr>
          <p:cNvPr id="1005" name="04 · svg · drawing [p04-e0008]"/>
          <p:cNvGrpSpPr/>
          <p:nvPr/>
        </p:nvGrpSpPr>
        <p:grpSpPr>
          <a:xfrm>
            <a:off x="1749298" y="2446126"/>
            <a:ext cx="8651875" cy="1793187"/>
            <a:chOff x="1749298" y="2446126"/>
            <a:chExt cx="8651875" cy="1793187"/>
          </a:xfrm>
        </p:grpSpPr>
        <p:grpSp>
          <p:nvGrpSpPr>
            <p:cNvPr id="1006" name="path · 1 + arrowhead"/>
            <p:cNvGrpSpPr/>
            <p:nvPr/>
          </p:nvGrpSpPr>
          <p:grpSpPr>
            <a:xfrm>
              <a:off x="6026785" y="2446126"/>
              <a:ext cx="138430" cy="504878"/>
              <a:chOff x="6026785" y="2446126"/>
              <a:chExt cx="138430" cy="504878"/>
            </a:xfrm>
          </p:grpSpPr>
          <p:sp>
            <p:nvSpPr>
              <p:cNvPr id="1007" name="path · 1"/>
              <p:cNvSpPr/>
              <p:nvPr/>
            </p:nvSpPr>
            <p:spPr>
              <a:xfrm>
                <a:off x="6096000" y="2446126"/>
                <a:ext cx="1" cy="487468"/>
              </a:xfrm>
              <a:custGeom>
                <a:avLst/>
                <a:gdLst/>
                <a:ahLst/>
                <a:cxnLst/>
                <a:rect l="0" t="0" r="r" b="b"/>
                <a:pathLst>
                  <a:path w="1" h="487468" fill="none" stroke="1" extrusionOk="0">
                    <a:moveTo>
                      <a:pt x="0" y="0"/>
                    </a:moveTo>
                    <a:lnTo>
                      <a:pt x="0" y="487468"/>
                    </a:lnTo>
                  </a:path>
                </a:pathLst>
              </a:custGeom>
              <a:noFill/>
              <a:ln w="15875" cap="flat" cmpd="sng" algn="ctr">
                <a:solidFill>
                  <a:srgbClr val="789B8E"/>
                </a:solidFill>
                <a:prstDash val="solid"/>
                <a:miter lim="400000"/>
                <a:headEnd type="none" w="med" len="med"/>
                <a:tailEnd type="none" w="med" len="med"/>
              </a:ln>
            </p:spPr>
          </p:sp>
          <p:grpSp>
            <p:nvGrpSpPr>
              <p:cNvPr id="1008" name="arr2 end"/>
              <p:cNvGrpSpPr/>
              <p:nvPr/>
            </p:nvGrpSpPr>
            <p:grpSpPr>
              <a:xfrm>
                <a:off x="6026785" y="2811727"/>
                <a:ext cx="138430" cy="139277"/>
                <a:chOff x="6026785" y="2811727"/>
                <a:chExt cx="138430" cy="139277"/>
              </a:xfrm>
            </p:grpSpPr>
            <p:sp>
              <p:nvSpPr>
                <p:cNvPr id="1009" name="path · 2"/>
                <p:cNvSpPr/>
                <p:nvPr/>
              </p:nvSpPr>
              <p:spPr>
                <a:xfrm>
                  <a:off x="6026785" y="2811727"/>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0" name="path · 3 + arrowhead"/>
            <p:cNvGrpSpPr/>
            <p:nvPr/>
          </p:nvGrpSpPr>
          <p:grpSpPr>
            <a:xfrm>
              <a:off x="1749298" y="3560339"/>
              <a:ext cx="4346702" cy="678974"/>
              <a:chOff x="1749298" y="3560339"/>
              <a:chExt cx="4346702" cy="678974"/>
            </a:xfrm>
          </p:grpSpPr>
          <p:sp>
            <p:nvSpPr>
              <p:cNvPr id="1011" name="path · 3"/>
              <p:cNvSpPr/>
              <p:nvPr/>
            </p:nvSpPr>
            <p:spPr>
              <a:xfrm>
                <a:off x="1818513" y="3560339"/>
                <a:ext cx="4277487" cy="661564"/>
              </a:xfrm>
              <a:custGeom>
                <a:avLst/>
                <a:gdLst/>
                <a:ahLst/>
                <a:cxnLst/>
                <a:rect l="0" t="0" r="r" b="b"/>
                <a:pathLst>
                  <a:path w="4277487" h="661564" fill="none" stroke="1" extrusionOk="0">
                    <a:moveTo>
                      <a:pt x="4277487" y="0"/>
                    </a:moveTo>
                    <a:lnTo>
                      <a:pt x="4277487" y="383011"/>
                    </a:lnTo>
                    <a:lnTo>
                      <a:pt x="0" y="383011"/>
                    </a:lnTo>
                    <a:lnTo>
                      <a:pt x="0" y="661564"/>
                    </a:lnTo>
                  </a:path>
                </a:pathLst>
              </a:custGeom>
              <a:noFill/>
              <a:ln w="15875" cap="flat" cmpd="sng" algn="ctr">
                <a:solidFill>
                  <a:srgbClr val="789B8E"/>
                </a:solidFill>
                <a:prstDash val="solid"/>
                <a:miter lim="400000"/>
                <a:headEnd type="none" w="med" len="med"/>
                <a:tailEnd type="none" w="med" len="med"/>
              </a:ln>
            </p:spPr>
          </p:sp>
          <p:grpSp>
            <p:nvGrpSpPr>
              <p:cNvPr id="1012" name="arr2 end"/>
              <p:cNvGrpSpPr/>
              <p:nvPr/>
            </p:nvGrpSpPr>
            <p:grpSpPr>
              <a:xfrm>
                <a:off x="1749298" y="4100036"/>
                <a:ext cx="138430" cy="139277"/>
                <a:chOff x="1749298" y="4100036"/>
                <a:chExt cx="138430" cy="139277"/>
              </a:xfrm>
            </p:grpSpPr>
            <p:sp>
              <p:nvSpPr>
                <p:cNvPr id="1013" name="path · 4"/>
                <p:cNvSpPr/>
                <p:nvPr/>
              </p:nvSpPr>
              <p:spPr>
                <a:xfrm>
                  <a:off x="1749298"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4" name="path · 5 + arrowhead"/>
            <p:cNvGrpSpPr/>
            <p:nvPr/>
          </p:nvGrpSpPr>
          <p:grpSpPr>
            <a:xfrm>
              <a:off x="4587113" y="3943350"/>
              <a:ext cx="1508887" cy="295963"/>
              <a:chOff x="4587113" y="3943350"/>
              <a:chExt cx="1508887" cy="295963"/>
            </a:xfrm>
          </p:grpSpPr>
          <p:sp>
            <p:nvSpPr>
              <p:cNvPr id="1015" name="path · 5"/>
              <p:cNvSpPr/>
              <p:nvPr/>
            </p:nvSpPr>
            <p:spPr>
              <a:xfrm>
                <a:off x="4656328" y="3943350"/>
                <a:ext cx="1439672" cy="278553"/>
              </a:xfrm>
              <a:custGeom>
                <a:avLst/>
                <a:gdLst/>
                <a:ahLst/>
                <a:cxnLst/>
                <a:rect l="0" t="0" r="r" b="b"/>
                <a:pathLst>
                  <a:path w="1439672" h="278553" fill="none" stroke="1" extrusionOk="0">
                    <a:moveTo>
                      <a:pt x="1439672" y="0"/>
                    </a:moveTo>
                    <a:lnTo>
                      <a:pt x="0" y="0"/>
                    </a:lnTo>
                    <a:lnTo>
                      <a:pt x="0" y="278553"/>
                    </a:lnTo>
                  </a:path>
                </a:pathLst>
              </a:custGeom>
              <a:noFill/>
              <a:ln w="15875" cap="flat" cmpd="sng" algn="ctr">
                <a:solidFill>
                  <a:srgbClr val="789B8E"/>
                </a:solidFill>
                <a:prstDash val="solid"/>
                <a:miter lim="400000"/>
                <a:headEnd type="none" w="med" len="med"/>
                <a:tailEnd type="none" w="med" len="med"/>
              </a:ln>
            </p:spPr>
          </p:sp>
          <p:grpSp>
            <p:nvGrpSpPr>
              <p:cNvPr id="1016" name="arr2 end"/>
              <p:cNvGrpSpPr/>
              <p:nvPr/>
            </p:nvGrpSpPr>
            <p:grpSpPr>
              <a:xfrm>
                <a:off x="4587113" y="4100036"/>
                <a:ext cx="138430" cy="139277"/>
                <a:chOff x="4587113" y="4100036"/>
                <a:chExt cx="138430" cy="139277"/>
              </a:xfrm>
            </p:grpSpPr>
            <p:sp>
              <p:nvSpPr>
                <p:cNvPr id="1017" name="path · 6"/>
                <p:cNvSpPr/>
                <p:nvPr/>
              </p:nvSpPr>
              <p:spPr>
                <a:xfrm>
                  <a:off x="4587113"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18" name="path · 7 + arrowhead"/>
            <p:cNvGrpSpPr/>
            <p:nvPr/>
          </p:nvGrpSpPr>
          <p:grpSpPr>
            <a:xfrm>
              <a:off x="6096000" y="3943350"/>
              <a:ext cx="1467358" cy="295963"/>
              <a:chOff x="6096000" y="3943350"/>
              <a:chExt cx="1467358" cy="295963"/>
            </a:xfrm>
          </p:grpSpPr>
          <p:sp>
            <p:nvSpPr>
              <p:cNvPr id="1019" name="path · 7"/>
              <p:cNvSpPr/>
              <p:nvPr/>
            </p:nvSpPr>
            <p:spPr>
              <a:xfrm>
                <a:off x="6096000" y="3943350"/>
                <a:ext cx="1398143" cy="278553"/>
              </a:xfrm>
              <a:custGeom>
                <a:avLst/>
                <a:gdLst/>
                <a:ahLst/>
                <a:cxnLst/>
                <a:rect l="0" t="0" r="r" b="b"/>
                <a:pathLst>
                  <a:path w="1398143" h="278553" fill="none" stroke="1" extrusionOk="0">
                    <a:moveTo>
                      <a:pt x="0" y="0"/>
                    </a:moveTo>
                    <a:lnTo>
                      <a:pt x="1398143" y="0"/>
                    </a:lnTo>
                    <a:lnTo>
                      <a:pt x="1398143" y="278553"/>
                    </a:lnTo>
                  </a:path>
                </a:pathLst>
              </a:custGeom>
              <a:noFill/>
              <a:ln w="15875" cap="flat" cmpd="sng" algn="ctr">
                <a:solidFill>
                  <a:srgbClr val="789B8E"/>
                </a:solidFill>
                <a:prstDash val="solid"/>
                <a:miter lim="400000"/>
                <a:headEnd type="none" w="med" len="med"/>
                <a:tailEnd type="none" w="med" len="med"/>
              </a:ln>
            </p:spPr>
          </p:sp>
          <p:grpSp>
            <p:nvGrpSpPr>
              <p:cNvPr id="1020" name="arr2 end"/>
              <p:cNvGrpSpPr/>
              <p:nvPr/>
            </p:nvGrpSpPr>
            <p:grpSpPr>
              <a:xfrm>
                <a:off x="7424928" y="4100036"/>
                <a:ext cx="138430" cy="139277"/>
                <a:chOff x="7424928" y="4100036"/>
                <a:chExt cx="138430" cy="139277"/>
              </a:xfrm>
            </p:grpSpPr>
            <p:sp>
              <p:nvSpPr>
                <p:cNvPr id="1021" name="path · 8"/>
                <p:cNvSpPr/>
                <p:nvPr/>
              </p:nvSpPr>
              <p:spPr>
                <a:xfrm>
                  <a:off x="7424928"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nvGrpSpPr>
            <p:cNvPr id="1022" name="path · 9 + arrowhead"/>
            <p:cNvGrpSpPr/>
            <p:nvPr/>
          </p:nvGrpSpPr>
          <p:grpSpPr>
            <a:xfrm>
              <a:off x="6096000" y="3943350"/>
              <a:ext cx="4305173" cy="295963"/>
              <a:chOff x="6096000" y="3943350"/>
              <a:chExt cx="4305173" cy="295963"/>
            </a:xfrm>
          </p:grpSpPr>
          <p:sp>
            <p:nvSpPr>
              <p:cNvPr id="1023" name="path · 9"/>
              <p:cNvSpPr/>
              <p:nvPr/>
            </p:nvSpPr>
            <p:spPr>
              <a:xfrm>
                <a:off x="6096000" y="3943350"/>
                <a:ext cx="4235958" cy="278553"/>
              </a:xfrm>
              <a:custGeom>
                <a:avLst/>
                <a:gdLst/>
                <a:ahLst/>
                <a:cxnLst/>
                <a:rect l="0" t="0" r="r" b="b"/>
                <a:pathLst>
                  <a:path w="4235958" h="278553" fill="none" stroke="1" extrusionOk="0">
                    <a:moveTo>
                      <a:pt x="0" y="0"/>
                    </a:moveTo>
                    <a:lnTo>
                      <a:pt x="4235958" y="0"/>
                    </a:lnTo>
                    <a:lnTo>
                      <a:pt x="4235958" y="278553"/>
                    </a:lnTo>
                  </a:path>
                </a:pathLst>
              </a:custGeom>
              <a:noFill/>
              <a:ln w="15875" cap="flat" cmpd="sng" algn="ctr">
                <a:solidFill>
                  <a:srgbClr val="789B8E"/>
                </a:solidFill>
                <a:prstDash val="solid"/>
                <a:miter lim="400000"/>
                <a:headEnd type="none" w="med" len="med"/>
                <a:tailEnd type="none" w="med" len="med"/>
              </a:ln>
            </p:spPr>
          </p:sp>
          <p:grpSp>
            <p:nvGrpSpPr>
              <p:cNvPr id="1024" name="arr2 end"/>
              <p:cNvGrpSpPr/>
              <p:nvPr/>
            </p:nvGrpSpPr>
            <p:grpSpPr>
              <a:xfrm>
                <a:off x="10262743" y="4100036"/>
                <a:ext cx="138430" cy="139277"/>
                <a:chOff x="10262743" y="4100036"/>
                <a:chExt cx="138430" cy="139277"/>
              </a:xfrm>
            </p:grpSpPr>
            <p:sp>
              <p:nvSpPr>
                <p:cNvPr id="1025" name="path · 10"/>
                <p:cNvSpPr/>
                <p:nvPr/>
              </p:nvSpPr>
              <p:spPr>
                <a:xfrm>
                  <a:off x="10262743" y="4100036"/>
                  <a:ext cx="138430" cy="139277"/>
                </a:xfrm>
                <a:custGeom>
                  <a:avLst/>
                  <a:gdLst/>
                  <a:ahLst/>
                  <a:cxnLst/>
                  <a:rect l="0" t="0" r="r" b="b"/>
                  <a:pathLst>
                    <a:path w="138430" h="139277" fill="norm" stroke="0" extrusionOk="0">
                      <a:moveTo>
                        <a:pt x="138430" y="0"/>
                      </a:moveTo>
                      <a:lnTo>
                        <a:pt x="69215" y="139277"/>
                      </a:lnTo>
                      <a:lnTo>
                        <a:pt x="0" y="0"/>
                      </a:lnTo>
                      <a:close/>
                    </a:path>
                  </a:pathLst>
                </a:custGeom>
                <a:solidFill>
                  <a:srgbClr val="789B8E"/>
                </a:solidFill>
                <a:ln>
                  <a:noFill/>
                </a:ln>
              </p:spPr>
            </p:sp>
          </p:grpSp>
        </p:grpSp>
      </p:grpSp>
      <p:grpSp>
        <p:nvGrpSpPr>
          <p:cNvPr id="1053" name="04 · node sand: AgentScript"/>
          <p:cNvGrpSpPr/>
          <p:nvPr/>
        </p:nvGrpSpPr>
        <p:grpSpPr>
          <a:xfrm>
            <a:off x="1597025" y="1854200"/>
            <a:ext cx="8997950" cy="591940"/>
            <a:chOff x="1597025" y="1854200"/>
            <a:chExt cx="8997950" cy="591940"/>
          </a:xfrm>
        </p:grpSpPr>
        <p:sp>
          <p:nvSpPr>
            <p:cNvPr id="1026" name="04 · node sand · surface [p04-e0009]"/>
            <p:cNvSpPr/>
            <p:nvPr/>
          </p:nvSpPr>
          <p:spPr>
            <a:xfrm>
              <a:off x="1597025" y="1854200"/>
              <a:ext cx="8997950" cy="591940"/>
            </a:xfrm>
            <a:prstGeom prst="roundRect">
              <a:avLst>
                <a:gd name="adj" fmla="val 23600"/>
              </a:avLst>
            </a:prstGeom>
            <a:solidFill>
              <a:srgbClr val="FBF0CF"/>
            </a:solidFill>
            <a:ln>
              <a:noFill/>
            </a:ln>
          </p:spPr>
        </p:sp>
        <p:sp>
          <p:nvSpPr>
            <p:cNvPr id="1027" name="04 · strong: AgentScript [p04-text-0015]" descr="Native editable Unicode text; authored line breaks retained."/>
            <p:cNvSpPr txBox="1"/>
            <p:nvPr/>
          </p:nvSpPr>
          <p:spPr>
            <a:xfrm>
              <a:off x="1774825" y="1899733"/>
              <a:ext cx="865505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AgentScript</a:t>
              </a:r>
              <a:endParaRPr lang="en-US" sz="1450" b="1" i="0" kern="0" spc="0" dirty="0">
                <a:solidFill>
                  <a:srgbClr val="032D60"/>
                </a:solidFill>
                <a:latin typeface="Salesforce Sans"/>
                <a:ea typeface="Salesforce Sans"/>
                <a:cs typeface="Salesforce Sans"/>
              </a:endParaRPr>
            </a:p>
          </p:txBody>
        </p:sp>
        <p:sp>
          <p:nvSpPr>
            <p:cNvPr id="1028" name="04 · small: Authors sequencing, action availability, and bound inputs [p04-text-0016]" descr="Native editable Unicode text; authored line breaks retained."/>
            <p:cNvSpPr txBox="1"/>
            <p:nvPr/>
          </p:nvSpPr>
          <p:spPr>
            <a:xfrm>
              <a:off x="1774825" y="2211053"/>
              <a:ext cx="865505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Authors sequencing, action availability, and bound inputs</a:t>
              </a:r>
              <a:endParaRPr lang="en-US" sz="1100" b="0" i="0" kern="0" spc="0" dirty="0">
                <a:solidFill>
                  <a:srgbClr val="032D60"/>
                </a:solidFill>
                <a:latin typeface="Salesforce Sans"/>
                <a:ea typeface="Salesforce Sans"/>
                <a:cs typeface="Salesforce Sans"/>
              </a:endParaRPr>
            </a:p>
          </p:txBody>
        </p:sp>
      </p:grpSp>
      <p:grpSp>
        <p:nvGrpSpPr>
          <p:cNvPr id="1054" name="04 · node mint: Agent Graph"/>
          <p:cNvGrpSpPr/>
          <p:nvPr/>
        </p:nvGrpSpPr>
        <p:grpSpPr>
          <a:xfrm>
            <a:off x="1597025" y="2968427"/>
            <a:ext cx="8997950" cy="591940"/>
            <a:chOff x="1597025" y="2968427"/>
            <a:chExt cx="8997950" cy="591940"/>
          </a:xfrm>
        </p:grpSpPr>
        <p:sp>
          <p:nvSpPr>
            <p:cNvPr id="1029" name="04 · node mint · surface [p04-e0012]"/>
            <p:cNvSpPr/>
            <p:nvPr/>
          </p:nvSpPr>
          <p:spPr>
            <a:xfrm>
              <a:off x="1597025" y="2968427"/>
              <a:ext cx="8997950" cy="591940"/>
            </a:xfrm>
            <a:prstGeom prst="roundRect">
              <a:avLst>
                <a:gd name="adj" fmla="val 23600"/>
              </a:avLst>
            </a:prstGeom>
            <a:solidFill>
              <a:srgbClr val="DDF3ED"/>
            </a:solidFill>
            <a:ln>
              <a:noFill/>
            </a:ln>
          </p:spPr>
        </p:sp>
        <p:sp>
          <p:nvSpPr>
            <p:cNvPr id="1030" name="04 · strong: Agent Graph [p04-text-0017]" descr="Native editable Unicode text; authored line breaks retained."/>
            <p:cNvSpPr txBox="1"/>
            <p:nvPr/>
          </p:nvSpPr>
          <p:spPr>
            <a:xfrm>
              <a:off x="1774825" y="3013960"/>
              <a:ext cx="865505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Agent Graph</a:t>
              </a:r>
              <a:endParaRPr lang="en-US" sz="1450" b="1" i="0" kern="0" spc="0" dirty="0">
                <a:solidFill>
                  <a:srgbClr val="032D60"/>
                </a:solidFill>
                <a:latin typeface="Salesforce Sans"/>
                <a:ea typeface="Salesforce Sans"/>
                <a:cs typeface="Salesforce Sans"/>
              </a:endParaRPr>
            </a:p>
          </p:txBody>
        </p:sp>
        <p:sp>
          <p:nvSpPr>
            <p:cNvPr id="1031" name="04 · small: Executes the workflow and retains task state [p04-text-0018]" descr="Native editable Unicode text; authored line breaks retained."/>
            <p:cNvSpPr txBox="1"/>
            <p:nvPr/>
          </p:nvSpPr>
          <p:spPr>
            <a:xfrm>
              <a:off x="1774825" y="3325281"/>
              <a:ext cx="865505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Executes the workflow and retains task state</a:t>
              </a:r>
              <a:endParaRPr lang="en-US" sz="1100" b="0" i="0" kern="0" spc="0" dirty="0">
                <a:solidFill>
                  <a:srgbClr val="032D60"/>
                </a:solidFill>
                <a:latin typeface="Salesforce Sans"/>
                <a:ea typeface="Salesforce Sans"/>
                <a:cs typeface="Salesforce Sans"/>
              </a:endParaRPr>
            </a:p>
          </p:txBody>
        </p:sp>
      </p:grpSp>
      <p:grpSp>
        <p:nvGrpSpPr>
          <p:cNvPr id="1055" name="04 · node mint: INTERPRET"/>
          <p:cNvGrpSpPr/>
          <p:nvPr/>
        </p:nvGrpSpPr>
        <p:grpSpPr>
          <a:xfrm>
            <a:off x="558800" y="4256722"/>
            <a:ext cx="2526292" cy="1253490"/>
            <a:chOff x="558800" y="4256722"/>
            <a:chExt cx="2526292" cy="1253490"/>
          </a:xfrm>
        </p:grpSpPr>
        <p:sp>
          <p:nvSpPr>
            <p:cNvPr id="1032" name="04 · node mint · surface [p04-e0015]"/>
            <p:cNvSpPr/>
            <p:nvPr/>
          </p:nvSpPr>
          <p:spPr>
            <a:xfrm>
              <a:off x="558800" y="4256722"/>
              <a:ext cx="2526292" cy="1253490"/>
            </a:xfrm>
            <a:prstGeom prst="roundRect">
              <a:avLst>
                <a:gd name="adj" fmla="val 11145"/>
              </a:avLst>
            </a:prstGeom>
            <a:solidFill>
              <a:srgbClr val="DDF3ED"/>
            </a:solidFill>
            <a:ln>
              <a:noFill/>
            </a:ln>
          </p:spPr>
        </p:sp>
        <p:sp>
          <p:nvSpPr>
            <p:cNvPr id="1033" name="04 · mini: INTERPRET [p04-text-0019]" descr="Native editable Unicode text; authored line breaks retained."/>
            <p:cNvSpPr txBox="1"/>
            <p:nvPr/>
          </p:nvSpPr>
          <p:spPr>
            <a:xfrm>
              <a:off x="736600" y="4528568"/>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INTERPRET</a:t>
              </a:r>
              <a:endParaRPr lang="en-US" sz="950" b="0" i="0" kern="0" spc="50" dirty="0">
                <a:solidFill>
                  <a:srgbClr val="022AC0"/>
                </a:solidFill>
                <a:latin typeface="IBM Plex Mono"/>
                <a:ea typeface="IBM Plex Mono"/>
                <a:cs typeface="IBM Plex Mono"/>
              </a:endParaRPr>
            </a:p>
          </p:txBody>
        </p:sp>
        <p:sp>
          <p:nvSpPr>
            <p:cNvPr id="1034" name="04 · strong: koa-action [p04-text-0020]" descr="Native editable Unicode text; authored line breaks retained."/>
            <p:cNvSpPr txBox="1"/>
            <p:nvPr/>
          </p:nvSpPr>
          <p:spPr>
            <a:xfrm>
              <a:off x="736600" y="4743201"/>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koa-action</a:t>
              </a:r>
              <a:endParaRPr lang="en-US" sz="1450" b="1" i="0" kern="0" spc="0" dirty="0">
                <a:solidFill>
                  <a:srgbClr val="032D60"/>
                </a:solidFill>
                <a:latin typeface="Salesforce Sans"/>
                <a:ea typeface="Salesforce Sans"/>
                <a:cs typeface="Salesforce Sans"/>
              </a:endParaRPr>
            </a:p>
          </p:txBody>
        </p:sp>
        <p:sp>
          <p:nvSpPr>
            <p:cNvPr id="1035" name="04 · small: System One: bounded decisions [p04-text-0021]" descr="Native editable Unicode text; authored line breaks retained."/>
            <p:cNvSpPr txBox="1"/>
            <p:nvPr/>
          </p:nvSpPr>
          <p:spPr>
            <a:xfrm>
              <a:off x="736600" y="5054521"/>
              <a:ext cx="2183392"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System One: bounded decisions</a:t>
              </a:r>
              <a:endParaRPr lang="en-US" sz="1100" b="0" i="0" kern="0" spc="0" dirty="0">
                <a:solidFill>
                  <a:srgbClr val="032D60"/>
                </a:solidFill>
                <a:latin typeface="Salesforce Sans"/>
                <a:ea typeface="Salesforce Sans"/>
                <a:cs typeface="Salesforce Sans"/>
              </a:endParaRPr>
            </a:p>
          </p:txBody>
        </p:sp>
      </p:grpSp>
      <p:grpSp>
        <p:nvGrpSpPr>
          <p:cNvPr id="1056" name="04 · node lilac: REASON"/>
          <p:cNvGrpSpPr/>
          <p:nvPr/>
        </p:nvGrpSpPr>
        <p:grpSpPr>
          <a:xfrm>
            <a:off x="3396615" y="4256722"/>
            <a:ext cx="2526292" cy="1253490"/>
            <a:chOff x="3396615" y="4256722"/>
            <a:chExt cx="2526292" cy="1253490"/>
          </a:xfrm>
        </p:grpSpPr>
        <p:sp>
          <p:nvSpPr>
            <p:cNvPr id="1036" name="04 · node lilac · surface [p04-e0019]"/>
            <p:cNvSpPr/>
            <p:nvPr/>
          </p:nvSpPr>
          <p:spPr>
            <a:xfrm>
              <a:off x="3396615" y="4256722"/>
              <a:ext cx="2526292" cy="1253490"/>
            </a:xfrm>
            <a:prstGeom prst="roundRect">
              <a:avLst>
                <a:gd name="adj" fmla="val 11145"/>
              </a:avLst>
            </a:prstGeom>
            <a:solidFill>
              <a:srgbClr val="EAE6FA"/>
            </a:solidFill>
            <a:ln>
              <a:noFill/>
            </a:ln>
          </p:spPr>
        </p:sp>
        <p:sp>
          <p:nvSpPr>
            <p:cNvPr id="1037" name="04 · mini: REASON [p04-text-0022]" descr="Native editable Unicode text; authored line breaks retained."/>
            <p:cNvSpPr txBox="1"/>
            <p:nvPr/>
          </p:nvSpPr>
          <p:spPr>
            <a:xfrm>
              <a:off x="3574415" y="4434271"/>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REASON</a:t>
              </a:r>
              <a:endParaRPr lang="en-US" sz="950" b="0" i="0" kern="0" spc="50" dirty="0">
                <a:solidFill>
                  <a:srgbClr val="022AC0"/>
                </a:solidFill>
                <a:latin typeface="IBM Plex Mono"/>
                <a:ea typeface="IBM Plex Mono"/>
                <a:cs typeface="IBM Plex Mono"/>
              </a:endParaRPr>
            </a:p>
          </p:txBody>
        </p:sp>
        <p:sp>
          <p:nvSpPr>
            <p:cNvPr id="1038" name="04 · strong: Frontier model [p04-text-0023]" descr="Native editable Unicode text; authored line breaks retained."/>
            <p:cNvSpPr txBox="1"/>
            <p:nvPr/>
          </p:nvSpPr>
          <p:spPr>
            <a:xfrm>
              <a:off x="3574415" y="4648903"/>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Frontier model</a:t>
              </a:r>
              <a:endParaRPr lang="en-US" sz="1450" b="1" i="0" kern="0" spc="0" dirty="0">
                <a:solidFill>
                  <a:srgbClr val="032D60"/>
                </a:solidFill>
                <a:latin typeface="Salesforce Sans"/>
                <a:ea typeface="Salesforce Sans"/>
                <a:cs typeface="Salesforce Sans"/>
              </a:endParaRPr>
            </a:p>
          </p:txBody>
        </p:sp>
        <p:sp>
          <p:nvSpPr>
            <p:cNvPr id="1039" name="04 · small: Residual interpretation after a defined gate [p04-text-0024]" descr="Native editable Unicode text; authored line breaks retained."/>
            <p:cNvSpPr txBox="1"/>
            <p:nvPr/>
          </p:nvSpPr>
          <p:spPr>
            <a:xfrm>
              <a:off x="3574415" y="4960223"/>
              <a:ext cx="2183392"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Residual interpretation</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after a defined gate</a:t>
              </a:r>
              <a:endParaRPr lang="en-US" sz="1100" b="0" i="0" kern="0" spc="0" dirty="0">
                <a:solidFill>
                  <a:srgbClr val="032D60"/>
                </a:solidFill>
                <a:latin typeface="Salesforce Sans"/>
                <a:ea typeface="Salesforce Sans"/>
                <a:cs typeface="Salesforce Sans"/>
              </a:endParaRPr>
            </a:p>
          </p:txBody>
        </p:sp>
      </p:grpSp>
      <p:grpSp>
        <p:nvGrpSpPr>
          <p:cNvPr id="1057" name="04 · node blue: ACT"/>
          <p:cNvGrpSpPr/>
          <p:nvPr/>
        </p:nvGrpSpPr>
        <p:grpSpPr>
          <a:xfrm>
            <a:off x="6234430" y="4256722"/>
            <a:ext cx="2526292" cy="1253490"/>
            <a:chOff x="6234430" y="4256722"/>
            <a:chExt cx="2526292" cy="1253490"/>
          </a:xfrm>
        </p:grpSpPr>
        <p:sp>
          <p:nvSpPr>
            <p:cNvPr id="1040" name="04 · node blue · surface [p04-e0024]"/>
            <p:cNvSpPr/>
            <p:nvPr/>
          </p:nvSpPr>
          <p:spPr>
            <a:xfrm>
              <a:off x="6234430" y="4256722"/>
              <a:ext cx="2526292" cy="1253490"/>
            </a:xfrm>
            <a:prstGeom prst="roundRect">
              <a:avLst>
                <a:gd name="adj" fmla="val 11145"/>
              </a:avLst>
            </a:prstGeom>
            <a:solidFill>
              <a:srgbClr val="DCEEFE"/>
            </a:solidFill>
            <a:ln>
              <a:noFill/>
            </a:ln>
          </p:spPr>
        </p:sp>
        <p:sp>
          <p:nvSpPr>
            <p:cNvPr id="1041" name="04 · mini: ACT [p04-text-0025]" descr="Native editable Unicode text; authored line breaks retained."/>
            <p:cNvSpPr txBox="1"/>
            <p:nvPr/>
          </p:nvSpPr>
          <p:spPr>
            <a:xfrm>
              <a:off x="6412230" y="4528568"/>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ACT</a:t>
              </a:r>
              <a:endParaRPr lang="en-US" sz="950" b="0" i="0" kern="0" spc="50" dirty="0">
                <a:solidFill>
                  <a:srgbClr val="022AC0"/>
                </a:solidFill>
                <a:latin typeface="IBM Plex Mono"/>
                <a:ea typeface="IBM Plex Mono"/>
                <a:cs typeface="IBM Plex Mono"/>
              </a:endParaRPr>
            </a:p>
          </p:txBody>
        </p:sp>
        <p:sp>
          <p:nvSpPr>
            <p:cNvPr id="1042" name="04 · strong: Backend services [p04-text-0026]" descr="Native editable Unicode text; authored line breaks retained."/>
            <p:cNvSpPr txBox="1"/>
            <p:nvPr/>
          </p:nvSpPr>
          <p:spPr>
            <a:xfrm>
              <a:off x="6412230" y="4743201"/>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Backend services</a:t>
              </a:r>
              <a:endParaRPr lang="en-US" sz="1450" b="1" i="0" kern="0" spc="0" dirty="0">
                <a:solidFill>
                  <a:srgbClr val="032D60"/>
                </a:solidFill>
                <a:latin typeface="Salesforce Sans"/>
                <a:ea typeface="Salesforce Sans"/>
                <a:cs typeface="Salesforce Sans"/>
              </a:endParaRPr>
            </a:p>
          </p:txBody>
        </p:sp>
        <p:sp>
          <p:nvSpPr>
            <p:cNvPr id="1043" name="04 · small: Authoritative facts + permissions [p04-text-0027]" descr="Native editable Unicode text; authored line breaks retained."/>
            <p:cNvSpPr txBox="1"/>
            <p:nvPr/>
          </p:nvSpPr>
          <p:spPr>
            <a:xfrm>
              <a:off x="6412230" y="5054521"/>
              <a:ext cx="2183392"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Authoritative facts + permissions</a:t>
              </a:r>
              <a:endParaRPr lang="en-US" sz="1100" b="0" i="0" kern="0" spc="0" dirty="0">
                <a:solidFill>
                  <a:srgbClr val="032D60"/>
                </a:solidFill>
                <a:latin typeface="Salesforce Sans"/>
                <a:ea typeface="Salesforce Sans"/>
                <a:cs typeface="Salesforce Sans"/>
              </a:endParaRPr>
            </a:p>
          </p:txBody>
        </p:sp>
      </p:grpSp>
      <p:grpSp>
        <p:nvGrpSpPr>
          <p:cNvPr id="1058" name="04 · node peach: REVIEW"/>
          <p:cNvGrpSpPr/>
          <p:nvPr/>
        </p:nvGrpSpPr>
        <p:grpSpPr>
          <a:xfrm>
            <a:off x="9072245" y="4256722"/>
            <a:ext cx="2526292" cy="1253490"/>
            <a:chOff x="9072245" y="4256722"/>
            <a:chExt cx="2526292" cy="1253490"/>
          </a:xfrm>
        </p:grpSpPr>
        <p:sp>
          <p:nvSpPr>
            <p:cNvPr id="1044" name="04 · node peach · surface [p04-e0028]"/>
            <p:cNvSpPr/>
            <p:nvPr/>
          </p:nvSpPr>
          <p:spPr>
            <a:xfrm>
              <a:off x="9072245" y="4256722"/>
              <a:ext cx="2526292" cy="1253490"/>
            </a:xfrm>
            <a:prstGeom prst="roundRect">
              <a:avLst>
                <a:gd name="adj" fmla="val 11145"/>
              </a:avLst>
            </a:prstGeom>
            <a:solidFill>
              <a:srgbClr val="FBE5DF"/>
            </a:solidFill>
            <a:ln>
              <a:noFill/>
            </a:ln>
          </p:spPr>
        </p:sp>
        <p:sp>
          <p:nvSpPr>
            <p:cNvPr id="1045" name="04 · mini: REVIEW [p04-text-0028]" descr="Native editable Unicode text; authored line breaks retained."/>
            <p:cNvSpPr txBox="1"/>
            <p:nvPr/>
          </p:nvSpPr>
          <p:spPr>
            <a:xfrm>
              <a:off x="9250045" y="4434271"/>
              <a:ext cx="2183392"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REVIEW</a:t>
              </a:r>
              <a:endParaRPr lang="en-US" sz="950" b="0" i="0" kern="0" spc="50" dirty="0">
                <a:solidFill>
                  <a:srgbClr val="022AC0"/>
                </a:solidFill>
                <a:latin typeface="IBM Plex Mono"/>
                <a:ea typeface="IBM Plex Mono"/>
                <a:cs typeface="IBM Plex Mono"/>
              </a:endParaRPr>
            </a:p>
          </p:txBody>
        </p:sp>
        <p:sp>
          <p:nvSpPr>
            <p:cNvPr id="1046" name="04 · strong: Human path [p04-text-0029]" descr="Native editable Unicode text; authored line breaks retained."/>
            <p:cNvSpPr txBox="1"/>
            <p:nvPr/>
          </p:nvSpPr>
          <p:spPr>
            <a:xfrm>
              <a:off x="9250045" y="4648903"/>
              <a:ext cx="21833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Human path</a:t>
              </a:r>
              <a:endParaRPr lang="en-US" sz="1450" b="1" i="0" kern="0" spc="0" dirty="0">
                <a:solidFill>
                  <a:srgbClr val="032D60"/>
                </a:solidFill>
                <a:latin typeface="Salesforce Sans"/>
                <a:ea typeface="Salesforce Sans"/>
                <a:cs typeface="Salesforce Sans"/>
              </a:endParaRPr>
            </a:p>
          </p:txBody>
        </p:sp>
        <p:sp>
          <p:nvSpPr>
            <p:cNvPr id="1047" name="04 · small: When policy or ambiguity requires it [p04-text-0030]" descr="Native editable Unicode text; authored line breaks retained."/>
            <p:cNvSpPr txBox="1"/>
            <p:nvPr/>
          </p:nvSpPr>
          <p:spPr>
            <a:xfrm>
              <a:off x="9250045" y="4960223"/>
              <a:ext cx="2183392"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When policy or ambiguity</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requires it</a:t>
              </a:r>
              <a:endParaRPr lang="en-US" sz="1100" b="0" i="0" kern="0" spc="0" dirty="0">
                <a:solidFill>
                  <a:srgbClr val="032D60"/>
                </a:solidFill>
                <a:latin typeface="Salesforce Sans"/>
                <a:ea typeface="Salesforce Sans"/>
                <a:cs typeface="Salesforce Sans"/>
              </a:endParaRPr>
            </a:p>
          </p:txBody>
        </p:sp>
      </p:grpSp>
      <p:grpSp>
        <p:nvGrpSpPr>
          <p:cNvPr id="1059" name="04 · source-line: Agent Graph / guided determinism · AgentScript control plane"/>
          <p:cNvGrpSpPr/>
          <p:nvPr/>
        </p:nvGrpSpPr>
        <p:grpSpPr>
          <a:xfrm>
            <a:off x="558800" y="6037898"/>
            <a:ext cx="11087100" cy="284456"/>
            <a:chOff x="558800" y="6037898"/>
            <a:chExt cx="11087100" cy="284456"/>
          </a:xfrm>
        </p:grpSpPr>
        <p:sp>
          <p:nvSpPr>
            <p:cNvPr id="1048" name="04 · source-line · top border [p04-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9" name="04 · span: Agent Graph / guided determinism · AgentScript control plane [p04-text-0031]" descr="Native editable Unicode text; authored line breaks retained."/>
            <p:cNvSpPr txBox="1"/>
            <p:nvPr/>
          </p:nvSpPr>
          <p:spPr>
            <a:xfrm>
              <a:off x="558800" y="6153126"/>
              <a:ext cx="34991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50" name="04 · span: Proposed composition; no native adapter asserted [p04-text-0032]" descr="Native editable Unicode text; authored line breaks retained."/>
            <p:cNvSpPr txBox="1"/>
            <p:nvPr/>
          </p:nvSpPr>
          <p:spPr>
            <a:xfrm>
              <a:off x="8819704" y="6153126"/>
              <a:ext cx="28261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composition; no native adapter asserted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Process knowledge becomes topology">
    <p:bg>
      <p:bgPr>
        <a:solidFill>
          <a:srgbClr val="FFFFFF"/>
        </a:solidFill>
      </p:bgPr>
    </p:bg>
    <p:spTree>
      <p:nvGrpSpPr>
        <p:cNvPr id="1" name=""/>
        <p:cNvGrpSpPr/>
        <p:nvPr/>
      </p:nvGrpSpPr>
      <p:grpSpPr>
        <a:xfrm>
          <a:off x="0" y="0"/>
          <a:ext cx="0" cy="0"/>
          <a:chOff x="0" y="0"/>
          <a:chExt cx="0" cy="0"/>
        </a:xfrm>
      </p:grpSpPr>
      <p:sp>
        <p:nvSpPr>
          <p:cNvPr id="1000" name="05 · slide hero light · surface [p05-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38" name="05 · chrome-min: DISAGGREGATED INTELLIGENCE"/>
          <p:cNvGrpSpPr/>
          <p:nvPr/>
        </p:nvGrpSpPr>
        <p:grpSpPr>
          <a:xfrm>
            <a:off x="558800" y="356053"/>
            <a:ext cx="11087100" cy="187325"/>
            <a:chOff x="558800" y="356053"/>
            <a:chExt cx="11087100" cy="187325"/>
          </a:xfrm>
        </p:grpSpPr>
        <p:sp>
          <p:nvSpPr>
            <p:cNvPr id="1001" name="05 · l: DISAGGREGATED INTELLIGENCE [p05-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5 · r: 05 / 36 [p05-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05 / 36</a:t>
              </a:r>
              <a:endParaRPr lang="en-US" sz="950" b="1" i="0" kern="0" spc="65" dirty="0">
                <a:solidFill>
                  <a:srgbClr val="022AC0"/>
                </a:solidFill>
                <a:latin typeface="Salesforce Sans"/>
                <a:ea typeface="Salesforce Sans"/>
                <a:cs typeface="Salesforce Sans"/>
              </a:endParaRPr>
            </a:p>
          </p:txBody>
        </p:sp>
      </p:grpSp>
      <p:grpSp>
        <p:nvGrpSpPr>
          <p:cNvPr id="1039" name="05 · deck-head: 02 / ENCODE THE SEQUENCE"/>
          <p:cNvGrpSpPr/>
          <p:nvPr/>
        </p:nvGrpSpPr>
        <p:grpSpPr>
          <a:xfrm>
            <a:off x="558800" y="775901"/>
            <a:ext cx="11087100" cy="871263"/>
            <a:chOff x="558800" y="775901"/>
            <a:chExt cx="11087100" cy="871263"/>
          </a:xfrm>
        </p:grpSpPr>
        <p:sp>
          <p:nvSpPr>
            <p:cNvPr id="1003" name="05 · topology-eyebrow: 02 / ENCODE THE SEQUENCE [p05-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ENCODE THE SEQUENCE</a:t>
              </a:r>
              <a:endParaRPr lang="en-US" sz="1050" b="1" i="0" kern="0" spc="68" dirty="0">
                <a:solidFill>
                  <a:srgbClr val="022AC0"/>
                </a:solidFill>
                <a:latin typeface="Salesforce Sans"/>
                <a:ea typeface="Salesforce Sans"/>
                <a:cs typeface="Salesforce Sans"/>
              </a:endParaRPr>
            </a:p>
          </p:txBody>
        </p:sp>
        <p:sp>
          <p:nvSpPr>
            <p:cNvPr id="1004" name="05 · topology-title: Process knowledge becomes topology [p05-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Process knowledge becomes topology</a:t>
              </a:r>
              <a:endParaRPr lang="en-US" sz="3600" b="1" i="0" kern="0" spc="-95" dirty="0">
                <a:solidFill>
                  <a:srgbClr val="022AC0"/>
                </a:solidFill>
                <a:latin typeface="Manrope"/>
                <a:ea typeface="Manrope"/>
                <a:cs typeface="Manrope"/>
              </a:endParaRPr>
            </a:p>
          </p:txBody>
        </p:sp>
      </p:grpSp>
      <p:grpSp>
        <p:nvGrpSpPr>
          <p:cNvPr id="1040" name="05 · quote: Before an exchange, verify identity and match the purchase. Check exchange "/>
          <p:cNvGrpSpPr/>
          <p:nvPr/>
        </p:nvGrpSpPr>
        <p:grpSpPr>
          <a:xfrm>
            <a:off x="558800" y="2200910"/>
            <a:ext cx="5232400" cy="1905000"/>
            <a:chOff x="558800" y="2200910"/>
            <a:chExt cx="5232400" cy="1905000"/>
          </a:xfrm>
        </p:grpSpPr>
        <p:sp>
          <p:nvSpPr>
            <p:cNvPr id="1005" name="05 · quote · surface [p05-e0008]"/>
            <p:cNvSpPr/>
            <p:nvPr/>
          </p:nvSpPr>
          <p:spPr>
            <a:xfrm>
              <a:off x="558800" y="2200910"/>
              <a:ext cx="5232400" cy="1905000"/>
            </a:xfrm>
            <a:prstGeom prst="roundRect">
              <a:avLst>
                <a:gd name="adj" fmla="val 7333"/>
              </a:avLst>
            </a:prstGeom>
            <a:solidFill>
              <a:srgbClr val="FFFFFF"/>
            </a:solidFill>
            <a:ln>
              <a:noFill/>
            </a:ln>
          </p:spPr>
        </p:sp>
        <p:sp>
          <p:nvSpPr>
            <p:cNvPr id="1006" name="05 · quote: Before an exchange, verify identity and match the purchase. Check exchange rul [p05-text-0014]" descr="Native editable Unicode text; authored line breaks retained."/>
            <p:cNvSpPr txBox="1"/>
            <p:nvPr/>
          </p:nvSpPr>
          <p:spPr>
            <a:xfrm>
              <a:off x="863600" y="2482394"/>
              <a:ext cx="4635500" cy="134838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Before an exchange, verify identity and</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match the purchase. Check exchange</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rules and stock. Preserve the cable</a:t>
              </a:r>
              <a:endParaRPr lang="en-US" sz="2100" b="0" i="0" kern="0" spc="-50" dirty="0">
                <a:solidFill>
                  <a:srgbClr val="022AC0"/>
                </a:solidFill>
                <a:latin typeface="Salesforce Sans"/>
                <a:ea typeface="Salesforce Sans"/>
                <a:cs typeface="Salesforce Sans"/>
              </a:endParaRPr>
            </a:p>
            <a:p>
              <a:pPr marL="0" marR="0" indent="0" algn="l" fontAlgn="base">
                <a:lnSpc>
                  <a:spcPts val="2625"/>
                </a:lnSpc>
                <a:spcBef>
                  <a:spcPts val="0"/>
                </a:spcBef>
                <a:spcAft>
                  <a:spcPts val="0"/>
                </a:spcAft>
                <a:buNone/>
              </a:pPr>
              <a:r>
                <a:rPr lang="en-US" sz="2100" b="0" i="0" kern="0" spc="-50" dirty="0">
                  <a:solidFill>
                    <a:srgbClr val="022AC0"/>
                  </a:solidFill>
                  <a:latin typeface="Salesforce Sans"/>
                  <a:ea typeface="Salesforce Sans"/>
                  <a:cs typeface="Salesforce Sans"/>
                </a:rPr>
                <a:t>return.</a:t>
              </a:r>
              <a:endParaRPr lang="en-US" sz="2100" b="0" i="0" kern="0" spc="-50" dirty="0">
                <a:solidFill>
                  <a:srgbClr val="022AC0"/>
                </a:solidFill>
                <a:latin typeface="Salesforce Sans"/>
                <a:ea typeface="Salesforce Sans"/>
                <a:cs typeface="Salesforce Sans"/>
              </a:endParaRPr>
            </a:p>
          </p:txBody>
        </p:sp>
      </p:grpSp>
      <p:sp>
        <p:nvSpPr>
          <p:cNvPr id="1007" name="05 · topology-text-2: Definitions and evidence still belong in node context. [p05-text-0015]" descr="Native editable Unicode text; authored line breaks retained."/>
          <p:cNvSpPr txBox="1"/>
          <p:nvPr/>
        </p:nvSpPr>
        <p:spPr>
          <a:xfrm>
            <a:off x="558800" y="4309746"/>
            <a:ext cx="52451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Definitions and evidence still belong in node context.</a:t>
            </a:r>
            <a:endParaRPr lang="en-US" sz="1250" b="0" i="0" kern="0" spc="0" dirty="0">
              <a:solidFill>
                <a:srgbClr val="032D60"/>
              </a:solidFill>
              <a:latin typeface="Salesforce Sans"/>
              <a:ea typeface="Salesforce Sans"/>
              <a:cs typeface="Salesforce Sans"/>
            </a:endParaRPr>
          </a:p>
        </p:txBody>
      </p:sp>
      <p:sp>
        <p:nvSpPr>
          <p:cNvPr id="1008" name="05 · topology-text-1: A PROCESS BURIED IN INSTRUCTIONS [p05-text-0016]" descr="Native editable Unicode text; authored line breaks retained."/>
          <p:cNvSpPr txBox="1"/>
          <p:nvPr/>
        </p:nvSpPr>
        <p:spPr>
          <a:xfrm>
            <a:off x="558800" y="1943545"/>
            <a:ext cx="52451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50" dirty="0">
                <a:solidFill>
                  <a:srgbClr val="022AC0">
                    <a:alpha val="85000"/>
                  </a:srgbClr>
                </a:solidFill>
                <a:latin typeface="Salesforce Sans"/>
                <a:ea typeface="Salesforce Sans"/>
                <a:cs typeface="Salesforce Sans"/>
              </a:rPr>
              <a:t>A PROCESS BURIED IN INSTRUCTIONS</a:t>
            </a:r>
            <a:endParaRPr lang="en-US" sz="1500" b="0" i="0" kern="0" spc="50" dirty="0">
              <a:solidFill>
                <a:srgbClr val="022AC0">
                  <a:alpha val="85000"/>
                </a:srgbClr>
              </a:solidFill>
              <a:latin typeface="Salesforce Sans"/>
              <a:ea typeface="Salesforce Sans"/>
              <a:cs typeface="Salesforce Sans"/>
            </a:endParaRPr>
          </a:p>
        </p:txBody>
      </p:sp>
      <p:grpSp>
        <p:nvGrpSpPr>
          <p:cNvPr id="1009" name="05 · svg · drawing [p05-e0015]"/>
          <p:cNvGrpSpPr/>
          <p:nvPr/>
        </p:nvGrpSpPr>
        <p:grpSpPr>
          <a:xfrm>
            <a:off x="7855712" y="2658192"/>
            <a:ext cx="2722880" cy="2199917"/>
            <a:chOff x="7855712" y="2658192"/>
            <a:chExt cx="2722880" cy="2199917"/>
          </a:xfrm>
        </p:grpSpPr>
        <p:grpSp>
          <p:nvGrpSpPr>
            <p:cNvPr id="1010" name="path · 1 + arrowhead"/>
            <p:cNvGrpSpPr/>
            <p:nvPr/>
          </p:nvGrpSpPr>
          <p:grpSpPr>
            <a:xfrm>
              <a:off x="7855712" y="2658192"/>
              <a:ext cx="136144" cy="711251"/>
              <a:chOff x="7855712" y="2658192"/>
              <a:chExt cx="136144" cy="711251"/>
            </a:xfrm>
          </p:grpSpPr>
          <p:sp>
            <p:nvSpPr>
              <p:cNvPr id="1011" name="path · 1"/>
              <p:cNvSpPr/>
              <p:nvPr/>
            </p:nvSpPr>
            <p:spPr>
              <a:xfrm>
                <a:off x="7923784" y="2658192"/>
                <a:ext cx="1" cy="694710"/>
              </a:xfrm>
              <a:custGeom>
                <a:avLst/>
                <a:gdLst/>
                <a:ahLst/>
                <a:cxnLst/>
                <a:rect l="0" t="0" r="r" b="b"/>
                <a:pathLst>
                  <a:path w="1" h="694710" fill="none" stroke="1" extrusionOk="0">
                    <a:moveTo>
                      <a:pt x="0" y="0"/>
                    </a:moveTo>
                    <a:lnTo>
                      <a:pt x="0" y="694710"/>
                    </a:lnTo>
                  </a:path>
                </a:pathLst>
              </a:custGeom>
              <a:noFill/>
              <a:ln w="15875" cap="flat" cmpd="sng" algn="ctr">
                <a:solidFill>
                  <a:srgbClr val="789B8E"/>
                </a:solidFill>
                <a:prstDash val="solid"/>
                <a:miter lim="400000"/>
                <a:headEnd type="none" w="med" len="med"/>
                <a:tailEnd type="none" w="med" len="med"/>
              </a:ln>
            </p:spPr>
          </p:sp>
          <p:grpSp>
            <p:nvGrpSpPr>
              <p:cNvPr id="1012" name="v2arr41 end"/>
              <p:cNvGrpSpPr/>
              <p:nvPr/>
            </p:nvGrpSpPr>
            <p:grpSpPr>
              <a:xfrm>
                <a:off x="7855712" y="3237117"/>
                <a:ext cx="136144" cy="132326"/>
                <a:chOff x="7855712" y="3237117"/>
                <a:chExt cx="136144" cy="132326"/>
              </a:xfrm>
            </p:grpSpPr>
            <p:sp>
              <p:nvSpPr>
                <p:cNvPr id="1013" name="path · 2"/>
                <p:cNvSpPr/>
                <p:nvPr/>
              </p:nvSpPr>
              <p:spPr>
                <a:xfrm>
                  <a:off x="7855712" y="3237117"/>
                  <a:ext cx="136144" cy="132326"/>
                </a:xfrm>
                <a:custGeom>
                  <a:avLst/>
                  <a:gdLst/>
                  <a:ahLst/>
                  <a:cxnLst/>
                  <a:rect l="0" t="0" r="r" b="b"/>
                  <a:pathLst>
                    <a:path w="136144" h="132326" fill="norm" stroke="0" extrusionOk="0">
                      <a:moveTo>
                        <a:pt x="136144" y="0"/>
                      </a:moveTo>
                      <a:lnTo>
                        <a:pt x="68072" y="132326"/>
                      </a:lnTo>
                      <a:lnTo>
                        <a:pt x="0" y="0"/>
                      </a:lnTo>
                      <a:close/>
                    </a:path>
                  </a:pathLst>
                </a:custGeom>
                <a:solidFill>
                  <a:srgbClr val="789B8E"/>
                </a:solidFill>
                <a:ln>
                  <a:noFill/>
                </a:ln>
              </p:spPr>
            </p:sp>
          </p:grpSp>
        </p:grpSp>
        <p:grpSp>
          <p:nvGrpSpPr>
            <p:cNvPr id="1014" name="path · 3 + arrowhead"/>
            <p:cNvGrpSpPr/>
            <p:nvPr/>
          </p:nvGrpSpPr>
          <p:grpSpPr>
            <a:xfrm>
              <a:off x="10442448" y="2658192"/>
              <a:ext cx="136144" cy="909740"/>
              <a:chOff x="10442448" y="2658192"/>
              <a:chExt cx="136144" cy="909740"/>
            </a:xfrm>
          </p:grpSpPr>
          <p:sp>
            <p:nvSpPr>
              <p:cNvPr id="1015" name="path · 3"/>
              <p:cNvSpPr/>
              <p:nvPr/>
            </p:nvSpPr>
            <p:spPr>
              <a:xfrm>
                <a:off x="10510520" y="2658192"/>
                <a:ext cx="1" cy="893199"/>
              </a:xfrm>
              <a:custGeom>
                <a:avLst/>
                <a:gdLst/>
                <a:ahLst/>
                <a:cxnLst/>
                <a:rect l="0" t="0" r="r" b="b"/>
                <a:pathLst>
                  <a:path w="1" h="893199" fill="none" stroke="1" extrusionOk="0">
                    <a:moveTo>
                      <a:pt x="0" y="0"/>
                    </a:moveTo>
                    <a:lnTo>
                      <a:pt x="0" y="893199"/>
                    </a:lnTo>
                  </a:path>
                </a:pathLst>
              </a:custGeom>
              <a:noFill/>
              <a:ln w="15875" cap="flat" cmpd="sng" algn="ctr">
                <a:solidFill>
                  <a:srgbClr val="789B8E"/>
                </a:solidFill>
                <a:prstDash val="solid"/>
                <a:miter lim="400000"/>
                <a:headEnd type="none" w="med" len="med"/>
                <a:tailEnd type="none" w="med" len="med"/>
              </a:ln>
            </p:spPr>
          </p:sp>
          <p:grpSp>
            <p:nvGrpSpPr>
              <p:cNvPr id="1016" name="v2arr41 end"/>
              <p:cNvGrpSpPr/>
              <p:nvPr/>
            </p:nvGrpSpPr>
            <p:grpSpPr>
              <a:xfrm>
                <a:off x="10442448" y="3435606"/>
                <a:ext cx="136144" cy="132326"/>
                <a:chOff x="10442448" y="3435606"/>
                <a:chExt cx="136144" cy="132326"/>
              </a:xfrm>
            </p:grpSpPr>
            <p:sp>
              <p:nvSpPr>
                <p:cNvPr id="1017" name="path · 4"/>
                <p:cNvSpPr/>
                <p:nvPr/>
              </p:nvSpPr>
              <p:spPr>
                <a:xfrm>
                  <a:off x="10442448" y="3435606"/>
                  <a:ext cx="136144" cy="132326"/>
                </a:xfrm>
                <a:custGeom>
                  <a:avLst/>
                  <a:gdLst/>
                  <a:ahLst/>
                  <a:cxnLst/>
                  <a:rect l="0" t="0" r="r" b="b"/>
                  <a:pathLst>
                    <a:path w="136144" h="132326" fill="norm" stroke="0" extrusionOk="0">
                      <a:moveTo>
                        <a:pt x="136144" y="0"/>
                      </a:moveTo>
                      <a:lnTo>
                        <a:pt x="68072" y="132326"/>
                      </a:lnTo>
                      <a:lnTo>
                        <a:pt x="0" y="0"/>
                      </a:lnTo>
                      <a:close/>
                    </a:path>
                  </a:pathLst>
                </a:custGeom>
                <a:solidFill>
                  <a:srgbClr val="789B8E"/>
                </a:solidFill>
                <a:ln>
                  <a:noFill/>
                </a:ln>
              </p:spPr>
            </p:sp>
          </p:grpSp>
        </p:grpSp>
        <p:grpSp>
          <p:nvGrpSpPr>
            <p:cNvPr id="1018" name="path · 5 + arrowhead"/>
            <p:cNvGrpSpPr/>
            <p:nvPr/>
          </p:nvGrpSpPr>
          <p:grpSpPr>
            <a:xfrm>
              <a:off x="7855712" y="4179939"/>
              <a:ext cx="136144" cy="678170"/>
              <a:chOff x="7855712" y="4179939"/>
              <a:chExt cx="136144" cy="678170"/>
            </a:xfrm>
          </p:grpSpPr>
          <p:sp>
            <p:nvSpPr>
              <p:cNvPr id="1019" name="path · 5"/>
              <p:cNvSpPr/>
              <p:nvPr/>
            </p:nvSpPr>
            <p:spPr>
              <a:xfrm>
                <a:off x="7923784" y="4179939"/>
                <a:ext cx="1" cy="661629"/>
              </a:xfrm>
              <a:custGeom>
                <a:avLst/>
                <a:gdLst/>
                <a:ahLst/>
                <a:cxnLst/>
                <a:rect l="0" t="0" r="r" b="b"/>
                <a:pathLst>
                  <a:path w="1" h="661629" fill="none" stroke="1" extrusionOk="0">
                    <a:moveTo>
                      <a:pt x="0" y="0"/>
                    </a:moveTo>
                    <a:lnTo>
                      <a:pt x="0" y="661629"/>
                    </a:lnTo>
                  </a:path>
                </a:pathLst>
              </a:custGeom>
              <a:noFill/>
              <a:ln w="15875" cap="flat" cmpd="sng" algn="ctr">
                <a:solidFill>
                  <a:srgbClr val="789B8E"/>
                </a:solidFill>
                <a:prstDash val="solid"/>
                <a:miter lim="400000"/>
                <a:headEnd type="none" w="med" len="med"/>
                <a:tailEnd type="none" w="med" len="med"/>
              </a:ln>
            </p:spPr>
          </p:sp>
          <p:grpSp>
            <p:nvGrpSpPr>
              <p:cNvPr id="1020" name="v2arr41 end"/>
              <p:cNvGrpSpPr/>
              <p:nvPr/>
            </p:nvGrpSpPr>
            <p:grpSpPr>
              <a:xfrm>
                <a:off x="7855712" y="4725783"/>
                <a:ext cx="136144" cy="132326"/>
                <a:chOff x="7855712" y="4725783"/>
                <a:chExt cx="136144" cy="132326"/>
              </a:xfrm>
            </p:grpSpPr>
            <p:sp>
              <p:nvSpPr>
                <p:cNvPr id="1021" name="path · 6"/>
                <p:cNvSpPr/>
                <p:nvPr/>
              </p:nvSpPr>
              <p:spPr>
                <a:xfrm>
                  <a:off x="7855712" y="4725783"/>
                  <a:ext cx="136144" cy="132326"/>
                </a:xfrm>
                <a:custGeom>
                  <a:avLst/>
                  <a:gdLst/>
                  <a:ahLst/>
                  <a:cxnLst/>
                  <a:rect l="0" t="0" r="r" b="b"/>
                  <a:pathLst>
                    <a:path w="136144" h="132326" fill="norm" stroke="0" extrusionOk="0">
                      <a:moveTo>
                        <a:pt x="136144" y="0"/>
                      </a:moveTo>
                      <a:lnTo>
                        <a:pt x="68072" y="132325"/>
                      </a:lnTo>
                      <a:lnTo>
                        <a:pt x="0" y="0"/>
                      </a:lnTo>
                      <a:close/>
                    </a:path>
                  </a:pathLst>
                </a:custGeom>
                <a:solidFill>
                  <a:srgbClr val="789B8E"/>
                </a:solidFill>
                <a:ln>
                  <a:noFill/>
                </a:ln>
              </p:spPr>
            </p:sp>
          </p:grpSp>
        </p:grpSp>
      </p:grpSp>
      <p:grpSp>
        <p:nvGrpSpPr>
          <p:cNvPr id="1041" name="05 · node blue: Verify identity"/>
          <p:cNvGrpSpPr/>
          <p:nvPr/>
        </p:nvGrpSpPr>
        <p:grpSpPr>
          <a:xfrm>
            <a:off x="6766577" y="1930400"/>
            <a:ext cx="4424697" cy="727795"/>
            <a:chOff x="6766577" y="1930400"/>
            <a:chExt cx="4424697" cy="727795"/>
          </a:xfrm>
        </p:grpSpPr>
        <p:sp>
          <p:nvSpPr>
            <p:cNvPr id="1022" name="05 · node blue · surface [p05-e0016]"/>
            <p:cNvSpPr/>
            <p:nvPr/>
          </p:nvSpPr>
          <p:spPr>
            <a:xfrm>
              <a:off x="6766577" y="1930400"/>
              <a:ext cx="4424697" cy="727795"/>
            </a:xfrm>
            <a:prstGeom prst="roundRect">
              <a:avLst>
                <a:gd name="adj" fmla="val 19195"/>
              </a:avLst>
            </a:prstGeom>
            <a:solidFill>
              <a:srgbClr val="DCEEFE"/>
            </a:solidFill>
            <a:ln>
              <a:noFill/>
            </a:ln>
          </p:spPr>
        </p:sp>
        <p:sp>
          <p:nvSpPr>
            <p:cNvPr id="1023" name="05 · strong: Verify identity [p05-text-0017]" descr="Native editable Unicode text; authored line breaks retained."/>
            <p:cNvSpPr txBox="1"/>
            <p:nvPr/>
          </p:nvSpPr>
          <p:spPr>
            <a:xfrm>
              <a:off x="6944377" y="2176258"/>
              <a:ext cx="4081797"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Verify identity</a:t>
              </a:r>
              <a:endParaRPr lang="en-US" sz="1450" b="1" i="0" kern="0" spc="0" dirty="0">
                <a:solidFill>
                  <a:srgbClr val="032D60"/>
                </a:solidFill>
                <a:latin typeface="Salesforce Sans"/>
                <a:ea typeface="Salesforce Sans"/>
                <a:cs typeface="Salesforce Sans"/>
              </a:endParaRPr>
            </a:p>
          </p:txBody>
        </p:sp>
      </p:grpSp>
      <p:grpSp>
        <p:nvGrpSpPr>
          <p:cNvPr id="1042" name="05 · node mint: Match the owned purchase"/>
          <p:cNvGrpSpPr/>
          <p:nvPr/>
        </p:nvGrpSpPr>
        <p:grpSpPr>
          <a:xfrm>
            <a:off x="6426200" y="3385989"/>
            <a:ext cx="2995185" cy="793961"/>
            <a:chOff x="6426200" y="3385989"/>
            <a:chExt cx="2995185" cy="793961"/>
          </a:xfrm>
        </p:grpSpPr>
        <p:sp>
          <p:nvSpPr>
            <p:cNvPr id="1024" name="05 · node mint · surface [p05-e0018]"/>
            <p:cNvSpPr/>
            <p:nvPr/>
          </p:nvSpPr>
          <p:spPr>
            <a:xfrm>
              <a:off x="6426200" y="3385989"/>
              <a:ext cx="2995185" cy="793961"/>
            </a:xfrm>
            <a:prstGeom prst="roundRect">
              <a:avLst>
                <a:gd name="adj" fmla="val 17595"/>
              </a:avLst>
            </a:prstGeom>
            <a:solidFill>
              <a:srgbClr val="DDF3ED"/>
            </a:solidFill>
            <a:ln>
              <a:noFill/>
            </a:ln>
          </p:spPr>
        </p:sp>
        <p:sp>
          <p:nvSpPr>
            <p:cNvPr id="1025" name="05 · strong: Match the owned purchase [p05-text-0018]" descr="Native editable Unicode text; authored line breaks retained."/>
            <p:cNvSpPr txBox="1"/>
            <p:nvPr/>
          </p:nvSpPr>
          <p:spPr>
            <a:xfrm>
              <a:off x="6604000" y="3664931"/>
              <a:ext cx="265228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Match the owned purchase</a:t>
              </a:r>
              <a:endParaRPr lang="en-US" sz="1450" b="1" i="0" kern="0" spc="0" dirty="0">
                <a:solidFill>
                  <a:srgbClr val="032D60"/>
                </a:solidFill>
                <a:latin typeface="Salesforce Sans"/>
                <a:ea typeface="Salesforce Sans"/>
                <a:cs typeface="Salesforce Sans"/>
              </a:endParaRPr>
            </a:p>
          </p:txBody>
        </p:sp>
      </p:grpSp>
      <p:grpSp>
        <p:nvGrpSpPr>
          <p:cNvPr id="1043" name="05 · node lilac: Route the customer’s tasks"/>
          <p:cNvGrpSpPr/>
          <p:nvPr/>
        </p:nvGrpSpPr>
        <p:grpSpPr>
          <a:xfrm>
            <a:off x="6426200" y="4874641"/>
            <a:ext cx="2995185" cy="793961"/>
            <a:chOff x="6426200" y="4874641"/>
            <a:chExt cx="2995185" cy="793961"/>
          </a:xfrm>
        </p:grpSpPr>
        <p:sp>
          <p:nvSpPr>
            <p:cNvPr id="1026" name="05 · node lilac · surface [p05-e0020]"/>
            <p:cNvSpPr/>
            <p:nvPr/>
          </p:nvSpPr>
          <p:spPr>
            <a:xfrm>
              <a:off x="6426200" y="4874641"/>
              <a:ext cx="2995185" cy="793961"/>
            </a:xfrm>
            <a:prstGeom prst="roundRect">
              <a:avLst>
                <a:gd name="adj" fmla="val 17595"/>
              </a:avLst>
            </a:prstGeom>
            <a:solidFill>
              <a:srgbClr val="EAE6FA"/>
            </a:solidFill>
            <a:ln>
              <a:noFill/>
            </a:ln>
          </p:spPr>
        </p:sp>
        <p:sp>
          <p:nvSpPr>
            <p:cNvPr id="1027" name="05 · strong: Route the customer’s tasks [p05-text-0019]" descr="Native editable Unicode text; authored line breaks retained."/>
            <p:cNvSpPr txBox="1"/>
            <p:nvPr/>
          </p:nvSpPr>
          <p:spPr>
            <a:xfrm>
              <a:off x="6604000" y="5153583"/>
              <a:ext cx="265228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Route the customer’s tasks</a:t>
              </a:r>
              <a:endParaRPr lang="en-US" sz="1450" b="1" i="0" kern="0" spc="0" dirty="0">
                <a:solidFill>
                  <a:srgbClr val="032D60"/>
                </a:solidFill>
                <a:latin typeface="Salesforce Sans"/>
                <a:ea typeface="Salesforce Sans"/>
                <a:cs typeface="Salesforce Sans"/>
              </a:endParaRPr>
            </a:p>
          </p:txBody>
        </p:sp>
      </p:grpSp>
      <p:grpSp>
        <p:nvGrpSpPr>
          <p:cNvPr id="1044" name="05 · node peach: Stop or recover"/>
          <p:cNvGrpSpPr/>
          <p:nvPr/>
        </p:nvGrpSpPr>
        <p:grpSpPr>
          <a:xfrm>
            <a:off x="9761711" y="3584490"/>
            <a:ext cx="1735836" cy="1455589"/>
            <a:chOff x="9761711" y="3584490"/>
            <a:chExt cx="1735836" cy="1455589"/>
          </a:xfrm>
        </p:grpSpPr>
        <p:sp>
          <p:nvSpPr>
            <p:cNvPr id="1028" name="05 · node peach · surface [p05-e0022]"/>
            <p:cNvSpPr/>
            <p:nvPr/>
          </p:nvSpPr>
          <p:spPr>
            <a:xfrm>
              <a:off x="9761711" y="3584490"/>
              <a:ext cx="1735836" cy="1455589"/>
            </a:xfrm>
            <a:prstGeom prst="roundRect">
              <a:avLst>
                <a:gd name="adj" fmla="val 9597"/>
              </a:avLst>
            </a:prstGeom>
            <a:solidFill>
              <a:srgbClr val="FBE5DF"/>
            </a:solidFill>
            <a:ln>
              <a:noFill/>
            </a:ln>
          </p:spPr>
        </p:sp>
        <p:sp>
          <p:nvSpPr>
            <p:cNvPr id="1029" name="05 · strong: Stop or recover [p05-text-0020]" descr="Native editable Unicode text; authored line breaks retained."/>
            <p:cNvSpPr txBox="1"/>
            <p:nvPr/>
          </p:nvSpPr>
          <p:spPr>
            <a:xfrm>
              <a:off x="9939511" y="3967550"/>
              <a:ext cx="1392936"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Stop or recover</a:t>
              </a:r>
              <a:endParaRPr lang="en-US" sz="1450" b="1" i="0" kern="0" spc="0" dirty="0">
                <a:solidFill>
                  <a:srgbClr val="032D60"/>
                </a:solidFill>
                <a:latin typeface="Salesforce Sans"/>
                <a:ea typeface="Salesforce Sans"/>
                <a:cs typeface="Salesforce Sans"/>
              </a:endParaRPr>
            </a:p>
          </p:txBody>
        </p:sp>
        <p:sp>
          <p:nvSpPr>
            <p:cNvPr id="1030" name="05 · small: Follow the identity service result [p05-text-0021]" descr="Native editable Unicode text; authored line breaks retained."/>
            <p:cNvSpPr txBox="1"/>
            <p:nvPr/>
          </p:nvSpPr>
          <p:spPr>
            <a:xfrm>
              <a:off x="9939511" y="4278870"/>
              <a:ext cx="1392936"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Follow the identity</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service result</a:t>
              </a:r>
              <a:endParaRPr lang="en-US" sz="1100" b="0" i="0" kern="0" spc="0" dirty="0">
                <a:solidFill>
                  <a:srgbClr val="032D60"/>
                </a:solidFill>
                <a:latin typeface="Salesforce Sans"/>
                <a:ea typeface="Salesforce Sans"/>
                <a:cs typeface="Salesforce Sans"/>
              </a:endParaRPr>
            </a:p>
          </p:txBody>
        </p:sp>
      </p:grpSp>
      <p:sp>
        <p:nvSpPr>
          <p:cNvPr id="1031" name="05 · node label: verified [p05-text-0022]" descr="Native editable Unicode text; authored line breaks retained."/>
          <p:cNvSpPr txBox="1"/>
          <p:nvPr/>
        </p:nvSpPr>
        <p:spPr>
          <a:xfrm>
            <a:off x="6834632" y="2890552"/>
            <a:ext cx="2259076"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verified</a:t>
            </a:r>
            <a:endParaRPr lang="en-US" sz="1250" b="0" i="0" kern="0" spc="0" dirty="0">
              <a:solidFill>
                <a:srgbClr val="032D60"/>
              </a:solidFill>
              <a:latin typeface="Salesforce Sans"/>
              <a:ea typeface="Salesforce Sans"/>
              <a:cs typeface="Salesforce Sans"/>
            </a:endParaRPr>
          </a:p>
        </p:txBody>
      </p:sp>
      <p:grpSp>
        <p:nvGrpSpPr>
          <p:cNvPr id="1045" name="05 · node label: denied or"/>
          <p:cNvGrpSpPr/>
          <p:nvPr/>
        </p:nvGrpSpPr>
        <p:grpSpPr>
          <a:xfrm>
            <a:off x="9523493" y="2776274"/>
            <a:ext cx="1986805" cy="597216"/>
            <a:chOff x="9523493" y="2776274"/>
            <a:chExt cx="1986805" cy="597216"/>
          </a:xfrm>
        </p:grpSpPr>
        <p:sp>
          <p:nvSpPr>
            <p:cNvPr id="1032" name="05 · node label: denied or [p05-text-0023]" descr="Native editable Unicode text; authored line breaks retained."/>
            <p:cNvSpPr txBox="1"/>
            <p:nvPr/>
          </p:nvSpPr>
          <p:spPr>
            <a:xfrm>
              <a:off x="9523493" y="2776274"/>
              <a:ext cx="1986805"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denied or</a:t>
              </a:r>
              <a:endParaRPr lang="en-US" sz="1250" b="0" i="0" kern="0" spc="0" dirty="0">
                <a:solidFill>
                  <a:srgbClr val="032D60"/>
                </a:solidFill>
                <a:latin typeface="Salesforce Sans"/>
                <a:ea typeface="Salesforce Sans"/>
                <a:cs typeface="Salesforce Sans"/>
              </a:endParaRPr>
            </a:p>
          </p:txBody>
        </p:sp>
        <p:sp>
          <p:nvSpPr>
            <p:cNvPr id="1033" name="05 · node label: unavailable [p05-text-0024]" descr="Native editable Unicode text; authored line breaks retained."/>
            <p:cNvSpPr txBox="1"/>
            <p:nvPr/>
          </p:nvSpPr>
          <p:spPr>
            <a:xfrm>
              <a:off x="9523493" y="3163624"/>
              <a:ext cx="1986805"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unavailable</a:t>
              </a:r>
              <a:endParaRPr lang="en-US" sz="1250" b="0" i="0" kern="0" spc="0" dirty="0">
                <a:solidFill>
                  <a:srgbClr val="032D60"/>
                </a:solidFill>
                <a:latin typeface="Salesforce Sans"/>
                <a:ea typeface="Salesforce Sans"/>
                <a:cs typeface="Salesforce Sans"/>
              </a:endParaRPr>
            </a:p>
          </p:txBody>
        </p:sp>
      </p:grpSp>
      <p:sp>
        <p:nvSpPr>
          <p:cNvPr id="1034" name="05 · node label: facts available [p05-text-0025]" descr="Native editable Unicode text; authored line breaks retained."/>
          <p:cNvSpPr txBox="1"/>
          <p:nvPr/>
        </p:nvSpPr>
        <p:spPr>
          <a:xfrm>
            <a:off x="6834632" y="4408986"/>
            <a:ext cx="246329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facts available</a:t>
            </a:r>
            <a:endParaRPr lang="en-US" sz="1250" b="0" i="0" kern="0" spc="0" dirty="0">
              <a:solidFill>
                <a:srgbClr val="032D60"/>
              </a:solidFill>
              <a:latin typeface="Salesforce Sans"/>
              <a:ea typeface="Salesforce Sans"/>
              <a:cs typeface="Salesforce Sans"/>
            </a:endParaRPr>
          </a:p>
        </p:txBody>
      </p:sp>
      <p:grpSp>
        <p:nvGrpSpPr>
          <p:cNvPr id="1046" name="05 · source-line: Jev + LangGraph · Agent Graph / guided determinism"/>
          <p:cNvGrpSpPr/>
          <p:nvPr/>
        </p:nvGrpSpPr>
        <p:grpSpPr>
          <a:xfrm>
            <a:off x="558800" y="6037898"/>
            <a:ext cx="11087100" cy="284456"/>
            <a:chOff x="558800" y="6037898"/>
            <a:chExt cx="11087100" cy="284456"/>
          </a:xfrm>
        </p:grpSpPr>
        <p:sp>
          <p:nvSpPr>
            <p:cNvPr id="1035" name="05 · source-line · top border [p05-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6" name="05 · span: Jev + LangGraph · Agent Graph / guided determinism [p05-text-0026]" descr="Native editable Unicode text; authored line breaks retained."/>
            <p:cNvSpPr txBox="1"/>
            <p:nvPr/>
          </p:nvSpPr>
          <p:spPr>
            <a:xfrm>
              <a:off x="558800" y="6153126"/>
              <a:ext cx="30036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37" name="05 · span: Architectural pattern [p05-text-0027]" descr="Native editable Unicode text; authored line breaks retained."/>
            <p:cNvSpPr txBox="1"/>
            <p:nvPr/>
          </p:nvSpPr>
          <p:spPr>
            <a:xfrm>
              <a:off x="10475317" y="6153126"/>
              <a:ext cx="117058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Architectural pattern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tart with identity and an owned purchase">
    <p:bg>
      <p:bgPr>
        <a:solidFill>
          <a:srgbClr val="FFFFFF"/>
        </a:solidFill>
      </p:bgPr>
    </p:bg>
    <p:spTree>
      <p:nvGrpSpPr>
        <p:cNvPr id="1" name=""/>
        <p:cNvGrpSpPr/>
        <p:nvPr/>
      </p:nvGrpSpPr>
      <p:grpSpPr>
        <a:xfrm>
          <a:off x="0" y="0"/>
          <a:ext cx="0" cy="0"/>
          <a:chOff x="0" y="0"/>
          <a:chExt cx="0" cy="0"/>
        </a:xfrm>
      </p:grpSpPr>
      <p:sp>
        <p:nvSpPr>
          <p:cNvPr id="1000" name="06 · slide light · surface [p0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252" name="06 · chrome-min: DISAGGREGATED INTELLIGENCE"/>
          <p:cNvGrpSpPr/>
          <p:nvPr/>
        </p:nvGrpSpPr>
        <p:grpSpPr>
          <a:xfrm>
            <a:off x="558800" y="356053"/>
            <a:ext cx="11087100" cy="187325"/>
            <a:chOff x="558800" y="356053"/>
            <a:chExt cx="11087100" cy="187325"/>
          </a:xfrm>
        </p:grpSpPr>
        <p:sp>
          <p:nvSpPr>
            <p:cNvPr id="1001" name="06 · l: DISAGGREGATED INTELLIGENCE [p06-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6 · r: 06 / 36 [p06-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06 / 36</a:t>
              </a:r>
              <a:endParaRPr lang="en-US" sz="950" b="1" i="0" kern="0" spc="65" dirty="0">
                <a:solidFill>
                  <a:srgbClr val="022AC0"/>
                </a:solidFill>
                <a:latin typeface="Salesforce Sans"/>
                <a:ea typeface="Salesforce Sans"/>
                <a:cs typeface="Salesforce Sans"/>
              </a:endParaRPr>
            </a:p>
          </p:txBody>
        </p:sp>
      </p:grpSp>
      <p:grpSp>
        <p:nvGrpSpPr>
          <p:cNvPr id="1253" name="06 · deck-head: STEP 01 / ONE RETURN, TWO ALLOCATIONS · A"/>
          <p:cNvGrpSpPr/>
          <p:nvPr/>
        </p:nvGrpSpPr>
        <p:grpSpPr>
          <a:xfrm>
            <a:off x="558800" y="775901"/>
            <a:ext cx="11087100" cy="871263"/>
            <a:chOff x="558800" y="775901"/>
            <a:chExt cx="11087100" cy="871263"/>
          </a:xfrm>
        </p:grpSpPr>
        <p:sp>
          <p:nvSpPr>
            <p:cNvPr id="1003" name="06 · returns-access-eyebrow: STEP 01 / ONE RETURN, TWO ALLOCATIONS · A [p06-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ONE RETURN, TWO ALLOCATIONS · A</a:t>
              </a:r>
              <a:endParaRPr lang="en-US" sz="1050" b="1" i="0" kern="0" spc="68" dirty="0">
                <a:solidFill>
                  <a:srgbClr val="022AC0"/>
                </a:solidFill>
                <a:latin typeface="Salesforce Sans"/>
                <a:ea typeface="Salesforce Sans"/>
                <a:cs typeface="Salesforce Sans"/>
              </a:endParaRPr>
            </a:p>
          </p:txBody>
        </p:sp>
        <p:sp>
          <p:nvSpPr>
            <p:cNvPr id="1004" name="06 · returns-access-title: Start with identity and an owned purchase [p06-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Start with identity and an owned purchase</a:t>
              </a:r>
              <a:endParaRPr lang="en-US" sz="3600" b="1" i="0" kern="0" spc="-95" dirty="0">
                <a:solidFill>
                  <a:srgbClr val="022AC0"/>
                </a:solidFill>
                <a:latin typeface="Manrope"/>
                <a:ea typeface="Manrope"/>
                <a:cs typeface="Manrope"/>
              </a:endParaRPr>
            </a:p>
          </p:txBody>
        </p:sp>
      </p:grpSp>
      <p:grpSp>
        <p:nvGrpSpPr>
          <p:cNvPr id="1005" name="06 · img · drawing [p06-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same-safeguards-first-line · 3"/>
            <p:cNvGrpSpPr/>
            <p:nvPr/>
          </p:nvGrpSpPr>
          <p:grpSpPr>
            <a:xfrm>
              <a:off x="929894" y="1881820"/>
              <a:ext cx="426213" cy="216855"/>
              <a:chOff x="929894" y="1881820"/>
              <a:chExt cx="426213" cy="216855"/>
            </a:xfrm>
          </p:grpSpPr>
          <p:sp>
            <p:nvSpPr>
              <p:cNvPr id="1008" name="text · 2"/>
              <p:cNvSpPr txBox="1"/>
              <p:nvPr/>
            </p:nvSpPr>
            <p:spPr>
              <a:xfrm>
                <a:off x="928306" y="1881820"/>
                <a:ext cx="429388" cy="24225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8"/>
                  </a:lnSpc>
                  <a:spcBef>
                    <a:spcPts val="0"/>
                  </a:spcBef>
                  <a:spcAft>
                    <a:spcPts val="0"/>
                  </a:spcAft>
                </a:pPr>
                <a:r>
                  <a:rPr lang="en-US" sz="1250" b="1" i="0" kern="0" spc="0" dirty="0">
                    <a:solidFill>
                      <a:srgbClr val="355F72"/>
                    </a:solidFill>
                    <a:latin typeface="Manrope"/>
                    <a:ea typeface="Manrope"/>
                    <a:cs typeface="Manrope"/>
                  </a:rPr>
                  <a:t>Same</a:t>
                </a:r>
                <a:endParaRPr lang="en-US" sz="1250"/>
              </a:p>
            </p:txBody>
          </p:sp>
        </p:grpSp>
        <p:grpSp>
          <p:nvGrpSpPr>
            <p:cNvPr id="1009" name="same-safeguards-second-line · 5"/>
            <p:cNvGrpSpPr/>
            <p:nvPr/>
          </p:nvGrpSpPr>
          <p:grpSpPr>
            <a:xfrm>
              <a:off x="717073" y="2116770"/>
              <a:ext cx="851855" cy="216855"/>
              <a:chOff x="717073" y="2116770"/>
              <a:chExt cx="851855" cy="216855"/>
            </a:xfrm>
          </p:grpSpPr>
          <p:sp>
            <p:nvSpPr>
              <p:cNvPr id="1010" name="text · 4"/>
              <p:cNvSpPr txBox="1"/>
              <p:nvPr/>
            </p:nvSpPr>
            <p:spPr>
              <a:xfrm>
                <a:off x="715485" y="2116770"/>
                <a:ext cx="855030" cy="24225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8"/>
                  </a:lnSpc>
                  <a:spcBef>
                    <a:spcPts val="0"/>
                  </a:spcBef>
                  <a:spcAft>
                    <a:spcPts val="0"/>
                  </a:spcAft>
                </a:pPr>
                <a:r>
                  <a:rPr lang="en-US" sz="1250" b="1" i="0" kern="0" spc="0" dirty="0">
                    <a:solidFill>
                      <a:srgbClr val="355F72"/>
                    </a:solidFill>
                    <a:latin typeface="Manrope"/>
                    <a:ea typeface="Manrope"/>
                    <a:cs typeface="Manrope"/>
                  </a:rPr>
                  <a:t>safeguards</a:t>
                </a:r>
                <a:endParaRPr lang="en-US" sz="1250"/>
              </a:p>
            </p:txBody>
          </p:sp>
        </p:grpSp>
        <p:grpSp>
          <p:nvGrpSpPr>
            <p:cNvPr id="1011" name="identity-heading · 7"/>
            <p:cNvGrpSpPr/>
            <p:nvPr/>
          </p:nvGrpSpPr>
          <p:grpSpPr>
            <a:xfrm>
              <a:off x="1956888" y="1903871"/>
              <a:ext cx="1483723" cy="286246"/>
              <a:chOff x="1956888" y="1903871"/>
              <a:chExt cx="1483723" cy="286246"/>
            </a:xfrm>
          </p:grpSpPr>
          <p:sp>
            <p:nvSpPr>
              <p:cNvPr id="1012" name="text · 6"/>
              <p:cNvSpPr txBox="1"/>
              <p:nvPr/>
            </p:nvSpPr>
            <p:spPr>
              <a:xfrm>
                <a:off x="1955300" y="1903871"/>
                <a:ext cx="1486898" cy="31977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254"/>
                  </a:lnSpc>
                  <a:spcBef>
                    <a:spcPts val="0"/>
                  </a:spcBef>
                  <a:spcAft>
                    <a:spcPts val="0"/>
                  </a:spcAft>
                </a:pPr>
                <a:r>
                  <a:rPr lang="en-US" sz="1650" b="1" i="0" kern="0" spc="0" dirty="0">
                    <a:solidFill>
                      <a:srgbClr val="355F72"/>
                    </a:solidFill>
                    <a:latin typeface="Manrope"/>
                    <a:ea typeface="Manrope"/>
                    <a:cs typeface="Manrope"/>
                  </a:rPr>
                  <a:t>Check identity</a:t>
                </a:r>
                <a:endParaRPr lang="en-US" sz="1650"/>
              </a:p>
            </p:txBody>
          </p:sp>
        </p:grpSp>
        <p:grpSp>
          <p:nvGrpSpPr>
            <p:cNvPr id="1013" name="purchase-heading · 9"/>
            <p:cNvGrpSpPr/>
            <p:nvPr/>
          </p:nvGrpSpPr>
          <p:grpSpPr>
            <a:xfrm>
              <a:off x="4511613" y="1903871"/>
              <a:ext cx="1632074" cy="286246"/>
              <a:chOff x="4511613" y="1903871"/>
              <a:chExt cx="1632074" cy="286246"/>
            </a:xfrm>
          </p:grpSpPr>
          <p:sp>
            <p:nvSpPr>
              <p:cNvPr id="1014" name="text · 8"/>
              <p:cNvSpPr txBox="1"/>
              <p:nvPr/>
            </p:nvSpPr>
            <p:spPr>
              <a:xfrm>
                <a:off x="4510025" y="1903871"/>
                <a:ext cx="1635249" cy="31977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254"/>
                  </a:lnSpc>
                  <a:spcBef>
                    <a:spcPts val="0"/>
                  </a:spcBef>
                  <a:spcAft>
                    <a:spcPts val="0"/>
                  </a:spcAft>
                </a:pPr>
                <a:r>
                  <a:rPr lang="en-US" sz="1650" b="1" i="0" kern="0" spc="0" dirty="0">
                    <a:solidFill>
                      <a:srgbClr val="355F72"/>
                    </a:solidFill>
                    <a:latin typeface="Manrope"/>
                    <a:ea typeface="Manrope"/>
                    <a:cs typeface="Manrope"/>
                  </a:rPr>
                  <a:t>Match purchase</a:t>
                </a:r>
                <a:endParaRPr lang="en-US" sz="1650"/>
              </a:p>
            </p:txBody>
          </p:sp>
        </p:grpSp>
        <p:grpSp>
          <p:nvGrpSpPr>
            <p:cNvPr id="1015" name="customer-to-identity · 12"/>
            <p:cNvGrpSpPr/>
            <p:nvPr/>
          </p:nvGrpSpPr>
          <p:grpSpPr>
            <a:xfrm>
              <a:off x="1682750" y="2832100"/>
              <a:ext cx="374650" cy="50800"/>
              <a:chOff x="1682750" y="2832100"/>
              <a:chExt cx="374650" cy="50800"/>
            </a:xfrm>
          </p:grpSpPr>
          <p:grpSp>
            <p:nvGrpSpPr>
              <p:cNvPr id="1016" name="path · 10 + arrowhead"/>
              <p:cNvGrpSpPr/>
              <p:nvPr/>
            </p:nvGrpSpPr>
            <p:grpSpPr>
              <a:xfrm>
                <a:off x="1682750" y="2832100"/>
                <a:ext cx="374650" cy="50800"/>
                <a:chOff x="1682750" y="2832100"/>
                <a:chExt cx="374650" cy="50800"/>
              </a:xfrm>
            </p:grpSpPr>
            <p:sp>
              <p:nvSpPr>
                <p:cNvPr id="1017" name="path · 10"/>
                <p:cNvSpPr/>
                <p:nvPr/>
              </p:nvSpPr>
              <p:spPr>
                <a:xfrm>
                  <a:off x="1682750" y="2857500"/>
                  <a:ext cx="374650" cy="1"/>
                </a:xfrm>
                <a:custGeom>
                  <a:avLst/>
                  <a:gdLst/>
                  <a:ahLst/>
                  <a:cxnLst/>
                  <a:rect l="0" t="0" r="r" b="b"/>
                  <a:pathLst>
                    <a:path w="374650" h="1" fill="none" stroke="1" extrusionOk="0">
                      <a:moveTo>
                        <a:pt x="0" y="0"/>
                      </a:moveTo>
                      <a:lnTo>
                        <a:pt x="374650" y="0"/>
                      </a:lnTo>
                    </a:path>
                  </a:pathLst>
                </a:custGeom>
                <a:noFill/>
                <a:ln w="24130" cap="rnd" cmpd="sng" algn="ctr">
                  <a:solidFill>
                    <a:srgbClr val="355F72"/>
                  </a:solidFill>
                  <a:prstDash val="solid"/>
                  <a:round/>
                  <a:headEnd type="none" w="med" len="med"/>
                  <a:tailEnd type="none" w="med" len="med"/>
                </a:ln>
              </p:spPr>
            </p:sp>
            <p:grpSp>
              <p:nvGrpSpPr>
                <p:cNvPr id="1018" name="arrow-blue_ink end"/>
                <p:cNvGrpSpPr/>
                <p:nvPr/>
              </p:nvGrpSpPr>
              <p:grpSpPr>
                <a:xfrm>
                  <a:off x="2009775" y="2832100"/>
                  <a:ext cx="47625" cy="50800"/>
                  <a:chOff x="2009775" y="2832100"/>
                  <a:chExt cx="47625" cy="50800"/>
                </a:xfrm>
              </p:grpSpPr>
              <p:sp>
                <p:nvSpPr>
                  <p:cNvPr id="1019" name="path · 11"/>
                  <p:cNvSpPr/>
                  <p:nvPr/>
                </p:nvSpPr>
                <p:spPr>
                  <a:xfrm>
                    <a:off x="200977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20" name="identity-verified · 16"/>
            <p:cNvGrpSpPr/>
            <p:nvPr/>
          </p:nvGrpSpPr>
          <p:grpSpPr>
            <a:xfrm>
              <a:off x="3378200" y="2832100"/>
              <a:ext cx="1257300" cy="50800"/>
              <a:chOff x="3378200" y="2832100"/>
              <a:chExt cx="1257300" cy="50800"/>
            </a:xfrm>
          </p:grpSpPr>
          <p:sp>
            <p:nvSpPr>
              <p:cNvPr id="1021" name="path · 13"/>
              <p:cNvSpPr/>
              <p:nvPr/>
            </p:nvSpPr>
            <p:spPr>
              <a:xfrm>
                <a:off x="3378200" y="2857500"/>
                <a:ext cx="1257300" cy="1"/>
              </a:xfrm>
              <a:custGeom>
                <a:avLst/>
                <a:gdLst/>
                <a:ahLst/>
                <a:cxnLst/>
                <a:rect l="0" t="0" r="r" b="b"/>
                <a:pathLst>
                  <a:path w="1257300" h="1" fill="none" stroke="1" extrusionOk="0">
                    <a:moveTo>
                      <a:pt x="0" y="0"/>
                    </a:moveTo>
                    <a:lnTo>
                      <a:pt x="1257300" y="0"/>
                    </a:lnTo>
                  </a:path>
                </a:pathLst>
              </a:custGeom>
              <a:noFill/>
              <a:ln w="107950" cap="rnd" cmpd="sng" algn="ctr">
                <a:solidFill>
                  <a:srgbClr val="D7EBE1">
                    <a:alpha val="60000"/>
                  </a:srgbClr>
                </a:solidFill>
                <a:prstDash val="solid"/>
                <a:round/>
                <a:headEnd type="none" w="med" len="med"/>
                <a:tailEnd type="none" w="med" len="med"/>
              </a:ln>
            </p:spPr>
          </p:sp>
          <p:grpSp>
            <p:nvGrpSpPr>
              <p:cNvPr id="1022" name="path · 14 + arrowhead"/>
              <p:cNvGrpSpPr/>
              <p:nvPr/>
            </p:nvGrpSpPr>
            <p:grpSpPr>
              <a:xfrm>
                <a:off x="3378200" y="2832100"/>
                <a:ext cx="1257300" cy="50800"/>
                <a:chOff x="3378200" y="2832100"/>
                <a:chExt cx="1257300" cy="50800"/>
              </a:xfrm>
            </p:grpSpPr>
            <p:sp>
              <p:nvSpPr>
                <p:cNvPr id="1023" name="path · 14"/>
                <p:cNvSpPr/>
                <p:nvPr/>
              </p:nvSpPr>
              <p:spPr>
                <a:xfrm>
                  <a:off x="3378200" y="2857500"/>
                  <a:ext cx="1257300" cy="1"/>
                </a:xfrm>
                <a:custGeom>
                  <a:avLst/>
                  <a:gdLst/>
                  <a:ahLst/>
                  <a:cxnLst/>
                  <a:rect l="0" t="0" r="r" b="b"/>
                  <a:pathLst>
                    <a:path w="1257300" h="1" fill="none" stroke="1" extrusionOk="0">
                      <a:moveTo>
                        <a:pt x="0" y="0"/>
                      </a:moveTo>
                      <a:lnTo>
                        <a:pt x="1257300" y="0"/>
                      </a:lnTo>
                    </a:path>
                  </a:pathLst>
                </a:custGeom>
                <a:noFill/>
                <a:ln w="26670" cap="rnd" cmpd="sng" algn="ctr">
                  <a:solidFill>
                    <a:srgbClr val="2E6653"/>
                  </a:solidFill>
                  <a:prstDash val="solid"/>
                  <a:round/>
                  <a:headEnd type="none" w="med" len="med"/>
                  <a:tailEnd type="none" w="med" len="med"/>
                </a:ln>
              </p:spPr>
            </p:sp>
            <p:grpSp>
              <p:nvGrpSpPr>
                <p:cNvPr id="1024" name="arrow-green end"/>
                <p:cNvGrpSpPr/>
                <p:nvPr/>
              </p:nvGrpSpPr>
              <p:grpSpPr>
                <a:xfrm>
                  <a:off x="4587875" y="2832100"/>
                  <a:ext cx="47625" cy="50800"/>
                  <a:chOff x="4587875" y="2832100"/>
                  <a:chExt cx="47625" cy="50800"/>
                </a:xfrm>
              </p:grpSpPr>
              <p:sp>
                <p:nvSpPr>
                  <p:cNvPr id="1025" name="path · 15"/>
                  <p:cNvSpPr/>
                  <p:nvPr/>
                </p:nvSpPr>
                <p:spPr>
                  <a:xfrm>
                    <a:off x="458787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26" name="purchase-matched · 20"/>
            <p:cNvGrpSpPr/>
            <p:nvPr/>
          </p:nvGrpSpPr>
          <p:grpSpPr>
            <a:xfrm>
              <a:off x="6032500" y="2832100"/>
              <a:ext cx="717550" cy="50800"/>
              <a:chOff x="6032500" y="2832100"/>
              <a:chExt cx="717550" cy="50800"/>
            </a:xfrm>
          </p:grpSpPr>
          <p:sp>
            <p:nvSpPr>
              <p:cNvPr id="1027" name="path · 17"/>
              <p:cNvSpPr/>
              <p:nvPr/>
            </p:nvSpPr>
            <p:spPr>
              <a:xfrm>
                <a:off x="6032500" y="2857500"/>
                <a:ext cx="717550" cy="1"/>
              </a:xfrm>
              <a:custGeom>
                <a:avLst/>
                <a:gdLst/>
                <a:ahLst/>
                <a:cxnLst/>
                <a:rect l="0" t="0" r="r" b="b"/>
                <a:pathLst>
                  <a:path w="717550" h="1" fill="none" stroke="1" extrusionOk="0">
                    <a:moveTo>
                      <a:pt x="0" y="0"/>
                    </a:moveTo>
                    <a:lnTo>
                      <a:pt x="717550" y="0"/>
                    </a:lnTo>
                  </a:path>
                </a:pathLst>
              </a:custGeom>
              <a:noFill/>
              <a:ln w="107950" cap="rnd" cmpd="sng" algn="ctr">
                <a:solidFill>
                  <a:srgbClr val="D7EBE1">
                    <a:alpha val="60000"/>
                  </a:srgbClr>
                </a:solidFill>
                <a:prstDash val="solid"/>
                <a:round/>
                <a:headEnd type="none" w="med" len="med"/>
                <a:tailEnd type="none" w="med" len="med"/>
              </a:ln>
            </p:spPr>
          </p:sp>
          <p:grpSp>
            <p:nvGrpSpPr>
              <p:cNvPr id="1028" name="path · 18 + arrowhead"/>
              <p:cNvGrpSpPr/>
              <p:nvPr/>
            </p:nvGrpSpPr>
            <p:grpSpPr>
              <a:xfrm>
                <a:off x="6032500" y="2832100"/>
                <a:ext cx="717550" cy="50800"/>
                <a:chOff x="6032500" y="2832100"/>
                <a:chExt cx="717550" cy="50800"/>
              </a:xfrm>
            </p:grpSpPr>
            <p:sp>
              <p:nvSpPr>
                <p:cNvPr id="1029" name="path · 18"/>
                <p:cNvSpPr/>
                <p:nvPr/>
              </p:nvSpPr>
              <p:spPr>
                <a:xfrm>
                  <a:off x="6032500" y="2857500"/>
                  <a:ext cx="717550" cy="1"/>
                </a:xfrm>
                <a:custGeom>
                  <a:avLst/>
                  <a:gdLst/>
                  <a:ahLst/>
                  <a:cxnLst/>
                  <a:rect l="0" t="0" r="r" b="b"/>
                  <a:pathLst>
                    <a:path w="717550" h="1" fill="none" stroke="1" extrusionOk="0">
                      <a:moveTo>
                        <a:pt x="0" y="0"/>
                      </a:moveTo>
                      <a:lnTo>
                        <a:pt x="717550" y="0"/>
                      </a:lnTo>
                    </a:path>
                  </a:pathLst>
                </a:custGeom>
                <a:noFill/>
                <a:ln w="26670" cap="rnd" cmpd="sng" algn="ctr">
                  <a:solidFill>
                    <a:srgbClr val="2E6653"/>
                  </a:solidFill>
                  <a:prstDash val="solid"/>
                  <a:round/>
                  <a:headEnd type="none" w="med" len="med"/>
                  <a:tailEnd type="none" w="med" len="med"/>
                </a:ln>
              </p:spPr>
            </p:sp>
            <p:grpSp>
              <p:nvGrpSpPr>
                <p:cNvPr id="1030" name="arrow-green end"/>
                <p:cNvGrpSpPr/>
                <p:nvPr/>
              </p:nvGrpSpPr>
              <p:grpSpPr>
                <a:xfrm>
                  <a:off x="6702425" y="2832100"/>
                  <a:ext cx="47625" cy="50800"/>
                  <a:chOff x="6702425" y="2832100"/>
                  <a:chExt cx="47625" cy="50800"/>
                </a:xfrm>
              </p:grpSpPr>
              <p:sp>
                <p:nvSpPr>
                  <p:cNvPr id="1031" name="path · 19"/>
                  <p:cNvSpPr/>
                  <p:nvPr/>
                </p:nvSpPr>
                <p:spPr>
                  <a:xfrm>
                    <a:off x="6702425" y="2832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32" name="verified-label · 22"/>
            <p:cNvGrpSpPr/>
            <p:nvPr/>
          </p:nvGrpSpPr>
          <p:grpSpPr>
            <a:xfrm>
              <a:off x="3663975" y="2464767"/>
              <a:ext cx="660350" cy="242875"/>
              <a:chOff x="3663975" y="2464767"/>
              <a:chExt cx="660350" cy="242875"/>
            </a:xfrm>
          </p:grpSpPr>
          <p:sp>
            <p:nvSpPr>
              <p:cNvPr id="1033" name="text · 21"/>
              <p:cNvSpPr txBox="1"/>
              <p:nvPr/>
            </p:nvSpPr>
            <p:spPr>
              <a:xfrm>
                <a:off x="3662387" y="2464767"/>
                <a:ext cx="663525" cy="27132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12"/>
                  </a:lnSpc>
                  <a:spcBef>
                    <a:spcPts val="0"/>
                  </a:spcBef>
                  <a:spcAft>
                    <a:spcPts val="0"/>
                  </a:spcAft>
                </a:pPr>
                <a:r>
                  <a:rPr lang="en-US" sz="1400" b="1" i="0" kern="0" spc="0" dirty="0">
                    <a:solidFill>
                      <a:srgbClr val="2E6653"/>
                    </a:solidFill>
                    <a:latin typeface="Manrope"/>
                    <a:ea typeface="Manrope"/>
                    <a:cs typeface="Manrope"/>
                  </a:rPr>
                  <a:t>Verified</a:t>
                </a:r>
                <a:endParaRPr lang="en-US" sz="1400"/>
              </a:p>
            </p:txBody>
          </p:sp>
        </p:grpSp>
        <p:grpSp>
          <p:nvGrpSpPr>
            <p:cNvPr id="1034" name="matched-label · 24"/>
            <p:cNvGrpSpPr/>
            <p:nvPr/>
          </p:nvGrpSpPr>
          <p:grpSpPr>
            <a:xfrm>
              <a:off x="6011810" y="2464767"/>
              <a:ext cx="752580" cy="242875"/>
              <a:chOff x="6011810" y="2464767"/>
              <a:chExt cx="752580" cy="242875"/>
            </a:xfrm>
          </p:grpSpPr>
          <p:sp>
            <p:nvSpPr>
              <p:cNvPr id="1035" name="text · 23"/>
              <p:cNvSpPr txBox="1"/>
              <p:nvPr/>
            </p:nvSpPr>
            <p:spPr>
              <a:xfrm>
                <a:off x="6010222" y="2464767"/>
                <a:ext cx="755755" cy="27132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12"/>
                  </a:lnSpc>
                  <a:spcBef>
                    <a:spcPts val="0"/>
                  </a:spcBef>
                  <a:spcAft>
                    <a:spcPts val="0"/>
                  </a:spcAft>
                </a:pPr>
                <a:r>
                  <a:rPr lang="en-US" sz="1400" b="1" i="0" kern="0" spc="0" dirty="0">
                    <a:solidFill>
                      <a:srgbClr val="2E6653"/>
                    </a:solidFill>
                    <a:latin typeface="Manrope"/>
                    <a:ea typeface="Manrope"/>
                    <a:cs typeface="Manrope"/>
                  </a:rPr>
                  <a:t>Matched</a:t>
                </a:r>
                <a:endParaRPr lang="en-US" sz="1400"/>
              </a:p>
            </p:txBody>
          </p:sp>
        </p:grpSp>
        <p:grpSp>
          <p:nvGrpSpPr>
            <p:cNvPr id="1036" name="identity-denied-stop · 27"/>
            <p:cNvGrpSpPr/>
            <p:nvPr/>
          </p:nvGrpSpPr>
          <p:grpSpPr>
            <a:xfrm>
              <a:off x="1612900" y="3219450"/>
              <a:ext cx="552450" cy="1371600"/>
              <a:chOff x="1612900" y="3219450"/>
              <a:chExt cx="552450" cy="1371600"/>
            </a:xfrm>
          </p:grpSpPr>
          <p:grpSp>
            <p:nvGrpSpPr>
              <p:cNvPr id="1037" name="path · 25 + arrowhead"/>
              <p:cNvGrpSpPr/>
              <p:nvPr/>
            </p:nvGrpSpPr>
            <p:grpSpPr>
              <a:xfrm>
                <a:off x="1612900" y="3219450"/>
                <a:ext cx="552450" cy="1371600"/>
                <a:chOff x="1612900" y="3219450"/>
                <a:chExt cx="552450" cy="1371600"/>
              </a:xfrm>
            </p:grpSpPr>
            <p:sp>
              <p:nvSpPr>
                <p:cNvPr id="1038" name="path · 25"/>
                <p:cNvSpPr/>
                <p:nvPr/>
              </p:nvSpPr>
              <p:spPr>
                <a:xfrm>
                  <a:off x="1612900" y="3219450"/>
                  <a:ext cx="552450" cy="1346200"/>
                </a:xfrm>
                <a:custGeom>
                  <a:avLst/>
                  <a:gdLst/>
                  <a:ahLst/>
                  <a:cxnLst/>
                  <a:rect l="0" t="0" r="r" b="b"/>
                  <a:pathLst>
                    <a:path w="552450" h="1346200" fill="none" stroke="1" extrusionOk="0">
                      <a:moveTo>
                        <a:pt x="552450" y="0"/>
                      </a:moveTo>
                      <a:lnTo>
                        <a:pt x="209550" y="0"/>
                      </a:lnTo>
                      <a:lnTo>
                        <a:pt x="209550" y="1346200"/>
                      </a:lnTo>
                      <a:lnTo>
                        <a:pt x="0" y="1346200"/>
                      </a:lnTo>
                    </a:path>
                  </a:pathLst>
                </a:custGeom>
                <a:noFill/>
                <a:ln w="22860" cap="rnd" cmpd="sng" algn="ctr">
                  <a:solidFill>
                    <a:srgbClr val="81533E"/>
                  </a:solidFill>
                  <a:prstDash val="solid"/>
                  <a:round/>
                  <a:headEnd type="none" w="med" len="med"/>
                  <a:tailEnd type="none" w="med" len="med"/>
                </a:ln>
              </p:spPr>
            </p:sp>
            <p:grpSp>
              <p:nvGrpSpPr>
                <p:cNvPr id="1039" name="arrow-rust end"/>
                <p:cNvGrpSpPr/>
                <p:nvPr/>
              </p:nvGrpSpPr>
              <p:grpSpPr>
                <a:xfrm>
                  <a:off x="1612900" y="4540250"/>
                  <a:ext cx="47625" cy="50800"/>
                  <a:chOff x="1612900" y="4540250"/>
                  <a:chExt cx="47625" cy="50800"/>
                </a:xfrm>
              </p:grpSpPr>
              <p:sp>
                <p:nvSpPr>
                  <p:cNvPr id="1040" name="path · 26"/>
                  <p:cNvSpPr/>
                  <p:nvPr/>
                </p:nvSpPr>
                <p:spPr>
                  <a:xfrm>
                    <a:off x="1612900" y="454025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81533E"/>
                    </a:solidFill>
                    <a:prstDash val="solid"/>
                    <a:round/>
                    <a:headEnd type="none" w="med" len="med"/>
                    <a:tailEnd type="none" w="med" len="med"/>
                  </a:ln>
                </p:spPr>
              </p:sp>
            </p:grpSp>
          </p:grpSp>
        </p:grpSp>
        <p:grpSp>
          <p:nvGrpSpPr>
            <p:cNvPr id="1041" name="identity-needs-signin · 30"/>
            <p:cNvGrpSpPr/>
            <p:nvPr/>
          </p:nvGrpSpPr>
          <p:grpSpPr>
            <a:xfrm>
              <a:off x="2673350" y="3390900"/>
              <a:ext cx="50800" cy="863600"/>
              <a:chOff x="2673350" y="3390900"/>
              <a:chExt cx="50800" cy="863600"/>
            </a:xfrm>
          </p:grpSpPr>
          <p:grpSp>
            <p:nvGrpSpPr>
              <p:cNvPr id="1042" name="path · 28 + arrowhead"/>
              <p:cNvGrpSpPr/>
              <p:nvPr/>
            </p:nvGrpSpPr>
            <p:grpSpPr>
              <a:xfrm>
                <a:off x="2673350" y="3390900"/>
                <a:ext cx="50800" cy="863600"/>
                <a:chOff x="2673350" y="3390900"/>
                <a:chExt cx="50800" cy="863600"/>
              </a:xfrm>
            </p:grpSpPr>
            <p:sp>
              <p:nvSpPr>
                <p:cNvPr id="1043" name="path · 28"/>
                <p:cNvSpPr/>
                <p:nvPr/>
              </p:nvSpPr>
              <p:spPr>
                <a:xfrm>
                  <a:off x="2698750" y="3390900"/>
                  <a:ext cx="1" cy="863600"/>
                </a:xfrm>
                <a:custGeom>
                  <a:avLst/>
                  <a:gdLst/>
                  <a:ahLst/>
                  <a:cxnLst/>
                  <a:rect l="0" t="0" r="r" b="b"/>
                  <a:pathLst>
                    <a:path w="1" h="863600" fill="none" stroke="1" extrusionOk="0">
                      <a:moveTo>
                        <a:pt x="0" y="0"/>
                      </a:moveTo>
                      <a:lnTo>
                        <a:pt x="0" y="863600"/>
                      </a:lnTo>
                    </a:path>
                  </a:pathLst>
                </a:custGeom>
                <a:noFill/>
                <a:ln w="22860" cap="rnd" cmpd="sng" algn="ctr">
                  <a:solidFill>
                    <a:srgbClr val="7A6025"/>
                  </a:solidFill>
                  <a:prstDash val="solid"/>
                  <a:round/>
                  <a:headEnd type="none" w="med" len="med"/>
                  <a:tailEnd type="none" w="med" len="med"/>
                </a:ln>
              </p:spPr>
            </p:sp>
            <p:grpSp>
              <p:nvGrpSpPr>
                <p:cNvPr id="1044" name="arrow-ochre end"/>
                <p:cNvGrpSpPr/>
                <p:nvPr/>
              </p:nvGrpSpPr>
              <p:grpSpPr>
                <a:xfrm>
                  <a:off x="2673350" y="4206875"/>
                  <a:ext cx="50800" cy="47625"/>
                  <a:chOff x="2673350" y="4206875"/>
                  <a:chExt cx="50800" cy="47625"/>
                </a:xfrm>
              </p:grpSpPr>
              <p:sp>
                <p:nvSpPr>
                  <p:cNvPr id="1045" name="path · 29"/>
                  <p:cNvSpPr/>
                  <p:nvPr/>
                </p:nvSpPr>
                <p:spPr>
                  <a:xfrm>
                    <a:off x="2673350" y="420687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46" name="signin-recheck-identity · 33"/>
            <p:cNvGrpSpPr/>
            <p:nvPr/>
          </p:nvGrpSpPr>
          <p:grpSpPr>
            <a:xfrm>
              <a:off x="3371850" y="3219450"/>
              <a:ext cx="527050" cy="1587500"/>
              <a:chOff x="3371850" y="3219450"/>
              <a:chExt cx="527050" cy="1587500"/>
            </a:xfrm>
          </p:grpSpPr>
          <p:grpSp>
            <p:nvGrpSpPr>
              <p:cNvPr id="1047" name="path · 31 + arrowhead"/>
              <p:cNvGrpSpPr/>
              <p:nvPr/>
            </p:nvGrpSpPr>
            <p:grpSpPr>
              <a:xfrm>
                <a:off x="3371850" y="3219450"/>
                <a:ext cx="527050" cy="1587500"/>
                <a:chOff x="3371850" y="3219450"/>
                <a:chExt cx="527050" cy="1587500"/>
              </a:xfrm>
            </p:grpSpPr>
            <p:sp>
              <p:nvSpPr>
                <p:cNvPr id="1048" name="path · 31"/>
                <p:cNvSpPr/>
                <p:nvPr/>
              </p:nvSpPr>
              <p:spPr>
                <a:xfrm>
                  <a:off x="3371850" y="3244850"/>
                  <a:ext cx="527050" cy="1562100"/>
                </a:xfrm>
                <a:custGeom>
                  <a:avLst/>
                  <a:gdLst/>
                  <a:ahLst/>
                  <a:cxnLst/>
                  <a:rect l="0" t="0" r="r" b="b"/>
                  <a:pathLst>
                    <a:path w="527050" h="1562100" fill="none" stroke="1" extrusionOk="0">
                      <a:moveTo>
                        <a:pt x="0" y="1562100"/>
                      </a:moveTo>
                      <a:lnTo>
                        <a:pt x="527050" y="1562100"/>
                      </a:lnTo>
                      <a:lnTo>
                        <a:pt x="527050" y="0"/>
                      </a:lnTo>
                      <a:lnTo>
                        <a:pt x="0" y="0"/>
                      </a:lnTo>
                    </a:path>
                  </a:pathLst>
                </a:custGeom>
                <a:noFill/>
                <a:ln w="20955" cap="rnd" cmpd="sng" algn="ctr">
                  <a:solidFill>
                    <a:srgbClr val="355F72"/>
                  </a:solidFill>
                  <a:prstDash val="solid"/>
                  <a:round/>
                  <a:headEnd type="none" w="med" len="med"/>
                  <a:tailEnd type="none" w="med" len="med"/>
                </a:ln>
              </p:spPr>
            </p:sp>
            <p:grpSp>
              <p:nvGrpSpPr>
                <p:cNvPr id="1049" name="arrow-blue_ink end"/>
                <p:cNvGrpSpPr/>
                <p:nvPr/>
              </p:nvGrpSpPr>
              <p:grpSpPr>
                <a:xfrm>
                  <a:off x="3371850" y="3219450"/>
                  <a:ext cx="47625" cy="50800"/>
                  <a:chOff x="3371850" y="3219450"/>
                  <a:chExt cx="47625" cy="50800"/>
                </a:xfrm>
              </p:grpSpPr>
              <p:sp>
                <p:nvSpPr>
                  <p:cNvPr id="1050" name="path · 32"/>
                  <p:cNvSpPr/>
                  <p:nvPr/>
                </p:nvSpPr>
                <p:spPr>
                  <a:xfrm>
                    <a:off x="3371850" y="321945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355F72"/>
                    </a:solidFill>
                    <a:prstDash val="solid"/>
                    <a:round/>
                    <a:headEnd type="none" w="med" len="med"/>
                    <a:tailEnd type="none" w="med" len="med"/>
                  </a:ln>
                </p:spPr>
              </p:sp>
            </p:grpSp>
          </p:grpSp>
        </p:grpSp>
        <p:grpSp>
          <p:nvGrpSpPr>
            <p:cNvPr id="1051" name="denied-label · 35"/>
            <p:cNvGrpSpPr/>
            <p:nvPr/>
          </p:nvGrpSpPr>
          <p:grpSpPr>
            <a:xfrm>
              <a:off x="1080808" y="3772867"/>
              <a:ext cx="601942" cy="242875"/>
              <a:chOff x="1080808" y="3772867"/>
              <a:chExt cx="601942" cy="242875"/>
            </a:xfrm>
          </p:grpSpPr>
          <p:sp>
            <p:nvSpPr>
              <p:cNvPr id="1052" name="text · 34"/>
              <p:cNvSpPr txBox="1"/>
              <p:nvPr/>
            </p:nvSpPr>
            <p:spPr>
              <a:xfrm>
                <a:off x="1079220" y="3772867"/>
                <a:ext cx="605117" cy="271323"/>
              </a:xfrm>
              <a:prstGeom prst="rect">
                <a:avLst/>
              </a:prstGeom>
              <a:noFill/>
              <a:ln>
                <a:noFill/>
              </a:ln>
            </p:spPr>
            <p:txBody>
              <a:bodyPr wrap="none" lIns="0" tIns="0" rIns="0" bIns="0" anchor="t" anchorCtr="0" vertOverflow="overflow" horzOverflow="overflow">
                <a:noAutofit/>
              </a:bodyPr>
              <a:lstStyle/>
              <a:p>
                <a:pPr algn="r" marL="0" marR="0" indent="0" fontAlgn="base">
                  <a:lnSpc>
                    <a:spcPts val="1912"/>
                  </a:lnSpc>
                  <a:spcBef>
                    <a:spcPts val="0"/>
                  </a:spcBef>
                  <a:spcAft>
                    <a:spcPts val="0"/>
                  </a:spcAft>
                </a:pPr>
                <a:r>
                  <a:rPr lang="en-US" sz="1400" b="1" i="0" kern="0" spc="0" dirty="0">
                    <a:solidFill>
                      <a:srgbClr val="81533E"/>
                    </a:solidFill>
                    <a:latin typeface="Manrope"/>
                    <a:ea typeface="Manrope"/>
                    <a:cs typeface="Manrope"/>
                  </a:rPr>
                  <a:t>Denied</a:t>
                </a:r>
                <a:endParaRPr lang="en-US" sz="1400"/>
              </a:p>
            </p:txBody>
          </p:sp>
        </p:grpSp>
        <p:grpSp>
          <p:nvGrpSpPr>
            <p:cNvPr id="1053" name="no-login-label · 37"/>
            <p:cNvGrpSpPr/>
            <p:nvPr/>
          </p:nvGrpSpPr>
          <p:grpSpPr>
            <a:xfrm>
              <a:off x="2819400" y="3715717"/>
              <a:ext cx="696621" cy="242875"/>
              <a:chOff x="2819400" y="3715717"/>
              <a:chExt cx="696621" cy="242875"/>
            </a:xfrm>
          </p:grpSpPr>
          <p:sp>
            <p:nvSpPr>
              <p:cNvPr id="1054" name="text · 36"/>
              <p:cNvSpPr txBox="1"/>
              <p:nvPr/>
            </p:nvSpPr>
            <p:spPr>
              <a:xfrm>
                <a:off x="2817812" y="3715717"/>
                <a:ext cx="699796" cy="271323"/>
              </a:xfrm>
              <a:prstGeom prst="rect">
                <a:avLst/>
              </a:prstGeom>
              <a:noFill/>
              <a:ln>
                <a:noFill/>
              </a:ln>
            </p:spPr>
            <p:txBody>
              <a:bodyPr wrap="none" lIns="0" tIns="0" rIns="0" bIns="0" anchor="t" anchorCtr="0" vertOverflow="overflow" horzOverflow="overflow">
                <a:noAutofit/>
              </a:bodyPr>
              <a:lstStyle/>
              <a:p>
                <a:pPr algn="l" marL="0" marR="0" indent="0" fontAlgn="base">
                  <a:lnSpc>
                    <a:spcPts val="1912"/>
                  </a:lnSpc>
                  <a:spcBef>
                    <a:spcPts val="0"/>
                  </a:spcBef>
                  <a:spcAft>
                    <a:spcPts val="0"/>
                  </a:spcAft>
                </a:pPr>
                <a:r>
                  <a:rPr lang="en-US" sz="1400" b="1" i="0" kern="0" spc="0" dirty="0">
                    <a:solidFill>
                      <a:srgbClr val="7A6025"/>
                    </a:solidFill>
                    <a:latin typeface="Manrope"/>
                    <a:ea typeface="Manrope"/>
                    <a:cs typeface="Manrope"/>
                  </a:rPr>
                  <a:t>No login</a:t>
                </a:r>
                <a:endParaRPr lang="en-US" sz="1400"/>
              </a:p>
            </p:txBody>
          </p:sp>
        </p:grpSp>
        <p:grpSp>
          <p:nvGrpSpPr>
            <p:cNvPr id="1055" name="identity-recheck-label · 39"/>
            <p:cNvGrpSpPr/>
            <p:nvPr/>
          </p:nvGrpSpPr>
          <p:grpSpPr>
            <a:xfrm>
              <a:off x="4013200" y="4033633"/>
              <a:ext cx="711522" cy="234200"/>
              <a:chOff x="4013200" y="4033633"/>
              <a:chExt cx="711522" cy="234200"/>
            </a:xfrm>
          </p:grpSpPr>
          <p:sp>
            <p:nvSpPr>
              <p:cNvPr id="1056" name="text · 38"/>
              <p:cNvSpPr txBox="1"/>
              <p:nvPr/>
            </p:nvSpPr>
            <p:spPr>
              <a:xfrm>
                <a:off x="4011612" y="4033633"/>
                <a:ext cx="714697" cy="2616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844"/>
                  </a:lnSpc>
                  <a:spcBef>
                    <a:spcPts val="0"/>
                  </a:spcBef>
                  <a:spcAft>
                    <a:spcPts val="0"/>
                  </a:spcAft>
                </a:pPr>
                <a:r>
                  <a:rPr lang="en-US" sz="1350" b="1" i="0" kern="0" spc="0" dirty="0">
                    <a:solidFill>
                      <a:srgbClr val="355F72"/>
                    </a:solidFill>
                    <a:latin typeface="Manrope"/>
                    <a:ea typeface="Manrope"/>
                    <a:cs typeface="Manrope"/>
                  </a:rPr>
                  <a:t>Recheck</a:t>
                </a:r>
                <a:endParaRPr lang="en-US" sz="1350"/>
              </a:p>
            </p:txBody>
          </p:sp>
        </p:grpSp>
        <p:grpSp>
          <p:nvGrpSpPr>
            <p:cNvPr id="1057" name="purchase-needs-verification · 42"/>
            <p:cNvGrpSpPr/>
            <p:nvPr/>
          </p:nvGrpSpPr>
          <p:grpSpPr>
            <a:xfrm>
              <a:off x="5308600" y="3409950"/>
              <a:ext cx="50800" cy="863600"/>
              <a:chOff x="5308600" y="3409950"/>
              <a:chExt cx="50800" cy="863600"/>
            </a:xfrm>
          </p:grpSpPr>
          <p:grpSp>
            <p:nvGrpSpPr>
              <p:cNvPr id="1058" name="path · 40 + arrowhead"/>
              <p:cNvGrpSpPr/>
              <p:nvPr/>
            </p:nvGrpSpPr>
            <p:grpSpPr>
              <a:xfrm>
                <a:off x="5308600" y="3409950"/>
                <a:ext cx="50800" cy="863600"/>
                <a:chOff x="5308600" y="3409950"/>
                <a:chExt cx="50800" cy="863600"/>
              </a:xfrm>
            </p:grpSpPr>
            <p:sp>
              <p:nvSpPr>
                <p:cNvPr id="1059" name="path · 40"/>
                <p:cNvSpPr/>
                <p:nvPr/>
              </p:nvSpPr>
              <p:spPr>
                <a:xfrm>
                  <a:off x="5334000" y="3409950"/>
                  <a:ext cx="1" cy="863600"/>
                </a:xfrm>
                <a:custGeom>
                  <a:avLst/>
                  <a:gdLst/>
                  <a:ahLst/>
                  <a:cxnLst/>
                  <a:rect l="0" t="0" r="r" b="b"/>
                  <a:pathLst>
                    <a:path w="1" h="863600" fill="none" stroke="1" extrusionOk="0">
                      <a:moveTo>
                        <a:pt x="0" y="0"/>
                      </a:moveTo>
                      <a:lnTo>
                        <a:pt x="0" y="863600"/>
                      </a:lnTo>
                    </a:path>
                  </a:pathLst>
                </a:custGeom>
                <a:noFill/>
                <a:ln w="22860" cap="rnd" cmpd="sng" algn="ctr">
                  <a:solidFill>
                    <a:srgbClr val="7A6025"/>
                  </a:solidFill>
                  <a:prstDash val="solid"/>
                  <a:round/>
                  <a:headEnd type="none" w="med" len="med"/>
                  <a:tailEnd type="none" w="med" len="med"/>
                </a:ln>
              </p:spPr>
            </p:sp>
            <p:grpSp>
              <p:nvGrpSpPr>
                <p:cNvPr id="1060" name="arrow-ochre end"/>
                <p:cNvGrpSpPr/>
                <p:nvPr/>
              </p:nvGrpSpPr>
              <p:grpSpPr>
                <a:xfrm>
                  <a:off x="5308600" y="4225925"/>
                  <a:ext cx="50800" cy="47625"/>
                  <a:chOff x="5308600" y="4225925"/>
                  <a:chExt cx="50800" cy="47625"/>
                </a:xfrm>
              </p:grpSpPr>
              <p:sp>
                <p:nvSpPr>
                  <p:cNvPr id="1061" name="path · 41"/>
                  <p:cNvSpPr/>
                  <p:nvPr/>
                </p:nvSpPr>
                <p:spPr>
                  <a:xfrm>
                    <a:off x="5308600" y="42259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62" name="verification-recheck-purchase · 45"/>
            <p:cNvGrpSpPr/>
            <p:nvPr/>
          </p:nvGrpSpPr>
          <p:grpSpPr>
            <a:xfrm>
              <a:off x="5981700" y="3251200"/>
              <a:ext cx="749300" cy="1631950"/>
              <a:chOff x="5981700" y="3251200"/>
              <a:chExt cx="749300" cy="1631950"/>
            </a:xfrm>
          </p:grpSpPr>
          <p:grpSp>
            <p:nvGrpSpPr>
              <p:cNvPr id="1063" name="path · 43 + arrowhead"/>
              <p:cNvGrpSpPr/>
              <p:nvPr/>
            </p:nvGrpSpPr>
            <p:grpSpPr>
              <a:xfrm>
                <a:off x="5981700" y="3251200"/>
                <a:ext cx="749300" cy="1631950"/>
                <a:chOff x="5981700" y="3251200"/>
                <a:chExt cx="749300" cy="1631950"/>
              </a:xfrm>
            </p:grpSpPr>
            <p:sp>
              <p:nvSpPr>
                <p:cNvPr id="1064" name="path · 43"/>
                <p:cNvSpPr/>
                <p:nvPr/>
              </p:nvSpPr>
              <p:spPr>
                <a:xfrm>
                  <a:off x="5981700" y="3276600"/>
                  <a:ext cx="749300" cy="1606550"/>
                </a:xfrm>
                <a:custGeom>
                  <a:avLst/>
                  <a:gdLst/>
                  <a:ahLst/>
                  <a:cxnLst/>
                  <a:rect l="0" t="0" r="r" b="b"/>
                  <a:pathLst>
                    <a:path w="749300" h="1606550" fill="none" stroke="1" extrusionOk="0">
                      <a:moveTo>
                        <a:pt x="0" y="1606550"/>
                      </a:moveTo>
                      <a:lnTo>
                        <a:pt x="749300" y="1606550"/>
                      </a:lnTo>
                      <a:lnTo>
                        <a:pt x="749300" y="0"/>
                      </a:lnTo>
                      <a:lnTo>
                        <a:pt x="44450" y="0"/>
                      </a:lnTo>
                    </a:path>
                  </a:pathLst>
                </a:custGeom>
                <a:noFill/>
                <a:ln w="20955" cap="rnd" cmpd="sng" algn="ctr">
                  <a:solidFill>
                    <a:srgbClr val="355F72"/>
                  </a:solidFill>
                  <a:prstDash val="solid"/>
                  <a:round/>
                  <a:headEnd type="none" w="med" len="med"/>
                  <a:tailEnd type="none" w="med" len="med"/>
                </a:ln>
              </p:spPr>
            </p:sp>
            <p:grpSp>
              <p:nvGrpSpPr>
                <p:cNvPr id="1065" name="arrow-blue_ink end"/>
                <p:cNvGrpSpPr/>
                <p:nvPr/>
              </p:nvGrpSpPr>
              <p:grpSpPr>
                <a:xfrm>
                  <a:off x="6026150" y="3251200"/>
                  <a:ext cx="47625" cy="50800"/>
                  <a:chOff x="6026150" y="3251200"/>
                  <a:chExt cx="47625" cy="50800"/>
                </a:xfrm>
              </p:grpSpPr>
              <p:sp>
                <p:nvSpPr>
                  <p:cNvPr id="1066" name="path · 44"/>
                  <p:cNvSpPr/>
                  <p:nvPr/>
                </p:nvSpPr>
                <p:spPr>
                  <a:xfrm>
                    <a:off x="6026150" y="3251200"/>
                    <a:ext cx="47625" cy="50800"/>
                  </a:xfrm>
                  <a:custGeom>
                    <a:avLst/>
                    <a:gdLst/>
                    <a:ahLst/>
                    <a:cxnLst/>
                    <a:rect l="0" t="0" r="r" b="b"/>
                    <a:pathLst>
                      <a:path w="47625" h="50800" fill="none" stroke="1" extrusionOk="0">
                        <a:moveTo>
                          <a:pt x="47625" y="50800"/>
                        </a:moveTo>
                        <a:lnTo>
                          <a:pt x="0" y="25400"/>
                        </a:lnTo>
                        <a:lnTo>
                          <a:pt x="47625" y="0"/>
                        </a:lnTo>
                      </a:path>
                    </a:pathLst>
                  </a:custGeom>
                  <a:noFill/>
                  <a:ln w="12700" cap="rnd" cmpd="sng" algn="ctr">
                    <a:solidFill>
                      <a:srgbClr val="355F72"/>
                    </a:solidFill>
                    <a:prstDash val="solid"/>
                    <a:round/>
                    <a:headEnd type="none" w="med" len="med"/>
                    <a:tailEnd type="none" w="med" len="med"/>
                  </a:ln>
                </p:spPr>
              </p:sp>
            </p:grpSp>
          </p:grpSp>
        </p:grpSp>
        <p:grpSp>
          <p:nvGrpSpPr>
            <p:cNvPr id="1067" name="purchase-missing-label · 47"/>
            <p:cNvGrpSpPr/>
            <p:nvPr/>
          </p:nvGrpSpPr>
          <p:grpSpPr>
            <a:xfrm>
              <a:off x="5461000" y="3639933"/>
              <a:ext cx="743068" cy="234200"/>
              <a:chOff x="5461000" y="3639933"/>
              <a:chExt cx="743068" cy="234200"/>
            </a:xfrm>
          </p:grpSpPr>
          <p:sp>
            <p:nvSpPr>
              <p:cNvPr id="1068" name="text · 46"/>
              <p:cNvSpPr txBox="1"/>
              <p:nvPr/>
            </p:nvSpPr>
            <p:spPr>
              <a:xfrm>
                <a:off x="5459412" y="3639933"/>
                <a:ext cx="746243" cy="2616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844"/>
                  </a:lnSpc>
                  <a:spcBef>
                    <a:spcPts val="0"/>
                  </a:spcBef>
                  <a:spcAft>
                    <a:spcPts val="0"/>
                  </a:spcAft>
                </a:pPr>
                <a:r>
                  <a:rPr lang="en-US" sz="1350" b="1" i="0" kern="0" spc="0" dirty="0">
                    <a:solidFill>
                      <a:srgbClr val="7A6025"/>
                    </a:solidFill>
                    <a:latin typeface="Manrope"/>
                    <a:ea typeface="Manrope"/>
                    <a:cs typeface="Manrope"/>
                  </a:rPr>
                  <a:t>Missing /</a:t>
                </a:r>
                <a:endParaRPr lang="en-US" sz="1350"/>
              </a:p>
            </p:txBody>
          </p:sp>
        </p:grpSp>
        <p:grpSp>
          <p:nvGrpSpPr>
            <p:cNvPr id="1069" name="purchase-mismatch-label · 49"/>
            <p:cNvGrpSpPr/>
            <p:nvPr/>
          </p:nvGrpSpPr>
          <p:grpSpPr>
            <a:xfrm>
              <a:off x="5461000" y="3893933"/>
              <a:ext cx="816062" cy="234200"/>
              <a:chOff x="5461000" y="3893933"/>
              <a:chExt cx="816062" cy="234200"/>
            </a:xfrm>
          </p:grpSpPr>
          <p:sp>
            <p:nvSpPr>
              <p:cNvPr id="1070" name="text · 48"/>
              <p:cNvSpPr txBox="1"/>
              <p:nvPr/>
            </p:nvSpPr>
            <p:spPr>
              <a:xfrm>
                <a:off x="5459412" y="3893933"/>
                <a:ext cx="819237" cy="2616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844"/>
                  </a:lnSpc>
                  <a:spcBef>
                    <a:spcPts val="0"/>
                  </a:spcBef>
                  <a:spcAft>
                    <a:spcPts val="0"/>
                  </a:spcAft>
                </a:pPr>
                <a:r>
                  <a:rPr lang="en-US" sz="1350" b="1" i="0" kern="0" spc="0" dirty="0">
                    <a:solidFill>
                      <a:srgbClr val="7A6025"/>
                    </a:solidFill>
                    <a:latin typeface="Manrope"/>
                    <a:ea typeface="Manrope"/>
                    <a:cs typeface="Manrope"/>
                  </a:rPr>
                  <a:t>mismatch</a:t>
                </a:r>
                <a:endParaRPr lang="en-US" sz="1350"/>
              </a:p>
            </p:txBody>
          </p:sp>
        </p:grpSp>
        <p:grpSp>
          <p:nvGrpSpPr>
            <p:cNvPr id="1071" name="purchase-recheck-label · 51"/>
            <p:cNvGrpSpPr/>
            <p:nvPr/>
          </p:nvGrpSpPr>
          <p:grpSpPr>
            <a:xfrm>
              <a:off x="6851650" y="4186033"/>
              <a:ext cx="711522" cy="234200"/>
              <a:chOff x="6851650" y="4186033"/>
              <a:chExt cx="711522" cy="234200"/>
            </a:xfrm>
          </p:grpSpPr>
          <p:sp>
            <p:nvSpPr>
              <p:cNvPr id="1072" name="text · 50"/>
              <p:cNvSpPr txBox="1"/>
              <p:nvPr/>
            </p:nvSpPr>
            <p:spPr>
              <a:xfrm>
                <a:off x="6850062" y="4186033"/>
                <a:ext cx="714697" cy="2616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844"/>
                  </a:lnSpc>
                  <a:spcBef>
                    <a:spcPts val="0"/>
                  </a:spcBef>
                  <a:spcAft>
                    <a:spcPts val="0"/>
                  </a:spcAft>
                </a:pPr>
                <a:r>
                  <a:rPr lang="en-US" sz="1350" b="1" i="0" kern="0" spc="0" dirty="0">
                    <a:solidFill>
                      <a:srgbClr val="355F72"/>
                    </a:solidFill>
                    <a:latin typeface="Manrope"/>
                    <a:ea typeface="Manrope"/>
                    <a:cs typeface="Manrope"/>
                  </a:rPr>
                  <a:t>Recheck</a:t>
                </a:r>
                <a:endParaRPr lang="en-US" sz="1350"/>
              </a:p>
            </p:txBody>
          </p:sp>
        </p:grpSp>
        <p:grpSp>
          <p:nvGrpSpPr>
            <p:cNvPr id="1073" name="customer · 66"/>
            <p:cNvGrpSpPr/>
            <p:nvPr/>
          </p:nvGrpSpPr>
          <p:grpSpPr>
            <a:xfrm>
              <a:off x="791704" y="2403404"/>
              <a:ext cx="731097" cy="847407"/>
              <a:chOff x="791704" y="2403404"/>
              <a:chExt cx="731097" cy="847407"/>
            </a:xfrm>
          </p:grpSpPr>
          <p:sp>
            <p:nvSpPr>
              <p:cNvPr id="1074" name="ellipse · 52"/>
              <p:cNvSpPr/>
              <p:nvPr/>
            </p:nvSpPr>
            <p:spPr>
              <a:xfrm>
                <a:off x="791704" y="3184349"/>
                <a:ext cx="731097" cy="66463"/>
              </a:xfrm>
              <a:prstGeom prst="ellipse">
                <a:avLst/>
              </a:prstGeom>
              <a:solidFill>
                <a:srgbClr val="E2EEF3"/>
              </a:solidFill>
              <a:ln>
                <a:noFill/>
              </a:ln>
            </p:spPr>
          </p:sp>
          <p:sp>
            <p:nvSpPr>
              <p:cNvPr id="1075" name="path · 53"/>
              <p:cNvSpPr/>
              <p:nvPr/>
            </p:nvSpPr>
            <p:spPr>
              <a:xfrm>
                <a:off x="957862" y="2962804"/>
                <a:ext cx="432012" cy="221544"/>
              </a:xfrm>
              <a:custGeom>
                <a:avLst/>
                <a:gdLst/>
                <a:ahLst/>
                <a:cxnLst/>
                <a:rect l="0" t="0" r="r" b="b"/>
                <a:pathLst>
                  <a:path w="432012" h="221544" fill="norm" stroke="1" extrusionOk="0">
                    <a:moveTo>
                      <a:pt x="22155" y="44309"/>
                    </a:moveTo>
                    <a:lnTo>
                      <a:pt x="0" y="221545"/>
                    </a:lnTo>
                    <a:lnTo>
                      <a:pt x="121850" y="221545"/>
                    </a:lnTo>
                    <a:lnTo>
                      <a:pt x="160620" y="55386"/>
                    </a:lnTo>
                    <a:moveTo>
                      <a:pt x="282469" y="44309"/>
                    </a:moveTo>
                    <a:lnTo>
                      <a:pt x="321240" y="221545"/>
                    </a:lnTo>
                    <a:lnTo>
                      <a:pt x="432012" y="221545"/>
                    </a:lnTo>
                    <a:lnTo>
                      <a:pt x="343394" y="0"/>
                    </a:lnTo>
                  </a:path>
                </a:pathLst>
              </a:custGeom>
              <a:solidFill>
                <a:srgbClr val="243E42"/>
              </a:solidFill>
              <a:ln w="12185" cap="rnd" cmpd="sng" algn="ctr">
                <a:solidFill>
                  <a:srgbClr val="243E42"/>
                </a:solidFill>
                <a:prstDash val="solid"/>
                <a:round/>
                <a:headEnd type="none" w="med" len="med"/>
                <a:tailEnd type="none" w="med" len="med"/>
              </a:ln>
            </p:spPr>
          </p:sp>
          <p:sp>
            <p:nvSpPr>
              <p:cNvPr id="1076" name="path · 54"/>
              <p:cNvSpPr/>
              <p:nvPr/>
            </p:nvSpPr>
            <p:spPr>
              <a:xfrm>
                <a:off x="902476" y="3189887"/>
                <a:ext cx="548322" cy="38770"/>
              </a:xfrm>
              <a:custGeom>
                <a:avLst/>
                <a:gdLst/>
                <a:ahLst/>
                <a:cxnLst/>
                <a:rect l="0" t="0" r="r" b="b"/>
                <a:pathLst>
                  <a:path w="548322" h="38770" fill="norm" stroke="1" extrusionOk="0">
                    <a:moveTo>
                      <a:pt x="38770" y="0"/>
                    </a:moveTo>
                    <a:lnTo>
                      <a:pt x="182774" y="0"/>
                    </a:lnTo>
                    <a:lnTo>
                      <a:pt x="182774" y="38771"/>
                    </a:lnTo>
                    <a:lnTo>
                      <a:pt x="0" y="38771"/>
                    </a:lnTo>
                    <a:cubicBezTo>
                      <a:pt x="0" y="16616"/>
                      <a:pt x="16616" y="5539"/>
                      <a:pt x="38770" y="0"/>
                    </a:cubicBezTo>
                    <a:moveTo>
                      <a:pt x="371087" y="0"/>
                    </a:moveTo>
                    <a:lnTo>
                      <a:pt x="504014" y="0"/>
                    </a:lnTo>
                    <a:lnTo>
                      <a:pt x="548323" y="38771"/>
                    </a:lnTo>
                    <a:lnTo>
                      <a:pt x="371087" y="38771"/>
                    </a:lnTo>
                    <a:close/>
                  </a:path>
                </a:pathLst>
              </a:custGeom>
              <a:solidFill>
                <a:srgbClr val="FFFFFF"/>
              </a:solidFill>
              <a:ln w="12185" cap="rnd" cmpd="sng" algn="ctr">
                <a:solidFill>
                  <a:srgbClr val="243E42"/>
                </a:solidFill>
                <a:prstDash val="solid"/>
                <a:round/>
                <a:headEnd type="none" w="med" len="med"/>
                <a:tailEnd type="none" w="med" len="med"/>
              </a:ln>
            </p:spPr>
          </p:sp>
          <p:sp>
            <p:nvSpPr>
              <p:cNvPr id="1077" name="path · 55"/>
              <p:cNvSpPr/>
              <p:nvPr/>
            </p:nvSpPr>
            <p:spPr>
              <a:xfrm>
                <a:off x="935708" y="2669258"/>
                <a:ext cx="404319" cy="382164"/>
              </a:xfrm>
              <a:custGeom>
                <a:avLst/>
                <a:gdLst/>
                <a:ahLst/>
                <a:cxnLst/>
                <a:rect l="0" t="0" r="r" b="b"/>
                <a:pathLst>
                  <a:path w="404319" h="382164" fill="norm" stroke="1" extrusionOk="0">
                    <a:moveTo>
                      <a:pt x="0" y="99695"/>
                    </a:moveTo>
                    <a:quadBezTo>
                      <a:pt x="33231" y="5538"/>
                      <a:pt x="160620" y="0"/>
                    </a:quadBezTo>
                    <a:lnTo>
                      <a:pt x="249237" y="0"/>
                    </a:lnTo>
                    <a:quadBezTo>
                      <a:pt x="376625" y="11077"/>
                      <a:pt x="404318" y="127388"/>
                    </a:quadBezTo>
                    <a:lnTo>
                      <a:pt x="354471" y="382164"/>
                    </a:lnTo>
                    <a:lnTo>
                      <a:pt x="55386" y="382164"/>
                    </a:lnTo>
                    <a:close/>
                  </a:path>
                </a:pathLst>
              </a:custGeom>
              <a:solidFill>
                <a:srgbClr val="E2EEF3"/>
              </a:solidFill>
              <a:ln w="12185" cap="rnd" cmpd="sng" algn="ctr">
                <a:solidFill>
                  <a:srgbClr val="243E42"/>
                </a:solidFill>
                <a:prstDash val="solid"/>
                <a:round/>
                <a:headEnd type="none" w="med" len="med"/>
                <a:tailEnd type="none" w="med" len="med"/>
              </a:ln>
            </p:spPr>
          </p:sp>
          <p:sp>
            <p:nvSpPr>
              <p:cNvPr id="1078" name="path · 56"/>
              <p:cNvSpPr/>
              <p:nvPr/>
            </p:nvSpPr>
            <p:spPr>
              <a:xfrm>
                <a:off x="902476" y="2713567"/>
                <a:ext cx="487398" cy="243699"/>
              </a:xfrm>
              <a:custGeom>
                <a:avLst/>
                <a:gdLst/>
                <a:ahLst/>
                <a:cxnLst/>
                <a:rect l="0" t="0" r="r" b="b"/>
                <a:pathLst>
                  <a:path w="487398" h="243699" fill="none" stroke="1" extrusionOk="0">
                    <a:moveTo>
                      <a:pt x="94156" y="11077"/>
                    </a:moveTo>
                    <a:lnTo>
                      <a:pt x="0" y="116311"/>
                    </a:lnTo>
                    <a:lnTo>
                      <a:pt x="83079" y="227083"/>
                    </a:lnTo>
                    <a:moveTo>
                      <a:pt x="365548" y="0"/>
                    </a:moveTo>
                    <a:lnTo>
                      <a:pt x="487398" y="121849"/>
                    </a:lnTo>
                    <a:lnTo>
                      <a:pt x="443089" y="243699"/>
                    </a:lnTo>
                  </a:path>
                </a:pathLst>
              </a:custGeom>
              <a:noFill/>
              <a:ln w="49848" cap="rnd" cmpd="sng" algn="ctr">
                <a:solidFill>
                  <a:srgbClr val="E2EEF3"/>
                </a:solidFill>
                <a:prstDash val="solid"/>
                <a:round/>
                <a:headEnd type="none" w="med" len="med"/>
                <a:tailEnd type="none" w="med" len="med"/>
              </a:ln>
            </p:spPr>
          </p:sp>
          <p:sp>
            <p:nvSpPr>
              <p:cNvPr id="1079" name="circle · 57"/>
              <p:cNvSpPr/>
              <p:nvPr/>
            </p:nvSpPr>
            <p:spPr>
              <a:xfrm>
                <a:off x="996632" y="2436636"/>
                <a:ext cx="254776" cy="254776"/>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080" name="path · 58"/>
              <p:cNvSpPr/>
              <p:nvPr/>
            </p:nvSpPr>
            <p:spPr>
              <a:xfrm>
                <a:off x="974478" y="2403404"/>
                <a:ext cx="299085" cy="155081"/>
              </a:xfrm>
              <a:custGeom>
                <a:avLst/>
                <a:gdLst/>
                <a:ahLst/>
                <a:cxnLst/>
                <a:rect l="0" t="0" r="r" b="b"/>
                <a:pathLst>
                  <a:path w="299085" h="155081" fill="norm" stroke="1" extrusionOk="0">
                    <a:moveTo>
                      <a:pt x="27693" y="144004"/>
                    </a:moveTo>
                    <a:quadBezTo>
                      <a:pt x="0" y="11078"/>
                      <a:pt x="144004" y="5539"/>
                    </a:quadBezTo>
                    <a:quadBezTo>
                      <a:pt x="299085" y="0"/>
                      <a:pt x="288008" y="155082"/>
                    </a:quadBezTo>
                    <a:lnTo>
                      <a:pt x="232622" y="121850"/>
                    </a:lnTo>
                    <a:lnTo>
                      <a:pt x="216006" y="55387"/>
                    </a:lnTo>
                    <a:quadBezTo>
                      <a:pt x="144004" y="116311"/>
                      <a:pt x="27693" y="110773"/>
                    </a:quadBezTo>
                    <a:close/>
                  </a:path>
                </a:pathLst>
              </a:custGeom>
              <a:solidFill>
                <a:srgbClr val="243E42"/>
              </a:solidFill>
              <a:ln w="12185" cap="rnd" cmpd="sng" algn="ctr">
                <a:solidFill>
                  <a:srgbClr val="243E42"/>
                </a:solidFill>
                <a:prstDash val="solid"/>
                <a:round/>
                <a:headEnd type="none" w="med" len="med"/>
                <a:tailEnd type="none" w="med" len="med"/>
              </a:ln>
            </p:spPr>
          </p:sp>
          <p:sp>
            <p:nvSpPr>
              <p:cNvPr id="1081" name="path · 59"/>
              <p:cNvSpPr/>
              <p:nvPr/>
            </p:nvSpPr>
            <p:spPr>
              <a:xfrm>
                <a:off x="1107405" y="2547408"/>
                <a:ext cx="83079" cy="38770"/>
              </a:xfrm>
              <a:custGeom>
                <a:avLst/>
                <a:gdLst/>
                <a:ahLst/>
                <a:cxnLst/>
                <a:rect l="0" t="0" r="r" b="b"/>
                <a:pathLst>
                  <a:path w="83079" h="38770" fill="none" stroke="1" extrusionOk="0">
                    <a:moveTo>
                      <a:pt x="0" y="0"/>
                    </a:moveTo>
                    <a:lnTo>
                      <a:pt x="0" y="38771"/>
                    </a:lnTo>
                    <a:moveTo>
                      <a:pt x="83079" y="0"/>
                    </a:moveTo>
                    <a:lnTo>
                      <a:pt x="83079" y="38771"/>
                    </a:lnTo>
                  </a:path>
                </a:pathLst>
              </a:custGeom>
              <a:noFill/>
              <a:ln w="14400" cap="rnd" cmpd="sng" algn="ctr">
                <a:solidFill>
                  <a:srgbClr val="243E42"/>
                </a:solidFill>
                <a:prstDash val="solid"/>
                <a:round/>
                <a:headEnd type="none" w="med" len="med"/>
                <a:tailEnd type="none" w="med" len="med"/>
              </a:ln>
            </p:spPr>
          </p:sp>
          <p:sp>
            <p:nvSpPr>
              <p:cNvPr id="1082" name="path · 60"/>
              <p:cNvSpPr/>
              <p:nvPr/>
            </p:nvSpPr>
            <p:spPr>
              <a:xfrm>
                <a:off x="1112943" y="2619410"/>
                <a:ext cx="60925" cy="27693"/>
              </a:xfrm>
              <a:custGeom>
                <a:avLst/>
                <a:gdLst/>
                <a:ahLst/>
                <a:cxnLst/>
                <a:rect l="0" t="0" r="r" b="b"/>
                <a:pathLst>
                  <a:path w="60925" h="27693" fill="none" stroke="1" extrusionOk="0">
                    <a:moveTo>
                      <a:pt x="0" y="5539"/>
                    </a:moveTo>
                    <a:quadBezTo>
                      <a:pt x="33232" y="27693"/>
                      <a:pt x="60925" y="0"/>
                    </a:quadBezTo>
                  </a:path>
                </a:pathLst>
              </a:custGeom>
              <a:noFill/>
              <a:ln w="12185" cap="rnd" cmpd="sng" algn="ctr">
                <a:solidFill>
                  <a:srgbClr val="243E42"/>
                </a:solidFill>
                <a:prstDash val="solid"/>
                <a:round/>
                <a:headEnd type="none" w="med" len="med"/>
                <a:tailEnd type="none" w="med" len="med"/>
              </a:ln>
            </p:spPr>
          </p:sp>
          <p:sp>
            <p:nvSpPr>
              <p:cNvPr id="1083" name="path · 61"/>
              <p:cNvSpPr/>
              <p:nvPr/>
            </p:nvSpPr>
            <p:spPr>
              <a:xfrm>
                <a:off x="952324" y="2791107"/>
                <a:ext cx="487398" cy="216006"/>
              </a:xfrm>
              <a:custGeom>
                <a:avLst/>
                <a:gdLst/>
                <a:ahLst/>
                <a:cxnLst/>
                <a:rect l="0" t="0" r="r" b="b"/>
                <a:pathLst>
                  <a:path w="487398" h="216006" fill="norm" stroke="1" extrusionOk="0">
                    <a:moveTo>
                      <a:pt x="0" y="99695"/>
                    </a:moveTo>
                    <a:lnTo>
                      <a:pt x="299085" y="0"/>
                    </a:lnTo>
                    <a:lnTo>
                      <a:pt x="487397" y="105234"/>
                    </a:lnTo>
                    <a:lnTo>
                      <a:pt x="188312" y="216006"/>
                    </a:lnTo>
                    <a:close/>
                  </a:path>
                </a:pathLst>
              </a:custGeom>
              <a:solidFill>
                <a:srgbClr val="F6EAC8"/>
              </a:solidFill>
              <a:ln w="12185" cap="rnd" cmpd="sng" algn="ctr">
                <a:solidFill>
                  <a:srgbClr val="243E42"/>
                </a:solidFill>
                <a:prstDash val="solid"/>
                <a:round/>
                <a:headEnd type="none" w="med" len="med"/>
                <a:tailEnd type="none" w="med" len="med"/>
              </a:ln>
            </p:spPr>
          </p:sp>
          <p:sp>
            <p:nvSpPr>
              <p:cNvPr id="1084" name="path · 62"/>
              <p:cNvSpPr/>
              <p:nvPr/>
            </p:nvSpPr>
            <p:spPr>
              <a:xfrm>
                <a:off x="952324" y="2890802"/>
                <a:ext cx="487398" cy="304624"/>
              </a:xfrm>
              <a:custGeom>
                <a:avLst/>
                <a:gdLst/>
                <a:ahLst/>
                <a:cxnLst/>
                <a:rect l="0" t="0" r="r" b="b"/>
                <a:pathLst>
                  <a:path w="487398" h="304624" fill="norm" stroke="1" extrusionOk="0">
                    <a:moveTo>
                      <a:pt x="0" y="0"/>
                    </a:moveTo>
                    <a:lnTo>
                      <a:pt x="188312" y="116311"/>
                    </a:lnTo>
                    <a:lnTo>
                      <a:pt x="188312" y="304624"/>
                    </a:lnTo>
                    <a:lnTo>
                      <a:pt x="0" y="193852"/>
                    </a:lnTo>
                    <a:close/>
                    <a:moveTo>
                      <a:pt x="188312" y="116311"/>
                    </a:moveTo>
                    <a:lnTo>
                      <a:pt x="487397" y="5539"/>
                    </a:lnTo>
                    <a:lnTo>
                      <a:pt x="487397" y="199390"/>
                    </a:lnTo>
                    <a:lnTo>
                      <a:pt x="188312" y="304624"/>
                    </a:lnTo>
                    <a:close/>
                  </a:path>
                </a:pathLst>
              </a:custGeom>
              <a:solidFill>
                <a:srgbClr val="F6EAC8"/>
              </a:solidFill>
              <a:ln w="12185" cap="rnd" cmpd="sng" algn="ctr">
                <a:solidFill>
                  <a:srgbClr val="243E42"/>
                </a:solidFill>
                <a:prstDash val="solid"/>
                <a:round/>
                <a:headEnd type="none" w="med" len="med"/>
                <a:tailEnd type="none" w="med" len="med"/>
              </a:ln>
            </p:spPr>
          </p:sp>
          <p:sp>
            <p:nvSpPr>
              <p:cNvPr id="1085" name="path · 63"/>
              <p:cNvSpPr/>
              <p:nvPr/>
            </p:nvSpPr>
            <p:spPr>
              <a:xfrm>
                <a:off x="1035403" y="2846493"/>
                <a:ext cx="254776" cy="221544"/>
              </a:xfrm>
              <a:custGeom>
                <a:avLst/>
                <a:gdLst/>
                <a:ahLst/>
                <a:cxnLst/>
                <a:rect l="0" t="0" r="r" b="b"/>
                <a:pathLst>
                  <a:path w="254776" h="221544" fill="norm" stroke="1" extrusionOk="0">
                    <a:moveTo>
                      <a:pt x="55386" y="0"/>
                    </a:moveTo>
                    <a:lnTo>
                      <a:pt x="254776" y="110773"/>
                    </a:lnTo>
                    <a:lnTo>
                      <a:pt x="254776" y="199390"/>
                    </a:lnTo>
                    <a:lnTo>
                      <a:pt x="199390" y="221545"/>
                    </a:lnTo>
                    <a:lnTo>
                      <a:pt x="199390" y="132927"/>
                    </a:lnTo>
                    <a:lnTo>
                      <a:pt x="0" y="22155"/>
                    </a:lnTo>
                  </a:path>
                </a:pathLst>
              </a:custGeom>
              <a:solidFill>
                <a:srgbClr val="FFFFFF"/>
              </a:solidFill>
              <a:ln w="12185" cap="rnd" cmpd="sng" algn="ctr">
                <a:solidFill>
                  <a:srgbClr val="243E42"/>
                </a:solidFill>
                <a:prstDash val="solid"/>
                <a:round/>
                <a:headEnd type="none" w="med" len="med"/>
                <a:tailEnd type="none" w="med" len="med"/>
              </a:ln>
            </p:spPr>
          </p:sp>
          <p:sp>
            <p:nvSpPr>
              <p:cNvPr id="1086" name="circle · 64"/>
              <p:cNvSpPr/>
              <p:nvPr/>
            </p:nvSpPr>
            <p:spPr>
              <a:xfrm>
                <a:off x="941246" y="2890802"/>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087" name="circle · 65"/>
              <p:cNvSpPr/>
              <p:nvPr/>
            </p:nvSpPr>
            <p:spPr>
              <a:xfrm>
                <a:off x="1334488" y="2912957"/>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grpSp>
        <p:grpSp>
          <p:nvGrpSpPr>
            <p:cNvPr id="1088" name="auth · 75"/>
            <p:cNvGrpSpPr/>
            <p:nvPr/>
          </p:nvGrpSpPr>
          <p:grpSpPr>
            <a:xfrm>
              <a:off x="2188528" y="2432050"/>
              <a:ext cx="1026795" cy="893445"/>
              <a:chOff x="2188528" y="2432050"/>
              <a:chExt cx="1026795" cy="893445"/>
            </a:xfrm>
          </p:grpSpPr>
          <p:sp>
            <p:nvSpPr>
              <p:cNvPr id="1089" name="rect · 67"/>
              <p:cNvSpPr/>
              <p:nvPr/>
            </p:nvSpPr>
            <p:spPr>
              <a:xfrm>
                <a:off x="2188528" y="2432050"/>
                <a:ext cx="913448" cy="746760"/>
              </a:xfrm>
              <a:prstGeom prst="roundRect">
                <a:avLst>
                  <a:gd name="adj" fmla="val 11607"/>
                </a:avLst>
              </a:prstGeom>
              <a:solidFill>
                <a:srgbClr val="FFFFFF"/>
              </a:solidFill>
              <a:ln w="14669" cap="rnd" cmpd="sng" algn="ctr">
                <a:solidFill>
                  <a:srgbClr val="243E42"/>
                </a:solidFill>
                <a:prstDash val="solid"/>
                <a:round/>
                <a:headEnd type="none" w="med" len="med"/>
                <a:tailEnd type="none" w="med" len="med"/>
              </a:ln>
            </p:spPr>
          </p:sp>
          <p:sp>
            <p:nvSpPr>
              <p:cNvPr id="1090" name="path · 68"/>
              <p:cNvSpPr/>
              <p:nvPr/>
            </p:nvSpPr>
            <p:spPr>
              <a:xfrm>
                <a:off x="2188528" y="2432050"/>
                <a:ext cx="913448" cy="166688"/>
              </a:xfrm>
              <a:custGeom>
                <a:avLst/>
                <a:gdLst/>
                <a:ahLst/>
                <a:cxnLst/>
                <a:rect l="0" t="0" r="r" b="b"/>
                <a:pathLst>
                  <a:path w="913448" h="166688" fill="norm" stroke="1" extrusionOk="0">
                    <a:moveTo>
                      <a:pt x="86677" y="0"/>
                    </a:moveTo>
                    <a:lnTo>
                      <a:pt x="826770" y="0"/>
                    </a:lnTo>
                    <a:quadBezTo>
                      <a:pt x="913447" y="0"/>
                      <a:pt x="913447" y="86678"/>
                    </a:quadBezTo>
                    <a:lnTo>
                      <a:pt x="913447" y="166688"/>
                    </a:lnTo>
                    <a:lnTo>
                      <a:pt x="0" y="166688"/>
                    </a:lnTo>
                    <a:lnTo>
                      <a:pt x="0" y="86678"/>
                    </a:lnTo>
                    <a:quadBezTo>
                      <a:pt x="0" y="0"/>
                      <a:pt x="86677" y="0"/>
                    </a:quadBezTo>
                  </a:path>
                </a:pathLst>
              </a:custGeom>
              <a:solidFill>
                <a:srgbClr val="E2EEF3"/>
              </a:solidFill>
              <a:ln w="14669" cap="rnd" cmpd="sng" algn="ctr">
                <a:solidFill>
                  <a:srgbClr val="243E42"/>
                </a:solidFill>
                <a:prstDash val="solid"/>
                <a:round/>
                <a:headEnd type="none" w="med" len="med"/>
                <a:tailEnd type="none" w="med" len="med"/>
              </a:ln>
            </p:spPr>
          </p:sp>
          <p:sp>
            <p:nvSpPr>
              <p:cNvPr id="1091" name="circle · 69"/>
              <p:cNvSpPr/>
              <p:nvPr/>
            </p:nvSpPr>
            <p:spPr>
              <a:xfrm>
                <a:off x="2361882" y="2718752"/>
                <a:ext cx="160020" cy="160020"/>
              </a:xfrm>
              <a:prstGeom prst="ellipse">
                <a:avLst/>
              </a:prstGeom>
              <a:solidFill>
                <a:srgbClr val="F4DFD3"/>
              </a:solidFill>
              <a:ln w="14669" cap="rnd" cmpd="sng" algn="ctr">
                <a:solidFill>
                  <a:srgbClr val="243E42"/>
                </a:solidFill>
                <a:prstDash val="solid"/>
                <a:round/>
                <a:headEnd type="none" w="med" len="med"/>
                <a:tailEnd type="none" w="med" len="med"/>
              </a:ln>
            </p:spPr>
          </p:sp>
          <p:sp>
            <p:nvSpPr>
              <p:cNvPr id="1092" name="path · 70"/>
              <p:cNvSpPr/>
              <p:nvPr/>
            </p:nvSpPr>
            <p:spPr>
              <a:xfrm>
                <a:off x="2308542" y="2838768"/>
                <a:ext cx="266700" cy="193357"/>
              </a:xfrm>
              <a:custGeom>
                <a:avLst/>
                <a:gdLst/>
                <a:ahLst/>
                <a:cxnLst/>
                <a:rect l="0" t="0" r="r" b="b"/>
                <a:pathLst>
                  <a:path w="266700" h="193357" fill="norm" stroke="1" extrusionOk="0">
                    <a:moveTo>
                      <a:pt x="0" y="193357"/>
                    </a:moveTo>
                    <a:lnTo>
                      <a:pt x="0" y="133350"/>
                    </a:lnTo>
                    <a:quadBezTo>
                      <a:pt x="0" y="0"/>
                      <a:pt x="133350" y="0"/>
                    </a:quadBezTo>
                    <a:quadBezTo>
                      <a:pt x="266700" y="0"/>
                      <a:pt x="266700" y="133350"/>
                    </a:quadBezTo>
                    <a:lnTo>
                      <a:pt x="266700" y="193357"/>
                    </a:lnTo>
                  </a:path>
                </a:pathLst>
              </a:custGeom>
              <a:solidFill>
                <a:srgbClr val="E2EEF3"/>
              </a:solidFill>
              <a:ln w="14669" cap="rnd" cmpd="sng" algn="ctr">
                <a:solidFill>
                  <a:srgbClr val="243E42"/>
                </a:solidFill>
                <a:prstDash val="solid"/>
                <a:round/>
                <a:headEnd type="none" w="med" len="med"/>
                <a:tailEnd type="none" w="med" len="med"/>
              </a:ln>
            </p:spPr>
          </p:sp>
          <p:sp>
            <p:nvSpPr>
              <p:cNvPr id="1093" name="path · 71"/>
              <p:cNvSpPr/>
              <p:nvPr/>
            </p:nvSpPr>
            <p:spPr>
              <a:xfrm>
                <a:off x="2295208" y="2725420"/>
                <a:ext cx="666750" cy="373380"/>
              </a:xfrm>
              <a:custGeom>
                <a:avLst/>
                <a:gdLst/>
                <a:ahLst/>
                <a:cxnLst/>
                <a:rect l="0" t="0" r="r" b="b"/>
                <a:pathLst>
                  <a:path w="666750" h="373380" fill="none" stroke="1" extrusionOk="0">
                    <a:moveTo>
                      <a:pt x="386714" y="0"/>
                    </a:moveTo>
                    <a:lnTo>
                      <a:pt x="666750" y="0"/>
                    </a:lnTo>
                    <a:moveTo>
                      <a:pt x="386714" y="106680"/>
                    </a:moveTo>
                    <a:lnTo>
                      <a:pt x="566737" y="106680"/>
                    </a:lnTo>
                    <a:moveTo>
                      <a:pt x="0" y="373380"/>
                    </a:moveTo>
                    <a:lnTo>
                      <a:pt x="320040" y="373380"/>
                    </a:lnTo>
                  </a:path>
                </a:pathLst>
              </a:custGeom>
              <a:noFill/>
              <a:ln w="26670" cap="rnd" cmpd="sng" algn="ctr">
                <a:solidFill>
                  <a:srgbClr val="243E42"/>
                </a:solidFill>
                <a:prstDash val="solid"/>
                <a:round/>
                <a:headEnd type="none" w="med" len="med"/>
                <a:tailEnd type="none" w="med" len="med"/>
              </a:ln>
            </p:spPr>
          </p:sp>
          <p:sp>
            <p:nvSpPr>
              <p:cNvPr id="1094" name="path · 72"/>
              <p:cNvSpPr/>
              <p:nvPr/>
            </p:nvSpPr>
            <p:spPr>
              <a:xfrm>
                <a:off x="2775268" y="2825432"/>
                <a:ext cx="440055" cy="500063"/>
              </a:xfrm>
              <a:custGeom>
                <a:avLst/>
                <a:gdLst/>
                <a:ahLst/>
                <a:cxnLst/>
                <a:rect l="0" t="0" r="r" b="b"/>
                <a:pathLst>
                  <a:path w="440055" h="500063" fill="norm" stroke="1" extrusionOk="0">
                    <a:moveTo>
                      <a:pt x="220027" y="0"/>
                    </a:moveTo>
                    <a:lnTo>
                      <a:pt x="440054" y="80010"/>
                    </a:lnTo>
                    <a:lnTo>
                      <a:pt x="440054" y="246698"/>
                    </a:lnTo>
                    <a:quadBezTo>
                      <a:pt x="440054" y="400051"/>
                      <a:pt x="220027" y="500063"/>
                    </a:quadBezTo>
                    <a:quadBezTo>
                      <a:pt x="0" y="400051"/>
                      <a:pt x="0" y="246698"/>
                    </a:quadBezTo>
                    <a:lnTo>
                      <a:pt x="0" y="80010"/>
                    </a:lnTo>
                    <a:close/>
                  </a:path>
                </a:pathLst>
              </a:custGeom>
              <a:solidFill>
                <a:srgbClr val="E2EEF3"/>
              </a:solidFill>
              <a:ln w="14669" cap="rnd" cmpd="sng" algn="ctr">
                <a:solidFill>
                  <a:srgbClr val="243E42"/>
                </a:solidFill>
                <a:prstDash val="solid"/>
                <a:round/>
                <a:headEnd type="none" w="med" len="med"/>
                <a:tailEnd type="none" w="med" len="med"/>
              </a:ln>
            </p:spPr>
          </p:sp>
          <p:sp>
            <p:nvSpPr>
              <p:cNvPr id="1095" name="circle · 73"/>
              <p:cNvSpPr/>
              <p:nvPr/>
            </p:nvSpPr>
            <p:spPr>
              <a:xfrm>
                <a:off x="2941955" y="2972118"/>
                <a:ext cx="106680" cy="106680"/>
              </a:xfrm>
              <a:prstGeom prst="ellipse">
                <a:avLst/>
              </a:prstGeom>
              <a:solidFill>
                <a:srgbClr val="FFFFFF"/>
              </a:solidFill>
              <a:ln w="14669" cap="rnd" cmpd="sng" algn="ctr">
                <a:solidFill>
                  <a:srgbClr val="243E42"/>
                </a:solidFill>
                <a:prstDash val="solid"/>
                <a:round/>
                <a:headEnd type="none" w="med" len="med"/>
                <a:tailEnd type="none" w="med" len="med"/>
              </a:ln>
            </p:spPr>
          </p:sp>
          <p:sp>
            <p:nvSpPr>
              <p:cNvPr id="1096" name="path · 74"/>
              <p:cNvSpPr/>
              <p:nvPr/>
            </p:nvSpPr>
            <p:spPr>
              <a:xfrm>
                <a:off x="2995295" y="3072130"/>
                <a:ext cx="1" cy="106680"/>
              </a:xfrm>
              <a:custGeom>
                <a:avLst/>
                <a:gdLst/>
                <a:ahLst/>
                <a:cxnLst/>
                <a:rect l="0" t="0" r="r" b="b"/>
                <a:pathLst>
                  <a:path w="1" h="106680" fill="none" stroke="1" extrusionOk="0">
                    <a:moveTo>
                      <a:pt x="0" y="0"/>
                    </a:moveTo>
                    <a:lnTo>
                      <a:pt x="0" y="106680"/>
                    </a:lnTo>
                  </a:path>
                </a:pathLst>
              </a:custGeom>
              <a:noFill/>
              <a:ln w="33338" cap="rnd" cmpd="sng" algn="ctr">
                <a:solidFill>
                  <a:srgbClr val="243E42"/>
                </a:solidFill>
                <a:prstDash val="solid"/>
                <a:round/>
                <a:headEnd type="none" w="med" len="med"/>
                <a:tailEnd type="none" w="med" len="med"/>
              </a:ln>
            </p:spPr>
          </p:sp>
        </p:grpSp>
        <p:grpSp>
          <p:nvGrpSpPr>
            <p:cNvPr id="1097" name="receipt · 86"/>
            <p:cNvGrpSpPr/>
            <p:nvPr/>
          </p:nvGrpSpPr>
          <p:grpSpPr>
            <a:xfrm>
              <a:off x="4907703" y="2328349"/>
              <a:ext cx="914400" cy="966031"/>
              <a:chOff x="4907703" y="2328349"/>
              <a:chExt cx="914400" cy="966031"/>
            </a:xfrm>
          </p:grpSpPr>
          <p:grpSp>
            <p:nvGrpSpPr>
              <p:cNvPr id="1098" name="g · 78"/>
              <p:cNvGrpSpPr/>
              <p:nvPr/>
            </p:nvGrpSpPr>
            <p:grpSpPr>
              <a:xfrm>
                <a:off x="4913662" y="2328349"/>
                <a:ext cx="846153" cy="936238"/>
                <a:chOff x="4913662" y="2328349"/>
                <a:chExt cx="846153" cy="936238"/>
              </a:xfrm>
            </p:grpSpPr>
            <p:sp>
              <p:nvSpPr>
                <p:cNvPr id="1099" name="path · 76"/>
                <p:cNvSpPr/>
                <p:nvPr/>
              </p:nvSpPr>
              <p:spPr>
                <a:xfrm>
                  <a:off x="4913662" y="2328349"/>
                  <a:ext cx="846153" cy="936238"/>
                </a:xfrm>
                <a:custGeom>
                  <a:avLst/>
                  <a:gdLst/>
                  <a:ahLst/>
                  <a:cxnLst/>
                  <a:rect l="0" t="0" r="r" b="b"/>
                  <a:pathLst>
                    <a:path w="846153" h="936238" fill="norm" stroke="1" extrusionOk="0">
                      <a:moveTo>
                        <a:pt x="0" y="113375"/>
                      </a:moveTo>
                      <a:lnTo>
                        <a:pt x="715824" y="0"/>
                      </a:lnTo>
                      <a:lnTo>
                        <a:pt x="846152" y="822863"/>
                      </a:lnTo>
                      <a:lnTo>
                        <a:pt x="772896" y="793319"/>
                      </a:lnTo>
                      <a:lnTo>
                        <a:pt x="705664" y="845114"/>
                      </a:lnTo>
                      <a:lnTo>
                        <a:pt x="625717" y="816630"/>
                      </a:lnTo>
                      <a:lnTo>
                        <a:pt x="558485" y="868425"/>
                      </a:lnTo>
                      <a:lnTo>
                        <a:pt x="478538" y="839940"/>
                      </a:lnTo>
                      <a:lnTo>
                        <a:pt x="411306" y="891735"/>
                      </a:lnTo>
                      <a:lnTo>
                        <a:pt x="331359" y="863251"/>
                      </a:lnTo>
                      <a:lnTo>
                        <a:pt x="264127" y="915046"/>
                      </a:lnTo>
                      <a:lnTo>
                        <a:pt x="190871" y="885502"/>
                      </a:lnTo>
                      <a:lnTo>
                        <a:pt x="130329" y="936238"/>
                      </a:lnTo>
                      <a:close/>
                    </a:path>
                  </a:pathLst>
                </a:custGeom>
                <a:solidFill>
                  <a:srgbClr val="E2EEF3"/>
                </a:solidFill>
                <a:ln w="14901" cap="rnd" cmpd="sng" algn="ctr">
                  <a:solidFill>
                    <a:srgbClr val="243E42"/>
                  </a:solidFill>
                  <a:prstDash val="solid"/>
                  <a:round/>
                  <a:headEnd type="none" w="med" len="med"/>
                  <a:tailEnd type="none" w="med" len="med"/>
                </a:ln>
              </p:spPr>
            </p:sp>
            <p:sp>
              <p:nvSpPr>
                <p:cNvPr id="1100" name="path · 77"/>
                <p:cNvSpPr/>
                <p:nvPr/>
              </p:nvSpPr>
              <p:spPr>
                <a:xfrm>
                  <a:off x="5050702" y="2511553"/>
                  <a:ext cx="374637" cy="146306"/>
                </a:xfrm>
                <a:custGeom>
                  <a:avLst/>
                  <a:gdLst/>
                  <a:ahLst/>
                  <a:cxnLst/>
                  <a:rect l="0" t="0" r="r" b="b"/>
                  <a:pathLst>
                    <a:path w="374637" h="146306" fill="none" stroke="1" extrusionOk="0">
                      <a:moveTo>
                        <a:pt x="0" y="59337"/>
                      </a:moveTo>
                      <a:lnTo>
                        <a:pt x="374637" y="0"/>
                      </a:lnTo>
                      <a:moveTo>
                        <a:pt x="13774" y="146306"/>
                      </a:moveTo>
                      <a:lnTo>
                        <a:pt x="294752" y="101804"/>
                      </a:lnTo>
                    </a:path>
                  </a:pathLst>
                </a:custGeom>
                <a:noFill/>
                <a:ln w="27093" cap="rnd" cmpd="sng" algn="ctr">
                  <a:solidFill>
                    <a:srgbClr val="243E42"/>
                  </a:solidFill>
                  <a:prstDash val="solid"/>
                  <a:round/>
                  <a:headEnd type="none" w="med" len="med"/>
                  <a:tailEnd type="none" w="med" len="med"/>
                </a:ln>
              </p:spPr>
            </p:sp>
          </p:grpSp>
          <p:sp>
            <p:nvSpPr>
              <p:cNvPr id="1101" name="path · 79"/>
              <p:cNvSpPr/>
              <p:nvPr/>
            </p:nvSpPr>
            <p:spPr>
              <a:xfrm>
                <a:off x="4907703" y="2461260"/>
                <a:ext cx="711200" cy="833120"/>
              </a:xfrm>
              <a:custGeom>
                <a:avLst/>
                <a:gdLst/>
                <a:ahLst/>
                <a:cxnLst/>
                <a:rect l="0" t="0" r="r" b="b"/>
                <a:pathLst>
                  <a:path w="711200" h="833120" fill="norm" stroke="1" extrusionOk="0">
                    <a:moveTo>
                      <a:pt x="0" y="0"/>
                    </a:moveTo>
                    <a:lnTo>
                      <a:pt x="711200" y="0"/>
                    </a:lnTo>
                    <a:lnTo>
                      <a:pt x="711200" y="833120"/>
                    </a:lnTo>
                    <a:lnTo>
                      <a:pt x="643467" y="792480"/>
                    </a:lnTo>
                    <a:lnTo>
                      <a:pt x="568960" y="833120"/>
                    </a:lnTo>
                    <a:lnTo>
                      <a:pt x="494454" y="792480"/>
                    </a:lnTo>
                    <a:lnTo>
                      <a:pt x="419947" y="833120"/>
                    </a:lnTo>
                    <a:lnTo>
                      <a:pt x="345440" y="792480"/>
                    </a:lnTo>
                    <a:lnTo>
                      <a:pt x="270934" y="833120"/>
                    </a:lnTo>
                    <a:lnTo>
                      <a:pt x="196427" y="792480"/>
                    </a:lnTo>
                    <a:lnTo>
                      <a:pt x="128694" y="833120"/>
                    </a:lnTo>
                    <a:lnTo>
                      <a:pt x="67734" y="792480"/>
                    </a:lnTo>
                    <a:lnTo>
                      <a:pt x="0" y="833120"/>
                    </a:lnTo>
                    <a:close/>
                  </a:path>
                </a:pathLst>
              </a:custGeom>
              <a:solidFill>
                <a:srgbClr val="FFFFFF"/>
              </a:solidFill>
              <a:ln w="14901" cap="rnd" cmpd="sng" algn="ctr">
                <a:solidFill>
                  <a:srgbClr val="243E42"/>
                </a:solidFill>
                <a:prstDash val="solid"/>
                <a:round/>
                <a:headEnd type="none" w="med" len="med"/>
                <a:tailEnd type="none" w="med" len="med"/>
              </a:ln>
            </p:spPr>
          </p:sp>
          <p:sp>
            <p:nvSpPr>
              <p:cNvPr id="1102" name="path · 80"/>
              <p:cNvSpPr/>
              <p:nvPr/>
            </p:nvSpPr>
            <p:spPr>
              <a:xfrm>
                <a:off x="5009303" y="2562860"/>
                <a:ext cx="487680" cy="541867"/>
              </a:xfrm>
              <a:custGeom>
                <a:avLst/>
                <a:gdLst/>
                <a:ahLst/>
                <a:cxnLst/>
                <a:rect l="0" t="0" r="r" b="b"/>
                <a:pathLst>
                  <a:path w="487680" h="541867" fill="none" stroke="1" extrusionOk="0">
                    <a:moveTo>
                      <a:pt x="0" y="0"/>
                    </a:moveTo>
                    <a:lnTo>
                      <a:pt x="311574" y="0"/>
                    </a:lnTo>
                    <a:moveTo>
                      <a:pt x="0" y="74507"/>
                    </a:moveTo>
                    <a:lnTo>
                      <a:pt x="433494" y="74507"/>
                    </a:lnTo>
                    <a:moveTo>
                      <a:pt x="13547" y="541867"/>
                    </a:moveTo>
                    <a:lnTo>
                      <a:pt x="176107" y="541867"/>
                    </a:lnTo>
                    <a:moveTo>
                      <a:pt x="270934" y="541867"/>
                    </a:moveTo>
                    <a:lnTo>
                      <a:pt x="487680" y="541867"/>
                    </a:lnTo>
                  </a:path>
                </a:pathLst>
              </a:custGeom>
              <a:noFill/>
              <a:ln w="27093" cap="rnd" cmpd="sng" algn="ctr">
                <a:solidFill>
                  <a:srgbClr val="243E42"/>
                </a:solidFill>
                <a:prstDash val="solid"/>
                <a:round/>
                <a:headEnd type="none" w="med" len="med"/>
                <a:tailEnd type="none" w="med" len="med"/>
              </a:ln>
            </p:spPr>
          </p:sp>
          <p:sp>
            <p:nvSpPr>
              <p:cNvPr id="1103" name="path · 81"/>
              <p:cNvSpPr/>
              <p:nvPr/>
            </p:nvSpPr>
            <p:spPr>
              <a:xfrm>
                <a:off x="5104130" y="2650913"/>
                <a:ext cx="338667" cy="250613"/>
              </a:xfrm>
              <a:custGeom>
                <a:avLst/>
                <a:gdLst/>
                <a:ahLst/>
                <a:cxnLst/>
                <a:rect l="0" t="0" r="r" b="b"/>
                <a:pathLst>
                  <a:path w="338667" h="250613" fill="none" stroke="1" extrusionOk="0">
                    <a:moveTo>
                      <a:pt x="0" y="250614"/>
                    </a:moveTo>
                    <a:lnTo>
                      <a:pt x="0" y="169334"/>
                    </a:lnTo>
                    <a:cubicBezTo>
                      <a:pt x="0" y="75813"/>
                      <a:pt x="75813" y="0"/>
                      <a:pt x="169333" y="0"/>
                    </a:cubicBezTo>
                    <a:cubicBezTo>
                      <a:pt x="262854" y="0"/>
                      <a:pt x="338667" y="75813"/>
                      <a:pt x="338667" y="169334"/>
                    </a:cubicBezTo>
                    <a:lnTo>
                      <a:pt x="338667" y="250614"/>
                    </a:lnTo>
                  </a:path>
                </a:pathLst>
              </a:custGeom>
              <a:noFill/>
              <a:ln w="40640" cap="rnd" cmpd="sng" algn="ctr">
                <a:solidFill>
                  <a:srgbClr val="665180"/>
                </a:solidFill>
                <a:prstDash val="solid"/>
                <a:round/>
                <a:headEnd type="none" w="med" len="med"/>
                <a:tailEnd type="none" w="med" len="med"/>
              </a:ln>
            </p:spPr>
          </p:sp>
          <p:sp>
            <p:nvSpPr>
              <p:cNvPr id="1104" name="rect · 82"/>
              <p:cNvSpPr/>
              <p:nvPr/>
            </p:nvSpPr>
            <p:spPr>
              <a:xfrm>
                <a:off x="5063490" y="2827020"/>
                <a:ext cx="94827" cy="182880"/>
              </a:xfrm>
              <a:prstGeom prst="roundRect">
                <a:avLst>
                  <a:gd name="adj" fmla="val 42857"/>
                </a:avLst>
              </a:prstGeom>
              <a:solidFill>
                <a:srgbClr val="E8E0F3"/>
              </a:solidFill>
              <a:ln w="14901" cap="rnd" cmpd="sng" algn="ctr">
                <a:solidFill>
                  <a:srgbClr val="243E42"/>
                </a:solidFill>
                <a:prstDash val="solid"/>
                <a:round/>
                <a:headEnd type="none" w="med" len="med"/>
                <a:tailEnd type="none" w="med" len="med"/>
              </a:ln>
            </p:spPr>
          </p:sp>
          <p:sp>
            <p:nvSpPr>
              <p:cNvPr id="1105" name="rect · 83"/>
              <p:cNvSpPr/>
              <p:nvPr/>
            </p:nvSpPr>
            <p:spPr>
              <a:xfrm>
                <a:off x="5388610" y="2827020"/>
                <a:ext cx="94827" cy="182880"/>
              </a:xfrm>
              <a:prstGeom prst="roundRect">
                <a:avLst>
                  <a:gd name="adj" fmla="val 42857"/>
                </a:avLst>
              </a:prstGeom>
              <a:solidFill>
                <a:srgbClr val="E8E0F3"/>
              </a:solidFill>
              <a:ln w="14901" cap="rnd" cmpd="sng" algn="ctr">
                <a:solidFill>
                  <a:srgbClr val="243E42"/>
                </a:solidFill>
                <a:prstDash val="solid"/>
                <a:round/>
                <a:headEnd type="none" w="med" len="med"/>
                <a:tailEnd type="none" w="med" len="med"/>
              </a:ln>
            </p:spPr>
          </p:sp>
          <p:sp>
            <p:nvSpPr>
              <p:cNvPr id="1106" name="circle · 84"/>
              <p:cNvSpPr/>
              <p:nvPr/>
            </p:nvSpPr>
            <p:spPr>
              <a:xfrm>
                <a:off x="5469890" y="2874433"/>
                <a:ext cx="352213" cy="352213"/>
              </a:xfrm>
              <a:prstGeom prst="ellipse">
                <a:avLst/>
              </a:prstGeom>
              <a:solidFill>
                <a:srgbClr val="D7EBE1"/>
              </a:solidFill>
              <a:ln w="14901" cap="rnd" cmpd="sng" algn="ctr">
                <a:solidFill>
                  <a:srgbClr val="243E42"/>
                </a:solidFill>
                <a:prstDash val="solid"/>
                <a:round/>
                <a:headEnd type="none" w="med" len="med"/>
                <a:tailEnd type="none" w="med" len="med"/>
              </a:ln>
            </p:spPr>
          </p:sp>
          <p:sp>
            <p:nvSpPr>
              <p:cNvPr id="1107" name="path · 85"/>
              <p:cNvSpPr/>
              <p:nvPr/>
            </p:nvSpPr>
            <p:spPr>
              <a:xfrm>
                <a:off x="5551170" y="2969260"/>
                <a:ext cx="189653" cy="149013"/>
              </a:xfrm>
              <a:custGeom>
                <a:avLst/>
                <a:gdLst/>
                <a:ahLst/>
                <a:cxnLst/>
                <a:rect l="0" t="0" r="r" b="b"/>
                <a:pathLst>
                  <a:path w="189653" h="149013" fill="none" stroke="1" extrusionOk="0">
                    <a:moveTo>
                      <a:pt x="0" y="81280"/>
                    </a:moveTo>
                    <a:lnTo>
                      <a:pt x="67733" y="149013"/>
                    </a:lnTo>
                    <a:lnTo>
                      <a:pt x="189653" y="0"/>
                    </a:lnTo>
                  </a:path>
                </a:pathLst>
              </a:custGeom>
              <a:noFill/>
              <a:ln w="33867" cap="rnd" cmpd="sng" algn="ctr">
                <a:solidFill>
                  <a:srgbClr val="2E6653"/>
                </a:solidFill>
                <a:prstDash val="solid"/>
                <a:round/>
                <a:headEnd type="none" w="med" len="med"/>
                <a:tailEnd type="none" w="med" len="med"/>
              </a:ln>
            </p:spPr>
          </p:sp>
        </p:grpSp>
        <p:grpSp>
          <p:nvGrpSpPr>
            <p:cNvPr id="1108" name="locked · 93"/>
            <p:cNvGrpSpPr/>
            <p:nvPr/>
          </p:nvGrpSpPr>
          <p:grpSpPr>
            <a:xfrm>
              <a:off x="820208" y="4377972"/>
              <a:ext cx="721254" cy="721254"/>
              <a:chOff x="820208" y="4377972"/>
              <a:chExt cx="721254" cy="721254"/>
            </a:xfrm>
          </p:grpSpPr>
          <p:sp>
            <p:nvSpPr>
              <p:cNvPr id="1109" name="path · 87"/>
              <p:cNvSpPr/>
              <p:nvPr/>
            </p:nvSpPr>
            <p:spPr>
              <a:xfrm>
                <a:off x="917399" y="4377972"/>
                <a:ext cx="398992" cy="322262"/>
              </a:xfrm>
              <a:custGeom>
                <a:avLst/>
                <a:gdLst/>
                <a:ahLst/>
                <a:cxnLst/>
                <a:rect l="0" t="0" r="r" b="b"/>
                <a:pathLst>
                  <a:path w="398992" h="322262" fill="none" stroke="1" extrusionOk="0">
                    <a:moveTo>
                      <a:pt x="0" y="322263"/>
                    </a:moveTo>
                    <a:lnTo>
                      <a:pt x="0" y="199496"/>
                    </a:lnTo>
                    <a:cubicBezTo>
                      <a:pt x="0" y="89318"/>
                      <a:pt x="89317" y="0"/>
                      <a:pt x="199495" y="0"/>
                    </a:cubicBezTo>
                    <a:cubicBezTo>
                      <a:pt x="309674" y="0"/>
                      <a:pt x="398991" y="89318"/>
                      <a:pt x="398991" y="199496"/>
                    </a:cubicBezTo>
                    <a:lnTo>
                      <a:pt x="398991" y="322263"/>
                    </a:lnTo>
                  </a:path>
                </a:pathLst>
              </a:custGeom>
              <a:noFill/>
              <a:ln w="56268" cap="rnd" cmpd="sng" algn="ctr">
                <a:solidFill>
                  <a:srgbClr val="243E42"/>
                </a:solidFill>
                <a:prstDash val="solid"/>
                <a:round/>
                <a:headEnd type="none" w="med" len="med"/>
                <a:tailEnd type="none" w="med" len="med"/>
              </a:ln>
            </p:spPr>
          </p:sp>
          <p:sp>
            <p:nvSpPr>
              <p:cNvPr id="1110" name="rect · 88"/>
              <p:cNvSpPr/>
              <p:nvPr/>
            </p:nvSpPr>
            <p:spPr>
              <a:xfrm>
                <a:off x="820208" y="4674658"/>
                <a:ext cx="603603" cy="424568"/>
              </a:xfrm>
              <a:prstGeom prst="roundRect">
                <a:avLst>
                  <a:gd name="adj" fmla="val 19277"/>
                </a:avLst>
              </a:prstGeom>
              <a:solidFill>
                <a:srgbClr val="F4DFD3"/>
              </a:solidFill>
              <a:ln w="11254" cap="rnd" cmpd="sng" algn="ctr">
                <a:solidFill>
                  <a:srgbClr val="243E42"/>
                </a:solidFill>
                <a:prstDash val="solid"/>
                <a:round/>
                <a:headEnd type="none" w="med" len="med"/>
                <a:tailEnd type="none" w="med" len="med"/>
              </a:ln>
            </p:spPr>
          </p:sp>
          <p:sp>
            <p:nvSpPr>
              <p:cNvPr id="1111" name="circle · 89"/>
              <p:cNvSpPr/>
              <p:nvPr/>
            </p:nvSpPr>
            <p:spPr>
              <a:xfrm>
                <a:off x="1065742" y="4792310"/>
                <a:ext cx="102306" cy="102306"/>
              </a:xfrm>
              <a:prstGeom prst="ellipse">
                <a:avLst/>
              </a:prstGeom>
              <a:solidFill>
                <a:srgbClr val="FFFFFF"/>
              </a:solidFill>
              <a:ln w="11254" cap="rnd" cmpd="sng" algn="ctr">
                <a:solidFill>
                  <a:srgbClr val="243E42"/>
                </a:solidFill>
                <a:prstDash val="solid"/>
                <a:round/>
                <a:headEnd type="none" w="med" len="med"/>
                <a:tailEnd type="none" w="med" len="med"/>
              </a:ln>
            </p:spPr>
          </p:sp>
          <p:sp>
            <p:nvSpPr>
              <p:cNvPr id="1112" name="path · 90"/>
              <p:cNvSpPr/>
              <p:nvPr/>
            </p:nvSpPr>
            <p:spPr>
              <a:xfrm>
                <a:off x="1116894" y="4894615"/>
                <a:ext cx="1" cy="92075"/>
              </a:xfrm>
              <a:custGeom>
                <a:avLst/>
                <a:gdLst/>
                <a:ahLst/>
                <a:cxnLst/>
                <a:rect l="0" t="0" r="r" b="b"/>
                <a:pathLst>
                  <a:path w="1" h="92075" fill="none" stroke="1" extrusionOk="0">
                    <a:moveTo>
                      <a:pt x="0" y="0"/>
                    </a:moveTo>
                    <a:lnTo>
                      <a:pt x="0" y="92075"/>
                    </a:lnTo>
                  </a:path>
                </a:pathLst>
              </a:custGeom>
              <a:noFill/>
              <a:ln w="30692" cap="rnd" cmpd="sng" algn="ctr">
                <a:solidFill>
                  <a:srgbClr val="243E42"/>
                </a:solidFill>
                <a:prstDash val="solid"/>
                <a:round/>
                <a:headEnd type="none" w="med" len="med"/>
                <a:tailEnd type="none" w="med" len="med"/>
              </a:ln>
            </p:spPr>
          </p:sp>
          <p:sp>
            <p:nvSpPr>
              <p:cNvPr id="1113" name="circle · 91"/>
              <p:cNvSpPr/>
              <p:nvPr/>
            </p:nvSpPr>
            <p:spPr>
              <a:xfrm>
                <a:off x="1275468" y="4817886"/>
                <a:ext cx="265994" cy="265994"/>
              </a:xfrm>
              <a:prstGeom prst="ellipse">
                <a:avLst/>
              </a:prstGeom>
              <a:solidFill>
                <a:srgbClr val="FFFFFF"/>
              </a:solidFill>
              <a:ln w="15346" cap="rnd" cmpd="sng" algn="ctr">
                <a:solidFill>
                  <a:srgbClr val="81533E"/>
                </a:solidFill>
                <a:prstDash val="solid"/>
                <a:round/>
                <a:headEnd type="none" w="med" len="med"/>
                <a:tailEnd type="none" w="med" len="med"/>
              </a:ln>
            </p:spPr>
          </p:sp>
          <p:sp>
            <p:nvSpPr>
              <p:cNvPr id="1114" name="path · 92"/>
              <p:cNvSpPr/>
              <p:nvPr/>
            </p:nvSpPr>
            <p:spPr>
              <a:xfrm>
                <a:off x="1341967" y="4889500"/>
                <a:ext cx="127882" cy="127882"/>
              </a:xfrm>
              <a:custGeom>
                <a:avLst/>
                <a:gdLst/>
                <a:ahLst/>
                <a:cxnLst/>
                <a:rect l="0" t="0" r="r" b="b"/>
                <a:pathLst>
                  <a:path w="127882" h="127882" fill="none" stroke="1" extrusionOk="0">
                    <a:moveTo>
                      <a:pt x="0" y="0"/>
                    </a:moveTo>
                    <a:lnTo>
                      <a:pt x="127882" y="127882"/>
                    </a:lnTo>
                    <a:moveTo>
                      <a:pt x="127882" y="0"/>
                    </a:moveTo>
                    <a:lnTo>
                      <a:pt x="0" y="127882"/>
                    </a:lnTo>
                  </a:path>
                </a:pathLst>
              </a:custGeom>
              <a:noFill/>
              <a:ln w="25576" cap="rnd" cmpd="sng" algn="ctr">
                <a:solidFill>
                  <a:srgbClr val="81533E"/>
                </a:solidFill>
                <a:prstDash val="solid"/>
                <a:round/>
                <a:headEnd type="none" w="med" len="med"/>
                <a:tailEnd type="none" w="med" len="med"/>
              </a:ln>
            </p:spPr>
          </p:sp>
        </p:grpSp>
        <p:grpSp>
          <p:nvGrpSpPr>
            <p:cNvPr id="1115" name="signin · 104"/>
            <p:cNvGrpSpPr/>
            <p:nvPr/>
          </p:nvGrpSpPr>
          <p:grpSpPr>
            <a:xfrm>
              <a:off x="2224617" y="4409899"/>
              <a:ext cx="1011590" cy="770114"/>
              <a:chOff x="2224617" y="4409899"/>
              <a:chExt cx="1011590" cy="770114"/>
            </a:xfrm>
          </p:grpSpPr>
          <p:sp>
            <p:nvSpPr>
              <p:cNvPr id="1116" name="rect · 94"/>
              <p:cNvSpPr/>
              <p:nvPr/>
            </p:nvSpPr>
            <p:spPr>
              <a:xfrm>
                <a:off x="2368197" y="4409899"/>
                <a:ext cx="868010" cy="770114"/>
              </a:xfrm>
              <a:prstGeom prst="roundRect">
                <a:avLst>
                  <a:gd name="adj" fmla="val 11017"/>
                </a:avLst>
              </a:prstGeom>
              <a:solidFill>
                <a:srgbClr val="FFFFFF"/>
              </a:solidFill>
              <a:ln w="14358" cap="rnd" cmpd="sng" algn="ctr">
                <a:solidFill>
                  <a:srgbClr val="243E42"/>
                </a:solidFill>
                <a:prstDash val="solid"/>
                <a:round/>
                <a:headEnd type="none" w="med" len="med"/>
                <a:tailEnd type="none" w="med" len="med"/>
              </a:ln>
            </p:spPr>
          </p:sp>
          <p:sp>
            <p:nvSpPr>
              <p:cNvPr id="1117" name="path · 95"/>
              <p:cNvSpPr/>
              <p:nvPr/>
            </p:nvSpPr>
            <p:spPr>
              <a:xfrm>
                <a:off x="2368197" y="4409899"/>
                <a:ext cx="868010" cy="176212"/>
              </a:xfrm>
              <a:custGeom>
                <a:avLst/>
                <a:gdLst/>
                <a:ahLst/>
                <a:cxnLst/>
                <a:rect l="0" t="0" r="r" b="b"/>
                <a:pathLst>
                  <a:path w="868010" h="176212" fill="norm" stroke="1" extrusionOk="0">
                    <a:moveTo>
                      <a:pt x="84843" y="0"/>
                    </a:moveTo>
                    <a:lnTo>
                      <a:pt x="783167" y="0"/>
                    </a:lnTo>
                    <a:quadBezTo>
                      <a:pt x="868010" y="0"/>
                      <a:pt x="868010" y="84843"/>
                    </a:quadBezTo>
                    <a:lnTo>
                      <a:pt x="868010" y="176212"/>
                    </a:lnTo>
                    <a:lnTo>
                      <a:pt x="0" y="176212"/>
                    </a:lnTo>
                    <a:lnTo>
                      <a:pt x="0" y="84843"/>
                    </a:lnTo>
                    <a:quadBezTo>
                      <a:pt x="0" y="0"/>
                      <a:pt x="84843" y="0"/>
                    </a:quadBezTo>
                    <a:close/>
                  </a:path>
                </a:pathLst>
              </a:custGeom>
              <a:solidFill>
                <a:srgbClr val="E2EEF3"/>
              </a:solidFill>
              <a:ln w="14358" cap="rnd" cmpd="sng" algn="ctr">
                <a:solidFill>
                  <a:srgbClr val="243E42"/>
                </a:solidFill>
                <a:prstDash val="solid"/>
                <a:round/>
                <a:headEnd type="none" w="med" len="med"/>
                <a:tailEnd type="none" w="med" len="med"/>
              </a:ln>
            </p:spPr>
          </p:sp>
          <p:sp>
            <p:nvSpPr>
              <p:cNvPr id="1118" name="circle · 96"/>
              <p:cNvSpPr/>
              <p:nvPr/>
            </p:nvSpPr>
            <p:spPr>
              <a:xfrm>
                <a:off x="2439988" y="4481689"/>
                <a:ext cx="39158" cy="39158"/>
              </a:xfrm>
              <a:prstGeom prst="ellipse">
                <a:avLst/>
              </a:prstGeom>
              <a:solidFill>
                <a:srgbClr val="243E42"/>
              </a:solidFill>
              <a:ln>
                <a:noFill/>
              </a:ln>
            </p:spPr>
          </p:sp>
          <p:sp>
            <p:nvSpPr>
              <p:cNvPr id="1119" name="circle · 97"/>
              <p:cNvSpPr/>
              <p:nvPr/>
            </p:nvSpPr>
            <p:spPr>
              <a:xfrm>
                <a:off x="2524831" y="4481689"/>
                <a:ext cx="39158" cy="39158"/>
              </a:xfrm>
              <a:prstGeom prst="ellipse">
                <a:avLst/>
              </a:prstGeom>
              <a:solidFill>
                <a:srgbClr val="243E42"/>
              </a:solidFill>
              <a:ln>
                <a:noFill/>
              </a:ln>
            </p:spPr>
          </p:sp>
          <p:sp>
            <p:nvSpPr>
              <p:cNvPr id="1120" name="path · 98"/>
              <p:cNvSpPr/>
              <p:nvPr/>
            </p:nvSpPr>
            <p:spPr>
              <a:xfrm>
                <a:off x="2746728" y="4586111"/>
                <a:ext cx="208844" cy="169686"/>
              </a:xfrm>
              <a:custGeom>
                <a:avLst/>
                <a:gdLst/>
                <a:ahLst/>
                <a:cxnLst/>
                <a:rect l="0" t="0" r="r" b="b"/>
                <a:pathLst>
                  <a:path w="208844" h="169686" fill="none" stroke="1" extrusionOk="0">
                    <a:moveTo>
                      <a:pt x="0" y="169686"/>
                    </a:moveTo>
                    <a:lnTo>
                      <a:pt x="0" y="104422"/>
                    </a:lnTo>
                    <a:cubicBezTo>
                      <a:pt x="0" y="46752"/>
                      <a:pt x="46751" y="0"/>
                      <a:pt x="104422" y="0"/>
                    </a:cubicBezTo>
                    <a:cubicBezTo>
                      <a:pt x="162093" y="0"/>
                      <a:pt x="208844" y="46752"/>
                      <a:pt x="208844" y="104422"/>
                    </a:cubicBezTo>
                    <a:lnTo>
                      <a:pt x="208844" y="169686"/>
                    </a:lnTo>
                  </a:path>
                </a:pathLst>
              </a:custGeom>
              <a:noFill/>
              <a:ln w="32632" cap="rnd" cmpd="sng" algn="ctr">
                <a:solidFill>
                  <a:srgbClr val="243E42"/>
                </a:solidFill>
                <a:prstDash val="solid"/>
                <a:round/>
                <a:headEnd type="none" w="med" len="med"/>
                <a:tailEnd type="none" w="med" len="med"/>
              </a:ln>
            </p:spPr>
          </p:sp>
          <p:sp>
            <p:nvSpPr>
              <p:cNvPr id="1121" name="rect · 99"/>
              <p:cNvSpPr/>
              <p:nvPr/>
            </p:nvSpPr>
            <p:spPr>
              <a:xfrm>
                <a:off x="2701043" y="4749271"/>
                <a:ext cx="300214" cy="241476"/>
              </a:xfrm>
              <a:prstGeom prst="roundRect">
                <a:avLst>
                  <a:gd name="adj" fmla="val 18919"/>
                </a:avLst>
              </a:prstGeom>
              <a:solidFill>
                <a:srgbClr val="F6EAC8"/>
              </a:solidFill>
              <a:ln w="14358" cap="rnd" cmpd="sng" algn="ctr">
                <a:solidFill>
                  <a:srgbClr val="243E42"/>
                </a:solidFill>
                <a:prstDash val="solid"/>
                <a:round/>
                <a:headEnd type="none" w="med" len="med"/>
                <a:tailEnd type="none" w="med" len="med"/>
              </a:ln>
            </p:spPr>
          </p:sp>
          <p:sp>
            <p:nvSpPr>
              <p:cNvPr id="1122" name="circle · 100"/>
              <p:cNvSpPr/>
              <p:nvPr/>
            </p:nvSpPr>
            <p:spPr>
              <a:xfrm>
                <a:off x="2825044" y="4821061"/>
                <a:ext cx="52211" cy="52211"/>
              </a:xfrm>
              <a:prstGeom prst="ellipse">
                <a:avLst/>
              </a:prstGeom>
              <a:solidFill>
                <a:srgbClr val="7A6025"/>
              </a:solidFill>
              <a:ln>
                <a:noFill/>
              </a:ln>
            </p:spPr>
          </p:sp>
          <p:sp>
            <p:nvSpPr>
              <p:cNvPr id="1123" name="path · 101"/>
              <p:cNvSpPr/>
              <p:nvPr/>
            </p:nvSpPr>
            <p:spPr>
              <a:xfrm>
                <a:off x="2851150" y="4860219"/>
                <a:ext cx="1" cy="58738"/>
              </a:xfrm>
              <a:custGeom>
                <a:avLst/>
                <a:gdLst/>
                <a:ahLst/>
                <a:cxnLst/>
                <a:rect l="0" t="0" r="r" b="b"/>
                <a:pathLst>
                  <a:path w="1" h="58738" fill="none" stroke="1" extrusionOk="0">
                    <a:moveTo>
                      <a:pt x="0" y="0"/>
                    </a:moveTo>
                    <a:lnTo>
                      <a:pt x="0" y="58738"/>
                    </a:lnTo>
                  </a:path>
                </a:pathLst>
              </a:custGeom>
              <a:noFill/>
              <a:ln w="19579" cap="rnd" cmpd="sng" algn="ctr">
                <a:solidFill>
                  <a:srgbClr val="7A6025"/>
                </a:solidFill>
                <a:prstDash val="solid"/>
                <a:round/>
                <a:headEnd type="none" w="med" len="med"/>
                <a:tailEnd type="none" w="med" len="med"/>
              </a:ln>
            </p:spPr>
          </p:sp>
          <p:sp>
            <p:nvSpPr>
              <p:cNvPr id="1124" name="path · 102"/>
              <p:cNvSpPr/>
              <p:nvPr/>
            </p:nvSpPr>
            <p:spPr>
              <a:xfrm>
                <a:off x="2224617" y="4925483"/>
                <a:ext cx="417689" cy="221897"/>
              </a:xfrm>
              <a:custGeom>
                <a:avLst/>
                <a:gdLst/>
                <a:ahLst/>
                <a:cxnLst/>
                <a:rect l="0" t="0" r="r" b="b"/>
                <a:pathLst>
                  <a:path w="417689" h="221897" fill="none" stroke="1" extrusionOk="0">
                    <a:moveTo>
                      <a:pt x="0" y="110949"/>
                    </a:moveTo>
                    <a:lnTo>
                      <a:pt x="411162" y="110949"/>
                    </a:lnTo>
                    <a:moveTo>
                      <a:pt x="306740" y="0"/>
                    </a:moveTo>
                    <a:lnTo>
                      <a:pt x="417689" y="110949"/>
                    </a:lnTo>
                    <a:lnTo>
                      <a:pt x="306740" y="221898"/>
                    </a:lnTo>
                  </a:path>
                </a:pathLst>
              </a:custGeom>
              <a:noFill/>
              <a:ln w="45685" cap="rnd" cmpd="sng" algn="ctr">
                <a:solidFill>
                  <a:srgbClr val="2E6653"/>
                </a:solidFill>
                <a:prstDash val="solid"/>
                <a:round/>
                <a:headEnd type="none" w="med" len="med"/>
                <a:tailEnd type="none" w="med" len="med"/>
              </a:ln>
            </p:spPr>
          </p:sp>
          <p:sp>
            <p:nvSpPr>
              <p:cNvPr id="1125" name="path · 103"/>
              <p:cNvSpPr/>
              <p:nvPr/>
            </p:nvSpPr>
            <p:spPr>
              <a:xfrm>
                <a:off x="2740201" y="5075590"/>
                <a:ext cx="274108" cy="1"/>
              </a:xfrm>
              <a:custGeom>
                <a:avLst/>
                <a:gdLst/>
                <a:ahLst/>
                <a:cxnLst/>
                <a:rect l="0" t="0" r="r" b="b"/>
                <a:pathLst>
                  <a:path w="274108" h="1" fill="none" stroke="1" extrusionOk="0">
                    <a:moveTo>
                      <a:pt x="0" y="0"/>
                    </a:moveTo>
                    <a:lnTo>
                      <a:pt x="274109" y="0"/>
                    </a:lnTo>
                  </a:path>
                </a:pathLst>
              </a:custGeom>
              <a:noFill/>
              <a:ln w="26106" cap="rnd" cmpd="sng" algn="ctr">
                <a:solidFill>
                  <a:srgbClr val="2E6653"/>
                </a:solidFill>
                <a:prstDash val="solid"/>
                <a:round/>
                <a:headEnd type="none" w="med" len="med"/>
                <a:tailEnd type="none" w="med" len="med"/>
              </a:ln>
            </p:spPr>
          </p:sp>
        </p:grpSp>
        <p:grpSp>
          <p:nvGrpSpPr>
            <p:cNvPr id="1126" name="review · 116"/>
            <p:cNvGrpSpPr/>
            <p:nvPr/>
          </p:nvGrpSpPr>
          <p:grpSpPr>
            <a:xfrm>
              <a:off x="4867557" y="4561840"/>
              <a:ext cx="1035720" cy="765246"/>
              <a:chOff x="4867557" y="4561840"/>
              <a:chExt cx="1035720" cy="765246"/>
            </a:xfrm>
          </p:grpSpPr>
          <p:sp>
            <p:nvSpPr>
              <p:cNvPr id="1127" name="path · 105"/>
              <p:cNvSpPr/>
              <p:nvPr/>
            </p:nvSpPr>
            <p:spPr>
              <a:xfrm>
                <a:off x="4867557" y="4931269"/>
                <a:ext cx="481577" cy="395817"/>
              </a:xfrm>
              <a:custGeom>
                <a:avLst/>
                <a:gdLst/>
                <a:ahLst/>
                <a:cxnLst/>
                <a:rect l="0" t="0" r="r" b="b"/>
                <a:pathLst>
                  <a:path w="481577" h="395817" fill="norm" stroke="1" extrusionOk="0">
                    <a:moveTo>
                      <a:pt x="0" y="395817"/>
                    </a:moveTo>
                    <a:lnTo>
                      <a:pt x="0" y="204505"/>
                    </a:lnTo>
                    <a:quadBezTo>
                      <a:pt x="6597" y="0"/>
                      <a:pt x="224296" y="0"/>
                    </a:quadBezTo>
                    <a:quadBezTo>
                      <a:pt x="441995" y="0"/>
                      <a:pt x="481577" y="204505"/>
                    </a:quadBezTo>
                    <a:lnTo>
                      <a:pt x="481577" y="395817"/>
                    </a:lnTo>
                    <a:close/>
                  </a:path>
                </a:pathLst>
              </a:custGeom>
              <a:solidFill>
                <a:srgbClr val="E2EEF3"/>
              </a:solidFill>
              <a:ln w="14513" cap="rnd" cmpd="sng" algn="ctr">
                <a:solidFill>
                  <a:srgbClr val="243E42"/>
                </a:solidFill>
                <a:prstDash val="solid"/>
                <a:round/>
                <a:headEnd type="none" w="med" len="med"/>
                <a:tailEnd type="none" w="med" len="med"/>
              </a:ln>
            </p:spPr>
          </p:sp>
          <p:sp>
            <p:nvSpPr>
              <p:cNvPr id="1128" name="circle · 106"/>
              <p:cNvSpPr/>
              <p:nvPr/>
            </p:nvSpPr>
            <p:spPr>
              <a:xfrm>
                <a:off x="4933527" y="4621212"/>
                <a:ext cx="316653" cy="316653"/>
              </a:xfrm>
              <a:prstGeom prst="ellipse">
                <a:avLst/>
              </a:prstGeom>
              <a:solidFill>
                <a:srgbClr val="F4DFD3"/>
              </a:solidFill>
              <a:ln w="14513" cap="rnd" cmpd="sng" algn="ctr">
                <a:solidFill>
                  <a:srgbClr val="243E42"/>
                </a:solidFill>
                <a:prstDash val="solid"/>
                <a:round/>
                <a:headEnd type="none" w="med" len="med"/>
                <a:tailEnd type="none" w="med" len="med"/>
              </a:ln>
            </p:spPr>
          </p:sp>
          <p:sp>
            <p:nvSpPr>
              <p:cNvPr id="1129" name="path · 107"/>
              <p:cNvSpPr/>
              <p:nvPr/>
            </p:nvSpPr>
            <p:spPr>
              <a:xfrm>
                <a:off x="4920333" y="4575034"/>
                <a:ext cx="343041" cy="191311"/>
              </a:xfrm>
              <a:custGeom>
                <a:avLst/>
                <a:gdLst/>
                <a:ahLst/>
                <a:cxnLst/>
                <a:rect l="0" t="0" r="r" b="b"/>
                <a:pathLst>
                  <a:path w="343041" h="191311" fill="norm" stroke="1" extrusionOk="0">
                    <a:moveTo>
                      <a:pt x="26388" y="184714"/>
                    </a:moveTo>
                    <a:quadBezTo>
                      <a:pt x="0" y="6597"/>
                      <a:pt x="191311" y="0"/>
                    </a:quadBezTo>
                    <a:quadBezTo>
                      <a:pt x="343041" y="26388"/>
                      <a:pt x="329847" y="191311"/>
                    </a:quadBezTo>
                    <a:lnTo>
                      <a:pt x="230893" y="118745"/>
                    </a:lnTo>
                    <a:quadBezTo>
                      <a:pt x="151729" y="184714"/>
                      <a:pt x="26388" y="184714"/>
                    </a:quadBezTo>
                    <a:close/>
                  </a:path>
                </a:pathLst>
              </a:custGeom>
              <a:solidFill>
                <a:srgbClr val="243E42"/>
              </a:solidFill>
              <a:ln w="14513" cap="rnd" cmpd="sng" algn="ctr">
                <a:solidFill>
                  <a:srgbClr val="243E42"/>
                </a:solidFill>
                <a:prstDash val="solid"/>
                <a:round/>
                <a:headEnd type="none" w="med" len="med"/>
                <a:tailEnd type="none" w="med" len="med"/>
              </a:ln>
            </p:spPr>
          </p:sp>
          <p:sp>
            <p:nvSpPr>
              <p:cNvPr id="1130" name="path · 108"/>
              <p:cNvSpPr/>
              <p:nvPr/>
            </p:nvSpPr>
            <p:spPr>
              <a:xfrm>
                <a:off x="5052272" y="4786136"/>
                <a:ext cx="158327" cy="105551"/>
              </a:xfrm>
              <a:custGeom>
                <a:avLst/>
                <a:gdLst/>
                <a:ahLst/>
                <a:cxnLst/>
                <a:rect l="0" t="0" r="r" b="b"/>
                <a:pathLst>
                  <a:path w="158327" h="105551" fill="none" stroke="1" extrusionOk="0">
                    <a:moveTo>
                      <a:pt x="0" y="0"/>
                    </a:moveTo>
                    <a:lnTo>
                      <a:pt x="65969" y="0"/>
                    </a:lnTo>
                    <a:moveTo>
                      <a:pt x="92357" y="0"/>
                    </a:moveTo>
                    <a:lnTo>
                      <a:pt x="158326" y="0"/>
                    </a:lnTo>
                    <a:moveTo>
                      <a:pt x="26387" y="85760"/>
                    </a:moveTo>
                    <a:quadBezTo>
                      <a:pt x="72566" y="105551"/>
                      <a:pt x="105551" y="79163"/>
                    </a:quadBezTo>
                  </a:path>
                </a:pathLst>
              </a:custGeom>
              <a:noFill/>
              <a:ln w="14513" cap="rnd" cmpd="sng" algn="ctr">
                <a:solidFill>
                  <a:srgbClr val="243E42"/>
                </a:solidFill>
                <a:prstDash val="solid"/>
                <a:round/>
                <a:headEnd type="none" w="med" len="med"/>
                <a:tailEnd type="none" w="med" len="med"/>
              </a:ln>
            </p:spPr>
          </p:sp>
          <p:sp>
            <p:nvSpPr>
              <p:cNvPr id="1131" name="circle · 109"/>
              <p:cNvSpPr/>
              <p:nvPr/>
            </p:nvSpPr>
            <p:spPr>
              <a:xfrm>
                <a:off x="5025884" y="4739958"/>
                <a:ext cx="92357" cy="92357"/>
              </a:xfrm>
              <a:prstGeom prst="ellipse">
                <a:avLst/>
              </a:prstGeom>
              <a:noFill/>
              <a:ln w="14513" cap="rnd" cmpd="sng" algn="ctr">
                <a:solidFill>
                  <a:srgbClr val="243E42"/>
                </a:solidFill>
                <a:prstDash val="solid"/>
                <a:round/>
                <a:headEnd type="none" w="med" len="med"/>
                <a:tailEnd type="none" w="med" len="med"/>
              </a:ln>
            </p:spPr>
          </p:sp>
          <p:sp>
            <p:nvSpPr>
              <p:cNvPr id="1132" name="circle · 110"/>
              <p:cNvSpPr/>
              <p:nvPr/>
            </p:nvSpPr>
            <p:spPr>
              <a:xfrm>
                <a:off x="5138032" y="4739958"/>
                <a:ext cx="92357" cy="92357"/>
              </a:xfrm>
              <a:prstGeom prst="ellipse">
                <a:avLst/>
              </a:prstGeom>
              <a:noFill/>
              <a:ln w="14513" cap="rnd" cmpd="sng" algn="ctr">
                <a:solidFill>
                  <a:srgbClr val="243E42"/>
                </a:solidFill>
                <a:prstDash val="solid"/>
                <a:round/>
                <a:headEnd type="none" w="med" len="med"/>
                <a:tailEnd type="none" w="med" len="med"/>
              </a:ln>
            </p:spPr>
          </p:sp>
          <p:sp>
            <p:nvSpPr>
              <p:cNvPr id="1133" name="path · 111"/>
              <p:cNvSpPr/>
              <p:nvPr/>
            </p:nvSpPr>
            <p:spPr>
              <a:xfrm>
                <a:off x="5349134" y="4561840"/>
                <a:ext cx="435398" cy="639904"/>
              </a:xfrm>
              <a:custGeom>
                <a:avLst/>
                <a:gdLst/>
                <a:ahLst/>
                <a:cxnLst/>
                <a:rect l="0" t="0" r="r" b="b"/>
                <a:pathLst>
                  <a:path w="435398" h="639904" fill="norm" stroke="1" extrusionOk="0">
                    <a:moveTo>
                      <a:pt x="0" y="0"/>
                    </a:moveTo>
                    <a:lnTo>
                      <a:pt x="303460" y="0"/>
                    </a:lnTo>
                    <a:lnTo>
                      <a:pt x="435398" y="131939"/>
                    </a:lnTo>
                    <a:lnTo>
                      <a:pt x="435398" y="639904"/>
                    </a:lnTo>
                    <a:lnTo>
                      <a:pt x="0" y="639904"/>
                    </a:lnTo>
                    <a:close/>
                  </a:path>
                </a:pathLst>
              </a:custGeom>
              <a:solidFill>
                <a:srgbClr val="FFFFFF"/>
              </a:solidFill>
              <a:ln w="14513" cap="rnd" cmpd="sng" algn="ctr">
                <a:solidFill>
                  <a:srgbClr val="243E42"/>
                </a:solidFill>
                <a:prstDash val="solid"/>
                <a:round/>
                <a:headEnd type="none" w="med" len="med"/>
                <a:tailEnd type="none" w="med" len="med"/>
              </a:ln>
            </p:spPr>
          </p:sp>
          <p:sp>
            <p:nvSpPr>
              <p:cNvPr id="1134" name="path · 112"/>
              <p:cNvSpPr/>
              <p:nvPr/>
            </p:nvSpPr>
            <p:spPr>
              <a:xfrm>
                <a:off x="5428298" y="4561840"/>
                <a:ext cx="356235" cy="395817"/>
              </a:xfrm>
              <a:custGeom>
                <a:avLst/>
                <a:gdLst/>
                <a:ahLst/>
                <a:cxnLst/>
                <a:rect l="0" t="0" r="r" b="b"/>
                <a:pathLst>
                  <a:path w="356235" h="395817" fill="none" stroke="1" extrusionOk="0">
                    <a:moveTo>
                      <a:pt x="224296" y="0"/>
                    </a:moveTo>
                    <a:lnTo>
                      <a:pt x="224296" y="131939"/>
                    </a:lnTo>
                    <a:lnTo>
                      <a:pt x="356234" y="131939"/>
                    </a:lnTo>
                    <a:moveTo>
                      <a:pt x="0" y="230893"/>
                    </a:moveTo>
                    <a:lnTo>
                      <a:pt x="237490" y="230893"/>
                    </a:lnTo>
                    <a:moveTo>
                      <a:pt x="0" y="310056"/>
                    </a:moveTo>
                    <a:lnTo>
                      <a:pt x="151729" y="310056"/>
                    </a:lnTo>
                    <a:moveTo>
                      <a:pt x="0" y="395817"/>
                    </a:moveTo>
                    <a:lnTo>
                      <a:pt x="178117" y="395817"/>
                    </a:lnTo>
                  </a:path>
                </a:pathLst>
              </a:custGeom>
              <a:noFill/>
              <a:ln w="14513" cap="rnd" cmpd="sng" algn="ctr">
                <a:solidFill>
                  <a:srgbClr val="243E42"/>
                </a:solidFill>
                <a:prstDash val="solid"/>
                <a:round/>
                <a:headEnd type="none" w="med" len="med"/>
                <a:tailEnd type="none" w="med" len="med"/>
              </a:ln>
            </p:spPr>
          </p:sp>
          <p:sp>
            <p:nvSpPr>
              <p:cNvPr id="1135" name="circle · 113"/>
              <p:cNvSpPr/>
              <p:nvPr/>
            </p:nvSpPr>
            <p:spPr>
              <a:xfrm>
                <a:off x="5474476" y="4838912"/>
                <a:ext cx="329847" cy="329847"/>
              </a:xfrm>
              <a:prstGeom prst="ellipse">
                <a:avLst/>
              </a:prstGeom>
              <a:solidFill>
                <a:srgbClr val="F6EAC8">
                  <a:alpha val="75000"/>
                </a:srgbClr>
              </a:solidFill>
              <a:ln w="26388" cap="rnd" cmpd="sng" algn="ctr">
                <a:solidFill>
                  <a:srgbClr val="7A6025"/>
                </a:solidFill>
                <a:prstDash val="solid"/>
                <a:round/>
                <a:headEnd type="none" w="med" len="med"/>
                <a:tailEnd type="none" w="med" len="med"/>
              </a:ln>
            </p:spPr>
          </p:sp>
          <p:sp>
            <p:nvSpPr>
              <p:cNvPr id="1136" name="path · 114"/>
              <p:cNvSpPr/>
              <p:nvPr/>
            </p:nvSpPr>
            <p:spPr>
              <a:xfrm>
                <a:off x="5751548" y="5129177"/>
                <a:ext cx="151730" cy="164924"/>
              </a:xfrm>
              <a:custGeom>
                <a:avLst/>
                <a:gdLst/>
                <a:ahLst/>
                <a:cxnLst/>
                <a:rect l="0" t="0" r="r" b="b"/>
                <a:pathLst>
                  <a:path w="151730" h="164924" fill="none" stroke="1" extrusionOk="0">
                    <a:moveTo>
                      <a:pt x="0" y="0"/>
                    </a:moveTo>
                    <a:lnTo>
                      <a:pt x="151730" y="164924"/>
                    </a:lnTo>
                  </a:path>
                </a:pathLst>
              </a:custGeom>
              <a:noFill/>
              <a:ln w="65969" cap="rnd" cmpd="sng" algn="ctr">
                <a:solidFill>
                  <a:srgbClr val="7A6025"/>
                </a:solidFill>
                <a:prstDash val="solid"/>
                <a:round/>
                <a:headEnd type="none" w="med" len="med"/>
                <a:tailEnd type="none" w="med" len="med"/>
              </a:ln>
            </p:spPr>
          </p:sp>
          <p:sp>
            <p:nvSpPr>
              <p:cNvPr id="1137" name="path · 115"/>
              <p:cNvSpPr/>
              <p:nvPr/>
            </p:nvSpPr>
            <p:spPr>
              <a:xfrm>
                <a:off x="5560236" y="4924672"/>
                <a:ext cx="158327" cy="125342"/>
              </a:xfrm>
              <a:custGeom>
                <a:avLst/>
                <a:gdLst/>
                <a:ahLst/>
                <a:cxnLst/>
                <a:rect l="0" t="0" r="r" b="b"/>
                <a:pathLst>
                  <a:path w="158327" h="125342" fill="none" stroke="1" extrusionOk="0">
                    <a:moveTo>
                      <a:pt x="0" y="72566"/>
                    </a:moveTo>
                    <a:lnTo>
                      <a:pt x="52776" y="125342"/>
                    </a:lnTo>
                    <a:lnTo>
                      <a:pt x="158327" y="0"/>
                    </a:lnTo>
                  </a:path>
                </a:pathLst>
              </a:custGeom>
              <a:noFill/>
              <a:ln w="26388" cap="rnd" cmpd="sng" algn="ctr">
                <a:solidFill>
                  <a:srgbClr val="2E6653"/>
                </a:solidFill>
                <a:prstDash val="solid"/>
                <a:round/>
                <a:headEnd type="none" w="med" len="med"/>
                <a:tailEnd type="none" w="med" len="med"/>
              </a:ln>
            </p:spPr>
          </p:sp>
        </p:grpSp>
        <p:grpSp>
          <p:nvGrpSpPr>
            <p:cNvPr id="1138" name="customer-label · 118"/>
            <p:cNvGrpSpPr/>
            <p:nvPr/>
          </p:nvGrpSpPr>
          <p:grpSpPr>
            <a:xfrm>
              <a:off x="702397" y="3346996"/>
              <a:ext cx="881205" cy="251551"/>
              <a:chOff x="702397" y="3346996"/>
              <a:chExt cx="881205" cy="251551"/>
            </a:xfrm>
          </p:grpSpPr>
          <p:sp>
            <p:nvSpPr>
              <p:cNvPr id="1139" name="text · 117"/>
              <p:cNvSpPr txBox="1"/>
              <p:nvPr/>
            </p:nvSpPr>
            <p:spPr>
              <a:xfrm>
                <a:off x="700809" y="3346996"/>
                <a:ext cx="884380"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243E42"/>
                    </a:solidFill>
                    <a:latin typeface="Manrope"/>
                    <a:ea typeface="Manrope"/>
                    <a:cs typeface="Manrope"/>
                  </a:rPr>
                  <a:t>Customer</a:t>
                </a:r>
                <a:endParaRPr lang="en-US" sz="1450"/>
              </a:p>
            </p:txBody>
          </p:sp>
        </p:grpSp>
        <p:grpSp>
          <p:nvGrpSpPr>
            <p:cNvPr id="1140" name="stop-label · 120"/>
            <p:cNvGrpSpPr/>
            <p:nvPr/>
          </p:nvGrpSpPr>
          <p:grpSpPr>
            <a:xfrm>
              <a:off x="906949" y="5403974"/>
              <a:ext cx="434001" cy="260226"/>
              <a:chOff x="906949" y="5403974"/>
              <a:chExt cx="434001" cy="260226"/>
            </a:xfrm>
          </p:grpSpPr>
          <p:sp>
            <p:nvSpPr>
              <p:cNvPr id="1141" name="text · 119"/>
              <p:cNvSpPr txBox="1"/>
              <p:nvPr/>
            </p:nvSpPr>
            <p:spPr>
              <a:xfrm>
                <a:off x="905361" y="5403974"/>
                <a:ext cx="437176"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81533E"/>
                    </a:solidFill>
                    <a:latin typeface="Manrope"/>
                    <a:ea typeface="Manrope"/>
                    <a:cs typeface="Manrope"/>
                  </a:rPr>
                  <a:t>Stop</a:t>
                </a:r>
                <a:endParaRPr lang="en-US" sz="1500"/>
              </a:p>
            </p:txBody>
          </p:sp>
        </p:grpSp>
        <p:grpSp>
          <p:nvGrpSpPr>
            <p:cNvPr id="1142" name="signin-label · 122"/>
            <p:cNvGrpSpPr/>
            <p:nvPr/>
          </p:nvGrpSpPr>
          <p:grpSpPr>
            <a:xfrm>
              <a:off x="2421080" y="5403974"/>
              <a:ext cx="618840" cy="260226"/>
              <a:chOff x="2421080" y="5403974"/>
              <a:chExt cx="618840" cy="260226"/>
            </a:xfrm>
          </p:grpSpPr>
          <p:sp>
            <p:nvSpPr>
              <p:cNvPr id="1143" name="text · 121"/>
              <p:cNvSpPr txBox="1"/>
              <p:nvPr/>
            </p:nvSpPr>
            <p:spPr>
              <a:xfrm>
                <a:off x="2419492" y="5403974"/>
                <a:ext cx="622015"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Sign in</a:t>
                </a:r>
                <a:endParaRPr lang="en-US" sz="1500"/>
              </a:p>
            </p:txBody>
          </p:sp>
        </p:grpSp>
        <p:grpSp>
          <p:nvGrpSpPr>
            <p:cNvPr id="1144" name="purchase-verification-label · 124"/>
            <p:cNvGrpSpPr/>
            <p:nvPr/>
          </p:nvGrpSpPr>
          <p:grpSpPr>
            <a:xfrm>
              <a:off x="4658906" y="5403974"/>
              <a:ext cx="1426387" cy="260226"/>
              <a:chOff x="4658906" y="5403974"/>
              <a:chExt cx="1426387" cy="260226"/>
            </a:xfrm>
          </p:grpSpPr>
          <p:sp>
            <p:nvSpPr>
              <p:cNvPr id="1145" name="text · 123"/>
              <p:cNvSpPr txBox="1"/>
              <p:nvPr/>
            </p:nvSpPr>
            <p:spPr>
              <a:xfrm>
                <a:off x="4657318" y="5403974"/>
                <a:ext cx="1429562"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Verify purchase</a:t>
                </a:r>
                <a:endParaRPr lang="en-US" sz="1500"/>
              </a:p>
            </p:txBody>
          </p:sp>
        </p:grpSp>
        <p:grpSp>
          <p:nvGrpSpPr>
            <p:cNvPr id="1146" name="continue-to-picture-b · 127"/>
            <p:cNvGrpSpPr/>
            <p:nvPr/>
          </p:nvGrpSpPr>
          <p:grpSpPr>
            <a:xfrm>
              <a:off x="6775450" y="2673350"/>
              <a:ext cx="368300" cy="368300"/>
              <a:chOff x="6775450" y="2673350"/>
              <a:chExt cx="368300" cy="368300"/>
            </a:xfrm>
          </p:grpSpPr>
          <p:sp>
            <p:nvSpPr>
              <p:cNvPr id="1147" name="circle · 125"/>
              <p:cNvSpPr/>
              <p:nvPr/>
            </p:nvSpPr>
            <p:spPr>
              <a:xfrm>
                <a:off x="6775450" y="2673350"/>
                <a:ext cx="368300" cy="368300"/>
              </a:xfrm>
              <a:prstGeom prst="ellipse">
                <a:avLst/>
              </a:prstGeom>
              <a:solidFill>
                <a:srgbClr val="D7EBE1"/>
              </a:solidFill>
              <a:ln w="11430" cap="flat" cmpd="sng" algn="ctr">
                <a:solidFill>
                  <a:srgbClr val="2E6653"/>
                </a:solidFill>
                <a:prstDash val="solid"/>
                <a:miter lim="400000"/>
                <a:headEnd type="none" w="med" len="med"/>
                <a:tailEnd type="none" w="med" len="med"/>
              </a:ln>
            </p:spPr>
          </p:sp>
          <p:sp>
            <p:nvSpPr>
              <p:cNvPr id="1148" name="text · 126"/>
              <p:cNvSpPr txBox="1"/>
              <p:nvPr/>
            </p:nvSpPr>
            <p:spPr>
              <a:xfrm>
                <a:off x="6893647" y="2710737"/>
                <a:ext cx="131905" cy="31008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86"/>
                  </a:lnSpc>
                  <a:spcBef>
                    <a:spcPts val="0"/>
                  </a:spcBef>
                  <a:spcAft>
                    <a:spcPts val="0"/>
                  </a:spcAft>
                </a:pPr>
                <a:r>
                  <a:rPr lang="en-US" sz="1600" b="1" i="0" kern="0" spc="0" dirty="0">
                    <a:solidFill>
                      <a:srgbClr val="2E6653"/>
                    </a:solidFill>
                    <a:latin typeface="Manrope"/>
                    <a:ea typeface="Manrope"/>
                    <a:cs typeface="Manrope"/>
                  </a:rPr>
                  <a:t>B</a:t>
                </a:r>
                <a:endParaRPr lang="en-US" sz="1600"/>
              </a:p>
            </p:txBody>
          </p:sp>
        </p:grpSp>
        <p:grpSp>
          <p:nvGrpSpPr>
            <p:cNvPr id="1149" name="continue-request-label · 129"/>
            <p:cNvGrpSpPr/>
            <p:nvPr/>
          </p:nvGrpSpPr>
          <p:grpSpPr>
            <a:xfrm>
              <a:off x="6324569" y="2008405"/>
              <a:ext cx="1270062" cy="225524"/>
              <a:chOff x="6324569" y="2008405"/>
              <a:chExt cx="1270062" cy="225524"/>
            </a:xfrm>
          </p:grpSpPr>
          <p:sp>
            <p:nvSpPr>
              <p:cNvPr id="1150" name="text · 128"/>
              <p:cNvSpPr txBox="1"/>
              <p:nvPr/>
            </p:nvSpPr>
            <p:spPr>
              <a:xfrm>
                <a:off x="6322981" y="2008405"/>
                <a:ext cx="1273237" cy="25194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76"/>
                  </a:lnSpc>
                  <a:spcBef>
                    <a:spcPts val="0"/>
                  </a:spcBef>
                  <a:spcAft>
                    <a:spcPts val="0"/>
                  </a:spcAft>
                </a:pPr>
                <a:r>
                  <a:rPr lang="en-US" sz="1300" b="1" i="0" kern="0" spc="0" dirty="0">
                    <a:solidFill>
                      <a:srgbClr val="2E6653"/>
                    </a:solidFill>
                    <a:latin typeface="Manrope"/>
                    <a:ea typeface="Manrope"/>
                    <a:cs typeface="Manrope"/>
                  </a:rPr>
                  <a:t>Choose request</a:t>
                </a:r>
                <a:endParaRPr lang="en-US" sz="1300"/>
              </a:p>
            </p:txBody>
          </p:sp>
        </p:grpSp>
        <p:grpSp>
          <p:nvGrpSpPr>
            <p:cNvPr id="1151" name="continue-route-label · 131"/>
            <p:cNvGrpSpPr/>
            <p:nvPr/>
          </p:nvGrpSpPr>
          <p:grpSpPr>
            <a:xfrm>
              <a:off x="6743424" y="2243355"/>
              <a:ext cx="432352" cy="225524"/>
              <a:chOff x="6743424" y="2243355"/>
              <a:chExt cx="432352" cy="225524"/>
            </a:xfrm>
          </p:grpSpPr>
          <p:sp>
            <p:nvSpPr>
              <p:cNvPr id="1152" name="text · 130"/>
              <p:cNvSpPr txBox="1"/>
              <p:nvPr/>
            </p:nvSpPr>
            <p:spPr>
              <a:xfrm>
                <a:off x="6741836" y="2243355"/>
                <a:ext cx="435527" cy="25194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76"/>
                  </a:lnSpc>
                  <a:spcBef>
                    <a:spcPts val="0"/>
                  </a:spcBef>
                  <a:spcAft>
                    <a:spcPts val="0"/>
                  </a:spcAft>
                </a:pPr>
                <a:r>
                  <a:rPr lang="en-US" sz="1300" b="1" i="0" kern="0" spc="0" dirty="0">
                    <a:solidFill>
                      <a:srgbClr val="2E6653"/>
                    </a:solidFill>
                    <a:latin typeface="Manrope"/>
                    <a:ea typeface="Manrope"/>
                    <a:cs typeface="Manrope"/>
                  </a:rPr>
                  <a:t>route</a:t>
                </a:r>
                <a:endParaRPr lang="en-US" sz="1300"/>
              </a:p>
            </p:txBody>
          </p:sp>
        </p:grpSp>
        <p:grpSp>
          <p:nvGrpSpPr>
            <p:cNvPr id="1153" name="comparison-divider · 134"/>
            <p:cNvGrpSpPr/>
            <p:nvPr/>
          </p:nvGrpSpPr>
          <p:grpSpPr>
            <a:xfrm>
              <a:off x="7772400" y="1962150"/>
              <a:ext cx="3740150" cy="3746500"/>
              <a:chOff x="7772400" y="1962150"/>
              <a:chExt cx="3740150" cy="3746500"/>
            </a:xfrm>
          </p:grpSpPr>
          <p:sp>
            <p:nvSpPr>
              <p:cNvPr id="1154" name="path · 132"/>
              <p:cNvSpPr/>
              <p:nvPr/>
            </p:nvSpPr>
            <p:spPr>
              <a:xfrm>
                <a:off x="7772400" y="1962150"/>
                <a:ext cx="1" cy="3746500"/>
              </a:xfrm>
              <a:custGeom>
                <a:avLst/>
                <a:gdLst/>
                <a:ahLst/>
                <a:cxnLst/>
                <a:rect l="0" t="0" r="r" b="b"/>
                <a:pathLst>
                  <a:path w="1" h="3746500" fill="none" stroke="1" extrusionOk="0">
                    <a:moveTo>
                      <a:pt x="0" y="0"/>
                    </a:moveTo>
                    <a:lnTo>
                      <a:pt x="0" y="3746500"/>
                    </a:lnTo>
                  </a:path>
                </a:pathLst>
              </a:custGeom>
              <a:noFill/>
              <a:ln w="10160" cap="rnd" cmpd="sng" algn="ctr">
                <a:solidFill>
                  <a:srgbClr val="D5DFD9"/>
                </a:solidFill>
                <a:prstDash val="solid"/>
                <a:round/>
                <a:headEnd type="none" w="med" len="med"/>
                <a:tailEnd type="none" w="med" len="med"/>
              </a:ln>
            </p:spPr>
          </p:sp>
          <p:sp>
            <p:nvSpPr>
              <p:cNvPr id="1155" name="path · 133"/>
              <p:cNvSpPr/>
              <p:nvPr/>
            </p:nvSpPr>
            <p:spPr>
              <a:xfrm>
                <a:off x="7924800" y="3854450"/>
                <a:ext cx="3587750" cy="1"/>
              </a:xfrm>
              <a:custGeom>
                <a:avLst/>
                <a:gdLst/>
                <a:ahLst/>
                <a:cxnLst/>
                <a:rect l="0" t="0" r="r" b="b"/>
                <a:pathLst>
                  <a:path w="3587750" h="1" fill="none" stroke="1" extrusionOk="0">
                    <a:moveTo>
                      <a:pt x="0" y="0"/>
                    </a:moveTo>
                    <a:lnTo>
                      <a:pt x="3587750" y="0"/>
                    </a:lnTo>
                  </a:path>
                </a:pathLst>
              </a:custGeom>
              <a:noFill/>
              <a:ln w="8890" cap="rnd" cmpd="sng" algn="ctr">
                <a:solidFill>
                  <a:srgbClr val="D5DFD9"/>
                </a:solidFill>
                <a:prstDash val="solid"/>
                <a:round/>
                <a:headEnd type="none" w="med" len="med"/>
                <a:tailEnd type="none" w="med" len="med"/>
              </a:ln>
            </p:spPr>
          </p:sp>
        </p:grpSp>
        <p:grpSp>
          <p:nvGrpSpPr>
            <p:cNvPr id="1156" name="wrapper-heading · 136"/>
            <p:cNvGrpSpPr/>
            <p:nvPr/>
          </p:nvGrpSpPr>
          <p:grpSpPr>
            <a:xfrm>
              <a:off x="7912100" y="1910221"/>
              <a:ext cx="2118277" cy="286246"/>
              <a:chOff x="7912100" y="1910221"/>
              <a:chExt cx="2118277" cy="286246"/>
            </a:xfrm>
          </p:grpSpPr>
          <p:sp>
            <p:nvSpPr>
              <p:cNvPr id="1157" name="text · 135"/>
              <p:cNvSpPr txBox="1"/>
              <p:nvPr/>
            </p:nvSpPr>
            <p:spPr>
              <a:xfrm>
                <a:off x="7910512" y="1910221"/>
                <a:ext cx="2121452" cy="319774"/>
              </a:xfrm>
              <a:prstGeom prst="rect">
                <a:avLst/>
              </a:prstGeom>
              <a:noFill/>
              <a:ln>
                <a:noFill/>
              </a:ln>
            </p:spPr>
            <p:txBody>
              <a:bodyPr wrap="none" lIns="0" tIns="0" rIns="0" bIns="0" anchor="t" anchorCtr="0" vertOverflow="overflow" horzOverflow="overflow">
                <a:noAutofit/>
              </a:bodyPr>
              <a:lstStyle/>
              <a:p>
                <a:pPr algn="l" marL="0" marR="0" indent="0" fontAlgn="base">
                  <a:lnSpc>
                    <a:spcPts val="2254"/>
                  </a:lnSpc>
                  <a:spcBef>
                    <a:spcPts val="0"/>
                  </a:spcBef>
                  <a:spcAft>
                    <a:spcPts val="0"/>
                  </a:spcAft>
                </a:pPr>
                <a:r>
                  <a:rPr lang="en-US" sz="1650" b="1" i="0" kern="0" spc="0" dirty="0">
                    <a:solidFill>
                      <a:srgbClr val="665180"/>
                    </a:solidFill>
                    <a:latin typeface="Manrope"/>
                    <a:ea typeface="Manrope"/>
                    <a:cs typeface="Manrope"/>
                  </a:rPr>
                  <a:t>Wrapper intelligence</a:t>
                </a:r>
                <a:endParaRPr lang="en-US" sz="1650"/>
              </a:p>
            </p:txBody>
          </p:sp>
        </p:grpSp>
        <p:grpSp>
          <p:nvGrpSpPr>
            <p:cNvPr id="1158" name="frontier · 148"/>
            <p:cNvGrpSpPr/>
            <p:nvPr/>
          </p:nvGrpSpPr>
          <p:grpSpPr>
            <a:xfrm>
              <a:off x="7917639" y="2504369"/>
              <a:ext cx="884273" cy="751099"/>
              <a:chOff x="7917639" y="2504369"/>
              <a:chExt cx="884273" cy="751099"/>
            </a:xfrm>
          </p:grpSpPr>
          <p:sp>
            <p:nvSpPr>
              <p:cNvPr id="1159" name="path · 137"/>
              <p:cNvSpPr/>
              <p:nvPr/>
            </p:nvSpPr>
            <p:spPr>
              <a:xfrm>
                <a:off x="79176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60" name="rect · 138"/>
              <p:cNvSpPr/>
              <p:nvPr/>
            </p:nvSpPr>
            <p:spPr>
              <a:xfrm>
                <a:off x="80028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61" name="rect · 139"/>
              <p:cNvSpPr/>
              <p:nvPr/>
            </p:nvSpPr>
            <p:spPr>
              <a:xfrm>
                <a:off x="80667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62" name="path · 140"/>
              <p:cNvSpPr/>
              <p:nvPr/>
            </p:nvSpPr>
            <p:spPr>
              <a:xfrm>
                <a:off x="81413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63" name="g · 147"/>
              <p:cNvGrpSpPr/>
              <p:nvPr/>
            </p:nvGrpSpPr>
            <p:grpSpPr>
              <a:xfrm>
                <a:off x="8104082" y="2685486"/>
                <a:ext cx="506060" cy="362232"/>
                <a:chOff x="8104082" y="2685486"/>
                <a:chExt cx="506060" cy="362232"/>
              </a:xfrm>
            </p:grpSpPr>
            <p:sp>
              <p:nvSpPr>
                <p:cNvPr id="1164" name="circle · 141"/>
                <p:cNvSpPr/>
                <p:nvPr/>
              </p:nvSpPr>
              <p:spPr>
                <a:xfrm>
                  <a:off x="81040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5" name="circle · 142"/>
                <p:cNvSpPr/>
                <p:nvPr/>
              </p:nvSpPr>
              <p:spPr>
                <a:xfrm>
                  <a:off x="82638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6" name="circle · 143"/>
                <p:cNvSpPr/>
                <p:nvPr/>
              </p:nvSpPr>
              <p:spPr>
                <a:xfrm>
                  <a:off x="84183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7" name="circle · 144"/>
                <p:cNvSpPr/>
                <p:nvPr/>
              </p:nvSpPr>
              <p:spPr>
                <a:xfrm>
                  <a:off x="85355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8" name="circle · 145"/>
                <p:cNvSpPr/>
                <p:nvPr/>
              </p:nvSpPr>
              <p:spPr>
                <a:xfrm>
                  <a:off x="83331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69" name="circle · 146"/>
                <p:cNvSpPr/>
                <p:nvPr/>
              </p:nvSpPr>
              <p:spPr>
                <a:xfrm>
                  <a:off x="81946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170" name="wrapper-call-1 · 151"/>
            <p:cNvGrpSpPr/>
            <p:nvPr/>
          </p:nvGrpSpPr>
          <p:grpSpPr>
            <a:xfrm>
              <a:off x="8883650" y="2876550"/>
              <a:ext cx="203200" cy="50800"/>
              <a:chOff x="8883650" y="2876550"/>
              <a:chExt cx="203200" cy="50800"/>
            </a:xfrm>
          </p:grpSpPr>
          <p:grpSp>
            <p:nvGrpSpPr>
              <p:cNvPr id="1171" name="path · 149 + arrowhead"/>
              <p:cNvGrpSpPr/>
              <p:nvPr/>
            </p:nvGrpSpPr>
            <p:grpSpPr>
              <a:xfrm>
                <a:off x="8883650" y="2876550"/>
                <a:ext cx="203200" cy="50800"/>
                <a:chOff x="8883650" y="2876550"/>
                <a:chExt cx="203200" cy="50800"/>
              </a:xfrm>
            </p:grpSpPr>
            <p:sp>
              <p:nvSpPr>
                <p:cNvPr id="1172" name="path · 149"/>
                <p:cNvSpPr/>
                <p:nvPr/>
              </p:nvSpPr>
              <p:spPr>
                <a:xfrm>
                  <a:off x="8883650" y="2901950"/>
                  <a:ext cx="203200" cy="1"/>
                </a:xfrm>
                <a:custGeom>
                  <a:avLst/>
                  <a:gdLst/>
                  <a:ahLst/>
                  <a:cxnLst/>
                  <a:rect l="0" t="0" r="r" b="b"/>
                  <a:pathLst>
                    <a:path w="203200" h="1" fill="none" stroke="1" extrusionOk="0">
                      <a:moveTo>
                        <a:pt x="0" y="0"/>
                      </a:moveTo>
                      <a:lnTo>
                        <a:pt x="203200" y="0"/>
                      </a:lnTo>
                    </a:path>
                  </a:pathLst>
                </a:custGeom>
                <a:noFill/>
                <a:ln w="22225" cap="rnd" cmpd="sng" algn="ctr">
                  <a:solidFill>
                    <a:srgbClr val="665180"/>
                  </a:solidFill>
                  <a:prstDash val="solid"/>
                  <a:round/>
                  <a:headEnd type="none" w="med" len="med"/>
                  <a:tailEnd type="none" w="med" len="med"/>
                </a:ln>
              </p:spPr>
            </p:sp>
            <p:grpSp>
              <p:nvGrpSpPr>
                <p:cNvPr id="1173" name="arrow-plum end"/>
                <p:cNvGrpSpPr/>
                <p:nvPr/>
              </p:nvGrpSpPr>
              <p:grpSpPr>
                <a:xfrm>
                  <a:off x="9039225" y="2876550"/>
                  <a:ext cx="47625" cy="50800"/>
                  <a:chOff x="9039225" y="2876550"/>
                  <a:chExt cx="47625" cy="50800"/>
                </a:xfrm>
              </p:grpSpPr>
              <p:sp>
                <p:nvSpPr>
                  <p:cNvPr id="1174" name="path · 150"/>
                  <p:cNvSpPr/>
                  <p:nvPr/>
                </p:nvSpPr>
                <p:spPr>
                  <a:xfrm>
                    <a:off x="9039225" y="2876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grpSp>
          <p:nvGrpSpPr>
            <p:cNvPr id="1175" name="frontier · 163"/>
            <p:cNvGrpSpPr/>
            <p:nvPr/>
          </p:nvGrpSpPr>
          <p:grpSpPr>
            <a:xfrm>
              <a:off x="9174939" y="2504369"/>
              <a:ext cx="884273" cy="751099"/>
              <a:chOff x="9174939" y="2504369"/>
              <a:chExt cx="884273" cy="751099"/>
            </a:xfrm>
          </p:grpSpPr>
          <p:sp>
            <p:nvSpPr>
              <p:cNvPr id="1176" name="path · 152"/>
              <p:cNvSpPr/>
              <p:nvPr/>
            </p:nvSpPr>
            <p:spPr>
              <a:xfrm>
                <a:off x="91749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77" name="rect · 153"/>
              <p:cNvSpPr/>
              <p:nvPr/>
            </p:nvSpPr>
            <p:spPr>
              <a:xfrm>
                <a:off x="92601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78" name="rect · 154"/>
              <p:cNvSpPr/>
              <p:nvPr/>
            </p:nvSpPr>
            <p:spPr>
              <a:xfrm>
                <a:off x="93240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79" name="path · 155"/>
              <p:cNvSpPr/>
              <p:nvPr/>
            </p:nvSpPr>
            <p:spPr>
              <a:xfrm>
                <a:off x="93986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80" name="g · 162"/>
              <p:cNvGrpSpPr/>
              <p:nvPr/>
            </p:nvGrpSpPr>
            <p:grpSpPr>
              <a:xfrm>
                <a:off x="9361382" y="2685486"/>
                <a:ext cx="506060" cy="362232"/>
                <a:chOff x="9361382" y="2685486"/>
                <a:chExt cx="506060" cy="362232"/>
              </a:xfrm>
            </p:grpSpPr>
            <p:sp>
              <p:nvSpPr>
                <p:cNvPr id="1181" name="circle · 156"/>
                <p:cNvSpPr/>
                <p:nvPr/>
              </p:nvSpPr>
              <p:spPr>
                <a:xfrm>
                  <a:off x="93613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2" name="circle · 157"/>
                <p:cNvSpPr/>
                <p:nvPr/>
              </p:nvSpPr>
              <p:spPr>
                <a:xfrm>
                  <a:off x="95211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3" name="circle · 158"/>
                <p:cNvSpPr/>
                <p:nvPr/>
              </p:nvSpPr>
              <p:spPr>
                <a:xfrm>
                  <a:off x="96756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4" name="circle · 159"/>
                <p:cNvSpPr/>
                <p:nvPr/>
              </p:nvSpPr>
              <p:spPr>
                <a:xfrm>
                  <a:off x="97928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5" name="circle · 160"/>
                <p:cNvSpPr/>
                <p:nvPr/>
              </p:nvSpPr>
              <p:spPr>
                <a:xfrm>
                  <a:off x="95904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86" name="circle · 161"/>
                <p:cNvSpPr/>
                <p:nvPr/>
              </p:nvSpPr>
              <p:spPr>
                <a:xfrm>
                  <a:off x="94519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187" name="wrapper-call-2 · 166"/>
            <p:cNvGrpSpPr/>
            <p:nvPr/>
          </p:nvGrpSpPr>
          <p:grpSpPr>
            <a:xfrm>
              <a:off x="10140950" y="2876550"/>
              <a:ext cx="203200" cy="50800"/>
              <a:chOff x="10140950" y="2876550"/>
              <a:chExt cx="203200" cy="50800"/>
            </a:xfrm>
          </p:grpSpPr>
          <p:grpSp>
            <p:nvGrpSpPr>
              <p:cNvPr id="1188" name="path · 164 + arrowhead"/>
              <p:cNvGrpSpPr/>
              <p:nvPr/>
            </p:nvGrpSpPr>
            <p:grpSpPr>
              <a:xfrm>
                <a:off x="10140950" y="2876550"/>
                <a:ext cx="203200" cy="50800"/>
                <a:chOff x="10140950" y="2876550"/>
                <a:chExt cx="203200" cy="50800"/>
              </a:xfrm>
            </p:grpSpPr>
            <p:sp>
              <p:nvSpPr>
                <p:cNvPr id="1189" name="path · 164"/>
                <p:cNvSpPr/>
                <p:nvPr/>
              </p:nvSpPr>
              <p:spPr>
                <a:xfrm>
                  <a:off x="10140950" y="2901950"/>
                  <a:ext cx="203200" cy="1"/>
                </a:xfrm>
                <a:custGeom>
                  <a:avLst/>
                  <a:gdLst/>
                  <a:ahLst/>
                  <a:cxnLst/>
                  <a:rect l="0" t="0" r="r" b="b"/>
                  <a:pathLst>
                    <a:path w="203200" h="1" fill="none" stroke="1" extrusionOk="0">
                      <a:moveTo>
                        <a:pt x="0" y="0"/>
                      </a:moveTo>
                      <a:lnTo>
                        <a:pt x="203200" y="0"/>
                      </a:lnTo>
                    </a:path>
                  </a:pathLst>
                </a:custGeom>
                <a:noFill/>
                <a:ln w="22225" cap="rnd" cmpd="sng" algn="ctr">
                  <a:solidFill>
                    <a:srgbClr val="665180"/>
                  </a:solidFill>
                  <a:prstDash val="solid"/>
                  <a:round/>
                  <a:headEnd type="none" w="med" len="med"/>
                  <a:tailEnd type="none" w="med" len="med"/>
                </a:ln>
              </p:spPr>
            </p:sp>
            <p:grpSp>
              <p:nvGrpSpPr>
                <p:cNvPr id="1190" name="arrow-plum end"/>
                <p:cNvGrpSpPr/>
                <p:nvPr/>
              </p:nvGrpSpPr>
              <p:grpSpPr>
                <a:xfrm>
                  <a:off x="10296525" y="2876550"/>
                  <a:ext cx="47625" cy="50800"/>
                  <a:chOff x="10296525" y="2876550"/>
                  <a:chExt cx="47625" cy="50800"/>
                </a:xfrm>
              </p:grpSpPr>
              <p:sp>
                <p:nvSpPr>
                  <p:cNvPr id="1191" name="path · 165"/>
                  <p:cNvSpPr/>
                  <p:nvPr/>
                </p:nvSpPr>
                <p:spPr>
                  <a:xfrm>
                    <a:off x="10296525" y="2876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grpSp>
          <p:nvGrpSpPr>
            <p:cNvPr id="1192" name="frontier · 178"/>
            <p:cNvGrpSpPr/>
            <p:nvPr/>
          </p:nvGrpSpPr>
          <p:grpSpPr>
            <a:xfrm>
              <a:off x="10432239" y="2504369"/>
              <a:ext cx="884273" cy="751099"/>
              <a:chOff x="10432239" y="2504369"/>
              <a:chExt cx="884273" cy="751099"/>
            </a:xfrm>
          </p:grpSpPr>
          <p:sp>
            <p:nvSpPr>
              <p:cNvPr id="1193" name="path · 167"/>
              <p:cNvSpPr/>
              <p:nvPr/>
            </p:nvSpPr>
            <p:spPr>
              <a:xfrm>
                <a:off x="10432239" y="2504369"/>
                <a:ext cx="884273" cy="751099"/>
              </a:xfrm>
              <a:custGeom>
                <a:avLst/>
                <a:gdLst/>
                <a:ahLst/>
                <a:cxnLst/>
                <a:rect l="0" t="0" r="r" b="b"/>
                <a:pathLst>
                  <a:path w="884273" h="751099" fill="none" stroke="1" extrusionOk="0">
                    <a:moveTo>
                      <a:pt x="181116" y="0"/>
                    </a:moveTo>
                    <a:lnTo>
                      <a:pt x="181116" y="111866"/>
                    </a:lnTo>
                    <a:moveTo>
                      <a:pt x="314289" y="0"/>
                    </a:moveTo>
                    <a:lnTo>
                      <a:pt x="314289" y="111866"/>
                    </a:lnTo>
                    <a:moveTo>
                      <a:pt x="452790" y="0"/>
                    </a:moveTo>
                    <a:lnTo>
                      <a:pt x="452790" y="111866"/>
                    </a:lnTo>
                    <a:moveTo>
                      <a:pt x="591290" y="0"/>
                    </a:moveTo>
                    <a:lnTo>
                      <a:pt x="591290" y="111866"/>
                    </a:lnTo>
                    <a:moveTo>
                      <a:pt x="724464" y="0"/>
                    </a:moveTo>
                    <a:lnTo>
                      <a:pt x="724464" y="111866"/>
                    </a:lnTo>
                    <a:moveTo>
                      <a:pt x="181116" y="639234"/>
                    </a:moveTo>
                    <a:lnTo>
                      <a:pt x="181116" y="751100"/>
                    </a:lnTo>
                    <a:moveTo>
                      <a:pt x="314289" y="639234"/>
                    </a:moveTo>
                    <a:lnTo>
                      <a:pt x="314289" y="751100"/>
                    </a:lnTo>
                    <a:moveTo>
                      <a:pt x="452790" y="639234"/>
                    </a:moveTo>
                    <a:lnTo>
                      <a:pt x="452790" y="751100"/>
                    </a:lnTo>
                    <a:moveTo>
                      <a:pt x="591290" y="639234"/>
                    </a:moveTo>
                    <a:lnTo>
                      <a:pt x="591290" y="751100"/>
                    </a:lnTo>
                    <a:moveTo>
                      <a:pt x="724464" y="639234"/>
                    </a:moveTo>
                    <a:lnTo>
                      <a:pt x="724464" y="751100"/>
                    </a:lnTo>
                    <a:moveTo>
                      <a:pt x="0" y="229059"/>
                    </a:moveTo>
                    <a:lnTo>
                      <a:pt x="106539" y="229059"/>
                    </a:lnTo>
                    <a:moveTo>
                      <a:pt x="0" y="367560"/>
                    </a:moveTo>
                    <a:lnTo>
                      <a:pt x="106539" y="367560"/>
                    </a:lnTo>
                    <a:moveTo>
                      <a:pt x="0" y="511387"/>
                    </a:moveTo>
                    <a:lnTo>
                      <a:pt x="106539" y="511387"/>
                    </a:lnTo>
                    <a:moveTo>
                      <a:pt x="783060" y="229059"/>
                    </a:moveTo>
                    <a:lnTo>
                      <a:pt x="884272" y="229059"/>
                    </a:lnTo>
                    <a:moveTo>
                      <a:pt x="783060" y="367560"/>
                    </a:moveTo>
                    <a:lnTo>
                      <a:pt x="884272" y="367560"/>
                    </a:lnTo>
                    <a:moveTo>
                      <a:pt x="783060" y="511387"/>
                    </a:moveTo>
                    <a:lnTo>
                      <a:pt x="884272" y="511387"/>
                    </a:lnTo>
                  </a:path>
                </a:pathLst>
              </a:custGeom>
              <a:noFill/>
              <a:ln w="26635" cap="rnd" cmpd="sng" algn="ctr">
                <a:solidFill>
                  <a:srgbClr val="665180"/>
                </a:solidFill>
                <a:prstDash val="solid"/>
                <a:round/>
                <a:headEnd type="none" w="med" len="med"/>
                <a:tailEnd type="none" w="med" len="med"/>
              </a:ln>
            </p:spPr>
          </p:sp>
          <p:sp>
            <p:nvSpPr>
              <p:cNvPr id="1194" name="rect · 168"/>
              <p:cNvSpPr/>
              <p:nvPr/>
            </p:nvSpPr>
            <p:spPr>
              <a:xfrm>
                <a:off x="10517470" y="2584274"/>
                <a:ext cx="713811" cy="585964"/>
              </a:xfrm>
              <a:prstGeom prst="roundRect">
                <a:avLst>
                  <a:gd name="adj" fmla="val 21818"/>
                </a:avLst>
              </a:prstGeom>
              <a:solidFill>
                <a:srgbClr val="E8E0F3"/>
              </a:solidFill>
              <a:ln w="15981" cap="rnd" cmpd="sng" algn="ctr">
                <a:solidFill>
                  <a:srgbClr val="665180"/>
                </a:solidFill>
                <a:prstDash val="solid"/>
                <a:round/>
                <a:headEnd type="none" w="med" len="med"/>
                <a:tailEnd type="none" w="med" len="med"/>
              </a:ln>
            </p:spPr>
          </p:sp>
          <p:sp>
            <p:nvSpPr>
              <p:cNvPr id="1195" name="rect · 169"/>
              <p:cNvSpPr/>
              <p:nvPr/>
            </p:nvSpPr>
            <p:spPr>
              <a:xfrm>
                <a:off x="10581393" y="2648197"/>
                <a:ext cx="585964" cy="458117"/>
              </a:xfrm>
              <a:prstGeom prst="roundRect">
                <a:avLst>
                  <a:gd name="adj" fmla="val 18605"/>
                </a:avLst>
              </a:prstGeom>
              <a:solidFill>
                <a:srgbClr val="FFFFFF"/>
              </a:solidFill>
              <a:ln w="11719" cap="rnd" cmpd="sng" algn="ctr">
                <a:solidFill>
                  <a:srgbClr val="665180"/>
                </a:solidFill>
                <a:prstDash val="solid"/>
                <a:round/>
                <a:headEnd type="none" w="med" len="med"/>
                <a:tailEnd type="none" w="med" len="med"/>
              </a:ln>
            </p:spPr>
          </p:sp>
          <p:sp>
            <p:nvSpPr>
              <p:cNvPr id="1196" name="path · 170"/>
              <p:cNvSpPr/>
              <p:nvPr/>
            </p:nvSpPr>
            <p:spPr>
              <a:xfrm>
                <a:off x="10655970" y="2722774"/>
                <a:ext cx="431483" cy="287655"/>
              </a:xfrm>
              <a:custGeom>
                <a:avLst/>
                <a:gdLst/>
                <a:ahLst/>
                <a:cxnLst/>
                <a:rect l="0" t="0" r="r" b="b"/>
                <a:pathLst>
                  <a:path w="431483" h="287655" fill="none" stroke="1" extrusionOk="0">
                    <a:moveTo>
                      <a:pt x="0" y="63924"/>
                    </a:moveTo>
                    <a:lnTo>
                      <a:pt x="159809" y="0"/>
                    </a:lnTo>
                    <a:lnTo>
                      <a:pt x="314290" y="53270"/>
                    </a:lnTo>
                    <a:lnTo>
                      <a:pt x="431483" y="213078"/>
                    </a:lnTo>
                    <a:lnTo>
                      <a:pt x="229059" y="287655"/>
                    </a:lnTo>
                    <a:lnTo>
                      <a:pt x="90558" y="191770"/>
                    </a:lnTo>
                    <a:lnTo>
                      <a:pt x="0" y="63924"/>
                    </a:lnTo>
                    <a:moveTo>
                      <a:pt x="159809" y="0"/>
                    </a:moveTo>
                    <a:lnTo>
                      <a:pt x="229059" y="287655"/>
                    </a:lnTo>
                    <a:moveTo>
                      <a:pt x="314290" y="53270"/>
                    </a:moveTo>
                    <a:lnTo>
                      <a:pt x="90558" y="191770"/>
                    </a:lnTo>
                    <a:moveTo>
                      <a:pt x="431483" y="213078"/>
                    </a:moveTo>
                    <a:lnTo>
                      <a:pt x="0" y="63924"/>
                    </a:lnTo>
                  </a:path>
                </a:pathLst>
              </a:custGeom>
              <a:noFill/>
              <a:ln w="12252" cap="rnd" cmpd="sng" algn="ctr">
                <a:solidFill>
                  <a:srgbClr val="665180"/>
                </a:solidFill>
                <a:prstDash val="solid"/>
                <a:round/>
                <a:headEnd type="none" w="med" len="med"/>
                <a:tailEnd type="none" w="med" len="med"/>
              </a:ln>
            </p:spPr>
          </p:sp>
          <p:grpSp>
            <p:nvGrpSpPr>
              <p:cNvPr id="1197" name="g · 177"/>
              <p:cNvGrpSpPr/>
              <p:nvPr/>
            </p:nvGrpSpPr>
            <p:grpSpPr>
              <a:xfrm>
                <a:off x="10618682" y="2685486"/>
                <a:ext cx="506060" cy="362232"/>
                <a:chOff x="10618682" y="2685486"/>
                <a:chExt cx="506060" cy="362232"/>
              </a:xfrm>
            </p:grpSpPr>
            <p:sp>
              <p:nvSpPr>
                <p:cNvPr id="1198" name="circle · 171"/>
                <p:cNvSpPr/>
                <p:nvPr/>
              </p:nvSpPr>
              <p:spPr>
                <a:xfrm>
                  <a:off x="10618682" y="2749409"/>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199" name="circle · 172"/>
                <p:cNvSpPr/>
                <p:nvPr/>
              </p:nvSpPr>
              <p:spPr>
                <a:xfrm>
                  <a:off x="10778490" y="268548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0" name="circle · 173"/>
                <p:cNvSpPr/>
                <p:nvPr/>
              </p:nvSpPr>
              <p:spPr>
                <a:xfrm>
                  <a:off x="10932971" y="2738755"/>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1" name="circle · 174"/>
                <p:cNvSpPr/>
                <p:nvPr/>
              </p:nvSpPr>
              <p:spPr>
                <a:xfrm>
                  <a:off x="11050164" y="2898563"/>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2" name="circle · 175"/>
                <p:cNvSpPr/>
                <p:nvPr/>
              </p:nvSpPr>
              <p:spPr>
                <a:xfrm>
                  <a:off x="10847740" y="2973141"/>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sp>
              <p:nvSpPr>
                <p:cNvPr id="1203" name="circle · 176"/>
                <p:cNvSpPr/>
                <p:nvPr/>
              </p:nvSpPr>
              <p:spPr>
                <a:xfrm>
                  <a:off x="10709240" y="2877256"/>
                  <a:ext cx="74577" cy="74577"/>
                </a:xfrm>
                <a:prstGeom prst="ellipse">
                  <a:avLst/>
                </a:prstGeom>
                <a:solidFill>
                  <a:srgbClr val="E8E0F3"/>
                </a:solidFill>
                <a:ln w="13317" cap="rnd" cmpd="sng" algn="ctr">
                  <a:solidFill>
                    <a:srgbClr val="665180"/>
                  </a:solidFill>
                  <a:prstDash val="solid"/>
                  <a:round/>
                  <a:headEnd type="none" w="med" len="med"/>
                  <a:tailEnd type="none" w="med" len="med"/>
                </a:ln>
              </p:spPr>
            </p:sp>
          </p:grpSp>
        </p:grpSp>
        <p:grpSp>
          <p:nvGrpSpPr>
            <p:cNvPr id="1204" name="wrapper-caption · 180"/>
            <p:cNvGrpSpPr/>
            <p:nvPr/>
          </p:nvGrpSpPr>
          <p:grpSpPr>
            <a:xfrm>
              <a:off x="8864191" y="3429124"/>
              <a:ext cx="1715319" cy="260226"/>
              <a:chOff x="8864191" y="3429124"/>
              <a:chExt cx="1715319" cy="260226"/>
            </a:xfrm>
          </p:grpSpPr>
          <p:sp>
            <p:nvSpPr>
              <p:cNvPr id="1205" name="text · 179"/>
              <p:cNvSpPr txBox="1"/>
              <p:nvPr/>
            </p:nvSpPr>
            <p:spPr>
              <a:xfrm>
                <a:off x="8862603" y="3429124"/>
                <a:ext cx="1718494"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665180"/>
                    </a:solidFill>
                    <a:latin typeface="Manrope"/>
                    <a:ea typeface="Manrope"/>
                    <a:cs typeface="Manrope"/>
                  </a:rPr>
                  <a:t>Frontier every step</a:t>
                </a:r>
                <a:endParaRPr lang="en-US" sz="1500"/>
              </a:p>
            </p:txBody>
          </p:sp>
        </p:grpSp>
        <p:grpSp>
          <p:nvGrpSpPr>
            <p:cNvPr id="1206" name="disaggregated-heading · 182"/>
            <p:cNvGrpSpPr/>
            <p:nvPr/>
          </p:nvGrpSpPr>
          <p:grpSpPr>
            <a:xfrm>
              <a:off x="7912100" y="3859250"/>
              <a:ext cx="1541103" cy="294922"/>
              <a:chOff x="7912100" y="3859250"/>
              <a:chExt cx="1541103" cy="294922"/>
            </a:xfrm>
          </p:grpSpPr>
          <p:sp>
            <p:nvSpPr>
              <p:cNvPr id="1207" name="text · 181"/>
              <p:cNvSpPr txBox="1"/>
              <p:nvPr/>
            </p:nvSpPr>
            <p:spPr>
              <a:xfrm>
                <a:off x="7910512" y="3859250"/>
                <a:ext cx="1544278" cy="329466"/>
              </a:xfrm>
              <a:prstGeom prst="rect">
                <a:avLst/>
              </a:prstGeom>
              <a:noFill/>
              <a:ln>
                <a:noFill/>
              </a:ln>
            </p:spPr>
            <p:txBody>
              <a:bodyPr wrap="none" lIns="0" tIns="0" rIns="0" bIns="0" anchor="t" anchorCtr="0" vertOverflow="overflow" horzOverflow="overflow">
                <a:noAutofit/>
              </a:bodyPr>
              <a:lstStyle/>
              <a:p>
                <a:pPr algn="l" marL="0" marR="0" indent="0" fontAlgn="base">
                  <a:lnSpc>
                    <a:spcPts val="2322"/>
                  </a:lnSpc>
                  <a:spcBef>
                    <a:spcPts val="0"/>
                  </a:spcBef>
                  <a:spcAft>
                    <a:spcPts val="0"/>
                  </a:spcAft>
                </a:pPr>
                <a:r>
                  <a:rPr lang="en-US" sz="1700" b="1" i="0" kern="0" spc="0" dirty="0">
                    <a:solidFill>
                      <a:srgbClr val="2E6653"/>
                    </a:solidFill>
                    <a:latin typeface="Manrope"/>
                    <a:ea typeface="Manrope"/>
                    <a:cs typeface="Manrope"/>
                  </a:rPr>
                  <a:t>Disaggregated</a:t>
                </a:r>
                <a:endParaRPr lang="en-US" sz="1700"/>
              </a:p>
            </p:txBody>
          </p:sp>
        </p:grpSp>
        <p:grpSp>
          <p:nvGrpSpPr>
            <p:cNvPr id="1208" name="system-one-label · 184"/>
            <p:cNvGrpSpPr/>
            <p:nvPr/>
          </p:nvGrpSpPr>
          <p:grpSpPr>
            <a:xfrm>
              <a:off x="9167630" y="4166983"/>
              <a:ext cx="981441" cy="234200"/>
              <a:chOff x="9167630" y="4166983"/>
              <a:chExt cx="981441" cy="234200"/>
            </a:xfrm>
          </p:grpSpPr>
          <p:sp>
            <p:nvSpPr>
              <p:cNvPr id="1209" name="text · 183"/>
              <p:cNvSpPr txBox="1"/>
              <p:nvPr/>
            </p:nvSpPr>
            <p:spPr>
              <a:xfrm>
                <a:off x="9166042" y="4166983"/>
                <a:ext cx="984616" cy="2616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844"/>
                  </a:lnSpc>
                  <a:spcBef>
                    <a:spcPts val="0"/>
                  </a:spcBef>
                  <a:spcAft>
                    <a:spcPts val="0"/>
                  </a:spcAft>
                </a:pPr>
                <a:r>
                  <a:rPr lang="en-US" sz="1350" b="1" i="0" kern="0" spc="0" dirty="0">
                    <a:solidFill>
                      <a:srgbClr val="2E6653"/>
                    </a:solidFill>
                    <a:latin typeface="Manrope"/>
                    <a:ea typeface="Manrope"/>
                    <a:cs typeface="Manrope"/>
                  </a:rPr>
                  <a:t>System One</a:t>
                </a:r>
                <a:endParaRPr lang="en-US" sz="1350"/>
              </a:p>
            </p:txBody>
          </p:sp>
        </p:grpSp>
        <p:grpSp>
          <p:nvGrpSpPr>
            <p:cNvPr id="1210" name="auth · 193"/>
            <p:cNvGrpSpPr/>
            <p:nvPr/>
          </p:nvGrpSpPr>
          <p:grpSpPr>
            <a:xfrm>
              <a:off x="8012642" y="4455583"/>
              <a:ext cx="814917" cy="709083"/>
              <a:chOff x="8012642" y="4455583"/>
              <a:chExt cx="814917" cy="709083"/>
            </a:xfrm>
          </p:grpSpPr>
          <p:sp>
            <p:nvSpPr>
              <p:cNvPr id="1211" name="rect · 185"/>
              <p:cNvSpPr/>
              <p:nvPr/>
            </p:nvSpPr>
            <p:spPr>
              <a:xfrm>
                <a:off x="8012642" y="4455583"/>
                <a:ext cx="724958" cy="592667"/>
              </a:xfrm>
              <a:prstGeom prst="roundRect">
                <a:avLst>
                  <a:gd name="adj" fmla="val 11607"/>
                </a:avLst>
              </a:prstGeom>
              <a:solidFill>
                <a:srgbClr val="FFFFFF"/>
              </a:solidFill>
              <a:ln w="11642" cap="rnd" cmpd="sng" algn="ctr">
                <a:solidFill>
                  <a:srgbClr val="243E42"/>
                </a:solidFill>
                <a:prstDash val="solid"/>
                <a:round/>
                <a:headEnd type="none" w="med" len="med"/>
                <a:tailEnd type="none" w="med" len="med"/>
              </a:ln>
            </p:spPr>
          </p:sp>
          <p:sp>
            <p:nvSpPr>
              <p:cNvPr id="1212" name="path · 186"/>
              <p:cNvSpPr/>
              <p:nvPr/>
            </p:nvSpPr>
            <p:spPr>
              <a:xfrm>
                <a:off x="8012642" y="4455583"/>
                <a:ext cx="724958" cy="132292"/>
              </a:xfrm>
              <a:custGeom>
                <a:avLst/>
                <a:gdLst/>
                <a:ahLst/>
                <a:cxnLst/>
                <a:rect l="0" t="0" r="r" b="b"/>
                <a:pathLst>
                  <a:path w="724958" h="132292" fill="norm" stroke="1" extrusionOk="0">
                    <a:moveTo>
                      <a:pt x="68791" y="0"/>
                    </a:moveTo>
                    <a:lnTo>
                      <a:pt x="656166" y="0"/>
                    </a:lnTo>
                    <a:quadBezTo>
                      <a:pt x="724958" y="0"/>
                      <a:pt x="724958" y="68792"/>
                    </a:quadBezTo>
                    <a:lnTo>
                      <a:pt x="724958" y="132292"/>
                    </a:lnTo>
                    <a:lnTo>
                      <a:pt x="0" y="132292"/>
                    </a:lnTo>
                    <a:lnTo>
                      <a:pt x="0" y="68792"/>
                    </a:lnTo>
                    <a:quadBezTo>
                      <a:pt x="0" y="0"/>
                      <a:pt x="68791" y="0"/>
                    </a:quadBezTo>
                  </a:path>
                </a:pathLst>
              </a:custGeom>
              <a:solidFill>
                <a:srgbClr val="E2EEF3"/>
              </a:solidFill>
              <a:ln w="11642" cap="rnd" cmpd="sng" algn="ctr">
                <a:solidFill>
                  <a:srgbClr val="243E42"/>
                </a:solidFill>
                <a:prstDash val="solid"/>
                <a:round/>
                <a:headEnd type="none" w="med" len="med"/>
                <a:tailEnd type="none" w="med" len="med"/>
              </a:ln>
            </p:spPr>
          </p:sp>
          <p:sp>
            <p:nvSpPr>
              <p:cNvPr id="1213" name="circle · 187"/>
              <p:cNvSpPr/>
              <p:nvPr/>
            </p:nvSpPr>
            <p:spPr>
              <a:xfrm>
                <a:off x="8150225" y="4683125"/>
                <a:ext cx="127000" cy="127000"/>
              </a:xfrm>
              <a:prstGeom prst="ellipse">
                <a:avLst/>
              </a:prstGeom>
              <a:solidFill>
                <a:srgbClr val="F4DFD3"/>
              </a:solidFill>
              <a:ln w="11642" cap="rnd" cmpd="sng" algn="ctr">
                <a:solidFill>
                  <a:srgbClr val="243E42"/>
                </a:solidFill>
                <a:prstDash val="solid"/>
                <a:round/>
                <a:headEnd type="none" w="med" len="med"/>
                <a:tailEnd type="none" w="med" len="med"/>
              </a:ln>
            </p:spPr>
          </p:sp>
          <p:sp>
            <p:nvSpPr>
              <p:cNvPr id="1214" name="path · 188"/>
              <p:cNvSpPr/>
              <p:nvPr/>
            </p:nvSpPr>
            <p:spPr>
              <a:xfrm>
                <a:off x="8107892" y="4778375"/>
                <a:ext cx="211667" cy="153458"/>
              </a:xfrm>
              <a:custGeom>
                <a:avLst/>
                <a:gdLst/>
                <a:ahLst/>
                <a:cxnLst/>
                <a:rect l="0" t="0" r="r" b="b"/>
                <a:pathLst>
                  <a:path w="211667" h="153458" fill="norm" stroke="1" extrusionOk="0">
                    <a:moveTo>
                      <a:pt x="0" y="153458"/>
                    </a:moveTo>
                    <a:lnTo>
                      <a:pt x="0" y="105833"/>
                    </a:lnTo>
                    <a:quadBezTo>
                      <a:pt x="0" y="0"/>
                      <a:pt x="105833" y="0"/>
                    </a:quadBezTo>
                    <a:quadBezTo>
                      <a:pt x="211666" y="0"/>
                      <a:pt x="211666" y="105833"/>
                    </a:quadBezTo>
                    <a:lnTo>
                      <a:pt x="211666" y="153458"/>
                    </a:lnTo>
                  </a:path>
                </a:pathLst>
              </a:custGeom>
              <a:solidFill>
                <a:srgbClr val="E2EEF3"/>
              </a:solidFill>
              <a:ln w="11642" cap="rnd" cmpd="sng" algn="ctr">
                <a:solidFill>
                  <a:srgbClr val="243E42"/>
                </a:solidFill>
                <a:prstDash val="solid"/>
                <a:round/>
                <a:headEnd type="none" w="med" len="med"/>
                <a:tailEnd type="none" w="med" len="med"/>
              </a:ln>
            </p:spPr>
          </p:sp>
          <p:sp>
            <p:nvSpPr>
              <p:cNvPr id="1215" name="path · 189"/>
              <p:cNvSpPr/>
              <p:nvPr/>
            </p:nvSpPr>
            <p:spPr>
              <a:xfrm>
                <a:off x="8097308" y="4688417"/>
                <a:ext cx="529167" cy="296333"/>
              </a:xfrm>
              <a:custGeom>
                <a:avLst/>
                <a:gdLst/>
                <a:ahLst/>
                <a:cxnLst/>
                <a:rect l="0" t="0" r="r" b="b"/>
                <a:pathLst>
                  <a:path w="529167" h="296333" fill="none" stroke="1" extrusionOk="0">
                    <a:moveTo>
                      <a:pt x="306917" y="0"/>
                    </a:moveTo>
                    <a:lnTo>
                      <a:pt x="529167" y="0"/>
                    </a:lnTo>
                    <a:moveTo>
                      <a:pt x="306917" y="84666"/>
                    </a:moveTo>
                    <a:lnTo>
                      <a:pt x="449792" y="84666"/>
                    </a:lnTo>
                    <a:moveTo>
                      <a:pt x="0" y="296333"/>
                    </a:moveTo>
                    <a:lnTo>
                      <a:pt x="254000" y="296333"/>
                    </a:lnTo>
                  </a:path>
                </a:pathLst>
              </a:custGeom>
              <a:noFill/>
              <a:ln w="21167" cap="rnd" cmpd="sng" algn="ctr">
                <a:solidFill>
                  <a:srgbClr val="243E42"/>
                </a:solidFill>
                <a:prstDash val="solid"/>
                <a:round/>
                <a:headEnd type="none" w="med" len="med"/>
                <a:tailEnd type="none" w="med" len="med"/>
              </a:ln>
            </p:spPr>
          </p:sp>
          <p:sp>
            <p:nvSpPr>
              <p:cNvPr id="1216" name="path · 190"/>
              <p:cNvSpPr/>
              <p:nvPr/>
            </p:nvSpPr>
            <p:spPr>
              <a:xfrm>
                <a:off x="8478308" y="4767792"/>
                <a:ext cx="349250" cy="396875"/>
              </a:xfrm>
              <a:custGeom>
                <a:avLst/>
                <a:gdLst/>
                <a:ahLst/>
                <a:cxnLst/>
                <a:rect l="0" t="0" r="r" b="b"/>
                <a:pathLst>
                  <a:path w="349250" h="396875" fill="norm" stroke="1" extrusionOk="0">
                    <a:moveTo>
                      <a:pt x="174625" y="0"/>
                    </a:moveTo>
                    <a:lnTo>
                      <a:pt x="349250" y="63500"/>
                    </a:lnTo>
                    <a:lnTo>
                      <a:pt x="349250" y="195791"/>
                    </a:lnTo>
                    <a:quadBezTo>
                      <a:pt x="349250" y="317500"/>
                      <a:pt x="174625" y="396875"/>
                    </a:quadBezTo>
                    <a:quadBezTo>
                      <a:pt x="0" y="317500"/>
                      <a:pt x="0" y="195791"/>
                    </a:quadBezTo>
                    <a:lnTo>
                      <a:pt x="0" y="63500"/>
                    </a:lnTo>
                    <a:close/>
                  </a:path>
                </a:pathLst>
              </a:custGeom>
              <a:solidFill>
                <a:srgbClr val="E2EEF3"/>
              </a:solidFill>
              <a:ln w="11642" cap="rnd" cmpd="sng" algn="ctr">
                <a:solidFill>
                  <a:srgbClr val="243E42"/>
                </a:solidFill>
                <a:prstDash val="solid"/>
                <a:round/>
                <a:headEnd type="none" w="med" len="med"/>
                <a:tailEnd type="none" w="med" len="med"/>
              </a:ln>
            </p:spPr>
          </p:sp>
          <p:sp>
            <p:nvSpPr>
              <p:cNvPr id="1217" name="circle · 191"/>
              <p:cNvSpPr/>
              <p:nvPr/>
            </p:nvSpPr>
            <p:spPr>
              <a:xfrm>
                <a:off x="8610600" y="4884208"/>
                <a:ext cx="84667" cy="84667"/>
              </a:xfrm>
              <a:prstGeom prst="ellipse">
                <a:avLst/>
              </a:prstGeom>
              <a:solidFill>
                <a:srgbClr val="FFFFFF"/>
              </a:solidFill>
              <a:ln w="11642" cap="rnd" cmpd="sng" algn="ctr">
                <a:solidFill>
                  <a:srgbClr val="243E42"/>
                </a:solidFill>
                <a:prstDash val="solid"/>
                <a:round/>
                <a:headEnd type="none" w="med" len="med"/>
                <a:tailEnd type="none" w="med" len="med"/>
              </a:ln>
            </p:spPr>
          </p:sp>
          <p:sp>
            <p:nvSpPr>
              <p:cNvPr id="1218" name="path · 192"/>
              <p:cNvSpPr/>
              <p:nvPr/>
            </p:nvSpPr>
            <p:spPr>
              <a:xfrm>
                <a:off x="8652933" y="4963583"/>
                <a:ext cx="1" cy="84667"/>
              </a:xfrm>
              <a:custGeom>
                <a:avLst/>
                <a:gdLst/>
                <a:ahLst/>
                <a:cxnLst/>
                <a:rect l="0" t="0" r="r" b="b"/>
                <a:pathLst>
                  <a:path w="1" h="84667" fill="none" stroke="1" extrusionOk="0">
                    <a:moveTo>
                      <a:pt x="0" y="0"/>
                    </a:moveTo>
                    <a:lnTo>
                      <a:pt x="0" y="84667"/>
                    </a:lnTo>
                  </a:path>
                </a:pathLst>
              </a:custGeom>
              <a:noFill/>
              <a:ln w="26458" cap="rnd" cmpd="sng" algn="ctr">
                <a:solidFill>
                  <a:srgbClr val="243E42"/>
                </a:solidFill>
                <a:prstDash val="solid"/>
                <a:round/>
                <a:headEnd type="none" w="med" len="med"/>
                <a:tailEnd type="none" w="med" len="med"/>
              </a:ln>
            </p:spPr>
          </p:sp>
        </p:grpSp>
        <p:grpSp>
          <p:nvGrpSpPr>
            <p:cNvPr id="1219" name="system-one · 200"/>
            <p:cNvGrpSpPr/>
            <p:nvPr/>
          </p:nvGrpSpPr>
          <p:grpSpPr>
            <a:xfrm>
              <a:off x="9309100" y="4439708"/>
              <a:ext cx="703792" cy="666750"/>
              <a:chOff x="9309100" y="4439708"/>
              <a:chExt cx="703792" cy="666750"/>
            </a:xfrm>
          </p:grpSpPr>
          <p:sp>
            <p:nvSpPr>
              <p:cNvPr id="1220" name="path · 194"/>
              <p:cNvSpPr/>
              <p:nvPr/>
            </p:nvSpPr>
            <p:spPr>
              <a:xfrm>
                <a:off x="9309100" y="4439708"/>
                <a:ext cx="703792" cy="666750"/>
              </a:xfrm>
              <a:custGeom>
                <a:avLst/>
                <a:gdLst/>
                <a:ahLst/>
                <a:cxnLst/>
                <a:rect l="0" t="0" r="r" b="b"/>
                <a:pathLst>
                  <a:path w="703792" h="666750" fill="none" stroke="1" extrusionOk="0">
                    <a:moveTo>
                      <a:pt x="201083" y="0"/>
                    </a:moveTo>
                    <a:lnTo>
                      <a:pt x="201083" y="116417"/>
                    </a:lnTo>
                    <a:moveTo>
                      <a:pt x="338667" y="0"/>
                    </a:moveTo>
                    <a:lnTo>
                      <a:pt x="338667" y="116417"/>
                    </a:lnTo>
                    <a:moveTo>
                      <a:pt x="481542" y="0"/>
                    </a:moveTo>
                    <a:lnTo>
                      <a:pt x="481542" y="116417"/>
                    </a:lnTo>
                    <a:moveTo>
                      <a:pt x="201083" y="550334"/>
                    </a:moveTo>
                    <a:lnTo>
                      <a:pt x="201083" y="666750"/>
                    </a:lnTo>
                    <a:moveTo>
                      <a:pt x="338667" y="550334"/>
                    </a:moveTo>
                    <a:lnTo>
                      <a:pt x="338667" y="666750"/>
                    </a:lnTo>
                    <a:moveTo>
                      <a:pt x="481542" y="550334"/>
                    </a:moveTo>
                    <a:lnTo>
                      <a:pt x="481542" y="666750"/>
                    </a:lnTo>
                    <a:moveTo>
                      <a:pt x="0" y="216959"/>
                    </a:moveTo>
                    <a:lnTo>
                      <a:pt x="116417" y="216959"/>
                    </a:lnTo>
                    <a:moveTo>
                      <a:pt x="0" y="418042"/>
                    </a:moveTo>
                    <a:lnTo>
                      <a:pt x="116417" y="418042"/>
                    </a:lnTo>
                    <a:moveTo>
                      <a:pt x="587375" y="216959"/>
                    </a:moveTo>
                    <a:lnTo>
                      <a:pt x="703792" y="216959"/>
                    </a:lnTo>
                    <a:moveTo>
                      <a:pt x="587375" y="418042"/>
                    </a:moveTo>
                    <a:lnTo>
                      <a:pt x="703792" y="418042"/>
                    </a:lnTo>
                  </a:path>
                </a:pathLst>
              </a:custGeom>
              <a:noFill/>
              <a:ln w="26458" cap="rnd" cmpd="sng" algn="ctr">
                <a:solidFill>
                  <a:srgbClr val="2E6653"/>
                </a:solidFill>
                <a:prstDash val="solid"/>
                <a:round/>
                <a:headEnd type="none" w="med" len="med"/>
                <a:tailEnd type="none" w="med" len="med"/>
              </a:ln>
            </p:spPr>
          </p:sp>
          <p:sp>
            <p:nvSpPr>
              <p:cNvPr id="1221" name="rect · 195"/>
              <p:cNvSpPr/>
              <p:nvPr/>
            </p:nvSpPr>
            <p:spPr>
              <a:xfrm>
                <a:off x="9404350" y="4529667"/>
                <a:ext cx="508000" cy="486833"/>
              </a:xfrm>
              <a:prstGeom prst="roundRect">
                <a:avLst>
                  <a:gd name="adj" fmla="val 22826"/>
                </a:avLst>
              </a:prstGeom>
              <a:solidFill>
                <a:srgbClr val="D7EBE1"/>
              </a:solidFill>
              <a:ln w="15875" cap="rnd" cmpd="sng" algn="ctr">
                <a:solidFill>
                  <a:srgbClr val="2E6653"/>
                </a:solidFill>
                <a:prstDash val="solid"/>
                <a:round/>
                <a:headEnd type="none" w="med" len="med"/>
                <a:tailEnd type="none" w="med" len="med"/>
              </a:ln>
            </p:spPr>
          </p:sp>
          <p:sp>
            <p:nvSpPr>
              <p:cNvPr id="1222" name="path · 196"/>
              <p:cNvSpPr/>
              <p:nvPr/>
            </p:nvSpPr>
            <p:spPr>
              <a:xfrm>
                <a:off x="9520767" y="4656667"/>
                <a:ext cx="259292" cy="232833"/>
              </a:xfrm>
              <a:custGeom>
                <a:avLst/>
                <a:gdLst/>
                <a:ahLst/>
                <a:cxnLst/>
                <a:rect l="0" t="0" r="r" b="b"/>
                <a:pathLst>
                  <a:path w="259292" h="232833" fill="none" stroke="1" extrusionOk="0">
                    <a:moveTo>
                      <a:pt x="0" y="116416"/>
                    </a:moveTo>
                    <a:lnTo>
                      <a:pt x="116416" y="116416"/>
                    </a:lnTo>
                    <a:moveTo>
                      <a:pt x="116416" y="116416"/>
                    </a:moveTo>
                    <a:lnTo>
                      <a:pt x="116416" y="0"/>
                    </a:lnTo>
                    <a:lnTo>
                      <a:pt x="259291" y="0"/>
                    </a:lnTo>
                    <a:moveTo>
                      <a:pt x="116416" y="116416"/>
                    </a:moveTo>
                    <a:lnTo>
                      <a:pt x="116416" y="232833"/>
                    </a:lnTo>
                    <a:lnTo>
                      <a:pt x="259291" y="232833"/>
                    </a:lnTo>
                  </a:path>
                </a:pathLst>
              </a:custGeom>
              <a:noFill/>
              <a:ln w="21167" cap="rnd" cmpd="sng" algn="ctr">
                <a:solidFill>
                  <a:srgbClr val="2E6653"/>
                </a:solidFill>
                <a:prstDash val="solid"/>
                <a:round/>
                <a:headEnd type="none" w="med" len="med"/>
                <a:tailEnd type="none" w="med" len="med"/>
              </a:ln>
            </p:spPr>
          </p:sp>
          <p:sp>
            <p:nvSpPr>
              <p:cNvPr id="1223" name="circle · 197"/>
              <p:cNvSpPr/>
              <p:nvPr/>
            </p:nvSpPr>
            <p:spPr>
              <a:xfrm>
                <a:off x="9473142" y="4741333"/>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sp>
            <p:nvSpPr>
              <p:cNvPr id="1224" name="circle · 198"/>
              <p:cNvSpPr/>
              <p:nvPr/>
            </p:nvSpPr>
            <p:spPr>
              <a:xfrm>
                <a:off x="9764183" y="4624917"/>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sp>
            <p:nvSpPr>
              <p:cNvPr id="1225" name="circle · 199"/>
              <p:cNvSpPr/>
              <p:nvPr/>
            </p:nvSpPr>
            <p:spPr>
              <a:xfrm>
                <a:off x="9764183" y="4857750"/>
                <a:ext cx="63500" cy="63500"/>
              </a:xfrm>
              <a:prstGeom prst="ellipse">
                <a:avLst/>
              </a:prstGeom>
              <a:solidFill>
                <a:srgbClr val="FFFFFF"/>
              </a:solidFill>
              <a:ln w="11642" cap="rnd" cmpd="sng" algn="ctr">
                <a:solidFill>
                  <a:srgbClr val="2E6653"/>
                </a:solidFill>
                <a:prstDash val="solid"/>
                <a:round/>
                <a:headEnd type="none" w="med" len="med"/>
                <a:tailEnd type="none" w="med" len="med"/>
              </a:ln>
            </p:spPr>
          </p:sp>
        </p:grpSp>
        <p:grpSp>
          <p:nvGrpSpPr>
            <p:cNvPr id="1226" name="policy · 207"/>
            <p:cNvGrpSpPr/>
            <p:nvPr/>
          </p:nvGrpSpPr>
          <p:grpSpPr>
            <a:xfrm>
              <a:off x="10568517" y="4397375"/>
              <a:ext cx="756708" cy="756708"/>
              <a:chOff x="10568517" y="4397375"/>
              <a:chExt cx="756708" cy="756708"/>
            </a:xfrm>
          </p:grpSpPr>
          <p:sp>
            <p:nvSpPr>
              <p:cNvPr id="1227" name="rect · 201"/>
              <p:cNvSpPr/>
              <p:nvPr/>
            </p:nvSpPr>
            <p:spPr>
              <a:xfrm>
                <a:off x="10568517" y="4434417"/>
                <a:ext cx="603250" cy="698500"/>
              </a:xfrm>
              <a:prstGeom prst="roundRect">
                <a:avLst>
                  <a:gd name="adj" fmla="val 11404"/>
                </a:avLst>
              </a:prstGeom>
              <a:solidFill>
                <a:srgbClr val="E2EEF3"/>
              </a:solidFill>
              <a:ln w="11642" cap="rnd" cmpd="sng" algn="ctr">
                <a:solidFill>
                  <a:srgbClr val="243E42"/>
                </a:solidFill>
                <a:prstDash val="solid"/>
                <a:round/>
                <a:headEnd type="none" w="med" len="med"/>
                <a:tailEnd type="none" w="med" len="med"/>
              </a:ln>
            </p:spPr>
          </p:sp>
          <p:sp>
            <p:nvSpPr>
              <p:cNvPr id="1228" name="rect · 202"/>
              <p:cNvSpPr/>
              <p:nvPr/>
            </p:nvSpPr>
            <p:spPr>
              <a:xfrm>
                <a:off x="10632017" y="4503208"/>
                <a:ext cx="481542" cy="555625"/>
              </a:xfrm>
              <a:prstGeom prst="roundRect">
                <a:avLst>
                  <a:gd name="adj" fmla="val 6593"/>
                </a:avLst>
              </a:prstGeom>
              <a:solidFill>
                <a:srgbClr val="FFFFFF"/>
              </a:solidFill>
              <a:ln w="11642" cap="rnd" cmpd="sng" algn="ctr">
                <a:solidFill>
                  <a:srgbClr val="243E42"/>
                </a:solidFill>
                <a:prstDash val="solid"/>
                <a:round/>
                <a:headEnd type="none" w="med" len="med"/>
                <a:tailEnd type="none" w="med" len="med"/>
              </a:ln>
            </p:spPr>
          </p:sp>
          <p:sp>
            <p:nvSpPr>
              <p:cNvPr id="1229" name="path · 203"/>
              <p:cNvSpPr/>
              <p:nvPr/>
            </p:nvSpPr>
            <p:spPr>
              <a:xfrm>
                <a:off x="10764308" y="4397375"/>
                <a:ext cx="206375" cy="116417"/>
              </a:xfrm>
              <a:custGeom>
                <a:avLst/>
                <a:gdLst/>
                <a:ahLst/>
                <a:cxnLst/>
                <a:rect l="0" t="0" r="r" b="b"/>
                <a:pathLst>
                  <a:path w="206375" h="116417" fill="norm" stroke="1" extrusionOk="0">
                    <a:moveTo>
                      <a:pt x="0" y="0"/>
                    </a:moveTo>
                    <a:lnTo>
                      <a:pt x="206375" y="0"/>
                    </a:lnTo>
                    <a:lnTo>
                      <a:pt x="206375" y="116417"/>
                    </a:lnTo>
                    <a:lnTo>
                      <a:pt x="0" y="116417"/>
                    </a:lnTo>
                    <a:close/>
                  </a:path>
                </a:pathLst>
              </a:custGeom>
              <a:solidFill>
                <a:srgbClr val="D7EBE1"/>
              </a:solidFill>
              <a:ln w="11642" cap="rnd" cmpd="sng" algn="ctr">
                <a:solidFill>
                  <a:srgbClr val="243E42"/>
                </a:solidFill>
                <a:prstDash val="solid"/>
                <a:round/>
                <a:headEnd type="none" w="med" len="med"/>
                <a:tailEnd type="none" w="med" len="med"/>
              </a:ln>
            </p:spPr>
          </p:sp>
          <p:sp>
            <p:nvSpPr>
              <p:cNvPr id="1230" name="path · 204"/>
              <p:cNvSpPr/>
              <p:nvPr/>
            </p:nvSpPr>
            <p:spPr>
              <a:xfrm>
                <a:off x="10679642" y="4614333"/>
                <a:ext cx="338667" cy="402167"/>
              </a:xfrm>
              <a:custGeom>
                <a:avLst/>
                <a:gdLst/>
                <a:ahLst/>
                <a:cxnLst/>
                <a:rect l="0" t="0" r="r" b="b"/>
                <a:pathLst>
                  <a:path w="338667" h="402167" fill="none" stroke="1" extrusionOk="0">
                    <a:moveTo>
                      <a:pt x="0" y="37042"/>
                    </a:moveTo>
                    <a:lnTo>
                      <a:pt x="37041" y="74084"/>
                    </a:lnTo>
                    <a:lnTo>
                      <a:pt x="95250" y="0"/>
                    </a:lnTo>
                    <a:moveTo>
                      <a:pt x="0" y="201084"/>
                    </a:moveTo>
                    <a:lnTo>
                      <a:pt x="37041" y="238125"/>
                    </a:lnTo>
                    <a:lnTo>
                      <a:pt x="95250" y="164042"/>
                    </a:lnTo>
                    <a:moveTo>
                      <a:pt x="0" y="365125"/>
                    </a:moveTo>
                    <a:lnTo>
                      <a:pt x="37041" y="402167"/>
                    </a:lnTo>
                    <a:lnTo>
                      <a:pt x="95250" y="328084"/>
                    </a:lnTo>
                    <a:moveTo>
                      <a:pt x="164041" y="42334"/>
                    </a:moveTo>
                    <a:lnTo>
                      <a:pt x="338666" y="42334"/>
                    </a:lnTo>
                    <a:moveTo>
                      <a:pt x="164041" y="201084"/>
                    </a:moveTo>
                    <a:lnTo>
                      <a:pt x="338666" y="201084"/>
                    </a:lnTo>
                    <a:moveTo>
                      <a:pt x="164041" y="359834"/>
                    </a:moveTo>
                    <a:lnTo>
                      <a:pt x="269875" y="359834"/>
                    </a:lnTo>
                  </a:path>
                </a:pathLst>
              </a:custGeom>
              <a:noFill/>
              <a:ln w="21167" cap="rnd" cmpd="sng" algn="ctr">
                <a:solidFill>
                  <a:srgbClr val="2E6653"/>
                </a:solidFill>
                <a:prstDash val="solid"/>
                <a:round/>
                <a:headEnd type="none" w="med" len="med"/>
                <a:tailEnd type="none" w="med" len="med"/>
              </a:ln>
            </p:spPr>
          </p:sp>
          <p:sp>
            <p:nvSpPr>
              <p:cNvPr id="1231" name="circle · 205"/>
              <p:cNvSpPr/>
              <p:nvPr/>
            </p:nvSpPr>
            <p:spPr>
              <a:xfrm>
                <a:off x="11028892" y="4857750"/>
                <a:ext cx="296333" cy="296333"/>
              </a:xfrm>
              <a:prstGeom prst="ellipse">
                <a:avLst/>
              </a:prstGeom>
              <a:solidFill>
                <a:srgbClr val="F6EAC8"/>
              </a:solidFill>
              <a:ln w="11642" cap="rnd" cmpd="sng" algn="ctr">
                <a:solidFill>
                  <a:srgbClr val="243E42"/>
                </a:solidFill>
                <a:prstDash val="solid"/>
                <a:round/>
                <a:headEnd type="none" w="med" len="med"/>
                <a:tailEnd type="none" w="med" len="med"/>
              </a:ln>
            </p:spPr>
          </p:sp>
          <p:sp>
            <p:nvSpPr>
              <p:cNvPr id="1232" name="path · 206"/>
              <p:cNvSpPr/>
              <p:nvPr/>
            </p:nvSpPr>
            <p:spPr>
              <a:xfrm>
                <a:off x="11087100" y="4910667"/>
                <a:ext cx="179917" cy="174625"/>
              </a:xfrm>
              <a:custGeom>
                <a:avLst/>
                <a:gdLst/>
                <a:ahLst/>
                <a:cxnLst/>
                <a:rect l="0" t="0" r="r" b="b"/>
                <a:pathLst>
                  <a:path w="179917" h="174625" fill="norm" stroke="1" extrusionOk="0">
                    <a:moveTo>
                      <a:pt x="89958" y="0"/>
                    </a:moveTo>
                    <a:lnTo>
                      <a:pt x="116417" y="58208"/>
                    </a:lnTo>
                    <a:lnTo>
                      <a:pt x="179917" y="68791"/>
                    </a:lnTo>
                    <a:lnTo>
                      <a:pt x="132292" y="111125"/>
                    </a:lnTo>
                    <a:lnTo>
                      <a:pt x="142875" y="174625"/>
                    </a:lnTo>
                    <a:lnTo>
                      <a:pt x="89958" y="142875"/>
                    </a:lnTo>
                    <a:lnTo>
                      <a:pt x="31750" y="174625"/>
                    </a:lnTo>
                    <a:lnTo>
                      <a:pt x="47625" y="111125"/>
                    </a:lnTo>
                    <a:lnTo>
                      <a:pt x="0" y="68791"/>
                    </a:lnTo>
                    <a:lnTo>
                      <a:pt x="63500" y="58208"/>
                    </a:lnTo>
                    <a:close/>
                  </a:path>
                </a:pathLst>
              </a:custGeom>
              <a:solidFill>
                <a:srgbClr val="FFFFFF"/>
              </a:solidFill>
              <a:ln w="11642" cap="rnd" cmpd="sng" algn="ctr">
                <a:solidFill>
                  <a:srgbClr val="7A6025"/>
                </a:solidFill>
                <a:prstDash val="solid"/>
                <a:round/>
                <a:headEnd type="none" w="med" len="med"/>
                <a:tailEnd type="none" w="med" len="med"/>
              </a:ln>
            </p:spPr>
          </p:sp>
        </p:grpSp>
        <p:grpSp>
          <p:nvGrpSpPr>
            <p:cNvPr id="1233" name="graph-service-to-system-one · 211"/>
            <p:cNvGrpSpPr/>
            <p:nvPr/>
          </p:nvGrpSpPr>
          <p:grpSpPr>
            <a:xfrm>
              <a:off x="8947150" y="4768850"/>
              <a:ext cx="190500" cy="50800"/>
              <a:chOff x="8947150" y="4768850"/>
              <a:chExt cx="190500" cy="50800"/>
            </a:xfrm>
          </p:grpSpPr>
          <p:sp>
            <p:nvSpPr>
              <p:cNvPr id="1234" name="path · 208"/>
              <p:cNvSpPr/>
              <p:nvPr/>
            </p:nvSpPr>
            <p:spPr>
              <a:xfrm>
                <a:off x="8947150" y="4794250"/>
                <a:ext cx="190500" cy="1"/>
              </a:xfrm>
              <a:custGeom>
                <a:avLst/>
                <a:gdLst/>
                <a:ahLst/>
                <a:cxnLst/>
                <a:rect l="0" t="0" r="r" b="b"/>
                <a:pathLst>
                  <a:path w="190500" h="1" fill="none" stroke="1" extrusionOk="0">
                    <a:moveTo>
                      <a:pt x="0" y="0"/>
                    </a:moveTo>
                    <a:lnTo>
                      <a:pt x="190500" y="0"/>
                    </a:lnTo>
                  </a:path>
                </a:pathLst>
              </a:custGeom>
              <a:noFill/>
              <a:ln w="107950" cap="rnd" cmpd="sng" algn="ctr">
                <a:solidFill>
                  <a:srgbClr val="D7EBE1">
                    <a:alpha val="60000"/>
                  </a:srgbClr>
                </a:solidFill>
                <a:prstDash val="solid"/>
                <a:round/>
                <a:headEnd type="none" w="med" len="med"/>
                <a:tailEnd type="none" w="med" len="med"/>
              </a:ln>
            </p:spPr>
          </p:sp>
          <p:grpSp>
            <p:nvGrpSpPr>
              <p:cNvPr id="1235" name="path · 209 + arrowhead"/>
              <p:cNvGrpSpPr/>
              <p:nvPr/>
            </p:nvGrpSpPr>
            <p:grpSpPr>
              <a:xfrm>
                <a:off x="8947150" y="4768850"/>
                <a:ext cx="190500" cy="50800"/>
                <a:chOff x="8947150" y="4768850"/>
                <a:chExt cx="190500" cy="50800"/>
              </a:xfrm>
            </p:grpSpPr>
            <p:sp>
              <p:nvSpPr>
                <p:cNvPr id="1236" name="path · 209"/>
                <p:cNvSpPr/>
                <p:nvPr/>
              </p:nvSpPr>
              <p:spPr>
                <a:xfrm>
                  <a:off x="8947150" y="4794250"/>
                  <a:ext cx="190500" cy="1"/>
                </a:xfrm>
                <a:custGeom>
                  <a:avLst/>
                  <a:gdLst/>
                  <a:ahLst/>
                  <a:cxnLst/>
                  <a:rect l="0" t="0" r="r" b="b"/>
                  <a:pathLst>
                    <a:path w="190500" h="1" fill="none" stroke="1" extrusionOk="0">
                      <a:moveTo>
                        <a:pt x="0" y="0"/>
                      </a:moveTo>
                      <a:lnTo>
                        <a:pt x="190500" y="0"/>
                      </a:lnTo>
                    </a:path>
                  </a:pathLst>
                </a:custGeom>
                <a:noFill/>
                <a:ln w="24130" cap="rnd" cmpd="sng" algn="ctr">
                  <a:solidFill>
                    <a:srgbClr val="2E6653"/>
                  </a:solidFill>
                  <a:prstDash val="solid"/>
                  <a:round/>
                  <a:headEnd type="none" w="med" len="med"/>
                  <a:tailEnd type="none" w="med" len="med"/>
                </a:ln>
              </p:spPr>
            </p:sp>
            <p:grpSp>
              <p:nvGrpSpPr>
                <p:cNvPr id="1237" name="arrow-green end"/>
                <p:cNvGrpSpPr/>
                <p:nvPr/>
              </p:nvGrpSpPr>
              <p:grpSpPr>
                <a:xfrm>
                  <a:off x="9090025" y="4768850"/>
                  <a:ext cx="47625" cy="50800"/>
                  <a:chOff x="9090025" y="4768850"/>
                  <a:chExt cx="47625" cy="50800"/>
                </a:xfrm>
              </p:grpSpPr>
              <p:sp>
                <p:nvSpPr>
                  <p:cNvPr id="1238" name="path · 210"/>
                  <p:cNvSpPr/>
                  <p:nvPr/>
                </p:nvSpPr>
                <p:spPr>
                  <a:xfrm>
                    <a:off x="9090025" y="4768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239" name="graph-system-one-to-service · 215"/>
            <p:cNvGrpSpPr/>
            <p:nvPr/>
          </p:nvGrpSpPr>
          <p:grpSpPr>
            <a:xfrm>
              <a:off x="10185400" y="4768850"/>
              <a:ext cx="190500" cy="50800"/>
              <a:chOff x="10185400" y="4768850"/>
              <a:chExt cx="190500" cy="50800"/>
            </a:xfrm>
          </p:grpSpPr>
          <p:sp>
            <p:nvSpPr>
              <p:cNvPr id="1240" name="path · 212"/>
              <p:cNvSpPr/>
              <p:nvPr/>
            </p:nvSpPr>
            <p:spPr>
              <a:xfrm>
                <a:off x="10185400" y="4794250"/>
                <a:ext cx="190500" cy="1"/>
              </a:xfrm>
              <a:custGeom>
                <a:avLst/>
                <a:gdLst/>
                <a:ahLst/>
                <a:cxnLst/>
                <a:rect l="0" t="0" r="r" b="b"/>
                <a:pathLst>
                  <a:path w="190500" h="1" fill="none" stroke="1" extrusionOk="0">
                    <a:moveTo>
                      <a:pt x="0" y="0"/>
                    </a:moveTo>
                    <a:lnTo>
                      <a:pt x="190500" y="0"/>
                    </a:lnTo>
                  </a:path>
                </a:pathLst>
              </a:custGeom>
              <a:noFill/>
              <a:ln w="107950" cap="rnd" cmpd="sng" algn="ctr">
                <a:solidFill>
                  <a:srgbClr val="D7EBE1">
                    <a:alpha val="60000"/>
                  </a:srgbClr>
                </a:solidFill>
                <a:prstDash val="solid"/>
                <a:round/>
                <a:headEnd type="none" w="med" len="med"/>
                <a:tailEnd type="none" w="med" len="med"/>
              </a:ln>
            </p:spPr>
          </p:sp>
          <p:grpSp>
            <p:nvGrpSpPr>
              <p:cNvPr id="1241" name="path · 213 + arrowhead"/>
              <p:cNvGrpSpPr/>
              <p:nvPr/>
            </p:nvGrpSpPr>
            <p:grpSpPr>
              <a:xfrm>
                <a:off x="10185400" y="4768850"/>
                <a:ext cx="190500" cy="50800"/>
                <a:chOff x="10185400" y="4768850"/>
                <a:chExt cx="190500" cy="50800"/>
              </a:xfrm>
            </p:grpSpPr>
            <p:sp>
              <p:nvSpPr>
                <p:cNvPr id="1242" name="path · 213"/>
                <p:cNvSpPr/>
                <p:nvPr/>
              </p:nvSpPr>
              <p:spPr>
                <a:xfrm>
                  <a:off x="10185400" y="4794250"/>
                  <a:ext cx="190500" cy="1"/>
                </a:xfrm>
                <a:custGeom>
                  <a:avLst/>
                  <a:gdLst/>
                  <a:ahLst/>
                  <a:cxnLst/>
                  <a:rect l="0" t="0" r="r" b="b"/>
                  <a:pathLst>
                    <a:path w="190500" h="1" fill="none" stroke="1" extrusionOk="0">
                      <a:moveTo>
                        <a:pt x="0" y="0"/>
                      </a:moveTo>
                      <a:lnTo>
                        <a:pt x="190500" y="0"/>
                      </a:lnTo>
                    </a:path>
                  </a:pathLst>
                </a:custGeom>
                <a:noFill/>
                <a:ln w="24130" cap="rnd" cmpd="sng" algn="ctr">
                  <a:solidFill>
                    <a:srgbClr val="2E6653"/>
                  </a:solidFill>
                  <a:prstDash val="solid"/>
                  <a:round/>
                  <a:headEnd type="none" w="med" len="med"/>
                  <a:tailEnd type="none" w="med" len="med"/>
                </a:ln>
              </p:spPr>
            </p:sp>
            <p:grpSp>
              <p:nvGrpSpPr>
                <p:cNvPr id="1243" name="arrow-green end"/>
                <p:cNvGrpSpPr/>
                <p:nvPr/>
              </p:nvGrpSpPr>
              <p:grpSpPr>
                <a:xfrm>
                  <a:off x="10328275" y="4768850"/>
                  <a:ext cx="47625" cy="50800"/>
                  <a:chOff x="10328275" y="4768850"/>
                  <a:chExt cx="47625" cy="50800"/>
                </a:xfrm>
              </p:grpSpPr>
              <p:sp>
                <p:nvSpPr>
                  <p:cNvPr id="1244" name="path · 214"/>
                  <p:cNvSpPr/>
                  <p:nvPr/>
                </p:nvSpPr>
                <p:spPr>
                  <a:xfrm>
                    <a:off x="10328275" y="4768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245" name="graph-caption · 217"/>
            <p:cNvGrpSpPr/>
            <p:nvPr/>
          </p:nvGrpSpPr>
          <p:grpSpPr>
            <a:xfrm>
              <a:off x="8773908" y="5265117"/>
              <a:ext cx="1895884" cy="242875"/>
              <a:chOff x="8773908" y="5265117"/>
              <a:chExt cx="1895884" cy="242875"/>
            </a:xfrm>
          </p:grpSpPr>
          <p:sp>
            <p:nvSpPr>
              <p:cNvPr id="1246" name="text · 216"/>
              <p:cNvSpPr txBox="1"/>
              <p:nvPr/>
            </p:nvSpPr>
            <p:spPr>
              <a:xfrm>
                <a:off x="8772320" y="5265117"/>
                <a:ext cx="1899059" cy="27132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12"/>
                  </a:lnSpc>
                  <a:spcBef>
                    <a:spcPts val="0"/>
                  </a:spcBef>
                  <a:spcAft>
                    <a:spcPts val="0"/>
                  </a:spcAft>
                </a:pPr>
                <a:r>
                  <a:rPr lang="en-US" sz="1400" b="1" i="0" kern="0" spc="0" dirty="0">
                    <a:solidFill>
                      <a:srgbClr val="2E6653"/>
                    </a:solidFill>
                    <a:latin typeface="Manrope"/>
                    <a:ea typeface="Manrope"/>
                    <a:cs typeface="Manrope"/>
                  </a:rPr>
                  <a:t>Agent Graph executes</a:t>
                </a:r>
                <a:endParaRPr lang="en-US" sz="1400"/>
              </a:p>
            </p:txBody>
          </p:sp>
        </p:grpSp>
        <p:grpSp>
          <p:nvGrpSpPr>
            <p:cNvPr id="1247" name="script-caption · 219"/>
            <p:cNvGrpSpPr/>
            <p:nvPr/>
          </p:nvGrpSpPr>
          <p:grpSpPr>
            <a:xfrm>
              <a:off x="8920038" y="5558055"/>
              <a:ext cx="1603623" cy="225524"/>
              <a:chOff x="8920038" y="5558055"/>
              <a:chExt cx="1603623" cy="225524"/>
            </a:xfrm>
          </p:grpSpPr>
          <p:sp>
            <p:nvSpPr>
              <p:cNvPr id="1248" name="text · 218"/>
              <p:cNvSpPr txBox="1"/>
              <p:nvPr/>
            </p:nvSpPr>
            <p:spPr>
              <a:xfrm>
                <a:off x="8918450" y="5558055"/>
                <a:ext cx="1606798" cy="25194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76"/>
                  </a:lnSpc>
                  <a:spcBef>
                    <a:spcPts val="0"/>
                  </a:spcBef>
                  <a:spcAft>
                    <a:spcPts val="0"/>
                  </a:spcAft>
                </a:pPr>
                <a:r>
                  <a:rPr lang="en-US" sz="1300" b="1" i="0" kern="0" spc="0" dirty="0">
                    <a:solidFill>
                      <a:srgbClr val="2E6653"/>
                    </a:solidFill>
                    <a:latin typeface="Manrope"/>
                    <a:ea typeface="Manrope"/>
                    <a:cs typeface="Manrope"/>
                  </a:rPr>
                  <a:t>AgentScript authors</a:t>
                </a:r>
                <a:endParaRPr lang="en-US" sz="1300"/>
              </a:p>
            </p:txBody>
          </p:sp>
        </p:grpSp>
      </p:grpSp>
      <p:grpSp>
        <p:nvGrpSpPr>
          <p:cNvPr id="1254" name="06 · source-line: Reliable enterprise agents · AgentScript control plane · Jev + LangGraph · "/>
          <p:cNvGrpSpPr/>
          <p:nvPr/>
        </p:nvGrpSpPr>
        <p:grpSpPr>
          <a:xfrm>
            <a:off x="558800" y="6037898"/>
            <a:ext cx="11087100" cy="284456"/>
            <a:chOff x="558800" y="6037898"/>
            <a:chExt cx="11087100" cy="284456"/>
          </a:xfrm>
        </p:grpSpPr>
        <p:sp>
          <p:nvSpPr>
            <p:cNvPr id="1249" name="06 · source-line · top border [p06-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250" name="06 · span: Reliable enterprise agents · AgentScript control plane · Jev + LangGraph · Acc [p06-text-0009]" descr="Native editable Unicode text; authored line breaks retained."/>
            <p:cNvSpPr txBox="1"/>
            <p:nvPr/>
          </p:nvSpPr>
          <p:spPr>
            <a:xfrm>
              <a:off x="558800" y="6153126"/>
              <a:ext cx="545931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Access and allocation · A</a:t>
              </a:r>
              <a:endParaRPr lang="en-US" sz="950" b="0" i="0" kern="0" spc="0" dirty="0" u="sng">
                <a:solidFill>
                  <a:srgbClr val="315A7A"/>
                </a:solidFill>
                <a:latin typeface="Salesforce Sans"/>
                <a:ea typeface="Salesforce Sans"/>
                <a:cs typeface="Salesforce Sans"/>
              </a:endParaRPr>
            </a:p>
          </p:txBody>
        </p:sp>
        <p:sp>
          <p:nvSpPr>
            <p:cNvPr id="1251" name="06 · span: Proposed design · same service safeguards [p06-text-0010]" descr="Native editable Unicode text; authored line breaks retained."/>
            <p:cNvSpPr txBox="1"/>
            <p:nvPr/>
          </p:nvSpPr>
          <p:spPr>
            <a:xfrm>
              <a:off x="9255503" y="6153126"/>
              <a:ext cx="239039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design · same service safeguards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Give familiar requests a direct service route">
    <p:bg>
      <p:bgPr>
        <a:solidFill>
          <a:srgbClr val="FFFFFF"/>
        </a:solidFill>
      </p:bgPr>
    </p:bg>
    <p:spTree>
      <p:nvGrpSpPr>
        <p:cNvPr id="1" name=""/>
        <p:cNvGrpSpPr/>
        <p:nvPr/>
      </p:nvGrpSpPr>
      <p:grpSpPr>
        <a:xfrm>
          <a:off x="0" y="0"/>
          <a:ext cx="0" cy="0"/>
          <a:chOff x="0" y="0"/>
          <a:chExt cx="0" cy="0"/>
        </a:xfrm>
      </p:grpSpPr>
      <p:sp>
        <p:nvSpPr>
          <p:cNvPr id="1000" name="07 · slide light · surface [p0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204" name="07 · chrome-min: DISAGGREGATED INTELLIGENCE"/>
          <p:cNvGrpSpPr/>
          <p:nvPr/>
        </p:nvGrpSpPr>
        <p:grpSpPr>
          <a:xfrm>
            <a:off x="558800" y="356053"/>
            <a:ext cx="11087100" cy="187325"/>
            <a:chOff x="558800" y="356053"/>
            <a:chExt cx="11087100" cy="187325"/>
          </a:xfrm>
        </p:grpSpPr>
        <p:sp>
          <p:nvSpPr>
            <p:cNvPr id="1001" name="07 · l: DISAGGREGATED INTELLIGENCE [p07-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7 · r: 07 / 36 [p07-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07 / 36</a:t>
              </a:r>
              <a:endParaRPr lang="en-US" sz="950" b="1" i="0" kern="0" spc="65" dirty="0">
                <a:solidFill>
                  <a:srgbClr val="022AC0"/>
                </a:solidFill>
                <a:latin typeface="Salesforce Sans"/>
                <a:ea typeface="Salesforce Sans"/>
                <a:cs typeface="Salesforce Sans"/>
              </a:endParaRPr>
            </a:p>
          </p:txBody>
        </p:sp>
      </p:grpSp>
      <p:grpSp>
        <p:nvGrpSpPr>
          <p:cNvPr id="1205" name="07 · deck-head: STEP 01 / ONE RETURN, TWO ALLOCATIONS · B"/>
          <p:cNvGrpSpPr/>
          <p:nvPr/>
        </p:nvGrpSpPr>
        <p:grpSpPr>
          <a:xfrm>
            <a:off x="558800" y="775901"/>
            <a:ext cx="11087100" cy="871263"/>
            <a:chOff x="558800" y="775901"/>
            <a:chExt cx="11087100" cy="871263"/>
          </a:xfrm>
        </p:grpSpPr>
        <p:sp>
          <p:nvSpPr>
            <p:cNvPr id="1003" name="07 · returns-routing-eyebrow: STEP 01 / ONE RETURN, TWO ALLOCATIONS · B [p07-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ONE RETURN, TWO ALLOCATIONS · B</a:t>
              </a:r>
              <a:endParaRPr lang="en-US" sz="1050" b="1" i="0" kern="0" spc="68" dirty="0">
                <a:solidFill>
                  <a:srgbClr val="022AC0"/>
                </a:solidFill>
                <a:latin typeface="Salesforce Sans"/>
                <a:ea typeface="Salesforce Sans"/>
                <a:cs typeface="Salesforce Sans"/>
              </a:endParaRPr>
            </a:p>
          </p:txBody>
        </p:sp>
        <p:sp>
          <p:nvSpPr>
            <p:cNvPr id="1004" name="07 · returns-routing-title: Give familiar requests a direct service route [p07-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Give familiar requests a direct service route</a:t>
              </a:r>
              <a:endParaRPr lang="en-US" sz="3600" b="1" i="0" kern="0" spc="-95" dirty="0">
                <a:solidFill>
                  <a:srgbClr val="022AC0"/>
                </a:solidFill>
                <a:latin typeface="Manrope"/>
                <a:ea typeface="Manrope"/>
                <a:cs typeface="Manrope"/>
              </a:endParaRPr>
            </a:p>
          </p:txBody>
        </p:sp>
      </p:grpSp>
      <p:grpSp>
        <p:nvGrpSpPr>
          <p:cNvPr id="1005" name="07 · img · drawing [p07-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continuation-B · 4"/>
            <p:cNvGrpSpPr/>
            <p:nvPr/>
          </p:nvGrpSpPr>
          <p:grpSpPr>
            <a:xfrm>
              <a:off x="622300" y="1917700"/>
              <a:ext cx="279400" cy="279400"/>
              <a:chOff x="622300" y="1917700"/>
              <a:chExt cx="279400" cy="279400"/>
            </a:xfrm>
          </p:grpSpPr>
          <p:sp>
            <p:nvSpPr>
              <p:cNvPr id="1008" name="circle · 2"/>
              <p:cNvSpPr/>
              <p:nvPr/>
            </p:nvSpPr>
            <p:spPr>
              <a:xfrm>
                <a:off x="622300" y="1917700"/>
                <a:ext cx="279400" cy="279400"/>
              </a:xfrm>
              <a:prstGeom prst="ellipse">
                <a:avLst/>
              </a:prstGeom>
              <a:solidFill>
                <a:srgbClr val="E2EEF3"/>
              </a:solidFill>
              <a:ln w="12700" cap="flat" cmpd="sng" algn="ctr">
                <a:solidFill>
                  <a:srgbClr val="355F72"/>
                </a:solidFill>
                <a:prstDash val="solid"/>
                <a:miter lim="400000"/>
                <a:headEnd type="none" w="med" len="med"/>
                <a:tailEnd type="none" w="med" len="med"/>
              </a:ln>
            </p:spPr>
          </p:sp>
          <p:sp>
            <p:nvSpPr>
              <p:cNvPr id="1009" name="text · 3"/>
              <p:cNvSpPr txBox="1"/>
              <p:nvPr/>
            </p:nvSpPr>
            <p:spPr>
              <a:xfrm>
                <a:off x="702313" y="1918246"/>
                <a:ext cx="119373"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355F72"/>
                    </a:solidFill>
                    <a:latin typeface="Manrope"/>
                    <a:ea typeface="Manrope"/>
                    <a:cs typeface="Manrope"/>
                  </a:rPr>
                  <a:t>B</a:t>
                </a:r>
                <a:endParaRPr lang="en-US" sz="1450"/>
              </a:p>
            </p:txBody>
          </p:sp>
        </p:grpSp>
        <p:sp>
          <p:nvSpPr>
            <p:cNvPr id="1010" name="text · 5"/>
            <p:cNvSpPr txBox="1"/>
            <p:nvPr/>
          </p:nvSpPr>
          <p:spPr>
            <a:xfrm>
              <a:off x="995362" y="1938133"/>
              <a:ext cx="1435826" cy="2616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844"/>
                </a:lnSpc>
                <a:spcBef>
                  <a:spcPts val="0"/>
                </a:spcBef>
                <a:spcAft>
                  <a:spcPts val="0"/>
                </a:spcAft>
              </a:pPr>
              <a:r>
                <a:rPr lang="en-US" sz="1350" b="1" i="0" kern="0" spc="0" dirty="0">
                  <a:solidFill>
                    <a:srgbClr val="355F72"/>
                  </a:solidFill>
                  <a:latin typeface="Manrope"/>
                  <a:ea typeface="Manrope"/>
                  <a:cs typeface="Manrope"/>
                </a:rPr>
                <a:t>Verified purchase</a:t>
              </a:r>
              <a:endParaRPr lang="en-US" sz="1350"/>
            </a:p>
          </p:txBody>
        </p:sp>
        <p:sp>
          <p:nvSpPr>
            <p:cNvPr id="1011" name="text · 6"/>
            <p:cNvSpPr txBox="1"/>
            <p:nvPr/>
          </p:nvSpPr>
          <p:spPr>
            <a:xfrm>
              <a:off x="1136060" y="2335671"/>
              <a:ext cx="1220378" cy="31977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254"/>
                </a:lnSpc>
                <a:spcBef>
                  <a:spcPts val="0"/>
                </a:spcBef>
                <a:spcAft>
                  <a:spcPts val="0"/>
                </a:spcAft>
              </a:pPr>
              <a:r>
                <a:rPr lang="en-US" sz="1650" b="1" i="0" kern="0" spc="0" dirty="0">
                  <a:solidFill>
                    <a:srgbClr val="2E6653"/>
                  </a:solidFill>
                  <a:latin typeface="Manrope"/>
                  <a:ea typeface="Manrope"/>
                  <a:cs typeface="Manrope"/>
                </a:rPr>
                <a:t>System One</a:t>
              </a:r>
              <a:endParaRPr lang="en-US" sz="1650"/>
            </a:p>
          </p:txBody>
        </p:sp>
        <p:sp>
          <p:nvSpPr>
            <p:cNvPr id="1012" name="text · 7"/>
            <p:cNvSpPr txBox="1"/>
            <p:nvPr/>
          </p:nvSpPr>
          <p:spPr>
            <a:xfrm>
              <a:off x="1100608" y="2623933"/>
              <a:ext cx="1291282" cy="2616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844"/>
                </a:lnSpc>
                <a:spcBef>
                  <a:spcPts val="0"/>
                </a:spcBef>
                <a:spcAft>
                  <a:spcPts val="0"/>
                </a:spcAft>
              </a:pPr>
              <a:r>
                <a:rPr lang="en-US" sz="1350" b="0" i="0" kern="0" spc="0" dirty="0">
                  <a:solidFill>
                    <a:srgbClr val="2E6653"/>
                  </a:solidFill>
                  <a:latin typeface="Manrope"/>
                  <a:ea typeface="Manrope"/>
                  <a:cs typeface="Manrope"/>
                </a:rPr>
                <a:t>koa-action / Jev</a:t>
              </a:r>
              <a:endParaRPr lang="en-US" sz="1350"/>
            </a:p>
          </p:txBody>
        </p:sp>
        <p:grpSp>
          <p:nvGrpSpPr>
            <p:cNvPr id="1013" name="system-one · 14"/>
            <p:cNvGrpSpPr/>
            <p:nvPr/>
          </p:nvGrpSpPr>
          <p:grpSpPr>
            <a:xfrm>
              <a:off x="1237827" y="3051140"/>
              <a:ext cx="1018152" cy="964565"/>
              <a:chOff x="1237827" y="3051140"/>
              <a:chExt cx="1018152" cy="964565"/>
            </a:xfrm>
          </p:grpSpPr>
          <p:sp>
            <p:nvSpPr>
              <p:cNvPr id="1014" name="path · 8"/>
              <p:cNvSpPr/>
              <p:nvPr/>
            </p:nvSpPr>
            <p:spPr>
              <a:xfrm>
                <a:off x="1237827" y="3051140"/>
                <a:ext cx="1018152" cy="964565"/>
              </a:xfrm>
              <a:custGeom>
                <a:avLst/>
                <a:gdLst/>
                <a:ahLst/>
                <a:cxnLst/>
                <a:rect l="0" t="0" r="r" b="b"/>
                <a:pathLst>
                  <a:path w="1018152" h="964565" fill="none" stroke="1" extrusionOk="0">
                    <a:moveTo>
                      <a:pt x="290900" y="0"/>
                    </a:moveTo>
                    <a:lnTo>
                      <a:pt x="290900" y="168416"/>
                    </a:lnTo>
                    <a:moveTo>
                      <a:pt x="489937" y="0"/>
                    </a:moveTo>
                    <a:lnTo>
                      <a:pt x="489937" y="168416"/>
                    </a:lnTo>
                    <a:moveTo>
                      <a:pt x="696630" y="0"/>
                    </a:moveTo>
                    <a:lnTo>
                      <a:pt x="696630" y="168416"/>
                    </a:lnTo>
                    <a:moveTo>
                      <a:pt x="290900" y="796149"/>
                    </a:moveTo>
                    <a:lnTo>
                      <a:pt x="290900" y="964565"/>
                    </a:lnTo>
                    <a:moveTo>
                      <a:pt x="489937" y="796149"/>
                    </a:moveTo>
                    <a:lnTo>
                      <a:pt x="489937" y="964565"/>
                    </a:lnTo>
                    <a:moveTo>
                      <a:pt x="696630" y="796149"/>
                    </a:moveTo>
                    <a:lnTo>
                      <a:pt x="696630" y="964565"/>
                    </a:lnTo>
                    <a:moveTo>
                      <a:pt x="0" y="313866"/>
                    </a:moveTo>
                    <a:lnTo>
                      <a:pt x="168416" y="313866"/>
                    </a:lnTo>
                    <a:moveTo>
                      <a:pt x="0" y="604767"/>
                    </a:moveTo>
                    <a:lnTo>
                      <a:pt x="168416" y="604767"/>
                    </a:lnTo>
                    <a:moveTo>
                      <a:pt x="849735" y="313866"/>
                    </a:moveTo>
                    <a:lnTo>
                      <a:pt x="1018152" y="313866"/>
                    </a:lnTo>
                    <a:moveTo>
                      <a:pt x="849735" y="604767"/>
                    </a:moveTo>
                    <a:lnTo>
                      <a:pt x="1018152" y="604767"/>
                    </a:lnTo>
                  </a:path>
                </a:pathLst>
              </a:custGeom>
              <a:noFill/>
              <a:ln w="38276" cap="rnd" cmpd="sng" algn="ctr">
                <a:solidFill>
                  <a:srgbClr val="2E6653"/>
                </a:solidFill>
                <a:prstDash val="solid"/>
                <a:round/>
                <a:headEnd type="none" w="med" len="med"/>
                <a:tailEnd type="none" w="med" len="med"/>
              </a:ln>
            </p:spPr>
          </p:sp>
          <p:sp>
            <p:nvSpPr>
              <p:cNvPr id="1015" name="rect · 9"/>
              <p:cNvSpPr/>
              <p:nvPr/>
            </p:nvSpPr>
            <p:spPr>
              <a:xfrm>
                <a:off x="1375622" y="3181279"/>
                <a:ext cx="734907" cy="704286"/>
              </a:xfrm>
              <a:prstGeom prst="roundRect">
                <a:avLst>
                  <a:gd name="adj" fmla="val 22826"/>
                </a:avLst>
              </a:prstGeom>
              <a:solidFill>
                <a:srgbClr val="D7EBE1"/>
              </a:solidFill>
              <a:ln w="22966" cap="rnd" cmpd="sng" algn="ctr">
                <a:solidFill>
                  <a:srgbClr val="2E6653"/>
                </a:solidFill>
                <a:prstDash val="solid"/>
                <a:round/>
                <a:headEnd type="none" w="med" len="med"/>
                <a:tailEnd type="none" w="med" len="med"/>
              </a:ln>
            </p:spPr>
          </p:sp>
          <p:sp>
            <p:nvSpPr>
              <p:cNvPr id="1016" name="path · 10"/>
              <p:cNvSpPr/>
              <p:nvPr/>
            </p:nvSpPr>
            <p:spPr>
              <a:xfrm>
                <a:off x="1544038" y="3365006"/>
                <a:ext cx="375109" cy="336832"/>
              </a:xfrm>
              <a:custGeom>
                <a:avLst/>
                <a:gdLst/>
                <a:ahLst/>
                <a:cxnLst/>
                <a:rect l="0" t="0" r="r" b="b"/>
                <a:pathLst>
                  <a:path w="375109" h="336832" fill="none" stroke="1" extrusionOk="0">
                    <a:moveTo>
                      <a:pt x="0" y="168416"/>
                    </a:moveTo>
                    <a:lnTo>
                      <a:pt x="168416" y="168416"/>
                    </a:lnTo>
                    <a:moveTo>
                      <a:pt x="168416" y="168416"/>
                    </a:moveTo>
                    <a:lnTo>
                      <a:pt x="168416" y="0"/>
                    </a:lnTo>
                    <a:lnTo>
                      <a:pt x="375108" y="0"/>
                    </a:lnTo>
                    <a:moveTo>
                      <a:pt x="168416" y="168416"/>
                    </a:moveTo>
                    <a:lnTo>
                      <a:pt x="168416" y="336832"/>
                    </a:lnTo>
                    <a:lnTo>
                      <a:pt x="375108" y="336832"/>
                    </a:lnTo>
                  </a:path>
                </a:pathLst>
              </a:custGeom>
              <a:noFill/>
              <a:ln w="30621" cap="rnd" cmpd="sng" algn="ctr">
                <a:solidFill>
                  <a:srgbClr val="2E6653"/>
                </a:solidFill>
                <a:prstDash val="solid"/>
                <a:round/>
                <a:headEnd type="none" w="med" len="med"/>
                <a:tailEnd type="none" w="med" len="med"/>
              </a:ln>
            </p:spPr>
          </p:sp>
          <p:sp>
            <p:nvSpPr>
              <p:cNvPr id="1017" name="circle · 11"/>
              <p:cNvSpPr/>
              <p:nvPr/>
            </p:nvSpPr>
            <p:spPr>
              <a:xfrm>
                <a:off x="1475140" y="3487491"/>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sp>
            <p:nvSpPr>
              <p:cNvPr id="1018" name="circle · 12"/>
              <p:cNvSpPr/>
              <p:nvPr/>
            </p:nvSpPr>
            <p:spPr>
              <a:xfrm>
                <a:off x="1896181" y="3319074"/>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sp>
            <p:nvSpPr>
              <p:cNvPr id="1019" name="circle · 13"/>
              <p:cNvSpPr/>
              <p:nvPr/>
            </p:nvSpPr>
            <p:spPr>
              <a:xfrm>
                <a:off x="1896181" y="3655907"/>
                <a:ext cx="91863" cy="91863"/>
              </a:xfrm>
              <a:prstGeom prst="ellipse">
                <a:avLst/>
              </a:prstGeom>
              <a:solidFill>
                <a:srgbClr val="FFFFFF"/>
              </a:solidFill>
              <a:ln w="16842" cap="rnd" cmpd="sng" algn="ctr">
                <a:solidFill>
                  <a:srgbClr val="2E6653"/>
                </a:solidFill>
                <a:prstDash val="solid"/>
                <a:round/>
                <a:headEnd type="none" w="med" len="med"/>
                <a:tailEnd type="none" w="med" len="med"/>
              </a:ln>
            </p:spPr>
          </p:sp>
        </p:grpSp>
        <p:grpSp>
          <p:nvGrpSpPr>
            <p:cNvPr id="1020" name="request-route · 17"/>
            <p:cNvGrpSpPr/>
            <p:nvPr/>
          </p:nvGrpSpPr>
          <p:grpSpPr>
            <a:xfrm>
              <a:off x="2266950" y="2451100"/>
              <a:ext cx="1022350" cy="1079500"/>
              <a:chOff x="2266950" y="2451100"/>
              <a:chExt cx="1022350" cy="1079500"/>
            </a:xfrm>
          </p:grpSpPr>
          <p:grpSp>
            <p:nvGrpSpPr>
              <p:cNvPr id="1021" name="path · 15 + arrowhead"/>
              <p:cNvGrpSpPr/>
              <p:nvPr/>
            </p:nvGrpSpPr>
            <p:grpSpPr>
              <a:xfrm>
                <a:off x="2266950" y="2451100"/>
                <a:ext cx="1022350" cy="1079500"/>
                <a:chOff x="2266950" y="2451100"/>
                <a:chExt cx="1022350" cy="1079500"/>
              </a:xfrm>
            </p:grpSpPr>
            <p:sp>
              <p:nvSpPr>
                <p:cNvPr id="1022" name="path · 15"/>
                <p:cNvSpPr/>
                <p:nvPr/>
              </p:nvSpPr>
              <p:spPr>
                <a:xfrm>
                  <a:off x="2266950" y="2476500"/>
                  <a:ext cx="1022350" cy="1054100"/>
                </a:xfrm>
                <a:custGeom>
                  <a:avLst/>
                  <a:gdLst/>
                  <a:ahLst/>
                  <a:cxnLst/>
                  <a:rect l="0" t="0" r="r" b="b"/>
                  <a:pathLst>
                    <a:path w="1022350" h="1054100" fill="none" stroke="1" extrusionOk="0">
                      <a:moveTo>
                        <a:pt x="0" y="1054100"/>
                      </a:moveTo>
                      <a:lnTo>
                        <a:pt x="520700" y="1054100"/>
                      </a:lnTo>
                      <a:lnTo>
                        <a:pt x="520700" y="0"/>
                      </a:lnTo>
                      <a:lnTo>
                        <a:pt x="1022350" y="0"/>
                      </a:lnTo>
                    </a:path>
                  </a:pathLst>
                </a:custGeom>
                <a:noFill/>
                <a:ln w="25400" cap="rnd" cmpd="sng" algn="ctr">
                  <a:solidFill>
                    <a:srgbClr val="2E6653"/>
                  </a:solidFill>
                  <a:prstDash val="solid"/>
                  <a:round/>
                  <a:headEnd type="none" w="med" len="med"/>
                  <a:tailEnd type="none" w="med" len="med"/>
                </a:ln>
              </p:spPr>
            </p:sp>
            <p:grpSp>
              <p:nvGrpSpPr>
                <p:cNvPr id="1023" name="arrow-green end"/>
                <p:cNvGrpSpPr/>
                <p:nvPr/>
              </p:nvGrpSpPr>
              <p:grpSpPr>
                <a:xfrm>
                  <a:off x="3241675" y="2451100"/>
                  <a:ext cx="47625" cy="50800"/>
                  <a:chOff x="3241675" y="2451100"/>
                  <a:chExt cx="47625" cy="50800"/>
                </a:xfrm>
              </p:grpSpPr>
              <p:sp>
                <p:nvSpPr>
                  <p:cNvPr id="1024" name="path · 16"/>
                  <p:cNvSpPr/>
                  <p:nvPr/>
                </p:nvSpPr>
                <p:spPr>
                  <a:xfrm>
                    <a:off x="3241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25" name="request-route · 20"/>
            <p:cNvGrpSpPr/>
            <p:nvPr/>
          </p:nvGrpSpPr>
          <p:grpSpPr>
            <a:xfrm>
              <a:off x="2787650" y="3530600"/>
              <a:ext cx="501650" cy="82550"/>
              <a:chOff x="2787650" y="3530600"/>
              <a:chExt cx="501650" cy="82550"/>
            </a:xfrm>
          </p:grpSpPr>
          <p:grpSp>
            <p:nvGrpSpPr>
              <p:cNvPr id="1026" name="path · 18 + arrowhead"/>
              <p:cNvGrpSpPr/>
              <p:nvPr/>
            </p:nvGrpSpPr>
            <p:grpSpPr>
              <a:xfrm>
                <a:off x="2787650" y="3530600"/>
                <a:ext cx="501650" cy="82550"/>
                <a:chOff x="2787650" y="3530600"/>
                <a:chExt cx="501650" cy="82550"/>
              </a:xfrm>
            </p:grpSpPr>
            <p:sp>
              <p:nvSpPr>
                <p:cNvPr id="1027" name="path · 18"/>
                <p:cNvSpPr/>
                <p:nvPr/>
              </p:nvSpPr>
              <p:spPr>
                <a:xfrm>
                  <a:off x="2787650" y="3530600"/>
                  <a:ext cx="501650" cy="57150"/>
                </a:xfrm>
                <a:custGeom>
                  <a:avLst/>
                  <a:gdLst/>
                  <a:ahLst/>
                  <a:cxnLst/>
                  <a:rect l="0" t="0" r="r" b="b"/>
                  <a:pathLst>
                    <a:path w="501650" h="57150" fill="none" stroke="1" extrusionOk="0">
                      <a:moveTo>
                        <a:pt x="0" y="0"/>
                      </a:moveTo>
                      <a:lnTo>
                        <a:pt x="0" y="57150"/>
                      </a:lnTo>
                      <a:lnTo>
                        <a:pt x="501650" y="57150"/>
                      </a:lnTo>
                    </a:path>
                  </a:pathLst>
                </a:custGeom>
                <a:noFill/>
                <a:ln w="25400" cap="rnd" cmpd="sng" algn="ctr">
                  <a:solidFill>
                    <a:srgbClr val="2E6653"/>
                  </a:solidFill>
                  <a:prstDash val="solid"/>
                  <a:round/>
                  <a:headEnd type="none" w="med" len="med"/>
                  <a:tailEnd type="none" w="med" len="med"/>
                </a:ln>
              </p:spPr>
            </p:sp>
            <p:grpSp>
              <p:nvGrpSpPr>
                <p:cNvPr id="1028" name="arrow-green end"/>
                <p:cNvGrpSpPr/>
                <p:nvPr/>
              </p:nvGrpSpPr>
              <p:grpSpPr>
                <a:xfrm>
                  <a:off x="3241675" y="3562350"/>
                  <a:ext cx="47625" cy="50800"/>
                  <a:chOff x="3241675" y="3562350"/>
                  <a:chExt cx="47625" cy="50800"/>
                </a:xfrm>
              </p:grpSpPr>
              <p:sp>
                <p:nvSpPr>
                  <p:cNvPr id="1029" name="path · 19"/>
                  <p:cNvSpPr/>
                  <p:nvPr/>
                </p:nvSpPr>
                <p:spPr>
                  <a:xfrm>
                    <a:off x="3241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30" name="request-route · 23"/>
            <p:cNvGrpSpPr/>
            <p:nvPr/>
          </p:nvGrpSpPr>
          <p:grpSpPr>
            <a:xfrm>
              <a:off x="2787650" y="3587750"/>
              <a:ext cx="501650" cy="1136650"/>
              <a:chOff x="2787650" y="3587750"/>
              <a:chExt cx="501650" cy="1136650"/>
            </a:xfrm>
          </p:grpSpPr>
          <p:grpSp>
            <p:nvGrpSpPr>
              <p:cNvPr id="1031" name="path · 21 + arrowhead"/>
              <p:cNvGrpSpPr/>
              <p:nvPr/>
            </p:nvGrpSpPr>
            <p:grpSpPr>
              <a:xfrm>
                <a:off x="2787650" y="3587750"/>
                <a:ext cx="501650" cy="1136650"/>
                <a:chOff x="2787650" y="3587750"/>
                <a:chExt cx="501650" cy="1136650"/>
              </a:xfrm>
            </p:grpSpPr>
            <p:sp>
              <p:nvSpPr>
                <p:cNvPr id="1032" name="path · 21"/>
                <p:cNvSpPr/>
                <p:nvPr/>
              </p:nvSpPr>
              <p:spPr>
                <a:xfrm>
                  <a:off x="2787650" y="3587750"/>
                  <a:ext cx="501650" cy="1111250"/>
                </a:xfrm>
                <a:custGeom>
                  <a:avLst/>
                  <a:gdLst/>
                  <a:ahLst/>
                  <a:cxnLst/>
                  <a:rect l="0" t="0" r="r" b="b"/>
                  <a:pathLst>
                    <a:path w="501650" h="1111250" fill="none" stroke="1" extrusionOk="0">
                      <a:moveTo>
                        <a:pt x="0" y="0"/>
                      </a:moveTo>
                      <a:lnTo>
                        <a:pt x="0" y="1111250"/>
                      </a:lnTo>
                      <a:lnTo>
                        <a:pt x="501650" y="1111250"/>
                      </a:lnTo>
                    </a:path>
                  </a:pathLst>
                </a:custGeom>
                <a:noFill/>
                <a:ln w="25400" cap="rnd" cmpd="sng" algn="ctr">
                  <a:solidFill>
                    <a:srgbClr val="2E6653"/>
                  </a:solidFill>
                  <a:prstDash val="solid"/>
                  <a:round/>
                  <a:headEnd type="none" w="med" len="med"/>
                  <a:tailEnd type="none" w="med" len="med"/>
                </a:ln>
              </p:spPr>
            </p:sp>
            <p:grpSp>
              <p:nvGrpSpPr>
                <p:cNvPr id="1033" name="arrow-green end"/>
                <p:cNvGrpSpPr/>
                <p:nvPr/>
              </p:nvGrpSpPr>
              <p:grpSpPr>
                <a:xfrm>
                  <a:off x="3241675" y="4673600"/>
                  <a:ext cx="47625" cy="50800"/>
                  <a:chOff x="3241675" y="4673600"/>
                  <a:chExt cx="47625" cy="50800"/>
                </a:xfrm>
              </p:grpSpPr>
              <p:sp>
                <p:nvSpPr>
                  <p:cNvPr id="1034" name="path · 22"/>
                  <p:cNvSpPr/>
                  <p:nvPr/>
                </p:nvSpPr>
                <p:spPr>
                  <a:xfrm>
                    <a:off x="3241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035" name="circle · 24"/>
            <p:cNvSpPr/>
            <p:nvPr/>
          </p:nvSpPr>
          <p:spPr>
            <a:xfrm>
              <a:off x="2755900" y="3498850"/>
              <a:ext cx="63500" cy="63500"/>
            </a:xfrm>
            <a:prstGeom prst="ellipse">
              <a:avLst/>
            </a:prstGeom>
            <a:solidFill>
              <a:srgbClr val="2E6653"/>
            </a:solidFill>
            <a:ln>
              <a:noFill/>
            </a:ln>
          </p:spPr>
        </p:sp>
        <p:sp>
          <p:nvSpPr>
            <p:cNvPr id="1036" name="path · 25"/>
            <p:cNvSpPr/>
            <p:nvPr/>
          </p:nvSpPr>
          <p:spPr>
            <a:xfrm>
              <a:off x="3302000" y="3060700"/>
              <a:ext cx="4591050" cy="1"/>
            </a:xfrm>
            <a:custGeom>
              <a:avLst/>
              <a:gdLst/>
              <a:ahLst/>
              <a:cxnLst/>
              <a:rect l="0" t="0" r="r" b="b"/>
              <a:pathLst>
                <a:path w="4591050" h="1" fill="none" stroke="1" extrusionOk="0">
                  <a:moveTo>
                    <a:pt x="0" y="0"/>
                  </a:moveTo>
                  <a:lnTo>
                    <a:pt x="4591050" y="0"/>
                  </a:lnTo>
                </a:path>
              </a:pathLst>
            </a:custGeom>
            <a:noFill/>
            <a:ln w="6350" cap="rnd" cmpd="sng" algn="ctr">
              <a:solidFill>
                <a:srgbClr val="D5DFD9"/>
              </a:solidFill>
              <a:prstDash val="solid"/>
              <a:round/>
              <a:headEnd type="none" w="med" len="med"/>
              <a:tailEnd type="none" w="med" len="med"/>
            </a:ln>
          </p:spPr>
        </p:sp>
        <p:sp>
          <p:nvSpPr>
            <p:cNvPr id="1037" name="path · 26"/>
            <p:cNvSpPr/>
            <p:nvPr/>
          </p:nvSpPr>
          <p:spPr>
            <a:xfrm>
              <a:off x="3302000" y="4171950"/>
              <a:ext cx="4591050" cy="1"/>
            </a:xfrm>
            <a:custGeom>
              <a:avLst/>
              <a:gdLst/>
              <a:ahLst/>
              <a:cxnLst/>
              <a:rect l="0" t="0" r="r" b="b"/>
              <a:pathLst>
                <a:path w="4591050" h="1" fill="none" stroke="1" extrusionOk="0">
                  <a:moveTo>
                    <a:pt x="0" y="0"/>
                  </a:moveTo>
                  <a:lnTo>
                    <a:pt x="4591050" y="0"/>
                  </a:lnTo>
                </a:path>
              </a:pathLst>
            </a:custGeom>
            <a:noFill/>
            <a:ln w="6350" cap="rnd" cmpd="sng" algn="ctr">
              <a:solidFill>
                <a:srgbClr val="D5DFD9"/>
              </a:solidFill>
              <a:prstDash val="solid"/>
              <a:round/>
              <a:headEnd type="none" w="med" len="med"/>
              <a:tailEnd type="none" w="med" len="med"/>
            </a:ln>
          </p:spPr>
        </p:sp>
        <p:grpSp>
          <p:nvGrpSpPr>
            <p:cNvPr id="1038" name="whole-kit · 35"/>
            <p:cNvGrpSpPr/>
            <p:nvPr/>
          </p:nvGrpSpPr>
          <p:grpSpPr>
            <a:xfrm>
              <a:off x="3383915" y="2097617"/>
              <a:ext cx="871220" cy="694902"/>
              <a:chOff x="3383915" y="2097617"/>
              <a:chExt cx="871220" cy="694902"/>
            </a:xfrm>
          </p:grpSpPr>
          <p:sp>
            <p:nvSpPr>
              <p:cNvPr id="1039" name="path · 27"/>
              <p:cNvSpPr/>
              <p:nvPr/>
            </p:nvSpPr>
            <p:spPr>
              <a:xfrm>
                <a:off x="3430588" y="2273935"/>
                <a:ext cx="767503" cy="285221"/>
              </a:xfrm>
              <a:custGeom>
                <a:avLst/>
                <a:gdLst/>
                <a:ahLst/>
                <a:cxnLst/>
                <a:rect l="0" t="0" r="r" b="b"/>
                <a:pathLst>
                  <a:path w="767503" h="285221" fill="norm" stroke="1" extrusionOk="0">
                    <a:moveTo>
                      <a:pt x="0" y="114088"/>
                    </a:moveTo>
                    <a:lnTo>
                      <a:pt x="352636" y="0"/>
                    </a:lnTo>
                    <a:lnTo>
                      <a:pt x="767503" y="160761"/>
                    </a:lnTo>
                    <a:lnTo>
                      <a:pt x="414866" y="285221"/>
                    </a:lnTo>
                    <a:close/>
                  </a:path>
                </a:pathLst>
              </a:custGeom>
              <a:solidFill>
                <a:srgbClr val="F6EAC8"/>
              </a:solidFill>
              <a:ln w="11409" cap="rnd" cmpd="sng" algn="ctr">
                <a:solidFill>
                  <a:srgbClr val="243E42"/>
                </a:solidFill>
                <a:prstDash val="solid"/>
                <a:round/>
                <a:headEnd type="none" w="med" len="med"/>
                <a:tailEnd type="none" w="med" len="med"/>
              </a:ln>
            </p:spPr>
          </p:sp>
          <p:sp>
            <p:nvSpPr>
              <p:cNvPr id="1040" name="path · 28"/>
              <p:cNvSpPr/>
              <p:nvPr/>
            </p:nvSpPr>
            <p:spPr>
              <a:xfrm>
                <a:off x="3430588" y="2388023"/>
                <a:ext cx="767503" cy="404495"/>
              </a:xfrm>
              <a:custGeom>
                <a:avLst/>
                <a:gdLst/>
                <a:ahLst/>
                <a:cxnLst/>
                <a:rect l="0" t="0" r="r" b="b"/>
                <a:pathLst>
                  <a:path w="767503" h="404495" fill="norm" stroke="1" extrusionOk="0">
                    <a:moveTo>
                      <a:pt x="0" y="0"/>
                    </a:moveTo>
                    <a:lnTo>
                      <a:pt x="414866" y="171133"/>
                    </a:lnTo>
                    <a:lnTo>
                      <a:pt x="414866" y="404495"/>
                    </a:lnTo>
                    <a:lnTo>
                      <a:pt x="0" y="238549"/>
                    </a:lnTo>
                    <a:close/>
                    <a:moveTo>
                      <a:pt x="414866" y="171133"/>
                    </a:moveTo>
                    <a:lnTo>
                      <a:pt x="767503" y="46673"/>
                    </a:lnTo>
                    <a:lnTo>
                      <a:pt x="767503" y="274849"/>
                    </a:lnTo>
                    <a:lnTo>
                      <a:pt x="414866" y="404495"/>
                    </a:lnTo>
                    <a:close/>
                  </a:path>
                </a:pathLst>
              </a:custGeom>
              <a:solidFill>
                <a:srgbClr val="F6EAC8"/>
              </a:solidFill>
              <a:ln w="11409" cap="rnd" cmpd="sng" algn="ctr">
                <a:solidFill>
                  <a:srgbClr val="243E42"/>
                </a:solidFill>
                <a:prstDash val="solid"/>
                <a:round/>
                <a:headEnd type="none" w="med" len="med"/>
                <a:tailEnd type="none" w="med" len="med"/>
              </a:ln>
            </p:spPr>
          </p:sp>
          <p:sp>
            <p:nvSpPr>
              <p:cNvPr id="1041" name="path · 29"/>
              <p:cNvSpPr/>
              <p:nvPr/>
            </p:nvSpPr>
            <p:spPr>
              <a:xfrm>
                <a:off x="3383915" y="2159847"/>
                <a:ext cx="871220" cy="274849"/>
              </a:xfrm>
              <a:custGeom>
                <a:avLst/>
                <a:gdLst/>
                <a:ahLst/>
                <a:cxnLst/>
                <a:rect l="0" t="0" r="r" b="b"/>
                <a:pathLst>
                  <a:path w="871220" h="274849" fill="norm" stroke="1" extrusionOk="0">
                    <a:moveTo>
                      <a:pt x="46673" y="228176"/>
                    </a:moveTo>
                    <a:lnTo>
                      <a:pt x="0" y="114088"/>
                    </a:lnTo>
                    <a:lnTo>
                      <a:pt x="352637" y="0"/>
                    </a:lnTo>
                    <a:lnTo>
                      <a:pt x="399309" y="114088"/>
                    </a:lnTo>
                    <a:moveTo>
                      <a:pt x="814176" y="274849"/>
                    </a:moveTo>
                    <a:lnTo>
                      <a:pt x="871220" y="150389"/>
                    </a:lnTo>
                    <a:lnTo>
                      <a:pt x="456353" y="0"/>
                    </a:lnTo>
                    <a:lnTo>
                      <a:pt x="399309" y="114088"/>
                    </a:lnTo>
                  </a:path>
                </a:pathLst>
              </a:custGeom>
              <a:solidFill>
                <a:srgbClr val="FFFFFF"/>
              </a:solidFill>
              <a:ln w="11409" cap="rnd" cmpd="sng" algn="ctr">
                <a:solidFill>
                  <a:srgbClr val="243E42"/>
                </a:solidFill>
                <a:prstDash val="solid"/>
                <a:round/>
                <a:headEnd type="none" w="med" len="med"/>
                <a:tailEnd type="none" w="med" len="med"/>
              </a:ln>
            </p:spPr>
          </p:sp>
          <p:sp>
            <p:nvSpPr>
              <p:cNvPr id="1042" name="path · 30"/>
              <p:cNvSpPr/>
              <p:nvPr/>
            </p:nvSpPr>
            <p:spPr>
              <a:xfrm>
                <a:off x="3596534" y="2097617"/>
                <a:ext cx="280035" cy="264478"/>
              </a:xfrm>
              <a:custGeom>
                <a:avLst/>
                <a:gdLst/>
                <a:ahLst/>
                <a:cxnLst/>
                <a:rect l="0" t="0" r="r" b="b"/>
                <a:pathLst>
                  <a:path w="280035" h="264478" fill="none" stroke="1" extrusionOk="0">
                    <a:moveTo>
                      <a:pt x="0" y="264477"/>
                    </a:moveTo>
                    <a:lnTo>
                      <a:pt x="0" y="140017"/>
                    </a:lnTo>
                    <a:cubicBezTo>
                      <a:pt x="0" y="62688"/>
                      <a:pt x="62688" y="0"/>
                      <a:pt x="140018" y="0"/>
                    </a:cubicBezTo>
                    <a:cubicBezTo>
                      <a:pt x="217347" y="0"/>
                      <a:pt x="280035" y="62688"/>
                      <a:pt x="280035" y="140017"/>
                    </a:cubicBezTo>
                    <a:lnTo>
                      <a:pt x="280035" y="264477"/>
                    </a:lnTo>
                  </a:path>
                </a:pathLst>
              </a:custGeom>
              <a:noFill/>
              <a:ln w="31115" cap="rnd" cmpd="sng" algn="ctr">
                <a:solidFill>
                  <a:srgbClr val="665180"/>
                </a:solidFill>
                <a:prstDash val="solid"/>
                <a:round/>
                <a:headEnd type="none" w="med" len="med"/>
                <a:tailEnd type="none" w="med" len="med"/>
              </a:ln>
            </p:spPr>
          </p:sp>
          <p:sp>
            <p:nvSpPr>
              <p:cNvPr id="1043" name="rect · 31"/>
              <p:cNvSpPr/>
              <p:nvPr/>
            </p:nvSpPr>
            <p:spPr>
              <a:xfrm>
                <a:off x="3560233" y="2284307"/>
                <a:ext cx="72602" cy="129646"/>
              </a:xfrm>
              <a:prstGeom prst="roundRect">
                <a:avLst>
                  <a:gd name="adj" fmla="val 42857"/>
                </a:avLst>
              </a:prstGeom>
              <a:solidFill>
                <a:srgbClr val="E8E0F3"/>
              </a:solidFill>
              <a:ln w="11409" cap="rnd" cmpd="sng" algn="ctr">
                <a:solidFill>
                  <a:srgbClr val="243E42"/>
                </a:solidFill>
                <a:prstDash val="solid"/>
                <a:round/>
                <a:headEnd type="none" w="med" len="med"/>
                <a:tailEnd type="none" w="med" len="med"/>
              </a:ln>
            </p:spPr>
          </p:sp>
          <p:sp>
            <p:nvSpPr>
              <p:cNvPr id="1044" name="rect · 32"/>
              <p:cNvSpPr/>
              <p:nvPr/>
            </p:nvSpPr>
            <p:spPr>
              <a:xfrm>
                <a:off x="3840268" y="2284307"/>
                <a:ext cx="72602" cy="129646"/>
              </a:xfrm>
              <a:prstGeom prst="roundRect">
                <a:avLst>
                  <a:gd name="adj" fmla="val 42857"/>
                </a:avLst>
              </a:prstGeom>
              <a:solidFill>
                <a:srgbClr val="E8E0F3"/>
              </a:solidFill>
              <a:ln w="11409" cap="rnd" cmpd="sng" algn="ctr">
                <a:solidFill>
                  <a:srgbClr val="243E42"/>
                </a:solidFill>
                <a:prstDash val="solid"/>
                <a:round/>
                <a:headEnd type="none" w="med" len="med"/>
                <a:tailEnd type="none" w="med" len="med"/>
              </a:ln>
            </p:spPr>
          </p:sp>
          <p:sp>
            <p:nvSpPr>
              <p:cNvPr id="1045" name="path · 33"/>
              <p:cNvSpPr/>
              <p:nvPr/>
            </p:nvSpPr>
            <p:spPr>
              <a:xfrm>
                <a:off x="3943985" y="2242820"/>
                <a:ext cx="176318" cy="207433"/>
              </a:xfrm>
              <a:custGeom>
                <a:avLst/>
                <a:gdLst/>
                <a:ahLst/>
                <a:cxnLst/>
                <a:rect l="0" t="0" r="r" b="b"/>
                <a:pathLst>
                  <a:path w="176318" h="207433" fill="none" stroke="1" extrusionOk="0">
                    <a:moveTo>
                      <a:pt x="0" y="88159"/>
                    </a:moveTo>
                    <a:quadBezTo>
                      <a:pt x="176318" y="0"/>
                      <a:pt x="140017" y="134832"/>
                    </a:quadBezTo>
                    <a:quadBezTo>
                      <a:pt x="114088" y="207433"/>
                      <a:pt x="25929" y="176318"/>
                    </a:quadBezTo>
                  </a:path>
                </a:pathLst>
              </a:custGeom>
              <a:noFill/>
              <a:ln w="20743" cap="rnd" cmpd="sng" algn="ctr">
                <a:solidFill>
                  <a:srgbClr val="2E6653"/>
                </a:solidFill>
                <a:prstDash val="solid"/>
                <a:round/>
                <a:headEnd type="none" w="med" len="med"/>
                <a:tailEnd type="none" w="med" len="med"/>
              </a:ln>
            </p:spPr>
          </p:sp>
          <p:sp>
            <p:nvSpPr>
              <p:cNvPr id="1046" name="path · 34"/>
              <p:cNvSpPr/>
              <p:nvPr/>
            </p:nvSpPr>
            <p:spPr>
              <a:xfrm>
                <a:off x="3933613" y="2305050"/>
                <a:ext cx="67416" cy="67416"/>
              </a:xfrm>
              <a:custGeom>
                <a:avLst/>
                <a:gdLst/>
                <a:ahLst/>
                <a:cxnLst/>
                <a:rect l="0" t="0" r="r" b="b"/>
                <a:pathLst>
                  <a:path w="67416" h="67416" fill="norm" stroke="1" extrusionOk="0">
                    <a:moveTo>
                      <a:pt x="0" y="25929"/>
                    </a:moveTo>
                    <a:lnTo>
                      <a:pt x="41487" y="0"/>
                    </a:lnTo>
                    <a:lnTo>
                      <a:pt x="67416" y="41487"/>
                    </a:lnTo>
                    <a:lnTo>
                      <a:pt x="25929" y="67416"/>
                    </a:lnTo>
                    <a:close/>
                  </a:path>
                </a:pathLst>
              </a:custGeom>
              <a:solidFill>
                <a:srgbClr val="D7EBE1"/>
              </a:solidFill>
              <a:ln w="11409" cap="rnd" cmpd="sng" algn="ctr">
                <a:solidFill>
                  <a:srgbClr val="243E42"/>
                </a:solidFill>
                <a:prstDash val="solid"/>
                <a:round/>
                <a:headEnd type="none" w="med" len="med"/>
                <a:tailEnd type="none" w="med" len="med"/>
              </a:ln>
            </p:spPr>
          </p:sp>
        </p:grpSp>
        <p:sp>
          <p:nvSpPr>
            <p:cNvPr id="1047" name="text · 36"/>
            <p:cNvSpPr txBox="1"/>
            <p:nvPr/>
          </p:nvSpPr>
          <p:spPr>
            <a:xfrm>
              <a:off x="4443412" y="2114674"/>
              <a:ext cx="1711461" cy="290706"/>
            </a:xfrm>
            <a:prstGeom prst="rect">
              <a:avLst/>
            </a:prstGeom>
            <a:noFill/>
            <a:ln>
              <a:noFill/>
            </a:ln>
          </p:spPr>
          <p:txBody>
            <a:bodyPr wrap="none" lIns="0" tIns="0" rIns="0" bIns="0" anchor="t" anchorCtr="0" vertOverflow="overflow" horzOverflow="overflow">
              <a:noAutofit/>
            </a:bodyPr>
            <a:lstStyle/>
            <a:p>
              <a:pPr algn="l"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Whole-item return</a:t>
              </a:r>
              <a:endParaRPr lang="en-US" sz="1500"/>
            </a:p>
          </p:txBody>
        </p:sp>
        <p:sp>
          <p:nvSpPr>
            <p:cNvPr id="1048" name="text · 37"/>
            <p:cNvSpPr txBox="1"/>
            <p:nvPr/>
          </p:nvSpPr>
          <p:spPr>
            <a:xfrm>
              <a:off x="4443412" y="2402105"/>
              <a:ext cx="1191729" cy="251940"/>
            </a:xfrm>
            <a:prstGeom prst="rect">
              <a:avLst/>
            </a:prstGeom>
            <a:noFill/>
            <a:ln>
              <a:noFill/>
            </a:ln>
          </p:spPr>
          <p:txBody>
            <a:bodyPr wrap="none" lIns="0" tIns="0" rIns="0" bIns="0" anchor="t" anchorCtr="0" vertOverflow="overflow" horzOverflow="overflow">
              <a:noAutofit/>
            </a:bodyPr>
            <a:lstStyle/>
            <a:p>
              <a:pPr algn="l" marL="0" marR="0" indent="0" fontAlgn="base">
                <a:lnSpc>
                  <a:spcPts val="1776"/>
                </a:lnSpc>
                <a:spcBef>
                  <a:spcPts val="0"/>
                </a:spcBef>
                <a:spcAft>
                  <a:spcPts val="0"/>
                </a:spcAft>
              </a:pPr>
              <a:r>
                <a:rPr lang="en-US" sz="1300" b="0" i="0" kern="0" spc="0" dirty="0">
                  <a:solidFill>
                    <a:srgbClr val="52676A"/>
                  </a:solidFill>
                  <a:latin typeface="Manrope"/>
                  <a:ea typeface="Manrope"/>
                  <a:cs typeface="Manrope"/>
                </a:rPr>
                <a:t>“Return the kit”</a:t>
              </a:r>
              <a:endParaRPr lang="en-US" sz="1300"/>
            </a:p>
          </p:txBody>
        </p:sp>
        <p:grpSp>
          <p:nvGrpSpPr>
            <p:cNvPr id="1049" name="request-route · 40"/>
            <p:cNvGrpSpPr/>
            <p:nvPr/>
          </p:nvGrpSpPr>
          <p:grpSpPr>
            <a:xfrm>
              <a:off x="6261100" y="2451100"/>
              <a:ext cx="330200" cy="50800"/>
              <a:chOff x="6261100" y="2451100"/>
              <a:chExt cx="330200" cy="50800"/>
            </a:xfrm>
          </p:grpSpPr>
          <p:grpSp>
            <p:nvGrpSpPr>
              <p:cNvPr id="1050" name="path · 38 + arrowhead"/>
              <p:cNvGrpSpPr/>
              <p:nvPr/>
            </p:nvGrpSpPr>
            <p:grpSpPr>
              <a:xfrm>
                <a:off x="6261100" y="2451100"/>
                <a:ext cx="330200" cy="50800"/>
                <a:chOff x="6261100" y="2451100"/>
                <a:chExt cx="330200" cy="50800"/>
              </a:xfrm>
            </p:grpSpPr>
            <p:sp>
              <p:nvSpPr>
                <p:cNvPr id="1051" name="path · 38"/>
                <p:cNvSpPr/>
                <p:nvPr/>
              </p:nvSpPr>
              <p:spPr>
                <a:xfrm>
                  <a:off x="6261100" y="247650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052" name="arrow-blue_ink end"/>
                <p:cNvGrpSpPr/>
                <p:nvPr/>
              </p:nvGrpSpPr>
              <p:grpSpPr>
                <a:xfrm>
                  <a:off x="6543675" y="2451100"/>
                  <a:ext cx="47625" cy="50800"/>
                  <a:chOff x="6543675" y="2451100"/>
                  <a:chExt cx="47625" cy="50800"/>
                </a:xfrm>
              </p:grpSpPr>
              <p:sp>
                <p:nvSpPr>
                  <p:cNvPr id="1053" name="path · 39"/>
                  <p:cNvSpPr/>
                  <p:nvPr/>
                </p:nvSpPr>
                <p:spPr>
                  <a:xfrm>
                    <a:off x="6543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54" name="policy · 47"/>
            <p:cNvGrpSpPr/>
            <p:nvPr/>
          </p:nvGrpSpPr>
          <p:grpSpPr>
            <a:xfrm>
              <a:off x="6798451" y="2025332"/>
              <a:ext cx="701216" cy="701216"/>
              <a:chOff x="6798451" y="2025332"/>
              <a:chExt cx="701216" cy="701216"/>
            </a:xfrm>
          </p:grpSpPr>
          <p:sp>
            <p:nvSpPr>
              <p:cNvPr id="1055" name="rect · 41"/>
              <p:cNvSpPr/>
              <p:nvPr/>
            </p:nvSpPr>
            <p:spPr>
              <a:xfrm>
                <a:off x="6798451" y="2059658"/>
                <a:ext cx="559012" cy="647277"/>
              </a:xfrm>
              <a:prstGeom prst="roundRect">
                <a:avLst>
                  <a:gd name="adj" fmla="val 11404"/>
                </a:avLst>
              </a:prstGeom>
              <a:solidFill>
                <a:srgbClr val="E2EEF3"/>
              </a:solidFill>
              <a:ln w="10788" cap="rnd" cmpd="sng" algn="ctr">
                <a:solidFill>
                  <a:srgbClr val="243E42"/>
                </a:solidFill>
                <a:prstDash val="solid"/>
                <a:round/>
                <a:headEnd type="none" w="med" len="med"/>
                <a:tailEnd type="none" w="med" len="med"/>
              </a:ln>
            </p:spPr>
          </p:sp>
          <p:sp>
            <p:nvSpPr>
              <p:cNvPr id="1056" name="rect · 42"/>
              <p:cNvSpPr/>
              <p:nvPr/>
            </p:nvSpPr>
            <p:spPr>
              <a:xfrm>
                <a:off x="6857294" y="2123405"/>
                <a:ext cx="446229" cy="514879"/>
              </a:xfrm>
              <a:prstGeom prst="roundRect">
                <a:avLst>
                  <a:gd name="adj" fmla="val 6593"/>
                </a:avLst>
              </a:prstGeom>
              <a:solidFill>
                <a:srgbClr val="FFFFFF"/>
              </a:solidFill>
              <a:ln w="10788" cap="rnd" cmpd="sng" algn="ctr">
                <a:solidFill>
                  <a:srgbClr val="243E42"/>
                </a:solidFill>
                <a:prstDash val="solid"/>
                <a:round/>
                <a:headEnd type="none" w="med" len="med"/>
                <a:tailEnd type="none" w="med" len="med"/>
              </a:ln>
            </p:spPr>
          </p:sp>
          <p:sp>
            <p:nvSpPr>
              <p:cNvPr id="1057" name="path · 43"/>
              <p:cNvSpPr/>
              <p:nvPr/>
            </p:nvSpPr>
            <p:spPr>
              <a:xfrm>
                <a:off x="6979885" y="2025332"/>
                <a:ext cx="191241" cy="107879"/>
              </a:xfrm>
              <a:custGeom>
                <a:avLst/>
                <a:gdLst/>
                <a:ahLst/>
                <a:cxnLst/>
                <a:rect l="0" t="0" r="r" b="b"/>
                <a:pathLst>
                  <a:path w="191241" h="107879" fill="norm" stroke="1" extrusionOk="0">
                    <a:moveTo>
                      <a:pt x="0" y="0"/>
                    </a:moveTo>
                    <a:lnTo>
                      <a:pt x="191241" y="0"/>
                    </a:lnTo>
                    <a:lnTo>
                      <a:pt x="191241" y="107880"/>
                    </a:lnTo>
                    <a:lnTo>
                      <a:pt x="0" y="107880"/>
                    </a:lnTo>
                    <a:close/>
                  </a:path>
                </a:pathLst>
              </a:custGeom>
              <a:solidFill>
                <a:srgbClr val="D7EBE1"/>
              </a:solidFill>
              <a:ln w="10788" cap="rnd" cmpd="sng" algn="ctr">
                <a:solidFill>
                  <a:srgbClr val="243E42"/>
                </a:solidFill>
                <a:prstDash val="solid"/>
                <a:round/>
                <a:headEnd type="none" w="med" len="med"/>
                <a:tailEnd type="none" w="med" len="med"/>
              </a:ln>
            </p:spPr>
          </p:sp>
          <p:sp>
            <p:nvSpPr>
              <p:cNvPr id="1058" name="path · 44"/>
              <p:cNvSpPr/>
              <p:nvPr/>
            </p:nvSpPr>
            <p:spPr>
              <a:xfrm>
                <a:off x="6901427" y="2226381"/>
                <a:ext cx="313831" cy="372674"/>
              </a:xfrm>
              <a:custGeom>
                <a:avLst/>
                <a:gdLst/>
                <a:ahLst/>
                <a:cxnLst/>
                <a:rect l="0" t="0" r="r" b="b"/>
                <a:pathLst>
                  <a:path w="313831" h="372674" fill="none" stroke="1" extrusionOk="0">
                    <a:moveTo>
                      <a:pt x="0" y="34325"/>
                    </a:moveTo>
                    <a:lnTo>
                      <a:pt x="34325" y="68650"/>
                    </a:lnTo>
                    <a:lnTo>
                      <a:pt x="88265" y="0"/>
                    </a:lnTo>
                    <a:moveTo>
                      <a:pt x="0" y="186337"/>
                    </a:moveTo>
                    <a:lnTo>
                      <a:pt x="34325" y="220662"/>
                    </a:lnTo>
                    <a:lnTo>
                      <a:pt x="88265" y="152011"/>
                    </a:lnTo>
                    <a:moveTo>
                      <a:pt x="0" y="338349"/>
                    </a:moveTo>
                    <a:lnTo>
                      <a:pt x="34325" y="372674"/>
                    </a:lnTo>
                    <a:lnTo>
                      <a:pt x="88265" y="304023"/>
                    </a:lnTo>
                    <a:moveTo>
                      <a:pt x="152012" y="39228"/>
                    </a:moveTo>
                    <a:lnTo>
                      <a:pt x="313831" y="39228"/>
                    </a:lnTo>
                    <a:moveTo>
                      <a:pt x="152012" y="186337"/>
                    </a:moveTo>
                    <a:lnTo>
                      <a:pt x="313831" y="186337"/>
                    </a:lnTo>
                    <a:moveTo>
                      <a:pt x="152012" y="333445"/>
                    </a:moveTo>
                    <a:lnTo>
                      <a:pt x="250084" y="333445"/>
                    </a:lnTo>
                  </a:path>
                </a:pathLst>
              </a:custGeom>
              <a:noFill/>
              <a:ln w="19614" cap="rnd" cmpd="sng" algn="ctr">
                <a:solidFill>
                  <a:srgbClr val="2E6653"/>
                </a:solidFill>
                <a:prstDash val="solid"/>
                <a:round/>
                <a:headEnd type="none" w="med" len="med"/>
                <a:tailEnd type="none" w="med" len="med"/>
              </a:ln>
            </p:spPr>
          </p:sp>
          <p:sp>
            <p:nvSpPr>
              <p:cNvPr id="1059" name="circle · 45"/>
              <p:cNvSpPr/>
              <p:nvPr/>
            </p:nvSpPr>
            <p:spPr>
              <a:xfrm>
                <a:off x="7225065" y="2451947"/>
                <a:ext cx="274602" cy="274602"/>
              </a:xfrm>
              <a:prstGeom prst="ellipse">
                <a:avLst/>
              </a:prstGeom>
              <a:solidFill>
                <a:srgbClr val="F6EAC8"/>
              </a:solidFill>
              <a:ln w="10788" cap="rnd" cmpd="sng" algn="ctr">
                <a:solidFill>
                  <a:srgbClr val="243E42"/>
                </a:solidFill>
                <a:prstDash val="solid"/>
                <a:round/>
                <a:headEnd type="none" w="med" len="med"/>
                <a:tailEnd type="none" w="med" len="med"/>
              </a:ln>
            </p:spPr>
          </p:sp>
          <p:sp>
            <p:nvSpPr>
              <p:cNvPr id="1060" name="path · 46"/>
              <p:cNvSpPr/>
              <p:nvPr/>
            </p:nvSpPr>
            <p:spPr>
              <a:xfrm>
                <a:off x="7279005" y="2500983"/>
                <a:ext cx="166723" cy="161819"/>
              </a:xfrm>
              <a:custGeom>
                <a:avLst/>
                <a:gdLst/>
                <a:ahLst/>
                <a:cxnLst/>
                <a:rect l="0" t="0" r="r" b="b"/>
                <a:pathLst>
                  <a:path w="166723" h="161819" fill="norm" stroke="1" extrusionOk="0">
                    <a:moveTo>
                      <a:pt x="83361" y="0"/>
                    </a:moveTo>
                    <a:lnTo>
                      <a:pt x="107879" y="53939"/>
                    </a:lnTo>
                    <a:lnTo>
                      <a:pt x="166723" y="63747"/>
                    </a:lnTo>
                    <a:lnTo>
                      <a:pt x="122590" y="102976"/>
                    </a:lnTo>
                    <a:lnTo>
                      <a:pt x="132398" y="161819"/>
                    </a:lnTo>
                    <a:lnTo>
                      <a:pt x="83361" y="132397"/>
                    </a:lnTo>
                    <a:lnTo>
                      <a:pt x="29422" y="161819"/>
                    </a:lnTo>
                    <a:lnTo>
                      <a:pt x="44133" y="102976"/>
                    </a:lnTo>
                    <a:lnTo>
                      <a:pt x="0" y="63747"/>
                    </a:lnTo>
                    <a:lnTo>
                      <a:pt x="58843" y="53939"/>
                    </a:lnTo>
                    <a:close/>
                  </a:path>
                </a:pathLst>
              </a:custGeom>
              <a:solidFill>
                <a:srgbClr val="FFFFFF"/>
              </a:solidFill>
              <a:ln w="10788" cap="rnd" cmpd="sng" algn="ctr">
                <a:solidFill>
                  <a:srgbClr val="7A6025"/>
                </a:solidFill>
                <a:prstDash val="solid"/>
                <a:round/>
                <a:headEnd type="none" w="med" len="med"/>
                <a:tailEnd type="none" w="med" len="med"/>
              </a:ln>
            </p:spPr>
          </p:sp>
        </p:grpSp>
        <p:sp>
          <p:nvSpPr>
            <p:cNvPr id="1061" name="text · 48"/>
            <p:cNvSpPr txBox="1"/>
            <p:nvPr/>
          </p:nvSpPr>
          <p:spPr>
            <a:xfrm>
              <a:off x="6611946" y="2776755"/>
              <a:ext cx="974706" cy="25194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76"/>
                </a:lnSpc>
                <a:spcBef>
                  <a:spcPts val="0"/>
                </a:spcBef>
                <a:spcAft>
                  <a:spcPts val="0"/>
                </a:spcAft>
              </a:pPr>
              <a:r>
                <a:rPr lang="en-US" sz="1300" b="1" i="0" kern="0" spc="0" dirty="0">
                  <a:solidFill>
                    <a:srgbClr val="355F72"/>
                  </a:solidFill>
                  <a:latin typeface="Manrope"/>
                  <a:ea typeface="Manrope"/>
                  <a:cs typeface="Manrope"/>
                </a:rPr>
                <a:t>Return rules</a:t>
              </a:r>
              <a:endParaRPr lang="en-US" sz="1300"/>
            </a:p>
          </p:txBody>
        </p:sp>
        <p:grpSp>
          <p:nvGrpSpPr>
            <p:cNvPr id="1062" name="request-route · 51"/>
            <p:cNvGrpSpPr/>
            <p:nvPr/>
          </p:nvGrpSpPr>
          <p:grpSpPr>
            <a:xfrm>
              <a:off x="7569200" y="2451100"/>
              <a:ext cx="673100" cy="50800"/>
              <a:chOff x="7569200" y="2451100"/>
              <a:chExt cx="673100" cy="50800"/>
            </a:xfrm>
          </p:grpSpPr>
          <p:grpSp>
            <p:nvGrpSpPr>
              <p:cNvPr id="1063" name="path · 49 + arrowhead"/>
              <p:cNvGrpSpPr/>
              <p:nvPr/>
            </p:nvGrpSpPr>
            <p:grpSpPr>
              <a:xfrm>
                <a:off x="7569200" y="2451100"/>
                <a:ext cx="673100" cy="50800"/>
                <a:chOff x="7569200" y="2451100"/>
                <a:chExt cx="673100" cy="50800"/>
              </a:xfrm>
            </p:grpSpPr>
            <p:sp>
              <p:nvSpPr>
                <p:cNvPr id="1064" name="path · 49"/>
                <p:cNvSpPr/>
                <p:nvPr/>
              </p:nvSpPr>
              <p:spPr>
                <a:xfrm>
                  <a:off x="7569200" y="247650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065" name="arrow-green end"/>
                <p:cNvGrpSpPr/>
                <p:nvPr/>
              </p:nvGrpSpPr>
              <p:grpSpPr>
                <a:xfrm>
                  <a:off x="8194675" y="2451100"/>
                  <a:ext cx="47625" cy="50800"/>
                  <a:chOff x="8194675" y="2451100"/>
                  <a:chExt cx="47625" cy="50800"/>
                </a:xfrm>
              </p:grpSpPr>
              <p:sp>
                <p:nvSpPr>
                  <p:cNvPr id="1066" name="path · 50"/>
                  <p:cNvSpPr/>
                  <p:nvPr/>
                </p:nvSpPr>
                <p:spPr>
                  <a:xfrm>
                    <a:off x="8194675" y="2451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67" name="exchange · 57"/>
            <p:cNvGrpSpPr/>
            <p:nvPr/>
          </p:nvGrpSpPr>
          <p:grpSpPr>
            <a:xfrm>
              <a:off x="3446145" y="3110336"/>
              <a:ext cx="746760" cy="819362"/>
              <a:chOff x="3446145" y="3110336"/>
              <a:chExt cx="746760" cy="819362"/>
            </a:xfrm>
          </p:grpSpPr>
          <p:sp>
            <p:nvSpPr>
              <p:cNvPr id="1068" name="path · 52"/>
              <p:cNvSpPr/>
              <p:nvPr/>
            </p:nvSpPr>
            <p:spPr>
              <a:xfrm>
                <a:off x="3523933" y="3110336"/>
                <a:ext cx="414867" cy="165947"/>
              </a:xfrm>
              <a:custGeom>
                <a:avLst/>
                <a:gdLst/>
                <a:ahLst/>
                <a:cxnLst/>
                <a:rect l="0" t="0" r="r" b="b"/>
                <a:pathLst>
                  <a:path w="414867" h="165947" fill="none" stroke="1" extrusionOk="0">
                    <a:moveTo>
                      <a:pt x="0" y="165947"/>
                    </a:moveTo>
                    <a:quadBezTo>
                      <a:pt x="88159" y="46672"/>
                      <a:pt x="233362" y="46672"/>
                    </a:quadBezTo>
                    <a:lnTo>
                      <a:pt x="409680" y="46672"/>
                    </a:lnTo>
                    <a:moveTo>
                      <a:pt x="347450" y="0"/>
                    </a:moveTo>
                    <a:lnTo>
                      <a:pt x="414866" y="46672"/>
                    </a:lnTo>
                    <a:lnTo>
                      <a:pt x="347450" y="98531"/>
                    </a:lnTo>
                  </a:path>
                </a:pathLst>
              </a:custGeom>
              <a:noFill/>
              <a:ln w="25929" cap="rnd" cmpd="sng" algn="ctr">
                <a:solidFill>
                  <a:srgbClr val="2E6653"/>
                </a:solidFill>
                <a:prstDash val="solid"/>
                <a:round/>
                <a:headEnd type="none" w="med" len="med"/>
                <a:tailEnd type="none" w="med" len="med"/>
              </a:ln>
            </p:spPr>
          </p:sp>
          <p:sp>
            <p:nvSpPr>
              <p:cNvPr id="1069" name="path · 53"/>
              <p:cNvSpPr/>
              <p:nvPr/>
            </p:nvSpPr>
            <p:spPr>
              <a:xfrm>
                <a:off x="3446145" y="3364442"/>
                <a:ext cx="368194" cy="425238"/>
              </a:xfrm>
              <a:custGeom>
                <a:avLst/>
                <a:gdLst/>
                <a:ahLst/>
                <a:cxnLst/>
                <a:rect l="0" t="0" r="r" b="b"/>
                <a:pathLst>
                  <a:path w="368194" h="425238" fill="norm" stroke="1" extrusionOk="0">
                    <a:moveTo>
                      <a:pt x="0" y="77787"/>
                    </a:moveTo>
                    <a:lnTo>
                      <a:pt x="186690" y="0"/>
                    </a:lnTo>
                    <a:lnTo>
                      <a:pt x="368194" y="88159"/>
                    </a:lnTo>
                    <a:lnTo>
                      <a:pt x="181504" y="171132"/>
                    </a:lnTo>
                    <a:close/>
                    <a:moveTo>
                      <a:pt x="0" y="77787"/>
                    </a:moveTo>
                    <a:lnTo>
                      <a:pt x="181504" y="171132"/>
                    </a:lnTo>
                    <a:lnTo>
                      <a:pt x="181504" y="425238"/>
                    </a:lnTo>
                    <a:lnTo>
                      <a:pt x="0" y="331893"/>
                    </a:lnTo>
                    <a:close/>
                    <a:moveTo>
                      <a:pt x="181504" y="171132"/>
                    </a:moveTo>
                    <a:lnTo>
                      <a:pt x="368194" y="88159"/>
                    </a:lnTo>
                    <a:lnTo>
                      <a:pt x="368194" y="331893"/>
                    </a:lnTo>
                    <a:lnTo>
                      <a:pt x="181504" y="425238"/>
                    </a:lnTo>
                    <a:close/>
                  </a:path>
                </a:pathLst>
              </a:custGeom>
              <a:solidFill>
                <a:srgbClr val="E8E0F3"/>
              </a:solidFill>
              <a:ln w="11409" cap="rnd" cmpd="sng" algn="ctr">
                <a:solidFill>
                  <a:srgbClr val="243E42"/>
                </a:solidFill>
                <a:prstDash val="solid"/>
                <a:round/>
                <a:headEnd type="none" w="med" len="med"/>
                <a:tailEnd type="none" w="med" len="med"/>
              </a:ln>
            </p:spPr>
          </p:sp>
          <p:sp>
            <p:nvSpPr>
              <p:cNvPr id="1070" name="path · 54"/>
              <p:cNvSpPr/>
              <p:nvPr/>
            </p:nvSpPr>
            <p:spPr>
              <a:xfrm>
                <a:off x="3824711" y="3385185"/>
                <a:ext cx="368194" cy="425238"/>
              </a:xfrm>
              <a:custGeom>
                <a:avLst/>
                <a:gdLst/>
                <a:ahLst/>
                <a:cxnLst/>
                <a:rect l="0" t="0" r="r" b="b"/>
                <a:pathLst>
                  <a:path w="368194" h="425238" fill="norm" stroke="1" extrusionOk="0">
                    <a:moveTo>
                      <a:pt x="0" y="77787"/>
                    </a:moveTo>
                    <a:lnTo>
                      <a:pt x="186690" y="0"/>
                    </a:lnTo>
                    <a:lnTo>
                      <a:pt x="368194" y="88159"/>
                    </a:lnTo>
                    <a:lnTo>
                      <a:pt x="181504" y="171132"/>
                    </a:lnTo>
                    <a:close/>
                    <a:moveTo>
                      <a:pt x="0" y="77787"/>
                    </a:moveTo>
                    <a:lnTo>
                      <a:pt x="181504" y="171132"/>
                    </a:lnTo>
                    <a:lnTo>
                      <a:pt x="181504" y="425238"/>
                    </a:lnTo>
                    <a:lnTo>
                      <a:pt x="0" y="331893"/>
                    </a:lnTo>
                    <a:close/>
                    <a:moveTo>
                      <a:pt x="181504" y="171132"/>
                    </a:moveTo>
                    <a:lnTo>
                      <a:pt x="368194" y="88159"/>
                    </a:lnTo>
                    <a:lnTo>
                      <a:pt x="368194" y="331893"/>
                    </a:lnTo>
                    <a:lnTo>
                      <a:pt x="181504" y="425238"/>
                    </a:lnTo>
                    <a:close/>
                  </a:path>
                </a:pathLst>
              </a:custGeom>
              <a:solidFill>
                <a:srgbClr val="E2EEF3"/>
              </a:solidFill>
              <a:ln w="11409" cap="rnd" cmpd="sng" algn="ctr">
                <a:solidFill>
                  <a:srgbClr val="243E42"/>
                </a:solidFill>
                <a:prstDash val="solid"/>
                <a:round/>
                <a:headEnd type="none" w="med" len="med"/>
                <a:tailEnd type="none" w="med" len="med"/>
              </a:ln>
            </p:spPr>
          </p:sp>
          <p:sp>
            <p:nvSpPr>
              <p:cNvPr id="1071" name="path · 55"/>
              <p:cNvSpPr/>
              <p:nvPr/>
            </p:nvSpPr>
            <p:spPr>
              <a:xfrm>
                <a:off x="3508375" y="3390371"/>
                <a:ext cx="606742" cy="233363"/>
              </a:xfrm>
              <a:custGeom>
                <a:avLst/>
                <a:gdLst/>
                <a:ahLst/>
                <a:cxnLst/>
                <a:rect l="0" t="0" r="r" b="b"/>
                <a:pathLst>
                  <a:path w="606742" h="233363" fill="norm" stroke="1" extrusionOk="0">
                    <a:moveTo>
                      <a:pt x="62230" y="0"/>
                    </a:moveTo>
                    <a:lnTo>
                      <a:pt x="233363" y="93345"/>
                    </a:lnTo>
                    <a:lnTo>
                      <a:pt x="233363" y="191876"/>
                    </a:lnTo>
                    <a:lnTo>
                      <a:pt x="171133" y="217805"/>
                    </a:lnTo>
                    <a:lnTo>
                      <a:pt x="171133" y="114088"/>
                    </a:lnTo>
                    <a:lnTo>
                      <a:pt x="0" y="31115"/>
                    </a:lnTo>
                    <a:moveTo>
                      <a:pt x="440796" y="20743"/>
                    </a:moveTo>
                    <a:lnTo>
                      <a:pt x="606742" y="108902"/>
                    </a:lnTo>
                    <a:lnTo>
                      <a:pt x="606742" y="207433"/>
                    </a:lnTo>
                    <a:lnTo>
                      <a:pt x="544513" y="233362"/>
                    </a:lnTo>
                    <a:lnTo>
                      <a:pt x="544513" y="134831"/>
                    </a:lnTo>
                    <a:lnTo>
                      <a:pt x="373380" y="51858"/>
                    </a:lnTo>
                  </a:path>
                </a:pathLst>
              </a:custGeom>
              <a:solidFill>
                <a:srgbClr val="FFFFFF"/>
              </a:solidFill>
              <a:ln w="11409" cap="rnd" cmpd="sng" algn="ctr">
                <a:solidFill>
                  <a:srgbClr val="243E42"/>
                </a:solidFill>
                <a:prstDash val="solid"/>
                <a:round/>
                <a:headEnd type="none" w="med" len="med"/>
                <a:tailEnd type="none" w="med" len="med"/>
              </a:ln>
            </p:spPr>
          </p:sp>
          <p:sp>
            <p:nvSpPr>
              <p:cNvPr id="1072" name="path · 56"/>
              <p:cNvSpPr/>
              <p:nvPr/>
            </p:nvSpPr>
            <p:spPr>
              <a:xfrm>
                <a:off x="3736552" y="3800052"/>
                <a:ext cx="383752" cy="129646"/>
              </a:xfrm>
              <a:custGeom>
                <a:avLst/>
                <a:gdLst/>
                <a:ahLst/>
                <a:cxnLst/>
                <a:rect l="0" t="0" r="r" b="b"/>
                <a:pathLst>
                  <a:path w="383752" h="129646" fill="none" stroke="1" extrusionOk="0">
                    <a:moveTo>
                      <a:pt x="383751" y="0"/>
                    </a:moveTo>
                    <a:quadBezTo>
                      <a:pt x="295592" y="82973"/>
                      <a:pt x="181504" y="82973"/>
                    </a:quadBezTo>
                    <a:lnTo>
                      <a:pt x="5186" y="82973"/>
                    </a:lnTo>
                    <a:moveTo>
                      <a:pt x="67415" y="31115"/>
                    </a:moveTo>
                    <a:lnTo>
                      <a:pt x="0" y="82973"/>
                    </a:lnTo>
                    <a:lnTo>
                      <a:pt x="67415" y="129646"/>
                    </a:lnTo>
                  </a:path>
                </a:pathLst>
              </a:custGeom>
              <a:noFill/>
              <a:ln w="25929" cap="rnd" cmpd="sng" algn="ctr">
                <a:solidFill>
                  <a:srgbClr val="2E6653"/>
                </a:solidFill>
                <a:prstDash val="solid"/>
                <a:round/>
                <a:headEnd type="none" w="med" len="med"/>
                <a:tailEnd type="none" w="med" len="med"/>
              </a:ln>
            </p:spPr>
          </p:sp>
        </p:grpSp>
        <p:sp>
          <p:nvSpPr>
            <p:cNvPr id="1073" name="text · 58"/>
            <p:cNvSpPr txBox="1"/>
            <p:nvPr/>
          </p:nvSpPr>
          <p:spPr>
            <a:xfrm>
              <a:off x="4443412" y="3225924"/>
              <a:ext cx="906047" cy="290706"/>
            </a:xfrm>
            <a:prstGeom prst="rect">
              <a:avLst/>
            </a:prstGeom>
            <a:noFill/>
            <a:ln>
              <a:noFill/>
            </a:ln>
          </p:spPr>
          <p:txBody>
            <a:bodyPr wrap="none" lIns="0" tIns="0" rIns="0" bIns="0" anchor="t" anchorCtr="0" vertOverflow="overflow" horzOverflow="overflow">
              <a:noAutofit/>
            </a:bodyPr>
            <a:lstStyle/>
            <a:p>
              <a:pPr algn="l"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Exchange</a:t>
              </a:r>
              <a:endParaRPr lang="en-US" sz="1500"/>
            </a:p>
          </p:txBody>
        </p:sp>
        <p:sp>
          <p:nvSpPr>
            <p:cNvPr id="1074" name="text · 59"/>
            <p:cNvSpPr txBox="1"/>
            <p:nvPr/>
          </p:nvSpPr>
          <p:spPr>
            <a:xfrm>
              <a:off x="4443412" y="3513355"/>
              <a:ext cx="1170260" cy="251940"/>
            </a:xfrm>
            <a:prstGeom prst="rect">
              <a:avLst/>
            </a:prstGeom>
            <a:noFill/>
            <a:ln>
              <a:noFill/>
            </a:ln>
          </p:spPr>
          <p:txBody>
            <a:bodyPr wrap="none" lIns="0" tIns="0" rIns="0" bIns="0" anchor="t" anchorCtr="0" vertOverflow="overflow" horzOverflow="overflow">
              <a:noAutofit/>
            </a:bodyPr>
            <a:lstStyle/>
            <a:p>
              <a:pPr algn="l" marL="0" marR="0" indent="0" fontAlgn="base">
                <a:lnSpc>
                  <a:spcPts val="1776"/>
                </a:lnSpc>
                <a:spcBef>
                  <a:spcPts val="0"/>
                </a:spcBef>
                <a:spcAft>
                  <a:spcPts val="0"/>
                </a:spcAft>
              </a:pPr>
              <a:r>
                <a:rPr lang="en-US" sz="1300" b="0" i="0" kern="0" spc="0" dirty="0">
                  <a:solidFill>
                    <a:srgbClr val="52676A"/>
                  </a:solidFill>
                  <a:latin typeface="Manrope"/>
                  <a:ea typeface="Manrope"/>
                  <a:cs typeface="Manrope"/>
                </a:rPr>
                <a:t>“Swap for blue”</a:t>
              </a:r>
              <a:endParaRPr lang="en-US" sz="1300"/>
            </a:p>
          </p:txBody>
        </p:sp>
        <p:grpSp>
          <p:nvGrpSpPr>
            <p:cNvPr id="1075" name="request-route · 62"/>
            <p:cNvGrpSpPr/>
            <p:nvPr/>
          </p:nvGrpSpPr>
          <p:grpSpPr>
            <a:xfrm>
              <a:off x="6261100" y="3562350"/>
              <a:ext cx="330200" cy="50800"/>
              <a:chOff x="6261100" y="3562350"/>
              <a:chExt cx="330200" cy="50800"/>
            </a:xfrm>
          </p:grpSpPr>
          <p:grpSp>
            <p:nvGrpSpPr>
              <p:cNvPr id="1076" name="path · 60 + arrowhead"/>
              <p:cNvGrpSpPr/>
              <p:nvPr/>
            </p:nvGrpSpPr>
            <p:grpSpPr>
              <a:xfrm>
                <a:off x="6261100" y="3562350"/>
                <a:ext cx="330200" cy="50800"/>
                <a:chOff x="6261100" y="3562350"/>
                <a:chExt cx="330200" cy="50800"/>
              </a:xfrm>
            </p:grpSpPr>
            <p:sp>
              <p:nvSpPr>
                <p:cNvPr id="1077" name="path · 60"/>
                <p:cNvSpPr/>
                <p:nvPr/>
              </p:nvSpPr>
              <p:spPr>
                <a:xfrm>
                  <a:off x="6261100" y="358775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078" name="arrow-blue_ink end"/>
                <p:cNvGrpSpPr/>
                <p:nvPr/>
              </p:nvGrpSpPr>
              <p:grpSpPr>
                <a:xfrm>
                  <a:off x="6543675" y="3562350"/>
                  <a:ext cx="47625" cy="50800"/>
                  <a:chOff x="6543675" y="3562350"/>
                  <a:chExt cx="47625" cy="50800"/>
                </a:xfrm>
              </p:grpSpPr>
              <p:sp>
                <p:nvSpPr>
                  <p:cNvPr id="1079" name="path · 61"/>
                  <p:cNvSpPr/>
                  <p:nvPr/>
                </p:nvSpPr>
                <p:spPr>
                  <a:xfrm>
                    <a:off x="6543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080" name="inventory · 69"/>
            <p:cNvGrpSpPr/>
            <p:nvPr/>
          </p:nvGrpSpPr>
          <p:grpSpPr>
            <a:xfrm>
              <a:off x="6749415" y="3190522"/>
              <a:ext cx="706120" cy="637469"/>
              <a:chOff x="6749415" y="3190522"/>
              <a:chExt cx="706120" cy="637469"/>
            </a:xfrm>
          </p:grpSpPr>
          <p:sp>
            <p:nvSpPr>
              <p:cNvPr id="1081" name="path · 63"/>
              <p:cNvSpPr/>
              <p:nvPr/>
            </p:nvSpPr>
            <p:spPr>
              <a:xfrm>
                <a:off x="6749415" y="3190522"/>
                <a:ext cx="706120" cy="637469"/>
              </a:xfrm>
              <a:custGeom>
                <a:avLst/>
                <a:gdLst/>
                <a:ahLst/>
                <a:cxnLst/>
                <a:rect l="0" t="0" r="r" b="b"/>
                <a:pathLst>
                  <a:path w="706120" h="637469" fill="none" stroke="1" extrusionOk="0">
                    <a:moveTo>
                      <a:pt x="0" y="0"/>
                    </a:moveTo>
                    <a:lnTo>
                      <a:pt x="0" y="637470"/>
                    </a:lnTo>
                    <a:moveTo>
                      <a:pt x="706120" y="0"/>
                    </a:moveTo>
                    <a:lnTo>
                      <a:pt x="706120" y="637470"/>
                    </a:lnTo>
                    <a:moveTo>
                      <a:pt x="0" y="264795"/>
                    </a:moveTo>
                    <a:lnTo>
                      <a:pt x="706120" y="264795"/>
                    </a:lnTo>
                    <a:moveTo>
                      <a:pt x="0" y="568819"/>
                    </a:moveTo>
                    <a:lnTo>
                      <a:pt x="706120" y="568819"/>
                    </a:lnTo>
                  </a:path>
                </a:pathLst>
              </a:custGeom>
              <a:noFill/>
              <a:ln w="24518" cap="rnd" cmpd="sng" algn="ctr">
                <a:solidFill>
                  <a:srgbClr val="243E42"/>
                </a:solidFill>
                <a:prstDash val="solid"/>
                <a:round/>
                <a:headEnd type="none" w="med" len="med"/>
                <a:tailEnd type="none" w="med" len="med"/>
              </a:ln>
            </p:spPr>
          </p:sp>
          <p:sp>
            <p:nvSpPr>
              <p:cNvPr id="1082" name="path · 64"/>
              <p:cNvSpPr/>
              <p:nvPr/>
            </p:nvSpPr>
            <p:spPr>
              <a:xfrm>
                <a:off x="6818066" y="3239558"/>
                <a:ext cx="554108" cy="210855"/>
              </a:xfrm>
              <a:custGeom>
                <a:avLst/>
                <a:gdLst/>
                <a:ahLst/>
                <a:cxnLst/>
                <a:rect l="0" t="0" r="r" b="b"/>
                <a:pathLst>
                  <a:path w="554108" h="210855" fill="norm" stroke="1" extrusionOk="0">
                    <a:moveTo>
                      <a:pt x="0" y="0"/>
                    </a:moveTo>
                    <a:lnTo>
                      <a:pt x="210855" y="0"/>
                    </a:lnTo>
                    <a:lnTo>
                      <a:pt x="210855" y="210856"/>
                    </a:lnTo>
                    <a:lnTo>
                      <a:pt x="0" y="210856"/>
                    </a:lnTo>
                    <a:close/>
                    <a:moveTo>
                      <a:pt x="304023" y="0"/>
                    </a:moveTo>
                    <a:lnTo>
                      <a:pt x="554108" y="0"/>
                    </a:lnTo>
                    <a:lnTo>
                      <a:pt x="554108" y="210856"/>
                    </a:lnTo>
                    <a:lnTo>
                      <a:pt x="304023" y="210856"/>
                    </a:lnTo>
                    <a:close/>
                  </a:path>
                </a:pathLst>
              </a:custGeom>
              <a:solidFill>
                <a:srgbClr val="E2EEF3"/>
              </a:solidFill>
              <a:ln w="10788" cap="rnd" cmpd="sng" algn="ctr">
                <a:solidFill>
                  <a:srgbClr val="243E42"/>
                </a:solidFill>
                <a:prstDash val="solid"/>
                <a:round/>
                <a:headEnd type="none" w="med" len="med"/>
                <a:tailEnd type="none" w="med" len="med"/>
              </a:ln>
            </p:spPr>
          </p:sp>
          <p:sp>
            <p:nvSpPr>
              <p:cNvPr id="1083" name="path · 65"/>
              <p:cNvSpPr/>
              <p:nvPr/>
            </p:nvSpPr>
            <p:spPr>
              <a:xfrm>
                <a:off x="6896523" y="3239558"/>
                <a:ext cx="377578" cy="63747"/>
              </a:xfrm>
              <a:custGeom>
                <a:avLst/>
                <a:gdLst/>
                <a:ahLst/>
                <a:cxnLst/>
                <a:rect l="0" t="0" r="r" b="b"/>
                <a:pathLst>
                  <a:path w="377578" h="63747" fill="norm" stroke="1" extrusionOk="0">
                    <a:moveTo>
                      <a:pt x="0" y="0"/>
                    </a:moveTo>
                    <a:lnTo>
                      <a:pt x="0" y="63747"/>
                    </a:lnTo>
                    <a:lnTo>
                      <a:pt x="58844" y="63747"/>
                    </a:lnTo>
                    <a:lnTo>
                      <a:pt x="58844" y="0"/>
                    </a:lnTo>
                    <a:moveTo>
                      <a:pt x="313831" y="0"/>
                    </a:moveTo>
                    <a:lnTo>
                      <a:pt x="313831" y="63747"/>
                    </a:lnTo>
                    <a:lnTo>
                      <a:pt x="377578" y="63747"/>
                    </a:lnTo>
                    <a:lnTo>
                      <a:pt x="377578" y="0"/>
                    </a:lnTo>
                  </a:path>
                </a:pathLst>
              </a:custGeom>
              <a:solidFill>
                <a:srgbClr val="FFFFFF"/>
              </a:solidFill>
              <a:ln w="10788" cap="rnd" cmpd="sng" algn="ctr">
                <a:solidFill>
                  <a:srgbClr val="243E42"/>
                </a:solidFill>
                <a:prstDash val="solid"/>
                <a:round/>
                <a:headEnd type="none" w="med" len="med"/>
                <a:tailEnd type="none" w="med" len="med"/>
              </a:ln>
            </p:spPr>
          </p:sp>
          <p:sp>
            <p:nvSpPr>
              <p:cNvPr id="1084" name="path · 66"/>
              <p:cNvSpPr/>
              <p:nvPr/>
            </p:nvSpPr>
            <p:spPr>
              <a:xfrm>
                <a:off x="6818066" y="3538679"/>
                <a:ext cx="554108" cy="215759"/>
              </a:xfrm>
              <a:custGeom>
                <a:avLst/>
                <a:gdLst/>
                <a:ahLst/>
                <a:cxnLst/>
                <a:rect l="0" t="0" r="r" b="b"/>
                <a:pathLst>
                  <a:path w="554108" h="215759" fill="norm" stroke="1" extrusionOk="0">
                    <a:moveTo>
                      <a:pt x="0" y="0"/>
                    </a:moveTo>
                    <a:lnTo>
                      <a:pt x="269698" y="0"/>
                    </a:lnTo>
                    <a:lnTo>
                      <a:pt x="269698" y="215759"/>
                    </a:lnTo>
                    <a:lnTo>
                      <a:pt x="0" y="215759"/>
                    </a:lnTo>
                    <a:close/>
                    <a:moveTo>
                      <a:pt x="357963" y="0"/>
                    </a:moveTo>
                    <a:lnTo>
                      <a:pt x="554108" y="0"/>
                    </a:lnTo>
                    <a:lnTo>
                      <a:pt x="554108" y="215759"/>
                    </a:lnTo>
                    <a:lnTo>
                      <a:pt x="357963" y="215759"/>
                    </a:lnTo>
                    <a:close/>
                  </a:path>
                </a:pathLst>
              </a:custGeom>
              <a:solidFill>
                <a:srgbClr val="F6EAC8"/>
              </a:solidFill>
              <a:ln w="10788" cap="rnd" cmpd="sng" algn="ctr">
                <a:solidFill>
                  <a:srgbClr val="243E42"/>
                </a:solidFill>
                <a:prstDash val="solid"/>
                <a:round/>
                <a:headEnd type="none" w="med" len="med"/>
                <a:tailEnd type="none" w="med" len="med"/>
              </a:ln>
            </p:spPr>
          </p:sp>
          <p:sp>
            <p:nvSpPr>
              <p:cNvPr id="1085" name="path · 67"/>
              <p:cNvSpPr/>
              <p:nvPr/>
            </p:nvSpPr>
            <p:spPr>
              <a:xfrm>
                <a:off x="6916138" y="3538679"/>
                <a:ext cx="387385" cy="73554"/>
              </a:xfrm>
              <a:custGeom>
                <a:avLst/>
                <a:gdLst/>
                <a:ahLst/>
                <a:cxnLst/>
                <a:rect l="0" t="0" r="r" b="b"/>
                <a:pathLst>
                  <a:path w="387385" h="73554" fill="norm" stroke="1" extrusionOk="0">
                    <a:moveTo>
                      <a:pt x="0" y="0"/>
                    </a:moveTo>
                    <a:lnTo>
                      <a:pt x="0" y="73554"/>
                    </a:lnTo>
                    <a:lnTo>
                      <a:pt x="63747" y="73554"/>
                    </a:lnTo>
                    <a:lnTo>
                      <a:pt x="63747" y="0"/>
                    </a:lnTo>
                    <a:moveTo>
                      <a:pt x="323638" y="0"/>
                    </a:moveTo>
                    <a:lnTo>
                      <a:pt x="323638" y="73554"/>
                    </a:lnTo>
                    <a:lnTo>
                      <a:pt x="387385" y="73554"/>
                    </a:lnTo>
                    <a:lnTo>
                      <a:pt x="387385" y="0"/>
                    </a:lnTo>
                  </a:path>
                </a:pathLst>
              </a:custGeom>
              <a:solidFill>
                <a:srgbClr val="FFFFFF"/>
              </a:solidFill>
              <a:ln w="10788" cap="rnd" cmpd="sng" algn="ctr">
                <a:solidFill>
                  <a:srgbClr val="243E42"/>
                </a:solidFill>
                <a:prstDash val="solid"/>
                <a:round/>
                <a:headEnd type="none" w="med" len="med"/>
                <a:tailEnd type="none" w="med" len="med"/>
              </a:ln>
            </p:spPr>
          </p:sp>
          <p:sp>
            <p:nvSpPr>
              <p:cNvPr id="1086" name="path · 68"/>
              <p:cNvSpPr/>
              <p:nvPr/>
            </p:nvSpPr>
            <p:spPr>
              <a:xfrm>
                <a:off x="6842584" y="3690691"/>
                <a:ext cx="460939" cy="1"/>
              </a:xfrm>
              <a:custGeom>
                <a:avLst/>
                <a:gdLst/>
                <a:ahLst/>
                <a:cxnLst/>
                <a:rect l="0" t="0" r="r" b="b"/>
                <a:pathLst>
                  <a:path w="460939" h="1" fill="none" stroke="1" extrusionOk="0">
                    <a:moveTo>
                      <a:pt x="0" y="0"/>
                    </a:moveTo>
                    <a:lnTo>
                      <a:pt x="156915" y="0"/>
                    </a:lnTo>
                    <a:moveTo>
                      <a:pt x="343252" y="0"/>
                    </a:moveTo>
                    <a:lnTo>
                      <a:pt x="460939" y="0"/>
                    </a:lnTo>
                  </a:path>
                </a:pathLst>
              </a:custGeom>
              <a:noFill/>
              <a:ln w="14711" cap="rnd" cmpd="sng" algn="ctr">
                <a:solidFill>
                  <a:srgbClr val="243E42"/>
                </a:solidFill>
                <a:prstDash val="solid"/>
                <a:round/>
                <a:headEnd type="none" w="med" len="med"/>
                <a:tailEnd type="none" w="med" len="med"/>
              </a:ln>
            </p:spPr>
          </p:sp>
        </p:grpSp>
        <p:sp>
          <p:nvSpPr>
            <p:cNvPr id="1087" name="text · 70"/>
            <p:cNvSpPr txBox="1"/>
            <p:nvPr/>
          </p:nvSpPr>
          <p:spPr>
            <a:xfrm>
              <a:off x="6579998" y="3888005"/>
              <a:ext cx="1038603" cy="25194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76"/>
                </a:lnSpc>
                <a:spcBef>
                  <a:spcPts val="0"/>
                </a:spcBef>
                <a:spcAft>
                  <a:spcPts val="0"/>
                </a:spcAft>
              </a:pPr>
              <a:r>
                <a:rPr lang="en-US" sz="1300" b="1" i="0" kern="0" spc="0" dirty="0">
                  <a:solidFill>
                    <a:srgbClr val="355F72"/>
                  </a:solidFill>
                  <a:latin typeface="Manrope"/>
                  <a:ea typeface="Manrope"/>
                  <a:cs typeface="Manrope"/>
                </a:rPr>
                <a:t>Rules + stock</a:t>
              </a:r>
              <a:endParaRPr lang="en-US" sz="1300"/>
            </a:p>
          </p:txBody>
        </p:sp>
        <p:grpSp>
          <p:nvGrpSpPr>
            <p:cNvPr id="1088" name="request-route · 73"/>
            <p:cNvGrpSpPr/>
            <p:nvPr/>
          </p:nvGrpSpPr>
          <p:grpSpPr>
            <a:xfrm>
              <a:off x="7569200" y="3562350"/>
              <a:ext cx="673100" cy="50800"/>
              <a:chOff x="7569200" y="3562350"/>
              <a:chExt cx="673100" cy="50800"/>
            </a:xfrm>
          </p:grpSpPr>
          <p:grpSp>
            <p:nvGrpSpPr>
              <p:cNvPr id="1089" name="path · 71 + arrowhead"/>
              <p:cNvGrpSpPr/>
              <p:nvPr/>
            </p:nvGrpSpPr>
            <p:grpSpPr>
              <a:xfrm>
                <a:off x="7569200" y="3562350"/>
                <a:ext cx="673100" cy="50800"/>
                <a:chOff x="7569200" y="3562350"/>
                <a:chExt cx="673100" cy="50800"/>
              </a:xfrm>
            </p:grpSpPr>
            <p:sp>
              <p:nvSpPr>
                <p:cNvPr id="1090" name="path · 71"/>
                <p:cNvSpPr/>
                <p:nvPr/>
              </p:nvSpPr>
              <p:spPr>
                <a:xfrm>
                  <a:off x="7569200" y="358775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091" name="arrow-green end"/>
                <p:cNvGrpSpPr/>
                <p:nvPr/>
              </p:nvGrpSpPr>
              <p:grpSpPr>
                <a:xfrm>
                  <a:off x="8194675" y="3562350"/>
                  <a:ext cx="47625" cy="50800"/>
                  <a:chOff x="8194675" y="3562350"/>
                  <a:chExt cx="47625" cy="50800"/>
                </a:xfrm>
              </p:grpSpPr>
              <p:sp>
                <p:nvSpPr>
                  <p:cNvPr id="1092" name="path · 72"/>
                  <p:cNvSpPr/>
                  <p:nvPr/>
                </p:nvSpPr>
                <p:spPr>
                  <a:xfrm>
                    <a:off x="81946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093" name="kit-part · 81"/>
            <p:cNvGrpSpPr/>
            <p:nvPr/>
          </p:nvGrpSpPr>
          <p:grpSpPr>
            <a:xfrm>
              <a:off x="3440959" y="4309745"/>
              <a:ext cx="798618" cy="726017"/>
              <a:chOff x="3440959" y="4309745"/>
              <a:chExt cx="798618" cy="726017"/>
            </a:xfrm>
          </p:grpSpPr>
          <p:sp>
            <p:nvSpPr>
              <p:cNvPr id="1094" name="path · 74"/>
              <p:cNvSpPr/>
              <p:nvPr/>
            </p:nvSpPr>
            <p:spPr>
              <a:xfrm>
                <a:off x="3440959" y="4309745"/>
                <a:ext cx="539327" cy="528955"/>
              </a:xfrm>
              <a:custGeom>
                <a:avLst/>
                <a:gdLst/>
                <a:ahLst/>
                <a:cxnLst/>
                <a:rect l="0" t="0" r="r" b="b"/>
                <a:pathLst>
                  <a:path w="539327" h="528955" fill="norm" stroke="1" extrusionOk="0">
                    <a:moveTo>
                      <a:pt x="0" y="0"/>
                    </a:moveTo>
                    <a:lnTo>
                      <a:pt x="539327" y="0"/>
                    </a:lnTo>
                    <a:lnTo>
                      <a:pt x="539327" y="528955"/>
                    </a:lnTo>
                    <a:lnTo>
                      <a:pt x="0" y="528955"/>
                    </a:lnTo>
                    <a:close/>
                  </a:path>
                </a:pathLst>
              </a:custGeom>
              <a:solidFill>
                <a:srgbClr val="E2EEF3"/>
              </a:solidFill>
              <a:ln w="11409" cap="rnd" cmpd="sng" algn="ctr">
                <a:solidFill>
                  <a:srgbClr val="243E42"/>
                </a:solidFill>
                <a:custDash>
                  <a:ds d="272727" sp="272727"/>
                </a:custDash>
                <a:round/>
                <a:headEnd type="none" w="med" len="med"/>
                <a:tailEnd type="none" w="med" len="med"/>
              </a:ln>
            </p:spPr>
          </p:sp>
          <p:sp>
            <p:nvSpPr>
              <p:cNvPr id="1095" name="path · 75"/>
              <p:cNvSpPr/>
              <p:nvPr/>
            </p:nvSpPr>
            <p:spPr>
              <a:xfrm>
                <a:off x="3549862" y="4351232"/>
                <a:ext cx="280035" cy="238548"/>
              </a:xfrm>
              <a:custGeom>
                <a:avLst/>
                <a:gdLst/>
                <a:ahLst/>
                <a:cxnLst/>
                <a:rect l="0" t="0" r="r" b="b"/>
                <a:pathLst>
                  <a:path w="280035" h="238548" fill="none" stroke="1" extrusionOk="0">
                    <a:moveTo>
                      <a:pt x="0" y="238548"/>
                    </a:moveTo>
                    <a:lnTo>
                      <a:pt x="0" y="140017"/>
                    </a:lnTo>
                    <a:cubicBezTo>
                      <a:pt x="0" y="62688"/>
                      <a:pt x="62688" y="0"/>
                      <a:pt x="140017" y="0"/>
                    </a:cubicBezTo>
                    <a:cubicBezTo>
                      <a:pt x="217347" y="0"/>
                      <a:pt x="280035" y="62688"/>
                      <a:pt x="280035" y="140017"/>
                    </a:cubicBezTo>
                    <a:lnTo>
                      <a:pt x="280035" y="238548"/>
                    </a:lnTo>
                  </a:path>
                </a:pathLst>
              </a:custGeom>
              <a:noFill/>
              <a:ln w="31115" cap="rnd" cmpd="sng" algn="ctr">
                <a:solidFill>
                  <a:srgbClr val="665180"/>
                </a:solidFill>
                <a:prstDash val="solid"/>
                <a:round/>
                <a:headEnd type="none" w="med" len="med"/>
                <a:tailEnd type="none" w="med" len="med"/>
              </a:ln>
            </p:spPr>
          </p:sp>
          <p:sp>
            <p:nvSpPr>
              <p:cNvPr id="1096" name="rect · 76"/>
              <p:cNvSpPr/>
              <p:nvPr/>
            </p:nvSpPr>
            <p:spPr>
              <a:xfrm>
                <a:off x="3508375" y="4527550"/>
                <a:ext cx="82973" cy="150389"/>
              </a:xfrm>
              <a:prstGeom prst="roundRect">
                <a:avLst>
                  <a:gd name="adj" fmla="val 37500"/>
                </a:avLst>
              </a:prstGeom>
              <a:solidFill>
                <a:srgbClr val="E8E0F3"/>
              </a:solidFill>
              <a:ln w="11409" cap="rnd" cmpd="sng" algn="ctr">
                <a:solidFill>
                  <a:srgbClr val="243E42"/>
                </a:solidFill>
                <a:prstDash val="solid"/>
                <a:round/>
                <a:headEnd type="none" w="med" len="med"/>
                <a:tailEnd type="none" w="med" len="med"/>
              </a:ln>
            </p:spPr>
          </p:sp>
          <p:sp>
            <p:nvSpPr>
              <p:cNvPr id="1097" name="rect · 77"/>
              <p:cNvSpPr/>
              <p:nvPr/>
            </p:nvSpPr>
            <p:spPr>
              <a:xfrm>
                <a:off x="3788410" y="4527550"/>
                <a:ext cx="82973" cy="150389"/>
              </a:xfrm>
              <a:prstGeom prst="roundRect">
                <a:avLst>
                  <a:gd name="adj" fmla="val 37500"/>
                </a:avLst>
              </a:prstGeom>
              <a:solidFill>
                <a:srgbClr val="E8E0F3"/>
              </a:solidFill>
              <a:ln w="11409" cap="rnd" cmpd="sng" algn="ctr">
                <a:solidFill>
                  <a:srgbClr val="243E42"/>
                </a:solidFill>
                <a:prstDash val="solid"/>
                <a:round/>
                <a:headEnd type="none" w="med" len="med"/>
                <a:tailEnd type="none" w="med" len="med"/>
              </a:ln>
            </p:spPr>
          </p:sp>
          <p:sp>
            <p:nvSpPr>
              <p:cNvPr id="1098" name="circle · 78"/>
              <p:cNvSpPr/>
              <p:nvPr/>
            </p:nvSpPr>
            <p:spPr>
              <a:xfrm>
                <a:off x="3752109" y="4548293"/>
                <a:ext cx="487468" cy="487468"/>
              </a:xfrm>
              <a:prstGeom prst="ellipse">
                <a:avLst/>
              </a:prstGeom>
              <a:solidFill>
                <a:srgbClr val="D7EBE1"/>
              </a:solidFill>
              <a:ln w="15558" cap="rnd" cmpd="sng" algn="ctr">
                <a:solidFill>
                  <a:srgbClr val="2E6653"/>
                </a:solidFill>
                <a:prstDash val="solid"/>
                <a:round/>
                <a:headEnd type="none" w="med" len="med"/>
                <a:tailEnd type="none" w="med" len="med"/>
              </a:ln>
            </p:spPr>
          </p:sp>
          <p:sp>
            <p:nvSpPr>
              <p:cNvPr id="1099" name="path · 79"/>
              <p:cNvSpPr/>
              <p:nvPr/>
            </p:nvSpPr>
            <p:spPr>
              <a:xfrm>
                <a:off x="3850640" y="4569037"/>
                <a:ext cx="357823" cy="373380"/>
              </a:xfrm>
              <a:custGeom>
                <a:avLst/>
                <a:gdLst/>
                <a:ahLst/>
                <a:cxnLst/>
                <a:rect l="0" t="0" r="r" b="b"/>
                <a:pathLst>
                  <a:path w="357823" h="373380" fill="none" stroke="1" extrusionOk="0">
                    <a:moveTo>
                      <a:pt x="41487" y="186690"/>
                    </a:moveTo>
                    <a:cubicBezTo>
                      <a:pt x="181504" y="0"/>
                      <a:pt x="357822" y="264477"/>
                      <a:pt x="160761" y="326707"/>
                    </a:cubicBezTo>
                    <a:cubicBezTo>
                      <a:pt x="5186" y="373380"/>
                      <a:pt x="0" y="259291"/>
                      <a:pt x="103717" y="238548"/>
                    </a:cubicBezTo>
                  </a:path>
                </a:pathLst>
              </a:custGeom>
              <a:noFill/>
              <a:ln w="25929" cap="rnd" cmpd="sng" algn="ctr">
                <a:solidFill>
                  <a:srgbClr val="2E6653"/>
                </a:solidFill>
                <a:prstDash val="solid"/>
                <a:round/>
                <a:headEnd type="none" w="med" len="med"/>
                <a:tailEnd type="none" w="med" len="med"/>
              </a:ln>
            </p:spPr>
          </p:sp>
          <p:sp>
            <p:nvSpPr>
              <p:cNvPr id="1100" name="path · 80"/>
              <p:cNvSpPr/>
              <p:nvPr/>
            </p:nvSpPr>
            <p:spPr>
              <a:xfrm>
                <a:off x="3829897" y="4740169"/>
                <a:ext cx="197062" cy="98531"/>
              </a:xfrm>
              <a:custGeom>
                <a:avLst/>
                <a:gdLst/>
                <a:ahLst/>
                <a:cxnLst/>
                <a:rect l="0" t="0" r="r" b="b"/>
                <a:pathLst>
                  <a:path w="197062" h="98531" fill="norm" stroke="1" extrusionOk="0">
                    <a:moveTo>
                      <a:pt x="36301" y="0"/>
                    </a:moveTo>
                    <a:lnTo>
                      <a:pt x="93345" y="36301"/>
                    </a:lnTo>
                    <a:lnTo>
                      <a:pt x="57044" y="98531"/>
                    </a:lnTo>
                    <a:lnTo>
                      <a:pt x="0" y="62230"/>
                    </a:lnTo>
                    <a:close/>
                    <a:moveTo>
                      <a:pt x="129645" y="41487"/>
                    </a:moveTo>
                    <a:lnTo>
                      <a:pt x="197061" y="41487"/>
                    </a:lnTo>
                    <a:lnTo>
                      <a:pt x="197061" y="88159"/>
                    </a:lnTo>
                    <a:lnTo>
                      <a:pt x="129645" y="88159"/>
                    </a:lnTo>
                    <a:close/>
                  </a:path>
                </a:pathLst>
              </a:custGeom>
              <a:solidFill>
                <a:srgbClr val="FFFFFF"/>
              </a:solidFill>
              <a:ln w="11409" cap="rnd" cmpd="sng" algn="ctr">
                <a:solidFill>
                  <a:srgbClr val="2E6653"/>
                </a:solidFill>
                <a:prstDash val="solid"/>
                <a:round/>
                <a:headEnd type="none" w="med" len="med"/>
                <a:tailEnd type="none" w="med" len="med"/>
              </a:ln>
            </p:spPr>
          </p:sp>
        </p:grpSp>
        <p:sp>
          <p:nvSpPr>
            <p:cNvPr id="1101" name="text · 82"/>
            <p:cNvSpPr txBox="1"/>
            <p:nvPr/>
          </p:nvSpPr>
          <p:spPr>
            <a:xfrm>
              <a:off x="4443412" y="4337174"/>
              <a:ext cx="1351626" cy="290706"/>
            </a:xfrm>
            <a:prstGeom prst="rect">
              <a:avLst/>
            </a:prstGeom>
            <a:noFill/>
            <a:ln>
              <a:noFill/>
            </a:ln>
          </p:spPr>
          <p:txBody>
            <a:bodyPr wrap="none" lIns="0" tIns="0" rIns="0" bIns="0" anchor="t" anchorCtr="0" vertOverflow="overflow" horzOverflow="overflow">
              <a:noAutofit/>
            </a:bodyPr>
            <a:lstStyle/>
            <a:p>
              <a:pPr algn="l"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Kit-part return</a:t>
              </a:r>
              <a:endParaRPr lang="en-US" sz="1500"/>
            </a:p>
          </p:txBody>
        </p:sp>
        <p:sp>
          <p:nvSpPr>
            <p:cNvPr id="1102" name="text · 83"/>
            <p:cNvSpPr txBox="1"/>
            <p:nvPr/>
          </p:nvSpPr>
          <p:spPr>
            <a:xfrm>
              <a:off x="4443412" y="4624605"/>
              <a:ext cx="1233990" cy="251940"/>
            </a:xfrm>
            <a:prstGeom prst="rect">
              <a:avLst/>
            </a:prstGeom>
            <a:noFill/>
            <a:ln>
              <a:noFill/>
            </a:ln>
          </p:spPr>
          <p:txBody>
            <a:bodyPr wrap="none" lIns="0" tIns="0" rIns="0" bIns="0" anchor="t" anchorCtr="0" vertOverflow="overflow" horzOverflow="overflow">
              <a:noAutofit/>
            </a:bodyPr>
            <a:lstStyle/>
            <a:p>
              <a:pPr algn="l" marL="0" marR="0" indent="0" fontAlgn="base">
                <a:lnSpc>
                  <a:spcPts val="1776"/>
                </a:lnSpc>
                <a:spcBef>
                  <a:spcPts val="0"/>
                </a:spcBef>
                <a:spcAft>
                  <a:spcPts val="0"/>
                </a:spcAft>
              </a:pPr>
              <a:r>
                <a:rPr lang="en-US" sz="1300" b="0" i="0" kern="0" spc="0" dirty="0">
                  <a:solidFill>
                    <a:srgbClr val="52676A"/>
                  </a:solidFill>
                  <a:latin typeface="Manrope"/>
                  <a:ea typeface="Manrope"/>
                  <a:cs typeface="Manrope"/>
                </a:rPr>
                <a:t>“Only the cable”</a:t>
              </a:r>
              <a:endParaRPr lang="en-US" sz="1300"/>
            </a:p>
          </p:txBody>
        </p:sp>
        <p:grpSp>
          <p:nvGrpSpPr>
            <p:cNvPr id="1103" name="request-route · 86"/>
            <p:cNvGrpSpPr/>
            <p:nvPr/>
          </p:nvGrpSpPr>
          <p:grpSpPr>
            <a:xfrm>
              <a:off x="6261100" y="4673600"/>
              <a:ext cx="330200" cy="50800"/>
              <a:chOff x="6261100" y="4673600"/>
              <a:chExt cx="330200" cy="50800"/>
            </a:xfrm>
          </p:grpSpPr>
          <p:grpSp>
            <p:nvGrpSpPr>
              <p:cNvPr id="1104" name="path · 84 + arrowhead"/>
              <p:cNvGrpSpPr/>
              <p:nvPr/>
            </p:nvGrpSpPr>
            <p:grpSpPr>
              <a:xfrm>
                <a:off x="6261100" y="4673600"/>
                <a:ext cx="330200" cy="50800"/>
                <a:chOff x="6261100" y="4673600"/>
                <a:chExt cx="330200" cy="50800"/>
              </a:xfrm>
            </p:grpSpPr>
            <p:sp>
              <p:nvSpPr>
                <p:cNvPr id="1105" name="path · 84"/>
                <p:cNvSpPr/>
                <p:nvPr/>
              </p:nvSpPr>
              <p:spPr>
                <a:xfrm>
                  <a:off x="6261100" y="4699000"/>
                  <a:ext cx="330200" cy="1"/>
                </a:xfrm>
                <a:custGeom>
                  <a:avLst/>
                  <a:gdLst/>
                  <a:ahLst/>
                  <a:cxnLst/>
                  <a:rect l="0" t="0" r="r" b="b"/>
                  <a:pathLst>
                    <a:path w="330200" h="1" fill="none" stroke="1" extrusionOk="0">
                      <a:moveTo>
                        <a:pt x="0" y="0"/>
                      </a:moveTo>
                      <a:lnTo>
                        <a:pt x="330200" y="0"/>
                      </a:lnTo>
                    </a:path>
                  </a:pathLst>
                </a:custGeom>
                <a:noFill/>
                <a:ln w="22225" cap="rnd" cmpd="sng" algn="ctr">
                  <a:solidFill>
                    <a:srgbClr val="355F72"/>
                  </a:solidFill>
                  <a:prstDash val="solid"/>
                  <a:round/>
                  <a:headEnd type="none" w="med" len="med"/>
                  <a:tailEnd type="none" w="med" len="med"/>
                </a:ln>
              </p:spPr>
            </p:sp>
            <p:grpSp>
              <p:nvGrpSpPr>
                <p:cNvPr id="1106" name="arrow-blue_ink end"/>
                <p:cNvGrpSpPr/>
                <p:nvPr/>
              </p:nvGrpSpPr>
              <p:grpSpPr>
                <a:xfrm>
                  <a:off x="6543675" y="4673600"/>
                  <a:ext cx="47625" cy="50800"/>
                  <a:chOff x="6543675" y="4673600"/>
                  <a:chExt cx="47625" cy="50800"/>
                </a:xfrm>
              </p:grpSpPr>
              <p:sp>
                <p:nvSpPr>
                  <p:cNvPr id="1107" name="path · 85"/>
                  <p:cNvSpPr/>
                  <p:nvPr/>
                </p:nvSpPr>
                <p:spPr>
                  <a:xfrm>
                    <a:off x="6543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08" name="kit-rules · 97"/>
            <p:cNvGrpSpPr/>
            <p:nvPr/>
          </p:nvGrpSpPr>
          <p:grpSpPr>
            <a:xfrm>
              <a:off x="6788644" y="4267447"/>
              <a:ext cx="696313" cy="671795"/>
              <a:chOff x="6788644" y="4267447"/>
              <a:chExt cx="696313" cy="671795"/>
            </a:xfrm>
          </p:grpSpPr>
          <p:sp>
            <p:nvSpPr>
              <p:cNvPr id="1109" name="path · 87"/>
              <p:cNvSpPr/>
              <p:nvPr/>
            </p:nvSpPr>
            <p:spPr>
              <a:xfrm>
                <a:off x="6788644" y="4267447"/>
                <a:ext cx="544301" cy="671795"/>
              </a:xfrm>
              <a:custGeom>
                <a:avLst/>
                <a:gdLst/>
                <a:ahLst/>
                <a:cxnLst/>
                <a:rect l="0" t="0" r="r" b="b"/>
                <a:pathLst>
                  <a:path w="544301" h="671795" fill="norm" stroke="1" extrusionOk="0">
                    <a:moveTo>
                      <a:pt x="0" y="0"/>
                    </a:moveTo>
                    <a:lnTo>
                      <a:pt x="544301" y="0"/>
                    </a:lnTo>
                    <a:lnTo>
                      <a:pt x="544301" y="671795"/>
                    </a:lnTo>
                    <a:lnTo>
                      <a:pt x="0" y="671795"/>
                    </a:lnTo>
                    <a:close/>
                  </a:path>
                </a:pathLst>
              </a:custGeom>
              <a:solidFill>
                <a:srgbClr val="FFFFFF"/>
              </a:solidFill>
              <a:ln w="10788" cap="rnd" cmpd="sng" algn="ctr">
                <a:solidFill>
                  <a:srgbClr val="243E42"/>
                </a:solidFill>
                <a:prstDash val="solid"/>
                <a:round/>
                <a:headEnd type="none" w="med" len="med"/>
                <a:tailEnd type="none" w="med" len="med"/>
              </a:ln>
            </p:spPr>
          </p:sp>
          <p:sp>
            <p:nvSpPr>
              <p:cNvPr id="1110" name="path · 88"/>
              <p:cNvSpPr/>
              <p:nvPr/>
            </p:nvSpPr>
            <p:spPr>
              <a:xfrm>
                <a:off x="6867102" y="4365519"/>
                <a:ext cx="372674" cy="68651"/>
              </a:xfrm>
              <a:custGeom>
                <a:avLst/>
                <a:gdLst/>
                <a:ahLst/>
                <a:cxnLst/>
                <a:rect l="0" t="0" r="r" b="b"/>
                <a:pathLst>
                  <a:path w="372674" h="68651" fill="none" stroke="1" extrusionOk="0">
                    <a:moveTo>
                      <a:pt x="0" y="0"/>
                    </a:moveTo>
                    <a:lnTo>
                      <a:pt x="372674" y="0"/>
                    </a:lnTo>
                    <a:moveTo>
                      <a:pt x="0" y="68651"/>
                    </a:moveTo>
                    <a:lnTo>
                      <a:pt x="254987" y="68651"/>
                    </a:lnTo>
                  </a:path>
                </a:pathLst>
              </a:custGeom>
              <a:noFill/>
              <a:ln w="19614" cap="rnd" cmpd="sng" algn="ctr">
                <a:solidFill>
                  <a:srgbClr val="243E42"/>
                </a:solidFill>
                <a:prstDash val="solid"/>
                <a:round/>
                <a:headEnd type="none" w="med" len="med"/>
                <a:tailEnd type="none" w="med" len="med"/>
              </a:ln>
            </p:spPr>
          </p:sp>
          <p:sp>
            <p:nvSpPr>
              <p:cNvPr id="1111" name="path · 89"/>
              <p:cNvSpPr/>
              <p:nvPr/>
            </p:nvSpPr>
            <p:spPr>
              <a:xfrm>
                <a:off x="6876909" y="4537146"/>
                <a:ext cx="284409" cy="240277"/>
              </a:xfrm>
              <a:custGeom>
                <a:avLst/>
                <a:gdLst/>
                <a:ahLst/>
                <a:cxnLst/>
                <a:rect l="0" t="0" r="r" b="b"/>
                <a:pathLst>
                  <a:path w="284409" h="240277" fill="norm" stroke="1" extrusionOk="0">
                    <a:moveTo>
                      <a:pt x="0" y="0"/>
                    </a:moveTo>
                    <a:lnTo>
                      <a:pt x="284409" y="0"/>
                    </a:lnTo>
                    <a:lnTo>
                      <a:pt x="284409" y="240276"/>
                    </a:lnTo>
                    <a:lnTo>
                      <a:pt x="0" y="240276"/>
                    </a:lnTo>
                    <a:close/>
                  </a:path>
                </a:pathLst>
              </a:custGeom>
              <a:solidFill>
                <a:srgbClr val="E2EEF3"/>
              </a:solidFill>
              <a:ln w="10788" cap="rnd" cmpd="sng" algn="ctr">
                <a:solidFill>
                  <a:srgbClr val="243E42"/>
                </a:solidFill>
                <a:custDash>
                  <a:ds d="227273" sp="227273"/>
                </a:custDash>
                <a:round/>
                <a:headEnd type="none" w="med" len="med"/>
                <a:tailEnd type="none" w="med" len="med"/>
              </a:ln>
            </p:spPr>
          </p:sp>
          <p:sp>
            <p:nvSpPr>
              <p:cNvPr id="1112" name="path · 90"/>
              <p:cNvSpPr/>
              <p:nvPr/>
            </p:nvSpPr>
            <p:spPr>
              <a:xfrm>
                <a:off x="6925945" y="4556760"/>
                <a:ext cx="127494" cy="137301"/>
              </a:xfrm>
              <a:custGeom>
                <a:avLst/>
                <a:gdLst/>
                <a:ahLst/>
                <a:cxnLst/>
                <a:rect l="0" t="0" r="r" b="b"/>
                <a:pathLst>
                  <a:path w="127494" h="137301" fill="none" stroke="1" extrusionOk="0">
                    <a:moveTo>
                      <a:pt x="0" y="137301"/>
                    </a:moveTo>
                    <a:lnTo>
                      <a:pt x="0" y="63747"/>
                    </a:lnTo>
                    <a:cubicBezTo>
                      <a:pt x="0" y="28540"/>
                      <a:pt x="28540" y="0"/>
                      <a:pt x="63747" y="0"/>
                    </a:cubicBezTo>
                    <a:cubicBezTo>
                      <a:pt x="98953" y="0"/>
                      <a:pt x="127494" y="28540"/>
                      <a:pt x="127494" y="63747"/>
                    </a:cubicBezTo>
                    <a:lnTo>
                      <a:pt x="127494" y="137301"/>
                    </a:lnTo>
                  </a:path>
                </a:pathLst>
              </a:custGeom>
              <a:noFill/>
              <a:ln w="19614" cap="rnd" cmpd="sng" algn="ctr">
                <a:solidFill>
                  <a:srgbClr val="665180"/>
                </a:solidFill>
                <a:prstDash val="solid"/>
                <a:round/>
                <a:headEnd type="none" w="med" len="med"/>
                <a:tailEnd type="none" w="med" len="med"/>
              </a:ln>
            </p:spPr>
          </p:sp>
          <p:sp>
            <p:nvSpPr>
              <p:cNvPr id="1113" name="rect · 91"/>
              <p:cNvSpPr/>
              <p:nvPr/>
            </p:nvSpPr>
            <p:spPr>
              <a:xfrm>
                <a:off x="6906331" y="4659736"/>
                <a:ext cx="39229" cy="73554"/>
              </a:xfrm>
              <a:prstGeom prst="roundRect">
                <a:avLst>
                  <a:gd name="adj" fmla="val 37500"/>
                </a:avLst>
              </a:prstGeom>
              <a:solidFill>
                <a:srgbClr val="E8E0F3"/>
              </a:solidFill>
              <a:ln w="10788" cap="rnd" cmpd="sng" algn="ctr">
                <a:solidFill>
                  <a:srgbClr val="243E42"/>
                </a:solidFill>
                <a:prstDash val="solid"/>
                <a:round/>
                <a:headEnd type="none" w="med" len="med"/>
                <a:tailEnd type="none" w="med" len="med"/>
              </a:ln>
            </p:spPr>
          </p:sp>
          <p:sp>
            <p:nvSpPr>
              <p:cNvPr id="1114" name="rect · 92"/>
              <p:cNvSpPr/>
              <p:nvPr/>
            </p:nvSpPr>
            <p:spPr>
              <a:xfrm>
                <a:off x="7033824" y="4659736"/>
                <a:ext cx="39229" cy="73554"/>
              </a:xfrm>
              <a:prstGeom prst="roundRect">
                <a:avLst>
                  <a:gd name="adj" fmla="val 37500"/>
                </a:avLst>
              </a:prstGeom>
              <a:solidFill>
                <a:srgbClr val="E8E0F3"/>
              </a:solidFill>
              <a:ln w="10788" cap="rnd" cmpd="sng" algn="ctr">
                <a:solidFill>
                  <a:srgbClr val="243E42"/>
                </a:solidFill>
                <a:prstDash val="solid"/>
                <a:round/>
                <a:headEnd type="none" w="med" len="med"/>
                <a:tailEnd type="none" w="med" len="med"/>
              </a:ln>
            </p:spPr>
          </p:sp>
          <p:sp>
            <p:nvSpPr>
              <p:cNvPr id="1115" name="circle · 93"/>
              <p:cNvSpPr/>
              <p:nvPr/>
            </p:nvSpPr>
            <p:spPr>
              <a:xfrm>
                <a:off x="7200547" y="4615603"/>
                <a:ext cx="284409" cy="284409"/>
              </a:xfrm>
              <a:prstGeom prst="ellipse">
                <a:avLst/>
              </a:prstGeom>
              <a:solidFill>
                <a:srgbClr val="D7EBE1"/>
              </a:solidFill>
              <a:ln w="10788" cap="rnd" cmpd="sng" algn="ctr">
                <a:solidFill>
                  <a:srgbClr val="2E6653"/>
                </a:solidFill>
                <a:prstDash val="solid"/>
                <a:round/>
                <a:headEnd type="none" w="med" len="med"/>
                <a:tailEnd type="none" w="med" len="med"/>
              </a:ln>
            </p:spPr>
          </p:sp>
          <p:sp>
            <p:nvSpPr>
              <p:cNvPr id="1116" name="path · 94"/>
              <p:cNvSpPr/>
              <p:nvPr/>
            </p:nvSpPr>
            <p:spPr>
              <a:xfrm>
                <a:off x="7274101" y="4615603"/>
                <a:ext cx="147108" cy="230470"/>
              </a:xfrm>
              <a:custGeom>
                <a:avLst/>
                <a:gdLst/>
                <a:ahLst/>
                <a:cxnLst/>
                <a:rect l="0" t="0" r="r" b="b"/>
                <a:pathLst>
                  <a:path w="147108" h="230470" fill="none" stroke="1" extrusionOk="0">
                    <a:moveTo>
                      <a:pt x="0" y="117687"/>
                    </a:moveTo>
                    <a:quadBezTo>
                      <a:pt x="127494" y="0"/>
                      <a:pt x="147109" y="132398"/>
                    </a:quadBezTo>
                    <a:quadBezTo>
                      <a:pt x="147109" y="230470"/>
                      <a:pt x="19615" y="191241"/>
                    </a:quadBezTo>
                  </a:path>
                </a:pathLst>
              </a:custGeom>
              <a:noFill/>
              <a:ln w="19614" cap="rnd" cmpd="sng" algn="ctr">
                <a:solidFill>
                  <a:srgbClr val="2E6653"/>
                </a:solidFill>
                <a:prstDash val="solid"/>
                <a:round/>
                <a:headEnd type="none" w="med" len="med"/>
                <a:tailEnd type="none" w="med" len="med"/>
              </a:ln>
            </p:spPr>
          </p:sp>
          <p:sp>
            <p:nvSpPr>
              <p:cNvPr id="1117" name="path · 95"/>
              <p:cNvSpPr/>
              <p:nvPr/>
            </p:nvSpPr>
            <p:spPr>
              <a:xfrm>
                <a:off x="7254487" y="4733290"/>
                <a:ext cx="78458" cy="127494"/>
              </a:xfrm>
              <a:custGeom>
                <a:avLst/>
                <a:gdLst/>
                <a:ahLst/>
                <a:cxnLst/>
                <a:rect l="0" t="0" r="r" b="b"/>
                <a:pathLst>
                  <a:path w="78458" h="127494" fill="norm" stroke="1" extrusionOk="0">
                    <a:moveTo>
                      <a:pt x="0" y="0"/>
                    </a:moveTo>
                    <a:lnTo>
                      <a:pt x="49036" y="0"/>
                    </a:lnTo>
                    <a:lnTo>
                      <a:pt x="49036" y="44132"/>
                    </a:lnTo>
                    <a:lnTo>
                      <a:pt x="0" y="44132"/>
                    </a:lnTo>
                    <a:close/>
                    <a:moveTo>
                      <a:pt x="29422" y="88265"/>
                    </a:moveTo>
                    <a:lnTo>
                      <a:pt x="78458" y="88265"/>
                    </a:lnTo>
                    <a:lnTo>
                      <a:pt x="78458" y="127494"/>
                    </a:lnTo>
                    <a:lnTo>
                      <a:pt x="29422" y="127494"/>
                    </a:lnTo>
                    <a:close/>
                  </a:path>
                </a:pathLst>
              </a:custGeom>
              <a:solidFill>
                <a:srgbClr val="FFFFFF"/>
              </a:solidFill>
              <a:ln w="10788" cap="rnd" cmpd="sng" algn="ctr">
                <a:solidFill>
                  <a:srgbClr val="243E42"/>
                </a:solidFill>
                <a:prstDash val="solid"/>
                <a:round/>
                <a:headEnd type="none" w="med" len="med"/>
                <a:tailEnd type="none" w="med" len="med"/>
              </a:ln>
            </p:spPr>
          </p:sp>
          <p:sp>
            <p:nvSpPr>
              <p:cNvPr id="1118" name="path · 96"/>
              <p:cNvSpPr/>
              <p:nvPr/>
            </p:nvSpPr>
            <p:spPr>
              <a:xfrm>
                <a:off x="6872005" y="4846073"/>
                <a:ext cx="299120" cy="1"/>
              </a:xfrm>
              <a:custGeom>
                <a:avLst/>
                <a:gdLst/>
                <a:ahLst/>
                <a:cxnLst/>
                <a:rect l="0" t="0" r="r" b="b"/>
                <a:pathLst>
                  <a:path w="299120" h="1" fill="none" stroke="1" extrusionOk="0">
                    <a:moveTo>
                      <a:pt x="0" y="0"/>
                    </a:moveTo>
                    <a:lnTo>
                      <a:pt x="299121" y="0"/>
                    </a:lnTo>
                  </a:path>
                </a:pathLst>
              </a:custGeom>
              <a:noFill/>
              <a:ln w="19614" cap="rnd" cmpd="sng" algn="ctr">
                <a:solidFill>
                  <a:srgbClr val="243E42"/>
                </a:solidFill>
                <a:prstDash val="solid"/>
                <a:round/>
                <a:headEnd type="none" w="med" len="med"/>
                <a:tailEnd type="none" w="med" len="med"/>
              </a:ln>
            </p:spPr>
          </p:sp>
        </p:grpSp>
        <p:sp>
          <p:nvSpPr>
            <p:cNvPr id="1119" name="text · 98"/>
            <p:cNvSpPr txBox="1"/>
            <p:nvPr/>
          </p:nvSpPr>
          <p:spPr>
            <a:xfrm>
              <a:off x="6575874" y="4999255"/>
              <a:ext cx="1046851" cy="25194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76"/>
                </a:lnSpc>
                <a:spcBef>
                  <a:spcPts val="0"/>
                </a:spcBef>
                <a:spcAft>
                  <a:spcPts val="0"/>
                </a:spcAft>
              </a:pPr>
              <a:r>
                <a:rPr lang="en-US" sz="1300" b="1" i="0" kern="0" spc="0" dirty="0">
                  <a:solidFill>
                    <a:srgbClr val="355F72"/>
                  </a:solidFill>
                  <a:latin typeface="Manrope"/>
                  <a:ea typeface="Manrope"/>
                  <a:cs typeface="Manrope"/>
                </a:rPr>
                <a:t>Kit-part rules</a:t>
              </a:r>
              <a:endParaRPr lang="en-US" sz="1300"/>
            </a:p>
          </p:txBody>
        </p:sp>
        <p:grpSp>
          <p:nvGrpSpPr>
            <p:cNvPr id="1120" name="request-route · 101"/>
            <p:cNvGrpSpPr/>
            <p:nvPr/>
          </p:nvGrpSpPr>
          <p:grpSpPr>
            <a:xfrm>
              <a:off x="7569200" y="4673600"/>
              <a:ext cx="673100" cy="50800"/>
              <a:chOff x="7569200" y="4673600"/>
              <a:chExt cx="673100" cy="50800"/>
            </a:xfrm>
          </p:grpSpPr>
          <p:grpSp>
            <p:nvGrpSpPr>
              <p:cNvPr id="1121" name="path · 99 + arrowhead"/>
              <p:cNvGrpSpPr/>
              <p:nvPr/>
            </p:nvGrpSpPr>
            <p:grpSpPr>
              <a:xfrm>
                <a:off x="7569200" y="4673600"/>
                <a:ext cx="673100" cy="50800"/>
                <a:chOff x="7569200" y="4673600"/>
                <a:chExt cx="673100" cy="50800"/>
              </a:xfrm>
            </p:grpSpPr>
            <p:sp>
              <p:nvSpPr>
                <p:cNvPr id="1122" name="path · 99"/>
                <p:cNvSpPr/>
                <p:nvPr/>
              </p:nvSpPr>
              <p:spPr>
                <a:xfrm>
                  <a:off x="7569200" y="4699000"/>
                  <a:ext cx="673100" cy="1"/>
                </a:xfrm>
                <a:custGeom>
                  <a:avLst/>
                  <a:gdLst/>
                  <a:ahLst/>
                  <a:cxnLst/>
                  <a:rect l="0" t="0" r="r" b="b"/>
                  <a:pathLst>
                    <a:path w="673100" h="1" fill="none" stroke="1" extrusionOk="0">
                      <a:moveTo>
                        <a:pt x="0" y="0"/>
                      </a:moveTo>
                      <a:lnTo>
                        <a:pt x="673100" y="0"/>
                      </a:lnTo>
                    </a:path>
                  </a:pathLst>
                </a:custGeom>
                <a:noFill/>
                <a:ln w="22225" cap="rnd" cmpd="sng" algn="ctr">
                  <a:solidFill>
                    <a:srgbClr val="2E6653"/>
                  </a:solidFill>
                  <a:prstDash val="solid"/>
                  <a:round/>
                  <a:headEnd type="none" w="med" len="med"/>
                  <a:tailEnd type="none" w="med" len="med"/>
                </a:ln>
              </p:spPr>
            </p:sp>
            <p:grpSp>
              <p:nvGrpSpPr>
                <p:cNvPr id="1123" name="arrow-green end"/>
                <p:cNvGrpSpPr/>
                <p:nvPr/>
              </p:nvGrpSpPr>
              <p:grpSpPr>
                <a:xfrm>
                  <a:off x="8194675" y="4673600"/>
                  <a:ext cx="47625" cy="50800"/>
                  <a:chOff x="8194675" y="4673600"/>
                  <a:chExt cx="47625" cy="50800"/>
                </a:xfrm>
              </p:grpSpPr>
              <p:sp>
                <p:nvSpPr>
                  <p:cNvPr id="1124" name="path · 100"/>
                  <p:cNvSpPr/>
                  <p:nvPr/>
                </p:nvSpPr>
                <p:spPr>
                  <a:xfrm>
                    <a:off x="8194675" y="46736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grpSp>
          <p:nvGrpSpPr>
            <p:cNvPr id="1125" name="request-route · 103"/>
            <p:cNvGrpSpPr/>
            <p:nvPr/>
          </p:nvGrpSpPr>
          <p:grpSpPr>
            <a:xfrm>
              <a:off x="8242300" y="2476500"/>
              <a:ext cx="1" cy="2222500"/>
              <a:chOff x="8242300" y="2476500"/>
              <a:chExt cx="1" cy="2222500"/>
            </a:xfrm>
          </p:grpSpPr>
          <p:sp>
            <p:nvSpPr>
              <p:cNvPr id="1126" name="path · 102"/>
              <p:cNvSpPr/>
              <p:nvPr/>
            </p:nvSpPr>
            <p:spPr>
              <a:xfrm>
                <a:off x="8242300" y="2476500"/>
                <a:ext cx="1" cy="2222500"/>
              </a:xfrm>
              <a:custGeom>
                <a:avLst/>
                <a:gdLst/>
                <a:ahLst/>
                <a:cxnLst/>
                <a:rect l="0" t="0" r="r" b="b"/>
                <a:pathLst>
                  <a:path w="1" h="2222500" fill="none" stroke="1" extrusionOk="0">
                    <a:moveTo>
                      <a:pt x="0" y="0"/>
                    </a:moveTo>
                    <a:lnTo>
                      <a:pt x="0" y="2222500"/>
                    </a:lnTo>
                  </a:path>
                </a:pathLst>
              </a:custGeom>
              <a:noFill/>
              <a:ln w="22225" cap="rnd" cmpd="sng" algn="ctr">
                <a:solidFill>
                  <a:srgbClr val="2E6653"/>
                </a:solidFill>
                <a:prstDash val="solid"/>
                <a:round/>
                <a:headEnd type="none" w="med" len="med"/>
                <a:tailEnd type="none" w="med" len="med"/>
              </a:ln>
            </p:spPr>
          </p:sp>
        </p:grpSp>
        <p:sp>
          <p:nvSpPr>
            <p:cNvPr id="1127" name="circle · 104"/>
            <p:cNvSpPr/>
            <p:nvPr/>
          </p:nvSpPr>
          <p:spPr>
            <a:xfrm>
              <a:off x="8210550" y="3556000"/>
              <a:ext cx="63500" cy="63500"/>
            </a:xfrm>
            <a:prstGeom prst="ellipse">
              <a:avLst/>
            </a:prstGeom>
            <a:solidFill>
              <a:srgbClr val="2E6653"/>
            </a:solidFill>
            <a:ln>
              <a:noFill/>
            </a:ln>
          </p:spPr>
        </p:sp>
        <p:sp>
          <p:nvSpPr>
            <p:cNvPr id="1128" name="text · 105"/>
            <p:cNvSpPr txBox="1"/>
            <p:nvPr/>
          </p:nvSpPr>
          <p:spPr>
            <a:xfrm>
              <a:off x="7643251" y="2078255"/>
              <a:ext cx="1172697" cy="25194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76"/>
                </a:lnSpc>
                <a:spcBef>
                  <a:spcPts val="0"/>
                </a:spcBef>
                <a:spcAft>
                  <a:spcPts val="0"/>
                </a:spcAft>
              </a:pPr>
              <a:r>
                <a:rPr lang="en-US" sz="1300" b="1" i="0" kern="0" spc="0" dirty="0">
                  <a:solidFill>
                    <a:srgbClr val="2E6653"/>
                  </a:solidFill>
                  <a:latin typeface="Manrope"/>
                  <a:ea typeface="Manrope"/>
                  <a:cs typeface="Manrope"/>
                </a:rPr>
                <a:t>Eligible quotes</a:t>
              </a:r>
              <a:endParaRPr lang="en-US" sz="1300"/>
            </a:p>
          </p:txBody>
        </p:sp>
        <p:grpSp>
          <p:nvGrpSpPr>
            <p:cNvPr id="1129" name="request-route · 108"/>
            <p:cNvGrpSpPr/>
            <p:nvPr/>
          </p:nvGrpSpPr>
          <p:grpSpPr>
            <a:xfrm>
              <a:off x="8242300" y="3562350"/>
              <a:ext cx="698500" cy="50800"/>
              <a:chOff x="8242300" y="3562350"/>
              <a:chExt cx="698500" cy="50800"/>
            </a:xfrm>
          </p:grpSpPr>
          <p:grpSp>
            <p:nvGrpSpPr>
              <p:cNvPr id="1130" name="path · 106 + arrowhead"/>
              <p:cNvGrpSpPr/>
              <p:nvPr/>
            </p:nvGrpSpPr>
            <p:grpSpPr>
              <a:xfrm>
                <a:off x="8242300" y="3562350"/>
                <a:ext cx="698500" cy="50800"/>
                <a:chOff x="8242300" y="3562350"/>
                <a:chExt cx="698500" cy="50800"/>
              </a:xfrm>
            </p:grpSpPr>
            <p:sp>
              <p:nvSpPr>
                <p:cNvPr id="1131" name="path · 106"/>
                <p:cNvSpPr/>
                <p:nvPr/>
              </p:nvSpPr>
              <p:spPr>
                <a:xfrm>
                  <a:off x="8242300" y="3587750"/>
                  <a:ext cx="698500" cy="1"/>
                </a:xfrm>
                <a:custGeom>
                  <a:avLst/>
                  <a:gdLst/>
                  <a:ahLst/>
                  <a:cxnLst/>
                  <a:rect l="0" t="0" r="r" b="b"/>
                  <a:pathLst>
                    <a:path w="698500" h="1" fill="none" stroke="1" extrusionOk="0">
                      <a:moveTo>
                        <a:pt x="0" y="0"/>
                      </a:moveTo>
                      <a:lnTo>
                        <a:pt x="698500" y="0"/>
                      </a:lnTo>
                    </a:path>
                  </a:pathLst>
                </a:custGeom>
                <a:noFill/>
                <a:ln w="25400" cap="rnd" cmpd="sng" algn="ctr">
                  <a:solidFill>
                    <a:srgbClr val="2E6653"/>
                  </a:solidFill>
                  <a:prstDash val="solid"/>
                  <a:round/>
                  <a:headEnd type="none" w="med" len="med"/>
                  <a:tailEnd type="none" w="med" len="med"/>
                </a:ln>
              </p:spPr>
            </p:sp>
            <p:grpSp>
              <p:nvGrpSpPr>
                <p:cNvPr id="1132" name="arrow-green end"/>
                <p:cNvGrpSpPr/>
                <p:nvPr/>
              </p:nvGrpSpPr>
              <p:grpSpPr>
                <a:xfrm>
                  <a:off x="8893175" y="3562350"/>
                  <a:ext cx="47625" cy="50800"/>
                  <a:chOff x="8893175" y="3562350"/>
                  <a:chExt cx="47625" cy="50800"/>
                </a:xfrm>
              </p:grpSpPr>
              <p:sp>
                <p:nvSpPr>
                  <p:cNvPr id="1133" name="path · 107"/>
                  <p:cNvSpPr/>
                  <p:nvPr/>
                </p:nvSpPr>
                <p:spPr>
                  <a:xfrm>
                    <a:off x="8893175" y="3562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134" name="text · 109"/>
            <p:cNvSpPr txBox="1"/>
            <p:nvPr/>
          </p:nvSpPr>
          <p:spPr>
            <a:xfrm>
              <a:off x="9041934" y="2884283"/>
              <a:ext cx="1829730" cy="2616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844"/>
                </a:lnSpc>
                <a:spcBef>
                  <a:spcPts val="0"/>
                </a:spcBef>
                <a:spcAft>
                  <a:spcPts val="0"/>
                </a:spcAft>
              </a:pPr>
              <a:r>
                <a:rPr lang="en-US" sz="1350" b="1" i="0" kern="0" spc="0" dirty="0">
                  <a:solidFill>
                    <a:srgbClr val="355F72"/>
                  </a:solidFill>
                  <a:latin typeface="Manrope"/>
                  <a:ea typeface="Manrope"/>
                  <a:cs typeface="Manrope"/>
                </a:rPr>
                <a:t>For each selected task</a:t>
              </a:r>
              <a:endParaRPr lang="en-US" sz="1350"/>
            </a:p>
          </p:txBody>
        </p:sp>
        <p:grpSp>
          <p:nvGrpSpPr>
            <p:cNvPr id="1135" name="customer · 124"/>
            <p:cNvGrpSpPr/>
            <p:nvPr/>
          </p:nvGrpSpPr>
          <p:grpSpPr>
            <a:xfrm>
              <a:off x="9081064" y="3208302"/>
              <a:ext cx="679873" cy="788035"/>
              <a:chOff x="9081064" y="3208302"/>
              <a:chExt cx="679873" cy="788035"/>
            </a:xfrm>
          </p:grpSpPr>
          <p:sp>
            <p:nvSpPr>
              <p:cNvPr id="1136" name="ellipse · 110"/>
              <p:cNvSpPr/>
              <p:nvPr/>
            </p:nvSpPr>
            <p:spPr>
              <a:xfrm>
                <a:off x="9081064" y="3934531"/>
                <a:ext cx="679873" cy="61807"/>
              </a:xfrm>
              <a:prstGeom prst="ellipse">
                <a:avLst/>
              </a:prstGeom>
              <a:solidFill>
                <a:srgbClr val="E2EEF3"/>
              </a:solidFill>
              <a:ln>
                <a:noFill/>
              </a:ln>
            </p:spPr>
          </p:sp>
          <p:sp>
            <p:nvSpPr>
              <p:cNvPr id="1137" name="path · 111"/>
              <p:cNvSpPr/>
              <p:nvPr/>
            </p:nvSpPr>
            <p:spPr>
              <a:xfrm>
                <a:off x="9235581" y="3728508"/>
                <a:ext cx="401743" cy="206022"/>
              </a:xfrm>
              <a:custGeom>
                <a:avLst/>
                <a:gdLst/>
                <a:ahLst/>
                <a:cxnLst/>
                <a:rect l="0" t="0" r="r" b="b"/>
                <a:pathLst>
                  <a:path w="401743" h="206022" fill="norm" stroke="1" extrusionOk="0">
                    <a:moveTo>
                      <a:pt x="20602" y="41205"/>
                    </a:moveTo>
                    <a:lnTo>
                      <a:pt x="0" y="206023"/>
                    </a:lnTo>
                    <a:lnTo>
                      <a:pt x="113312" y="206023"/>
                    </a:lnTo>
                    <a:lnTo>
                      <a:pt x="149366" y="51506"/>
                    </a:lnTo>
                    <a:moveTo>
                      <a:pt x="262678" y="41205"/>
                    </a:moveTo>
                    <a:lnTo>
                      <a:pt x="298732" y="206023"/>
                    </a:lnTo>
                    <a:lnTo>
                      <a:pt x="401743" y="206023"/>
                    </a:lnTo>
                    <a:lnTo>
                      <a:pt x="319335" y="0"/>
                    </a:lnTo>
                  </a:path>
                </a:pathLst>
              </a:custGeom>
              <a:solidFill>
                <a:srgbClr val="243E42"/>
              </a:solidFill>
              <a:ln w="11331" cap="rnd" cmpd="sng" algn="ctr">
                <a:solidFill>
                  <a:srgbClr val="243E42"/>
                </a:solidFill>
                <a:prstDash val="solid"/>
                <a:round/>
                <a:headEnd type="none" w="med" len="med"/>
                <a:tailEnd type="none" w="med" len="med"/>
              </a:ln>
            </p:spPr>
          </p:sp>
          <p:sp>
            <p:nvSpPr>
              <p:cNvPr id="1138" name="path · 112"/>
              <p:cNvSpPr/>
              <p:nvPr/>
            </p:nvSpPr>
            <p:spPr>
              <a:xfrm>
                <a:off x="9184076" y="3939681"/>
                <a:ext cx="509905" cy="36054"/>
              </a:xfrm>
              <a:custGeom>
                <a:avLst/>
                <a:gdLst/>
                <a:ahLst/>
                <a:cxnLst/>
                <a:rect l="0" t="0" r="r" b="b"/>
                <a:pathLst>
                  <a:path w="509905" h="36054" fill="norm" stroke="1" extrusionOk="0">
                    <a:moveTo>
                      <a:pt x="36053" y="0"/>
                    </a:moveTo>
                    <a:lnTo>
                      <a:pt x="169968" y="0"/>
                    </a:lnTo>
                    <a:lnTo>
                      <a:pt x="169968" y="36054"/>
                    </a:lnTo>
                    <a:lnTo>
                      <a:pt x="0" y="36054"/>
                    </a:lnTo>
                    <a:cubicBezTo>
                      <a:pt x="0" y="15452"/>
                      <a:pt x="15451" y="5151"/>
                      <a:pt x="36053" y="0"/>
                    </a:cubicBezTo>
                    <a:moveTo>
                      <a:pt x="345087" y="0"/>
                    </a:moveTo>
                    <a:lnTo>
                      <a:pt x="468700" y="0"/>
                    </a:lnTo>
                    <a:lnTo>
                      <a:pt x="509905" y="36054"/>
                    </a:lnTo>
                    <a:lnTo>
                      <a:pt x="345087" y="36054"/>
                    </a:lnTo>
                    <a:close/>
                  </a:path>
                </a:pathLst>
              </a:custGeom>
              <a:solidFill>
                <a:srgbClr val="FFFFFF"/>
              </a:solidFill>
              <a:ln w="11331" cap="rnd" cmpd="sng" algn="ctr">
                <a:solidFill>
                  <a:srgbClr val="243E42"/>
                </a:solidFill>
                <a:prstDash val="solid"/>
                <a:round/>
                <a:headEnd type="none" w="med" len="med"/>
                <a:tailEnd type="none" w="med" len="med"/>
              </a:ln>
            </p:spPr>
          </p:sp>
          <p:sp>
            <p:nvSpPr>
              <p:cNvPr id="1139" name="path · 113"/>
              <p:cNvSpPr/>
              <p:nvPr/>
            </p:nvSpPr>
            <p:spPr>
              <a:xfrm>
                <a:off x="9214979" y="3455529"/>
                <a:ext cx="375991" cy="355388"/>
              </a:xfrm>
              <a:custGeom>
                <a:avLst/>
                <a:gdLst/>
                <a:ahLst/>
                <a:cxnLst/>
                <a:rect l="0" t="0" r="r" b="b"/>
                <a:pathLst>
                  <a:path w="375991" h="355388" fill="norm" stroke="1" extrusionOk="0">
                    <a:moveTo>
                      <a:pt x="0" y="92710"/>
                    </a:moveTo>
                    <a:quadBezTo>
                      <a:pt x="30903" y="5150"/>
                      <a:pt x="149366" y="0"/>
                    </a:quadBezTo>
                    <a:lnTo>
                      <a:pt x="231775" y="0"/>
                    </a:lnTo>
                    <a:quadBezTo>
                      <a:pt x="350238" y="10301"/>
                      <a:pt x="375990" y="118463"/>
                    </a:quadBezTo>
                    <a:lnTo>
                      <a:pt x="329635" y="355388"/>
                    </a:lnTo>
                    <a:lnTo>
                      <a:pt x="51505" y="355388"/>
                    </a:lnTo>
                    <a:close/>
                  </a:path>
                </a:pathLst>
              </a:custGeom>
              <a:solidFill>
                <a:srgbClr val="E2EEF3"/>
              </a:solidFill>
              <a:ln w="11331" cap="rnd" cmpd="sng" algn="ctr">
                <a:solidFill>
                  <a:srgbClr val="243E42"/>
                </a:solidFill>
                <a:prstDash val="solid"/>
                <a:round/>
                <a:headEnd type="none" w="med" len="med"/>
                <a:tailEnd type="none" w="med" len="med"/>
              </a:ln>
            </p:spPr>
          </p:sp>
          <p:sp>
            <p:nvSpPr>
              <p:cNvPr id="1140" name="path · 114"/>
              <p:cNvSpPr/>
              <p:nvPr/>
            </p:nvSpPr>
            <p:spPr>
              <a:xfrm>
                <a:off x="9184076" y="3496733"/>
                <a:ext cx="453249" cy="226624"/>
              </a:xfrm>
              <a:custGeom>
                <a:avLst/>
                <a:gdLst/>
                <a:ahLst/>
                <a:cxnLst/>
                <a:rect l="0" t="0" r="r" b="b"/>
                <a:pathLst>
                  <a:path w="453249" h="226624" fill="none" stroke="1" extrusionOk="0">
                    <a:moveTo>
                      <a:pt x="87559" y="10301"/>
                    </a:moveTo>
                    <a:lnTo>
                      <a:pt x="0" y="108162"/>
                    </a:lnTo>
                    <a:lnTo>
                      <a:pt x="77258" y="211173"/>
                    </a:lnTo>
                    <a:moveTo>
                      <a:pt x="339936" y="0"/>
                    </a:moveTo>
                    <a:lnTo>
                      <a:pt x="453248" y="113313"/>
                    </a:lnTo>
                    <a:lnTo>
                      <a:pt x="412044" y="226625"/>
                    </a:lnTo>
                  </a:path>
                </a:pathLst>
              </a:custGeom>
              <a:noFill/>
              <a:ln w="46355" cap="rnd" cmpd="sng" algn="ctr">
                <a:solidFill>
                  <a:srgbClr val="E2EEF3"/>
                </a:solidFill>
                <a:prstDash val="solid"/>
                <a:round/>
                <a:headEnd type="none" w="med" len="med"/>
                <a:tailEnd type="none" w="med" len="med"/>
              </a:ln>
            </p:spPr>
          </p:sp>
          <p:sp>
            <p:nvSpPr>
              <p:cNvPr id="1141" name="circle · 115"/>
              <p:cNvSpPr/>
              <p:nvPr/>
            </p:nvSpPr>
            <p:spPr>
              <a:xfrm>
                <a:off x="9271635" y="3239206"/>
                <a:ext cx="236926" cy="236926"/>
              </a:xfrm>
              <a:prstGeom prst="ellipse">
                <a:avLst/>
              </a:prstGeom>
              <a:solidFill>
                <a:srgbClr val="F4DFD3"/>
              </a:solidFill>
              <a:ln w="11331" cap="rnd" cmpd="sng" algn="ctr">
                <a:solidFill>
                  <a:srgbClr val="243E42"/>
                </a:solidFill>
                <a:prstDash val="solid"/>
                <a:round/>
                <a:headEnd type="none" w="med" len="med"/>
                <a:tailEnd type="none" w="med" len="med"/>
              </a:ln>
            </p:spPr>
          </p:sp>
          <p:sp>
            <p:nvSpPr>
              <p:cNvPr id="1142" name="path · 116"/>
              <p:cNvSpPr/>
              <p:nvPr/>
            </p:nvSpPr>
            <p:spPr>
              <a:xfrm>
                <a:off x="9251033" y="3208302"/>
                <a:ext cx="278130" cy="144216"/>
              </a:xfrm>
              <a:custGeom>
                <a:avLst/>
                <a:gdLst/>
                <a:ahLst/>
                <a:cxnLst/>
                <a:rect l="0" t="0" r="r" b="b"/>
                <a:pathLst>
                  <a:path w="278130" h="144216" fill="norm" stroke="1" extrusionOk="0">
                    <a:moveTo>
                      <a:pt x="25753" y="133915"/>
                    </a:moveTo>
                    <a:quadBezTo>
                      <a:pt x="0" y="10301"/>
                      <a:pt x="133914" y="5151"/>
                    </a:quadBezTo>
                    <a:quadBezTo>
                      <a:pt x="278130" y="0"/>
                      <a:pt x="267829" y="144216"/>
                    </a:quadBezTo>
                    <a:lnTo>
                      <a:pt x="216323" y="113312"/>
                    </a:lnTo>
                    <a:lnTo>
                      <a:pt x="200871" y="51506"/>
                    </a:lnTo>
                    <a:quadBezTo>
                      <a:pt x="133914" y="108162"/>
                      <a:pt x="25753" y="103011"/>
                    </a:quadBezTo>
                    <a:close/>
                  </a:path>
                </a:pathLst>
              </a:custGeom>
              <a:solidFill>
                <a:srgbClr val="243E42"/>
              </a:solidFill>
              <a:ln w="11331" cap="rnd" cmpd="sng" algn="ctr">
                <a:solidFill>
                  <a:srgbClr val="243E42"/>
                </a:solidFill>
                <a:prstDash val="solid"/>
                <a:round/>
                <a:headEnd type="none" w="med" len="med"/>
                <a:tailEnd type="none" w="med" len="med"/>
              </a:ln>
            </p:spPr>
          </p:sp>
          <p:sp>
            <p:nvSpPr>
              <p:cNvPr id="1143" name="path · 117"/>
              <p:cNvSpPr/>
              <p:nvPr/>
            </p:nvSpPr>
            <p:spPr>
              <a:xfrm>
                <a:off x="9374646" y="3342217"/>
                <a:ext cx="77258" cy="36054"/>
              </a:xfrm>
              <a:custGeom>
                <a:avLst/>
                <a:gdLst/>
                <a:ahLst/>
                <a:cxnLst/>
                <a:rect l="0" t="0" r="r" b="b"/>
                <a:pathLst>
                  <a:path w="77258" h="36054" fill="none" stroke="1" extrusionOk="0">
                    <a:moveTo>
                      <a:pt x="0" y="0"/>
                    </a:moveTo>
                    <a:lnTo>
                      <a:pt x="0" y="36054"/>
                    </a:lnTo>
                    <a:moveTo>
                      <a:pt x="77258" y="0"/>
                    </a:moveTo>
                    <a:lnTo>
                      <a:pt x="77258" y="36054"/>
                    </a:lnTo>
                  </a:path>
                </a:pathLst>
              </a:custGeom>
              <a:noFill/>
              <a:ln w="13391" cap="rnd" cmpd="sng" algn="ctr">
                <a:solidFill>
                  <a:srgbClr val="243E42"/>
                </a:solidFill>
                <a:prstDash val="solid"/>
                <a:round/>
                <a:headEnd type="none" w="med" len="med"/>
                <a:tailEnd type="none" w="med" len="med"/>
              </a:ln>
            </p:spPr>
          </p:sp>
          <p:sp>
            <p:nvSpPr>
              <p:cNvPr id="1144" name="path · 118"/>
              <p:cNvSpPr/>
              <p:nvPr/>
            </p:nvSpPr>
            <p:spPr>
              <a:xfrm>
                <a:off x="9379797" y="3409174"/>
                <a:ext cx="56656" cy="25753"/>
              </a:xfrm>
              <a:custGeom>
                <a:avLst/>
                <a:gdLst/>
                <a:ahLst/>
                <a:cxnLst/>
                <a:rect l="0" t="0" r="r" b="b"/>
                <a:pathLst>
                  <a:path w="56656" h="25753" fill="none" stroke="1" extrusionOk="0">
                    <a:moveTo>
                      <a:pt x="0" y="5150"/>
                    </a:moveTo>
                    <a:quadBezTo>
                      <a:pt x="30903" y="25753"/>
                      <a:pt x="56656" y="0"/>
                    </a:quadBezTo>
                  </a:path>
                </a:pathLst>
              </a:custGeom>
              <a:noFill/>
              <a:ln w="11331" cap="rnd" cmpd="sng" algn="ctr">
                <a:solidFill>
                  <a:srgbClr val="243E42"/>
                </a:solidFill>
                <a:prstDash val="solid"/>
                <a:round/>
                <a:headEnd type="none" w="med" len="med"/>
                <a:tailEnd type="none" w="med" len="med"/>
              </a:ln>
            </p:spPr>
          </p:sp>
          <p:sp>
            <p:nvSpPr>
              <p:cNvPr id="1145" name="path · 119"/>
              <p:cNvSpPr/>
              <p:nvPr/>
            </p:nvSpPr>
            <p:spPr>
              <a:xfrm>
                <a:off x="9230431" y="3568841"/>
                <a:ext cx="453249" cy="200872"/>
              </a:xfrm>
              <a:custGeom>
                <a:avLst/>
                <a:gdLst/>
                <a:ahLst/>
                <a:cxnLst/>
                <a:rect l="0" t="0" r="r" b="b"/>
                <a:pathLst>
                  <a:path w="453249" h="200872" fill="norm" stroke="1" extrusionOk="0">
                    <a:moveTo>
                      <a:pt x="0" y="92710"/>
                    </a:moveTo>
                    <a:lnTo>
                      <a:pt x="278130" y="0"/>
                    </a:lnTo>
                    <a:lnTo>
                      <a:pt x="453248" y="97861"/>
                    </a:lnTo>
                    <a:lnTo>
                      <a:pt x="175118" y="200872"/>
                    </a:lnTo>
                    <a:close/>
                  </a:path>
                </a:pathLst>
              </a:custGeom>
              <a:solidFill>
                <a:srgbClr val="F6EAC8"/>
              </a:solidFill>
              <a:ln w="11331" cap="rnd" cmpd="sng" algn="ctr">
                <a:solidFill>
                  <a:srgbClr val="243E42"/>
                </a:solidFill>
                <a:prstDash val="solid"/>
                <a:round/>
                <a:headEnd type="none" w="med" len="med"/>
                <a:tailEnd type="none" w="med" len="med"/>
              </a:ln>
            </p:spPr>
          </p:sp>
          <p:sp>
            <p:nvSpPr>
              <p:cNvPr id="1146" name="path · 120"/>
              <p:cNvSpPr/>
              <p:nvPr/>
            </p:nvSpPr>
            <p:spPr>
              <a:xfrm>
                <a:off x="9230431" y="3661551"/>
                <a:ext cx="453249" cy="283281"/>
              </a:xfrm>
              <a:custGeom>
                <a:avLst/>
                <a:gdLst/>
                <a:ahLst/>
                <a:cxnLst/>
                <a:rect l="0" t="0" r="r" b="b"/>
                <a:pathLst>
                  <a:path w="453249" h="283281" fill="norm" stroke="1" extrusionOk="0">
                    <a:moveTo>
                      <a:pt x="0" y="0"/>
                    </a:moveTo>
                    <a:lnTo>
                      <a:pt x="175118" y="108162"/>
                    </a:lnTo>
                    <a:lnTo>
                      <a:pt x="175118" y="283281"/>
                    </a:lnTo>
                    <a:lnTo>
                      <a:pt x="0" y="180270"/>
                    </a:lnTo>
                    <a:close/>
                    <a:moveTo>
                      <a:pt x="175118" y="108162"/>
                    </a:moveTo>
                    <a:lnTo>
                      <a:pt x="453248" y="5151"/>
                    </a:lnTo>
                    <a:lnTo>
                      <a:pt x="453248" y="185420"/>
                    </a:lnTo>
                    <a:lnTo>
                      <a:pt x="175118" y="283281"/>
                    </a:lnTo>
                    <a:close/>
                  </a:path>
                </a:pathLst>
              </a:custGeom>
              <a:solidFill>
                <a:srgbClr val="F6EAC8"/>
              </a:solidFill>
              <a:ln w="11331" cap="rnd" cmpd="sng" algn="ctr">
                <a:solidFill>
                  <a:srgbClr val="243E42"/>
                </a:solidFill>
                <a:prstDash val="solid"/>
                <a:round/>
                <a:headEnd type="none" w="med" len="med"/>
                <a:tailEnd type="none" w="med" len="med"/>
              </a:ln>
            </p:spPr>
          </p:sp>
          <p:sp>
            <p:nvSpPr>
              <p:cNvPr id="1147" name="path · 121"/>
              <p:cNvSpPr/>
              <p:nvPr/>
            </p:nvSpPr>
            <p:spPr>
              <a:xfrm>
                <a:off x="9307689" y="3620347"/>
                <a:ext cx="236926" cy="206022"/>
              </a:xfrm>
              <a:custGeom>
                <a:avLst/>
                <a:gdLst/>
                <a:ahLst/>
                <a:cxnLst/>
                <a:rect l="0" t="0" r="r" b="b"/>
                <a:pathLst>
                  <a:path w="236926" h="206022" fill="norm" stroke="1" extrusionOk="0">
                    <a:moveTo>
                      <a:pt x="51505" y="0"/>
                    </a:moveTo>
                    <a:lnTo>
                      <a:pt x="236925" y="103011"/>
                    </a:lnTo>
                    <a:lnTo>
                      <a:pt x="236925" y="185420"/>
                    </a:lnTo>
                    <a:lnTo>
                      <a:pt x="185420" y="206022"/>
                    </a:lnTo>
                    <a:lnTo>
                      <a:pt x="185420" y="123613"/>
                    </a:lnTo>
                    <a:lnTo>
                      <a:pt x="0" y="20602"/>
                    </a:lnTo>
                  </a:path>
                </a:pathLst>
              </a:custGeom>
              <a:solidFill>
                <a:srgbClr val="FFFFFF"/>
              </a:solidFill>
              <a:ln w="11331" cap="rnd" cmpd="sng" algn="ctr">
                <a:solidFill>
                  <a:srgbClr val="243E42"/>
                </a:solidFill>
                <a:prstDash val="solid"/>
                <a:round/>
                <a:headEnd type="none" w="med" len="med"/>
                <a:tailEnd type="none" w="med" len="med"/>
              </a:ln>
            </p:spPr>
          </p:sp>
          <p:sp>
            <p:nvSpPr>
              <p:cNvPr id="1148" name="circle · 122"/>
              <p:cNvSpPr/>
              <p:nvPr/>
            </p:nvSpPr>
            <p:spPr>
              <a:xfrm>
                <a:off x="9220129" y="3661551"/>
                <a:ext cx="72108" cy="72108"/>
              </a:xfrm>
              <a:prstGeom prst="ellipse">
                <a:avLst/>
              </a:prstGeom>
              <a:solidFill>
                <a:srgbClr val="F4DFD3"/>
              </a:solidFill>
              <a:ln w="11331" cap="rnd" cmpd="sng" algn="ctr">
                <a:solidFill>
                  <a:srgbClr val="243E42"/>
                </a:solidFill>
                <a:prstDash val="solid"/>
                <a:round/>
                <a:headEnd type="none" w="med" len="med"/>
                <a:tailEnd type="none" w="med" len="med"/>
              </a:ln>
            </p:spPr>
          </p:sp>
          <p:sp>
            <p:nvSpPr>
              <p:cNvPr id="1149" name="circle · 123"/>
              <p:cNvSpPr/>
              <p:nvPr/>
            </p:nvSpPr>
            <p:spPr>
              <a:xfrm>
                <a:off x="9585819" y="3682153"/>
                <a:ext cx="72108" cy="72108"/>
              </a:xfrm>
              <a:prstGeom prst="ellipse">
                <a:avLst/>
              </a:prstGeom>
              <a:solidFill>
                <a:srgbClr val="F4DFD3"/>
              </a:solidFill>
              <a:ln w="11331" cap="rnd" cmpd="sng" algn="ctr">
                <a:solidFill>
                  <a:srgbClr val="243E42"/>
                </a:solidFill>
                <a:prstDash val="solid"/>
                <a:round/>
                <a:headEnd type="none" w="med" len="med"/>
                <a:tailEnd type="none" w="med" len="med"/>
              </a:ln>
            </p:spPr>
          </p:sp>
        </p:grpSp>
        <p:grpSp>
          <p:nvGrpSpPr>
            <p:cNvPr id="1150" name="confirm-terms · 127"/>
            <p:cNvGrpSpPr/>
            <p:nvPr/>
          </p:nvGrpSpPr>
          <p:grpSpPr>
            <a:xfrm>
              <a:off x="9652000" y="3321050"/>
              <a:ext cx="292100" cy="292100"/>
              <a:chOff x="9652000" y="3321050"/>
              <a:chExt cx="292100" cy="292100"/>
            </a:xfrm>
          </p:grpSpPr>
          <p:sp>
            <p:nvSpPr>
              <p:cNvPr id="1151" name="circle · 125"/>
              <p:cNvSpPr/>
              <p:nvPr/>
            </p:nvSpPr>
            <p:spPr>
              <a:xfrm>
                <a:off x="9652000" y="3321050"/>
                <a:ext cx="292100" cy="2921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52" name="path · 126"/>
              <p:cNvSpPr/>
              <p:nvPr/>
            </p:nvSpPr>
            <p:spPr>
              <a:xfrm>
                <a:off x="9728200" y="3403600"/>
                <a:ext cx="146050" cy="114300"/>
              </a:xfrm>
              <a:custGeom>
                <a:avLst/>
                <a:gdLst/>
                <a:ahLst/>
                <a:cxnLst/>
                <a:rect l="0" t="0" r="r" b="b"/>
                <a:pathLst>
                  <a:path w="146050" h="114300" fill="none" stroke="1" extrusionOk="0">
                    <a:moveTo>
                      <a:pt x="0" y="63500"/>
                    </a:moveTo>
                    <a:lnTo>
                      <a:pt x="50800" y="114300"/>
                    </a:lnTo>
                    <a:lnTo>
                      <a:pt x="146050" y="0"/>
                    </a:lnTo>
                  </a:path>
                </a:pathLst>
              </a:custGeom>
              <a:noFill/>
              <a:ln w="25400" cap="rnd" cmpd="sng" algn="ctr">
                <a:solidFill>
                  <a:srgbClr val="2E6653"/>
                </a:solidFill>
                <a:prstDash val="solid"/>
                <a:round/>
                <a:headEnd type="none" w="med" len="med"/>
                <a:tailEnd type="none" w="med" len="med"/>
              </a:ln>
            </p:spPr>
          </p:sp>
        </p:grpSp>
        <p:sp>
          <p:nvSpPr>
            <p:cNvPr id="1153" name="text · 128"/>
            <p:cNvSpPr txBox="1"/>
            <p:nvPr/>
          </p:nvSpPr>
          <p:spPr>
            <a:xfrm>
              <a:off x="8795670" y="4128046"/>
              <a:ext cx="1280858"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243E42"/>
                  </a:solidFill>
                  <a:latin typeface="Manrope"/>
                  <a:ea typeface="Manrope"/>
                  <a:cs typeface="Manrope"/>
                </a:rPr>
                <a:t>Confirm terms</a:t>
              </a:r>
              <a:endParaRPr lang="en-US" sz="1450"/>
            </a:p>
          </p:txBody>
        </p:sp>
        <p:grpSp>
          <p:nvGrpSpPr>
            <p:cNvPr id="1154" name="request-route · 131"/>
            <p:cNvGrpSpPr/>
            <p:nvPr/>
          </p:nvGrpSpPr>
          <p:grpSpPr>
            <a:xfrm>
              <a:off x="9969500" y="3625850"/>
              <a:ext cx="457200" cy="50800"/>
              <a:chOff x="9969500" y="3625850"/>
              <a:chExt cx="457200" cy="50800"/>
            </a:xfrm>
          </p:grpSpPr>
          <p:grpSp>
            <p:nvGrpSpPr>
              <p:cNvPr id="1155" name="path · 129 + arrowhead"/>
              <p:cNvGrpSpPr/>
              <p:nvPr/>
            </p:nvGrpSpPr>
            <p:grpSpPr>
              <a:xfrm>
                <a:off x="9969500" y="3625850"/>
                <a:ext cx="457200" cy="50800"/>
                <a:chOff x="9969500" y="3625850"/>
                <a:chExt cx="457200" cy="50800"/>
              </a:xfrm>
            </p:grpSpPr>
            <p:sp>
              <p:nvSpPr>
                <p:cNvPr id="1156" name="path · 129"/>
                <p:cNvSpPr/>
                <p:nvPr/>
              </p:nvSpPr>
              <p:spPr>
                <a:xfrm>
                  <a:off x="9969500" y="3651250"/>
                  <a:ext cx="457200" cy="1"/>
                </a:xfrm>
                <a:custGeom>
                  <a:avLst/>
                  <a:gdLst/>
                  <a:ahLst/>
                  <a:cxnLst/>
                  <a:rect l="0" t="0" r="r" b="b"/>
                  <a:pathLst>
                    <a:path w="457200" h="1" fill="none" stroke="1" extrusionOk="0">
                      <a:moveTo>
                        <a:pt x="0" y="0"/>
                      </a:moveTo>
                      <a:lnTo>
                        <a:pt x="457200" y="0"/>
                      </a:lnTo>
                    </a:path>
                  </a:pathLst>
                </a:custGeom>
                <a:noFill/>
                <a:ln w="25400" cap="rnd" cmpd="sng" algn="ctr">
                  <a:solidFill>
                    <a:srgbClr val="355F72"/>
                  </a:solidFill>
                  <a:prstDash val="solid"/>
                  <a:round/>
                  <a:headEnd type="none" w="med" len="med"/>
                  <a:tailEnd type="none" w="med" len="med"/>
                </a:ln>
              </p:spPr>
            </p:sp>
            <p:grpSp>
              <p:nvGrpSpPr>
                <p:cNvPr id="1157" name="arrow-blue_ink end"/>
                <p:cNvGrpSpPr/>
                <p:nvPr/>
              </p:nvGrpSpPr>
              <p:grpSpPr>
                <a:xfrm>
                  <a:off x="10379075" y="3625850"/>
                  <a:ext cx="47625" cy="50800"/>
                  <a:chOff x="10379075" y="3625850"/>
                  <a:chExt cx="47625" cy="50800"/>
                </a:xfrm>
              </p:grpSpPr>
              <p:sp>
                <p:nvSpPr>
                  <p:cNvPr id="1158" name="path · 130"/>
                  <p:cNvSpPr/>
                  <p:nvPr/>
                </p:nvSpPr>
                <p:spPr>
                  <a:xfrm>
                    <a:off x="10379075" y="36258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59" name="commit · 138"/>
            <p:cNvGrpSpPr/>
            <p:nvPr/>
          </p:nvGrpSpPr>
          <p:grpSpPr>
            <a:xfrm>
              <a:off x="10550454" y="3270673"/>
              <a:ext cx="761753" cy="756426"/>
              <a:chOff x="10550454" y="3270673"/>
              <a:chExt cx="761753" cy="756426"/>
            </a:xfrm>
          </p:grpSpPr>
          <p:sp>
            <p:nvSpPr>
              <p:cNvPr id="1160" name="path · 132"/>
              <p:cNvSpPr/>
              <p:nvPr/>
            </p:nvSpPr>
            <p:spPr>
              <a:xfrm>
                <a:off x="10550454" y="3270673"/>
                <a:ext cx="628579" cy="735118"/>
              </a:xfrm>
              <a:custGeom>
                <a:avLst/>
                <a:gdLst/>
                <a:ahLst/>
                <a:cxnLst/>
                <a:rect l="0" t="0" r="r" b="b"/>
                <a:pathLst>
                  <a:path w="628579" h="735118" fill="norm" stroke="1" extrusionOk="0">
                    <a:moveTo>
                      <a:pt x="0" y="0"/>
                    </a:moveTo>
                    <a:lnTo>
                      <a:pt x="484752" y="0"/>
                    </a:lnTo>
                    <a:lnTo>
                      <a:pt x="628580" y="143828"/>
                    </a:lnTo>
                    <a:lnTo>
                      <a:pt x="628580" y="735119"/>
                    </a:lnTo>
                    <a:lnTo>
                      <a:pt x="0" y="735119"/>
                    </a:lnTo>
                    <a:close/>
                  </a:path>
                </a:pathLst>
              </a:custGeom>
              <a:solidFill>
                <a:srgbClr val="FFFFFF"/>
              </a:solidFill>
              <a:ln w="11719" cap="rnd" cmpd="sng" algn="ctr">
                <a:solidFill>
                  <a:srgbClr val="243E42"/>
                </a:solidFill>
                <a:prstDash val="solid"/>
                <a:round/>
                <a:headEnd type="none" w="med" len="med"/>
                <a:tailEnd type="none" w="med" len="med"/>
              </a:ln>
            </p:spPr>
          </p:sp>
          <p:sp>
            <p:nvSpPr>
              <p:cNvPr id="1161" name="path · 133"/>
              <p:cNvSpPr/>
              <p:nvPr/>
            </p:nvSpPr>
            <p:spPr>
              <a:xfrm>
                <a:off x="11035206" y="3270673"/>
                <a:ext cx="143828" cy="143828"/>
              </a:xfrm>
              <a:custGeom>
                <a:avLst/>
                <a:gdLst/>
                <a:ahLst/>
                <a:cxnLst/>
                <a:rect l="0" t="0" r="r" b="b"/>
                <a:pathLst>
                  <a:path w="143828" h="143828" fill="norm" stroke="1" extrusionOk="0">
                    <a:moveTo>
                      <a:pt x="0" y="0"/>
                    </a:moveTo>
                    <a:lnTo>
                      <a:pt x="0" y="143828"/>
                    </a:lnTo>
                    <a:lnTo>
                      <a:pt x="143828" y="143828"/>
                    </a:lnTo>
                  </a:path>
                </a:pathLst>
              </a:custGeom>
              <a:solidFill>
                <a:srgbClr val="E2EEF3"/>
              </a:solidFill>
              <a:ln w="11719" cap="rnd" cmpd="sng" algn="ctr">
                <a:solidFill>
                  <a:srgbClr val="243E42"/>
                </a:solidFill>
                <a:prstDash val="solid"/>
                <a:round/>
                <a:headEnd type="none" w="med" len="med"/>
                <a:tailEnd type="none" w="med" len="med"/>
              </a:ln>
            </p:spPr>
          </p:sp>
          <p:sp>
            <p:nvSpPr>
              <p:cNvPr id="1162" name="path · 134"/>
              <p:cNvSpPr/>
              <p:nvPr/>
            </p:nvSpPr>
            <p:spPr>
              <a:xfrm>
                <a:off x="10635686" y="3483751"/>
                <a:ext cx="415502" cy="170462"/>
              </a:xfrm>
              <a:custGeom>
                <a:avLst/>
                <a:gdLst/>
                <a:ahLst/>
                <a:cxnLst/>
                <a:rect l="0" t="0" r="r" b="b"/>
                <a:pathLst>
                  <a:path w="415502" h="170462" fill="none" stroke="1" extrusionOk="0">
                    <a:moveTo>
                      <a:pt x="0" y="0"/>
                    </a:moveTo>
                    <a:lnTo>
                      <a:pt x="415501" y="0"/>
                    </a:lnTo>
                    <a:moveTo>
                      <a:pt x="0" y="85231"/>
                    </a:moveTo>
                    <a:lnTo>
                      <a:pt x="314289" y="85231"/>
                    </a:lnTo>
                    <a:moveTo>
                      <a:pt x="0" y="170462"/>
                    </a:moveTo>
                    <a:lnTo>
                      <a:pt x="250366" y="170462"/>
                    </a:lnTo>
                  </a:path>
                </a:pathLst>
              </a:custGeom>
              <a:noFill/>
              <a:ln w="21308" cap="rnd" cmpd="sng" algn="ctr">
                <a:solidFill>
                  <a:srgbClr val="355F72"/>
                </a:solidFill>
                <a:prstDash val="solid"/>
                <a:round/>
                <a:headEnd type="none" w="med" len="med"/>
                <a:tailEnd type="none" w="med" len="med"/>
              </a:ln>
            </p:spPr>
          </p:sp>
          <p:sp>
            <p:nvSpPr>
              <p:cNvPr id="1163" name="path · 135"/>
              <p:cNvSpPr/>
              <p:nvPr/>
            </p:nvSpPr>
            <p:spPr>
              <a:xfrm>
                <a:off x="10635686" y="3798041"/>
                <a:ext cx="245039" cy="117193"/>
              </a:xfrm>
              <a:custGeom>
                <a:avLst/>
                <a:gdLst/>
                <a:ahLst/>
                <a:cxnLst/>
                <a:rect l="0" t="0" r="r" b="b"/>
                <a:pathLst>
                  <a:path w="245039" h="117193" fill="none" stroke="1" extrusionOk="0">
                    <a:moveTo>
                      <a:pt x="0" y="0"/>
                    </a:moveTo>
                    <a:lnTo>
                      <a:pt x="0" y="117193"/>
                    </a:lnTo>
                    <a:moveTo>
                      <a:pt x="31961" y="0"/>
                    </a:moveTo>
                    <a:lnTo>
                      <a:pt x="31961" y="117193"/>
                    </a:lnTo>
                    <a:moveTo>
                      <a:pt x="69250" y="0"/>
                    </a:moveTo>
                    <a:lnTo>
                      <a:pt x="69250" y="117193"/>
                    </a:lnTo>
                    <a:moveTo>
                      <a:pt x="122519" y="0"/>
                    </a:moveTo>
                    <a:lnTo>
                      <a:pt x="122519" y="117193"/>
                    </a:lnTo>
                    <a:moveTo>
                      <a:pt x="159808" y="0"/>
                    </a:moveTo>
                    <a:lnTo>
                      <a:pt x="159808" y="117193"/>
                    </a:lnTo>
                    <a:moveTo>
                      <a:pt x="191770" y="0"/>
                    </a:moveTo>
                    <a:lnTo>
                      <a:pt x="191770" y="117193"/>
                    </a:lnTo>
                    <a:moveTo>
                      <a:pt x="245039" y="0"/>
                    </a:moveTo>
                    <a:lnTo>
                      <a:pt x="245039" y="117193"/>
                    </a:lnTo>
                  </a:path>
                </a:pathLst>
              </a:custGeom>
              <a:noFill/>
              <a:ln w="15981" cap="rnd" cmpd="sng" algn="ctr">
                <a:solidFill>
                  <a:srgbClr val="243E42"/>
                </a:solidFill>
                <a:prstDash val="solid"/>
                <a:round/>
                <a:headEnd type="none" w="med" len="med"/>
                <a:tailEnd type="none" w="med" len="med"/>
              </a:ln>
            </p:spPr>
          </p:sp>
          <p:sp>
            <p:nvSpPr>
              <p:cNvPr id="1164" name="path · 136"/>
              <p:cNvSpPr/>
              <p:nvPr/>
            </p:nvSpPr>
            <p:spPr>
              <a:xfrm>
                <a:off x="10971283" y="3622252"/>
                <a:ext cx="340924" cy="404848"/>
              </a:xfrm>
              <a:custGeom>
                <a:avLst/>
                <a:gdLst/>
                <a:ahLst/>
                <a:cxnLst/>
                <a:rect l="0" t="0" r="r" b="b"/>
                <a:pathLst>
                  <a:path w="340924" h="404848" fill="norm" stroke="1" extrusionOk="0">
                    <a:moveTo>
                      <a:pt x="170462" y="0"/>
                    </a:moveTo>
                    <a:lnTo>
                      <a:pt x="340925" y="58596"/>
                    </a:lnTo>
                    <a:lnTo>
                      <a:pt x="340925" y="197097"/>
                    </a:lnTo>
                    <a:quadBezTo>
                      <a:pt x="340925" y="314289"/>
                      <a:pt x="170462" y="404847"/>
                    </a:quadBezTo>
                    <a:quadBezTo>
                      <a:pt x="0" y="314289"/>
                      <a:pt x="0" y="197097"/>
                    </a:quadBezTo>
                    <a:lnTo>
                      <a:pt x="0" y="58596"/>
                    </a:lnTo>
                    <a:close/>
                  </a:path>
                </a:pathLst>
              </a:custGeom>
              <a:solidFill>
                <a:srgbClr val="D7EBE1"/>
              </a:solidFill>
              <a:ln w="11719" cap="rnd" cmpd="sng" algn="ctr">
                <a:solidFill>
                  <a:srgbClr val="2E6653"/>
                </a:solidFill>
                <a:prstDash val="solid"/>
                <a:round/>
                <a:headEnd type="none" w="med" len="med"/>
                <a:tailEnd type="none" w="med" len="med"/>
              </a:ln>
            </p:spPr>
          </p:sp>
          <p:sp>
            <p:nvSpPr>
              <p:cNvPr id="1165" name="path · 137"/>
              <p:cNvSpPr/>
              <p:nvPr/>
            </p:nvSpPr>
            <p:spPr>
              <a:xfrm>
                <a:off x="11051187" y="3728791"/>
                <a:ext cx="181116" cy="138501"/>
              </a:xfrm>
              <a:custGeom>
                <a:avLst/>
                <a:gdLst/>
                <a:ahLst/>
                <a:cxnLst/>
                <a:rect l="0" t="0" r="r" b="b"/>
                <a:pathLst>
                  <a:path w="181116" h="138501" fill="none" stroke="1" extrusionOk="0">
                    <a:moveTo>
                      <a:pt x="0" y="79904"/>
                    </a:moveTo>
                    <a:lnTo>
                      <a:pt x="58597" y="138500"/>
                    </a:lnTo>
                    <a:lnTo>
                      <a:pt x="181116" y="0"/>
                    </a:lnTo>
                  </a:path>
                </a:pathLst>
              </a:custGeom>
              <a:noFill/>
              <a:ln w="26635" cap="rnd" cmpd="sng" algn="ctr">
                <a:solidFill>
                  <a:srgbClr val="2E6653"/>
                </a:solidFill>
                <a:prstDash val="solid"/>
                <a:round/>
                <a:headEnd type="none" w="med" len="med"/>
                <a:tailEnd type="none" w="med" len="med"/>
              </a:ln>
            </p:spPr>
          </p:sp>
        </p:grpSp>
        <p:sp>
          <p:nvSpPr>
            <p:cNvPr id="1166" name="text · 139"/>
            <p:cNvSpPr txBox="1"/>
            <p:nvPr/>
          </p:nvSpPr>
          <p:spPr>
            <a:xfrm>
              <a:off x="10294491" y="4128046"/>
              <a:ext cx="1229618"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355F72"/>
                  </a:solidFill>
                  <a:latin typeface="Manrope"/>
                  <a:ea typeface="Manrope"/>
                  <a:cs typeface="Manrope"/>
                </a:rPr>
                <a:t>Service result</a:t>
              </a:r>
              <a:endParaRPr lang="en-US" sz="1450"/>
            </a:p>
          </p:txBody>
        </p:sp>
        <p:grpSp>
          <p:nvGrpSpPr>
            <p:cNvPr id="1167" name="request-route · 142"/>
            <p:cNvGrpSpPr/>
            <p:nvPr/>
          </p:nvGrpSpPr>
          <p:grpSpPr>
            <a:xfrm>
              <a:off x="1733550" y="4019550"/>
              <a:ext cx="666750" cy="1066800"/>
              <a:chOff x="1733550" y="4019550"/>
              <a:chExt cx="666750" cy="1066800"/>
            </a:xfrm>
          </p:grpSpPr>
          <p:grpSp>
            <p:nvGrpSpPr>
              <p:cNvPr id="1168" name="path · 140 + arrowhead"/>
              <p:cNvGrpSpPr/>
              <p:nvPr/>
            </p:nvGrpSpPr>
            <p:grpSpPr>
              <a:xfrm>
                <a:off x="1733550" y="4019550"/>
                <a:ext cx="666750" cy="1066800"/>
                <a:chOff x="1733550" y="4019550"/>
                <a:chExt cx="666750" cy="1066800"/>
              </a:xfrm>
            </p:grpSpPr>
            <p:sp>
              <p:nvSpPr>
                <p:cNvPr id="1169" name="path · 140"/>
                <p:cNvSpPr/>
                <p:nvPr/>
              </p:nvSpPr>
              <p:spPr>
                <a:xfrm>
                  <a:off x="1733550" y="4019550"/>
                  <a:ext cx="666750" cy="1041400"/>
                </a:xfrm>
                <a:custGeom>
                  <a:avLst/>
                  <a:gdLst/>
                  <a:ahLst/>
                  <a:cxnLst/>
                  <a:rect l="0" t="0" r="r" b="b"/>
                  <a:pathLst>
                    <a:path w="666750" h="1041400" fill="none" stroke="1" extrusionOk="0">
                      <a:moveTo>
                        <a:pt x="0" y="0"/>
                      </a:moveTo>
                      <a:lnTo>
                        <a:pt x="0" y="1041400"/>
                      </a:lnTo>
                      <a:lnTo>
                        <a:pt x="666750" y="1041400"/>
                      </a:lnTo>
                    </a:path>
                  </a:pathLst>
                </a:custGeom>
                <a:noFill/>
                <a:ln w="22225" cap="rnd" cmpd="sng" algn="ctr">
                  <a:solidFill>
                    <a:srgbClr val="7A6025"/>
                  </a:solidFill>
                  <a:custDash>
                    <a:ds d="228571" sp="257143"/>
                  </a:custDash>
                  <a:round/>
                  <a:headEnd type="none" w="med" len="med"/>
                  <a:tailEnd type="none" w="med" len="med"/>
                </a:ln>
              </p:spPr>
            </p:sp>
            <p:grpSp>
              <p:nvGrpSpPr>
                <p:cNvPr id="1170" name="arrow-ochre end"/>
                <p:cNvGrpSpPr/>
                <p:nvPr/>
              </p:nvGrpSpPr>
              <p:grpSpPr>
                <a:xfrm>
                  <a:off x="2352675" y="5035550"/>
                  <a:ext cx="47625" cy="50800"/>
                  <a:chOff x="2352675" y="5035550"/>
                  <a:chExt cx="47625" cy="50800"/>
                </a:xfrm>
              </p:grpSpPr>
              <p:sp>
                <p:nvSpPr>
                  <p:cNvPr id="1171" name="path · 141"/>
                  <p:cNvSpPr/>
                  <p:nvPr/>
                </p:nvSpPr>
                <p:spPr>
                  <a:xfrm>
                    <a:off x="2352675" y="50355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172" name="text · 143"/>
            <p:cNvSpPr txBox="1"/>
            <p:nvPr/>
          </p:nvSpPr>
          <p:spPr>
            <a:xfrm>
              <a:off x="1883289" y="4268167"/>
              <a:ext cx="754621" cy="27132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12"/>
                </a:lnSpc>
                <a:spcBef>
                  <a:spcPts val="0"/>
                </a:spcBef>
                <a:spcAft>
                  <a:spcPts val="0"/>
                </a:spcAft>
              </a:pPr>
              <a:r>
                <a:rPr lang="en-US" sz="1400" b="1" i="0" kern="0" spc="0" dirty="0">
                  <a:solidFill>
                    <a:srgbClr val="7A6025"/>
                  </a:solidFill>
                  <a:latin typeface="Manrope"/>
                  <a:ea typeface="Manrope"/>
                  <a:cs typeface="Manrope"/>
                </a:rPr>
                <a:t>Unclear?</a:t>
              </a:r>
              <a:endParaRPr lang="en-US" sz="1400"/>
            </a:p>
          </p:txBody>
        </p:sp>
        <p:grpSp>
          <p:nvGrpSpPr>
            <p:cNvPr id="1173" name="clarify · 153"/>
            <p:cNvGrpSpPr/>
            <p:nvPr/>
          </p:nvGrpSpPr>
          <p:grpSpPr>
            <a:xfrm>
              <a:off x="2494492" y="4778516"/>
              <a:ext cx="632742" cy="566138"/>
              <a:chOff x="2494492" y="4778516"/>
              <a:chExt cx="632742" cy="566138"/>
            </a:xfrm>
          </p:grpSpPr>
          <p:sp>
            <p:nvSpPr>
              <p:cNvPr id="1174" name="path · 144"/>
              <p:cNvSpPr/>
              <p:nvPr/>
            </p:nvSpPr>
            <p:spPr>
              <a:xfrm>
                <a:off x="2690142" y="4778516"/>
                <a:ext cx="437092" cy="370487"/>
              </a:xfrm>
              <a:custGeom>
                <a:avLst/>
                <a:gdLst/>
                <a:ahLst/>
                <a:cxnLst/>
                <a:rect l="0" t="0" r="r" b="b"/>
                <a:pathLst>
                  <a:path w="437092" h="370487" fill="norm" stroke="1" extrusionOk="0">
                    <a:moveTo>
                      <a:pt x="83256" y="0"/>
                    </a:moveTo>
                    <a:lnTo>
                      <a:pt x="349674" y="0"/>
                    </a:lnTo>
                    <a:quadBezTo>
                      <a:pt x="437092" y="0"/>
                      <a:pt x="437092" y="87418"/>
                    </a:quadBezTo>
                    <a:lnTo>
                      <a:pt x="437092" y="212302"/>
                    </a:lnTo>
                    <a:quadBezTo>
                      <a:pt x="437092" y="295557"/>
                      <a:pt x="349674" y="295557"/>
                    </a:quadBezTo>
                    <a:lnTo>
                      <a:pt x="203976" y="295557"/>
                    </a:lnTo>
                    <a:lnTo>
                      <a:pt x="108232" y="370487"/>
                    </a:lnTo>
                    <a:lnTo>
                      <a:pt x="108232" y="295557"/>
                    </a:lnTo>
                    <a:lnTo>
                      <a:pt x="83256" y="295557"/>
                    </a:lnTo>
                    <a:quadBezTo>
                      <a:pt x="0" y="295557"/>
                      <a:pt x="0" y="212302"/>
                    </a:quadBezTo>
                    <a:lnTo>
                      <a:pt x="0" y="87418"/>
                    </a:lnTo>
                    <a:quadBezTo>
                      <a:pt x="0" y="0"/>
                      <a:pt x="83256" y="0"/>
                    </a:quadBezTo>
                  </a:path>
                </a:pathLst>
              </a:custGeom>
              <a:solidFill>
                <a:srgbClr val="F6EAC8"/>
              </a:solidFill>
              <a:ln w="9158" cap="rnd" cmpd="sng" algn="ctr">
                <a:solidFill>
                  <a:srgbClr val="243E42"/>
                </a:solidFill>
                <a:prstDash val="solid"/>
                <a:round/>
                <a:headEnd type="none" w="med" len="med"/>
                <a:tailEnd type="none" w="med" len="med"/>
              </a:ln>
            </p:spPr>
          </p:sp>
          <p:sp>
            <p:nvSpPr>
              <p:cNvPr id="1175" name="path · 145"/>
              <p:cNvSpPr/>
              <p:nvPr/>
            </p:nvSpPr>
            <p:spPr>
              <a:xfrm>
                <a:off x="2860816" y="4803493"/>
                <a:ext cx="116558" cy="154023"/>
              </a:xfrm>
              <a:custGeom>
                <a:avLst/>
                <a:gdLst/>
                <a:ahLst/>
                <a:cxnLst/>
                <a:rect l="0" t="0" r="r" b="b"/>
                <a:pathLst>
                  <a:path w="116558" h="154023" fill="none" stroke="1" extrusionOk="0">
                    <a:moveTo>
                      <a:pt x="0" y="70767"/>
                    </a:moveTo>
                    <a:cubicBezTo>
                      <a:pt x="0" y="0"/>
                      <a:pt x="116558" y="0"/>
                      <a:pt x="116558" y="70767"/>
                    </a:cubicBezTo>
                    <a:cubicBezTo>
                      <a:pt x="116558" y="112395"/>
                      <a:pt x="45791" y="99906"/>
                      <a:pt x="45791" y="154023"/>
                    </a:cubicBezTo>
                  </a:path>
                </a:pathLst>
              </a:custGeom>
              <a:noFill/>
              <a:ln w="16651" cap="rnd" cmpd="sng" algn="ctr">
                <a:solidFill>
                  <a:srgbClr val="7A6025"/>
                </a:solidFill>
                <a:prstDash val="solid"/>
                <a:round/>
                <a:headEnd type="none" w="med" len="med"/>
                <a:tailEnd type="none" w="med" len="med"/>
              </a:ln>
            </p:spPr>
          </p:sp>
          <p:sp>
            <p:nvSpPr>
              <p:cNvPr id="1176" name="circle · 146"/>
              <p:cNvSpPr/>
              <p:nvPr/>
            </p:nvSpPr>
            <p:spPr>
              <a:xfrm>
                <a:off x="2896200" y="4997062"/>
                <a:ext cx="20814" cy="20814"/>
              </a:xfrm>
              <a:prstGeom prst="ellipse">
                <a:avLst/>
              </a:prstGeom>
              <a:solidFill>
                <a:srgbClr val="7A6025"/>
              </a:solidFill>
              <a:ln>
                <a:noFill/>
              </a:ln>
            </p:spPr>
          </p:sp>
          <p:sp>
            <p:nvSpPr>
              <p:cNvPr id="1177" name="path · 147"/>
              <p:cNvSpPr/>
              <p:nvPr/>
            </p:nvSpPr>
            <p:spPr>
              <a:xfrm>
                <a:off x="2494492" y="5074073"/>
                <a:ext cx="299720" cy="270581"/>
              </a:xfrm>
              <a:custGeom>
                <a:avLst/>
                <a:gdLst/>
                <a:ahLst/>
                <a:cxnLst/>
                <a:rect l="0" t="0" r="r" b="b"/>
                <a:pathLst>
                  <a:path w="299720" h="270581" fill="norm" stroke="1" extrusionOk="0">
                    <a:moveTo>
                      <a:pt x="0" y="270581"/>
                    </a:moveTo>
                    <a:lnTo>
                      <a:pt x="0" y="145698"/>
                    </a:lnTo>
                    <a:quadBezTo>
                      <a:pt x="8325" y="0"/>
                      <a:pt x="145697" y="0"/>
                    </a:quadBezTo>
                    <a:quadBezTo>
                      <a:pt x="283069" y="0"/>
                      <a:pt x="299720" y="145698"/>
                    </a:quadBezTo>
                    <a:lnTo>
                      <a:pt x="299720" y="270581"/>
                    </a:lnTo>
                    <a:close/>
                  </a:path>
                </a:pathLst>
              </a:custGeom>
              <a:solidFill>
                <a:srgbClr val="E2EEF3"/>
              </a:solidFill>
              <a:ln w="9158" cap="rnd" cmpd="sng" algn="ctr">
                <a:solidFill>
                  <a:srgbClr val="243E42"/>
                </a:solidFill>
                <a:prstDash val="solid"/>
                <a:round/>
                <a:headEnd type="none" w="med" len="med"/>
                <a:tailEnd type="none" w="med" len="med"/>
              </a:ln>
            </p:spPr>
          </p:sp>
          <p:sp>
            <p:nvSpPr>
              <p:cNvPr id="1178" name="circle · 148"/>
              <p:cNvSpPr/>
              <p:nvPr/>
            </p:nvSpPr>
            <p:spPr>
              <a:xfrm>
                <a:off x="2540282" y="4907562"/>
                <a:ext cx="191488" cy="191488"/>
              </a:xfrm>
              <a:prstGeom prst="ellipse">
                <a:avLst/>
              </a:prstGeom>
              <a:solidFill>
                <a:srgbClr val="F4DFD3"/>
              </a:solidFill>
              <a:ln w="9158" cap="rnd" cmpd="sng" algn="ctr">
                <a:solidFill>
                  <a:srgbClr val="243E42"/>
                </a:solidFill>
                <a:prstDash val="solid"/>
                <a:round/>
                <a:headEnd type="none" w="med" len="med"/>
                <a:tailEnd type="none" w="med" len="med"/>
              </a:ln>
            </p:spPr>
          </p:sp>
          <p:sp>
            <p:nvSpPr>
              <p:cNvPr id="1179" name="path · 149"/>
              <p:cNvSpPr/>
              <p:nvPr/>
            </p:nvSpPr>
            <p:spPr>
              <a:xfrm>
                <a:off x="2523631" y="4878423"/>
                <a:ext cx="212302" cy="112395"/>
              </a:xfrm>
              <a:custGeom>
                <a:avLst/>
                <a:gdLst/>
                <a:ahLst/>
                <a:cxnLst/>
                <a:rect l="0" t="0" r="r" b="b"/>
                <a:pathLst>
                  <a:path w="212302" h="112395" fill="norm" stroke="1" extrusionOk="0">
                    <a:moveTo>
                      <a:pt x="20814" y="112395"/>
                    </a:moveTo>
                    <a:quadBezTo>
                      <a:pt x="0" y="4163"/>
                      <a:pt x="120721" y="0"/>
                    </a:quadBezTo>
                    <a:quadBezTo>
                      <a:pt x="212302" y="8325"/>
                      <a:pt x="212302" y="99906"/>
                    </a:quadBezTo>
                    <a:lnTo>
                      <a:pt x="137372" y="58279"/>
                    </a:lnTo>
                    <a:quadBezTo>
                      <a:pt x="99907" y="108232"/>
                      <a:pt x="20814" y="112395"/>
                    </a:quadBezTo>
                    <a:close/>
                  </a:path>
                </a:pathLst>
              </a:custGeom>
              <a:solidFill>
                <a:srgbClr val="243E42"/>
              </a:solidFill>
              <a:ln w="9158" cap="rnd" cmpd="sng" algn="ctr">
                <a:solidFill>
                  <a:srgbClr val="243E42"/>
                </a:solidFill>
                <a:prstDash val="solid"/>
                <a:round/>
                <a:headEnd type="none" w="med" len="med"/>
                <a:tailEnd type="none" w="med" len="med"/>
              </a:ln>
            </p:spPr>
          </p:sp>
          <p:sp>
            <p:nvSpPr>
              <p:cNvPr id="1180" name="path · 150"/>
              <p:cNvSpPr/>
              <p:nvPr/>
            </p:nvSpPr>
            <p:spPr>
              <a:xfrm>
                <a:off x="2619375" y="5003306"/>
                <a:ext cx="54116" cy="70767"/>
              </a:xfrm>
              <a:custGeom>
                <a:avLst/>
                <a:gdLst/>
                <a:ahLst/>
                <a:cxnLst/>
                <a:rect l="0" t="0" r="r" b="b"/>
                <a:pathLst>
                  <a:path w="54116" h="70767" fill="none" stroke="1" extrusionOk="0">
                    <a:moveTo>
                      <a:pt x="4163" y="0"/>
                    </a:moveTo>
                    <a:lnTo>
                      <a:pt x="4163" y="20814"/>
                    </a:lnTo>
                    <a:moveTo>
                      <a:pt x="54116" y="0"/>
                    </a:moveTo>
                    <a:lnTo>
                      <a:pt x="54116" y="20814"/>
                    </a:lnTo>
                    <a:moveTo>
                      <a:pt x="0" y="54116"/>
                    </a:moveTo>
                    <a:quadBezTo>
                      <a:pt x="29139" y="70767"/>
                      <a:pt x="54116" y="49953"/>
                    </a:quadBezTo>
                  </a:path>
                </a:pathLst>
              </a:custGeom>
              <a:noFill/>
              <a:ln w="9158" cap="rnd" cmpd="sng" algn="ctr">
                <a:solidFill>
                  <a:srgbClr val="243E42"/>
                </a:solidFill>
                <a:prstDash val="solid"/>
                <a:round/>
                <a:headEnd type="none" w="med" len="med"/>
                <a:tailEnd type="none" w="med" len="med"/>
              </a:ln>
            </p:spPr>
          </p:sp>
          <p:sp>
            <p:nvSpPr>
              <p:cNvPr id="1181" name="path · 151"/>
              <p:cNvSpPr/>
              <p:nvPr/>
            </p:nvSpPr>
            <p:spPr>
              <a:xfrm>
                <a:off x="2777561" y="5178143"/>
                <a:ext cx="141534" cy="149860"/>
              </a:xfrm>
              <a:custGeom>
                <a:avLst/>
                <a:gdLst/>
                <a:ahLst/>
                <a:cxnLst/>
                <a:rect l="0" t="0" r="r" b="b"/>
                <a:pathLst>
                  <a:path w="141534" h="149860" fill="norm" stroke="1" extrusionOk="0">
                    <a:moveTo>
                      <a:pt x="0" y="54116"/>
                    </a:moveTo>
                    <a:lnTo>
                      <a:pt x="91581" y="0"/>
                    </a:lnTo>
                    <a:lnTo>
                      <a:pt x="141534" y="95744"/>
                    </a:lnTo>
                    <a:lnTo>
                      <a:pt x="41627" y="149860"/>
                    </a:lnTo>
                    <a:close/>
                  </a:path>
                </a:pathLst>
              </a:custGeom>
              <a:solidFill>
                <a:srgbClr val="FFFFFF"/>
              </a:solidFill>
              <a:ln w="9158" cap="rnd" cmpd="sng" algn="ctr">
                <a:solidFill>
                  <a:srgbClr val="243E42"/>
                </a:solidFill>
                <a:prstDash val="solid"/>
                <a:round/>
                <a:headEnd type="none" w="med" len="med"/>
                <a:tailEnd type="none" w="med" len="med"/>
              </a:ln>
            </p:spPr>
          </p:sp>
          <p:sp>
            <p:nvSpPr>
              <p:cNvPr id="1182" name="path · 152"/>
              <p:cNvSpPr/>
              <p:nvPr/>
            </p:nvSpPr>
            <p:spPr>
              <a:xfrm>
                <a:off x="2719282" y="5211445"/>
                <a:ext cx="54116" cy="95744"/>
              </a:xfrm>
              <a:custGeom>
                <a:avLst/>
                <a:gdLst/>
                <a:ahLst/>
                <a:cxnLst/>
                <a:rect l="0" t="0" r="r" b="b"/>
                <a:pathLst>
                  <a:path w="54116" h="95744" fill="none" stroke="1" extrusionOk="0">
                    <a:moveTo>
                      <a:pt x="54116" y="95744"/>
                    </a:moveTo>
                    <a:lnTo>
                      <a:pt x="0" y="0"/>
                    </a:lnTo>
                  </a:path>
                </a:pathLst>
              </a:custGeom>
              <a:noFill/>
              <a:ln w="45791" cap="rnd" cmpd="sng" algn="ctr">
                <a:solidFill>
                  <a:srgbClr val="E2EEF3"/>
                </a:solidFill>
                <a:prstDash val="solid"/>
                <a:round/>
                <a:headEnd type="none" w="med" len="med"/>
                <a:tailEnd type="none" w="med" len="med"/>
              </a:ln>
            </p:spPr>
          </p:sp>
        </p:grpSp>
        <p:sp>
          <p:nvSpPr>
            <p:cNvPr id="1183" name="text · 154"/>
            <p:cNvSpPr txBox="1"/>
            <p:nvPr/>
          </p:nvSpPr>
          <p:spPr>
            <a:xfrm>
              <a:off x="2502786" y="5448424"/>
              <a:ext cx="607826"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7A6025"/>
                  </a:solidFill>
                  <a:latin typeface="Manrope"/>
                  <a:ea typeface="Manrope"/>
                  <a:cs typeface="Manrope"/>
                </a:rPr>
                <a:t>Clarify</a:t>
              </a:r>
              <a:endParaRPr lang="en-US" sz="1500"/>
            </a:p>
          </p:txBody>
        </p:sp>
        <p:grpSp>
          <p:nvGrpSpPr>
            <p:cNvPr id="1184" name="request-route · 157"/>
            <p:cNvGrpSpPr/>
            <p:nvPr/>
          </p:nvGrpSpPr>
          <p:grpSpPr>
            <a:xfrm>
              <a:off x="3232150" y="5073650"/>
              <a:ext cx="577850" cy="260350"/>
              <a:chOff x="3232150" y="5073650"/>
              <a:chExt cx="577850" cy="260350"/>
            </a:xfrm>
          </p:grpSpPr>
          <p:grpSp>
            <p:nvGrpSpPr>
              <p:cNvPr id="1185" name="path · 155 + arrowhead"/>
              <p:cNvGrpSpPr/>
              <p:nvPr/>
            </p:nvGrpSpPr>
            <p:grpSpPr>
              <a:xfrm>
                <a:off x="3232150" y="5073650"/>
                <a:ext cx="577850" cy="260350"/>
                <a:chOff x="3232150" y="5073650"/>
                <a:chExt cx="577850" cy="260350"/>
              </a:xfrm>
            </p:grpSpPr>
            <p:sp>
              <p:nvSpPr>
                <p:cNvPr id="1186" name="path · 155"/>
                <p:cNvSpPr/>
                <p:nvPr/>
              </p:nvSpPr>
              <p:spPr>
                <a:xfrm>
                  <a:off x="3232150" y="5073650"/>
                  <a:ext cx="577850" cy="234950"/>
                </a:xfrm>
                <a:custGeom>
                  <a:avLst/>
                  <a:gdLst/>
                  <a:ahLst/>
                  <a:cxnLst/>
                  <a:rect l="0" t="0" r="r" b="b"/>
                  <a:pathLst>
                    <a:path w="577850" h="234950" fill="none" stroke="1" extrusionOk="0">
                      <a:moveTo>
                        <a:pt x="0" y="0"/>
                      </a:moveTo>
                      <a:lnTo>
                        <a:pt x="336550" y="0"/>
                      </a:lnTo>
                      <a:lnTo>
                        <a:pt x="336550" y="234950"/>
                      </a:lnTo>
                      <a:lnTo>
                        <a:pt x="577850" y="234950"/>
                      </a:lnTo>
                    </a:path>
                  </a:pathLst>
                </a:custGeom>
                <a:noFill/>
                <a:ln w="19050" cap="rnd" cmpd="sng" algn="ctr">
                  <a:solidFill>
                    <a:srgbClr val="7A6025"/>
                  </a:solidFill>
                  <a:custDash>
                    <a:ds d="266667" sp="300000"/>
                  </a:custDash>
                  <a:round/>
                  <a:headEnd type="none" w="med" len="med"/>
                  <a:tailEnd type="none" w="med" len="med"/>
                </a:ln>
              </p:spPr>
            </p:sp>
            <p:grpSp>
              <p:nvGrpSpPr>
                <p:cNvPr id="1187" name="arrow-ochre end"/>
                <p:cNvGrpSpPr/>
                <p:nvPr/>
              </p:nvGrpSpPr>
              <p:grpSpPr>
                <a:xfrm>
                  <a:off x="3762375" y="5283200"/>
                  <a:ext cx="47625" cy="50800"/>
                  <a:chOff x="3762375" y="5283200"/>
                  <a:chExt cx="47625" cy="50800"/>
                </a:xfrm>
              </p:grpSpPr>
              <p:sp>
                <p:nvSpPr>
                  <p:cNvPr id="1188" name="path · 156"/>
                  <p:cNvSpPr/>
                  <p:nvPr/>
                </p:nvSpPr>
                <p:spPr>
                  <a:xfrm>
                    <a:off x="3762375" y="52832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189" name="continuation-C · 160"/>
            <p:cNvGrpSpPr/>
            <p:nvPr/>
          </p:nvGrpSpPr>
          <p:grpSpPr>
            <a:xfrm>
              <a:off x="3841750" y="5168900"/>
              <a:ext cx="279400" cy="279400"/>
              <a:chOff x="3841750" y="5168900"/>
              <a:chExt cx="279400" cy="279400"/>
            </a:xfrm>
          </p:grpSpPr>
          <p:sp>
            <p:nvSpPr>
              <p:cNvPr id="1190" name="circle · 158"/>
              <p:cNvSpPr/>
              <p:nvPr/>
            </p:nvSpPr>
            <p:spPr>
              <a:xfrm>
                <a:off x="3841750" y="5168900"/>
                <a:ext cx="279400" cy="279400"/>
              </a:xfrm>
              <a:prstGeom prst="ellipse">
                <a:avLst/>
              </a:prstGeom>
              <a:solidFill>
                <a:srgbClr val="F6EAC8"/>
              </a:solidFill>
              <a:ln w="12700" cap="flat" cmpd="sng" algn="ctr">
                <a:solidFill>
                  <a:srgbClr val="7A6025"/>
                </a:solidFill>
                <a:prstDash val="solid"/>
                <a:miter lim="400000"/>
                <a:headEnd type="none" w="med" len="med"/>
                <a:tailEnd type="none" w="med" len="med"/>
              </a:ln>
            </p:spPr>
          </p:sp>
          <p:sp>
            <p:nvSpPr>
              <p:cNvPr id="1191" name="text · 159"/>
              <p:cNvSpPr txBox="1"/>
              <p:nvPr/>
            </p:nvSpPr>
            <p:spPr>
              <a:xfrm>
                <a:off x="3911866" y="5169446"/>
                <a:ext cx="139167"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7A6025"/>
                    </a:solidFill>
                    <a:latin typeface="Manrope"/>
                    <a:ea typeface="Manrope"/>
                    <a:cs typeface="Manrope"/>
                  </a:rPr>
                  <a:t>C</a:t>
                </a:r>
                <a:endParaRPr lang="en-US" sz="1450"/>
              </a:p>
            </p:txBody>
          </p:sp>
        </p:grpSp>
        <p:sp>
          <p:nvSpPr>
            <p:cNvPr id="1192" name="text · 161"/>
            <p:cNvSpPr txBox="1"/>
            <p:nvPr/>
          </p:nvSpPr>
          <p:spPr>
            <a:xfrm>
              <a:off x="4288671" y="5475920"/>
              <a:ext cx="973057" cy="24225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8"/>
                </a:lnSpc>
                <a:spcBef>
                  <a:spcPts val="0"/>
                </a:spcBef>
                <a:spcAft>
                  <a:spcPts val="0"/>
                </a:spcAft>
              </a:pPr>
              <a:r>
                <a:rPr lang="en-US" sz="1250" b="0" i="0" kern="0" spc="0" dirty="0">
                  <a:solidFill>
                    <a:srgbClr val="7A6025"/>
                  </a:solidFill>
                  <a:latin typeface="Manrope"/>
                  <a:ea typeface="Manrope"/>
                  <a:cs typeface="Manrope"/>
                </a:rPr>
                <a:t>If unresolved</a:t>
              </a:r>
              <a:endParaRPr lang="en-US" sz="1250"/>
            </a:p>
          </p:txBody>
        </p:sp>
        <p:sp>
          <p:nvSpPr>
            <p:cNvPr id="1193" name="text · 162"/>
            <p:cNvSpPr txBox="1"/>
            <p:nvPr/>
          </p:nvSpPr>
          <p:spPr>
            <a:xfrm>
              <a:off x="4227512" y="5188917"/>
              <a:ext cx="1333599" cy="271323"/>
            </a:xfrm>
            <a:prstGeom prst="rect">
              <a:avLst/>
            </a:prstGeom>
            <a:noFill/>
            <a:ln>
              <a:noFill/>
            </a:ln>
          </p:spPr>
          <p:txBody>
            <a:bodyPr wrap="none" lIns="0" tIns="0" rIns="0" bIns="0" anchor="t" anchorCtr="0" vertOverflow="overflow" horzOverflow="overflow">
              <a:noAutofit/>
            </a:bodyPr>
            <a:lstStyle/>
            <a:p>
              <a:pPr algn="l" marL="0" marR="0" indent="0" fontAlgn="base">
                <a:lnSpc>
                  <a:spcPts val="1912"/>
                </a:lnSpc>
                <a:spcBef>
                  <a:spcPts val="0"/>
                </a:spcBef>
                <a:spcAft>
                  <a:spcPts val="0"/>
                </a:spcAft>
              </a:pPr>
              <a:r>
                <a:rPr lang="en-US" sz="1400" b="1" i="0" kern="0" spc="0" dirty="0">
                  <a:solidFill>
                    <a:srgbClr val="7A6025"/>
                  </a:solidFill>
                  <a:latin typeface="Manrope"/>
                  <a:ea typeface="Manrope"/>
                  <a:cs typeface="Manrope"/>
                </a:rPr>
                <a:t>Reasoning gate</a:t>
              </a:r>
              <a:endParaRPr lang="en-US" sz="1400"/>
            </a:p>
          </p:txBody>
        </p:sp>
        <p:grpSp>
          <p:nvGrpSpPr>
            <p:cNvPr id="1194" name="request-route · 165"/>
            <p:cNvGrpSpPr/>
            <p:nvPr/>
          </p:nvGrpSpPr>
          <p:grpSpPr>
            <a:xfrm>
              <a:off x="825500" y="3505200"/>
              <a:ext cx="1733550" cy="1936750"/>
              <a:chOff x="825500" y="3505200"/>
              <a:chExt cx="1733550" cy="1936750"/>
            </a:xfrm>
          </p:grpSpPr>
          <p:grpSp>
            <p:nvGrpSpPr>
              <p:cNvPr id="1195" name="path · 163 + arrowhead"/>
              <p:cNvGrpSpPr/>
              <p:nvPr/>
            </p:nvGrpSpPr>
            <p:grpSpPr>
              <a:xfrm>
                <a:off x="825500" y="3505200"/>
                <a:ext cx="1733550" cy="1936750"/>
                <a:chOff x="825500" y="3505200"/>
                <a:chExt cx="1733550" cy="1936750"/>
              </a:xfrm>
            </p:grpSpPr>
            <p:sp>
              <p:nvSpPr>
                <p:cNvPr id="1196" name="path · 163"/>
                <p:cNvSpPr/>
                <p:nvPr/>
              </p:nvSpPr>
              <p:spPr>
                <a:xfrm>
                  <a:off x="825500" y="3530600"/>
                  <a:ext cx="1733550" cy="1911350"/>
                </a:xfrm>
                <a:custGeom>
                  <a:avLst/>
                  <a:gdLst/>
                  <a:ahLst/>
                  <a:cxnLst/>
                  <a:rect l="0" t="0" r="r" b="b"/>
                  <a:pathLst>
                    <a:path w="1733550" h="1911350" fill="none" stroke="1" extrusionOk="0">
                      <a:moveTo>
                        <a:pt x="1733550" y="1828800"/>
                      </a:moveTo>
                      <a:lnTo>
                        <a:pt x="1733550" y="1911350"/>
                      </a:lnTo>
                      <a:lnTo>
                        <a:pt x="0" y="1911350"/>
                      </a:lnTo>
                      <a:lnTo>
                        <a:pt x="0" y="0"/>
                      </a:lnTo>
                      <a:lnTo>
                        <a:pt x="336550" y="0"/>
                      </a:lnTo>
                    </a:path>
                  </a:pathLst>
                </a:custGeom>
                <a:noFill/>
                <a:ln w="19050" cap="rnd" cmpd="sng" algn="ctr">
                  <a:solidFill>
                    <a:srgbClr val="2E6653"/>
                  </a:solidFill>
                  <a:prstDash val="solid"/>
                  <a:round/>
                  <a:headEnd type="none" w="med" len="med"/>
                  <a:tailEnd type="none" w="med" len="med"/>
                </a:ln>
              </p:spPr>
            </p:sp>
            <p:grpSp>
              <p:nvGrpSpPr>
                <p:cNvPr id="1197" name="arrow-green end"/>
                <p:cNvGrpSpPr/>
                <p:nvPr/>
              </p:nvGrpSpPr>
              <p:grpSpPr>
                <a:xfrm>
                  <a:off x="1114425" y="3505200"/>
                  <a:ext cx="47625" cy="50800"/>
                  <a:chOff x="1114425" y="3505200"/>
                  <a:chExt cx="47625" cy="50800"/>
                </a:xfrm>
              </p:grpSpPr>
              <p:sp>
                <p:nvSpPr>
                  <p:cNvPr id="1198" name="path · 164"/>
                  <p:cNvSpPr/>
                  <p:nvPr/>
                </p:nvSpPr>
                <p:spPr>
                  <a:xfrm>
                    <a:off x="1114425" y="35052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199" name="text · 166"/>
            <p:cNvSpPr txBox="1"/>
            <p:nvPr/>
          </p:nvSpPr>
          <p:spPr>
            <a:xfrm>
              <a:off x="1148791" y="5475920"/>
              <a:ext cx="725016" cy="24225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8"/>
                </a:lnSpc>
                <a:spcBef>
                  <a:spcPts val="0"/>
                </a:spcBef>
                <a:spcAft>
                  <a:spcPts val="0"/>
                </a:spcAft>
              </a:pPr>
              <a:r>
                <a:rPr lang="en-US" sz="1250" b="1" i="0" kern="0" spc="0" dirty="0">
                  <a:solidFill>
                    <a:srgbClr val="2E6653"/>
                  </a:solidFill>
                  <a:latin typeface="Manrope"/>
                  <a:ea typeface="Manrope"/>
                  <a:cs typeface="Manrope"/>
                </a:rPr>
                <a:t>Reassess</a:t>
              </a:r>
              <a:endParaRPr lang="en-US" sz="1250"/>
            </a:p>
          </p:txBody>
        </p:sp>
        <p:sp>
          <p:nvSpPr>
            <p:cNvPr id="1200" name="text · 167"/>
            <p:cNvSpPr txBox="1"/>
            <p:nvPr/>
          </p:nvSpPr>
          <p:spPr>
            <a:xfrm>
              <a:off x="6645560" y="5391696"/>
              <a:ext cx="3028379"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2E6653"/>
                  </a:solidFill>
                  <a:latin typeface="Manrope"/>
                  <a:ea typeface="Manrope"/>
                  <a:cs typeface="Manrope"/>
                </a:rPr>
                <a:t>Keep every task and its conditions.</a:t>
              </a:r>
              <a:endParaRPr lang="en-US" sz="1450"/>
            </a:p>
          </p:txBody>
        </p:sp>
      </p:grpSp>
      <p:grpSp>
        <p:nvGrpSpPr>
          <p:cNvPr id="1206" name="07 · source-line: Agent Graph / guided determinism · AgentScript control plane · Intent routi"/>
          <p:cNvGrpSpPr/>
          <p:nvPr/>
        </p:nvGrpSpPr>
        <p:grpSpPr>
          <a:xfrm>
            <a:off x="558800" y="6037898"/>
            <a:ext cx="11087100" cy="284456"/>
            <a:chOff x="558800" y="6037898"/>
            <a:chExt cx="11087100" cy="284456"/>
          </a:xfrm>
        </p:grpSpPr>
        <p:sp>
          <p:nvSpPr>
            <p:cNvPr id="1201" name="07 · source-line · top border [p07-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202" name="07 · span: Agent Graph / guided determinism · AgentScript control plane · Intent routing  [p07-text-0009]" descr="Native editable Unicode text; authored line breaks retained."/>
            <p:cNvSpPr txBox="1"/>
            <p:nvPr/>
          </p:nvSpPr>
          <p:spPr>
            <a:xfrm>
              <a:off x="558800" y="6153126"/>
              <a:ext cx="599123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Bounded request routes · B</a:t>
              </a:r>
              <a:endParaRPr lang="en-US" sz="950" b="0" i="0" kern="0" spc="0" dirty="0" u="sng">
                <a:solidFill>
                  <a:srgbClr val="315A7A"/>
                </a:solidFill>
                <a:latin typeface="Salesforce Sans"/>
                <a:ea typeface="Salesforce Sans"/>
                <a:cs typeface="Salesforce Sans"/>
              </a:endParaRPr>
            </a:p>
          </p:txBody>
        </p:sp>
        <p:sp>
          <p:nvSpPr>
            <p:cNvPr id="1203" name="07 · span: Illustrated supported combinations · independent handler policies [p07-text-0010]" descr="Native editable Unicode text; authored line breaks retained."/>
            <p:cNvSpPr txBox="1"/>
            <p:nvPr/>
          </p:nvSpPr>
          <p:spPr>
            <a:xfrm>
              <a:off x="7920738" y="6153126"/>
              <a:ext cx="37251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Illustrated supported combinations · independent handler policies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Reserve frontier reasoning for unresolved meaning">
    <p:bg>
      <p:bgPr>
        <a:solidFill>
          <a:srgbClr val="FFFFFF"/>
        </a:solidFill>
      </p:bgPr>
    </p:bg>
    <p:spTree>
      <p:nvGrpSpPr>
        <p:cNvPr id="1" name=""/>
        <p:cNvGrpSpPr/>
        <p:nvPr/>
      </p:nvGrpSpPr>
      <p:grpSpPr>
        <a:xfrm>
          <a:off x="0" y="0"/>
          <a:ext cx="0" cy="0"/>
          <a:chOff x="0" y="0"/>
          <a:chExt cx="0" cy="0"/>
        </a:xfrm>
      </p:grpSpPr>
      <p:sp>
        <p:nvSpPr>
          <p:cNvPr id="1000" name="08 · slide dark · surface [p08-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81" name="08 · chrome-min: DISAGGREGATED INTELLIGENCE"/>
          <p:cNvGrpSpPr/>
          <p:nvPr/>
        </p:nvGrpSpPr>
        <p:grpSpPr>
          <a:xfrm>
            <a:off x="558800" y="356053"/>
            <a:ext cx="11087100" cy="187325"/>
            <a:chOff x="558800" y="356053"/>
            <a:chExt cx="11087100" cy="187325"/>
          </a:xfrm>
        </p:grpSpPr>
        <p:sp>
          <p:nvSpPr>
            <p:cNvPr id="1001" name="08 · l: DISAGGREGATED INTELLIGENCE [p08-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8 · r: 08 / 36 [p08-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08 / 36</a:t>
              </a:r>
              <a:endParaRPr lang="en-US" sz="950" b="1" i="0" kern="0" spc="65" dirty="0">
                <a:solidFill>
                  <a:srgbClr val="022AC0"/>
                </a:solidFill>
                <a:latin typeface="Salesforce Sans"/>
                <a:ea typeface="Salesforce Sans"/>
                <a:cs typeface="Salesforce Sans"/>
              </a:endParaRPr>
            </a:p>
          </p:txBody>
        </p:sp>
      </p:grpSp>
      <p:grpSp>
        <p:nvGrpSpPr>
          <p:cNvPr id="1182" name="08 · deck-head: STEP 01 / THE INTERPRETATION EXCEPTION · C"/>
          <p:cNvGrpSpPr/>
          <p:nvPr/>
        </p:nvGrpSpPr>
        <p:grpSpPr>
          <a:xfrm>
            <a:off x="558800" y="775901"/>
            <a:ext cx="11087100" cy="871263"/>
            <a:chOff x="558800" y="775901"/>
            <a:chExt cx="11087100" cy="871263"/>
          </a:xfrm>
        </p:grpSpPr>
        <p:sp>
          <p:nvSpPr>
            <p:cNvPr id="1003" name="08 · returns-fallback-eyebrow: STEP 01 / THE INTERPRETATION EXCEPTION · C [p08-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STEP 01 / THE INTERPRETATION EXCEPTION · C</a:t>
              </a:r>
              <a:endParaRPr lang="en-US" sz="1050" b="1" i="0" kern="0" spc="68" dirty="0">
                <a:solidFill>
                  <a:srgbClr val="022AC0"/>
                </a:solidFill>
                <a:latin typeface="Salesforce Sans"/>
                <a:ea typeface="Salesforce Sans"/>
                <a:cs typeface="Salesforce Sans"/>
              </a:endParaRPr>
            </a:p>
          </p:txBody>
        </p:sp>
        <p:sp>
          <p:nvSpPr>
            <p:cNvPr id="1004" name="08 · returns-fallback-title: Reserve frontier reasoning for unresolved meaning [p08-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Reserve frontier reasoning for unresolved meaning</a:t>
              </a:r>
              <a:endParaRPr lang="en-US" sz="3600" b="1" i="0" kern="0" spc="-95" dirty="0">
                <a:solidFill>
                  <a:srgbClr val="022AC0"/>
                </a:solidFill>
                <a:latin typeface="Manrope"/>
                <a:ea typeface="Manrope"/>
                <a:cs typeface="Manrope"/>
              </a:endParaRPr>
            </a:p>
          </p:txBody>
        </p:sp>
      </p:grpSp>
      <p:grpSp>
        <p:nvGrpSpPr>
          <p:cNvPr id="1005" name="08 · img · drawing [p08-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continuation-C · 4"/>
            <p:cNvGrpSpPr/>
            <p:nvPr/>
          </p:nvGrpSpPr>
          <p:grpSpPr>
            <a:xfrm>
              <a:off x="609600" y="1911350"/>
              <a:ext cx="279400" cy="279400"/>
              <a:chOff x="609600" y="1911350"/>
              <a:chExt cx="279400" cy="279400"/>
            </a:xfrm>
          </p:grpSpPr>
          <p:sp>
            <p:nvSpPr>
              <p:cNvPr id="1008" name="circle · 2"/>
              <p:cNvSpPr/>
              <p:nvPr/>
            </p:nvSpPr>
            <p:spPr>
              <a:xfrm>
                <a:off x="609600" y="1911350"/>
                <a:ext cx="279400" cy="279400"/>
              </a:xfrm>
              <a:prstGeom prst="ellipse">
                <a:avLst/>
              </a:prstGeom>
              <a:solidFill>
                <a:srgbClr val="F6EAC8"/>
              </a:solidFill>
              <a:ln w="12700" cap="flat" cmpd="sng" algn="ctr">
                <a:solidFill>
                  <a:srgbClr val="7A6025"/>
                </a:solidFill>
                <a:prstDash val="solid"/>
                <a:miter lim="400000"/>
                <a:headEnd type="none" w="med" len="med"/>
                <a:tailEnd type="none" w="med" len="med"/>
              </a:ln>
            </p:spPr>
          </p:sp>
          <p:sp>
            <p:nvSpPr>
              <p:cNvPr id="1009" name="text · 3"/>
              <p:cNvSpPr txBox="1"/>
              <p:nvPr/>
            </p:nvSpPr>
            <p:spPr>
              <a:xfrm>
                <a:off x="679716" y="1911896"/>
                <a:ext cx="139167"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7A6025"/>
                    </a:solidFill>
                    <a:latin typeface="Manrope"/>
                    <a:ea typeface="Manrope"/>
                    <a:cs typeface="Manrope"/>
                  </a:rPr>
                  <a:t>C</a:t>
                </a:r>
                <a:endParaRPr lang="en-US" sz="1450"/>
              </a:p>
            </p:txBody>
          </p:sp>
        </p:grpSp>
        <p:sp>
          <p:nvSpPr>
            <p:cNvPr id="1010" name="text · 5"/>
            <p:cNvSpPr txBox="1"/>
            <p:nvPr/>
          </p:nvSpPr>
          <p:spPr>
            <a:xfrm>
              <a:off x="969962" y="1938133"/>
              <a:ext cx="2176233" cy="261632"/>
            </a:xfrm>
            <a:prstGeom prst="rect">
              <a:avLst/>
            </a:prstGeom>
            <a:noFill/>
            <a:ln>
              <a:noFill/>
            </a:ln>
          </p:spPr>
          <p:txBody>
            <a:bodyPr wrap="none" lIns="0" tIns="0" rIns="0" bIns="0" anchor="t" anchorCtr="0" vertOverflow="overflow" horzOverflow="overflow">
              <a:noAutofit/>
            </a:bodyPr>
            <a:lstStyle/>
            <a:p>
              <a:pPr algn="l" marL="0" marR="0" indent="0" fontAlgn="base">
                <a:lnSpc>
                  <a:spcPts val="1844"/>
                </a:lnSpc>
                <a:spcBef>
                  <a:spcPts val="0"/>
                </a:spcBef>
                <a:spcAft>
                  <a:spcPts val="0"/>
                </a:spcAft>
              </a:pPr>
              <a:r>
                <a:rPr lang="en-US" sz="1350" b="1" i="0" kern="0" spc="0" dirty="0">
                  <a:solidFill>
                    <a:srgbClr val="355F72"/>
                  </a:solidFill>
                  <a:latin typeface="Manrope"/>
                  <a:ea typeface="Manrope"/>
                  <a:cs typeface="Manrope"/>
                </a:rPr>
                <a:t>Verified access + purchase</a:t>
              </a:r>
              <a:endParaRPr lang="en-US" sz="1350"/>
            </a:p>
          </p:txBody>
        </p:sp>
        <p:grpSp>
          <p:nvGrpSpPr>
            <p:cNvPr id="1011" name="request-route · 8"/>
            <p:cNvGrpSpPr/>
            <p:nvPr/>
          </p:nvGrpSpPr>
          <p:grpSpPr>
            <a:xfrm>
              <a:off x="1397000" y="4375150"/>
              <a:ext cx="5346700" cy="654050"/>
              <a:chOff x="1397000" y="4375150"/>
              <a:chExt cx="5346700" cy="654050"/>
            </a:xfrm>
          </p:grpSpPr>
          <p:grpSp>
            <p:nvGrpSpPr>
              <p:cNvPr id="1012" name="path · 6 + arrowhead"/>
              <p:cNvGrpSpPr/>
              <p:nvPr/>
            </p:nvGrpSpPr>
            <p:grpSpPr>
              <a:xfrm>
                <a:off x="1397000" y="4375150"/>
                <a:ext cx="5346700" cy="654050"/>
                <a:chOff x="1397000" y="4375150"/>
                <a:chExt cx="5346700" cy="654050"/>
              </a:xfrm>
            </p:grpSpPr>
            <p:sp>
              <p:nvSpPr>
                <p:cNvPr id="1013" name="path · 6"/>
                <p:cNvSpPr/>
                <p:nvPr/>
              </p:nvSpPr>
              <p:spPr>
                <a:xfrm>
                  <a:off x="1397000" y="4375150"/>
                  <a:ext cx="5346700" cy="628650"/>
                </a:xfrm>
                <a:custGeom>
                  <a:avLst/>
                  <a:gdLst/>
                  <a:ahLst/>
                  <a:cxnLst/>
                  <a:rect l="0" t="0" r="r" b="b"/>
                  <a:pathLst>
                    <a:path w="5346700" h="628650" fill="none" stroke="1" extrusionOk="0">
                      <a:moveTo>
                        <a:pt x="0" y="0"/>
                      </a:moveTo>
                      <a:lnTo>
                        <a:pt x="0" y="628650"/>
                      </a:lnTo>
                      <a:lnTo>
                        <a:pt x="5346700" y="628650"/>
                      </a:lnTo>
                    </a:path>
                  </a:pathLst>
                </a:custGeom>
                <a:noFill/>
                <a:ln w="28575" cap="rnd" cmpd="sng" algn="ctr">
                  <a:solidFill>
                    <a:srgbClr val="2E6653"/>
                  </a:solidFill>
                  <a:prstDash val="solid"/>
                  <a:round/>
                  <a:headEnd type="none" w="med" len="med"/>
                  <a:tailEnd type="none" w="med" len="med"/>
                </a:ln>
              </p:spPr>
            </p:sp>
            <p:grpSp>
              <p:nvGrpSpPr>
                <p:cNvPr id="1014" name="arrow-green end"/>
                <p:cNvGrpSpPr/>
                <p:nvPr/>
              </p:nvGrpSpPr>
              <p:grpSpPr>
                <a:xfrm>
                  <a:off x="6696075" y="4978400"/>
                  <a:ext cx="47625" cy="50800"/>
                  <a:chOff x="6696075" y="4978400"/>
                  <a:chExt cx="47625" cy="50800"/>
                </a:xfrm>
              </p:grpSpPr>
              <p:sp>
                <p:nvSpPr>
                  <p:cNvPr id="1015" name="path · 7"/>
                  <p:cNvSpPr/>
                  <p:nvPr/>
                </p:nvSpPr>
                <p:spPr>
                  <a:xfrm>
                    <a:off x="6696075" y="49784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sp>
          <p:nvSpPr>
            <p:cNvPr id="1016" name="text · 9"/>
            <p:cNvSpPr txBox="1"/>
            <p:nvPr/>
          </p:nvSpPr>
          <p:spPr>
            <a:xfrm>
              <a:off x="2903311" y="4699546"/>
              <a:ext cx="1279978"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2E6653"/>
                  </a:solidFill>
                  <a:latin typeface="Manrope"/>
                  <a:ea typeface="Manrope"/>
                  <a:cs typeface="Manrope"/>
                </a:rPr>
                <a:t>Clear meaning</a:t>
              </a:r>
              <a:endParaRPr lang="en-US" sz="1450"/>
            </a:p>
          </p:txBody>
        </p:sp>
        <p:grpSp>
          <p:nvGrpSpPr>
            <p:cNvPr id="1017" name="request-route · 12"/>
            <p:cNvGrpSpPr/>
            <p:nvPr/>
          </p:nvGrpSpPr>
          <p:grpSpPr>
            <a:xfrm>
              <a:off x="1943100" y="3054350"/>
              <a:ext cx="577850" cy="806450"/>
              <a:chOff x="1943100" y="3054350"/>
              <a:chExt cx="577850" cy="806450"/>
            </a:xfrm>
          </p:grpSpPr>
          <p:grpSp>
            <p:nvGrpSpPr>
              <p:cNvPr id="1018" name="path · 10 + arrowhead"/>
              <p:cNvGrpSpPr/>
              <p:nvPr/>
            </p:nvGrpSpPr>
            <p:grpSpPr>
              <a:xfrm>
                <a:off x="1943100" y="3054350"/>
                <a:ext cx="577850" cy="806450"/>
                <a:chOff x="1943100" y="3054350"/>
                <a:chExt cx="577850" cy="806450"/>
              </a:xfrm>
            </p:grpSpPr>
            <p:sp>
              <p:nvSpPr>
                <p:cNvPr id="1019" name="path · 10"/>
                <p:cNvSpPr/>
                <p:nvPr/>
              </p:nvSpPr>
              <p:spPr>
                <a:xfrm>
                  <a:off x="1943100" y="3079750"/>
                  <a:ext cx="577850" cy="781050"/>
                </a:xfrm>
                <a:custGeom>
                  <a:avLst/>
                  <a:gdLst/>
                  <a:ahLst/>
                  <a:cxnLst/>
                  <a:rect l="0" t="0" r="r" b="b"/>
                  <a:pathLst>
                    <a:path w="577850" h="781050" fill="none" stroke="1" extrusionOk="0">
                      <a:moveTo>
                        <a:pt x="0" y="781050"/>
                      </a:moveTo>
                      <a:lnTo>
                        <a:pt x="330200" y="781050"/>
                      </a:lnTo>
                      <a:lnTo>
                        <a:pt x="330200" y="0"/>
                      </a:lnTo>
                      <a:lnTo>
                        <a:pt x="577850" y="0"/>
                      </a:lnTo>
                    </a:path>
                  </a:pathLst>
                </a:custGeom>
                <a:noFill/>
                <a:ln w="22225" cap="rnd" cmpd="sng" algn="ctr">
                  <a:solidFill>
                    <a:srgbClr val="7A6025"/>
                  </a:solidFill>
                  <a:custDash>
                    <a:ds d="228571" sp="257143"/>
                  </a:custDash>
                  <a:round/>
                  <a:headEnd type="none" w="med" len="med"/>
                  <a:tailEnd type="none" w="med" len="med"/>
                </a:ln>
              </p:spPr>
            </p:sp>
            <p:grpSp>
              <p:nvGrpSpPr>
                <p:cNvPr id="1020" name="arrow-ochre end"/>
                <p:cNvGrpSpPr/>
                <p:nvPr/>
              </p:nvGrpSpPr>
              <p:grpSpPr>
                <a:xfrm>
                  <a:off x="2473325" y="3054350"/>
                  <a:ext cx="47625" cy="50800"/>
                  <a:chOff x="2473325" y="3054350"/>
                  <a:chExt cx="47625" cy="50800"/>
                </a:xfrm>
              </p:grpSpPr>
              <p:sp>
                <p:nvSpPr>
                  <p:cNvPr id="1021" name="path · 11"/>
                  <p:cNvSpPr/>
                  <p:nvPr/>
                </p:nvSpPr>
                <p:spPr>
                  <a:xfrm>
                    <a:off x="2473325" y="30543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022" name="text · 13"/>
            <p:cNvSpPr txBox="1"/>
            <p:nvPr/>
          </p:nvSpPr>
          <p:spPr>
            <a:xfrm>
              <a:off x="1757002" y="2693783"/>
              <a:ext cx="727794" cy="2616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844"/>
                </a:lnSpc>
                <a:spcBef>
                  <a:spcPts val="0"/>
                </a:spcBef>
                <a:spcAft>
                  <a:spcPts val="0"/>
                </a:spcAft>
              </a:pPr>
              <a:r>
                <a:rPr lang="en-US" sz="1350" b="1" i="0" kern="0" spc="0" dirty="0">
                  <a:solidFill>
                    <a:srgbClr val="7A6025"/>
                  </a:solidFill>
                  <a:latin typeface="Manrope"/>
                  <a:ea typeface="Manrope"/>
                  <a:cs typeface="Manrope"/>
                </a:rPr>
                <a:t>Unclear?</a:t>
              </a:r>
              <a:endParaRPr lang="en-US" sz="1350"/>
            </a:p>
          </p:txBody>
        </p:sp>
        <p:grpSp>
          <p:nvGrpSpPr>
            <p:cNvPr id="1023" name="request-route · 16"/>
            <p:cNvGrpSpPr/>
            <p:nvPr/>
          </p:nvGrpSpPr>
          <p:grpSpPr>
            <a:xfrm>
              <a:off x="3702050" y="3048000"/>
              <a:ext cx="508000" cy="50800"/>
              <a:chOff x="3702050" y="3048000"/>
              <a:chExt cx="508000" cy="50800"/>
            </a:xfrm>
          </p:grpSpPr>
          <p:grpSp>
            <p:nvGrpSpPr>
              <p:cNvPr id="1024" name="path · 14 + arrowhead"/>
              <p:cNvGrpSpPr/>
              <p:nvPr/>
            </p:nvGrpSpPr>
            <p:grpSpPr>
              <a:xfrm>
                <a:off x="3702050" y="3048000"/>
                <a:ext cx="508000" cy="50800"/>
                <a:chOff x="3702050" y="3048000"/>
                <a:chExt cx="508000" cy="50800"/>
              </a:xfrm>
            </p:grpSpPr>
            <p:sp>
              <p:nvSpPr>
                <p:cNvPr id="1025" name="path · 14"/>
                <p:cNvSpPr/>
                <p:nvPr/>
              </p:nvSpPr>
              <p:spPr>
                <a:xfrm>
                  <a:off x="3702050" y="3073400"/>
                  <a:ext cx="508000" cy="1"/>
                </a:xfrm>
                <a:custGeom>
                  <a:avLst/>
                  <a:gdLst/>
                  <a:ahLst/>
                  <a:cxnLst/>
                  <a:rect l="0" t="0" r="r" b="b"/>
                  <a:pathLst>
                    <a:path w="508000" h="1" fill="none" stroke="1" extrusionOk="0">
                      <a:moveTo>
                        <a:pt x="0" y="0"/>
                      </a:moveTo>
                      <a:lnTo>
                        <a:pt x="508000" y="0"/>
                      </a:lnTo>
                    </a:path>
                  </a:pathLst>
                </a:custGeom>
                <a:noFill/>
                <a:ln w="22225" cap="rnd" cmpd="sng" algn="ctr">
                  <a:solidFill>
                    <a:srgbClr val="7A6025"/>
                  </a:solidFill>
                  <a:custDash>
                    <a:ds d="228571" sp="257143"/>
                  </a:custDash>
                  <a:round/>
                  <a:headEnd type="none" w="med" len="med"/>
                  <a:tailEnd type="none" w="med" len="med"/>
                </a:ln>
              </p:spPr>
            </p:sp>
            <p:grpSp>
              <p:nvGrpSpPr>
                <p:cNvPr id="1026" name="arrow-ochre end"/>
                <p:cNvGrpSpPr/>
                <p:nvPr/>
              </p:nvGrpSpPr>
              <p:grpSpPr>
                <a:xfrm>
                  <a:off x="4162425" y="3048000"/>
                  <a:ext cx="47625" cy="50800"/>
                  <a:chOff x="4162425" y="3048000"/>
                  <a:chExt cx="47625" cy="50800"/>
                </a:xfrm>
              </p:grpSpPr>
              <p:sp>
                <p:nvSpPr>
                  <p:cNvPr id="1027" name="path · 15"/>
                  <p:cNvSpPr/>
                  <p:nvPr/>
                </p:nvSpPr>
                <p:spPr>
                  <a:xfrm>
                    <a:off x="4162425" y="30480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028" name="request-route · 19"/>
            <p:cNvGrpSpPr/>
            <p:nvPr/>
          </p:nvGrpSpPr>
          <p:grpSpPr>
            <a:xfrm>
              <a:off x="5283200" y="3048000"/>
              <a:ext cx="679450" cy="50800"/>
              <a:chOff x="5283200" y="3048000"/>
              <a:chExt cx="679450" cy="50800"/>
            </a:xfrm>
          </p:grpSpPr>
          <p:grpSp>
            <p:nvGrpSpPr>
              <p:cNvPr id="1029" name="path · 17 + arrowhead"/>
              <p:cNvGrpSpPr/>
              <p:nvPr/>
            </p:nvGrpSpPr>
            <p:grpSpPr>
              <a:xfrm>
                <a:off x="5283200" y="3048000"/>
                <a:ext cx="679450" cy="50800"/>
                <a:chOff x="5283200" y="3048000"/>
                <a:chExt cx="679450" cy="50800"/>
              </a:xfrm>
            </p:grpSpPr>
            <p:sp>
              <p:nvSpPr>
                <p:cNvPr id="1030" name="path · 17"/>
                <p:cNvSpPr/>
                <p:nvPr/>
              </p:nvSpPr>
              <p:spPr>
                <a:xfrm>
                  <a:off x="5283200" y="3073400"/>
                  <a:ext cx="679450" cy="1"/>
                </a:xfrm>
                <a:custGeom>
                  <a:avLst/>
                  <a:gdLst/>
                  <a:ahLst/>
                  <a:cxnLst/>
                  <a:rect l="0" t="0" r="r" b="b"/>
                  <a:pathLst>
                    <a:path w="679450" h="1" fill="none" stroke="1" extrusionOk="0">
                      <a:moveTo>
                        <a:pt x="0" y="0"/>
                      </a:moveTo>
                      <a:lnTo>
                        <a:pt x="679450" y="0"/>
                      </a:lnTo>
                    </a:path>
                  </a:pathLst>
                </a:custGeom>
                <a:noFill/>
                <a:ln w="22225" cap="rnd" cmpd="sng" algn="ctr">
                  <a:solidFill>
                    <a:srgbClr val="7A6025"/>
                  </a:solidFill>
                  <a:custDash>
                    <a:ds d="228571" sp="257143"/>
                  </a:custDash>
                  <a:round/>
                  <a:headEnd type="none" w="med" len="med"/>
                  <a:tailEnd type="none" w="med" len="med"/>
                </a:ln>
              </p:spPr>
            </p:sp>
            <p:grpSp>
              <p:nvGrpSpPr>
                <p:cNvPr id="1031" name="arrow-ochre end"/>
                <p:cNvGrpSpPr/>
                <p:nvPr/>
              </p:nvGrpSpPr>
              <p:grpSpPr>
                <a:xfrm>
                  <a:off x="5915025" y="3048000"/>
                  <a:ext cx="47625" cy="50800"/>
                  <a:chOff x="5915025" y="3048000"/>
                  <a:chExt cx="47625" cy="50800"/>
                </a:xfrm>
              </p:grpSpPr>
              <p:sp>
                <p:nvSpPr>
                  <p:cNvPr id="1032" name="path · 18"/>
                  <p:cNvSpPr/>
                  <p:nvPr/>
                </p:nvSpPr>
                <p:spPr>
                  <a:xfrm>
                    <a:off x="5915025" y="30480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sp>
          <p:nvSpPr>
            <p:cNvPr id="1033" name="text · 20"/>
            <p:cNvSpPr txBox="1"/>
            <p:nvPr/>
          </p:nvSpPr>
          <p:spPr>
            <a:xfrm>
              <a:off x="5400278" y="2758120"/>
              <a:ext cx="477044" cy="24225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8"/>
                </a:lnSpc>
                <a:spcBef>
                  <a:spcPts val="0"/>
                </a:spcBef>
                <a:spcAft>
                  <a:spcPts val="0"/>
                </a:spcAft>
              </a:pPr>
              <a:r>
                <a:rPr lang="en-US" sz="1250" b="1" i="0" kern="0" spc="0" dirty="0">
                  <a:solidFill>
                    <a:srgbClr val="2E6653"/>
                  </a:solidFill>
                  <a:latin typeface="Manrope"/>
                  <a:ea typeface="Manrope"/>
                  <a:cs typeface="Manrope"/>
                </a:rPr>
                <a:t>Ready</a:t>
              </a:r>
              <a:endParaRPr lang="en-US" sz="1250"/>
            </a:p>
          </p:txBody>
        </p:sp>
        <p:grpSp>
          <p:nvGrpSpPr>
            <p:cNvPr id="1034" name="request-route · 23"/>
            <p:cNvGrpSpPr/>
            <p:nvPr/>
          </p:nvGrpSpPr>
          <p:grpSpPr>
            <a:xfrm>
              <a:off x="7423150" y="3009900"/>
              <a:ext cx="1054100" cy="50800"/>
              <a:chOff x="7423150" y="3009900"/>
              <a:chExt cx="1054100" cy="50800"/>
            </a:xfrm>
          </p:grpSpPr>
          <p:grpSp>
            <p:nvGrpSpPr>
              <p:cNvPr id="1035" name="path · 21 + arrowhead"/>
              <p:cNvGrpSpPr/>
              <p:nvPr/>
            </p:nvGrpSpPr>
            <p:grpSpPr>
              <a:xfrm>
                <a:off x="7423150" y="3009900"/>
                <a:ext cx="1054100" cy="50800"/>
                <a:chOff x="7423150" y="3009900"/>
                <a:chExt cx="1054100" cy="50800"/>
              </a:xfrm>
            </p:grpSpPr>
            <p:sp>
              <p:nvSpPr>
                <p:cNvPr id="1036" name="path · 21"/>
                <p:cNvSpPr/>
                <p:nvPr/>
              </p:nvSpPr>
              <p:spPr>
                <a:xfrm>
                  <a:off x="7423150" y="3035300"/>
                  <a:ext cx="1054100" cy="1"/>
                </a:xfrm>
                <a:custGeom>
                  <a:avLst/>
                  <a:gdLst/>
                  <a:ahLst/>
                  <a:cxnLst/>
                  <a:rect l="0" t="0" r="r" b="b"/>
                  <a:pathLst>
                    <a:path w="1054100" h="1" fill="none" stroke="1" extrusionOk="0">
                      <a:moveTo>
                        <a:pt x="0" y="0"/>
                      </a:moveTo>
                      <a:lnTo>
                        <a:pt x="1054100" y="0"/>
                      </a:lnTo>
                    </a:path>
                  </a:pathLst>
                </a:custGeom>
                <a:noFill/>
                <a:ln w="22225" cap="rnd" cmpd="sng" algn="ctr">
                  <a:solidFill>
                    <a:srgbClr val="665180"/>
                  </a:solidFill>
                  <a:custDash>
                    <a:ds d="228571" sp="257143"/>
                  </a:custDash>
                  <a:round/>
                  <a:headEnd type="none" w="med" len="med"/>
                  <a:tailEnd type="none" w="med" len="med"/>
                </a:ln>
              </p:spPr>
            </p:sp>
            <p:grpSp>
              <p:nvGrpSpPr>
                <p:cNvPr id="1037" name="arrow-plum end"/>
                <p:cNvGrpSpPr/>
                <p:nvPr/>
              </p:nvGrpSpPr>
              <p:grpSpPr>
                <a:xfrm>
                  <a:off x="8429625" y="3009900"/>
                  <a:ext cx="47625" cy="50800"/>
                  <a:chOff x="8429625" y="3009900"/>
                  <a:chExt cx="47625" cy="50800"/>
                </a:xfrm>
              </p:grpSpPr>
              <p:sp>
                <p:nvSpPr>
                  <p:cNvPr id="1038" name="path · 22"/>
                  <p:cNvSpPr/>
                  <p:nvPr/>
                </p:nvSpPr>
                <p:spPr>
                  <a:xfrm>
                    <a:off x="8429625" y="30099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665180"/>
                    </a:solidFill>
                    <a:prstDash val="solid"/>
                    <a:round/>
                    <a:headEnd type="none" w="med" len="med"/>
                    <a:tailEnd type="none" w="med" len="med"/>
                  </a:ln>
                </p:spPr>
              </p:sp>
            </p:grpSp>
          </p:grpSp>
        </p:grpSp>
        <p:sp>
          <p:nvSpPr>
            <p:cNvPr id="1039" name="text · 24"/>
            <p:cNvSpPr txBox="1"/>
            <p:nvPr/>
          </p:nvSpPr>
          <p:spPr>
            <a:xfrm>
              <a:off x="7612192" y="2713255"/>
              <a:ext cx="688715" cy="25194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76"/>
                </a:lnSpc>
                <a:spcBef>
                  <a:spcPts val="0"/>
                </a:spcBef>
                <a:spcAft>
                  <a:spcPts val="0"/>
                </a:spcAft>
              </a:pPr>
              <a:r>
                <a:rPr lang="en-US" sz="1300" b="0" i="0" kern="0" spc="0" dirty="0">
                  <a:solidFill>
                    <a:srgbClr val="665180"/>
                  </a:solidFill>
                  <a:latin typeface="Manrope"/>
                  <a:ea typeface="Manrope"/>
                  <a:cs typeface="Manrope"/>
                </a:rPr>
                <a:t>Proposal</a:t>
              </a:r>
              <a:endParaRPr lang="en-US" sz="1300"/>
            </a:p>
          </p:txBody>
        </p:sp>
        <p:grpSp>
          <p:nvGrpSpPr>
            <p:cNvPr id="1040" name="request-route · 26"/>
            <p:cNvGrpSpPr/>
            <p:nvPr/>
          </p:nvGrpSpPr>
          <p:grpSpPr>
            <a:xfrm>
              <a:off x="2679700" y="3549650"/>
              <a:ext cx="3962400" cy="1454150"/>
              <a:chOff x="2679700" y="3549650"/>
              <a:chExt cx="3962400" cy="1454150"/>
            </a:xfrm>
          </p:grpSpPr>
          <p:sp>
            <p:nvSpPr>
              <p:cNvPr id="1041" name="path · 25"/>
              <p:cNvSpPr/>
              <p:nvPr/>
            </p:nvSpPr>
            <p:spPr>
              <a:xfrm>
                <a:off x="2679700" y="3549650"/>
                <a:ext cx="3962400" cy="1454150"/>
              </a:xfrm>
              <a:custGeom>
                <a:avLst/>
                <a:gdLst/>
                <a:ahLst/>
                <a:cxnLst/>
                <a:rect l="0" t="0" r="r" b="b"/>
                <a:pathLst>
                  <a:path w="3962400" h="1454150" fill="none" stroke="1" extrusionOk="0">
                    <a:moveTo>
                      <a:pt x="0" y="0"/>
                    </a:moveTo>
                    <a:lnTo>
                      <a:pt x="0" y="1003300"/>
                    </a:lnTo>
                    <a:lnTo>
                      <a:pt x="3962400" y="1003300"/>
                    </a:lnTo>
                    <a:lnTo>
                      <a:pt x="3962400" y="1454150"/>
                    </a:lnTo>
                  </a:path>
                </a:pathLst>
              </a:custGeom>
              <a:noFill/>
              <a:ln w="22225" cap="rnd" cmpd="sng" algn="ctr">
                <a:solidFill>
                  <a:srgbClr val="2E6653"/>
                </a:solidFill>
                <a:prstDash val="solid"/>
                <a:round/>
                <a:headEnd type="none" w="med" len="med"/>
                <a:tailEnd type="none" w="med" len="med"/>
              </a:ln>
            </p:spPr>
          </p:sp>
        </p:grpSp>
        <p:sp>
          <p:nvSpPr>
            <p:cNvPr id="1042" name="circle · 27"/>
            <p:cNvSpPr/>
            <p:nvPr/>
          </p:nvSpPr>
          <p:spPr>
            <a:xfrm>
              <a:off x="6610350" y="4972050"/>
              <a:ext cx="63500" cy="63500"/>
            </a:xfrm>
            <a:prstGeom prst="ellipse">
              <a:avLst/>
            </a:prstGeom>
            <a:solidFill>
              <a:srgbClr val="2E6653"/>
            </a:solidFill>
            <a:ln>
              <a:noFill/>
            </a:ln>
          </p:spPr>
        </p:sp>
        <p:sp>
          <p:nvSpPr>
            <p:cNvPr id="1043" name="text · 28"/>
            <p:cNvSpPr txBox="1"/>
            <p:nvPr/>
          </p:nvSpPr>
          <p:spPr>
            <a:xfrm>
              <a:off x="5512438" y="4243183"/>
              <a:ext cx="760723" cy="2616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844"/>
                </a:lnSpc>
                <a:spcBef>
                  <a:spcPts val="0"/>
                </a:spcBef>
                <a:spcAft>
                  <a:spcPts val="0"/>
                </a:spcAft>
              </a:pPr>
              <a:r>
                <a:rPr lang="en-US" sz="1350" b="1" i="0" kern="0" spc="0" dirty="0">
                  <a:solidFill>
                    <a:srgbClr val="2E6653"/>
                  </a:solidFill>
                  <a:latin typeface="Manrope"/>
                  <a:ea typeface="Manrope"/>
                  <a:cs typeface="Manrope"/>
                </a:rPr>
                <a:t>Resolved</a:t>
              </a:r>
              <a:endParaRPr lang="en-US" sz="1350"/>
            </a:p>
          </p:txBody>
        </p:sp>
        <p:grpSp>
          <p:nvGrpSpPr>
            <p:cNvPr id="1044" name="request-route · 31"/>
            <p:cNvGrpSpPr/>
            <p:nvPr/>
          </p:nvGrpSpPr>
          <p:grpSpPr>
            <a:xfrm>
              <a:off x="7296150" y="3594100"/>
              <a:ext cx="1263650" cy="850900"/>
              <a:chOff x="7296150" y="3594100"/>
              <a:chExt cx="1263650" cy="850900"/>
            </a:xfrm>
          </p:grpSpPr>
          <p:grpSp>
            <p:nvGrpSpPr>
              <p:cNvPr id="1045" name="path · 29 + arrowhead"/>
              <p:cNvGrpSpPr/>
              <p:nvPr/>
            </p:nvGrpSpPr>
            <p:grpSpPr>
              <a:xfrm>
                <a:off x="7296150" y="3594100"/>
                <a:ext cx="1263650" cy="850900"/>
                <a:chOff x="7296150" y="3594100"/>
                <a:chExt cx="1263650" cy="850900"/>
              </a:xfrm>
            </p:grpSpPr>
            <p:sp>
              <p:nvSpPr>
                <p:cNvPr id="1046" name="path · 29"/>
                <p:cNvSpPr/>
                <p:nvPr/>
              </p:nvSpPr>
              <p:spPr>
                <a:xfrm>
                  <a:off x="7321550" y="3594100"/>
                  <a:ext cx="1238250" cy="850900"/>
                </a:xfrm>
                <a:custGeom>
                  <a:avLst/>
                  <a:gdLst/>
                  <a:ahLst/>
                  <a:cxnLst/>
                  <a:rect l="0" t="0" r="r" b="b"/>
                  <a:pathLst>
                    <a:path w="1238250" h="850900" fill="none" stroke="1" extrusionOk="0">
                      <a:moveTo>
                        <a:pt x="1238250" y="0"/>
                      </a:moveTo>
                      <a:lnTo>
                        <a:pt x="996950" y="0"/>
                      </a:lnTo>
                      <a:lnTo>
                        <a:pt x="996950" y="501650"/>
                      </a:lnTo>
                      <a:lnTo>
                        <a:pt x="0" y="501650"/>
                      </a:lnTo>
                      <a:lnTo>
                        <a:pt x="0" y="850900"/>
                      </a:lnTo>
                    </a:path>
                  </a:pathLst>
                </a:custGeom>
                <a:noFill/>
                <a:ln w="22225" cap="rnd" cmpd="sng" algn="ctr">
                  <a:solidFill>
                    <a:srgbClr val="2E6653"/>
                  </a:solidFill>
                  <a:prstDash val="solid"/>
                  <a:round/>
                  <a:headEnd type="none" w="med" len="med"/>
                  <a:tailEnd type="none" w="med" len="med"/>
                </a:ln>
              </p:spPr>
            </p:sp>
            <p:grpSp>
              <p:nvGrpSpPr>
                <p:cNvPr id="1047" name="arrow-green end"/>
                <p:cNvGrpSpPr/>
                <p:nvPr/>
              </p:nvGrpSpPr>
              <p:grpSpPr>
                <a:xfrm>
                  <a:off x="7296150" y="4397375"/>
                  <a:ext cx="50800" cy="47625"/>
                  <a:chOff x="7296150" y="4397375"/>
                  <a:chExt cx="50800" cy="47625"/>
                </a:xfrm>
              </p:grpSpPr>
              <p:sp>
                <p:nvSpPr>
                  <p:cNvPr id="1048" name="path · 30"/>
                  <p:cNvSpPr/>
                  <p:nvPr/>
                </p:nvSpPr>
                <p:spPr>
                  <a:xfrm>
                    <a:off x="7296150" y="439737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2E6653"/>
                    </a:solidFill>
                    <a:prstDash val="solid"/>
                    <a:round/>
                    <a:headEnd type="none" w="med" len="med"/>
                    <a:tailEnd type="none" w="med" len="med"/>
                  </a:ln>
                </p:spPr>
              </p:sp>
            </p:grpSp>
          </p:grpSp>
        </p:grpSp>
        <p:sp>
          <p:nvSpPr>
            <p:cNvPr id="1049" name="text · 32"/>
            <p:cNvSpPr txBox="1"/>
            <p:nvPr/>
          </p:nvSpPr>
          <p:spPr>
            <a:xfrm>
              <a:off x="7378039" y="3805033"/>
              <a:ext cx="776021" cy="2616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844"/>
                </a:lnSpc>
                <a:spcBef>
                  <a:spcPts val="0"/>
                </a:spcBef>
                <a:spcAft>
                  <a:spcPts val="0"/>
                </a:spcAft>
              </a:pPr>
              <a:r>
                <a:rPr lang="en-US" sz="1350" b="1" i="0" kern="0" spc="0" dirty="0">
                  <a:solidFill>
                    <a:srgbClr val="2E6653"/>
                  </a:solidFill>
                  <a:latin typeface="Manrope"/>
                  <a:ea typeface="Manrope"/>
                  <a:cs typeface="Manrope"/>
                </a:rPr>
                <a:t>Validated</a:t>
              </a:r>
              <a:endParaRPr lang="en-US" sz="1350"/>
            </a:p>
          </p:txBody>
        </p:sp>
        <p:grpSp>
          <p:nvGrpSpPr>
            <p:cNvPr id="1050" name="request-route · 35"/>
            <p:cNvGrpSpPr/>
            <p:nvPr/>
          </p:nvGrpSpPr>
          <p:grpSpPr>
            <a:xfrm>
              <a:off x="9829800" y="3213100"/>
              <a:ext cx="495300" cy="50800"/>
              <a:chOff x="9829800" y="3213100"/>
              <a:chExt cx="495300" cy="50800"/>
            </a:xfrm>
          </p:grpSpPr>
          <p:grpSp>
            <p:nvGrpSpPr>
              <p:cNvPr id="1051" name="path · 33 + arrowhead"/>
              <p:cNvGrpSpPr/>
              <p:nvPr/>
            </p:nvGrpSpPr>
            <p:grpSpPr>
              <a:xfrm>
                <a:off x="9829800" y="3213100"/>
                <a:ext cx="495300" cy="50800"/>
                <a:chOff x="9829800" y="3213100"/>
                <a:chExt cx="495300" cy="50800"/>
              </a:xfrm>
            </p:grpSpPr>
            <p:sp>
              <p:nvSpPr>
                <p:cNvPr id="1052" name="path · 33"/>
                <p:cNvSpPr/>
                <p:nvPr/>
              </p:nvSpPr>
              <p:spPr>
                <a:xfrm>
                  <a:off x="9829800" y="3238500"/>
                  <a:ext cx="495300" cy="1"/>
                </a:xfrm>
                <a:custGeom>
                  <a:avLst/>
                  <a:gdLst/>
                  <a:ahLst/>
                  <a:cxnLst/>
                  <a:rect l="0" t="0" r="r" b="b"/>
                  <a:pathLst>
                    <a:path w="495300" h="1" fill="none" stroke="1" extrusionOk="0">
                      <a:moveTo>
                        <a:pt x="0" y="0"/>
                      </a:moveTo>
                      <a:lnTo>
                        <a:pt x="495300" y="0"/>
                      </a:lnTo>
                    </a:path>
                  </a:pathLst>
                </a:custGeom>
                <a:noFill/>
                <a:ln w="19050" cap="rnd" cmpd="sng" algn="ctr">
                  <a:solidFill>
                    <a:srgbClr val="7A6025"/>
                  </a:solidFill>
                  <a:prstDash val="solid"/>
                  <a:round/>
                  <a:headEnd type="none" w="med" len="med"/>
                  <a:tailEnd type="none" w="med" len="med"/>
                </a:ln>
              </p:spPr>
            </p:sp>
            <p:grpSp>
              <p:nvGrpSpPr>
                <p:cNvPr id="1053" name="arrow-ochre end"/>
                <p:cNvGrpSpPr/>
                <p:nvPr/>
              </p:nvGrpSpPr>
              <p:grpSpPr>
                <a:xfrm>
                  <a:off x="10277475" y="3213100"/>
                  <a:ext cx="47625" cy="50800"/>
                  <a:chOff x="10277475" y="3213100"/>
                  <a:chExt cx="47625" cy="50800"/>
                </a:xfrm>
              </p:grpSpPr>
              <p:sp>
                <p:nvSpPr>
                  <p:cNvPr id="1054" name="path · 34"/>
                  <p:cNvSpPr/>
                  <p:nvPr/>
                </p:nvSpPr>
                <p:spPr>
                  <a:xfrm>
                    <a:off x="10277475" y="32131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7A6025"/>
                    </a:solidFill>
                    <a:prstDash val="solid"/>
                    <a:round/>
                    <a:headEnd type="none" w="med" len="med"/>
                    <a:tailEnd type="none" w="med" len="med"/>
                  </a:ln>
                </p:spPr>
              </p:sp>
            </p:grpSp>
          </p:grpSp>
        </p:grpSp>
        <p:grpSp>
          <p:nvGrpSpPr>
            <p:cNvPr id="1055" name="request-route · 38"/>
            <p:cNvGrpSpPr/>
            <p:nvPr/>
          </p:nvGrpSpPr>
          <p:grpSpPr>
            <a:xfrm>
              <a:off x="4337050" y="3524250"/>
              <a:ext cx="419100" cy="520700"/>
              <a:chOff x="4337050" y="3524250"/>
              <a:chExt cx="419100" cy="520700"/>
            </a:xfrm>
          </p:grpSpPr>
          <p:grpSp>
            <p:nvGrpSpPr>
              <p:cNvPr id="1056" name="path · 36 + arrowhead"/>
              <p:cNvGrpSpPr/>
              <p:nvPr/>
            </p:nvGrpSpPr>
            <p:grpSpPr>
              <a:xfrm>
                <a:off x="4337050" y="3524250"/>
                <a:ext cx="419100" cy="520700"/>
                <a:chOff x="4337050" y="3524250"/>
                <a:chExt cx="419100" cy="520700"/>
              </a:xfrm>
            </p:grpSpPr>
            <p:sp>
              <p:nvSpPr>
                <p:cNvPr id="1057" name="path · 36"/>
                <p:cNvSpPr/>
                <p:nvPr/>
              </p:nvSpPr>
              <p:spPr>
                <a:xfrm>
                  <a:off x="4362450" y="3524250"/>
                  <a:ext cx="393700" cy="520700"/>
                </a:xfrm>
                <a:custGeom>
                  <a:avLst/>
                  <a:gdLst/>
                  <a:ahLst/>
                  <a:cxnLst/>
                  <a:rect l="0" t="0" r="r" b="b"/>
                  <a:pathLst>
                    <a:path w="393700" h="520700" fill="none" stroke="1" extrusionOk="0">
                      <a:moveTo>
                        <a:pt x="393700" y="0"/>
                      </a:moveTo>
                      <a:lnTo>
                        <a:pt x="393700" y="393700"/>
                      </a:lnTo>
                      <a:lnTo>
                        <a:pt x="0" y="393700"/>
                      </a:lnTo>
                      <a:lnTo>
                        <a:pt x="0" y="520700"/>
                      </a:lnTo>
                    </a:path>
                  </a:pathLst>
                </a:custGeom>
                <a:noFill/>
                <a:ln w="15875" cap="rnd" cmpd="sng" algn="ctr">
                  <a:solidFill>
                    <a:srgbClr val="81533E"/>
                  </a:solidFill>
                  <a:prstDash val="solid"/>
                  <a:round/>
                  <a:headEnd type="none" w="med" len="med"/>
                  <a:tailEnd type="none" w="med" len="med"/>
                </a:ln>
              </p:spPr>
            </p:sp>
            <p:grpSp>
              <p:nvGrpSpPr>
                <p:cNvPr id="1058" name="arrow-rust end"/>
                <p:cNvGrpSpPr/>
                <p:nvPr/>
              </p:nvGrpSpPr>
              <p:grpSpPr>
                <a:xfrm>
                  <a:off x="4337050" y="3997325"/>
                  <a:ext cx="50800" cy="47625"/>
                  <a:chOff x="4337050" y="3997325"/>
                  <a:chExt cx="50800" cy="47625"/>
                </a:xfrm>
              </p:grpSpPr>
              <p:sp>
                <p:nvSpPr>
                  <p:cNvPr id="1059" name="path · 37"/>
                  <p:cNvSpPr/>
                  <p:nvPr/>
                </p:nvSpPr>
                <p:spPr>
                  <a:xfrm>
                    <a:off x="4337050" y="39973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81533E"/>
                    </a:solidFill>
                    <a:prstDash val="solid"/>
                    <a:round/>
                    <a:headEnd type="none" w="med" len="med"/>
                    <a:tailEnd type="none" w="med" len="med"/>
                  </a:ln>
                </p:spPr>
              </p:sp>
            </p:grpSp>
          </p:grpSp>
        </p:grpSp>
        <p:grpSp>
          <p:nvGrpSpPr>
            <p:cNvPr id="1060" name="request-route · 41"/>
            <p:cNvGrpSpPr/>
            <p:nvPr/>
          </p:nvGrpSpPr>
          <p:grpSpPr>
            <a:xfrm>
              <a:off x="4756150" y="3917950"/>
              <a:ext cx="400050" cy="127000"/>
              <a:chOff x="4756150" y="3917950"/>
              <a:chExt cx="400050" cy="127000"/>
            </a:xfrm>
          </p:grpSpPr>
          <p:grpSp>
            <p:nvGrpSpPr>
              <p:cNvPr id="1061" name="path · 39 + arrowhead"/>
              <p:cNvGrpSpPr/>
              <p:nvPr/>
            </p:nvGrpSpPr>
            <p:grpSpPr>
              <a:xfrm>
                <a:off x="4756150" y="3917950"/>
                <a:ext cx="400050" cy="127000"/>
                <a:chOff x="4756150" y="3917950"/>
                <a:chExt cx="400050" cy="127000"/>
              </a:xfrm>
            </p:grpSpPr>
            <p:sp>
              <p:nvSpPr>
                <p:cNvPr id="1062" name="path · 39"/>
                <p:cNvSpPr/>
                <p:nvPr/>
              </p:nvSpPr>
              <p:spPr>
                <a:xfrm>
                  <a:off x="4756150" y="3917950"/>
                  <a:ext cx="374650" cy="127000"/>
                </a:xfrm>
                <a:custGeom>
                  <a:avLst/>
                  <a:gdLst/>
                  <a:ahLst/>
                  <a:cxnLst/>
                  <a:rect l="0" t="0" r="r" b="b"/>
                  <a:pathLst>
                    <a:path w="374650" h="127000" fill="none" stroke="1" extrusionOk="0">
                      <a:moveTo>
                        <a:pt x="0" y="0"/>
                      </a:moveTo>
                      <a:lnTo>
                        <a:pt x="374650" y="0"/>
                      </a:lnTo>
                      <a:lnTo>
                        <a:pt x="374650" y="127000"/>
                      </a:lnTo>
                    </a:path>
                  </a:pathLst>
                </a:custGeom>
                <a:noFill/>
                <a:ln w="15875" cap="rnd" cmpd="sng" algn="ctr">
                  <a:solidFill>
                    <a:srgbClr val="7A6025"/>
                  </a:solidFill>
                  <a:prstDash val="solid"/>
                  <a:round/>
                  <a:headEnd type="none" w="med" len="med"/>
                  <a:tailEnd type="none" w="med" len="med"/>
                </a:ln>
              </p:spPr>
            </p:sp>
            <p:grpSp>
              <p:nvGrpSpPr>
                <p:cNvPr id="1063" name="arrow-ochre end"/>
                <p:cNvGrpSpPr/>
                <p:nvPr/>
              </p:nvGrpSpPr>
              <p:grpSpPr>
                <a:xfrm>
                  <a:off x="5105400" y="3997325"/>
                  <a:ext cx="50800" cy="47625"/>
                  <a:chOff x="5105400" y="3997325"/>
                  <a:chExt cx="50800" cy="47625"/>
                </a:xfrm>
              </p:grpSpPr>
              <p:sp>
                <p:nvSpPr>
                  <p:cNvPr id="1064" name="path · 40"/>
                  <p:cNvSpPr/>
                  <p:nvPr/>
                </p:nvSpPr>
                <p:spPr>
                  <a:xfrm>
                    <a:off x="5105400" y="3997325"/>
                    <a:ext cx="50800" cy="47625"/>
                  </a:xfrm>
                  <a:custGeom>
                    <a:avLst/>
                    <a:gdLst/>
                    <a:ahLst/>
                    <a:cxnLst/>
                    <a:rect l="0" t="0" r="r" b="b"/>
                    <a:pathLst>
                      <a:path w="50800" h="47625" fill="none" stroke="1" extrusionOk="0">
                        <a:moveTo>
                          <a:pt x="50800" y="0"/>
                        </a:moveTo>
                        <a:lnTo>
                          <a:pt x="25400" y="47625"/>
                        </a:lnTo>
                        <a:lnTo>
                          <a:pt x="0" y="0"/>
                        </a:lnTo>
                      </a:path>
                    </a:pathLst>
                  </a:custGeom>
                  <a:noFill/>
                  <a:ln w="12700" cap="rnd" cmpd="sng" algn="ctr">
                    <a:solidFill>
                      <a:srgbClr val="7A6025"/>
                    </a:solidFill>
                    <a:prstDash val="solid"/>
                    <a:round/>
                    <a:headEnd type="none" w="med" len="med"/>
                    <a:tailEnd type="none" w="med" len="med"/>
                  </a:ln>
                </p:spPr>
              </p:sp>
            </p:grpSp>
          </p:grpSp>
        </p:grpSp>
        <p:grpSp>
          <p:nvGrpSpPr>
            <p:cNvPr id="1065" name="system-one · 48"/>
            <p:cNvGrpSpPr/>
            <p:nvPr/>
          </p:nvGrpSpPr>
          <p:grpSpPr>
            <a:xfrm>
              <a:off x="964353" y="3519946"/>
              <a:ext cx="910237" cy="862330"/>
              <a:chOff x="964353" y="3519946"/>
              <a:chExt cx="910237" cy="862330"/>
            </a:xfrm>
          </p:grpSpPr>
          <p:sp>
            <p:nvSpPr>
              <p:cNvPr id="1066" name="path · 42"/>
              <p:cNvSpPr/>
              <p:nvPr/>
            </p:nvSpPr>
            <p:spPr>
              <a:xfrm>
                <a:off x="964353" y="3519946"/>
                <a:ext cx="910237" cy="862330"/>
              </a:xfrm>
              <a:custGeom>
                <a:avLst/>
                <a:gdLst/>
                <a:ahLst/>
                <a:cxnLst/>
                <a:rect l="0" t="0" r="r" b="b"/>
                <a:pathLst>
                  <a:path w="910237" h="862330" fill="none" stroke="1" extrusionOk="0">
                    <a:moveTo>
                      <a:pt x="260068" y="0"/>
                    </a:moveTo>
                    <a:lnTo>
                      <a:pt x="260068" y="150566"/>
                    </a:lnTo>
                    <a:moveTo>
                      <a:pt x="438009" y="0"/>
                    </a:moveTo>
                    <a:lnTo>
                      <a:pt x="438009" y="150566"/>
                    </a:lnTo>
                    <a:moveTo>
                      <a:pt x="622794" y="0"/>
                    </a:moveTo>
                    <a:lnTo>
                      <a:pt x="622794" y="150566"/>
                    </a:lnTo>
                    <a:moveTo>
                      <a:pt x="260068" y="711765"/>
                    </a:moveTo>
                    <a:lnTo>
                      <a:pt x="260068" y="862330"/>
                    </a:lnTo>
                    <a:moveTo>
                      <a:pt x="438009" y="711765"/>
                    </a:moveTo>
                    <a:lnTo>
                      <a:pt x="438009" y="862330"/>
                    </a:lnTo>
                    <a:moveTo>
                      <a:pt x="622794" y="711765"/>
                    </a:moveTo>
                    <a:lnTo>
                      <a:pt x="622794" y="862330"/>
                    </a:lnTo>
                    <a:moveTo>
                      <a:pt x="0" y="280600"/>
                    </a:moveTo>
                    <a:lnTo>
                      <a:pt x="150566" y="280600"/>
                    </a:lnTo>
                    <a:moveTo>
                      <a:pt x="0" y="540667"/>
                    </a:moveTo>
                    <a:lnTo>
                      <a:pt x="150566" y="540667"/>
                    </a:lnTo>
                    <a:moveTo>
                      <a:pt x="759672" y="280600"/>
                    </a:moveTo>
                    <a:lnTo>
                      <a:pt x="910238" y="280600"/>
                    </a:lnTo>
                    <a:moveTo>
                      <a:pt x="759672" y="540667"/>
                    </a:moveTo>
                    <a:lnTo>
                      <a:pt x="910238" y="540667"/>
                    </a:lnTo>
                  </a:path>
                </a:pathLst>
              </a:custGeom>
              <a:noFill/>
              <a:ln w="34219" cap="rnd" cmpd="sng" algn="ctr">
                <a:solidFill>
                  <a:srgbClr val="2E6653"/>
                </a:solidFill>
                <a:prstDash val="solid"/>
                <a:round/>
                <a:headEnd type="none" w="med" len="med"/>
                <a:tailEnd type="none" w="med" len="med"/>
              </a:ln>
            </p:spPr>
          </p:sp>
          <p:sp>
            <p:nvSpPr>
              <p:cNvPr id="1067" name="rect · 43"/>
              <p:cNvSpPr/>
              <p:nvPr/>
            </p:nvSpPr>
            <p:spPr>
              <a:xfrm>
                <a:off x="1087543" y="3636292"/>
                <a:ext cx="657013" cy="629638"/>
              </a:xfrm>
              <a:prstGeom prst="roundRect">
                <a:avLst>
                  <a:gd name="adj" fmla="val 22826"/>
                </a:avLst>
              </a:prstGeom>
              <a:solidFill>
                <a:srgbClr val="D7EBE1"/>
              </a:solidFill>
              <a:ln w="20532" cap="rnd" cmpd="sng" algn="ctr">
                <a:solidFill>
                  <a:srgbClr val="2E6653"/>
                </a:solidFill>
                <a:prstDash val="solid"/>
                <a:round/>
                <a:headEnd type="none" w="med" len="med"/>
                <a:tailEnd type="none" w="med" len="med"/>
              </a:ln>
            </p:spPr>
          </p:sp>
          <p:sp>
            <p:nvSpPr>
              <p:cNvPr id="1068" name="path · 44"/>
              <p:cNvSpPr/>
              <p:nvPr/>
            </p:nvSpPr>
            <p:spPr>
              <a:xfrm>
                <a:off x="1238109" y="3800546"/>
                <a:ext cx="335351" cy="301131"/>
              </a:xfrm>
              <a:custGeom>
                <a:avLst/>
                <a:gdLst/>
                <a:ahLst/>
                <a:cxnLst/>
                <a:rect l="0" t="0" r="r" b="b"/>
                <a:pathLst>
                  <a:path w="335351" h="301131" fill="none" stroke="1" extrusionOk="0">
                    <a:moveTo>
                      <a:pt x="0" y="150565"/>
                    </a:moveTo>
                    <a:lnTo>
                      <a:pt x="150565" y="150565"/>
                    </a:lnTo>
                    <a:moveTo>
                      <a:pt x="150565" y="150565"/>
                    </a:moveTo>
                    <a:lnTo>
                      <a:pt x="150565" y="0"/>
                    </a:lnTo>
                    <a:lnTo>
                      <a:pt x="335350" y="0"/>
                    </a:lnTo>
                    <a:moveTo>
                      <a:pt x="150565" y="150565"/>
                    </a:moveTo>
                    <a:lnTo>
                      <a:pt x="150565" y="301131"/>
                    </a:lnTo>
                    <a:lnTo>
                      <a:pt x="335350" y="301131"/>
                    </a:lnTo>
                  </a:path>
                </a:pathLst>
              </a:custGeom>
              <a:noFill/>
              <a:ln w="27376" cap="rnd" cmpd="sng" algn="ctr">
                <a:solidFill>
                  <a:srgbClr val="2E6653"/>
                </a:solidFill>
                <a:prstDash val="solid"/>
                <a:round/>
                <a:headEnd type="none" w="med" len="med"/>
                <a:tailEnd type="none" w="med" len="med"/>
              </a:ln>
            </p:spPr>
          </p:sp>
          <p:sp>
            <p:nvSpPr>
              <p:cNvPr id="1069" name="circle · 45"/>
              <p:cNvSpPr/>
              <p:nvPr/>
            </p:nvSpPr>
            <p:spPr>
              <a:xfrm>
                <a:off x="1176514" y="3910048"/>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0" name="circle · 46"/>
              <p:cNvSpPr/>
              <p:nvPr/>
            </p:nvSpPr>
            <p:spPr>
              <a:xfrm>
                <a:off x="1552928" y="3759482"/>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1" name="circle · 47"/>
              <p:cNvSpPr/>
              <p:nvPr/>
            </p:nvSpPr>
            <p:spPr>
              <a:xfrm>
                <a:off x="1552928" y="4060613"/>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grpSp>
        <p:sp>
          <p:nvSpPr>
            <p:cNvPr id="1072" name="text · 49"/>
            <p:cNvSpPr txBox="1"/>
            <p:nvPr/>
          </p:nvSpPr>
          <p:spPr>
            <a:xfrm>
              <a:off x="889744" y="3131096"/>
              <a:ext cx="1065312"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2E6653"/>
                  </a:solidFill>
                  <a:latin typeface="Manrope"/>
                  <a:ea typeface="Manrope"/>
                  <a:cs typeface="Manrope"/>
                </a:rPr>
                <a:t>System One</a:t>
              </a:r>
              <a:endParaRPr lang="en-US" sz="1450"/>
            </a:p>
          </p:txBody>
        </p:sp>
        <p:grpSp>
          <p:nvGrpSpPr>
            <p:cNvPr id="1073" name="clarify · 59"/>
            <p:cNvGrpSpPr/>
            <p:nvPr/>
          </p:nvGrpSpPr>
          <p:grpSpPr>
            <a:xfrm>
              <a:off x="2629958" y="2565471"/>
              <a:ext cx="1040271" cy="930769"/>
              <a:chOff x="2629958" y="2565471"/>
              <a:chExt cx="1040271" cy="930769"/>
            </a:xfrm>
          </p:grpSpPr>
          <p:sp>
            <p:nvSpPr>
              <p:cNvPr id="1074" name="path · 50"/>
              <p:cNvSpPr/>
              <p:nvPr/>
            </p:nvSpPr>
            <p:spPr>
              <a:xfrm>
                <a:off x="2951621" y="2565471"/>
                <a:ext cx="718608" cy="609106"/>
              </a:xfrm>
              <a:custGeom>
                <a:avLst/>
                <a:gdLst/>
                <a:ahLst/>
                <a:cxnLst/>
                <a:rect l="0" t="0" r="r" b="b"/>
                <a:pathLst>
                  <a:path w="718608" h="609106" fill="norm" stroke="1" extrusionOk="0">
                    <a:moveTo>
                      <a:pt x="136878" y="0"/>
                    </a:moveTo>
                    <a:lnTo>
                      <a:pt x="574887" y="0"/>
                    </a:lnTo>
                    <a:quadBezTo>
                      <a:pt x="718608" y="0"/>
                      <a:pt x="718608" y="143721"/>
                    </a:quadBezTo>
                    <a:lnTo>
                      <a:pt x="718608" y="349038"/>
                    </a:lnTo>
                    <a:quadBezTo>
                      <a:pt x="718608" y="485916"/>
                      <a:pt x="574887" y="485916"/>
                    </a:quadBezTo>
                    <a:lnTo>
                      <a:pt x="335351" y="485916"/>
                    </a:lnTo>
                    <a:lnTo>
                      <a:pt x="177941" y="609106"/>
                    </a:lnTo>
                    <a:lnTo>
                      <a:pt x="177941" y="485916"/>
                    </a:lnTo>
                    <a:lnTo>
                      <a:pt x="136878" y="485916"/>
                    </a:lnTo>
                    <a:quadBezTo>
                      <a:pt x="0" y="485916"/>
                      <a:pt x="0" y="349038"/>
                    </a:quadBezTo>
                    <a:lnTo>
                      <a:pt x="0" y="143721"/>
                    </a:lnTo>
                    <a:quadBezTo>
                      <a:pt x="0" y="0"/>
                      <a:pt x="136878" y="0"/>
                    </a:quadBezTo>
                  </a:path>
                </a:pathLst>
              </a:custGeom>
              <a:solidFill>
                <a:srgbClr val="F6EAC8"/>
              </a:solidFill>
              <a:ln w="15057" cap="rnd" cmpd="sng" algn="ctr">
                <a:solidFill>
                  <a:srgbClr val="243E42"/>
                </a:solidFill>
                <a:prstDash val="solid"/>
                <a:round/>
                <a:headEnd type="none" w="med" len="med"/>
                <a:tailEnd type="none" w="med" len="med"/>
              </a:ln>
            </p:spPr>
          </p:sp>
          <p:sp>
            <p:nvSpPr>
              <p:cNvPr id="1075" name="path · 51"/>
              <p:cNvSpPr/>
              <p:nvPr/>
            </p:nvSpPr>
            <p:spPr>
              <a:xfrm>
                <a:off x="3232221" y="2606534"/>
                <a:ext cx="191629" cy="253224"/>
              </a:xfrm>
              <a:custGeom>
                <a:avLst/>
                <a:gdLst/>
                <a:ahLst/>
                <a:cxnLst/>
                <a:rect l="0" t="0" r="r" b="b"/>
                <a:pathLst>
                  <a:path w="191629" h="253224" fill="none" stroke="1" extrusionOk="0">
                    <a:moveTo>
                      <a:pt x="0" y="116346"/>
                    </a:moveTo>
                    <a:cubicBezTo>
                      <a:pt x="0" y="0"/>
                      <a:pt x="191628" y="0"/>
                      <a:pt x="191628" y="116346"/>
                    </a:cubicBezTo>
                    <a:cubicBezTo>
                      <a:pt x="191628" y="184785"/>
                      <a:pt x="75282" y="164253"/>
                      <a:pt x="75282" y="253224"/>
                    </a:cubicBezTo>
                  </a:path>
                </a:pathLst>
              </a:custGeom>
              <a:noFill/>
              <a:ln w="27376" cap="rnd" cmpd="sng" algn="ctr">
                <a:solidFill>
                  <a:srgbClr val="7A6025"/>
                </a:solidFill>
                <a:prstDash val="solid"/>
                <a:round/>
                <a:headEnd type="none" w="med" len="med"/>
                <a:tailEnd type="none" w="med" len="med"/>
              </a:ln>
            </p:spPr>
          </p:sp>
          <p:sp>
            <p:nvSpPr>
              <p:cNvPr id="1076" name="circle · 52"/>
              <p:cNvSpPr/>
              <p:nvPr/>
            </p:nvSpPr>
            <p:spPr>
              <a:xfrm>
                <a:off x="3290394" y="2924775"/>
                <a:ext cx="34219" cy="34219"/>
              </a:xfrm>
              <a:prstGeom prst="ellipse">
                <a:avLst/>
              </a:prstGeom>
              <a:solidFill>
                <a:srgbClr val="7A6025"/>
              </a:solidFill>
              <a:ln>
                <a:noFill/>
              </a:ln>
            </p:spPr>
          </p:sp>
          <p:sp>
            <p:nvSpPr>
              <p:cNvPr id="1077" name="path · 53"/>
              <p:cNvSpPr/>
              <p:nvPr/>
            </p:nvSpPr>
            <p:spPr>
              <a:xfrm>
                <a:off x="2629958" y="3051387"/>
                <a:ext cx="492760" cy="444853"/>
              </a:xfrm>
              <a:custGeom>
                <a:avLst/>
                <a:gdLst/>
                <a:ahLst/>
                <a:cxnLst/>
                <a:rect l="0" t="0" r="r" b="b"/>
                <a:pathLst>
                  <a:path w="492760" h="444853" fill="norm" stroke="1" extrusionOk="0">
                    <a:moveTo>
                      <a:pt x="0" y="444852"/>
                    </a:moveTo>
                    <a:lnTo>
                      <a:pt x="0" y="239536"/>
                    </a:lnTo>
                    <a:quadBezTo>
                      <a:pt x="13688" y="0"/>
                      <a:pt x="239536" y="0"/>
                    </a:quadBezTo>
                    <a:quadBezTo>
                      <a:pt x="465385" y="0"/>
                      <a:pt x="492760" y="239536"/>
                    </a:quadBezTo>
                    <a:lnTo>
                      <a:pt x="492760" y="444852"/>
                    </a:lnTo>
                    <a:close/>
                  </a:path>
                </a:pathLst>
              </a:custGeom>
              <a:solidFill>
                <a:srgbClr val="E2EEF3"/>
              </a:solidFill>
              <a:ln w="15057" cap="rnd" cmpd="sng" algn="ctr">
                <a:solidFill>
                  <a:srgbClr val="243E42"/>
                </a:solidFill>
                <a:prstDash val="solid"/>
                <a:round/>
                <a:headEnd type="none" w="med" len="med"/>
                <a:tailEnd type="none" w="med" len="med"/>
              </a:ln>
            </p:spPr>
          </p:sp>
          <p:sp>
            <p:nvSpPr>
              <p:cNvPr id="1078" name="circle · 54"/>
              <p:cNvSpPr/>
              <p:nvPr/>
            </p:nvSpPr>
            <p:spPr>
              <a:xfrm>
                <a:off x="2705241" y="2777631"/>
                <a:ext cx="314819" cy="314819"/>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79" name="path · 55"/>
              <p:cNvSpPr/>
              <p:nvPr/>
            </p:nvSpPr>
            <p:spPr>
              <a:xfrm>
                <a:off x="2677866" y="2729724"/>
                <a:ext cx="349038" cy="184785"/>
              </a:xfrm>
              <a:custGeom>
                <a:avLst/>
                <a:gdLst/>
                <a:ahLst/>
                <a:cxnLst/>
                <a:rect l="0" t="0" r="r" b="b"/>
                <a:pathLst>
                  <a:path w="349038" h="184785" fill="norm" stroke="1" extrusionOk="0">
                    <a:moveTo>
                      <a:pt x="34219" y="184785"/>
                    </a:moveTo>
                    <a:quadBezTo>
                      <a:pt x="0" y="6844"/>
                      <a:pt x="198472" y="0"/>
                    </a:quadBezTo>
                    <a:quadBezTo>
                      <a:pt x="349038" y="13688"/>
                      <a:pt x="349038" y="164253"/>
                    </a:quadBezTo>
                    <a:lnTo>
                      <a:pt x="225848" y="95814"/>
                    </a:lnTo>
                    <a:quadBezTo>
                      <a:pt x="164253" y="177941"/>
                      <a:pt x="34219" y="184785"/>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080" name="path · 56"/>
              <p:cNvSpPr/>
              <p:nvPr/>
            </p:nvSpPr>
            <p:spPr>
              <a:xfrm>
                <a:off x="2835275" y="2935041"/>
                <a:ext cx="88971" cy="116346"/>
              </a:xfrm>
              <a:custGeom>
                <a:avLst/>
                <a:gdLst/>
                <a:ahLst/>
                <a:cxnLst/>
                <a:rect l="0" t="0" r="r" b="b"/>
                <a:pathLst>
                  <a:path w="88971" h="116346" fill="none" stroke="1" extrusionOk="0">
                    <a:moveTo>
                      <a:pt x="6844" y="0"/>
                    </a:moveTo>
                    <a:lnTo>
                      <a:pt x="6844" y="34219"/>
                    </a:lnTo>
                    <a:moveTo>
                      <a:pt x="88971" y="0"/>
                    </a:moveTo>
                    <a:lnTo>
                      <a:pt x="88971" y="34219"/>
                    </a:lnTo>
                    <a:moveTo>
                      <a:pt x="0" y="88970"/>
                    </a:moveTo>
                    <a:quadBezTo>
                      <a:pt x="47907" y="116346"/>
                      <a:pt x="88971" y="82126"/>
                    </a:quadBezTo>
                  </a:path>
                </a:pathLst>
              </a:custGeom>
              <a:noFill/>
              <a:ln w="15057" cap="rnd" cmpd="sng" algn="ctr">
                <a:solidFill>
                  <a:srgbClr val="243E42"/>
                </a:solidFill>
                <a:prstDash val="solid"/>
                <a:round/>
                <a:headEnd type="none" w="med" len="med"/>
                <a:tailEnd type="none" w="med" len="med"/>
              </a:ln>
            </p:spPr>
          </p:sp>
          <p:sp>
            <p:nvSpPr>
              <p:cNvPr id="1081" name="path · 57"/>
              <p:cNvSpPr/>
              <p:nvPr/>
            </p:nvSpPr>
            <p:spPr>
              <a:xfrm>
                <a:off x="3095343" y="3222484"/>
                <a:ext cx="232692" cy="246380"/>
              </a:xfrm>
              <a:custGeom>
                <a:avLst/>
                <a:gdLst/>
                <a:ahLst/>
                <a:cxnLst/>
                <a:rect l="0" t="0" r="r" b="b"/>
                <a:pathLst>
                  <a:path w="232692" h="246380" fill="norm" stroke="1" extrusionOk="0">
                    <a:moveTo>
                      <a:pt x="0" y="88970"/>
                    </a:moveTo>
                    <a:lnTo>
                      <a:pt x="150565" y="0"/>
                    </a:lnTo>
                    <a:lnTo>
                      <a:pt x="232692" y="157409"/>
                    </a:lnTo>
                    <a:lnTo>
                      <a:pt x="68439" y="246380"/>
                    </a:lnTo>
                    <a:close/>
                  </a:path>
                </a:pathLst>
              </a:custGeom>
              <a:solidFill>
                <a:srgbClr val="FFFFFF"/>
              </a:solidFill>
              <a:ln w="15057" cap="rnd" cmpd="sng" algn="ctr">
                <a:solidFill>
                  <a:srgbClr val="243E42"/>
                </a:solidFill>
                <a:prstDash val="solid"/>
                <a:round/>
                <a:headEnd type="none" w="med" len="med"/>
                <a:tailEnd type="none" w="med" len="med"/>
              </a:ln>
            </p:spPr>
          </p:sp>
          <p:sp>
            <p:nvSpPr>
              <p:cNvPr id="1082" name="path · 58"/>
              <p:cNvSpPr/>
              <p:nvPr/>
            </p:nvSpPr>
            <p:spPr>
              <a:xfrm>
                <a:off x="2999528" y="3277235"/>
                <a:ext cx="88971" cy="157409"/>
              </a:xfrm>
              <a:custGeom>
                <a:avLst/>
                <a:gdLst/>
                <a:ahLst/>
                <a:cxnLst/>
                <a:rect l="0" t="0" r="r" b="b"/>
                <a:pathLst>
                  <a:path w="88971" h="157409" fill="none" stroke="1" extrusionOk="0">
                    <a:moveTo>
                      <a:pt x="88971" y="157409"/>
                    </a:moveTo>
                    <a:lnTo>
                      <a:pt x="0" y="0"/>
                    </a:lnTo>
                  </a:path>
                </a:pathLst>
              </a:custGeom>
              <a:noFill/>
              <a:ln w="75283" cap="rnd" cmpd="sng" algn="ctr">
                <a:solidFill>
                  <a:srgbClr val="E2EEF3"/>
                </a:solidFill>
                <a:prstDash val="solid"/>
                <a:round/>
                <a:headEnd type="none" w="med" len="med"/>
                <a:tailEnd type="none" w="med" len="med"/>
              </a:ln>
            </p:spPr>
          </p:sp>
        </p:grpSp>
        <p:sp>
          <p:nvSpPr>
            <p:cNvPr id="1083" name="text · 60"/>
            <p:cNvSpPr txBox="1"/>
            <p:nvPr/>
          </p:nvSpPr>
          <p:spPr>
            <a:xfrm>
              <a:off x="2819186" y="3561637"/>
              <a:ext cx="648128" cy="31008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86"/>
                </a:lnSpc>
                <a:spcBef>
                  <a:spcPts val="0"/>
                </a:spcBef>
                <a:spcAft>
                  <a:spcPts val="0"/>
                </a:spcAft>
              </a:pPr>
              <a:r>
                <a:rPr lang="en-US" sz="1600" b="1" i="0" kern="0" spc="0" dirty="0">
                  <a:solidFill>
                    <a:srgbClr val="7A6025"/>
                  </a:solidFill>
                  <a:latin typeface="Manrope"/>
                  <a:ea typeface="Manrope"/>
                  <a:cs typeface="Manrope"/>
                </a:rPr>
                <a:t>Clarify</a:t>
              </a:r>
              <a:endParaRPr lang="en-US" sz="1600"/>
            </a:p>
          </p:txBody>
        </p:sp>
        <p:grpSp>
          <p:nvGrpSpPr>
            <p:cNvPr id="1084" name="policy · 67"/>
            <p:cNvGrpSpPr/>
            <p:nvPr/>
          </p:nvGrpSpPr>
          <p:grpSpPr>
            <a:xfrm>
              <a:off x="4369788" y="2565718"/>
              <a:ext cx="913095" cy="913095"/>
              <a:chOff x="4369788" y="2565718"/>
              <a:chExt cx="913095" cy="913095"/>
            </a:xfrm>
          </p:grpSpPr>
          <p:sp>
            <p:nvSpPr>
              <p:cNvPr id="1085" name="rect · 61"/>
              <p:cNvSpPr/>
              <p:nvPr/>
            </p:nvSpPr>
            <p:spPr>
              <a:xfrm>
                <a:off x="4369788" y="2610414"/>
                <a:ext cx="727922" cy="842857"/>
              </a:xfrm>
              <a:prstGeom prst="roundRect">
                <a:avLst>
                  <a:gd name="adj" fmla="val 11404"/>
                </a:avLst>
              </a:prstGeom>
              <a:solidFill>
                <a:srgbClr val="E2EEF3"/>
              </a:solidFill>
              <a:ln w="14048" cap="rnd" cmpd="sng" algn="ctr">
                <a:solidFill>
                  <a:srgbClr val="243E42"/>
                </a:solidFill>
                <a:prstDash val="solid"/>
                <a:round/>
                <a:headEnd type="none" w="med" len="med"/>
                <a:tailEnd type="none" w="med" len="med"/>
              </a:ln>
            </p:spPr>
          </p:sp>
          <p:sp>
            <p:nvSpPr>
              <p:cNvPr id="1086" name="rect · 62"/>
              <p:cNvSpPr/>
              <p:nvPr/>
            </p:nvSpPr>
            <p:spPr>
              <a:xfrm>
                <a:off x="4446411" y="2693423"/>
                <a:ext cx="581060" cy="670454"/>
              </a:xfrm>
              <a:prstGeom prst="roundRect">
                <a:avLst>
                  <a:gd name="adj" fmla="val 6593"/>
                </a:avLst>
              </a:prstGeom>
              <a:solidFill>
                <a:srgbClr val="FFFFFF"/>
              </a:solidFill>
              <a:ln w="14048" cap="rnd" cmpd="sng" algn="ctr">
                <a:solidFill>
                  <a:srgbClr val="243E42"/>
                </a:solidFill>
                <a:prstDash val="solid"/>
                <a:round/>
                <a:headEnd type="none" w="med" len="med"/>
                <a:tailEnd type="none" w="med" len="med"/>
              </a:ln>
            </p:spPr>
          </p:sp>
          <p:sp>
            <p:nvSpPr>
              <p:cNvPr id="1087" name="path · 63"/>
              <p:cNvSpPr/>
              <p:nvPr/>
            </p:nvSpPr>
            <p:spPr>
              <a:xfrm>
                <a:off x="4606043" y="2565718"/>
                <a:ext cx="249026" cy="140476"/>
              </a:xfrm>
              <a:custGeom>
                <a:avLst/>
                <a:gdLst/>
                <a:ahLst/>
                <a:cxnLst/>
                <a:rect l="0" t="0" r="r" b="b"/>
                <a:pathLst>
                  <a:path w="249026" h="140476" fill="norm" stroke="1" extrusionOk="0">
                    <a:moveTo>
                      <a:pt x="0" y="0"/>
                    </a:moveTo>
                    <a:lnTo>
                      <a:pt x="249026" y="0"/>
                    </a:lnTo>
                    <a:lnTo>
                      <a:pt x="249026" y="140476"/>
                    </a:lnTo>
                    <a:lnTo>
                      <a:pt x="0" y="140476"/>
                    </a:lnTo>
                    <a:close/>
                  </a:path>
                </a:pathLst>
              </a:custGeom>
              <a:solidFill>
                <a:srgbClr val="D7EBE1"/>
              </a:solidFill>
              <a:ln w="14048" cap="rnd" cmpd="sng" algn="ctr">
                <a:solidFill>
                  <a:srgbClr val="243E42"/>
                </a:solidFill>
                <a:prstDash val="solid"/>
                <a:round/>
                <a:headEnd type="none" w="med" len="med"/>
                <a:tailEnd type="none" w="med" len="med"/>
              </a:ln>
            </p:spPr>
          </p:sp>
          <p:sp>
            <p:nvSpPr>
              <p:cNvPr id="1088" name="path · 64"/>
              <p:cNvSpPr/>
              <p:nvPr/>
            </p:nvSpPr>
            <p:spPr>
              <a:xfrm>
                <a:off x="4503879" y="2827514"/>
                <a:ext cx="408658" cy="485281"/>
              </a:xfrm>
              <a:custGeom>
                <a:avLst/>
                <a:gdLst/>
                <a:ahLst/>
                <a:cxnLst/>
                <a:rect l="0" t="0" r="r" b="b"/>
                <a:pathLst>
                  <a:path w="408658" h="485281" fill="none" stroke="1" extrusionOk="0">
                    <a:moveTo>
                      <a:pt x="0" y="44697"/>
                    </a:moveTo>
                    <a:lnTo>
                      <a:pt x="44697" y="89394"/>
                    </a:lnTo>
                    <a:lnTo>
                      <a:pt x="114935" y="0"/>
                    </a:lnTo>
                    <a:moveTo>
                      <a:pt x="0" y="242640"/>
                    </a:moveTo>
                    <a:lnTo>
                      <a:pt x="44697" y="287337"/>
                    </a:lnTo>
                    <a:lnTo>
                      <a:pt x="114935" y="197944"/>
                    </a:lnTo>
                    <a:moveTo>
                      <a:pt x="0" y="440584"/>
                    </a:moveTo>
                    <a:lnTo>
                      <a:pt x="44697" y="485281"/>
                    </a:lnTo>
                    <a:lnTo>
                      <a:pt x="114935" y="395887"/>
                    </a:lnTo>
                    <a:moveTo>
                      <a:pt x="197943" y="51082"/>
                    </a:moveTo>
                    <a:lnTo>
                      <a:pt x="408657" y="51082"/>
                    </a:lnTo>
                    <a:moveTo>
                      <a:pt x="197943" y="242640"/>
                    </a:moveTo>
                    <a:lnTo>
                      <a:pt x="408657" y="242640"/>
                    </a:lnTo>
                    <a:moveTo>
                      <a:pt x="197943" y="434199"/>
                    </a:moveTo>
                    <a:lnTo>
                      <a:pt x="325649" y="434199"/>
                    </a:lnTo>
                  </a:path>
                </a:pathLst>
              </a:custGeom>
              <a:noFill/>
              <a:ln w="25541" cap="rnd" cmpd="sng" algn="ctr">
                <a:solidFill>
                  <a:srgbClr val="2E6653"/>
                </a:solidFill>
                <a:prstDash val="solid"/>
                <a:round/>
                <a:headEnd type="none" w="med" len="med"/>
                <a:tailEnd type="none" w="med" len="med"/>
              </a:ln>
            </p:spPr>
          </p:sp>
          <p:sp>
            <p:nvSpPr>
              <p:cNvPr id="1089" name="circle · 65"/>
              <p:cNvSpPr/>
              <p:nvPr/>
            </p:nvSpPr>
            <p:spPr>
              <a:xfrm>
                <a:off x="4925307" y="3121237"/>
                <a:ext cx="357576" cy="357576"/>
              </a:xfrm>
              <a:prstGeom prst="ellipse">
                <a:avLst/>
              </a:prstGeom>
              <a:solidFill>
                <a:srgbClr val="F6EAC8"/>
              </a:solidFill>
              <a:ln w="14048" cap="rnd" cmpd="sng" algn="ctr">
                <a:solidFill>
                  <a:srgbClr val="243E42"/>
                </a:solidFill>
                <a:prstDash val="solid"/>
                <a:round/>
                <a:headEnd type="none" w="med" len="med"/>
                <a:tailEnd type="none" w="med" len="med"/>
              </a:ln>
            </p:spPr>
          </p:sp>
          <p:sp>
            <p:nvSpPr>
              <p:cNvPr id="1090" name="path · 66"/>
              <p:cNvSpPr/>
              <p:nvPr/>
            </p:nvSpPr>
            <p:spPr>
              <a:xfrm>
                <a:off x="4995545" y="3185089"/>
                <a:ext cx="217099" cy="210714"/>
              </a:xfrm>
              <a:custGeom>
                <a:avLst/>
                <a:gdLst/>
                <a:ahLst/>
                <a:cxnLst/>
                <a:rect l="0" t="0" r="r" b="b"/>
                <a:pathLst>
                  <a:path w="217099" h="210714" fill="norm" stroke="1" extrusionOk="0">
                    <a:moveTo>
                      <a:pt x="108550" y="0"/>
                    </a:moveTo>
                    <a:lnTo>
                      <a:pt x="140476" y="70239"/>
                    </a:lnTo>
                    <a:lnTo>
                      <a:pt x="217099" y="83009"/>
                    </a:lnTo>
                    <a:lnTo>
                      <a:pt x="159632" y="134091"/>
                    </a:lnTo>
                    <a:lnTo>
                      <a:pt x="172403" y="210715"/>
                    </a:lnTo>
                    <a:lnTo>
                      <a:pt x="108550" y="172403"/>
                    </a:lnTo>
                    <a:lnTo>
                      <a:pt x="38312" y="210715"/>
                    </a:lnTo>
                    <a:lnTo>
                      <a:pt x="57467" y="134091"/>
                    </a:lnTo>
                    <a:lnTo>
                      <a:pt x="0" y="83009"/>
                    </a:lnTo>
                    <a:lnTo>
                      <a:pt x="76623" y="70239"/>
                    </a:lnTo>
                    <a:close/>
                  </a:path>
                </a:pathLst>
              </a:custGeom>
              <a:solidFill>
                <a:srgbClr val="FFFFFF"/>
              </a:solidFill>
              <a:ln w="14048" cap="rnd" cmpd="sng" algn="ctr">
                <a:solidFill>
                  <a:srgbClr val="7A6025"/>
                </a:solidFill>
                <a:prstDash val="solid"/>
                <a:round/>
                <a:headEnd type="none" w="med" len="med"/>
                <a:tailEnd type="none" w="med" len="med"/>
              </a:ln>
            </p:spPr>
          </p:sp>
        </p:grpSp>
        <p:sp>
          <p:nvSpPr>
            <p:cNvPr id="1091" name="text · 68"/>
            <p:cNvSpPr txBox="1"/>
            <p:nvPr/>
          </p:nvSpPr>
          <p:spPr>
            <a:xfrm>
              <a:off x="4087000" y="2184524"/>
              <a:ext cx="1338300"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355F72"/>
                  </a:solidFill>
                  <a:latin typeface="Manrope"/>
                  <a:ea typeface="Manrope"/>
                  <a:cs typeface="Manrope"/>
                </a:rPr>
                <a:t>Facts + checks</a:t>
              </a:r>
              <a:endParaRPr lang="en-US" sz="1500"/>
            </a:p>
          </p:txBody>
        </p:sp>
        <p:grpSp>
          <p:nvGrpSpPr>
            <p:cNvPr id="1092" name="frontier · 80"/>
            <p:cNvGrpSpPr/>
            <p:nvPr/>
          </p:nvGrpSpPr>
          <p:grpSpPr>
            <a:xfrm>
              <a:off x="6028020" y="2433814"/>
              <a:ext cx="1399611" cy="1188826"/>
              <a:chOff x="6028020" y="2433814"/>
              <a:chExt cx="1399611" cy="1188826"/>
            </a:xfrm>
          </p:grpSpPr>
          <p:sp>
            <p:nvSpPr>
              <p:cNvPr id="1093" name="path · 69"/>
              <p:cNvSpPr/>
              <p:nvPr/>
            </p:nvSpPr>
            <p:spPr>
              <a:xfrm>
                <a:off x="6028020" y="2433814"/>
                <a:ext cx="1399611" cy="1188826"/>
              </a:xfrm>
              <a:custGeom>
                <a:avLst/>
                <a:gdLst/>
                <a:ahLst/>
                <a:cxnLst/>
                <a:rect l="0" t="0" r="r" b="b"/>
                <a:pathLst>
                  <a:path w="1399611" h="1188826" fill="none" stroke="1" extrusionOk="0">
                    <a:moveTo>
                      <a:pt x="286667" y="0"/>
                    </a:moveTo>
                    <a:lnTo>
                      <a:pt x="286667" y="177059"/>
                    </a:lnTo>
                    <a:moveTo>
                      <a:pt x="497452" y="0"/>
                    </a:moveTo>
                    <a:lnTo>
                      <a:pt x="497452" y="177059"/>
                    </a:lnTo>
                    <a:moveTo>
                      <a:pt x="716668" y="0"/>
                    </a:moveTo>
                    <a:lnTo>
                      <a:pt x="716668" y="177059"/>
                    </a:lnTo>
                    <a:moveTo>
                      <a:pt x="935884" y="0"/>
                    </a:moveTo>
                    <a:lnTo>
                      <a:pt x="935884" y="177059"/>
                    </a:lnTo>
                    <a:moveTo>
                      <a:pt x="1146669" y="0"/>
                    </a:moveTo>
                    <a:lnTo>
                      <a:pt x="1146669" y="177059"/>
                    </a:lnTo>
                    <a:moveTo>
                      <a:pt x="286667" y="1011767"/>
                    </a:moveTo>
                    <a:lnTo>
                      <a:pt x="286667" y="1188826"/>
                    </a:lnTo>
                    <a:moveTo>
                      <a:pt x="497452" y="1011767"/>
                    </a:moveTo>
                    <a:lnTo>
                      <a:pt x="497452" y="1188826"/>
                    </a:lnTo>
                    <a:moveTo>
                      <a:pt x="716668" y="1011767"/>
                    </a:moveTo>
                    <a:lnTo>
                      <a:pt x="716668" y="1188826"/>
                    </a:lnTo>
                    <a:moveTo>
                      <a:pt x="935884" y="1011767"/>
                    </a:moveTo>
                    <a:lnTo>
                      <a:pt x="935884" y="1188826"/>
                    </a:lnTo>
                    <a:moveTo>
                      <a:pt x="1146669" y="1011767"/>
                    </a:moveTo>
                    <a:lnTo>
                      <a:pt x="1146669" y="1188826"/>
                    </a:lnTo>
                    <a:moveTo>
                      <a:pt x="0" y="362550"/>
                    </a:moveTo>
                    <a:lnTo>
                      <a:pt x="168628" y="362550"/>
                    </a:lnTo>
                    <a:moveTo>
                      <a:pt x="0" y="581766"/>
                    </a:moveTo>
                    <a:lnTo>
                      <a:pt x="168628" y="581766"/>
                    </a:lnTo>
                    <a:moveTo>
                      <a:pt x="0" y="809413"/>
                    </a:moveTo>
                    <a:lnTo>
                      <a:pt x="168628" y="809413"/>
                    </a:lnTo>
                    <a:moveTo>
                      <a:pt x="1239414" y="362550"/>
                    </a:moveTo>
                    <a:lnTo>
                      <a:pt x="1399610" y="362550"/>
                    </a:lnTo>
                    <a:moveTo>
                      <a:pt x="1239414" y="581766"/>
                    </a:moveTo>
                    <a:lnTo>
                      <a:pt x="1399610" y="581766"/>
                    </a:lnTo>
                    <a:moveTo>
                      <a:pt x="1239414" y="809413"/>
                    </a:moveTo>
                    <a:lnTo>
                      <a:pt x="1399610" y="809413"/>
                    </a:lnTo>
                  </a:path>
                </a:pathLst>
              </a:custGeom>
              <a:noFill/>
              <a:ln w="42157" cap="rnd" cmpd="sng" algn="ctr">
                <a:solidFill>
                  <a:srgbClr val="665180"/>
                </a:solidFill>
                <a:prstDash val="solid"/>
                <a:round/>
                <a:headEnd type="none" w="med" len="med"/>
                <a:tailEnd type="none" w="med" len="med"/>
              </a:ln>
            </p:spPr>
          </p:sp>
          <p:sp>
            <p:nvSpPr>
              <p:cNvPr id="1094" name="rect · 70"/>
              <p:cNvSpPr/>
              <p:nvPr/>
            </p:nvSpPr>
            <p:spPr>
              <a:xfrm>
                <a:off x="6162922" y="2560285"/>
                <a:ext cx="1129806" cy="927453"/>
              </a:xfrm>
              <a:prstGeom prst="roundRect">
                <a:avLst>
                  <a:gd name="adj" fmla="val 21818"/>
                </a:avLst>
              </a:prstGeom>
              <a:solidFill>
                <a:srgbClr val="E8E0F3"/>
              </a:solidFill>
              <a:ln w="25294" cap="rnd" cmpd="sng" algn="ctr">
                <a:solidFill>
                  <a:srgbClr val="665180"/>
                </a:solidFill>
                <a:prstDash val="solid"/>
                <a:round/>
                <a:headEnd type="none" w="med" len="med"/>
                <a:tailEnd type="none" w="med" len="med"/>
              </a:ln>
            </p:spPr>
          </p:sp>
          <p:sp>
            <p:nvSpPr>
              <p:cNvPr id="1095" name="rect · 71"/>
              <p:cNvSpPr/>
              <p:nvPr/>
            </p:nvSpPr>
            <p:spPr>
              <a:xfrm>
                <a:off x="6264099" y="2661461"/>
                <a:ext cx="927453" cy="725099"/>
              </a:xfrm>
              <a:prstGeom prst="roundRect">
                <a:avLst>
                  <a:gd name="adj" fmla="val 18605"/>
                </a:avLst>
              </a:prstGeom>
              <a:solidFill>
                <a:srgbClr val="FFFFFF"/>
              </a:solidFill>
              <a:ln w="18549" cap="rnd" cmpd="sng" algn="ctr">
                <a:solidFill>
                  <a:srgbClr val="665180"/>
                </a:solidFill>
                <a:prstDash val="solid"/>
                <a:round/>
                <a:headEnd type="none" w="med" len="med"/>
                <a:tailEnd type="none" w="med" len="med"/>
              </a:ln>
            </p:spPr>
          </p:sp>
          <p:sp>
            <p:nvSpPr>
              <p:cNvPr id="1096" name="path · 72"/>
              <p:cNvSpPr/>
              <p:nvPr/>
            </p:nvSpPr>
            <p:spPr>
              <a:xfrm>
                <a:off x="6382138" y="2779501"/>
                <a:ext cx="682942" cy="455295"/>
              </a:xfrm>
              <a:custGeom>
                <a:avLst/>
                <a:gdLst/>
                <a:ahLst/>
                <a:cxnLst/>
                <a:rect l="0" t="0" r="r" b="b"/>
                <a:pathLst>
                  <a:path w="682942" h="455295" fill="none" stroke="1" extrusionOk="0">
                    <a:moveTo>
                      <a:pt x="0" y="101177"/>
                    </a:moveTo>
                    <a:lnTo>
                      <a:pt x="252942" y="0"/>
                    </a:lnTo>
                    <a:lnTo>
                      <a:pt x="497452" y="84314"/>
                    </a:lnTo>
                    <a:lnTo>
                      <a:pt x="682943" y="337255"/>
                    </a:lnTo>
                    <a:lnTo>
                      <a:pt x="362550" y="455295"/>
                    </a:lnTo>
                    <a:lnTo>
                      <a:pt x="143334" y="303530"/>
                    </a:lnTo>
                    <a:lnTo>
                      <a:pt x="0" y="101177"/>
                    </a:lnTo>
                    <a:moveTo>
                      <a:pt x="252942" y="0"/>
                    </a:moveTo>
                    <a:lnTo>
                      <a:pt x="362550" y="455295"/>
                    </a:lnTo>
                    <a:moveTo>
                      <a:pt x="497452" y="84314"/>
                    </a:moveTo>
                    <a:lnTo>
                      <a:pt x="143334" y="303530"/>
                    </a:lnTo>
                    <a:moveTo>
                      <a:pt x="682943" y="337255"/>
                    </a:moveTo>
                    <a:lnTo>
                      <a:pt x="0" y="101177"/>
                    </a:lnTo>
                  </a:path>
                </a:pathLst>
              </a:custGeom>
              <a:noFill/>
              <a:ln w="19392" cap="rnd" cmpd="sng" algn="ctr">
                <a:solidFill>
                  <a:srgbClr val="665180"/>
                </a:solidFill>
                <a:prstDash val="solid"/>
                <a:round/>
                <a:headEnd type="none" w="med" len="med"/>
                <a:tailEnd type="none" w="med" len="med"/>
              </a:ln>
            </p:spPr>
          </p:sp>
          <p:grpSp>
            <p:nvGrpSpPr>
              <p:cNvPr id="1097" name="g · 79"/>
              <p:cNvGrpSpPr/>
              <p:nvPr/>
            </p:nvGrpSpPr>
            <p:grpSpPr>
              <a:xfrm>
                <a:off x="6323118" y="2720481"/>
                <a:ext cx="800982" cy="573334"/>
                <a:chOff x="6323118" y="2720481"/>
                <a:chExt cx="800982" cy="573334"/>
              </a:xfrm>
            </p:grpSpPr>
            <p:sp>
              <p:nvSpPr>
                <p:cNvPr id="1098" name="circle · 73"/>
                <p:cNvSpPr/>
                <p:nvPr/>
              </p:nvSpPr>
              <p:spPr>
                <a:xfrm>
                  <a:off x="6323118" y="2821658"/>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099" name="circle · 74"/>
                <p:cNvSpPr/>
                <p:nvPr/>
              </p:nvSpPr>
              <p:spPr>
                <a:xfrm>
                  <a:off x="6576060" y="2720481"/>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0" name="circle · 75"/>
                <p:cNvSpPr/>
                <p:nvPr/>
              </p:nvSpPr>
              <p:spPr>
                <a:xfrm>
                  <a:off x="6820570" y="2804795"/>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1" name="circle · 76"/>
                <p:cNvSpPr/>
                <p:nvPr/>
              </p:nvSpPr>
              <p:spPr>
                <a:xfrm>
                  <a:off x="7006061" y="3057737"/>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2" name="circle · 77"/>
                <p:cNvSpPr/>
                <p:nvPr/>
              </p:nvSpPr>
              <p:spPr>
                <a:xfrm>
                  <a:off x="6685668" y="3175776"/>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sp>
              <p:nvSpPr>
                <p:cNvPr id="1103" name="circle · 78"/>
                <p:cNvSpPr/>
                <p:nvPr/>
              </p:nvSpPr>
              <p:spPr>
                <a:xfrm>
                  <a:off x="6466452" y="3024011"/>
                  <a:ext cx="118039" cy="118039"/>
                </a:xfrm>
                <a:prstGeom prst="ellipse">
                  <a:avLst/>
                </a:prstGeom>
                <a:solidFill>
                  <a:srgbClr val="E8E0F3"/>
                </a:solidFill>
                <a:ln w="21078" cap="rnd" cmpd="sng" algn="ctr">
                  <a:solidFill>
                    <a:srgbClr val="665180"/>
                  </a:solidFill>
                  <a:prstDash val="solid"/>
                  <a:round/>
                  <a:headEnd type="none" w="med" len="med"/>
                  <a:tailEnd type="none" w="med" len="med"/>
                </a:ln>
              </p:spPr>
            </p:sp>
          </p:grpSp>
        </p:grpSp>
        <p:sp>
          <p:nvSpPr>
            <p:cNvPr id="1104" name="text · 81"/>
            <p:cNvSpPr txBox="1"/>
            <p:nvPr/>
          </p:nvSpPr>
          <p:spPr>
            <a:xfrm>
              <a:off x="5842099" y="1995283"/>
              <a:ext cx="1765102" cy="2616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844"/>
                </a:lnSpc>
                <a:spcBef>
                  <a:spcPts val="0"/>
                </a:spcBef>
                <a:spcAft>
                  <a:spcPts val="0"/>
                </a:spcAft>
              </a:pPr>
              <a:r>
                <a:rPr lang="en-US" sz="1350" b="1" i="0" kern="0" spc="0" dirty="0">
                  <a:solidFill>
                    <a:srgbClr val="665180"/>
                  </a:solidFill>
                  <a:latin typeface="Manrope"/>
                  <a:ea typeface="Manrope"/>
                  <a:cs typeface="Manrope"/>
                </a:rPr>
                <a:t>Meaning unresolved?</a:t>
              </a:r>
              <a:endParaRPr lang="en-US" sz="1350"/>
            </a:p>
          </p:txBody>
        </p:sp>
        <p:sp>
          <p:nvSpPr>
            <p:cNvPr id="1105" name="text · 82"/>
            <p:cNvSpPr txBox="1"/>
            <p:nvPr/>
          </p:nvSpPr>
          <p:spPr>
            <a:xfrm>
              <a:off x="6119300" y="3656887"/>
              <a:ext cx="1210698" cy="31008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86"/>
                </a:lnSpc>
                <a:spcBef>
                  <a:spcPts val="0"/>
                </a:spcBef>
                <a:spcAft>
                  <a:spcPts val="0"/>
                </a:spcAft>
              </a:pPr>
              <a:r>
                <a:rPr lang="en-US" sz="1600" b="1" i="0" kern="0" spc="0" dirty="0">
                  <a:solidFill>
                    <a:srgbClr val="665180"/>
                  </a:solidFill>
                  <a:latin typeface="Manrope"/>
                  <a:ea typeface="Manrope"/>
                  <a:cs typeface="Manrope"/>
                </a:rPr>
                <a:t>Frontier LLM</a:t>
              </a:r>
              <a:endParaRPr lang="en-US" sz="1600"/>
            </a:p>
          </p:txBody>
        </p:sp>
        <p:grpSp>
          <p:nvGrpSpPr>
            <p:cNvPr id="1106" name="review · 94"/>
            <p:cNvGrpSpPr/>
            <p:nvPr/>
          </p:nvGrpSpPr>
          <p:grpSpPr>
            <a:xfrm>
              <a:off x="8564386" y="2705100"/>
              <a:ext cx="1190801" cy="879828"/>
              <a:chOff x="8564386" y="2705100"/>
              <a:chExt cx="1190801" cy="879828"/>
            </a:xfrm>
          </p:grpSpPr>
          <p:sp>
            <p:nvSpPr>
              <p:cNvPr id="1107" name="path · 83"/>
              <p:cNvSpPr/>
              <p:nvPr/>
            </p:nvSpPr>
            <p:spPr>
              <a:xfrm>
                <a:off x="8564386" y="3129844"/>
                <a:ext cx="553685" cy="455083"/>
              </a:xfrm>
              <a:custGeom>
                <a:avLst/>
                <a:gdLst/>
                <a:ahLst/>
                <a:cxnLst/>
                <a:rect l="0" t="0" r="r" b="b"/>
                <a:pathLst>
                  <a:path w="553685" h="455083" fill="norm" stroke="1" extrusionOk="0">
                    <a:moveTo>
                      <a:pt x="0" y="455084"/>
                    </a:moveTo>
                    <a:lnTo>
                      <a:pt x="0" y="235127"/>
                    </a:lnTo>
                    <a:quadBezTo>
                      <a:pt x="7585" y="0"/>
                      <a:pt x="257881" y="0"/>
                    </a:quadBezTo>
                    <a:quadBezTo>
                      <a:pt x="508176" y="0"/>
                      <a:pt x="553685" y="235127"/>
                    </a:quadBezTo>
                    <a:lnTo>
                      <a:pt x="553685" y="455084"/>
                    </a:lnTo>
                    <a:close/>
                  </a:path>
                </a:pathLst>
              </a:custGeom>
              <a:solidFill>
                <a:srgbClr val="E2EEF3"/>
              </a:solidFill>
              <a:ln w="16686" cap="rnd" cmpd="sng" algn="ctr">
                <a:solidFill>
                  <a:srgbClr val="243E42"/>
                </a:solidFill>
                <a:prstDash val="solid"/>
                <a:round/>
                <a:headEnd type="none" w="med" len="med"/>
                <a:tailEnd type="none" w="med" len="med"/>
              </a:ln>
            </p:spPr>
          </p:sp>
          <p:sp>
            <p:nvSpPr>
              <p:cNvPr id="1108" name="circle · 84"/>
              <p:cNvSpPr/>
              <p:nvPr/>
            </p:nvSpPr>
            <p:spPr>
              <a:xfrm>
                <a:off x="8640233" y="2773362"/>
                <a:ext cx="364067" cy="364067"/>
              </a:xfrm>
              <a:prstGeom prst="ellipse">
                <a:avLst/>
              </a:prstGeom>
              <a:solidFill>
                <a:srgbClr val="F4DFD3"/>
              </a:solidFill>
              <a:ln w="16686" cap="rnd" cmpd="sng" algn="ctr">
                <a:solidFill>
                  <a:srgbClr val="243E42"/>
                </a:solidFill>
                <a:prstDash val="solid"/>
                <a:round/>
                <a:headEnd type="none" w="med" len="med"/>
                <a:tailEnd type="none" w="med" len="med"/>
              </a:ln>
            </p:spPr>
          </p:sp>
          <p:sp>
            <p:nvSpPr>
              <p:cNvPr id="1109" name="path · 85"/>
              <p:cNvSpPr/>
              <p:nvPr/>
            </p:nvSpPr>
            <p:spPr>
              <a:xfrm>
                <a:off x="8625064" y="2720269"/>
                <a:ext cx="394406" cy="219957"/>
              </a:xfrm>
              <a:custGeom>
                <a:avLst/>
                <a:gdLst/>
                <a:ahLst/>
                <a:cxnLst/>
                <a:rect l="0" t="0" r="r" b="b"/>
                <a:pathLst>
                  <a:path w="394406" h="219957" fill="norm" stroke="1" extrusionOk="0">
                    <a:moveTo>
                      <a:pt x="30339" y="212373"/>
                    </a:moveTo>
                    <a:quadBezTo>
                      <a:pt x="0" y="7585"/>
                      <a:pt x="219957" y="0"/>
                    </a:quadBezTo>
                    <a:quadBezTo>
                      <a:pt x="394405" y="30339"/>
                      <a:pt x="379236" y="219957"/>
                    </a:quadBezTo>
                    <a:lnTo>
                      <a:pt x="265465" y="136525"/>
                    </a:lnTo>
                    <a:quadBezTo>
                      <a:pt x="174448" y="212373"/>
                      <a:pt x="30339" y="212373"/>
                    </a:quadBezTo>
                    <a:close/>
                  </a:path>
                </a:pathLst>
              </a:custGeom>
              <a:solidFill>
                <a:srgbClr val="243E42"/>
              </a:solidFill>
              <a:ln w="16686" cap="rnd" cmpd="sng" algn="ctr">
                <a:solidFill>
                  <a:srgbClr val="243E42"/>
                </a:solidFill>
                <a:prstDash val="solid"/>
                <a:round/>
                <a:headEnd type="none" w="med" len="med"/>
                <a:tailEnd type="none" w="med" len="med"/>
              </a:ln>
            </p:spPr>
          </p:sp>
          <p:sp>
            <p:nvSpPr>
              <p:cNvPr id="1110" name="path · 86"/>
              <p:cNvSpPr/>
              <p:nvPr/>
            </p:nvSpPr>
            <p:spPr>
              <a:xfrm>
                <a:off x="8776758" y="2962981"/>
                <a:ext cx="182033" cy="121356"/>
              </a:xfrm>
              <a:custGeom>
                <a:avLst/>
                <a:gdLst/>
                <a:ahLst/>
                <a:cxnLst/>
                <a:rect l="0" t="0" r="r" b="b"/>
                <a:pathLst>
                  <a:path w="182033" h="121356" fill="none" stroke="1" extrusionOk="0">
                    <a:moveTo>
                      <a:pt x="0" y="0"/>
                    </a:moveTo>
                    <a:lnTo>
                      <a:pt x="75848" y="0"/>
                    </a:lnTo>
                    <a:moveTo>
                      <a:pt x="106186" y="0"/>
                    </a:moveTo>
                    <a:lnTo>
                      <a:pt x="182034" y="0"/>
                    </a:lnTo>
                    <a:moveTo>
                      <a:pt x="30339" y="98601"/>
                    </a:moveTo>
                    <a:quadBezTo>
                      <a:pt x="83432" y="121355"/>
                      <a:pt x="121356" y="91016"/>
                    </a:quadBezTo>
                  </a:path>
                </a:pathLst>
              </a:custGeom>
              <a:noFill/>
              <a:ln w="16686" cap="rnd" cmpd="sng" algn="ctr">
                <a:solidFill>
                  <a:srgbClr val="243E42"/>
                </a:solidFill>
                <a:prstDash val="solid"/>
                <a:round/>
                <a:headEnd type="none" w="med" len="med"/>
                <a:tailEnd type="none" w="med" len="med"/>
              </a:ln>
            </p:spPr>
          </p:sp>
          <p:sp>
            <p:nvSpPr>
              <p:cNvPr id="1111" name="circle · 87"/>
              <p:cNvSpPr/>
              <p:nvPr/>
            </p:nvSpPr>
            <p:spPr>
              <a:xfrm>
                <a:off x="8746419" y="2909888"/>
                <a:ext cx="106186" cy="106186"/>
              </a:xfrm>
              <a:prstGeom prst="ellipse">
                <a:avLst/>
              </a:prstGeom>
              <a:noFill/>
              <a:ln w="16686" cap="rnd" cmpd="sng" algn="ctr">
                <a:solidFill>
                  <a:srgbClr val="243E42"/>
                </a:solidFill>
                <a:prstDash val="solid"/>
                <a:round/>
                <a:headEnd type="none" w="med" len="med"/>
                <a:tailEnd type="none" w="med" len="med"/>
              </a:ln>
            </p:spPr>
          </p:sp>
          <p:sp>
            <p:nvSpPr>
              <p:cNvPr id="1112" name="circle · 88"/>
              <p:cNvSpPr/>
              <p:nvPr/>
            </p:nvSpPr>
            <p:spPr>
              <a:xfrm>
                <a:off x="8875360" y="2909888"/>
                <a:ext cx="106186" cy="106186"/>
              </a:xfrm>
              <a:prstGeom prst="ellipse">
                <a:avLst/>
              </a:prstGeom>
              <a:noFill/>
              <a:ln w="16686" cap="rnd" cmpd="sng" algn="ctr">
                <a:solidFill>
                  <a:srgbClr val="243E42"/>
                </a:solidFill>
                <a:prstDash val="solid"/>
                <a:round/>
                <a:headEnd type="none" w="med" len="med"/>
                <a:tailEnd type="none" w="med" len="med"/>
              </a:ln>
            </p:spPr>
          </p:sp>
          <p:sp>
            <p:nvSpPr>
              <p:cNvPr id="1113" name="path · 89"/>
              <p:cNvSpPr/>
              <p:nvPr/>
            </p:nvSpPr>
            <p:spPr>
              <a:xfrm>
                <a:off x="9118071" y="2705100"/>
                <a:ext cx="500592" cy="735718"/>
              </a:xfrm>
              <a:custGeom>
                <a:avLst/>
                <a:gdLst/>
                <a:ahLst/>
                <a:cxnLst/>
                <a:rect l="0" t="0" r="r" b="b"/>
                <a:pathLst>
                  <a:path w="500592" h="735718" fill="norm" stroke="1" extrusionOk="0">
                    <a:moveTo>
                      <a:pt x="0" y="0"/>
                    </a:moveTo>
                    <a:lnTo>
                      <a:pt x="348897" y="0"/>
                    </a:lnTo>
                    <a:lnTo>
                      <a:pt x="500591" y="151694"/>
                    </a:lnTo>
                    <a:lnTo>
                      <a:pt x="500591" y="735718"/>
                    </a:lnTo>
                    <a:lnTo>
                      <a:pt x="0" y="735718"/>
                    </a:lnTo>
                    <a:close/>
                  </a:path>
                </a:pathLst>
              </a:custGeom>
              <a:solidFill>
                <a:srgbClr val="FFFFFF"/>
              </a:solidFill>
              <a:ln w="16686" cap="rnd" cmpd="sng" algn="ctr">
                <a:solidFill>
                  <a:srgbClr val="243E42"/>
                </a:solidFill>
                <a:prstDash val="solid"/>
                <a:round/>
                <a:headEnd type="none" w="med" len="med"/>
                <a:tailEnd type="none" w="med" len="med"/>
              </a:ln>
            </p:spPr>
          </p:sp>
          <p:sp>
            <p:nvSpPr>
              <p:cNvPr id="1114" name="path · 90"/>
              <p:cNvSpPr/>
              <p:nvPr/>
            </p:nvSpPr>
            <p:spPr>
              <a:xfrm>
                <a:off x="9209088" y="2705100"/>
                <a:ext cx="409575" cy="455083"/>
              </a:xfrm>
              <a:custGeom>
                <a:avLst/>
                <a:gdLst/>
                <a:ahLst/>
                <a:cxnLst/>
                <a:rect l="0" t="0" r="r" b="b"/>
                <a:pathLst>
                  <a:path w="409575" h="455083" fill="none" stroke="1" extrusionOk="0">
                    <a:moveTo>
                      <a:pt x="257880" y="0"/>
                    </a:moveTo>
                    <a:lnTo>
                      <a:pt x="257880" y="151694"/>
                    </a:lnTo>
                    <a:lnTo>
                      <a:pt x="409574" y="151694"/>
                    </a:lnTo>
                    <a:moveTo>
                      <a:pt x="0" y="265465"/>
                    </a:moveTo>
                    <a:lnTo>
                      <a:pt x="273050" y="265465"/>
                    </a:lnTo>
                    <a:moveTo>
                      <a:pt x="0" y="356482"/>
                    </a:moveTo>
                    <a:lnTo>
                      <a:pt x="174448" y="356482"/>
                    </a:lnTo>
                    <a:moveTo>
                      <a:pt x="0" y="455083"/>
                    </a:moveTo>
                    <a:lnTo>
                      <a:pt x="204787" y="455083"/>
                    </a:lnTo>
                  </a:path>
                </a:pathLst>
              </a:custGeom>
              <a:noFill/>
              <a:ln w="16686" cap="rnd" cmpd="sng" algn="ctr">
                <a:solidFill>
                  <a:srgbClr val="243E42"/>
                </a:solidFill>
                <a:prstDash val="solid"/>
                <a:round/>
                <a:headEnd type="none" w="med" len="med"/>
                <a:tailEnd type="none" w="med" len="med"/>
              </a:ln>
            </p:spPr>
          </p:sp>
          <p:sp>
            <p:nvSpPr>
              <p:cNvPr id="1115" name="circle · 91"/>
              <p:cNvSpPr/>
              <p:nvPr/>
            </p:nvSpPr>
            <p:spPr>
              <a:xfrm>
                <a:off x="9262181" y="3023658"/>
                <a:ext cx="379236" cy="379236"/>
              </a:xfrm>
              <a:prstGeom prst="ellipse">
                <a:avLst/>
              </a:prstGeom>
              <a:solidFill>
                <a:srgbClr val="F6EAC8">
                  <a:alpha val="75000"/>
                </a:srgbClr>
              </a:solidFill>
              <a:ln w="30339" cap="rnd" cmpd="sng" algn="ctr">
                <a:solidFill>
                  <a:srgbClr val="7A6025"/>
                </a:solidFill>
                <a:prstDash val="solid"/>
                <a:round/>
                <a:headEnd type="none" w="med" len="med"/>
                <a:tailEnd type="none" w="med" len="med"/>
              </a:ln>
            </p:spPr>
          </p:sp>
          <p:sp>
            <p:nvSpPr>
              <p:cNvPr id="1116" name="path · 92"/>
              <p:cNvSpPr/>
              <p:nvPr/>
            </p:nvSpPr>
            <p:spPr>
              <a:xfrm>
                <a:off x="9580739" y="3357386"/>
                <a:ext cx="174449" cy="189618"/>
              </a:xfrm>
              <a:custGeom>
                <a:avLst/>
                <a:gdLst/>
                <a:ahLst/>
                <a:cxnLst/>
                <a:rect l="0" t="0" r="r" b="b"/>
                <a:pathLst>
                  <a:path w="174449" h="189618" fill="none" stroke="1" extrusionOk="0">
                    <a:moveTo>
                      <a:pt x="0" y="0"/>
                    </a:moveTo>
                    <a:lnTo>
                      <a:pt x="174449" y="189618"/>
                    </a:lnTo>
                  </a:path>
                </a:pathLst>
              </a:custGeom>
              <a:noFill/>
              <a:ln w="75847" cap="rnd" cmpd="sng" algn="ctr">
                <a:solidFill>
                  <a:srgbClr val="7A6025"/>
                </a:solidFill>
                <a:prstDash val="solid"/>
                <a:round/>
                <a:headEnd type="none" w="med" len="med"/>
                <a:tailEnd type="none" w="med" len="med"/>
              </a:ln>
            </p:spPr>
          </p:sp>
          <p:sp>
            <p:nvSpPr>
              <p:cNvPr id="1117" name="path · 93"/>
              <p:cNvSpPr/>
              <p:nvPr/>
            </p:nvSpPr>
            <p:spPr>
              <a:xfrm>
                <a:off x="9360782" y="3122260"/>
                <a:ext cx="182033" cy="144110"/>
              </a:xfrm>
              <a:custGeom>
                <a:avLst/>
                <a:gdLst/>
                <a:ahLst/>
                <a:cxnLst/>
                <a:rect l="0" t="0" r="r" b="b"/>
                <a:pathLst>
                  <a:path w="182033" h="144110" fill="none" stroke="1" extrusionOk="0">
                    <a:moveTo>
                      <a:pt x="0" y="83432"/>
                    </a:moveTo>
                    <a:lnTo>
                      <a:pt x="60678" y="144109"/>
                    </a:lnTo>
                    <a:lnTo>
                      <a:pt x="182033" y="0"/>
                    </a:lnTo>
                  </a:path>
                </a:pathLst>
              </a:custGeom>
              <a:noFill/>
              <a:ln w="30339" cap="rnd" cmpd="sng" algn="ctr">
                <a:solidFill>
                  <a:srgbClr val="2E6653"/>
                </a:solidFill>
                <a:prstDash val="solid"/>
                <a:round/>
                <a:headEnd type="none" w="med" len="med"/>
                <a:tailEnd type="none" w="med" len="med"/>
              </a:ln>
            </p:spPr>
          </p:sp>
        </p:grpSp>
        <p:sp>
          <p:nvSpPr>
            <p:cNvPr id="1118" name="text · 95"/>
            <p:cNvSpPr txBox="1"/>
            <p:nvPr/>
          </p:nvSpPr>
          <p:spPr>
            <a:xfrm>
              <a:off x="8441218" y="3663237"/>
              <a:ext cx="1380164" cy="31008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86"/>
                </a:lnSpc>
                <a:spcBef>
                  <a:spcPts val="0"/>
                </a:spcBef>
                <a:spcAft>
                  <a:spcPts val="0"/>
                </a:spcAft>
              </a:pPr>
              <a:r>
                <a:rPr lang="en-US" sz="1600" b="1" i="0" kern="0" spc="0" dirty="0">
                  <a:solidFill>
                    <a:srgbClr val="7A6025"/>
                  </a:solidFill>
                  <a:latin typeface="Manrope"/>
                  <a:ea typeface="Manrope"/>
                  <a:cs typeface="Manrope"/>
                </a:rPr>
                <a:t>Human review</a:t>
              </a:r>
              <a:endParaRPr lang="en-US" sz="1600"/>
            </a:p>
          </p:txBody>
        </p:sp>
        <p:grpSp>
          <p:nvGrpSpPr>
            <p:cNvPr id="1119" name="hold · 99"/>
            <p:cNvGrpSpPr/>
            <p:nvPr/>
          </p:nvGrpSpPr>
          <p:grpSpPr>
            <a:xfrm>
              <a:off x="10405533" y="3105856"/>
              <a:ext cx="270933" cy="270933"/>
              <a:chOff x="10405533" y="3105856"/>
              <a:chExt cx="270933" cy="270933"/>
            </a:xfrm>
          </p:grpSpPr>
          <p:sp>
            <p:nvSpPr>
              <p:cNvPr id="1120" name="circle · 96"/>
              <p:cNvSpPr/>
              <p:nvPr/>
            </p:nvSpPr>
            <p:spPr>
              <a:xfrm>
                <a:off x="10405533" y="3105856"/>
                <a:ext cx="270933" cy="270933"/>
              </a:xfrm>
              <a:prstGeom prst="ellipse">
                <a:avLst/>
              </a:prstGeom>
              <a:solidFill>
                <a:srgbClr val="F6EAC8"/>
              </a:solidFill>
              <a:ln w="6773" cap="rnd" cmpd="sng" algn="ctr">
                <a:solidFill>
                  <a:srgbClr val="7A6025"/>
                </a:solidFill>
                <a:prstDash val="solid"/>
                <a:round/>
                <a:headEnd type="none" w="med" len="med"/>
                <a:tailEnd type="none" w="med" len="med"/>
              </a:ln>
            </p:spPr>
          </p:sp>
          <p:sp>
            <p:nvSpPr>
              <p:cNvPr id="1121" name="rect · 97"/>
              <p:cNvSpPr/>
              <p:nvPr/>
            </p:nvSpPr>
            <p:spPr>
              <a:xfrm>
                <a:off x="10482298" y="3169073"/>
                <a:ext cx="40640" cy="146756"/>
              </a:xfrm>
              <a:prstGeom prst="roundRect">
                <a:avLst>
                  <a:gd name="adj" fmla="val 22222"/>
                </a:avLst>
              </a:prstGeom>
              <a:solidFill>
                <a:srgbClr val="7A6025"/>
              </a:solidFill>
              <a:ln>
                <a:noFill/>
              </a:ln>
            </p:spPr>
          </p:sp>
          <p:sp>
            <p:nvSpPr>
              <p:cNvPr id="1122" name="rect · 98"/>
              <p:cNvSpPr/>
              <p:nvPr/>
            </p:nvSpPr>
            <p:spPr>
              <a:xfrm>
                <a:off x="10561320" y="3169073"/>
                <a:ext cx="40640" cy="146756"/>
              </a:xfrm>
              <a:prstGeom prst="roundRect">
                <a:avLst>
                  <a:gd name="adj" fmla="val 22222"/>
                </a:avLst>
              </a:prstGeom>
              <a:solidFill>
                <a:srgbClr val="7A6025"/>
              </a:solidFill>
              <a:ln>
                <a:noFill/>
              </a:ln>
            </p:spPr>
          </p:sp>
        </p:grpSp>
        <p:sp>
          <p:nvSpPr>
            <p:cNvPr id="1123" name="text · 100"/>
            <p:cNvSpPr txBox="1"/>
            <p:nvPr/>
          </p:nvSpPr>
          <p:spPr>
            <a:xfrm>
              <a:off x="10349532" y="3481183"/>
              <a:ext cx="382935" cy="261632"/>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844"/>
                </a:lnSpc>
                <a:spcBef>
                  <a:spcPts val="0"/>
                </a:spcBef>
                <a:spcAft>
                  <a:spcPts val="0"/>
                </a:spcAft>
              </a:pPr>
              <a:r>
                <a:rPr lang="en-US" sz="1350" b="1" i="0" kern="0" spc="0" dirty="0">
                  <a:solidFill>
                    <a:srgbClr val="7A6025"/>
                  </a:solidFill>
                  <a:latin typeface="Manrope"/>
                  <a:ea typeface="Manrope"/>
                  <a:cs typeface="Manrope"/>
                </a:rPr>
                <a:t>Hold</a:t>
              </a:r>
              <a:endParaRPr lang="en-US" sz="1350"/>
            </a:p>
          </p:txBody>
        </p:sp>
        <p:grpSp>
          <p:nvGrpSpPr>
            <p:cNvPr id="1124" name="stop · 103"/>
            <p:cNvGrpSpPr/>
            <p:nvPr/>
          </p:nvGrpSpPr>
          <p:grpSpPr>
            <a:xfrm>
              <a:off x="4226560" y="4064423"/>
              <a:ext cx="263419" cy="261408"/>
              <a:chOff x="4226560" y="4064423"/>
              <a:chExt cx="263419" cy="261408"/>
            </a:xfrm>
          </p:grpSpPr>
          <p:sp>
            <p:nvSpPr>
              <p:cNvPr id="1125" name="path · 101"/>
              <p:cNvSpPr/>
              <p:nvPr/>
            </p:nvSpPr>
            <p:spPr>
              <a:xfrm>
                <a:off x="4226560" y="4064423"/>
                <a:ext cx="263419" cy="261408"/>
              </a:xfrm>
              <a:custGeom>
                <a:avLst/>
                <a:gdLst/>
                <a:ahLst/>
                <a:cxnLst/>
                <a:rect l="0" t="0" r="r" b="b"/>
                <a:pathLst>
                  <a:path w="263419" h="261408" fill="norm" stroke="1" extrusionOk="0">
                    <a:moveTo>
                      <a:pt x="76412" y="0"/>
                    </a:moveTo>
                    <a:lnTo>
                      <a:pt x="0" y="76412"/>
                    </a:lnTo>
                    <a:lnTo>
                      <a:pt x="0" y="184997"/>
                    </a:lnTo>
                    <a:lnTo>
                      <a:pt x="76412" y="261409"/>
                    </a:lnTo>
                    <a:lnTo>
                      <a:pt x="187008" y="261409"/>
                    </a:lnTo>
                    <a:lnTo>
                      <a:pt x="263419" y="184997"/>
                    </a:lnTo>
                    <a:lnTo>
                      <a:pt x="263419" y="76412"/>
                    </a:lnTo>
                    <a:lnTo>
                      <a:pt x="187008" y="0"/>
                    </a:lnTo>
                    <a:close/>
                  </a:path>
                </a:pathLst>
              </a:custGeom>
              <a:solidFill>
                <a:srgbClr val="F4DFD3"/>
              </a:solidFill>
              <a:ln w="6032" cap="rnd" cmpd="sng" algn="ctr">
                <a:solidFill>
                  <a:srgbClr val="81533E"/>
                </a:solidFill>
                <a:prstDash val="solid"/>
                <a:round/>
                <a:headEnd type="none" w="med" len="med"/>
                <a:tailEnd type="none" w="med" len="med"/>
              </a:ln>
            </p:spPr>
          </p:sp>
          <p:sp>
            <p:nvSpPr>
              <p:cNvPr id="1126" name="path · 102"/>
              <p:cNvSpPr/>
              <p:nvPr/>
            </p:nvSpPr>
            <p:spPr>
              <a:xfrm>
                <a:off x="4304982" y="4140835"/>
                <a:ext cx="108585" cy="108585"/>
              </a:xfrm>
              <a:custGeom>
                <a:avLst/>
                <a:gdLst/>
                <a:ahLst/>
                <a:cxnLst/>
                <a:rect l="0" t="0" r="r" b="b"/>
                <a:pathLst>
                  <a:path w="108585" h="108585" fill="none" stroke="1" extrusionOk="0">
                    <a:moveTo>
                      <a:pt x="0" y="0"/>
                    </a:moveTo>
                    <a:lnTo>
                      <a:pt x="108586" y="108585"/>
                    </a:lnTo>
                    <a:moveTo>
                      <a:pt x="108586" y="0"/>
                    </a:moveTo>
                    <a:lnTo>
                      <a:pt x="0" y="108585"/>
                    </a:lnTo>
                  </a:path>
                </a:pathLst>
              </a:custGeom>
              <a:noFill/>
              <a:ln w="20108" cap="rnd" cmpd="sng" algn="ctr">
                <a:solidFill>
                  <a:srgbClr val="81533E"/>
                </a:solidFill>
                <a:prstDash val="solid"/>
                <a:round/>
                <a:headEnd type="none" w="med" len="med"/>
                <a:tailEnd type="none" w="med" len="med"/>
              </a:ln>
            </p:spPr>
          </p:sp>
        </p:grpSp>
        <p:grpSp>
          <p:nvGrpSpPr>
            <p:cNvPr id="1127" name="hold · 107"/>
            <p:cNvGrpSpPr/>
            <p:nvPr/>
          </p:nvGrpSpPr>
          <p:grpSpPr>
            <a:xfrm>
              <a:off x="5006975" y="4072467"/>
              <a:ext cx="241300" cy="241300"/>
              <a:chOff x="5006975" y="4072467"/>
              <a:chExt cx="241300" cy="241300"/>
            </a:xfrm>
          </p:grpSpPr>
          <p:sp>
            <p:nvSpPr>
              <p:cNvPr id="1128" name="circle · 104"/>
              <p:cNvSpPr/>
              <p:nvPr/>
            </p:nvSpPr>
            <p:spPr>
              <a:xfrm>
                <a:off x="5006975" y="4072467"/>
                <a:ext cx="241300" cy="241300"/>
              </a:xfrm>
              <a:prstGeom prst="ellipse">
                <a:avLst/>
              </a:prstGeom>
              <a:solidFill>
                <a:srgbClr val="F6EAC8"/>
              </a:solidFill>
              <a:ln w="6032" cap="rnd" cmpd="sng" algn="ctr">
                <a:solidFill>
                  <a:srgbClr val="7A6025"/>
                </a:solidFill>
                <a:prstDash val="solid"/>
                <a:round/>
                <a:headEnd type="none" w="med" len="med"/>
                <a:tailEnd type="none" w="med" len="med"/>
              </a:ln>
            </p:spPr>
          </p:sp>
          <p:sp>
            <p:nvSpPr>
              <p:cNvPr id="1129" name="rect · 105"/>
              <p:cNvSpPr/>
              <p:nvPr/>
            </p:nvSpPr>
            <p:spPr>
              <a:xfrm>
                <a:off x="5075343" y="4128770"/>
                <a:ext cx="36195" cy="130704"/>
              </a:xfrm>
              <a:prstGeom prst="roundRect">
                <a:avLst>
                  <a:gd name="adj" fmla="val 22222"/>
                </a:avLst>
              </a:prstGeom>
              <a:solidFill>
                <a:srgbClr val="7A6025"/>
              </a:solidFill>
              <a:ln>
                <a:noFill/>
              </a:ln>
            </p:spPr>
          </p:sp>
          <p:sp>
            <p:nvSpPr>
              <p:cNvPr id="1130" name="rect · 106"/>
              <p:cNvSpPr/>
              <p:nvPr/>
            </p:nvSpPr>
            <p:spPr>
              <a:xfrm>
                <a:off x="5145722" y="4128770"/>
                <a:ext cx="36195" cy="130704"/>
              </a:xfrm>
              <a:prstGeom prst="roundRect">
                <a:avLst>
                  <a:gd name="adj" fmla="val 22222"/>
                </a:avLst>
              </a:prstGeom>
              <a:solidFill>
                <a:srgbClr val="7A6025"/>
              </a:solidFill>
              <a:ln>
                <a:noFill/>
              </a:ln>
            </p:spPr>
          </p:sp>
        </p:grpSp>
        <p:sp>
          <p:nvSpPr>
            <p:cNvPr id="1131" name="text · 108"/>
            <p:cNvSpPr txBox="1"/>
            <p:nvPr/>
          </p:nvSpPr>
          <p:spPr>
            <a:xfrm>
              <a:off x="4074359" y="4301170"/>
              <a:ext cx="576182" cy="24225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8"/>
                </a:lnSpc>
                <a:spcBef>
                  <a:spcPts val="0"/>
                </a:spcBef>
                <a:spcAft>
                  <a:spcPts val="0"/>
                </a:spcAft>
              </a:pPr>
              <a:r>
                <a:rPr lang="en-US" sz="1250" b="1" i="0" kern="0" spc="0" dirty="0">
                  <a:solidFill>
                    <a:srgbClr val="81533E"/>
                  </a:solidFill>
                  <a:latin typeface="Manrope"/>
                  <a:ea typeface="Manrope"/>
                  <a:cs typeface="Manrope"/>
                </a:rPr>
                <a:t>Decline</a:t>
              </a:r>
              <a:endParaRPr lang="en-US" sz="1250"/>
            </a:p>
          </p:txBody>
        </p:sp>
        <p:sp>
          <p:nvSpPr>
            <p:cNvPr id="1132" name="text · 109"/>
            <p:cNvSpPr txBox="1"/>
            <p:nvPr/>
          </p:nvSpPr>
          <p:spPr>
            <a:xfrm>
              <a:off x="4947046" y="4301170"/>
              <a:ext cx="354806" cy="24225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8"/>
                </a:lnSpc>
                <a:spcBef>
                  <a:spcPts val="0"/>
                </a:spcBef>
                <a:spcAft>
                  <a:spcPts val="0"/>
                </a:spcAft>
              </a:pPr>
              <a:r>
                <a:rPr lang="en-US" sz="1250" b="1" i="0" kern="0" spc="0" dirty="0">
                  <a:solidFill>
                    <a:srgbClr val="7A6025"/>
                  </a:solidFill>
                  <a:latin typeface="Manrope"/>
                  <a:ea typeface="Manrope"/>
                  <a:cs typeface="Manrope"/>
                </a:rPr>
                <a:t>Hold</a:t>
              </a:r>
              <a:endParaRPr lang="en-US" sz="1250"/>
            </a:p>
          </p:txBody>
        </p:sp>
        <p:grpSp>
          <p:nvGrpSpPr>
            <p:cNvPr id="1133" name="tasks · 115"/>
            <p:cNvGrpSpPr/>
            <p:nvPr/>
          </p:nvGrpSpPr>
          <p:grpSpPr>
            <a:xfrm>
              <a:off x="6922982" y="4494107"/>
              <a:ext cx="883920" cy="834813"/>
              <a:chOff x="6922982" y="4494107"/>
              <a:chExt cx="883920" cy="834813"/>
            </a:xfrm>
          </p:grpSpPr>
          <p:sp>
            <p:nvSpPr>
              <p:cNvPr id="1134" name="rect · 110"/>
              <p:cNvSpPr/>
              <p:nvPr/>
            </p:nvSpPr>
            <p:spPr>
              <a:xfrm>
                <a:off x="7002780" y="4549352"/>
                <a:ext cx="669078" cy="779568"/>
              </a:xfrm>
              <a:prstGeom prst="roundRect">
                <a:avLst>
                  <a:gd name="adj" fmla="val 9174"/>
                </a:avLst>
              </a:prstGeom>
              <a:solidFill>
                <a:srgbClr val="E2EEF3"/>
              </a:solidFill>
              <a:ln w="13504" cap="rnd" cmpd="sng" algn="ctr">
                <a:solidFill>
                  <a:srgbClr val="243E42"/>
                </a:solidFill>
                <a:prstDash val="solid"/>
                <a:round/>
                <a:headEnd type="none" w="med" len="med"/>
                <a:tailEnd type="none" w="med" len="med"/>
              </a:ln>
            </p:spPr>
          </p:sp>
          <p:sp>
            <p:nvSpPr>
              <p:cNvPr id="1135" name="rect · 111"/>
              <p:cNvSpPr/>
              <p:nvPr/>
            </p:nvSpPr>
            <p:spPr>
              <a:xfrm>
                <a:off x="6922982" y="4494107"/>
                <a:ext cx="669078" cy="779568"/>
              </a:xfrm>
              <a:prstGeom prst="roundRect">
                <a:avLst>
                  <a:gd name="adj" fmla="val 9174"/>
                </a:avLst>
              </a:prstGeom>
              <a:solidFill>
                <a:srgbClr val="FFFFFF"/>
              </a:solidFill>
              <a:ln w="13504" cap="rnd" cmpd="sng" algn="ctr">
                <a:solidFill>
                  <a:srgbClr val="243E42"/>
                </a:solidFill>
                <a:prstDash val="solid"/>
                <a:round/>
                <a:headEnd type="none" w="med" len="med"/>
                <a:tailEnd type="none" w="med" len="med"/>
              </a:ln>
            </p:spPr>
          </p:sp>
          <p:sp>
            <p:nvSpPr>
              <p:cNvPr id="1136" name="path · 112"/>
              <p:cNvSpPr/>
              <p:nvPr/>
            </p:nvSpPr>
            <p:spPr>
              <a:xfrm>
                <a:off x="7039610" y="4659842"/>
                <a:ext cx="92075" cy="558588"/>
              </a:xfrm>
              <a:custGeom>
                <a:avLst/>
                <a:gdLst/>
                <a:ahLst/>
                <a:cxnLst/>
                <a:rect l="0" t="0" r="r" b="b"/>
                <a:pathLst>
                  <a:path w="92075" h="558588" fill="norm" stroke="1" extrusionOk="0">
                    <a:moveTo>
                      <a:pt x="0" y="0"/>
                    </a:moveTo>
                    <a:lnTo>
                      <a:pt x="92075" y="0"/>
                    </a:lnTo>
                    <a:lnTo>
                      <a:pt x="92075" y="92075"/>
                    </a:lnTo>
                    <a:lnTo>
                      <a:pt x="0" y="92075"/>
                    </a:lnTo>
                    <a:close/>
                    <a:moveTo>
                      <a:pt x="0" y="233256"/>
                    </a:moveTo>
                    <a:lnTo>
                      <a:pt x="92075" y="233256"/>
                    </a:lnTo>
                    <a:lnTo>
                      <a:pt x="92075" y="325331"/>
                    </a:lnTo>
                    <a:lnTo>
                      <a:pt x="0" y="325331"/>
                    </a:lnTo>
                    <a:close/>
                    <a:moveTo>
                      <a:pt x="0" y="466513"/>
                    </a:moveTo>
                    <a:lnTo>
                      <a:pt x="92075" y="466513"/>
                    </a:lnTo>
                    <a:lnTo>
                      <a:pt x="92075" y="558588"/>
                    </a:lnTo>
                    <a:lnTo>
                      <a:pt x="0" y="558588"/>
                    </a:lnTo>
                    <a:close/>
                  </a:path>
                </a:pathLst>
              </a:custGeom>
              <a:solidFill>
                <a:srgbClr val="D7EBE1"/>
              </a:solidFill>
              <a:ln w="13504" cap="rnd" cmpd="sng" algn="ctr">
                <a:solidFill>
                  <a:srgbClr val="243E42"/>
                </a:solidFill>
                <a:prstDash val="solid"/>
                <a:round/>
                <a:headEnd type="none" w="med" len="med"/>
                <a:tailEnd type="none" w="med" len="med"/>
              </a:ln>
            </p:spPr>
          </p:sp>
          <p:sp>
            <p:nvSpPr>
              <p:cNvPr id="1137" name="path · 113"/>
              <p:cNvSpPr/>
              <p:nvPr/>
            </p:nvSpPr>
            <p:spPr>
              <a:xfrm>
                <a:off x="7223760" y="4696672"/>
                <a:ext cx="263948" cy="466513"/>
              </a:xfrm>
              <a:custGeom>
                <a:avLst/>
                <a:gdLst/>
                <a:ahLst/>
                <a:cxnLst/>
                <a:rect l="0" t="0" r="r" b="b"/>
                <a:pathLst>
                  <a:path w="263948" h="466513" fill="none" stroke="1" extrusionOk="0">
                    <a:moveTo>
                      <a:pt x="0" y="0"/>
                    </a:moveTo>
                    <a:lnTo>
                      <a:pt x="263948" y="0"/>
                    </a:lnTo>
                    <a:moveTo>
                      <a:pt x="0" y="233256"/>
                    </a:moveTo>
                    <a:lnTo>
                      <a:pt x="263948" y="233256"/>
                    </a:lnTo>
                    <a:moveTo>
                      <a:pt x="0" y="466513"/>
                    </a:moveTo>
                    <a:lnTo>
                      <a:pt x="178012" y="466513"/>
                    </a:lnTo>
                  </a:path>
                </a:pathLst>
              </a:custGeom>
              <a:noFill/>
              <a:ln w="24553" cap="rnd" cmpd="sng" algn="ctr">
                <a:solidFill>
                  <a:srgbClr val="243E42"/>
                </a:solidFill>
                <a:prstDash val="solid"/>
                <a:round/>
                <a:headEnd type="none" w="med" len="med"/>
                <a:tailEnd type="none" w="med" len="med"/>
              </a:ln>
            </p:spPr>
          </p:sp>
          <p:sp>
            <p:nvSpPr>
              <p:cNvPr id="1138" name="path · 114"/>
              <p:cNvSpPr/>
              <p:nvPr/>
            </p:nvSpPr>
            <p:spPr>
              <a:xfrm>
                <a:off x="7659582" y="4745778"/>
                <a:ext cx="147320" cy="356023"/>
              </a:xfrm>
              <a:custGeom>
                <a:avLst/>
                <a:gdLst/>
                <a:ahLst/>
                <a:cxnLst/>
                <a:rect l="0" t="0" r="r" b="b"/>
                <a:pathLst>
                  <a:path w="147320" h="356023" fill="none" stroke="1" extrusionOk="0">
                    <a:moveTo>
                      <a:pt x="0" y="0"/>
                    </a:moveTo>
                    <a:lnTo>
                      <a:pt x="147320" y="0"/>
                    </a:lnTo>
                    <a:lnTo>
                      <a:pt x="147320" y="306917"/>
                    </a:lnTo>
                    <a:lnTo>
                      <a:pt x="49106" y="306917"/>
                    </a:lnTo>
                    <a:moveTo>
                      <a:pt x="79798" y="257810"/>
                    </a:moveTo>
                    <a:lnTo>
                      <a:pt x="24553" y="306917"/>
                    </a:lnTo>
                    <a:lnTo>
                      <a:pt x="79798" y="356024"/>
                    </a:lnTo>
                  </a:path>
                </a:pathLst>
              </a:custGeom>
              <a:noFill/>
              <a:ln w="24553" cap="rnd" cmpd="sng" algn="ctr">
                <a:solidFill>
                  <a:srgbClr val="2E6653"/>
                </a:solidFill>
                <a:prstDash val="solid"/>
                <a:round/>
                <a:headEnd type="none" w="med" len="med"/>
                <a:tailEnd type="none" w="med" len="med"/>
              </a:ln>
            </p:spPr>
          </p:sp>
        </p:grpSp>
        <p:sp>
          <p:nvSpPr>
            <p:cNvPr id="1139" name="text · 116"/>
            <p:cNvSpPr txBox="1"/>
            <p:nvPr/>
          </p:nvSpPr>
          <p:spPr>
            <a:xfrm>
              <a:off x="6707392" y="5428959"/>
              <a:ext cx="1241016" cy="300391"/>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17"/>
                </a:lnSpc>
                <a:spcBef>
                  <a:spcPts val="0"/>
                </a:spcBef>
                <a:spcAft>
                  <a:spcPts val="0"/>
                </a:spcAft>
              </a:pPr>
              <a:r>
                <a:rPr lang="en-US" sz="1550" b="1" i="0" kern="0" spc="0" dirty="0">
                  <a:solidFill>
                    <a:srgbClr val="355F72"/>
                  </a:solidFill>
                  <a:latin typeface="Manrope"/>
                  <a:ea typeface="Manrope"/>
                  <a:cs typeface="Manrope"/>
                </a:rPr>
                <a:t>Route + rules</a:t>
              </a:r>
              <a:endParaRPr lang="en-US" sz="1550"/>
            </a:p>
          </p:txBody>
        </p:sp>
        <p:grpSp>
          <p:nvGrpSpPr>
            <p:cNvPr id="1140" name="request-route · 119"/>
            <p:cNvGrpSpPr/>
            <p:nvPr/>
          </p:nvGrpSpPr>
          <p:grpSpPr>
            <a:xfrm>
              <a:off x="7905750" y="4972050"/>
              <a:ext cx="685800" cy="50800"/>
              <a:chOff x="7905750" y="4972050"/>
              <a:chExt cx="685800" cy="50800"/>
            </a:xfrm>
          </p:grpSpPr>
          <p:grpSp>
            <p:nvGrpSpPr>
              <p:cNvPr id="1141" name="path · 117 + arrowhead"/>
              <p:cNvGrpSpPr/>
              <p:nvPr/>
            </p:nvGrpSpPr>
            <p:grpSpPr>
              <a:xfrm>
                <a:off x="7905750" y="4972050"/>
                <a:ext cx="685800" cy="50800"/>
                <a:chOff x="7905750" y="4972050"/>
                <a:chExt cx="685800" cy="50800"/>
              </a:xfrm>
            </p:grpSpPr>
            <p:sp>
              <p:nvSpPr>
                <p:cNvPr id="1142" name="path · 117"/>
                <p:cNvSpPr/>
                <p:nvPr/>
              </p:nvSpPr>
              <p:spPr>
                <a:xfrm>
                  <a:off x="7905750" y="4997450"/>
                  <a:ext cx="685800" cy="1"/>
                </a:xfrm>
                <a:custGeom>
                  <a:avLst/>
                  <a:gdLst/>
                  <a:ahLst/>
                  <a:cxnLst/>
                  <a:rect l="0" t="0" r="r" b="b"/>
                  <a:pathLst>
                    <a:path w="685800" h="1" fill="none" stroke="1" extrusionOk="0">
                      <a:moveTo>
                        <a:pt x="0" y="0"/>
                      </a:moveTo>
                      <a:lnTo>
                        <a:pt x="685800" y="0"/>
                      </a:lnTo>
                    </a:path>
                  </a:pathLst>
                </a:custGeom>
                <a:noFill/>
                <a:ln w="22225" cap="rnd" cmpd="sng" algn="ctr">
                  <a:solidFill>
                    <a:srgbClr val="355F72"/>
                  </a:solidFill>
                  <a:prstDash val="solid"/>
                  <a:round/>
                  <a:headEnd type="none" w="med" len="med"/>
                  <a:tailEnd type="none" w="med" len="med"/>
                </a:ln>
              </p:spPr>
            </p:sp>
            <p:grpSp>
              <p:nvGrpSpPr>
                <p:cNvPr id="1143" name="arrow-blue_ink end"/>
                <p:cNvGrpSpPr/>
                <p:nvPr/>
              </p:nvGrpSpPr>
              <p:grpSpPr>
                <a:xfrm>
                  <a:off x="8543925" y="4972050"/>
                  <a:ext cx="47625" cy="50800"/>
                  <a:chOff x="8543925" y="4972050"/>
                  <a:chExt cx="47625" cy="50800"/>
                </a:xfrm>
              </p:grpSpPr>
              <p:sp>
                <p:nvSpPr>
                  <p:cNvPr id="1144" name="path · 118"/>
                  <p:cNvSpPr/>
                  <p:nvPr/>
                </p:nvSpPr>
                <p:spPr>
                  <a:xfrm>
                    <a:off x="8543925" y="49720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sp>
          <p:nvSpPr>
            <p:cNvPr id="1145" name="text · 120"/>
            <p:cNvSpPr txBox="1"/>
            <p:nvPr/>
          </p:nvSpPr>
          <p:spPr>
            <a:xfrm>
              <a:off x="7990489" y="4631792"/>
              <a:ext cx="529022" cy="232564"/>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639"/>
                </a:lnSpc>
                <a:spcBef>
                  <a:spcPts val="0"/>
                </a:spcBef>
                <a:spcAft>
                  <a:spcPts val="0"/>
                </a:spcAft>
              </a:pPr>
              <a:r>
                <a:rPr lang="en-US" sz="1200" b="1" i="0" kern="0" spc="0" dirty="0">
                  <a:solidFill>
                    <a:srgbClr val="2E6653"/>
                  </a:solidFill>
                  <a:latin typeface="Manrope"/>
                  <a:ea typeface="Manrope"/>
                  <a:cs typeface="Manrope"/>
                </a:rPr>
                <a:t>Eligible</a:t>
              </a:r>
              <a:endParaRPr lang="en-US" sz="1200"/>
            </a:p>
          </p:txBody>
        </p:sp>
        <p:grpSp>
          <p:nvGrpSpPr>
            <p:cNvPr id="1146" name="customer · 135"/>
            <p:cNvGrpSpPr/>
            <p:nvPr/>
          </p:nvGrpSpPr>
          <p:grpSpPr>
            <a:xfrm>
              <a:off x="8754604" y="4524304"/>
              <a:ext cx="731097" cy="847407"/>
              <a:chOff x="8754604" y="4524304"/>
              <a:chExt cx="731097" cy="847407"/>
            </a:xfrm>
          </p:grpSpPr>
          <p:sp>
            <p:nvSpPr>
              <p:cNvPr id="1147" name="ellipse · 121"/>
              <p:cNvSpPr/>
              <p:nvPr/>
            </p:nvSpPr>
            <p:spPr>
              <a:xfrm>
                <a:off x="8754604" y="5305249"/>
                <a:ext cx="731097" cy="66463"/>
              </a:xfrm>
              <a:prstGeom prst="ellipse">
                <a:avLst/>
              </a:prstGeom>
              <a:solidFill>
                <a:srgbClr val="E2EEF3"/>
              </a:solidFill>
              <a:ln>
                <a:noFill/>
              </a:ln>
            </p:spPr>
          </p:sp>
          <p:sp>
            <p:nvSpPr>
              <p:cNvPr id="1148" name="path · 122"/>
              <p:cNvSpPr/>
              <p:nvPr/>
            </p:nvSpPr>
            <p:spPr>
              <a:xfrm>
                <a:off x="8920762" y="5083704"/>
                <a:ext cx="432012" cy="221544"/>
              </a:xfrm>
              <a:custGeom>
                <a:avLst/>
                <a:gdLst/>
                <a:ahLst/>
                <a:cxnLst/>
                <a:rect l="0" t="0" r="r" b="b"/>
                <a:pathLst>
                  <a:path w="432012" h="221544" fill="norm" stroke="1" extrusionOk="0">
                    <a:moveTo>
                      <a:pt x="22155" y="44309"/>
                    </a:moveTo>
                    <a:lnTo>
                      <a:pt x="0" y="221545"/>
                    </a:lnTo>
                    <a:lnTo>
                      <a:pt x="121850" y="221545"/>
                    </a:lnTo>
                    <a:lnTo>
                      <a:pt x="160620" y="55386"/>
                    </a:lnTo>
                    <a:moveTo>
                      <a:pt x="282469" y="44309"/>
                    </a:moveTo>
                    <a:lnTo>
                      <a:pt x="321240" y="221545"/>
                    </a:lnTo>
                    <a:lnTo>
                      <a:pt x="432012" y="221545"/>
                    </a:lnTo>
                    <a:lnTo>
                      <a:pt x="343394" y="0"/>
                    </a:lnTo>
                  </a:path>
                </a:pathLst>
              </a:custGeom>
              <a:solidFill>
                <a:srgbClr val="243E42"/>
              </a:solidFill>
              <a:ln w="12185" cap="rnd" cmpd="sng" algn="ctr">
                <a:solidFill>
                  <a:srgbClr val="243E42"/>
                </a:solidFill>
                <a:prstDash val="solid"/>
                <a:round/>
                <a:headEnd type="none" w="med" len="med"/>
                <a:tailEnd type="none" w="med" len="med"/>
              </a:ln>
            </p:spPr>
          </p:sp>
          <p:sp>
            <p:nvSpPr>
              <p:cNvPr id="1149" name="path · 123"/>
              <p:cNvSpPr/>
              <p:nvPr/>
            </p:nvSpPr>
            <p:spPr>
              <a:xfrm>
                <a:off x="8865376" y="5310787"/>
                <a:ext cx="548322" cy="38770"/>
              </a:xfrm>
              <a:custGeom>
                <a:avLst/>
                <a:gdLst/>
                <a:ahLst/>
                <a:cxnLst/>
                <a:rect l="0" t="0" r="r" b="b"/>
                <a:pathLst>
                  <a:path w="548322" h="38770" fill="norm" stroke="1" extrusionOk="0">
                    <a:moveTo>
                      <a:pt x="38770" y="0"/>
                    </a:moveTo>
                    <a:lnTo>
                      <a:pt x="182774" y="0"/>
                    </a:lnTo>
                    <a:lnTo>
                      <a:pt x="182774" y="38771"/>
                    </a:lnTo>
                    <a:lnTo>
                      <a:pt x="0" y="38771"/>
                    </a:lnTo>
                    <a:cubicBezTo>
                      <a:pt x="0" y="16616"/>
                      <a:pt x="16616" y="5539"/>
                      <a:pt x="38770" y="0"/>
                    </a:cubicBezTo>
                    <a:moveTo>
                      <a:pt x="371087" y="0"/>
                    </a:moveTo>
                    <a:lnTo>
                      <a:pt x="504014" y="0"/>
                    </a:lnTo>
                    <a:lnTo>
                      <a:pt x="548323" y="38771"/>
                    </a:lnTo>
                    <a:lnTo>
                      <a:pt x="371087" y="38771"/>
                    </a:lnTo>
                    <a:close/>
                  </a:path>
                </a:pathLst>
              </a:custGeom>
              <a:solidFill>
                <a:srgbClr val="FFFFFF"/>
              </a:solidFill>
              <a:ln w="12185" cap="rnd" cmpd="sng" algn="ctr">
                <a:solidFill>
                  <a:srgbClr val="243E42"/>
                </a:solidFill>
                <a:prstDash val="solid"/>
                <a:round/>
                <a:headEnd type="none" w="med" len="med"/>
                <a:tailEnd type="none" w="med" len="med"/>
              </a:ln>
            </p:spPr>
          </p:sp>
          <p:sp>
            <p:nvSpPr>
              <p:cNvPr id="1150" name="path · 124"/>
              <p:cNvSpPr/>
              <p:nvPr/>
            </p:nvSpPr>
            <p:spPr>
              <a:xfrm>
                <a:off x="8898608" y="4790158"/>
                <a:ext cx="404319" cy="382164"/>
              </a:xfrm>
              <a:custGeom>
                <a:avLst/>
                <a:gdLst/>
                <a:ahLst/>
                <a:cxnLst/>
                <a:rect l="0" t="0" r="r" b="b"/>
                <a:pathLst>
                  <a:path w="404319" h="382164" fill="norm" stroke="1" extrusionOk="0">
                    <a:moveTo>
                      <a:pt x="0" y="99695"/>
                    </a:moveTo>
                    <a:quadBezTo>
                      <a:pt x="33231" y="5538"/>
                      <a:pt x="160620" y="0"/>
                    </a:quadBezTo>
                    <a:lnTo>
                      <a:pt x="249237" y="0"/>
                    </a:lnTo>
                    <a:quadBezTo>
                      <a:pt x="376625" y="11077"/>
                      <a:pt x="404318" y="127388"/>
                    </a:quadBezTo>
                    <a:lnTo>
                      <a:pt x="354471" y="382164"/>
                    </a:lnTo>
                    <a:lnTo>
                      <a:pt x="55386" y="382164"/>
                    </a:lnTo>
                    <a:close/>
                  </a:path>
                </a:pathLst>
              </a:custGeom>
              <a:solidFill>
                <a:srgbClr val="E2EEF3"/>
              </a:solidFill>
              <a:ln w="12185" cap="rnd" cmpd="sng" algn="ctr">
                <a:solidFill>
                  <a:srgbClr val="243E42"/>
                </a:solidFill>
                <a:prstDash val="solid"/>
                <a:round/>
                <a:headEnd type="none" w="med" len="med"/>
                <a:tailEnd type="none" w="med" len="med"/>
              </a:ln>
            </p:spPr>
          </p:sp>
          <p:sp>
            <p:nvSpPr>
              <p:cNvPr id="1151" name="path · 125"/>
              <p:cNvSpPr/>
              <p:nvPr/>
            </p:nvSpPr>
            <p:spPr>
              <a:xfrm>
                <a:off x="8865376" y="4834467"/>
                <a:ext cx="487398" cy="243699"/>
              </a:xfrm>
              <a:custGeom>
                <a:avLst/>
                <a:gdLst/>
                <a:ahLst/>
                <a:cxnLst/>
                <a:rect l="0" t="0" r="r" b="b"/>
                <a:pathLst>
                  <a:path w="487398" h="243699" fill="none" stroke="1" extrusionOk="0">
                    <a:moveTo>
                      <a:pt x="94156" y="11077"/>
                    </a:moveTo>
                    <a:lnTo>
                      <a:pt x="0" y="116311"/>
                    </a:lnTo>
                    <a:lnTo>
                      <a:pt x="83079" y="227083"/>
                    </a:lnTo>
                    <a:moveTo>
                      <a:pt x="365548" y="0"/>
                    </a:moveTo>
                    <a:lnTo>
                      <a:pt x="487398" y="121849"/>
                    </a:lnTo>
                    <a:lnTo>
                      <a:pt x="443089" y="243699"/>
                    </a:lnTo>
                  </a:path>
                </a:pathLst>
              </a:custGeom>
              <a:noFill/>
              <a:ln w="49848" cap="rnd" cmpd="sng" algn="ctr">
                <a:solidFill>
                  <a:srgbClr val="E2EEF3"/>
                </a:solidFill>
                <a:prstDash val="solid"/>
                <a:round/>
                <a:headEnd type="none" w="med" len="med"/>
                <a:tailEnd type="none" w="med" len="med"/>
              </a:ln>
            </p:spPr>
          </p:sp>
          <p:sp>
            <p:nvSpPr>
              <p:cNvPr id="1152" name="circle · 126"/>
              <p:cNvSpPr/>
              <p:nvPr/>
            </p:nvSpPr>
            <p:spPr>
              <a:xfrm>
                <a:off x="8959532" y="4557536"/>
                <a:ext cx="254776" cy="254776"/>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153" name="path · 127"/>
              <p:cNvSpPr/>
              <p:nvPr/>
            </p:nvSpPr>
            <p:spPr>
              <a:xfrm>
                <a:off x="8937378" y="4524304"/>
                <a:ext cx="299085" cy="155081"/>
              </a:xfrm>
              <a:custGeom>
                <a:avLst/>
                <a:gdLst/>
                <a:ahLst/>
                <a:cxnLst/>
                <a:rect l="0" t="0" r="r" b="b"/>
                <a:pathLst>
                  <a:path w="299085" h="155081" fill="norm" stroke="1" extrusionOk="0">
                    <a:moveTo>
                      <a:pt x="27693" y="144004"/>
                    </a:moveTo>
                    <a:quadBezTo>
                      <a:pt x="0" y="11078"/>
                      <a:pt x="144004" y="5539"/>
                    </a:quadBezTo>
                    <a:quadBezTo>
                      <a:pt x="299085" y="0"/>
                      <a:pt x="288008" y="155082"/>
                    </a:quadBezTo>
                    <a:lnTo>
                      <a:pt x="232622" y="121850"/>
                    </a:lnTo>
                    <a:lnTo>
                      <a:pt x="216006" y="55387"/>
                    </a:lnTo>
                    <a:quadBezTo>
                      <a:pt x="144004" y="116311"/>
                      <a:pt x="27693" y="110773"/>
                    </a:quadBezTo>
                    <a:close/>
                  </a:path>
                </a:pathLst>
              </a:custGeom>
              <a:solidFill>
                <a:srgbClr val="243E42"/>
              </a:solidFill>
              <a:ln w="12185" cap="rnd" cmpd="sng" algn="ctr">
                <a:solidFill>
                  <a:srgbClr val="243E42"/>
                </a:solidFill>
                <a:prstDash val="solid"/>
                <a:round/>
                <a:headEnd type="none" w="med" len="med"/>
                <a:tailEnd type="none" w="med" len="med"/>
              </a:ln>
            </p:spPr>
          </p:sp>
          <p:sp>
            <p:nvSpPr>
              <p:cNvPr id="1154" name="path · 128"/>
              <p:cNvSpPr/>
              <p:nvPr/>
            </p:nvSpPr>
            <p:spPr>
              <a:xfrm>
                <a:off x="9070305" y="4668308"/>
                <a:ext cx="83079" cy="38770"/>
              </a:xfrm>
              <a:custGeom>
                <a:avLst/>
                <a:gdLst/>
                <a:ahLst/>
                <a:cxnLst/>
                <a:rect l="0" t="0" r="r" b="b"/>
                <a:pathLst>
                  <a:path w="83079" h="38770" fill="none" stroke="1" extrusionOk="0">
                    <a:moveTo>
                      <a:pt x="0" y="0"/>
                    </a:moveTo>
                    <a:lnTo>
                      <a:pt x="0" y="38771"/>
                    </a:lnTo>
                    <a:moveTo>
                      <a:pt x="83079" y="0"/>
                    </a:moveTo>
                    <a:lnTo>
                      <a:pt x="83079" y="38771"/>
                    </a:lnTo>
                  </a:path>
                </a:pathLst>
              </a:custGeom>
              <a:noFill/>
              <a:ln w="14400" cap="rnd" cmpd="sng" algn="ctr">
                <a:solidFill>
                  <a:srgbClr val="243E42"/>
                </a:solidFill>
                <a:prstDash val="solid"/>
                <a:round/>
                <a:headEnd type="none" w="med" len="med"/>
                <a:tailEnd type="none" w="med" len="med"/>
              </a:ln>
            </p:spPr>
          </p:sp>
          <p:sp>
            <p:nvSpPr>
              <p:cNvPr id="1155" name="path · 129"/>
              <p:cNvSpPr/>
              <p:nvPr/>
            </p:nvSpPr>
            <p:spPr>
              <a:xfrm>
                <a:off x="9075843" y="4740310"/>
                <a:ext cx="60925" cy="27693"/>
              </a:xfrm>
              <a:custGeom>
                <a:avLst/>
                <a:gdLst/>
                <a:ahLst/>
                <a:cxnLst/>
                <a:rect l="0" t="0" r="r" b="b"/>
                <a:pathLst>
                  <a:path w="60925" h="27693" fill="none" stroke="1" extrusionOk="0">
                    <a:moveTo>
                      <a:pt x="0" y="5539"/>
                    </a:moveTo>
                    <a:quadBezTo>
                      <a:pt x="33232" y="27693"/>
                      <a:pt x="60925" y="0"/>
                    </a:quadBezTo>
                  </a:path>
                </a:pathLst>
              </a:custGeom>
              <a:noFill/>
              <a:ln w="12185" cap="rnd" cmpd="sng" algn="ctr">
                <a:solidFill>
                  <a:srgbClr val="243E42"/>
                </a:solidFill>
                <a:prstDash val="solid"/>
                <a:round/>
                <a:headEnd type="none" w="med" len="med"/>
                <a:tailEnd type="none" w="med" len="med"/>
              </a:ln>
            </p:spPr>
          </p:sp>
          <p:sp>
            <p:nvSpPr>
              <p:cNvPr id="1156" name="path · 130"/>
              <p:cNvSpPr/>
              <p:nvPr/>
            </p:nvSpPr>
            <p:spPr>
              <a:xfrm>
                <a:off x="8915224" y="4912007"/>
                <a:ext cx="487398" cy="216006"/>
              </a:xfrm>
              <a:custGeom>
                <a:avLst/>
                <a:gdLst/>
                <a:ahLst/>
                <a:cxnLst/>
                <a:rect l="0" t="0" r="r" b="b"/>
                <a:pathLst>
                  <a:path w="487398" h="216006" fill="norm" stroke="1" extrusionOk="0">
                    <a:moveTo>
                      <a:pt x="0" y="99695"/>
                    </a:moveTo>
                    <a:lnTo>
                      <a:pt x="299085" y="0"/>
                    </a:lnTo>
                    <a:lnTo>
                      <a:pt x="487397" y="105234"/>
                    </a:lnTo>
                    <a:lnTo>
                      <a:pt x="188312" y="216006"/>
                    </a:lnTo>
                    <a:close/>
                  </a:path>
                </a:pathLst>
              </a:custGeom>
              <a:solidFill>
                <a:srgbClr val="F6EAC8"/>
              </a:solidFill>
              <a:ln w="12185" cap="rnd" cmpd="sng" algn="ctr">
                <a:solidFill>
                  <a:srgbClr val="243E42"/>
                </a:solidFill>
                <a:prstDash val="solid"/>
                <a:round/>
                <a:headEnd type="none" w="med" len="med"/>
                <a:tailEnd type="none" w="med" len="med"/>
              </a:ln>
            </p:spPr>
          </p:sp>
          <p:sp>
            <p:nvSpPr>
              <p:cNvPr id="1157" name="path · 131"/>
              <p:cNvSpPr/>
              <p:nvPr/>
            </p:nvSpPr>
            <p:spPr>
              <a:xfrm>
                <a:off x="8915224" y="5011702"/>
                <a:ext cx="487398" cy="304624"/>
              </a:xfrm>
              <a:custGeom>
                <a:avLst/>
                <a:gdLst/>
                <a:ahLst/>
                <a:cxnLst/>
                <a:rect l="0" t="0" r="r" b="b"/>
                <a:pathLst>
                  <a:path w="487398" h="304624" fill="norm" stroke="1" extrusionOk="0">
                    <a:moveTo>
                      <a:pt x="0" y="0"/>
                    </a:moveTo>
                    <a:lnTo>
                      <a:pt x="188312" y="116311"/>
                    </a:lnTo>
                    <a:lnTo>
                      <a:pt x="188312" y="304624"/>
                    </a:lnTo>
                    <a:lnTo>
                      <a:pt x="0" y="193852"/>
                    </a:lnTo>
                    <a:close/>
                    <a:moveTo>
                      <a:pt x="188312" y="116311"/>
                    </a:moveTo>
                    <a:lnTo>
                      <a:pt x="487397" y="5539"/>
                    </a:lnTo>
                    <a:lnTo>
                      <a:pt x="487397" y="199390"/>
                    </a:lnTo>
                    <a:lnTo>
                      <a:pt x="188312" y="304624"/>
                    </a:lnTo>
                    <a:close/>
                  </a:path>
                </a:pathLst>
              </a:custGeom>
              <a:solidFill>
                <a:srgbClr val="F6EAC8"/>
              </a:solidFill>
              <a:ln w="12185" cap="rnd" cmpd="sng" algn="ctr">
                <a:solidFill>
                  <a:srgbClr val="243E42"/>
                </a:solidFill>
                <a:prstDash val="solid"/>
                <a:round/>
                <a:headEnd type="none" w="med" len="med"/>
                <a:tailEnd type="none" w="med" len="med"/>
              </a:ln>
            </p:spPr>
          </p:sp>
          <p:sp>
            <p:nvSpPr>
              <p:cNvPr id="1158" name="path · 132"/>
              <p:cNvSpPr/>
              <p:nvPr/>
            </p:nvSpPr>
            <p:spPr>
              <a:xfrm>
                <a:off x="8998303" y="4967393"/>
                <a:ext cx="254776" cy="221544"/>
              </a:xfrm>
              <a:custGeom>
                <a:avLst/>
                <a:gdLst/>
                <a:ahLst/>
                <a:cxnLst/>
                <a:rect l="0" t="0" r="r" b="b"/>
                <a:pathLst>
                  <a:path w="254776" h="221544" fill="norm" stroke="1" extrusionOk="0">
                    <a:moveTo>
                      <a:pt x="55386" y="0"/>
                    </a:moveTo>
                    <a:lnTo>
                      <a:pt x="254776" y="110773"/>
                    </a:lnTo>
                    <a:lnTo>
                      <a:pt x="254776" y="199390"/>
                    </a:lnTo>
                    <a:lnTo>
                      <a:pt x="199390" y="221545"/>
                    </a:lnTo>
                    <a:lnTo>
                      <a:pt x="199390" y="132927"/>
                    </a:lnTo>
                    <a:lnTo>
                      <a:pt x="0" y="22155"/>
                    </a:lnTo>
                  </a:path>
                </a:pathLst>
              </a:custGeom>
              <a:solidFill>
                <a:srgbClr val="FFFFFF"/>
              </a:solidFill>
              <a:ln w="12185" cap="rnd" cmpd="sng" algn="ctr">
                <a:solidFill>
                  <a:srgbClr val="243E42"/>
                </a:solidFill>
                <a:prstDash val="solid"/>
                <a:round/>
                <a:headEnd type="none" w="med" len="med"/>
                <a:tailEnd type="none" w="med" len="med"/>
              </a:ln>
            </p:spPr>
          </p:sp>
          <p:sp>
            <p:nvSpPr>
              <p:cNvPr id="1159" name="circle · 133"/>
              <p:cNvSpPr/>
              <p:nvPr/>
            </p:nvSpPr>
            <p:spPr>
              <a:xfrm>
                <a:off x="8904146" y="5011702"/>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sp>
            <p:nvSpPr>
              <p:cNvPr id="1160" name="circle · 134"/>
              <p:cNvSpPr/>
              <p:nvPr/>
            </p:nvSpPr>
            <p:spPr>
              <a:xfrm>
                <a:off x="9297388" y="5033857"/>
                <a:ext cx="77541" cy="77541"/>
              </a:xfrm>
              <a:prstGeom prst="ellipse">
                <a:avLst/>
              </a:prstGeom>
              <a:solidFill>
                <a:srgbClr val="F4DFD3"/>
              </a:solidFill>
              <a:ln w="12185" cap="rnd" cmpd="sng" algn="ctr">
                <a:solidFill>
                  <a:srgbClr val="243E42"/>
                </a:solidFill>
                <a:prstDash val="solid"/>
                <a:round/>
                <a:headEnd type="none" w="med" len="med"/>
                <a:tailEnd type="none" w="med" len="med"/>
              </a:ln>
            </p:spPr>
          </p:sp>
        </p:grpSp>
        <p:grpSp>
          <p:nvGrpSpPr>
            <p:cNvPr id="1161" name="confirmed-terms · 138"/>
            <p:cNvGrpSpPr/>
            <p:nvPr/>
          </p:nvGrpSpPr>
          <p:grpSpPr>
            <a:xfrm>
              <a:off x="9328150" y="4667250"/>
              <a:ext cx="279400" cy="279400"/>
              <a:chOff x="9328150" y="4667250"/>
              <a:chExt cx="279400" cy="279400"/>
            </a:xfrm>
          </p:grpSpPr>
          <p:sp>
            <p:nvSpPr>
              <p:cNvPr id="1162" name="circle · 136"/>
              <p:cNvSpPr/>
              <p:nvPr/>
            </p:nvSpPr>
            <p:spPr>
              <a:xfrm>
                <a:off x="9328150" y="4667250"/>
                <a:ext cx="279400" cy="2794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63" name="path · 137"/>
              <p:cNvSpPr/>
              <p:nvPr/>
            </p:nvSpPr>
            <p:spPr>
              <a:xfrm>
                <a:off x="9398000" y="4737100"/>
                <a:ext cx="139700" cy="120650"/>
              </a:xfrm>
              <a:custGeom>
                <a:avLst/>
                <a:gdLst/>
                <a:ahLst/>
                <a:cxnLst/>
                <a:rect l="0" t="0" r="r" b="b"/>
                <a:pathLst>
                  <a:path w="139700" h="120650" fill="none" stroke="1" extrusionOk="0">
                    <a:moveTo>
                      <a:pt x="0" y="69850"/>
                    </a:moveTo>
                    <a:lnTo>
                      <a:pt x="50800" y="120650"/>
                    </a:lnTo>
                    <a:lnTo>
                      <a:pt x="139700" y="0"/>
                    </a:lnTo>
                  </a:path>
                </a:pathLst>
              </a:custGeom>
              <a:noFill/>
              <a:ln w="25400" cap="rnd" cmpd="sng" algn="ctr">
                <a:solidFill>
                  <a:srgbClr val="2E6653"/>
                </a:solidFill>
                <a:prstDash val="solid"/>
                <a:round/>
                <a:headEnd type="none" w="med" len="med"/>
                <a:tailEnd type="none" w="med" len="med"/>
              </a:ln>
            </p:spPr>
          </p:sp>
        </p:grpSp>
        <p:sp>
          <p:nvSpPr>
            <p:cNvPr id="1164" name="text · 139"/>
            <p:cNvSpPr txBox="1"/>
            <p:nvPr/>
          </p:nvSpPr>
          <p:spPr>
            <a:xfrm>
              <a:off x="8468844" y="5435724"/>
              <a:ext cx="1324911"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Confirm terms</a:t>
              </a:r>
              <a:endParaRPr lang="en-US" sz="1500"/>
            </a:p>
          </p:txBody>
        </p:sp>
        <p:grpSp>
          <p:nvGrpSpPr>
            <p:cNvPr id="1165" name="request-route · 142"/>
            <p:cNvGrpSpPr/>
            <p:nvPr/>
          </p:nvGrpSpPr>
          <p:grpSpPr>
            <a:xfrm>
              <a:off x="9626600" y="4972050"/>
              <a:ext cx="520700" cy="50800"/>
              <a:chOff x="9626600" y="4972050"/>
              <a:chExt cx="520700" cy="50800"/>
            </a:xfrm>
          </p:grpSpPr>
          <p:grpSp>
            <p:nvGrpSpPr>
              <p:cNvPr id="1166" name="path · 140 + arrowhead"/>
              <p:cNvGrpSpPr/>
              <p:nvPr/>
            </p:nvGrpSpPr>
            <p:grpSpPr>
              <a:xfrm>
                <a:off x="9626600" y="4972050"/>
                <a:ext cx="520700" cy="50800"/>
                <a:chOff x="9626600" y="4972050"/>
                <a:chExt cx="520700" cy="50800"/>
              </a:xfrm>
            </p:grpSpPr>
            <p:sp>
              <p:nvSpPr>
                <p:cNvPr id="1167" name="path · 140"/>
                <p:cNvSpPr/>
                <p:nvPr/>
              </p:nvSpPr>
              <p:spPr>
                <a:xfrm>
                  <a:off x="9626600" y="4997450"/>
                  <a:ext cx="520700" cy="1"/>
                </a:xfrm>
                <a:custGeom>
                  <a:avLst/>
                  <a:gdLst/>
                  <a:ahLst/>
                  <a:cxnLst/>
                  <a:rect l="0" t="0" r="r" b="b"/>
                  <a:pathLst>
                    <a:path w="520700" h="1" fill="none" stroke="1" extrusionOk="0">
                      <a:moveTo>
                        <a:pt x="0" y="0"/>
                      </a:moveTo>
                      <a:lnTo>
                        <a:pt x="520700" y="0"/>
                      </a:lnTo>
                    </a:path>
                  </a:pathLst>
                </a:custGeom>
                <a:noFill/>
                <a:ln w="22225" cap="rnd" cmpd="sng" algn="ctr">
                  <a:solidFill>
                    <a:srgbClr val="355F72"/>
                  </a:solidFill>
                  <a:prstDash val="solid"/>
                  <a:round/>
                  <a:headEnd type="none" w="med" len="med"/>
                  <a:tailEnd type="none" w="med" len="med"/>
                </a:ln>
              </p:spPr>
            </p:sp>
            <p:grpSp>
              <p:nvGrpSpPr>
                <p:cNvPr id="1168" name="arrow-blue_ink end"/>
                <p:cNvGrpSpPr/>
                <p:nvPr/>
              </p:nvGrpSpPr>
              <p:grpSpPr>
                <a:xfrm>
                  <a:off x="10099675" y="4972050"/>
                  <a:ext cx="47625" cy="50800"/>
                  <a:chOff x="10099675" y="4972050"/>
                  <a:chExt cx="47625" cy="50800"/>
                </a:xfrm>
              </p:grpSpPr>
              <p:sp>
                <p:nvSpPr>
                  <p:cNvPr id="1169" name="path · 141"/>
                  <p:cNvSpPr/>
                  <p:nvPr/>
                </p:nvSpPr>
                <p:spPr>
                  <a:xfrm>
                    <a:off x="10099675" y="497205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grpSp>
          <p:nvGrpSpPr>
            <p:cNvPr id="1170" name="commit · 149"/>
            <p:cNvGrpSpPr/>
            <p:nvPr/>
          </p:nvGrpSpPr>
          <p:grpSpPr>
            <a:xfrm>
              <a:off x="10284178" y="4474633"/>
              <a:ext cx="958497" cy="951794"/>
              <a:chOff x="10284178" y="4474633"/>
              <a:chExt cx="958497" cy="951794"/>
            </a:xfrm>
          </p:grpSpPr>
          <p:sp>
            <p:nvSpPr>
              <p:cNvPr id="1171" name="path · 143"/>
              <p:cNvSpPr/>
              <p:nvPr/>
            </p:nvSpPr>
            <p:spPr>
              <a:xfrm>
                <a:off x="10284178" y="4474633"/>
                <a:ext cx="790928" cy="924983"/>
              </a:xfrm>
              <a:custGeom>
                <a:avLst/>
                <a:gdLst/>
                <a:ahLst/>
                <a:cxnLst/>
                <a:rect l="0" t="0" r="r" b="b"/>
                <a:pathLst>
                  <a:path w="790928" h="924983" fill="norm" stroke="1" extrusionOk="0">
                    <a:moveTo>
                      <a:pt x="0" y="0"/>
                    </a:moveTo>
                    <a:lnTo>
                      <a:pt x="609953" y="0"/>
                    </a:lnTo>
                    <a:lnTo>
                      <a:pt x="790928" y="180975"/>
                    </a:lnTo>
                    <a:lnTo>
                      <a:pt x="790928" y="924984"/>
                    </a:lnTo>
                    <a:lnTo>
                      <a:pt x="0" y="924984"/>
                    </a:lnTo>
                    <a:close/>
                  </a:path>
                </a:pathLst>
              </a:custGeom>
              <a:solidFill>
                <a:srgbClr val="FFFFFF"/>
              </a:solidFill>
              <a:ln w="14746" cap="rnd" cmpd="sng" algn="ctr">
                <a:solidFill>
                  <a:srgbClr val="243E42"/>
                </a:solidFill>
                <a:prstDash val="solid"/>
                <a:round/>
                <a:headEnd type="none" w="med" len="med"/>
                <a:tailEnd type="none" w="med" len="med"/>
              </a:ln>
            </p:spPr>
          </p:sp>
          <p:sp>
            <p:nvSpPr>
              <p:cNvPr id="1172" name="path · 144"/>
              <p:cNvSpPr/>
              <p:nvPr/>
            </p:nvSpPr>
            <p:spPr>
              <a:xfrm>
                <a:off x="10894131" y="4474633"/>
                <a:ext cx="180975" cy="180975"/>
              </a:xfrm>
              <a:custGeom>
                <a:avLst/>
                <a:gdLst/>
                <a:ahLst/>
                <a:cxnLst/>
                <a:rect l="0" t="0" r="r" b="b"/>
                <a:pathLst>
                  <a:path w="180975" h="180975" fill="norm" stroke="1" extrusionOk="0">
                    <a:moveTo>
                      <a:pt x="0" y="0"/>
                    </a:moveTo>
                    <a:lnTo>
                      <a:pt x="0" y="180975"/>
                    </a:lnTo>
                    <a:lnTo>
                      <a:pt x="180975" y="180975"/>
                    </a:lnTo>
                  </a:path>
                </a:pathLst>
              </a:custGeom>
              <a:solidFill>
                <a:srgbClr val="E2EEF3"/>
              </a:solidFill>
              <a:ln w="14746" cap="rnd" cmpd="sng" algn="ctr">
                <a:solidFill>
                  <a:srgbClr val="243E42"/>
                </a:solidFill>
                <a:prstDash val="solid"/>
                <a:round/>
                <a:headEnd type="none" w="med" len="med"/>
                <a:tailEnd type="none" w="med" len="med"/>
              </a:ln>
            </p:spPr>
          </p:sp>
          <p:sp>
            <p:nvSpPr>
              <p:cNvPr id="1173" name="path · 145"/>
              <p:cNvSpPr/>
              <p:nvPr/>
            </p:nvSpPr>
            <p:spPr>
              <a:xfrm>
                <a:off x="10391422" y="4742744"/>
                <a:ext cx="522817" cy="214489"/>
              </a:xfrm>
              <a:custGeom>
                <a:avLst/>
                <a:gdLst/>
                <a:ahLst/>
                <a:cxnLst/>
                <a:rect l="0" t="0" r="r" b="b"/>
                <a:pathLst>
                  <a:path w="522817" h="214489" fill="none" stroke="1" extrusionOk="0">
                    <a:moveTo>
                      <a:pt x="0" y="0"/>
                    </a:moveTo>
                    <a:lnTo>
                      <a:pt x="522817" y="0"/>
                    </a:lnTo>
                    <a:moveTo>
                      <a:pt x="0" y="107245"/>
                    </a:moveTo>
                    <a:lnTo>
                      <a:pt x="395464" y="107245"/>
                    </a:lnTo>
                    <a:moveTo>
                      <a:pt x="0" y="214489"/>
                    </a:moveTo>
                    <a:lnTo>
                      <a:pt x="315031" y="214489"/>
                    </a:lnTo>
                  </a:path>
                </a:pathLst>
              </a:custGeom>
              <a:noFill/>
              <a:ln w="26811" cap="rnd" cmpd="sng" algn="ctr">
                <a:solidFill>
                  <a:srgbClr val="355F72"/>
                </a:solidFill>
                <a:prstDash val="solid"/>
                <a:round/>
                <a:headEnd type="none" w="med" len="med"/>
                <a:tailEnd type="none" w="med" len="med"/>
              </a:ln>
            </p:spPr>
          </p:sp>
          <p:sp>
            <p:nvSpPr>
              <p:cNvPr id="1174" name="path · 146"/>
              <p:cNvSpPr/>
              <p:nvPr/>
            </p:nvSpPr>
            <p:spPr>
              <a:xfrm>
                <a:off x="10391422" y="5138208"/>
                <a:ext cx="308328" cy="147461"/>
              </a:xfrm>
              <a:custGeom>
                <a:avLst/>
                <a:gdLst/>
                <a:ahLst/>
                <a:cxnLst/>
                <a:rect l="0" t="0" r="r" b="b"/>
                <a:pathLst>
                  <a:path w="308328" h="147461" fill="none" stroke="1" extrusionOk="0">
                    <a:moveTo>
                      <a:pt x="0" y="0"/>
                    </a:moveTo>
                    <a:lnTo>
                      <a:pt x="0" y="147461"/>
                    </a:lnTo>
                    <a:moveTo>
                      <a:pt x="40217" y="0"/>
                    </a:moveTo>
                    <a:lnTo>
                      <a:pt x="40217" y="147461"/>
                    </a:lnTo>
                    <a:moveTo>
                      <a:pt x="87136" y="0"/>
                    </a:moveTo>
                    <a:lnTo>
                      <a:pt x="87136" y="147461"/>
                    </a:lnTo>
                    <a:moveTo>
                      <a:pt x="154164" y="0"/>
                    </a:moveTo>
                    <a:lnTo>
                      <a:pt x="154164" y="147461"/>
                    </a:lnTo>
                    <a:moveTo>
                      <a:pt x="201084" y="0"/>
                    </a:moveTo>
                    <a:lnTo>
                      <a:pt x="201084" y="147461"/>
                    </a:lnTo>
                    <a:moveTo>
                      <a:pt x="241300" y="0"/>
                    </a:moveTo>
                    <a:lnTo>
                      <a:pt x="241300" y="147461"/>
                    </a:lnTo>
                    <a:moveTo>
                      <a:pt x="308328" y="0"/>
                    </a:moveTo>
                    <a:lnTo>
                      <a:pt x="308328" y="147461"/>
                    </a:lnTo>
                  </a:path>
                </a:pathLst>
              </a:custGeom>
              <a:noFill/>
              <a:ln w="20108" cap="rnd" cmpd="sng" algn="ctr">
                <a:solidFill>
                  <a:srgbClr val="243E42"/>
                </a:solidFill>
                <a:prstDash val="solid"/>
                <a:round/>
                <a:headEnd type="none" w="med" len="med"/>
                <a:tailEnd type="none" w="med" len="med"/>
              </a:ln>
            </p:spPr>
          </p:sp>
          <p:sp>
            <p:nvSpPr>
              <p:cNvPr id="1175" name="path · 147"/>
              <p:cNvSpPr/>
              <p:nvPr/>
            </p:nvSpPr>
            <p:spPr>
              <a:xfrm>
                <a:off x="10813697" y="4917017"/>
                <a:ext cx="428978" cy="509411"/>
              </a:xfrm>
              <a:custGeom>
                <a:avLst/>
                <a:gdLst/>
                <a:ahLst/>
                <a:cxnLst/>
                <a:rect l="0" t="0" r="r" b="b"/>
                <a:pathLst>
                  <a:path w="428978" h="509411" fill="norm" stroke="1" extrusionOk="0">
                    <a:moveTo>
                      <a:pt x="214489" y="0"/>
                    </a:moveTo>
                    <a:lnTo>
                      <a:pt x="428978" y="73730"/>
                    </a:lnTo>
                    <a:lnTo>
                      <a:pt x="428978" y="248002"/>
                    </a:lnTo>
                    <a:quadBezTo>
                      <a:pt x="428978" y="395464"/>
                      <a:pt x="214489" y="509411"/>
                    </a:quadBezTo>
                    <a:quadBezTo>
                      <a:pt x="0" y="395464"/>
                      <a:pt x="0" y="248002"/>
                    </a:quadBezTo>
                    <a:lnTo>
                      <a:pt x="0" y="73730"/>
                    </a:lnTo>
                    <a:close/>
                  </a:path>
                </a:pathLst>
              </a:custGeom>
              <a:solidFill>
                <a:srgbClr val="D7EBE1"/>
              </a:solidFill>
              <a:ln w="14746" cap="rnd" cmpd="sng" algn="ctr">
                <a:solidFill>
                  <a:srgbClr val="2E6653"/>
                </a:solidFill>
                <a:prstDash val="solid"/>
                <a:round/>
                <a:headEnd type="none" w="med" len="med"/>
                <a:tailEnd type="none" w="med" len="med"/>
              </a:ln>
            </p:spPr>
          </p:sp>
          <p:sp>
            <p:nvSpPr>
              <p:cNvPr id="1176" name="path · 148"/>
              <p:cNvSpPr/>
              <p:nvPr/>
            </p:nvSpPr>
            <p:spPr>
              <a:xfrm>
                <a:off x="10914239" y="5051072"/>
                <a:ext cx="227894" cy="174272"/>
              </a:xfrm>
              <a:custGeom>
                <a:avLst/>
                <a:gdLst/>
                <a:ahLst/>
                <a:cxnLst/>
                <a:rect l="0" t="0" r="r" b="b"/>
                <a:pathLst>
                  <a:path w="227894" h="174272" fill="none" stroke="1" extrusionOk="0">
                    <a:moveTo>
                      <a:pt x="0" y="100542"/>
                    </a:moveTo>
                    <a:lnTo>
                      <a:pt x="73730" y="174272"/>
                    </a:lnTo>
                    <a:lnTo>
                      <a:pt x="227894" y="0"/>
                    </a:lnTo>
                  </a:path>
                </a:pathLst>
              </a:custGeom>
              <a:noFill/>
              <a:ln w="33514" cap="rnd" cmpd="sng" algn="ctr">
                <a:solidFill>
                  <a:srgbClr val="2E6653"/>
                </a:solidFill>
                <a:prstDash val="solid"/>
                <a:round/>
                <a:headEnd type="none" w="med" len="med"/>
                <a:tailEnd type="none" w="med" len="med"/>
              </a:ln>
            </p:spPr>
          </p:sp>
        </p:grpSp>
        <p:sp>
          <p:nvSpPr>
            <p:cNvPr id="1177" name="text · 150"/>
            <p:cNvSpPr txBox="1"/>
            <p:nvPr/>
          </p:nvSpPr>
          <p:spPr>
            <a:xfrm>
              <a:off x="10063795" y="5435724"/>
              <a:ext cx="1271910"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E6653"/>
                  </a:solidFill>
                  <a:latin typeface="Manrope"/>
                  <a:ea typeface="Manrope"/>
                  <a:cs typeface="Manrope"/>
                </a:rPr>
                <a:t>Service result</a:t>
              </a:r>
              <a:endParaRPr lang="en-US" sz="1500"/>
            </a:p>
          </p:txBody>
        </p:sp>
      </p:grpSp>
      <p:grpSp>
        <p:nvGrpSpPr>
          <p:cNvPr id="1183" name="08 · source-line: Intent routing · AgentScript control plane · Reasoning gate · C"/>
          <p:cNvGrpSpPr/>
          <p:nvPr/>
        </p:nvGrpSpPr>
        <p:grpSpPr>
          <a:xfrm>
            <a:off x="558800" y="6037898"/>
            <a:ext cx="11087100" cy="284456"/>
            <a:chOff x="558800" y="6037898"/>
            <a:chExt cx="11087100" cy="284456"/>
          </a:xfrm>
        </p:grpSpPr>
        <p:sp>
          <p:nvSpPr>
            <p:cNvPr id="1178" name="08 · source-line · top border [p08-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79" name="08 · span: Intent routing · AgentScript control plane · Reasoning gate · C [p08-text-0009]" descr="Native editable Unicode text; authored line breaks retained."/>
            <p:cNvSpPr txBox="1"/>
            <p:nvPr/>
          </p:nvSpPr>
          <p:spPr>
            <a:xfrm>
              <a:off x="558800" y="6153126"/>
              <a:ext cx="343149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Reasoning gate · C</a:t>
              </a:r>
              <a:endParaRPr lang="en-US" sz="950" b="0" i="0" kern="0" spc="0" dirty="0" u="sng">
                <a:solidFill>
                  <a:srgbClr val="315A7A"/>
                </a:solidFill>
                <a:latin typeface="Salesforce Sans"/>
                <a:ea typeface="Salesforce Sans"/>
                <a:cs typeface="Salesforce Sans"/>
              </a:endParaRPr>
            </a:p>
          </p:txBody>
        </p:sp>
        <p:sp>
          <p:nvSpPr>
            <p:cNvPr id="1180" name="08 · span: Scoped interpretation · facts and authority remain with services [p08-text-0010]" descr="Native editable Unicode text; authored line breaks retained."/>
            <p:cNvSpPr txBox="1"/>
            <p:nvPr/>
          </p:nvSpPr>
          <p:spPr>
            <a:xfrm>
              <a:off x="8101124" y="6153126"/>
              <a:ext cx="354477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Scoped interpretation · facts and authority remain with services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9.xml><?xml version="1.0" encoding="utf-8"?>
<p:sld xmlns:a="http://schemas.openxmlformats.org/drawingml/2006/main" xmlns:p="http://schemas.openxmlformats.org/presentationml/2006/main">
  <p:cSld name="Whole-item returns follow their own policy">
    <p:bg>
      <p:bgPr>
        <a:solidFill>
          <a:srgbClr val="FFFFFF"/>
        </a:solidFill>
      </p:bgPr>
    </p:bg>
    <p:spTree>
      <p:nvGrpSpPr>
        <p:cNvPr id="1" name=""/>
        <p:cNvGrpSpPr/>
        <p:nvPr/>
      </p:nvGrpSpPr>
      <p:grpSpPr>
        <a:xfrm>
          <a:off x="0" y="0"/>
          <a:ext cx="0" cy="0"/>
          <a:chOff x="0" y="0"/>
          <a:chExt cx="0" cy="0"/>
        </a:xfrm>
      </p:grpSpPr>
      <p:sp>
        <p:nvSpPr>
          <p:cNvPr id="1000" name="09 · slide light · surface [p0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86" name="09 · chrome-min: DISAGGREGATED INTELLIGENCE"/>
          <p:cNvGrpSpPr/>
          <p:nvPr/>
        </p:nvGrpSpPr>
        <p:grpSpPr>
          <a:xfrm>
            <a:off x="558800" y="356053"/>
            <a:ext cx="11087100" cy="187325"/>
            <a:chOff x="558800" y="356053"/>
            <a:chExt cx="11087100" cy="187325"/>
          </a:xfrm>
        </p:grpSpPr>
        <p:sp>
          <p:nvSpPr>
            <p:cNvPr id="1001" name="09 · l: DISAGGREGATED INTELLIGENCE [p09-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09 · r: 09 / 36 [p09-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09 / 36</a:t>
              </a:r>
              <a:endParaRPr lang="en-US" sz="950" b="1" i="0" kern="0" spc="65" dirty="0">
                <a:solidFill>
                  <a:srgbClr val="022AC0"/>
                </a:solidFill>
                <a:latin typeface="Salesforce Sans"/>
                <a:ea typeface="Salesforce Sans"/>
                <a:cs typeface="Salesforce Sans"/>
              </a:endParaRPr>
            </a:p>
          </p:txBody>
        </p:sp>
      </p:grpSp>
      <p:grpSp>
        <p:nvGrpSpPr>
          <p:cNvPr id="1187" name="09 · deck-head: 02 / AN EXPLICIT MERCHANT POLICY"/>
          <p:cNvGrpSpPr/>
          <p:nvPr/>
        </p:nvGrpSpPr>
        <p:grpSpPr>
          <a:xfrm>
            <a:off x="558800" y="775901"/>
            <a:ext cx="11087100" cy="871263"/>
            <a:chOff x="558800" y="775901"/>
            <a:chExt cx="11087100" cy="871263"/>
          </a:xfrm>
        </p:grpSpPr>
        <p:sp>
          <p:nvSpPr>
            <p:cNvPr id="1003" name="09 · returns-policy-eyebrow: 02 / AN EXPLICIT MERCHANT POLICY [p09-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AN EXPLICIT MERCHANT POLICY</a:t>
              </a:r>
              <a:endParaRPr lang="en-US" sz="1050" b="1" i="0" kern="0" spc="68" dirty="0">
                <a:solidFill>
                  <a:srgbClr val="022AC0"/>
                </a:solidFill>
                <a:latin typeface="Salesforce Sans"/>
                <a:ea typeface="Salesforce Sans"/>
                <a:cs typeface="Salesforce Sans"/>
              </a:endParaRPr>
            </a:p>
          </p:txBody>
        </p:sp>
        <p:sp>
          <p:nvSpPr>
            <p:cNvPr id="1004" name="09 · returns-policy-title: Whole-item returns follow their own policy [p09-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Whole-item returns follow their own policy</a:t>
              </a:r>
              <a:endParaRPr lang="en-US" sz="3600" b="1" i="0" kern="0" spc="-95" dirty="0">
                <a:solidFill>
                  <a:srgbClr val="022AC0"/>
                </a:solidFill>
                <a:latin typeface="Manrope"/>
                <a:ea typeface="Manrope"/>
                <a:cs typeface="Manrope"/>
              </a:endParaRPr>
            </a:p>
          </p:txBody>
        </p:sp>
      </p:grpSp>
      <p:grpSp>
        <p:nvGrpSpPr>
          <p:cNvPr id="1005" name="09 · img · drawing [p09-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g · 165"/>
            <p:cNvGrpSpPr/>
            <p:nvPr/>
          </p:nvGrpSpPr>
          <p:grpSpPr>
            <a:xfrm>
              <a:off x="698500" y="2063750"/>
              <a:ext cx="10693496" cy="3562350"/>
              <a:chOff x="698500" y="2063750"/>
              <a:chExt cx="10693496" cy="3562350"/>
            </a:xfrm>
          </p:grpSpPr>
          <p:grpSp>
            <p:nvGrpSpPr>
              <p:cNvPr id="1008" name="g · 158"/>
              <p:cNvGrpSpPr/>
              <p:nvPr/>
            </p:nvGrpSpPr>
            <p:grpSpPr>
              <a:xfrm>
                <a:off x="729721" y="2063750"/>
                <a:ext cx="10662275" cy="3562350"/>
                <a:chOff x="729721" y="2063750"/>
                <a:chExt cx="10662275" cy="3562350"/>
              </a:xfrm>
            </p:grpSpPr>
            <p:grpSp>
              <p:nvGrpSpPr>
                <p:cNvPr id="1009" name="path · 2 + arrowhead"/>
                <p:cNvGrpSpPr/>
                <p:nvPr/>
              </p:nvGrpSpPr>
              <p:grpSpPr>
                <a:xfrm>
                  <a:off x="2641600" y="2806700"/>
                  <a:ext cx="787400" cy="914400"/>
                  <a:chOff x="2641600" y="2806700"/>
                  <a:chExt cx="787400" cy="914400"/>
                </a:xfrm>
              </p:grpSpPr>
              <p:sp>
                <p:nvSpPr>
                  <p:cNvPr id="1010" name="path · 2"/>
                  <p:cNvSpPr/>
                  <p:nvPr/>
                </p:nvSpPr>
                <p:spPr>
                  <a:xfrm>
                    <a:off x="2641600" y="2832100"/>
                    <a:ext cx="787400" cy="889000"/>
                  </a:xfrm>
                  <a:custGeom>
                    <a:avLst/>
                    <a:gdLst/>
                    <a:ahLst/>
                    <a:cxnLst/>
                    <a:rect l="0" t="0" r="r" b="b"/>
                    <a:pathLst>
                      <a:path w="787400" h="889000" fill="none" stroke="1" extrusionOk="0">
                        <a:moveTo>
                          <a:pt x="0" y="889000"/>
                        </a:moveTo>
                        <a:lnTo>
                          <a:pt x="349250" y="889000"/>
                        </a:lnTo>
                        <a:lnTo>
                          <a:pt x="349250" y="0"/>
                        </a:lnTo>
                        <a:lnTo>
                          <a:pt x="787400" y="0"/>
                        </a:lnTo>
                      </a:path>
                    </a:pathLst>
                  </a:custGeom>
                  <a:noFill/>
                  <a:ln w="25400" cap="rnd" cmpd="sng" algn="ctr">
                    <a:solidFill>
                      <a:srgbClr val="355F72"/>
                    </a:solidFill>
                    <a:prstDash val="solid"/>
                    <a:round/>
                    <a:headEnd type="none" w="med" len="med"/>
                    <a:tailEnd type="none" w="med" len="med"/>
                  </a:ln>
                </p:spPr>
              </p:sp>
              <p:grpSp>
                <p:nvGrpSpPr>
                  <p:cNvPr id="1011" name="arrow-blue_ink end"/>
                  <p:cNvGrpSpPr/>
                  <p:nvPr/>
                </p:nvGrpSpPr>
                <p:grpSpPr>
                  <a:xfrm>
                    <a:off x="3381375" y="2806700"/>
                    <a:ext cx="47625" cy="50800"/>
                    <a:chOff x="3381375" y="2806700"/>
                    <a:chExt cx="47625" cy="50800"/>
                  </a:xfrm>
                </p:grpSpPr>
                <p:sp>
                  <p:nvSpPr>
                    <p:cNvPr id="1012" name="path · 3"/>
                    <p:cNvSpPr/>
                    <p:nvPr/>
                  </p:nvSpPr>
                  <p:spPr>
                    <a:xfrm>
                      <a:off x="3381375" y="2806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nvGrpSpPr>
                <p:cNvPr id="1013" name="path · 4 + arrowhead"/>
                <p:cNvGrpSpPr/>
                <p:nvPr/>
              </p:nvGrpSpPr>
              <p:grpSpPr>
                <a:xfrm>
                  <a:off x="2990850" y="3721100"/>
                  <a:ext cx="438150" cy="1041400"/>
                  <a:chOff x="2990850" y="3721100"/>
                  <a:chExt cx="438150" cy="1041400"/>
                </a:xfrm>
              </p:grpSpPr>
              <p:sp>
                <p:nvSpPr>
                  <p:cNvPr id="1014" name="path · 4"/>
                  <p:cNvSpPr/>
                  <p:nvPr/>
                </p:nvSpPr>
                <p:spPr>
                  <a:xfrm>
                    <a:off x="2990850" y="3721100"/>
                    <a:ext cx="438150" cy="1016000"/>
                  </a:xfrm>
                  <a:custGeom>
                    <a:avLst/>
                    <a:gdLst/>
                    <a:ahLst/>
                    <a:cxnLst/>
                    <a:rect l="0" t="0" r="r" b="b"/>
                    <a:pathLst>
                      <a:path w="438150" h="1016000" fill="none" stroke="1" extrusionOk="0">
                        <a:moveTo>
                          <a:pt x="0" y="0"/>
                        </a:moveTo>
                        <a:lnTo>
                          <a:pt x="0" y="1016000"/>
                        </a:lnTo>
                        <a:lnTo>
                          <a:pt x="438150" y="1016000"/>
                        </a:lnTo>
                      </a:path>
                    </a:pathLst>
                  </a:custGeom>
                  <a:noFill/>
                  <a:ln w="25400" cap="rnd" cmpd="sng" algn="ctr">
                    <a:solidFill>
                      <a:srgbClr val="355F72"/>
                    </a:solidFill>
                    <a:prstDash val="solid"/>
                    <a:round/>
                    <a:headEnd type="none" w="med" len="med"/>
                    <a:tailEnd type="none" w="med" len="med"/>
                  </a:ln>
                </p:spPr>
              </p:sp>
              <p:grpSp>
                <p:nvGrpSpPr>
                  <p:cNvPr id="1015" name="arrow-blue_ink end"/>
                  <p:cNvGrpSpPr/>
                  <p:nvPr/>
                </p:nvGrpSpPr>
                <p:grpSpPr>
                  <a:xfrm>
                    <a:off x="3381375" y="4711700"/>
                    <a:ext cx="47625" cy="50800"/>
                    <a:chOff x="3381375" y="4711700"/>
                    <a:chExt cx="47625" cy="50800"/>
                  </a:xfrm>
                </p:grpSpPr>
                <p:sp>
                  <p:nvSpPr>
                    <p:cNvPr id="1016" name="path · 5"/>
                    <p:cNvSpPr/>
                    <p:nvPr/>
                  </p:nvSpPr>
                  <p:spPr>
                    <a:xfrm>
                      <a:off x="3381375" y="4711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sp>
              <p:nvSpPr>
                <p:cNvPr id="1017" name="circle · 6"/>
                <p:cNvSpPr/>
                <p:nvPr/>
              </p:nvSpPr>
              <p:spPr>
                <a:xfrm>
                  <a:off x="2952750" y="3683000"/>
                  <a:ext cx="76200" cy="76200"/>
                </a:xfrm>
                <a:prstGeom prst="ellipse">
                  <a:avLst/>
                </a:prstGeom>
                <a:solidFill>
                  <a:srgbClr val="355F72"/>
                </a:solidFill>
                <a:ln>
                  <a:noFill/>
                </a:ln>
              </p:spPr>
            </p:sp>
            <p:grpSp>
              <p:nvGrpSpPr>
                <p:cNvPr id="1018" name="path · 7 + arrowhead"/>
                <p:cNvGrpSpPr/>
                <p:nvPr/>
              </p:nvGrpSpPr>
              <p:grpSpPr>
                <a:xfrm>
                  <a:off x="5073650" y="2806700"/>
                  <a:ext cx="641350" cy="50800"/>
                  <a:chOff x="5073650" y="2806700"/>
                  <a:chExt cx="641350" cy="50800"/>
                </a:xfrm>
              </p:grpSpPr>
              <p:sp>
                <p:nvSpPr>
                  <p:cNvPr id="1019" name="path · 7"/>
                  <p:cNvSpPr/>
                  <p:nvPr/>
                </p:nvSpPr>
                <p:spPr>
                  <a:xfrm>
                    <a:off x="5073650" y="2832100"/>
                    <a:ext cx="641350" cy="1"/>
                  </a:xfrm>
                  <a:custGeom>
                    <a:avLst/>
                    <a:gdLst/>
                    <a:ahLst/>
                    <a:cxnLst/>
                    <a:rect l="0" t="0" r="r" b="b"/>
                    <a:pathLst>
                      <a:path w="641350" h="1" fill="none" stroke="1" extrusionOk="0">
                        <a:moveTo>
                          <a:pt x="0" y="0"/>
                        </a:moveTo>
                        <a:lnTo>
                          <a:pt x="641350" y="0"/>
                        </a:lnTo>
                      </a:path>
                    </a:pathLst>
                  </a:custGeom>
                  <a:noFill/>
                  <a:ln w="25400" cap="rnd" cmpd="sng" algn="ctr">
                    <a:solidFill>
                      <a:srgbClr val="2E6653"/>
                    </a:solidFill>
                    <a:prstDash val="solid"/>
                    <a:round/>
                    <a:headEnd type="none" w="med" len="med"/>
                    <a:tailEnd type="none" w="med" len="med"/>
                  </a:ln>
                </p:spPr>
              </p:sp>
              <p:grpSp>
                <p:nvGrpSpPr>
                  <p:cNvPr id="1020" name="arrow-green end"/>
                  <p:cNvGrpSpPr/>
                  <p:nvPr/>
                </p:nvGrpSpPr>
                <p:grpSpPr>
                  <a:xfrm>
                    <a:off x="5667375" y="2806700"/>
                    <a:ext cx="47625" cy="50800"/>
                    <a:chOff x="5667375" y="2806700"/>
                    <a:chExt cx="47625" cy="50800"/>
                  </a:xfrm>
                </p:grpSpPr>
                <p:sp>
                  <p:nvSpPr>
                    <p:cNvPr id="1021" name="path · 8"/>
                    <p:cNvSpPr/>
                    <p:nvPr/>
                  </p:nvSpPr>
                  <p:spPr>
                    <a:xfrm>
                      <a:off x="5667375" y="2806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nvGrpSpPr>
                <p:cNvPr id="1022" name="path · 9 + arrowhead"/>
                <p:cNvGrpSpPr/>
                <p:nvPr/>
              </p:nvGrpSpPr>
              <p:grpSpPr>
                <a:xfrm>
                  <a:off x="5073650" y="4711700"/>
                  <a:ext cx="641350" cy="50800"/>
                  <a:chOff x="5073650" y="4711700"/>
                  <a:chExt cx="641350" cy="50800"/>
                </a:xfrm>
              </p:grpSpPr>
              <p:sp>
                <p:nvSpPr>
                  <p:cNvPr id="1023" name="path · 9"/>
                  <p:cNvSpPr/>
                  <p:nvPr/>
                </p:nvSpPr>
                <p:spPr>
                  <a:xfrm>
                    <a:off x="5073650" y="4737100"/>
                    <a:ext cx="641350" cy="1"/>
                  </a:xfrm>
                  <a:custGeom>
                    <a:avLst/>
                    <a:gdLst/>
                    <a:ahLst/>
                    <a:cxnLst/>
                    <a:rect l="0" t="0" r="r" b="b"/>
                    <a:pathLst>
                      <a:path w="641350" h="1" fill="none" stroke="1" extrusionOk="0">
                        <a:moveTo>
                          <a:pt x="0" y="0"/>
                        </a:moveTo>
                        <a:lnTo>
                          <a:pt x="641350" y="0"/>
                        </a:lnTo>
                      </a:path>
                    </a:pathLst>
                  </a:custGeom>
                  <a:noFill/>
                  <a:ln w="25400" cap="rnd" cmpd="sng" algn="ctr">
                    <a:solidFill>
                      <a:srgbClr val="2E6653"/>
                    </a:solidFill>
                    <a:prstDash val="solid"/>
                    <a:round/>
                    <a:headEnd type="none" w="med" len="med"/>
                    <a:tailEnd type="none" w="med" len="med"/>
                  </a:ln>
                </p:spPr>
              </p:sp>
              <p:grpSp>
                <p:nvGrpSpPr>
                  <p:cNvPr id="1024" name="arrow-green end"/>
                  <p:cNvGrpSpPr/>
                  <p:nvPr/>
                </p:nvGrpSpPr>
                <p:grpSpPr>
                  <a:xfrm>
                    <a:off x="5667375" y="4711700"/>
                    <a:ext cx="47625" cy="50800"/>
                    <a:chOff x="5667375" y="4711700"/>
                    <a:chExt cx="47625" cy="50800"/>
                  </a:xfrm>
                </p:grpSpPr>
                <p:sp>
                  <p:nvSpPr>
                    <p:cNvPr id="1025" name="path · 10"/>
                    <p:cNvSpPr/>
                    <p:nvPr/>
                  </p:nvSpPr>
                  <p:spPr>
                    <a:xfrm>
                      <a:off x="5667375" y="4711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grpSp>
              <p:nvGrpSpPr>
                <p:cNvPr id="1026" name="path · 11 + arrowhead"/>
                <p:cNvGrpSpPr/>
                <p:nvPr/>
              </p:nvGrpSpPr>
              <p:grpSpPr>
                <a:xfrm>
                  <a:off x="7226300" y="2832100"/>
                  <a:ext cx="901700" cy="914400"/>
                  <a:chOff x="7226300" y="2832100"/>
                  <a:chExt cx="901700" cy="914400"/>
                </a:xfrm>
              </p:grpSpPr>
              <p:sp>
                <p:nvSpPr>
                  <p:cNvPr id="1027" name="path · 11"/>
                  <p:cNvSpPr/>
                  <p:nvPr/>
                </p:nvSpPr>
                <p:spPr>
                  <a:xfrm>
                    <a:off x="7226300" y="2832100"/>
                    <a:ext cx="901700" cy="889000"/>
                  </a:xfrm>
                  <a:custGeom>
                    <a:avLst/>
                    <a:gdLst/>
                    <a:ahLst/>
                    <a:cxnLst/>
                    <a:rect l="0" t="0" r="r" b="b"/>
                    <a:pathLst>
                      <a:path w="901700" h="889000" fill="none" stroke="1" extrusionOk="0">
                        <a:moveTo>
                          <a:pt x="0" y="0"/>
                        </a:moveTo>
                        <a:lnTo>
                          <a:pt x="495300" y="0"/>
                        </a:lnTo>
                        <a:lnTo>
                          <a:pt x="495300" y="889000"/>
                        </a:lnTo>
                        <a:lnTo>
                          <a:pt x="901700" y="889000"/>
                        </a:lnTo>
                      </a:path>
                    </a:pathLst>
                  </a:custGeom>
                  <a:noFill/>
                  <a:ln w="25400" cap="rnd" cmpd="sng" algn="ctr">
                    <a:solidFill>
                      <a:srgbClr val="2E6653"/>
                    </a:solidFill>
                    <a:prstDash val="solid"/>
                    <a:round/>
                    <a:headEnd type="none" w="med" len="med"/>
                    <a:tailEnd type="none" w="med" len="med"/>
                  </a:ln>
                </p:spPr>
              </p:sp>
              <p:grpSp>
                <p:nvGrpSpPr>
                  <p:cNvPr id="1028" name="arrow-green end"/>
                  <p:cNvGrpSpPr/>
                  <p:nvPr/>
                </p:nvGrpSpPr>
                <p:grpSpPr>
                  <a:xfrm>
                    <a:off x="8080375" y="3695700"/>
                    <a:ext cx="47625" cy="50800"/>
                    <a:chOff x="8080375" y="3695700"/>
                    <a:chExt cx="47625" cy="50800"/>
                  </a:xfrm>
                </p:grpSpPr>
                <p:sp>
                  <p:nvSpPr>
                    <p:cNvPr id="1029" name="path · 12"/>
                    <p:cNvSpPr/>
                    <p:nvPr/>
                  </p:nvSpPr>
                  <p:spPr>
                    <a:xfrm>
                      <a:off x="8080375" y="3695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2E6653"/>
                      </a:solidFill>
                      <a:prstDash val="solid"/>
                      <a:round/>
                      <a:headEnd type="none" w="med" len="med"/>
                      <a:tailEnd type="none" w="med" len="med"/>
                    </a:ln>
                  </p:spPr>
                </p:sp>
              </p:grpSp>
            </p:grpSp>
            <p:sp>
              <p:nvSpPr>
                <p:cNvPr id="1030" name="path · 13"/>
                <p:cNvSpPr/>
                <p:nvPr/>
              </p:nvSpPr>
              <p:spPr>
                <a:xfrm>
                  <a:off x="7226300" y="3721100"/>
                  <a:ext cx="495300" cy="1016000"/>
                </a:xfrm>
                <a:custGeom>
                  <a:avLst/>
                  <a:gdLst/>
                  <a:ahLst/>
                  <a:cxnLst/>
                  <a:rect l="0" t="0" r="r" b="b"/>
                  <a:pathLst>
                    <a:path w="495300" h="1016000" fill="none" stroke="1" extrusionOk="0">
                      <a:moveTo>
                        <a:pt x="0" y="1016000"/>
                      </a:moveTo>
                      <a:lnTo>
                        <a:pt x="495300" y="1016000"/>
                      </a:lnTo>
                      <a:lnTo>
                        <a:pt x="495300" y="0"/>
                      </a:lnTo>
                    </a:path>
                  </a:pathLst>
                </a:custGeom>
                <a:noFill/>
                <a:ln w="25400" cap="rnd" cmpd="sng" algn="ctr">
                  <a:solidFill>
                    <a:srgbClr val="2E6653"/>
                  </a:solidFill>
                  <a:prstDash val="solid"/>
                  <a:round/>
                  <a:headEnd type="none" w="med" len="med"/>
                  <a:tailEnd type="none" w="med" len="med"/>
                </a:ln>
              </p:spPr>
            </p:sp>
            <p:sp>
              <p:nvSpPr>
                <p:cNvPr id="1031" name="circle · 14"/>
                <p:cNvSpPr/>
                <p:nvPr/>
              </p:nvSpPr>
              <p:spPr>
                <a:xfrm>
                  <a:off x="7683500" y="3683000"/>
                  <a:ext cx="76200" cy="76200"/>
                </a:xfrm>
                <a:prstGeom prst="ellipse">
                  <a:avLst/>
                </a:prstGeom>
                <a:solidFill>
                  <a:srgbClr val="2E6653"/>
                </a:solidFill>
                <a:ln>
                  <a:noFill/>
                </a:ln>
              </p:spPr>
            </p:sp>
            <p:grpSp>
              <p:nvGrpSpPr>
                <p:cNvPr id="1032" name="path · 15 + arrowhead"/>
                <p:cNvGrpSpPr/>
                <p:nvPr/>
              </p:nvGrpSpPr>
              <p:grpSpPr>
                <a:xfrm>
                  <a:off x="9201150" y="3695700"/>
                  <a:ext cx="457200" cy="50800"/>
                  <a:chOff x="9201150" y="3695700"/>
                  <a:chExt cx="457200" cy="50800"/>
                </a:xfrm>
              </p:grpSpPr>
              <p:sp>
                <p:nvSpPr>
                  <p:cNvPr id="1033" name="path · 15"/>
                  <p:cNvSpPr/>
                  <p:nvPr/>
                </p:nvSpPr>
                <p:spPr>
                  <a:xfrm>
                    <a:off x="9201150" y="3721100"/>
                    <a:ext cx="457200" cy="1"/>
                  </a:xfrm>
                  <a:custGeom>
                    <a:avLst/>
                    <a:gdLst/>
                    <a:ahLst/>
                    <a:cxnLst/>
                    <a:rect l="0" t="0" r="r" b="b"/>
                    <a:pathLst>
                      <a:path w="457200" h="1" fill="none" stroke="1" extrusionOk="0">
                        <a:moveTo>
                          <a:pt x="0" y="0"/>
                        </a:moveTo>
                        <a:lnTo>
                          <a:pt x="457200" y="0"/>
                        </a:lnTo>
                      </a:path>
                    </a:pathLst>
                  </a:custGeom>
                  <a:noFill/>
                  <a:ln w="25400" cap="rnd" cmpd="sng" algn="ctr">
                    <a:solidFill>
                      <a:srgbClr val="355F72"/>
                    </a:solidFill>
                    <a:prstDash val="solid"/>
                    <a:round/>
                    <a:headEnd type="none" w="med" len="med"/>
                    <a:tailEnd type="none" w="med" len="med"/>
                  </a:ln>
                </p:spPr>
              </p:sp>
              <p:grpSp>
                <p:nvGrpSpPr>
                  <p:cNvPr id="1034" name="arrow-blue_ink end"/>
                  <p:cNvGrpSpPr/>
                  <p:nvPr/>
                </p:nvGrpSpPr>
                <p:grpSpPr>
                  <a:xfrm>
                    <a:off x="9610725" y="3695700"/>
                    <a:ext cx="47625" cy="50800"/>
                    <a:chOff x="9610725" y="3695700"/>
                    <a:chExt cx="47625" cy="50800"/>
                  </a:xfrm>
                </p:grpSpPr>
                <p:sp>
                  <p:nvSpPr>
                    <p:cNvPr id="1035" name="path · 16"/>
                    <p:cNvSpPr/>
                    <p:nvPr/>
                  </p:nvSpPr>
                  <p:spPr>
                    <a:xfrm>
                      <a:off x="9610725" y="3695700"/>
                      <a:ext cx="47625" cy="50800"/>
                    </a:xfrm>
                    <a:custGeom>
                      <a:avLst/>
                      <a:gdLst/>
                      <a:ahLst/>
                      <a:cxnLst/>
                      <a:rect l="0" t="0" r="r" b="b"/>
                      <a:pathLst>
                        <a:path w="47625" h="50800" fill="none" stroke="1" extrusionOk="0">
                          <a:moveTo>
                            <a:pt x="0" y="0"/>
                          </a:moveTo>
                          <a:lnTo>
                            <a:pt x="47625" y="25400"/>
                          </a:lnTo>
                          <a:lnTo>
                            <a:pt x="0" y="50800"/>
                          </a:lnTo>
                        </a:path>
                      </a:pathLst>
                    </a:custGeom>
                    <a:noFill/>
                    <a:ln w="12700" cap="rnd" cmpd="sng" algn="ctr">
                      <a:solidFill>
                        <a:srgbClr val="355F72"/>
                      </a:solidFill>
                      <a:prstDash val="solid"/>
                      <a:round/>
                      <a:headEnd type="none" w="med" len="med"/>
                      <a:tailEnd type="none" w="med" len="med"/>
                    </a:ln>
                  </p:spPr>
                </p:sp>
              </p:grpSp>
            </p:grpSp>
            <p:grpSp>
              <p:nvGrpSpPr>
                <p:cNvPr id="1036" name="identity · 26"/>
                <p:cNvGrpSpPr/>
                <p:nvPr/>
              </p:nvGrpSpPr>
              <p:grpSpPr>
                <a:xfrm>
                  <a:off x="729721" y="3234267"/>
                  <a:ext cx="896408" cy="774171"/>
                  <a:chOff x="729721" y="3234267"/>
                  <a:chExt cx="896408" cy="774171"/>
                </a:xfrm>
              </p:grpSpPr>
              <p:sp>
                <p:nvSpPr>
                  <p:cNvPr id="1037" name="path · 17"/>
                  <p:cNvSpPr/>
                  <p:nvPr/>
                </p:nvSpPr>
                <p:spPr>
                  <a:xfrm>
                    <a:off x="782108" y="3269192"/>
                    <a:ext cx="779992" cy="587904"/>
                  </a:xfrm>
                  <a:custGeom>
                    <a:avLst/>
                    <a:gdLst/>
                    <a:ahLst/>
                    <a:cxnLst/>
                    <a:rect l="0" t="0" r="r" b="b"/>
                    <a:pathLst>
                      <a:path w="779992" h="587904" fill="norm" stroke="0" extrusionOk="0">
                        <a:moveTo>
                          <a:pt x="0" y="0"/>
                        </a:moveTo>
                        <a:lnTo>
                          <a:pt x="721784" y="0"/>
                        </a:lnTo>
                        <a:cubicBezTo>
                          <a:pt x="753931" y="0"/>
                          <a:pt x="779992" y="26060"/>
                          <a:pt x="779992" y="58208"/>
                        </a:cubicBezTo>
                        <a:lnTo>
                          <a:pt x="779992" y="587904"/>
                        </a:lnTo>
                        <a:lnTo>
                          <a:pt x="0" y="587904"/>
                        </a:lnTo>
                        <a:close/>
                      </a:path>
                    </a:pathLst>
                  </a:custGeom>
                  <a:solidFill>
                    <a:srgbClr val="E2EEF3"/>
                  </a:solidFill>
                  <a:ln>
                    <a:noFill/>
                  </a:ln>
                </p:spPr>
              </p:sp>
              <p:sp>
                <p:nvSpPr>
                  <p:cNvPr id="1038" name="rect · 18"/>
                  <p:cNvSpPr/>
                  <p:nvPr/>
                </p:nvSpPr>
                <p:spPr>
                  <a:xfrm>
                    <a:off x="729721" y="3234267"/>
                    <a:ext cx="809096" cy="651933"/>
                  </a:xfrm>
                  <a:prstGeom prst="roundRect">
                    <a:avLst>
                      <a:gd name="adj" fmla="val 11607"/>
                    </a:avLst>
                  </a:prstGeom>
                  <a:solidFill>
                    <a:srgbClr val="FFFFFF"/>
                  </a:solidFill>
                  <a:ln w="12806" cap="rnd" cmpd="sng" algn="ctr">
                    <a:solidFill>
                      <a:srgbClr val="243E42"/>
                    </a:solidFill>
                    <a:prstDash val="solid"/>
                    <a:round/>
                    <a:headEnd type="none" w="med" len="med"/>
                    <a:tailEnd type="none" w="med" len="med"/>
                  </a:ln>
                </p:spPr>
              </p:sp>
              <p:sp>
                <p:nvSpPr>
                  <p:cNvPr id="1039" name="path · 19"/>
                  <p:cNvSpPr/>
                  <p:nvPr/>
                </p:nvSpPr>
                <p:spPr>
                  <a:xfrm>
                    <a:off x="729721" y="3234267"/>
                    <a:ext cx="809096" cy="145521"/>
                  </a:xfrm>
                  <a:custGeom>
                    <a:avLst/>
                    <a:gdLst/>
                    <a:ahLst/>
                    <a:cxnLst/>
                    <a:rect l="0" t="0" r="r" b="b"/>
                    <a:pathLst>
                      <a:path w="809096" h="145521" fill="norm" stroke="1" extrusionOk="0">
                        <a:moveTo>
                          <a:pt x="75671" y="0"/>
                        </a:moveTo>
                        <a:lnTo>
                          <a:pt x="733425" y="0"/>
                        </a:lnTo>
                        <a:quadBezTo>
                          <a:pt x="809096" y="0"/>
                          <a:pt x="809096" y="75671"/>
                        </a:quadBezTo>
                        <a:lnTo>
                          <a:pt x="809096" y="145521"/>
                        </a:lnTo>
                        <a:lnTo>
                          <a:pt x="0" y="145521"/>
                        </a:lnTo>
                        <a:lnTo>
                          <a:pt x="0" y="75671"/>
                        </a:lnTo>
                        <a:quadBezTo>
                          <a:pt x="0" y="0"/>
                          <a:pt x="75671" y="0"/>
                        </a:quadBezTo>
                      </a:path>
                    </a:pathLst>
                  </a:custGeom>
                  <a:solidFill>
                    <a:srgbClr val="E2EEF3"/>
                  </a:solidFill>
                  <a:ln w="12806" cap="rnd" cmpd="sng" algn="ctr">
                    <a:solidFill>
                      <a:srgbClr val="243E42"/>
                    </a:solidFill>
                    <a:prstDash val="solid"/>
                    <a:round/>
                    <a:headEnd type="none" w="med" len="med"/>
                    <a:tailEnd type="none" w="med" len="med"/>
                  </a:ln>
                </p:spPr>
              </p:sp>
              <p:sp>
                <p:nvSpPr>
                  <p:cNvPr id="1040" name="circle · 20"/>
                  <p:cNvSpPr/>
                  <p:nvPr/>
                </p:nvSpPr>
                <p:spPr>
                  <a:xfrm>
                    <a:off x="828675" y="3455458"/>
                    <a:ext cx="256117" cy="256117"/>
                  </a:xfrm>
                  <a:prstGeom prst="ellipse">
                    <a:avLst/>
                  </a:prstGeom>
                  <a:solidFill>
                    <a:srgbClr val="D7EBE1"/>
                  </a:solidFill>
                  <a:ln>
                    <a:noFill/>
                  </a:ln>
                </p:spPr>
              </p:sp>
              <p:sp>
                <p:nvSpPr>
                  <p:cNvPr id="1041" name="circle · 21"/>
                  <p:cNvSpPr/>
                  <p:nvPr/>
                </p:nvSpPr>
                <p:spPr>
                  <a:xfrm>
                    <a:off x="904346" y="3484562"/>
                    <a:ext cx="104775" cy="104775"/>
                  </a:xfrm>
                  <a:prstGeom prst="ellipse">
                    <a:avLst/>
                  </a:prstGeom>
                  <a:solidFill>
                    <a:srgbClr val="F4DFD3"/>
                  </a:solidFill>
                  <a:ln w="12806" cap="rnd" cmpd="sng" algn="ctr">
                    <a:solidFill>
                      <a:srgbClr val="243E42"/>
                    </a:solidFill>
                    <a:prstDash val="solid"/>
                    <a:round/>
                    <a:headEnd type="none" w="med" len="med"/>
                    <a:tailEnd type="none" w="med" len="med"/>
                  </a:ln>
                </p:spPr>
              </p:sp>
              <p:sp>
                <p:nvSpPr>
                  <p:cNvPr id="1042" name="path · 22"/>
                  <p:cNvSpPr/>
                  <p:nvPr/>
                </p:nvSpPr>
                <p:spPr>
                  <a:xfrm>
                    <a:off x="857779" y="3560233"/>
                    <a:ext cx="197908" cy="122238"/>
                  </a:xfrm>
                  <a:custGeom>
                    <a:avLst/>
                    <a:gdLst/>
                    <a:ahLst/>
                    <a:cxnLst/>
                    <a:rect l="0" t="0" r="r" b="b"/>
                    <a:pathLst>
                      <a:path w="197908" h="122238" fill="norm" stroke="1" extrusionOk="0">
                        <a:moveTo>
                          <a:pt x="0" y="122238"/>
                        </a:moveTo>
                        <a:quadBezTo>
                          <a:pt x="0" y="0"/>
                          <a:pt x="98954" y="0"/>
                        </a:quadBezTo>
                        <a:quadBezTo>
                          <a:pt x="197909" y="0"/>
                          <a:pt x="197909" y="122238"/>
                        </a:quadBezTo>
                      </a:path>
                    </a:pathLst>
                  </a:custGeom>
                  <a:solidFill>
                    <a:srgbClr val="E2EEF3"/>
                  </a:solidFill>
                  <a:ln w="12806" cap="rnd" cmpd="sng" algn="ctr">
                    <a:solidFill>
                      <a:srgbClr val="243E42"/>
                    </a:solidFill>
                    <a:prstDash val="solid"/>
                    <a:round/>
                    <a:headEnd type="none" w="med" len="med"/>
                    <a:tailEnd type="none" w="med" len="med"/>
                  </a:ln>
                </p:spPr>
              </p:sp>
              <p:sp>
                <p:nvSpPr>
                  <p:cNvPr id="1043" name="path · 23"/>
                  <p:cNvSpPr/>
                  <p:nvPr/>
                </p:nvSpPr>
                <p:spPr>
                  <a:xfrm>
                    <a:off x="822854" y="3478742"/>
                    <a:ext cx="587904" cy="320146"/>
                  </a:xfrm>
                  <a:custGeom>
                    <a:avLst/>
                    <a:gdLst/>
                    <a:ahLst/>
                    <a:cxnLst/>
                    <a:rect l="0" t="0" r="r" b="b"/>
                    <a:pathLst>
                      <a:path w="587904" h="320146" fill="none" stroke="1" extrusionOk="0">
                        <a:moveTo>
                          <a:pt x="355071" y="0"/>
                        </a:moveTo>
                        <a:lnTo>
                          <a:pt x="587904" y="0"/>
                        </a:lnTo>
                        <a:moveTo>
                          <a:pt x="355071" y="93133"/>
                        </a:moveTo>
                        <a:lnTo>
                          <a:pt x="512234" y="93133"/>
                        </a:lnTo>
                        <a:moveTo>
                          <a:pt x="355071" y="192087"/>
                        </a:moveTo>
                        <a:lnTo>
                          <a:pt x="558800" y="192087"/>
                        </a:lnTo>
                        <a:moveTo>
                          <a:pt x="0" y="320146"/>
                        </a:moveTo>
                        <a:lnTo>
                          <a:pt x="320146" y="320146"/>
                        </a:lnTo>
                      </a:path>
                    </a:pathLst>
                  </a:custGeom>
                  <a:noFill/>
                  <a:ln w="23283" cap="rnd" cmpd="sng" algn="ctr">
                    <a:solidFill>
                      <a:srgbClr val="243E42"/>
                    </a:solidFill>
                    <a:prstDash val="solid"/>
                    <a:round/>
                    <a:headEnd type="none" w="med" len="med"/>
                    <a:tailEnd type="none" w="med" len="med"/>
                  </a:ln>
                </p:spPr>
              </p:sp>
              <p:sp>
                <p:nvSpPr>
                  <p:cNvPr id="1044" name="path · 24"/>
                  <p:cNvSpPr/>
                  <p:nvPr/>
                </p:nvSpPr>
                <p:spPr>
                  <a:xfrm>
                    <a:off x="1241954" y="3583517"/>
                    <a:ext cx="384175" cy="424921"/>
                  </a:xfrm>
                  <a:custGeom>
                    <a:avLst/>
                    <a:gdLst/>
                    <a:ahLst/>
                    <a:cxnLst/>
                    <a:rect l="0" t="0" r="r" b="b"/>
                    <a:pathLst>
                      <a:path w="384175" h="424921" fill="norm" stroke="1" extrusionOk="0">
                        <a:moveTo>
                          <a:pt x="192088" y="0"/>
                        </a:moveTo>
                        <a:lnTo>
                          <a:pt x="384175" y="69850"/>
                        </a:lnTo>
                        <a:lnTo>
                          <a:pt x="384175" y="197908"/>
                        </a:lnTo>
                        <a:quadBezTo>
                          <a:pt x="384175" y="337608"/>
                          <a:pt x="192088" y="424921"/>
                        </a:quadBezTo>
                        <a:quadBezTo>
                          <a:pt x="0" y="337608"/>
                          <a:pt x="0" y="197908"/>
                        </a:quadBezTo>
                        <a:lnTo>
                          <a:pt x="0" y="69850"/>
                        </a:lnTo>
                        <a:close/>
                      </a:path>
                    </a:pathLst>
                  </a:custGeom>
                  <a:solidFill>
                    <a:srgbClr val="D7EBE1"/>
                  </a:solidFill>
                  <a:ln w="12806" cap="rnd" cmpd="sng" algn="ctr">
                    <a:solidFill>
                      <a:srgbClr val="243E42"/>
                    </a:solidFill>
                    <a:prstDash val="solid"/>
                    <a:round/>
                    <a:headEnd type="none" w="med" len="med"/>
                    <a:tailEnd type="none" w="med" len="med"/>
                  </a:ln>
                </p:spPr>
              </p:sp>
              <p:sp>
                <p:nvSpPr>
                  <p:cNvPr id="1045" name="path · 25"/>
                  <p:cNvSpPr/>
                  <p:nvPr/>
                </p:nvSpPr>
                <p:spPr>
                  <a:xfrm>
                    <a:off x="1340908" y="3699933"/>
                    <a:ext cx="186267" cy="145521"/>
                  </a:xfrm>
                  <a:custGeom>
                    <a:avLst/>
                    <a:gdLst/>
                    <a:ahLst/>
                    <a:cxnLst/>
                    <a:rect l="0" t="0" r="r" b="b"/>
                    <a:pathLst>
                      <a:path w="186267" h="145521" fill="none" stroke="1" extrusionOk="0">
                        <a:moveTo>
                          <a:pt x="0" y="81492"/>
                        </a:moveTo>
                        <a:lnTo>
                          <a:pt x="64030" y="145521"/>
                        </a:lnTo>
                        <a:lnTo>
                          <a:pt x="186267" y="0"/>
                        </a:lnTo>
                      </a:path>
                    </a:pathLst>
                  </a:custGeom>
                  <a:noFill/>
                  <a:ln w="29104" cap="rnd" cmpd="sng" algn="ctr">
                    <a:solidFill>
                      <a:srgbClr val="2E6653"/>
                    </a:solidFill>
                    <a:prstDash val="solid"/>
                    <a:round/>
                    <a:headEnd type="none" w="med" len="med"/>
                    <a:tailEnd type="none" w="med" len="med"/>
                  </a:ln>
                </p:spPr>
              </p:sp>
            </p:grpSp>
            <p:grpSp>
              <p:nvGrpSpPr>
                <p:cNvPr id="1046" name="receipt · 37"/>
                <p:cNvGrpSpPr/>
                <p:nvPr/>
              </p:nvGrpSpPr>
              <p:grpSpPr>
                <a:xfrm>
                  <a:off x="1655233" y="3080428"/>
                  <a:ext cx="1000125" cy="1056597"/>
                  <a:chOff x="1655233" y="3080428"/>
                  <a:chExt cx="1000125" cy="1056597"/>
                </a:xfrm>
              </p:grpSpPr>
              <p:grpSp>
                <p:nvGrpSpPr>
                  <p:cNvPr id="1047" name="g · 29"/>
                  <p:cNvGrpSpPr/>
                  <p:nvPr/>
                </p:nvGrpSpPr>
                <p:grpSpPr>
                  <a:xfrm>
                    <a:off x="1661751" y="3080428"/>
                    <a:ext cx="925479" cy="1024011"/>
                    <a:chOff x="1661751" y="3080428"/>
                    <a:chExt cx="925479" cy="1024011"/>
                  </a:xfrm>
                </p:grpSpPr>
                <p:sp>
                  <p:nvSpPr>
                    <p:cNvPr id="1048" name="path · 27"/>
                    <p:cNvSpPr/>
                    <p:nvPr/>
                  </p:nvSpPr>
                  <p:spPr>
                    <a:xfrm>
                      <a:off x="1661751" y="3080428"/>
                      <a:ext cx="925479" cy="1024011"/>
                    </a:xfrm>
                    <a:custGeom>
                      <a:avLst/>
                      <a:gdLst/>
                      <a:ahLst/>
                      <a:cxnLst/>
                      <a:rect l="0" t="0" r="r" b="b"/>
                      <a:pathLst>
                        <a:path w="925479" h="1024011" fill="norm" stroke="1" extrusionOk="0">
                          <a:moveTo>
                            <a:pt x="0" y="124004"/>
                          </a:moveTo>
                          <a:lnTo>
                            <a:pt x="782932" y="0"/>
                          </a:lnTo>
                          <a:lnTo>
                            <a:pt x="925479" y="900006"/>
                          </a:lnTo>
                          <a:lnTo>
                            <a:pt x="845354" y="867693"/>
                          </a:lnTo>
                          <a:lnTo>
                            <a:pt x="771819" y="924344"/>
                          </a:lnTo>
                          <a:lnTo>
                            <a:pt x="684377" y="893189"/>
                          </a:lnTo>
                          <a:lnTo>
                            <a:pt x="610842" y="949840"/>
                          </a:lnTo>
                          <a:lnTo>
                            <a:pt x="523401" y="918685"/>
                          </a:lnTo>
                          <a:lnTo>
                            <a:pt x="449866" y="975336"/>
                          </a:lnTo>
                          <a:lnTo>
                            <a:pt x="362424" y="944182"/>
                          </a:lnTo>
                          <a:lnTo>
                            <a:pt x="288889" y="1000832"/>
                          </a:lnTo>
                          <a:lnTo>
                            <a:pt x="208764" y="968519"/>
                          </a:lnTo>
                          <a:lnTo>
                            <a:pt x="142547" y="1024011"/>
                          </a:lnTo>
                          <a:close/>
                        </a:path>
                      </a:pathLst>
                    </a:custGeom>
                    <a:solidFill>
                      <a:srgbClr val="E2EEF3"/>
                    </a:solidFill>
                    <a:ln w="16298" cap="rnd" cmpd="sng" algn="ctr">
                      <a:solidFill>
                        <a:srgbClr val="243E42"/>
                      </a:solidFill>
                      <a:prstDash val="solid"/>
                      <a:round/>
                      <a:headEnd type="none" w="med" len="med"/>
                      <a:tailEnd type="none" w="med" len="med"/>
                    </a:ln>
                  </p:spPr>
                </p:sp>
                <p:sp>
                  <p:nvSpPr>
                    <p:cNvPr id="1049" name="path · 28"/>
                    <p:cNvSpPr/>
                    <p:nvPr/>
                  </p:nvSpPr>
                  <p:spPr>
                    <a:xfrm>
                      <a:off x="1811638" y="3280808"/>
                      <a:ext cx="409759" cy="160022"/>
                    </a:xfrm>
                    <a:custGeom>
                      <a:avLst/>
                      <a:gdLst/>
                      <a:ahLst/>
                      <a:cxnLst/>
                      <a:rect l="0" t="0" r="r" b="b"/>
                      <a:pathLst>
                        <a:path w="409759" h="160022" fill="none" stroke="1" extrusionOk="0">
                          <a:moveTo>
                            <a:pt x="0" y="64900"/>
                          </a:moveTo>
                          <a:lnTo>
                            <a:pt x="409759" y="0"/>
                          </a:lnTo>
                          <a:moveTo>
                            <a:pt x="15066" y="160022"/>
                          </a:moveTo>
                          <a:lnTo>
                            <a:pt x="322385" y="111348"/>
                          </a:lnTo>
                        </a:path>
                      </a:pathLst>
                    </a:custGeom>
                    <a:noFill/>
                    <a:ln w="29633" cap="rnd" cmpd="sng" algn="ctr">
                      <a:solidFill>
                        <a:srgbClr val="243E42"/>
                      </a:solidFill>
                      <a:prstDash val="solid"/>
                      <a:round/>
                      <a:headEnd type="none" w="med" len="med"/>
                      <a:tailEnd type="none" w="med" len="med"/>
                    </a:ln>
                  </p:spPr>
                </p:sp>
              </p:grpSp>
              <p:sp>
                <p:nvSpPr>
                  <p:cNvPr id="1050" name="path · 30"/>
                  <p:cNvSpPr/>
                  <p:nvPr/>
                </p:nvSpPr>
                <p:spPr>
                  <a:xfrm>
                    <a:off x="1655233" y="3225800"/>
                    <a:ext cx="777875" cy="911225"/>
                  </a:xfrm>
                  <a:custGeom>
                    <a:avLst/>
                    <a:gdLst/>
                    <a:ahLst/>
                    <a:cxnLst/>
                    <a:rect l="0" t="0" r="r" b="b"/>
                    <a:pathLst>
                      <a:path w="777875" h="911225" fill="norm" stroke="1" extrusionOk="0">
                        <a:moveTo>
                          <a:pt x="0" y="0"/>
                        </a:moveTo>
                        <a:lnTo>
                          <a:pt x="777875" y="0"/>
                        </a:lnTo>
                        <a:lnTo>
                          <a:pt x="777875" y="911225"/>
                        </a:lnTo>
                        <a:lnTo>
                          <a:pt x="703792" y="866775"/>
                        </a:lnTo>
                        <a:lnTo>
                          <a:pt x="622300" y="911225"/>
                        </a:lnTo>
                        <a:lnTo>
                          <a:pt x="540809" y="866775"/>
                        </a:lnTo>
                        <a:lnTo>
                          <a:pt x="459317" y="911225"/>
                        </a:lnTo>
                        <a:lnTo>
                          <a:pt x="377825" y="866775"/>
                        </a:lnTo>
                        <a:lnTo>
                          <a:pt x="296334" y="911225"/>
                        </a:lnTo>
                        <a:lnTo>
                          <a:pt x="214842" y="866775"/>
                        </a:lnTo>
                        <a:lnTo>
                          <a:pt x="140759" y="911225"/>
                        </a:lnTo>
                        <a:lnTo>
                          <a:pt x="74084" y="866775"/>
                        </a:lnTo>
                        <a:lnTo>
                          <a:pt x="0" y="911225"/>
                        </a:lnTo>
                        <a:close/>
                      </a:path>
                    </a:pathLst>
                  </a:custGeom>
                  <a:solidFill>
                    <a:srgbClr val="FFFFFF"/>
                  </a:solidFill>
                  <a:ln w="16298" cap="rnd" cmpd="sng" algn="ctr">
                    <a:solidFill>
                      <a:srgbClr val="243E42"/>
                    </a:solidFill>
                    <a:prstDash val="solid"/>
                    <a:round/>
                    <a:headEnd type="none" w="med" len="med"/>
                    <a:tailEnd type="none" w="med" len="med"/>
                  </a:ln>
                </p:spPr>
              </p:sp>
              <p:sp>
                <p:nvSpPr>
                  <p:cNvPr id="1051" name="path · 31"/>
                  <p:cNvSpPr/>
                  <p:nvPr/>
                </p:nvSpPr>
                <p:spPr>
                  <a:xfrm>
                    <a:off x="1766358" y="3336925"/>
                    <a:ext cx="533400" cy="592667"/>
                  </a:xfrm>
                  <a:custGeom>
                    <a:avLst/>
                    <a:gdLst/>
                    <a:ahLst/>
                    <a:cxnLst/>
                    <a:rect l="0" t="0" r="r" b="b"/>
                    <a:pathLst>
                      <a:path w="533400" h="592667" fill="none" stroke="1" extrusionOk="0">
                        <a:moveTo>
                          <a:pt x="0" y="0"/>
                        </a:moveTo>
                        <a:lnTo>
                          <a:pt x="340784" y="0"/>
                        </a:lnTo>
                        <a:moveTo>
                          <a:pt x="0" y="81492"/>
                        </a:moveTo>
                        <a:lnTo>
                          <a:pt x="474134" y="81492"/>
                        </a:lnTo>
                        <a:moveTo>
                          <a:pt x="14817" y="592667"/>
                        </a:moveTo>
                        <a:lnTo>
                          <a:pt x="192617" y="592667"/>
                        </a:lnTo>
                        <a:moveTo>
                          <a:pt x="296334" y="592667"/>
                        </a:moveTo>
                        <a:lnTo>
                          <a:pt x="533400" y="592667"/>
                        </a:lnTo>
                      </a:path>
                    </a:pathLst>
                  </a:custGeom>
                  <a:noFill/>
                  <a:ln w="29633" cap="rnd" cmpd="sng" algn="ctr">
                    <a:solidFill>
                      <a:srgbClr val="243E42"/>
                    </a:solidFill>
                    <a:prstDash val="solid"/>
                    <a:round/>
                    <a:headEnd type="none" w="med" len="med"/>
                    <a:tailEnd type="none" w="med" len="med"/>
                  </a:ln>
                </p:spPr>
              </p:sp>
              <p:sp>
                <p:nvSpPr>
                  <p:cNvPr id="1052" name="path · 32"/>
                  <p:cNvSpPr/>
                  <p:nvPr/>
                </p:nvSpPr>
                <p:spPr>
                  <a:xfrm>
                    <a:off x="1870075" y="3433233"/>
                    <a:ext cx="370417" cy="274108"/>
                  </a:xfrm>
                  <a:custGeom>
                    <a:avLst/>
                    <a:gdLst/>
                    <a:ahLst/>
                    <a:cxnLst/>
                    <a:rect l="0" t="0" r="r" b="b"/>
                    <a:pathLst>
                      <a:path w="370417" h="274108" fill="none" stroke="1" extrusionOk="0">
                        <a:moveTo>
                          <a:pt x="0" y="274109"/>
                        </a:moveTo>
                        <a:lnTo>
                          <a:pt x="0" y="185209"/>
                        </a:lnTo>
                        <a:cubicBezTo>
                          <a:pt x="0" y="82921"/>
                          <a:pt x="82921" y="0"/>
                          <a:pt x="185208" y="0"/>
                        </a:cubicBezTo>
                        <a:cubicBezTo>
                          <a:pt x="287496" y="0"/>
                          <a:pt x="370417" y="82921"/>
                          <a:pt x="370417" y="185209"/>
                        </a:cubicBezTo>
                        <a:lnTo>
                          <a:pt x="370417" y="274109"/>
                        </a:lnTo>
                      </a:path>
                    </a:pathLst>
                  </a:custGeom>
                  <a:noFill/>
                  <a:ln w="44450" cap="rnd" cmpd="sng" algn="ctr">
                    <a:solidFill>
                      <a:srgbClr val="665180"/>
                    </a:solidFill>
                    <a:prstDash val="solid"/>
                    <a:round/>
                    <a:headEnd type="none" w="med" len="med"/>
                    <a:tailEnd type="none" w="med" len="med"/>
                  </a:ln>
                </p:spPr>
              </p:sp>
              <p:sp>
                <p:nvSpPr>
                  <p:cNvPr id="1053" name="rect · 33"/>
                  <p:cNvSpPr/>
                  <p:nvPr/>
                </p:nvSpPr>
                <p:spPr>
                  <a:xfrm>
                    <a:off x="1825625" y="3625850"/>
                    <a:ext cx="103717" cy="200025"/>
                  </a:xfrm>
                  <a:prstGeom prst="roundRect">
                    <a:avLst>
                      <a:gd name="adj" fmla="val 42857"/>
                    </a:avLst>
                  </a:prstGeom>
                  <a:solidFill>
                    <a:srgbClr val="E8E0F3"/>
                  </a:solidFill>
                  <a:ln w="16298" cap="rnd" cmpd="sng" algn="ctr">
                    <a:solidFill>
                      <a:srgbClr val="243E42"/>
                    </a:solidFill>
                    <a:prstDash val="solid"/>
                    <a:round/>
                    <a:headEnd type="none" w="med" len="med"/>
                    <a:tailEnd type="none" w="med" len="med"/>
                  </a:ln>
                </p:spPr>
              </p:sp>
              <p:sp>
                <p:nvSpPr>
                  <p:cNvPr id="1054" name="rect · 34"/>
                  <p:cNvSpPr/>
                  <p:nvPr/>
                </p:nvSpPr>
                <p:spPr>
                  <a:xfrm>
                    <a:off x="2181225" y="3625850"/>
                    <a:ext cx="103717" cy="200025"/>
                  </a:xfrm>
                  <a:prstGeom prst="roundRect">
                    <a:avLst>
                      <a:gd name="adj" fmla="val 42857"/>
                    </a:avLst>
                  </a:prstGeom>
                  <a:solidFill>
                    <a:srgbClr val="E8E0F3"/>
                  </a:solidFill>
                  <a:ln w="16298" cap="rnd" cmpd="sng" algn="ctr">
                    <a:solidFill>
                      <a:srgbClr val="243E42"/>
                    </a:solidFill>
                    <a:prstDash val="solid"/>
                    <a:round/>
                    <a:headEnd type="none" w="med" len="med"/>
                    <a:tailEnd type="none" w="med" len="med"/>
                  </a:ln>
                </p:spPr>
              </p:sp>
              <p:sp>
                <p:nvSpPr>
                  <p:cNvPr id="1055" name="circle · 35"/>
                  <p:cNvSpPr/>
                  <p:nvPr/>
                </p:nvSpPr>
                <p:spPr>
                  <a:xfrm>
                    <a:off x="2270125" y="3677708"/>
                    <a:ext cx="385233" cy="385233"/>
                  </a:xfrm>
                  <a:prstGeom prst="ellipse">
                    <a:avLst/>
                  </a:prstGeom>
                  <a:solidFill>
                    <a:srgbClr val="D7EBE1"/>
                  </a:solidFill>
                  <a:ln w="16298" cap="rnd" cmpd="sng" algn="ctr">
                    <a:solidFill>
                      <a:srgbClr val="243E42"/>
                    </a:solidFill>
                    <a:prstDash val="solid"/>
                    <a:round/>
                    <a:headEnd type="none" w="med" len="med"/>
                    <a:tailEnd type="none" w="med" len="med"/>
                  </a:ln>
                </p:spPr>
              </p:sp>
              <p:sp>
                <p:nvSpPr>
                  <p:cNvPr id="1056" name="path · 36"/>
                  <p:cNvSpPr/>
                  <p:nvPr/>
                </p:nvSpPr>
                <p:spPr>
                  <a:xfrm>
                    <a:off x="2359025" y="3781425"/>
                    <a:ext cx="207433" cy="162983"/>
                  </a:xfrm>
                  <a:custGeom>
                    <a:avLst/>
                    <a:gdLst/>
                    <a:ahLst/>
                    <a:cxnLst/>
                    <a:rect l="0" t="0" r="r" b="b"/>
                    <a:pathLst>
                      <a:path w="207433" h="162983" fill="none" stroke="1" extrusionOk="0">
                        <a:moveTo>
                          <a:pt x="0" y="88900"/>
                        </a:moveTo>
                        <a:lnTo>
                          <a:pt x="74083" y="162983"/>
                        </a:lnTo>
                        <a:lnTo>
                          <a:pt x="207433" y="0"/>
                        </a:lnTo>
                      </a:path>
                    </a:pathLst>
                  </a:custGeom>
                  <a:noFill/>
                  <a:ln w="37042" cap="rnd" cmpd="sng" algn="ctr">
                    <a:solidFill>
                      <a:srgbClr val="2E6653"/>
                    </a:solidFill>
                    <a:prstDash val="solid"/>
                    <a:round/>
                    <a:headEnd type="none" w="med" len="med"/>
                    <a:tailEnd type="none" w="med" len="med"/>
                  </a:ln>
                </p:spPr>
              </p:sp>
            </p:grpSp>
            <p:sp>
              <p:nvSpPr>
                <p:cNvPr id="1057" name="text · 38"/>
                <p:cNvSpPr txBox="1"/>
                <p:nvPr/>
              </p:nvSpPr>
              <p:spPr>
                <a:xfrm>
                  <a:off x="862421" y="4279187"/>
                  <a:ext cx="1716856" cy="31008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86"/>
                    </a:lnSpc>
                    <a:spcBef>
                      <a:spcPts val="0"/>
                    </a:spcBef>
                    <a:spcAft>
                      <a:spcPts val="0"/>
                    </a:spcAft>
                  </a:pPr>
                  <a:r>
                    <a:rPr lang="en-US" sz="1600" b="1" i="0" kern="0" spc="0" dirty="0">
                      <a:solidFill>
                        <a:srgbClr val="355F72"/>
                      </a:solidFill>
                      <a:latin typeface="Manrope"/>
                      <a:ea typeface="Manrope"/>
                      <a:cs typeface="Manrope"/>
                    </a:rPr>
                    <a:t>Verified purchase</a:t>
                  </a:r>
                  <a:endParaRPr lang="en-US" sz="1600"/>
                </a:p>
              </p:txBody>
            </p:sp>
            <p:grpSp>
              <p:nvGrpSpPr>
                <p:cNvPr id="1058" name="calendar-standard-30 · 49"/>
                <p:cNvGrpSpPr/>
                <p:nvPr/>
              </p:nvGrpSpPr>
              <p:grpSpPr>
                <a:xfrm>
                  <a:off x="3505200" y="2063750"/>
                  <a:ext cx="1543050" cy="1657350"/>
                  <a:chOff x="3505200" y="2063750"/>
                  <a:chExt cx="1543050" cy="1657350"/>
                </a:xfrm>
              </p:grpSpPr>
              <p:sp>
                <p:nvSpPr>
                  <p:cNvPr id="1059" name="ellipse · 39"/>
                  <p:cNvSpPr/>
                  <p:nvPr/>
                </p:nvSpPr>
                <p:spPr>
                  <a:xfrm>
                    <a:off x="3613150" y="3556000"/>
                    <a:ext cx="1320800" cy="165100"/>
                  </a:xfrm>
                  <a:prstGeom prst="ellipse">
                    <a:avLst/>
                  </a:prstGeom>
                  <a:solidFill>
                    <a:srgbClr val="D5DFD9">
                      <a:alpha val="42000"/>
                    </a:srgbClr>
                  </a:solidFill>
                  <a:ln>
                    <a:noFill/>
                  </a:ln>
                </p:spPr>
              </p:sp>
              <p:sp>
                <p:nvSpPr>
                  <p:cNvPr id="1060" name="rect · 40"/>
                  <p:cNvSpPr/>
                  <p:nvPr/>
                </p:nvSpPr>
                <p:spPr>
                  <a:xfrm>
                    <a:off x="3549650" y="2184400"/>
                    <a:ext cx="1498600" cy="1422400"/>
                  </a:xfrm>
                  <a:prstGeom prst="roundRect">
                    <a:avLst>
                      <a:gd name="adj" fmla="val 8482"/>
                    </a:avLst>
                  </a:prstGeom>
                  <a:solidFill>
                    <a:srgbClr val="D5DFD9"/>
                  </a:solidFill>
                  <a:ln>
                    <a:noFill/>
                  </a:ln>
                </p:spPr>
              </p:sp>
              <p:sp>
                <p:nvSpPr>
                  <p:cNvPr id="1061" name="rect · 41"/>
                  <p:cNvSpPr/>
                  <p:nvPr/>
                </p:nvSpPr>
                <p:spPr>
                  <a:xfrm>
                    <a:off x="3505200" y="2133600"/>
                    <a:ext cx="1498600" cy="1422400"/>
                  </a:xfrm>
                  <a:prstGeom prst="roundRect">
                    <a:avLst>
                      <a:gd name="adj" fmla="val 8482"/>
                    </a:avLst>
                  </a:prstGeom>
                  <a:solidFill>
                    <a:srgbClr val="FFFFFF"/>
                  </a:solidFill>
                  <a:ln w="15875" cap="flat" cmpd="sng" algn="ctr">
                    <a:solidFill>
                      <a:srgbClr val="665180"/>
                    </a:solidFill>
                    <a:prstDash val="solid"/>
                    <a:miter lim="400000"/>
                    <a:headEnd type="none" w="med" len="med"/>
                    <a:tailEnd type="none" w="med" len="med"/>
                  </a:ln>
                </p:spPr>
              </p:sp>
              <p:sp>
                <p:nvSpPr>
                  <p:cNvPr id="1062" name="path · 42"/>
                  <p:cNvSpPr/>
                  <p:nvPr/>
                </p:nvSpPr>
                <p:spPr>
                  <a:xfrm>
                    <a:off x="3505200" y="2133600"/>
                    <a:ext cx="1498600" cy="368300"/>
                  </a:xfrm>
                  <a:custGeom>
                    <a:avLst/>
                    <a:gdLst/>
                    <a:ahLst/>
                    <a:cxnLst/>
                    <a:rect l="0" t="0" r="r" b="b"/>
                    <a:pathLst>
                      <a:path w="1498600" h="368300" fill="norm" stroke="0" extrusionOk="0">
                        <a:moveTo>
                          <a:pt x="120650" y="0"/>
                        </a:moveTo>
                        <a:lnTo>
                          <a:pt x="1377950" y="0"/>
                        </a:lnTo>
                        <a:quadBezTo>
                          <a:pt x="1498600" y="0"/>
                          <a:pt x="1498600" y="120650"/>
                        </a:quadBezTo>
                        <a:lnTo>
                          <a:pt x="1498600" y="368300"/>
                        </a:lnTo>
                        <a:lnTo>
                          <a:pt x="0" y="368300"/>
                        </a:lnTo>
                        <a:lnTo>
                          <a:pt x="0" y="120650"/>
                        </a:lnTo>
                        <a:quadBezTo>
                          <a:pt x="0" y="0"/>
                          <a:pt x="120650" y="0"/>
                        </a:quadBezTo>
                        <a:close/>
                      </a:path>
                    </a:pathLst>
                  </a:custGeom>
                  <a:solidFill>
                    <a:srgbClr val="E8E0F3"/>
                  </a:solidFill>
                  <a:ln>
                    <a:noFill/>
                  </a:ln>
                </p:spPr>
              </p:sp>
              <p:sp>
                <p:nvSpPr>
                  <p:cNvPr id="1063" name="path · 43"/>
                  <p:cNvSpPr/>
                  <p:nvPr/>
                </p:nvSpPr>
                <p:spPr>
                  <a:xfrm>
                    <a:off x="3829050" y="2063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665180"/>
                    </a:solidFill>
                    <a:prstDash val="solid"/>
                    <a:round/>
                    <a:headEnd type="none" w="med" len="med"/>
                    <a:tailEnd type="none" w="med" len="med"/>
                  </a:ln>
                </p:spPr>
              </p:sp>
              <p:sp>
                <p:nvSpPr>
                  <p:cNvPr id="1064" name="path · 44"/>
                  <p:cNvSpPr/>
                  <p:nvPr/>
                </p:nvSpPr>
                <p:spPr>
                  <a:xfrm>
                    <a:off x="4679950" y="2063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665180"/>
                    </a:solidFill>
                    <a:prstDash val="solid"/>
                    <a:round/>
                    <a:headEnd type="none" w="med" len="med"/>
                    <a:tailEnd type="none" w="med" len="med"/>
                  </a:ln>
                </p:spPr>
              </p:sp>
              <p:sp>
                <p:nvSpPr>
                  <p:cNvPr id="1065" name="text · 45"/>
                  <p:cNvSpPr txBox="1"/>
                  <p:nvPr/>
                </p:nvSpPr>
                <p:spPr>
                  <a:xfrm>
                    <a:off x="3797476" y="2183687"/>
                    <a:ext cx="914047" cy="31008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86"/>
                      </a:lnSpc>
                      <a:spcBef>
                        <a:spcPts val="0"/>
                      </a:spcBef>
                      <a:spcAft>
                        <a:spcPts val="0"/>
                      </a:spcAft>
                    </a:pPr>
                    <a:r>
                      <a:rPr lang="en-US" sz="1600" b="1" i="0" kern="0" spc="0" dirty="0">
                        <a:solidFill>
                          <a:srgbClr val="665180"/>
                        </a:solidFill>
                        <a:latin typeface="Manrope"/>
                        <a:ea typeface="Manrope"/>
                        <a:cs typeface="Manrope"/>
                      </a:rPr>
                      <a:t>Standard</a:t>
                    </a:r>
                    <a:endParaRPr lang="en-US" sz="1600"/>
                  </a:p>
                </p:txBody>
              </p:sp>
              <p:sp>
                <p:nvSpPr>
                  <p:cNvPr id="1066" name="text · 46"/>
                  <p:cNvSpPr txBox="1"/>
                  <p:nvPr/>
                </p:nvSpPr>
                <p:spPr>
                  <a:xfrm>
                    <a:off x="3968812" y="2546896"/>
                    <a:ext cx="571376"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0" i="0" kern="0" spc="0" dirty="0">
                        <a:solidFill>
                          <a:srgbClr val="52676A"/>
                        </a:solidFill>
                        <a:latin typeface="Manrope"/>
                        <a:ea typeface="Manrope"/>
                        <a:cs typeface="Manrope"/>
                      </a:rPr>
                      <a:t>Within</a:t>
                    </a:r>
                    <a:endParaRPr lang="en-US" sz="1450"/>
                  </a:p>
                </p:txBody>
              </p:sp>
              <p:sp>
                <p:nvSpPr>
                  <p:cNvPr id="1067" name="text · 47"/>
                  <p:cNvSpPr txBox="1"/>
                  <p:nvPr/>
                </p:nvSpPr>
                <p:spPr>
                  <a:xfrm>
                    <a:off x="3911600" y="2624609"/>
                    <a:ext cx="685800" cy="83334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5874"/>
                      </a:lnSpc>
                      <a:spcBef>
                        <a:spcPts val="0"/>
                      </a:spcBef>
                      <a:spcAft>
                        <a:spcPts val="0"/>
                      </a:spcAft>
                    </a:pPr>
                    <a:r>
                      <a:rPr lang="en-US" sz="4300" b="1" i="0" kern="0" spc="0" dirty="0">
                        <a:solidFill>
                          <a:srgbClr val="665180"/>
                        </a:solidFill>
                        <a:latin typeface="Manrope"/>
                        <a:ea typeface="Manrope"/>
                        <a:cs typeface="Manrope"/>
                      </a:rPr>
                      <a:t>30</a:t>
                    </a:r>
                    <a:endParaRPr lang="en-US" sz="4300"/>
                  </a:p>
                </p:txBody>
              </p:sp>
              <p:sp>
                <p:nvSpPr>
                  <p:cNvPr id="1068" name="text · 48"/>
                  <p:cNvSpPr txBox="1"/>
                  <p:nvPr/>
                </p:nvSpPr>
                <p:spPr>
                  <a:xfrm>
                    <a:off x="4041743" y="3244974"/>
                    <a:ext cx="425512"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0" i="0" kern="0" spc="0" dirty="0">
                        <a:solidFill>
                          <a:srgbClr val="52676A"/>
                        </a:solidFill>
                        <a:latin typeface="Manrope"/>
                        <a:ea typeface="Manrope"/>
                        <a:cs typeface="Manrope"/>
                      </a:rPr>
                      <a:t>days</a:t>
                    </a:r>
                    <a:endParaRPr lang="en-US" sz="1500"/>
                  </a:p>
                </p:txBody>
              </p:sp>
            </p:grpSp>
            <p:grpSp>
              <p:nvGrpSpPr>
                <p:cNvPr id="1069" name="calendar-plus-60 · 60"/>
                <p:cNvGrpSpPr/>
                <p:nvPr/>
              </p:nvGrpSpPr>
              <p:grpSpPr>
                <a:xfrm>
                  <a:off x="3505200" y="3968750"/>
                  <a:ext cx="1543050" cy="1657350"/>
                  <a:chOff x="3505200" y="3968750"/>
                  <a:chExt cx="1543050" cy="1657350"/>
                </a:xfrm>
              </p:grpSpPr>
              <p:sp>
                <p:nvSpPr>
                  <p:cNvPr id="1070" name="ellipse · 50"/>
                  <p:cNvSpPr/>
                  <p:nvPr/>
                </p:nvSpPr>
                <p:spPr>
                  <a:xfrm>
                    <a:off x="3613150" y="5461000"/>
                    <a:ext cx="1320800" cy="165100"/>
                  </a:xfrm>
                  <a:prstGeom prst="ellipse">
                    <a:avLst/>
                  </a:prstGeom>
                  <a:solidFill>
                    <a:srgbClr val="D5DFD9">
                      <a:alpha val="42000"/>
                    </a:srgbClr>
                  </a:solidFill>
                  <a:ln>
                    <a:noFill/>
                  </a:ln>
                </p:spPr>
              </p:sp>
              <p:sp>
                <p:nvSpPr>
                  <p:cNvPr id="1071" name="rect · 51"/>
                  <p:cNvSpPr/>
                  <p:nvPr/>
                </p:nvSpPr>
                <p:spPr>
                  <a:xfrm>
                    <a:off x="3549650" y="4089400"/>
                    <a:ext cx="1498600" cy="1422400"/>
                  </a:xfrm>
                  <a:prstGeom prst="roundRect">
                    <a:avLst>
                      <a:gd name="adj" fmla="val 8482"/>
                    </a:avLst>
                  </a:prstGeom>
                  <a:solidFill>
                    <a:srgbClr val="D5DFD9"/>
                  </a:solidFill>
                  <a:ln>
                    <a:noFill/>
                  </a:ln>
                </p:spPr>
              </p:sp>
              <p:sp>
                <p:nvSpPr>
                  <p:cNvPr id="1072" name="rect · 52"/>
                  <p:cNvSpPr/>
                  <p:nvPr/>
                </p:nvSpPr>
                <p:spPr>
                  <a:xfrm>
                    <a:off x="3505200" y="4038600"/>
                    <a:ext cx="1498600" cy="1422400"/>
                  </a:xfrm>
                  <a:prstGeom prst="roundRect">
                    <a:avLst>
                      <a:gd name="adj" fmla="val 8482"/>
                    </a:avLst>
                  </a:prstGeom>
                  <a:solidFill>
                    <a:srgbClr val="FFFFFF"/>
                  </a:solidFill>
                  <a:ln w="15875" cap="flat" cmpd="sng" algn="ctr">
                    <a:solidFill>
                      <a:srgbClr val="2E6653"/>
                    </a:solidFill>
                    <a:prstDash val="solid"/>
                    <a:miter lim="400000"/>
                    <a:headEnd type="none" w="med" len="med"/>
                    <a:tailEnd type="none" w="med" len="med"/>
                  </a:ln>
                </p:spPr>
              </p:sp>
              <p:sp>
                <p:nvSpPr>
                  <p:cNvPr id="1073" name="path · 53"/>
                  <p:cNvSpPr/>
                  <p:nvPr/>
                </p:nvSpPr>
                <p:spPr>
                  <a:xfrm>
                    <a:off x="3505200" y="4038600"/>
                    <a:ext cx="1498600" cy="368300"/>
                  </a:xfrm>
                  <a:custGeom>
                    <a:avLst/>
                    <a:gdLst/>
                    <a:ahLst/>
                    <a:cxnLst/>
                    <a:rect l="0" t="0" r="r" b="b"/>
                    <a:pathLst>
                      <a:path w="1498600" h="368300" fill="norm" stroke="0" extrusionOk="0">
                        <a:moveTo>
                          <a:pt x="120650" y="0"/>
                        </a:moveTo>
                        <a:lnTo>
                          <a:pt x="1377950" y="0"/>
                        </a:lnTo>
                        <a:quadBezTo>
                          <a:pt x="1498600" y="0"/>
                          <a:pt x="1498600" y="120650"/>
                        </a:quadBezTo>
                        <a:lnTo>
                          <a:pt x="1498600" y="368300"/>
                        </a:lnTo>
                        <a:lnTo>
                          <a:pt x="0" y="368300"/>
                        </a:lnTo>
                        <a:lnTo>
                          <a:pt x="0" y="120650"/>
                        </a:lnTo>
                        <a:quadBezTo>
                          <a:pt x="0" y="0"/>
                          <a:pt x="120650" y="0"/>
                        </a:quadBezTo>
                        <a:close/>
                      </a:path>
                    </a:pathLst>
                  </a:custGeom>
                  <a:solidFill>
                    <a:srgbClr val="D7EBE1"/>
                  </a:solidFill>
                  <a:ln>
                    <a:noFill/>
                  </a:ln>
                </p:spPr>
              </p:sp>
              <p:sp>
                <p:nvSpPr>
                  <p:cNvPr id="1074" name="path · 54"/>
                  <p:cNvSpPr/>
                  <p:nvPr/>
                </p:nvSpPr>
                <p:spPr>
                  <a:xfrm>
                    <a:off x="3829050" y="3968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2E6653"/>
                    </a:solidFill>
                    <a:prstDash val="solid"/>
                    <a:round/>
                    <a:headEnd type="none" w="med" len="med"/>
                    <a:tailEnd type="none" w="med" len="med"/>
                  </a:ln>
                </p:spPr>
              </p:sp>
              <p:sp>
                <p:nvSpPr>
                  <p:cNvPr id="1075" name="path · 55"/>
                  <p:cNvSpPr/>
                  <p:nvPr/>
                </p:nvSpPr>
                <p:spPr>
                  <a:xfrm>
                    <a:off x="4679950" y="3968750"/>
                    <a:ext cx="1" cy="171450"/>
                  </a:xfrm>
                  <a:custGeom>
                    <a:avLst/>
                    <a:gdLst/>
                    <a:ahLst/>
                    <a:cxnLst/>
                    <a:rect l="0" t="0" r="r" b="b"/>
                    <a:pathLst>
                      <a:path w="1" h="171450" fill="none" stroke="1" extrusionOk="0">
                        <a:moveTo>
                          <a:pt x="0" y="0"/>
                        </a:moveTo>
                        <a:lnTo>
                          <a:pt x="0" y="171450"/>
                        </a:lnTo>
                      </a:path>
                    </a:pathLst>
                  </a:custGeom>
                  <a:noFill/>
                  <a:ln w="44450" cap="rnd" cmpd="sng" algn="ctr">
                    <a:solidFill>
                      <a:srgbClr val="2E6653"/>
                    </a:solidFill>
                    <a:prstDash val="solid"/>
                    <a:round/>
                    <a:headEnd type="none" w="med" len="med"/>
                    <a:tailEnd type="none" w="med" len="med"/>
                  </a:ln>
                </p:spPr>
              </p:sp>
              <p:sp>
                <p:nvSpPr>
                  <p:cNvPr id="1076" name="text · 56"/>
                  <p:cNvSpPr txBox="1"/>
                  <p:nvPr/>
                </p:nvSpPr>
                <p:spPr>
                  <a:xfrm>
                    <a:off x="4040978" y="4088687"/>
                    <a:ext cx="427044" cy="31008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86"/>
                      </a:lnSpc>
                      <a:spcBef>
                        <a:spcPts val="0"/>
                      </a:spcBef>
                      <a:spcAft>
                        <a:spcPts val="0"/>
                      </a:spcAft>
                    </a:pPr>
                    <a:r>
                      <a:rPr lang="en-US" sz="1600" b="1" i="0" kern="0" spc="0" dirty="0">
                        <a:solidFill>
                          <a:srgbClr val="2E6653"/>
                        </a:solidFill>
                        <a:latin typeface="Manrope"/>
                        <a:ea typeface="Manrope"/>
                        <a:cs typeface="Manrope"/>
                      </a:rPr>
                      <a:t>Plus</a:t>
                    </a:r>
                    <a:endParaRPr lang="en-US" sz="1600"/>
                  </a:p>
                </p:txBody>
              </p:sp>
              <p:sp>
                <p:nvSpPr>
                  <p:cNvPr id="1077" name="text · 57"/>
                  <p:cNvSpPr txBox="1"/>
                  <p:nvPr/>
                </p:nvSpPr>
                <p:spPr>
                  <a:xfrm>
                    <a:off x="3968812" y="4451896"/>
                    <a:ext cx="571376"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0" i="0" kern="0" spc="0" dirty="0">
                        <a:solidFill>
                          <a:srgbClr val="52676A"/>
                        </a:solidFill>
                        <a:latin typeface="Manrope"/>
                        <a:ea typeface="Manrope"/>
                        <a:cs typeface="Manrope"/>
                      </a:rPr>
                      <a:t>Within</a:t>
                    </a:r>
                    <a:endParaRPr lang="en-US" sz="1450"/>
                  </a:p>
                </p:txBody>
              </p:sp>
              <p:sp>
                <p:nvSpPr>
                  <p:cNvPr id="1078" name="text · 58"/>
                  <p:cNvSpPr txBox="1"/>
                  <p:nvPr/>
                </p:nvSpPr>
                <p:spPr>
                  <a:xfrm>
                    <a:off x="3901631" y="4529609"/>
                    <a:ext cx="705737" cy="83334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5874"/>
                      </a:lnSpc>
                      <a:spcBef>
                        <a:spcPts val="0"/>
                      </a:spcBef>
                      <a:spcAft>
                        <a:spcPts val="0"/>
                      </a:spcAft>
                    </a:pPr>
                    <a:r>
                      <a:rPr lang="en-US" sz="4300" b="1" i="0" kern="0" spc="0" dirty="0">
                        <a:solidFill>
                          <a:srgbClr val="2E6653"/>
                        </a:solidFill>
                        <a:latin typeface="Manrope"/>
                        <a:ea typeface="Manrope"/>
                        <a:cs typeface="Manrope"/>
                      </a:rPr>
                      <a:t>60</a:t>
                    </a:r>
                    <a:endParaRPr lang="en-US" sz="4300"/>
                  </a:p>
                </p:txBody>
              </p:sp>
              <p:sp>
                <p:nvSpPr>
                  <p:cNvPr id="1079" name="text · 59"/>
                  <p:cNvSpPr txBox="1"/>
                  <p:nvPr/>
                </p:nvSpPr>
                <p:spPr>
                  <a:xfrm>
                    <a:off x="4041743" y="5149974"/>
                    <a:ext cx="425512"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0" i="0" kern="0" spc="0" dirty="0">
                        <a:solidFill>
                          <a:srgbClr val="52676A"/>
                        </a:solidFill>
                        <a:latin typeface="Manrope"/>
                        <a:ea typeface="Manrope"/>
                        <a:cs typeface="Manrope"/>
                      </a:rPr>
                      <a:t>days</a:t>
                    </a:r>
                    <a:endParaRPr lang="en-US" sz="1500"/>
                  </a:p>
                </p:txBody>
              </p:sp>
            </p:grpSp>
            <p:sp>
              <p:nvSpPr>
                <p:cNvPr id="1080" name="text · 61"/>
                <p:cNvSpPr txBox="1"/>
                <p:nvPr/>
              </p:nvSpPr>
              <p:spPr>
                <a:xfrm>
                  <a:off x="5078772" y="2452067"/>
                  <a:ext cx="624756" cy="27132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12"/>
                    </a:lnSpc>
                    <a:spcBef>
                      <a:spcPts val="0"/>
                    </a:spcBef>
                    <a:spcAft>
                      <a:spcPts val="0"/>
                    </a:spcAft>
                  </a:pPr>
                  <a:r>
                    <a:rPr lang="en-US" sz="1400" b="1" i="0" kern="0" spc="0" dirty="0">
                      <a:solidFill>
                        <a:srgbClr val="2E6653"/>
                      </a:solidFill>
                      <a:latin typeface="Manrope"/>
                      <a:ea typeface="Manrope"/>
                      <a:cs typeface="Manrope"/>
                    </a:rPr>
                    <a:t>Eligible</a:t>
                  </a:r>
                  <a:endParaRPr lang="en-US" sz="1400"/>
                </a:p>
              </p:txBody>
            </p:sp>
            <p:sp>
              <p:nvSpPr>
                <p:cNvPr id="1081" name="text · 62"/>
                <p:cNvSpPr txBox="1"/>
                <p:nvPr/>
              </p:nvSpPr>
              <p:spPr>
                <a:xfrm>
                  <a:off x="5078772" y="4357067"/>
                  <a:ext cx="624756" cy="27132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12"/>
                    </a:lnSpc>
                    <a:spcBef>
                      <a:spcPts val="0"/>
                    </a:spcBef>
                    <a:spcAft>
                      <a:spcPts val="0"/>
                    </a:spcAft>
                  </a:pPr>
                  <a:r>
                    <a:rPr lang="en-US" sz="1400" b="1" i="0" kern="0" spc="0" dirty="0">
                      <a:solidFill>
                        <a:srgbClr val="2E6653"/>
                      </a:solidFill>
                      <a:latin typeface="Manrope"/>
                      <a:ea typeface="Manrope"/>
                      <a:cs typeface="Manrope"/>
                    </a:rPr>
                    <a:t>Eligible</a:t>
                  </a:r>
                  <a:endParaRPr lang="en-US" sz="1400"/>
                </a:p>
              </p:txBody>
            </p:sp>
            <p:grpSp>
              <p:nvGrpSpPr>
                <p:cNvPr id="1082" name="shipping-five-dollars · 88"/>
                <p:cNvGrpSpPr/>
                <p:nvPr/>
              </p:nvGrpSpPr>
              <p:grpSpPr>
                <a:xfrm>
                  <a:off x="5740400" y="2292350"/>
                  <a:ext cx="1485900" cy="1212850"/>
                  <a:chOff x="5740400" y="2292350"/>
                  <a:chExt cx="1485900" cy="1212850"/>
                </a:xfrm>
              </p:grpSpPr>
              <p:sp>
                <p:nvSpPr>
                  <p:cNvPr id="1083" name="ellipse · 63"/>
                  <p:cNvSpPr/>
                  <p:nvPr/>
                </p:nvSpPr>
                <p:spPr>
                  <a:xfrm>
                    <a:off x="5873750" y="3365500"/>
                    <a:ext cx="1244600" cy="139700"/>
                  </a:xfrm>
                  <a:prstGeom prst="ellipse">
                    <a:avLst/>
                  </a:prstGeom>
                  <a:solidFill>
                    <a:srgbClr val="D5DFD9">
                      <a:alpha val="36000"/>
                    </a:srgbClr>
                  </a:solidFill>
                  <a:ln>
                    <a:noFill/>
                  </a:ln>
                </p:spPr>
              </p:sp>
              <p:sp>
                <p:nvSpPr>
                  <p:cNvPr id="1084" name="rect · 64"/>
                  <p:cNvSpPr/>
                  <p:nvPr/>
                </p:nvSpPr>
                <p:spPr>
                  <a:xfrm>
                    <a:off x="5822950" y="2330450"/>
                    <a:ext cx="1384300" cy="1079500"/>
                  </a:xfrm>
                  <a:prstGeom prst="roundRect">
                    <a:avLst>
                      <a:gd name="adj" fmla="val 7059"/>
                    </a:avLst>
                  </a:prstGeom>
                  <a:solidFill>
                    <a:srgbClr val="D5DFD9"/>
                  </a:solidFill>
                  <a:ln>
                    <a:noFill/>
                  </a:ln>
                </p:spPr>
              </p:sp>
              <p:sp>
                <p:nvSpPr>
                  <p:cNvPr id="1085" name="rect · 65"/>
                  <p:cNvSpPr/>
                  <p:nvPr/>
                </p:nvSpPr>
                <p:spPr>
                  <a:xfrm>
                    <a:off x="5791200" y="2292350"/>
                    <a:ext cx="1384300" cy="1079500"/>
                  </a:xfrm>
                  <a:prstGeom prst="roundRect">
                    <a:avLst>
                      <a:gd name="adj" fmla="val 7059"/>
                    </a:avLst>
                  </a:prstGeom>
                  <a:solidFill>
                    <a:srgbClr val="F6EAC8"/>
                  </a:solidFill>
                  <a:ln w="12700" cap="flat" cmpd="sng" algn="ctr">
                    <a:solidFill>
                      <a:srgbClr val="7A6025"/>
                    </a:solidFill>
                    <a:prstDash val="solid"/>
                    <a:miter lim="400000"/>
                    <a:headEnd type="none" w="med" len="med"/>
                    <a:tailEnd type="none" w="med" len="med"/>
                  </a:ln>
                </p:spPr>
              </p:sp>
              <p:sp>
                <p:nvSpPr>
                  <p:cNvPr id="1086" name="circle · 66"/>
                  <p:cNvSpPr/>
                  <p:nvPr/>
                </p:nvSpPr>
                <p:spPr>
                  <a:xfrm>
                    <a:off x="5740400" y="2552700"/>
                    <a:ext cx="101600" cy="101600"/>
                  </a:xfrm>
                  <a:prstGeom prst="ellipse">
                    <a:avLst/>
                  </a:prstGeom>
                  <a:solidFill>
                    <a:srgbClr val="F7F8F3"/>
                  </a:solidFill>
                  <a:ln>
                    <a:noFill/>
                  </a:ln>
                </p:spPr>
              </p:sp>
              <p:sp>
                <p:nvSpPr>
                  <p:cNvPr id="1087" name="circle · 67"/>
                  <p:cNvSpPr/>
                  <p:nvPr/>
                </p:nvSpPr>
                <p:spPr>
                  <a:xfrm>
                    <a:off x="7124700" y="2552700"/>
                    <a:ext cx="101600" cy="101600"/>
                  </a:xfrm>
                  <a:prstGeom prst="ellipse">
                    <a:avLst/>
                  </a:prstGeom>
                  <a:solidFill>
                    <a:srgbClr val="F7F8F3"/>
                  </a:solidFill>
                  <a:ln>
                    <a:noFill/>
                  </a:ln>
                </p:spPr>
              </p:sp>
              <p:sp>
                <p:nvSpPr>
                  <p:cNvPr id="1088" name="path · 68"/>
                  <p:cNvSpPr/>
                  <p:nvPr/>
                </p:nvSpPr>
                <p:spPr>
                  <a:xfrm>
                    <a:off x="5848350" y="2603500"/>
                    <a:ext cx="1270000" cy="1"/>
                  </a:xfrm>
                  <a:custGeom>
                    <a:avLst/>
                    <a:gdLst/>
                    <a:ahLst/>
                    <a:cxnLst/>
                    <a:rect l="0" t="0" r="r" b="b"/>
                    <a:pathLst>
                      <a:path w="1270000" h="1" fill="none" stroke="1" extrusionOk="0">
                        <a:moveTo>
                          <a:pt x="0" y="0"/>
                        </a:moveTo>
                        <a:lnTo>
                          <a:pt x="1270000" y="0"/>
                        </a:lnTo>
                      </a:path>
                    </a:pathLst>
                  </a:custGeom>
                  <a:noFill/>
                  <a:ln w="8255" cap="rnd" cmpd="sng" algn="ctr">
                    <a:solidFill>
                      <a:srgbClr val="7A6025"/>
                    </a:solidFill>
                    <a:custDash>
                      <a:ds d="615385" sp="692308"/>
                    </a:custDash>
                    <a:round/>
                    <a:headEnd type="none" w="med" len="med"/>
                    <a:tailEnd type="none" w="med" len="med"/>
                  </a:ln>
                </p:spPr>
              </p:sp>
              <p:sp>
                <p:nvSpPr>
                  <p:cNvPr id="1089" name="text · 69"/>
                  <p:cNvSpPr txBox="1"/>
                  <p:nvPr/>
                </p:nvSpPr>
                <p:spPr>
                  <a:xfrm>
                    <a:off x="6088375" y="2318296"/>
                    <a:ext cx="789949"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7A6025"/>
                        </a:solidFill>
                        <a:latin typeface="Manrope"/>
                        <a:ea typeface="Manrope"/>
                        <a:cs typeface="Manrope"/>
                      </a:rPr>
                      <a:t>Shipping</a:t>
                    </a:r>
                    <a:endParaRPr lang="en-US" sz="1450"/>
                  </a:p>
                </p:txBody>
              </p:sp>
              <p:sp>
                <p:nvSpPr>
                  <p:cNvPr id="1090" name="text · 70"/>
                  <p:cNvSpPr txBox="1"/>
                  <p:nvPr/>
                </p:nvSpPr>
                <p:spPr>
                  <a:xfrm>
                    <a:off x="6179504" y="2488257"/>
                    <a:ext cx="607690" cy="75583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5327"/>
                      </a:lnSpc>
                      <a:spcBef>
                        <a:spcPts val="0"/>
                      </a:spcBef>
                      <a:spcAft>
                        <a:spcPts val="0"/>
                      </a:spcAft>
                    </a:pPr>
                    <a:r>
                      <a:rPr lang="en-US" sz="3900" b="1" i="0" kern="0" spc="0" dirty="0">
                        <a:solidFill>
                          <a:srgbClr val="7A6025"/>
                        </a:solidFill>
                        <a:latin typeface="Manrope"/>
                        <a:ea typeface="Manrope"/>
                        <a:cs typeface="Manrope"/>
                      </a:rPr>
                      <a:t>$5</a:t>
                    </a:r>
                    <a:endParaRPr lang="en-US" sz="3900"/>
                  </a:p>
                </p:txBody>
              </p:sp>
              <p:sp>
                <p:nvSpPr>
                  <p:cNvPr id="1091" name="rect · 71"/>
                  <p:cNvSpPr/>
                  <p:nvPr/>
                </p:nvSpPr>
                <p:spPr>
                  <a:xfrm>
                    <a:off x="6127750" y="3149600"/>
                    <a:ext cx="19050" cy="127000"/>
                  </a:xfrm>
                  <a:prstGeom prst="rect">
                    <a:avLst/>
                  </a:prstGeom>
                  <a:solidFill>
                    <a:srgbClr val="7A6025"/>
                  </a:solidFill>
                  <a:ln>
                    <a:noFill/>
                  </a:ln>
                </p:spPr>
              </p:sp>
              <p:sp>
                <p:nvSpPr>
                  <p:cNvPr id="1092" name="rect · 72"/>
                  <p:cNvSpPr/>
                  <p:nvPr/>
                </p:nvSpPr>
                <p:spPr>
                  <a:xfrm>
                    <a:off x="6165850" y="3149600"/>
                    <a:ext cx="38100" cy="127000"/>
                  </a:xfrm>
                  <a:prstGeom prst="rect">
                    <a:avLst/>
                  </a:prstGeom>
                  <a:solidFill>
                    <a:srgbClr val="7A6025"/>
                  </a:solidFill>
                  <a:ln>
                    <a:noFill/>
                  </a:ln>
                </p:spPr>
              </p:sp>
              <p:sp>
                <p:nvSpPr>
                  <p:cNvPr id="1093" name="rect · 73"/>
                  <p:cNvSpPr/>
                  <p:nvPr/>
                </p:nvSpPr>
                <p:spPr>
                  <a:xfrm>
                    <a:off x="6223000" y="3149600"/>
                    <a:ext cx="12700" cy="127000"/>
                  </a:xfrm>
                  <a:prstGeom prst="rect">
                    <a:avLst/>
                  </a:prstGeom>
                  <a:solidFill>
                    <a:srgbClr val="7A6025"/>
                  </a:solidFill>
                  <a:ln>
                    <a:noFill/>
                  </a:ln>
                </p:spPr>
              </p:sp>
              <p:sp>
                <p:nvSpPr>
                  <p:cNvPr id="1094" name="rect · 74"/>
                  <p:cNvSpPr/>
                  <p:nvPr/>
                </p:nvSpPr>
                <p:spPr>
                  <a:xfrm>
                    <a:off x="6254750" y="3149600"/>
                    <a:ext cx="25400" cy="127000"/>
                  </a:xfrm>
                  <a:prstGeom prst="rect">
                    <a:avLst/>
                  </a:prstGeom>
                  <a:solidFill>
                    <a:srgbClr val="7A6025"/>
                  </a:solidFill>
                  <a:ln>
                    <a:noFill/>
                  </a:ln>
                </p:spPr>
              </p:sp>
              <p:sp>
                <p:nvSpPr>
                  <p:cNvPr id="1095" name="rect · 75"/>
                  <p:cNvSpPr/>
                  <p:nvPr/>
                </p:nvSpPr>
                <p:spPr>
                  <a:xfrm>
                    <a:off x="6299200" y="3149600"/>
                    <a:ext cx="12700" cy="127000"/>
                  </a:xfrm>
                  <a:prstGeom prst="rect">
                    <a:avLst/>
                  </a:prstGeom>
                  <a:solidFill>
                    <a:srgbClr val="7A6025"/>
                  </a:solidFill>
                  <a:ln>
                    <a:noFill/>
                  </a:ln>
                </p:spPr>
              </p:sp>
              <p:sp>
                <p:nvSpPr>
                  <p:cNvPr id="1096" name="rect · 76"/>
                  <p:cNvSpPr/>
                  <p:nvPr/>
                </p:nvSpPr>
                <p:spPr>
                  <a:xfrm>
                    <a:off x="6330950" y="3149600"/>
                    <a:ext cx="44450" cy="127000"/>
                  </a:xfrm>
                  <a:prstGeom prst="rect">
                    <a:avLst/>
                  </a:prstGeom>
                  <a:solidFill>
                    <a:srgbClr val="7A6025"/>
                  </a:solidFill>
                  <a:ln>
                    <a:noFill/>
                  </a:ln>
                </p:spPr>
              </p:sp>
              <p:sp>
                <p:nvSpPr>
                  <p:cNvPr id="1097" name="rect · 77"/>
                  <p:cNvSpPr/>
                  <p:nvPr/>
                </p:nvSpPr>
                <p:spPr>
                  <a:xfrm>
                    <a:off x="6394450" y="3149600"/>
                    <a:ext cx="19050" cy="127000"/>
                  </a:xfrm>
                  <a:prstGeom prst="rect">
                    <a:avLst/>
                  </a:prstGeom>
                  <a:solidFill>
                    <a:srgbClr val="7A6025"/>
                  </a:solidFill>
                  <a:ln>
                    <a:noFill/>
                  </a:ln>
                </p:spPr>
              </p:sp>
              <p:sp>
                <p:nvSpPr>
                  <p:cNvPr id="1098" name="rect · 78"/>
                  <p:cNvSpPr/>
                  <p:nvPr/>
                </p:nvSpPr>
                <p:spPr>
                  <a:xfrm>
                    <a:off x="6432550" y="3149600"/>
                    <a:ext cx="12700" cy="127000"/>
                  </a:xfrm>
                  <a:prstGeom prst="rect">
                    <a:avLst/>
                  </a:prstGeom>
                  <a:solidFill>
                    <a:srgbClr val="7A6025"/>
                  </a:solidFill>
                  <a:ln>
                    <a:noFill/>
                  </a:ln>
                </p:spPr>
              </p:sp>
              <p:sp>
                <p:nvSpPr>
                  <p:cNvPr id="1099" name="rect · 79"/>
                  <p:cNvSpPr/>
                  <p:nvPr/>
                </p:nvSpPr>
                <p:spPr>
                  <a:xfrm>
                    <a:off x="6464300" y="3149600"/>
                    <a:ext cx="31750" cy="127000"/>
                  </a:xfrm>
                  <a:prstGeom prst="rect">
                    <a:avLst/>
                  </a:prstGeom>
                  <a:solidFill>
                    <a:srgbClr val="7A6025"/>
                  </a:solidFill>
                  <a:ln>
                    <a:noFill/>
                  </a:ln>
                </p:spPr>
              </p:sp>
              <p:sp>
                <p:nvSpPr>
                  <p:cNvPr id="1100" name="rect · 80"/>
                  <p:cNvSpPr/>
                  <p:nvPr/>
                </p:nvSpPr>
                <p:spPr>
                  <a:xfrm>
                    <a:off x="6515100" y="3149600"/>
                    <a:ext cx="12700" cy="127000"/>
                  </a:xfrm>
                  <a:prstGeom prst="rect">
                    <a:avLst/>
                  </a:prstGeom>
                  <a:solidFill>
                    <a:srgbClr val="7A6025"/>
                  </a:solidFill>
                  <a:ln>
                    <a:noFill/>
                  </a:ln>
                </p:spPr>
              </p:sp>
              <p:sp>
                <p:nvSpPr>
                  <p:cNvPr id="1101" name="rect · 81"/>
                  <p:cNvSpPr/>
                  <p:nvPr/>
                </p:nvSpPr>
                <p:spPr>
                  <a:xfrm>
                    <a:off x="6546850" y="3149600"/>
                    <a:ext cx="19050" cy="127000"/>
                  </a:xfrm>
                  <a:prstGeom prst="rect">
                    <a:avLst/>
                  </a:prstGeom>
                  <a:solidFill>
                    <a:srgbClr val="7A6025"/>
                  </a:solidFill>
                  <a:ln>
                    <a:noFill/>
                  </a:ln>
                </p:spPr>
              </p:sp>
              <p:sp>
                <p:nvSpPr>
                  <p:cNvPr id="1102" name="rect · 82"/>
                  <p:cNvSpPr/>
                  <p:nvPr/>
                </p:nvSpPr>
                <p:spPr>
                  <a:xfrm>
                    <a:off x="6584950" y="3149600"/>
                    <a:ext cx="38100" cy="127000"/>
                  </a:xfrm>
                  <a:prstGeom prst="rect">
                    <a:avLst/>
                  </a:prstGeom>
                  <a:solidFill>
                    <a:srgbClr val="7A6025"/>
                  </a:solidFill>
                  <a:ln>
                    <a:noFill/>
                  </a:ln>
                </p:spPr>
              </p:sp>
              <p:sp>
                <p:nvSpPr>
                  <p:cNvPr id="1103" name="rect · 83"/>
                  <p:cNvSpPr/>
                  <p:nvPr/>
                </p:nvSpPr>
                <p:spPr>
                  <a:xfrm>
                    <a:off x="6642100" y="3149600"/>
                    <a:ext cx="12700" cy="127000"/>
                  </a:xfrm>
                  <a:prstGeom prst="rect">
                    <a:avLst/>
                  </a:prstGeom>
                  <a:solidFill>
                    <a:srgbClr val="7A6025"/>
                  </a:solidFill>
                  <a:ln>
                    <a:noFill/>
                  </a:ln>
                </p:spPr>
              </p:sp>
              <p:sp>
                <p:nvSpPr>
                  <p:cNvPr id="1104" name="rect · 84"/>
                  <p:cNvSpPr/>
                  <p:nvPr/>
                </p:nvSpPr>
                <p:spPr>
                  <a:xfrm>
                    <a:off x="6673850" y="3149600"/>
                    <a:ext cx="25400" cy="127000"/>
                  </a:xfrm>
                  <a:prstGeom prst="rect">
                    <a:avLst/>
                  </a:prstGeom>
                  <a:solidFill>
                    <a:srgbClr val="7A6025"/>
                  </a:solidFill>
                  <a:ln>
                    <a:noFill/>
                  </a:ln>
                </p:spPr>
              </p:sp>
              <p:sp>
                <p:nvSpPr>
                  <p:cNvPr id="1105" name="rect · 85"/>
                  <p:cNvSpPr/>
                  <p:nvPr/>
                </p:nvSpPr>
                <p:spPr>
                  <a:xfrm>
                    <a:off x="6718300" y="3149600"/>
                    <a:ext cx="19050" cy="127000"/>
                  </a:xfrm>
                  <a:prstGeom prst="rect">
                    <a:avLst/>
                  </a:prstGeom>
                  <a:solidFill>
                    <a:srgbClr val="7A6025"/>
                  </a:solidFill>
                  <a:ln>
                    <a:noFill/>
                  </a:ln>
                </p:spPr>
              </p:sp>
              <p:sp>
                <p:nvSpPr>
                  <p:cNvPr id="1106" name="rect · 86"/>
                  <p:cNvSpPr/>
                  <p:nvPr/>
                </p:nvSpPr>
                <p:spPr>
                  <a:xfrm>
                    <a:off x="6756400" y="3149600"/>
                    <a:ext cx="12700" cy="127000"/>
                  </a:xfrm>
                  <a:prstGeom prst="rect">
                    <a:avLst/>
                  </a:prstGeom>
                  <a:solidFill>
                    <a:srgbClr val="7A6025"/>
                  </a:solidFill>
                  <a:ln>
                    <a:noFill/>
                  </a:ln>
                </p:spPr>
              </p:sp>
              <p:sp>
                <p:nvSpPr>
                  <p:cNvPr id="1107" name="rect · 87"/>
                  <p:cNvSpPr/>
                  <p:nvPr/>
                </p:nvSpPr>
                <p:spPr>
                  <a:xfrm>
                    <a:off x="6788150" y="3149600"/>
                    <a:ext cx="31750" cy="127000"/>
                  </a:xfrm>
                  <a:prstGeom prst="rect">
                    <a:avLst/>
                  </a:prstGeom>
                  <a:solidFill>
                    <a:srgbClr val="7A6025"/>
                  </a:solidFill>
                  <a:ln>
                    <a:noFill/>
                  </a:ln>
                </p:spPr>
              </p:sp>
            </p:grpSp>
            <p:grpSp>
              <p:nvGrpSpPr>
                <p:cNvPr id="1108" name="shipping-waived · 114"/>
                <p:cNvGrpSpPr/>
                <p:nvPr/>
              </p:nvGrpSpPr>
              <p:grpSpPr>
                <a:xfrm>
                  <a:off x="5740400" y="4197350"/>
                  <a:ext cx="1485900" cy="1212850"/>
                  <a:chOff x="5740400" y="4197350"/>
                  <a:chExt cx="1485900" cy="1212850"/>
                </a:xfrm>
              </p:grpSpPr>
              <p:sp>
                <p:nvSpPr>
                  <p:cNvPr id="1109" name="ellipse · 89"/>
                  <p:cNvSpPr/>
                  <p:nvPr/>
                </p:nvSpPr>
                <p:spPr>
                  <a:xfrm>
                    <a:off x="5873750" y="5270500"/>
                    <a:ext cx="1244600" cy="139700"/>
                  </a:xfrm>
                  <a:prstGeom prst="ellipse">
                    <a:avLst/>
                  </a:prstGeom>
                  <a:solidFill>
                    <a:srgbClr val="D5DFD9">
                      <a:alpha val="36000"/>
                    </a:srgbClr>
                  </a:solidFill>
                  <a:ln>
                    <a:noFill/>
                  </a:ln>
                </p:spPr>
              </p:sp>
              <p:sp>
                <p:nvSpPr>
                  <p:cNvPr id="1110" name="rect · 90"/>
                  <p:cNvSpPr/>
                  <p:nvPr/>
                </p:nvSpPr>
                <p:spPr>
                  <a:xfrm>
                    <a:off x="5822950" y="4235450"/>
                    <a:ext cx="1384300" cy="1079500"/>
                  </a:xfrm>
                  <a:prstGeom prst="roundRect">
                    <a:avLst>
                      <a:gd name="adj" fmla="val 7059"/>
                    </a:avLst>
                  </a:prstGeom>
                  <a:solidFill>
                    <a:srgbClr val="D5DFD9"/>
                  </a:solidFill>
                  <a:ln>
                    <a:noFill/>
                  </a:ln>
                </p:spPr>
              </p:sp>
              <p:sp>
                <p:nvSpPr>
                  <p:cNvPr id="1111" name="rect · 91"/>
                  <p:cNvSpPr/>
                  <p:nvPr/>
                </p:nvSpPr>
                <p:spPr>
                  <a:xfrm>
                    <a:off x="5791200" y="4197350"/>
                    <a:ext cx="1384300" cy="1079500"/>
                  </a:xfrm>
                  <a:prstGeom prst="roundRect">
                    <a:avLst>
                      <a:gd name="adj" fmla="val 7059"/>
                    </a:avLst>
                  </a:prstGeom>
                  <a:solidFill>
                    <a:srgbClr val="D7EBE1"/>
                  </a:solidFill>
                  <a:ln w="12700" cap="flat" cmpd="sng" algn="ctr">
                    <a:solidFill>
                      <a:srgbClr val="2E6653"/>
                    </a:solidFill>
                    <a:prstDash val="solid"/>
                    <a:miter lim="400000"/>
                    <a:headEnd type="none" w="med" len="med"/>
                    <a:tailEnd type="none" w="med" len="med"/>
                  </a:ln>
                </p:spPr>
              </p:sp>
              <p:sp>
                <p:nvSpPr>
                  <p:cNvPr id="1112" name="circle · 92"/>
                  <p:cNvSpPr/>
                  <p:nvPr/>
                </p:nvSpPr>
                <p:spPr>
                  <a:xfrm>
                    <a:off x="5740400" y="4457700"/>
                    <a:ext cx="101600" cy="101600"/>
                  </a:xfrm>
                  <a:prstGeom prst="ellipse">
                    <a:avLst/>
                  </a:prstGeom>
                  <a:solidFill>
                    <a:srgbClr val="F7F8F3"/>
                  </a:solidFill>
                  <a:ln>
                    <a:noFill/>
                  </a:ln>
                </p:spPr>
              </p:sp>
              <p:sp>
                <p:nvSpPr>
                  <p:cNvPr id="1113" name="circle · 93"/>
                  <p:cNvSpPr/>
                  <p:nvPr/>
                </p:nvSpPr>
                <p:spPr>
                  <a:xfrm>
                    <a:off x="7124700" y="4457700"/>
                    <a:ext cx="101600" cy="101600"/>
                  </a:xfrm>
                  <a:prstGeom prst="ellipse">
                    <a:avLst/>
                  </a:prstGeom>
                  <a:solidFill>
                    <a:srgbClr val="F7F8F3"/>
                  </a:solidFill>
                  <a:ln>
                    <a:noFill/>
                  </a:ln>
                </p:spPr>
              </p:sp>
              <p:sp>
                <p:nvSpPr>
                  <p:cNvPr id="1114" name="path · 94"/>
                  <p:cNvSpPr/>
                  <p:nvPr/>
                </p:nvSpPr>
                <p:spPr>
                  <a:xfrm>
                    <a:off x="5848350" y="4508500"/>
                    <a:ext cx="1270000" cy="1"/>
                  </a:xfrm>
                  <a:custGeom>
                    <a:avLst/>
                    <a:gdLst/>
                    <a:ahLst/>
                    <a:cxnLst/>
                    <a:rect l="0" t="0" r="r" b="b"/>
                    <a:pathLst>
                      <a:path w="1270000" h="1" fill="none" stroke="1" extrusionOk="0">
                        <a:moveTo>
                          <a:pt x="0" y="0"/>
                        </a:moveTo>
                        <a:lnTo>
                          <a:pt x="1270000" y="0"/>
                        </a:lnTo>
                      </a:path>
                    </a:pathLst>
                  </a:custGeom>
                  <a:noFill/>
                  <a:ln w="8255" cap="rnd" cmpd="sng" algn="ctr">
                    <a:solidFill>
                      <a:srgbClr val="2E6653"/>
                    </a:solidFill>
                    <a:custDash>
                      <a:ds d="615385" sp="692308"/>
                    </a:custDash>
                    <a:round/>
                    <a:headEnd type="none" w="med" len="med"/>
                    <a:tailEnd type="none" w="med" len="med"/>
                  </a:ln>
                </p:spPr>
              </p:sp>
              <p:sp>
                <p:nvSpPr>
                  <p:cNvPr id="1115" name="text · 95"/>
                  <p:cNvSpPr txBox="1"/>
                  <p:nvPr/>
                </p:nvSpPr>
                <p:spPr>
                  <a:xfrm>
                    <a:off x="6088375" y="4223296"/>
                    <a:ext cx="789949" cy="28101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981"/>
                      </a:lnSpc>
                      <a:spcBef>
                        <a:spcPts val="0"/>
                      </a:spcBef>
                      <a:spcAft>
                        <a:spcPts val="0"/>
                      </a:spcAft>
                    </a:pPr>
                    <a:r>
                      <a:rPr lang="en-US" sz="1450" b="1" i="0" kern="0" spc="0" dirty="0">
                        <a:solidFill>
                          <a:srgbClr val="2E6653"/>
                        </a:solidFill>
                        <a:latin typeface="Manrope"/>
                        <a:ea typeface="Manrope"/>
                        <a:cs typeface="Manrope"/>
                      </a:rPr>
                      <a:t>Shipping</a:t>
                    </a:r>
                    <a:endParaRPr lang="en-US" sz="1450"/>
                  </a:p>
                </p:txBody>
              </p:sp>
              <p:sp>
                <p:nvSpPr>
                  <p:cNvPr id="1116" name="text · 96"/>
                  <p:cNvSpPr txBox="1"/>
                  <p:nvPr/>
                </p:nvSpPr>
                <p:spPr>
                  <a:xfrm>
                    <a:off x="5972416" y="4559492"/>
                    <a:ext cx="1021866" cy="43605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3073"/>
                      </a:lnSpc>
                      <a:spcBef>
                        <a:spcPts val="0"/>
                      </a:spcBef>
                      <a:spcAft>
                        <a:spcPts val="0"/>
                      </a:spcAft>
                    </a:pPr>
                    <a:r>
                      <a:rPr lang="en-US" sz="2250" b="1" i="0" kern="0" spc="0" dirty="0">
                        <a:solidFill>
                          <a:srgbClr val="2E6653"/>
                        </a:solidFill>
                        <a:latin typeface="Manrope"/>
                        <a:ea typeface="Manrope"/>
                        <a:cs typeface="Manrope"/>
                      </a:rPr>
                      <a:t>Waived</a:t>
                    </a:r>
                    <a:endParaRPr lang="en-US" sz="2250"/>
                  </a:p>
                </p:txBody>
              </p:sp>
              <p:sp>
                <p:nvSpPr>
                  <p:cNvPr id="1117" name="rect · 97"/>
                  <p:cNvSpPr/>
                  <p:nvPr/>
                </p:nvSpPr>
                <p:spPr>
                  <a:xfrm>
                    <a:off x="6127750" y="5054600"/>
                    <a:ext cx="19050" cy="127000"/>
                  </a:xfrm>
                  <a:prstGeom prst="rect">
                    <a:avLst/>
                  </a:prstGeom>
                  <a:solidFill>
                    <a:srgbClr val="2E6653"/>
                  </a:solidFill>
                  <a:ln>
                    <a:noFill/>
                  </a:ln>
                </p:spPr>
              </p:sp>
              <p:sp>
                <p:nvSpPr>
                  <p:cNvPr id="1118" name="rect · 98"/>
                  <p:cNvSpPr/>
                  <p:nvPr/>
                </p:nvSpPr>
                <p:spPr>
                  <a:xfrm>
                    <a:off x="6165850" y="5054600"/>
                    <a:ext cx="38100" cy="127000"/>
                  </a:xfrm>
                  <a:prstGeom prst="rect">
                    <a:avLst/>
                  </a:prstGeom>
                  <a:solidFill>
                    <a:srgbClr val="2E6653"/>
                  </a:solidFill>
                  <a:ln>
                    <a:noFill/>
                  </a:ln>
                </p:spPr>
              </p:sp>
              <p:sp>
                <p:nvSpPr>
                  <p:cNvPr id="1119" name="rect · 99"/>
                  <p:cNvSpPr/>
                  <p:nvPr/>
                </p:nvSpPr>
                <p:spPr>
                  <a:xfrm>
                    <a:off x="6223000" y="5054600"/>
                    <a:ext cx="12700" cy="127000"/>
                  </a:xfrm>
                  <a:prstGeom prst="rect">
                    <a:avLst/>
                  </a:prstGeom>
                  <a:solidFill>
                    <a:srgbClr val="2E6653"/>
                  </a:solidFill>
                  <a:ln>
                    <a:noFill/>
                  </a:ln>
                </p:spPr>
              </p:sp>
              <p:sp>
                <p:nvSpPr>
                  <p:cNvPr id="1120" name="rect · 100"/>
                  <p:cNvSpPr/>
                  <p:nvPr/>
                </p:nvSpPr>
                <p:spPr>
                  <a:xfrm>
                    <a:off x="6254750" y="5054600"/>
                    <a:ext cx="25400" cy="127000"/>
                  </a:xfrm>
                  <a:prstGeom prst="rect">
                    <a:avLst/>
                  </a:prstGeom>
                  <a:solidFill>
                    <a:srgbClr val="2E6653"/>
                  </a:solidFill>
                  <a:ln>
                    <a:noFill/>
                  </a:ln>
                </p:spPr>
              </p:sp>
              <p:sp>
                <p:nvSpPr>
                  <p:cNvPr id="1121" name="rect · 101"/>
                  <p:cNvSpPr/>
                  <p:nvPr/>
                </p:nvSpPr>
                <p:spPr>
                  <a:xfrm>
                    <a:off x="6299200" y="5054600"/>
                    <a:ext cx="12700" cy="127000"/>
                  </a:xfrm>
                  <a:prstGeom prst="rect">
                    <a:avLst/>
                  </a:prstGeom>
                  <a:solidFill>
                    <a:srgbClr val="2E6653"/>
                  </a:solidFill>
                  <a:ln>
                    <a:noFill/>
                  </a:ln>
                </p:spPr>
              </p:sp>
              <p:sp>
                <p:nvSpPr>
                  <p:cNvPr id="1122" name="rect · 102"/>
                  <p:cNvSpPr/>
                  <p:nvPr/>
                </p:nvSpPr>
                <p:spPr>
                  <a:xfrm>
                    <a:off x="6330950" y="5054600"/>
                    <a:ext cx="44450" cy="127000"/>
                  </a:xfrm>
                  <a:prstGeom prst="rect">
                    <a:avLst/>
                  </a:prstGeom>
                  <a:solidFill>
                    <a:srgbClr val="2E6653"/>
                  </a:solidFill>
                  <a:ln>
                    <a:noFill/>
                  </a:ln>
                </p:spPr>
              </p:sp>
              <p:sp>
                <p:nvSpPr>
                  <p:cNvPr id="1123" name="rect · 103"/>
                  <p:cNvSpPr/>
                  <p:nvPr/>
                </p:nvSpPr>
                <p:spPr>
                  <a:xfrm>
                    <a:off x="6394450" y="5054600"/>
                    <a:ext cx="19050" cy="127000"/>
                  </a:xfrm>
                  <a:prstGeom prst="rect">
                    <a:avLst/>
                  </a:prstGeom>
                  <a:solidFill>
                    <a:srgbClr val="2E6653"/>
                  </a:solidFill>
                  <a:ln>
                    <a:noFill/>
                  </a:ln>
                </p:spPr>
              </p:sp>
              <p:sp>
                <p:nvSpPr>
                  <p:cNvPr id="1124" name="rect · 104"/>
                  <p:cNvSpPr/>
                  <p:nvPr/>
                </p:nvSpPr>
                <p:spPr>
                  <a:xfrm>
                    <a:off x="6432550" y="5054600"/>
                    <a:ext cx="12700" cy="127000"/>
                  </a:xfrm>
                  <a:prstGeom prst="rect">
                    <a:avLst/>
                  </a:prstGeom>
                  <a:solidFill>
                    <a:srgbClr val="2E6653"/>
                  </a:solidFill>
                  <a:ln>
                    <a:noFill/>
                  </a:ln>
                </p:spPr>
              </p:sp>
              <p:sp>
                <p:nvSpPr>
                  <p:cNvPr id="1125" name="rect · 105"/>
                  <p:cNvSpPr/>
                  <p:nvPr/>
                </p:nvSpPr>
                <p:spPr>
                  <a:xfrm>
                    <a:off x="6464300" y="5054600"/>
                    <a:ext cx="31750" cy="127000"/>
                  </a:xfrm>
                  <a:prstGeom prst="rect">
                    <a:avLst/>
                  </a:prstGeom>
                  <a:solidFill>
                    <a:srgbClr val="2E6653"/>
                  </a:solidFill>
                  <a:ln>
                    <a:noFill/>
                  </a:ln>
                </p:spPr>
              </p:sp>
              <p:sp>
                <p:nvSpPr>
                  <p:cNvPr id="1126" name="rect · 106"/>
                  <p:cNvSpPr/>
                  <p:nvPr/>
                </p:nvSpPr>
                <p:spPr>
                  <a:xfrm>
                    <a:off x="6515100" y="5054600"/>
                    <a:ext cx="12700" cy="127000"/>
                  </a:xfrm>
                  <a:prstGeom prst="rect">
                    <a:avLst/>
                  </a:prstGeom>
                  <a:solidFill>
                    <a:srgbClr val="2E6653"/>
                  </a:solidFill>
                  <a:ln>
                    <a:noFill/>
                  </a:ln>
                </p:spPr>
              </p:sp>
              <p:sp>
                <p:nvSpPr>
                  <p:cNvPr id="1127" name="rect · 107"/>
                  <p:cNvSpPr/>
                  <p:nvPr/>
                </p:nvSpPr>
                <p:spPr>
                  <a:xfrm>
                    <a:off x="6546850" y="5054600"/>
                    <a:ext cx="19050" cy="127000"/>
                  </a:xfrm>
                  <a:prstGeom prst="rect">
                    <a:avLst/>
                  </a:prstGeom>
                  <a:solidFill>
                    <a:srgbClr val="2E6653"/>
                  </a:solidFill>
                  <a:ln>
                    <a:noFill/>
                  </a:ln>
                </p:spPr>
              </p:sp>
              <p:sp>
                <p:nvSpPr>
                  <p:cNvPr id="1128" name="rect · 108"/>
                  <p:cNvSpPr/>
                  <p:nvPr/>
                </p:nvSpPr>
                <p:spPr>
                  <a:xfrm>
                    <a:off x="6584950" y="5054600"/>
                    <a:ext cx="38100" cy="127000"/>
                  </a:xfrm>
                  <a:prstGeom prst="rect">
                    <a:avLst/>
                  </a:prstGeom>
                  <a:solidFill>
                    <a:srgbClr val="2E6653"/>
                  </a:solidFill>
                  <a:ln>
                    <a:noFill/>
                  </a:ln>
                </p:spPr>
              </p:sp>
              <p:sp>
                <p:nvSpPr>
                  <p:cNvPr id="1129" name="rect · 109"/>
                  <p:cNvSpPr/>
                  <p:nvPr/>
                </p:nvSpPr>
                <p:spPr>
                  <a:xfrm>
                    <a:off x="6642100" y="5054600"/>
                    <a:ext cx="12700" cy="127000"/>
                  </a:xfrm>
                  <a:prstGeom prst="rect">
                    <a:avLst/>
                  </a:prstGeom>
                  <a:solidFill>
                    <a:srgbClr val="2E6653"/>
                  </a:solidFill>
                  <a:ln>
                    <a:noFill/>
                  </a:ln>
                </p:spPr>
              </p:sp>
              <p:sp>
                <p:nvSpPr>
                  <p:cNvPr id="1130" name="rect · 110"/>
                  <p:cNvSpPr/>
                  <p:nvPr/>
                </p:nvSpPr>
                <p:spPr>
                  <a:xfrm>
                    <a:off x="6673850" y="5054600"/>
                    <a:ext cx="25400" cy="127000"/>
                  </a:xfrm>
                  <a:prstGeom prst="rect">
                    <a:avLst/>
                  </a:prstGeom>
                  <a:solidFill>
                    <a:srgbClr val="2E6653"/>
                  </a:solidFill>
                  <a:ln>
                    <a:noFill/>
                  </a:ln>
                </p:spPr>
              </p:sp>
              <p:sp>
                <p:nvSpPr>
                  <p:cNvPr id="1131" name="rect · 111"/>
                  <p:cNvSpPr/>
                  <p:nvPr/>
                </p:nvSpPr>
                <p:spPr>
                  <a:xfrm>
                    <a:off x="6718300" y="5054600"/>
                    <a:ext cx="19050" cy="127000"/>
                  </a:xfrm>
                  <a:prstGeom prst="rect">
                    <a:avLst/>
                  </a:prstGeom>
                  <a:solidFill>
                    <a:srgbClr val="2E6653"/>
                  </a:solidFill>
                  <a:ln>
                    <a:noFill/>
                  </a:ln>
                </p:spPr>
              </p:sp>
              <p:sp>
                <p:nvSpPr>
                  <p:cNvPr id="1132" name="rect · 112"/>
                  <p:cNvSpPr/>
                  <p:nvPr/>
                </p:nvSpPr>
                <p:spPr>
                  <a:xfrm>
                    <a:off x="6756400" y="5054600"/>
                    <a:ext cx="12700" cy="127000"/>
                  </a:xfrm>
                  <a:prstGeom prst="rect">
                    <a:avLst/>
                  </a:prstGeom>
                  <a:solidFill>
                    <a:srgbClr val="2E6653"/>
                  </a:solidFill>
                  <a:ln>
                    <a:noFill/>
                  </a:ln>
                </p:spPr>
              </p:sp>
              <p:sp>
                <p:nvSpPr>
                  <p:cNvPr id="1133" name="rect · 113"/>
                  <p:cNvSpPr/>
                  <p:nvPr/>
                </p:nvSpPr>
                <p:spPr>
                  <a:xfrm>
                    <a:off x="6788150" y="5054600"/>
                    <a:ext cx="31750" cy="127000"/>
                  </a:xfrm>
                  <a:prstGeom prst="rect">
                    <a:avLst/>
                  </a:prstGeom>
                  <a:solidFill>
                    <a:srgbClr val="2E6653"/>
                  </a:solidFill>
                  <a:ln>
                    <a:noFill/>
                  </a:ln>
                </p:spPr>
              </p:sp>
            </p:grpSp>
            <p:grpSp>
              <p:nvGrpSpPr>
                <p:cNvPr id="1134" name="customer · 129"/>
                <p:cNvGrpSpPr/>
                <p:nvPr/>
              </p:nvGrpSpPr>
              <p:grpSpPr>
                <a:xfrm>
                  <a:off x="8332893" y="3179657"/>
                  <a:ext cx="782320" cy="906780"/>
                  <a:chOff x="8332893" y="3179657"/>
                  <a:chExt cx="782320" cy="906780"/>
                </a:xfrm>
              </p:grpSpPr>
              <p:sp>
                <p:nvSpPr>
                  <p:cNvPr id="1135" name="ellipse · 115"/>
                  <p:cNvSpPr/>
                  <p:nvPr/>
                </p:nvSpPr>
                <p:spPr>
                  <a:xfrm>
                    <a:off x="8332893" y="4015317"/>
                    <a:ext cx="782320" cy="71120"/>
                  </a:xfrm>
                  <a:prstGeom prst="ellipse">
                    <a:avLst/>
                  </a:prstGeom>
                  <a:solidFill>
                    <a:srgbClr val="E2EEF3"/>
                  </a:solidFill>
                  <a:ln>
                    <a:noFill/>
                  </a:ln>
                </p:spPr>
              </p:sp>
              <p:sp>
                <p:nvSpPr>
                  <p:cNvPr id="1136" name="path · 116"/>
                  <p:cNvSpPr/>
                  <p:nvPr/>
                </p:nvSpPr>
                <p:spPr>
                  <a:xfrm>
                    <a:off x="8510693" y="3778250"/>
                    <a:ext cx="462280" cy="237067"/>
                  </a:xfrm>
                  <a:custGeom>
                    <a:avLst/>
                    <a:gdLst/>
                    <a:ahLst/>
                    <a:cxnLst/>
                    <a:rect l="0" t="0" r="r" b="b"/>
                    <a:pathLst>
                      <a:path w="462280" h="237067" fill="norm" stroke="1" extrusionOk="0">
                        <a:moveTo>
                          <a:pt x="23707" y="47413"/>
                        </a:moveTo>
                        <a:lnTo>
                          <a:pt x="0" y="237067"/>
                        </a:lnTo>
                        <a:lnTo>
                          <a:pt x="130387" y="237067"/>
                        </a:lnTo>
                        <a:lnTo>
                          <a:pt x="171874" y="59267"/>
                        </a:lnTo>
                        <a:moveTo>
                          <a:pt x="302260" y="47413"/>
                        </a:moveTo>
                        <a:lnTo>
                          <a:pt x="343747" y="237067"/>
                        </a:lnTo>
                        <a:lnTo>
                          <a:pt x="462280" y="237067"/>
                        </a:lnTo>
                        <a:lnTo>
                          <a:pt x="367454" y="0"/>
                        </a:lnTo>
                      </a:path>
                    </a:pathLst>
                  </a:custGeom>
                  <a:solidFill>
                    <a:srgbClr val="243E42"/>
                  </a:solidFill>
                  <a:ln w="13039" cap="rnd" cmpd="sng" algn="ctr">
                    <a:solidFill>
                      <a:srgbClr val="243E42"/>
                    </a:solidFill>
                    <a:prstDash val="solid"/>
                    <a:round/>
                    <a:headEnd type="none" w="med" len="med"/>
                    <a:tailEnd type="none" w="med" len="med"/>
                  </a:ln>
                </p:spPr>
              </p:sp>
              <p:sp>
                <p:nvSpPr>
                  <p:cNvPr id="1137" name="path · 117"/>
                  <p:cNvSpPr/>
                  <p:nvPr/>
                </p:nvSpPr>
                <p:spPr>
                  <a:xfrm>
                    <a:off x="8451427" y="4021243"/>
                    <a:ext cx="586740" cy="41487"/>
                  </a:xfrm>
                  <a:custGeom>
                    <a:avLst/>
                    <a:gdLst/>
                    <a:ahLst/>
                    <a:cxnLst/>
                    <a:rect l="0" t="0" r="r" b="b"/>
                    <a:pathLst>
                      <a:path w="586740" h="41487" fill="norm" stroke="1" extrusionOk="0">
                        <a:moveTo>
                          <a:pt x="41486" y="0"/>
                        </a:moveTo>
                        <a:lnTo>
                          <a:pt x="195580" y="0"/>
                        </a:lnTo>
                        <a:lnTo>
                          <a:pt x="195580" y="41487"/>
                        </a:lnTo>
                        <a:lnTo>
                          <a:pt x="0" y="41487"/>
                        </a:lnTo>
                        <a:cubicBezTo>
                          <a:pt x="0" y="17780"/>
                          <a:pt x="17780" y="5927"/>
                          <a:pt x="41486" y="0"/>
                        </a:cubicBezTo>
                        <a:moveTo>
                          <a:pt x="397086" y="0"/>
                        </a:moveTo>
                        <a:lnTo>
                          <a:pt x="539326" y="0"/>
                        </a:lnTo>
                        <a:lnTo>
                          <a:pt x="586740" y="41487"/>
                        </a:lnTo>
                        <a:lnTo>
                          <a:pt x="397086" y="41487"/>
                        </a:lnTo>
                        <a:close/>
                      </a:path>
                    </a:pathLst>
                  </a:custGeom>
                  <a:solidFill>
                    <a:srgbClr val="FFFFFF"/>
                  </a:solidFill>
                  <a:ln w="13039" cap="rnd" cmpd="sng" algn="ctr">
                    <a:solidFill>
                      <a:srgbClr val="243E42"/>
                    </a:solidFill>
                    <a:prstDash val="solid"/>
                    <a:round/>
                    <a:headEnd type="none" w="med" len="med"/>
                    <a:tailEnd type="none" w="med" len="med"/>
                  </a:ln>
                </p:spPr>
              </p:sp>
              <p:sp>
                <p:nvSpPr>
                  <p:cNvPr id="1138" name="path · 118"/>
                  <p:cNvSpPr/>
                  <p:nvPr/>
                </p:nvSpPr>
                <p:spPr>
                  <a:xfrm>
                    <a:off x="8486987" y="3464137"/>
                    <a:ext cx="432647" cy="408940"/>
                  </a:xfrm>
                  <a:custGeom>
                    <a:avLst/>
                    <a:gdLst/>
                    <a:ahLst/>
                    <a:cxnLst/>
                    <a:rect l="0" t="0" r="r" b="b"/>
                    <a:pathLst>
                      <a:path w="432647" h="408940" fill="norm" stroke="1" extrusionOk="0">
                        <a:moveTo>
                          <a:pt x="0" y="106680"/>
                        </a:moveTo>
                        <a:quadBezTo>
                          <a:pt x="35560" y="5926"/>
                          <a:pt x="171873" y="0"/>
                        </a:quadBezTo>
                        <a:lnTo>
                          <a:pt x="266700" y="0"/>
                        </a:lnTo>
                        <a:quadBezTo>
                          <a:pt x="403013" y="11853"/>
                          <a:pt x="432646" y="136313"/>
                        </a:quadBezTo>
                        <a:lnTo>
                          <a:pt x="379306" y="408940"/>
                        </a:lnTo>
                        <a:lnTo>
                          <a:pt x="59266" y="408940"/>
                        </a:lnTo>
                        <a:close/>
                      </a:path>
                    </a:pathLst>
                  </a:custGeom>
                  <a:solidFill>
                    <a:srgbClr val="E2EEF3"/>
                  </a:solidFill>
                  <a:ln w="13039" cap="rnd" cmpd="sng" algn="ctr">
                    <a:solidFill>
                      <a:srgbClr val="243E42"/>
                    </a:solidFill>
                    <a:prstDash val="solid"/>
                    <a:round/>
                    <a:headEnd type="none" w="med" len="med"/>
                    <a:tailEnd type="none" w="med" len="med"/>
                  </a:ln>
                </p:spPr>
              </p:sp>
              <p:sp>
                <p:nvSpPr>
                  <p:cNvPr id="1139" name="path · 119"/>
                  <p:cNvSpPr/>
                  <p:nvPr/>
                </p:nvSpPr>
                <p:spPr>
                  <a:xfrm>
                    <a:off x="8451427" y="3511550"/>
                    <a:ext cx="521547" cy="260773"/>
                  </a:xfrm>
                  <a:custGeom>
                    <a:avLst/>
                    <a:gdLst/>
                    <a:ahLst/>
                    <a:cxnLst/>
                    <a:rect l="0" t="0" r="r" b="b"/>
                    <a:pathLst>
                      <a:path w="521547" h="260773" fill="none" stroke="1" extrusionOk="0">
                        <a:moveTo>
                          <a:pt x="100753" y="11853"/>
                        </a:moveTo>
                        <a:lnTo>
                          <a:pt x="0" y="124460"/>
                        </a:lnTo>
                        <a:lnTo>
                          <a:pt x="88900" y="242993"/>
                        </a:lnTo>
                        <a:moveTo>
                          <a:pt x="391160" y="0"/>
                        </a:moveTo>
                        <a:lnTo>
                          <a:pt x="521546" y="130387"/>
                        </a:lnTo>
                        <a:lnTo>
                          <a:pt x="474133" y="260773"/>
                        </a:lnTo>
                      </a:path>
                    </a:pathLst>
                  </a:custGeom>
                  <a:noFill/>
                  <a:ln w="53340" cap="rnd" cmpd="sng" algn="ctr">
                    <a:solidFill>
                      <a:srgbClr val="E2EEF3"/>
                    </a:solidFill>
                    <a:prstDash val="solid"/>
                    <a:round/>
                    <a:headEnd type="none" w="med" len="med"/>
                    <a:tailEnd type="none" w="med" len="med"/>
                  </a:ln>
                </p:spPr>
              </p:sp>
              <p:sp>
                <p:nvSpPr>
                  <p:cNvPr id="1140" name="circle · 120"/>
                  <p:cNvSpPr/>
                  <p:nvPr/>
                </p:nvSpPr>
                <p:spPr>
                  <a:xfrm>
                    <a:off x="8552180" y="3215217"/>
                    <a:ext cx="272627" cy="272627"/>
                  </a:xfrm>
                  <a:prstGeom prst="ellipse">
                    <a:avLst/>
                  </a:prstGeom>
                  <a:solidFill>
                    <a:srgbClr val="F4DFD3"/>
                  </a:solidFill>
                  <a:ln w="13039" cap="rnd" cmpd="sng" algn="ctr">
                    <a:solidFill>
                      <a:srgbClr val="243E42"/>
                    </a:solidFill>
                    <a:prstDash val="solid"/>
                    <a:round/>
                    <a:headEnd type="none" w="med" len="med"/>
                    <a:tailEnd type="none" w="med" len="med"/>
                  </a:ln>
                </p:spPr>
              </p:sp>
              <p:sp>
                <p:nvSpPr>
                  <p:cNvPr id="1141" name="path · 121"/>
                  <p:cNvSpPr/>
                  <p:nvPr/>
                </p:nvSpPr>
                <p:spPr>
                  <a:xfrm>
                    <a:off x="8528473" y="3179657"/>
                    <a:ext cx="320040" cy="165947"/>
                  </a:xfrm>
                  <a:custGeom>
                    <a:avLst/>
                    <a:gdLst/>
                    <a:ahLst/>
                    <a:cxnLst/>
                    <a:rect l="0" t="0" r="r" b="b"/>
                    <a:pathLst>
                      <a:path w="320040" h="165947" fill="norm" stroke="1" extrusionOk="0">
                        <a:moveTo>
                          <a:pt x="29634" y="154093"/>
                        </a:moveTo>
                        <a:quadBezTo>
                          <a:pt x="0" y="11853"/>
                          <a:pt x="154094" y="5926"/>
                        </a:quadBezTo>
                        <a:quadBezTo>
                          <a:pt x="320040" y="0"/>
                          <a:pt x="308187" y="165946"/>
                        </a:quadBezTo>
                        <a:lnTo>
                          <a:pt x="248920" y="130386"/>
                        </a:lnTo>
                        <a:lnTo>
                          <a:pt x="231140" y="59266"/>
                        </a:lnTo>
                        <a:quadBezTo>
                          <a:pt x="154094" y="124460"/>
                          <a:pt x="29634" y="118533"/>
                        </a:quadBezTo>
                        <a:close/>
                      </a:path>
                    </a:pathLst>
                  </a:custGeom>
                  <a:solidFill>
                    <a:srgbClr val="243E42"/>
                  </a:solidFill>
                  <a:ln w="13039" cap="rnd" cmpd="sng" algn="ctr">
                    <a:solidFill>
                      <a:srgbClr val="243E42"/>
                    </a:solidFill>
                    <a:prstDash val="solid"/>
                    <a:round/>
                    <a:headEnd type="none" w="med" len="med"/>
                    <a:tailEnd type="none" w="med" len="med"/>
                  </a:ln>
                </p:spPr>
              </p:sp>
              <p:sp>
                <p:nvSpPr>
                  <p:cNvPr id="1142" name="path · 122"/>
                  <p:cNvSpPr/>
                  <p:nvPr/>
                </p:nvSpPr>
                <p:spPr>
                  <a:xfrm>
                    <a:off x="8670713" y="3333750"/>
                    <a:ext cx="88900" cy="41487"/>
                  </a:xfrm>
                  <a:custGeom>
                    <a:avLst/>
                    <a:gdLst/>
                    <a:ahLst/>
                    <a:cxnLst/>
                    <a:rect l="0" t="0" r="r" b="b"/>
                    <a:pathLst>
                      <a:path w="88900" h="41487" fill="none" stroke="1" extrusionOk="0">
                        <a:moveTo>
                          <a:pt x="0" y="0"/>
                        </a:moveTo>
                        <a:lnTo>
                          <a:pt x="0" y="41487"/>
                        </a:lnTo>
                        <a:moveTo>
                          <a:pt x="88900" y="0"/>
                        </a:moveTo>
                        <a:lnTo>
                          <a:pt x="88900" y="41487"/>
                        </a:lnTo>
                      </a:path>
                    </a:pathLst>
                  </a:custGeom>
                  <a:noFill/>
                  <a:ln w="15409" cap="rnd" cmpd="sng" algn="ctr">
                    <a:solidFill>
                      <a:srgbClr val="243E42"/>
                    </a:solidFill>
                    <a:prstDash val="solid"/>
                    <a:round/>
                    <a:headEnd type="none" w="med" len="med"/>
                    <a:tailEnd type="none" w="med" len="med"/>
                  </a:ln>
                </p:spPr>
              </p:sp>
              <p:sp>
                <p:nvSpPr>
                  <p:cNvPr id="1143" name="path · 123"/>
                  <p:cNvSpPr/>
                  <p:nvPr/>
                </p:nvSpPr>
                <p:spPr>
                  <a:xfrm>
                    <a:off x="8676640" y="3410797"/>
                    <a:ext cx="65193" cy="29633"/>
                  </a:xfrm>
                  <a:custGeom>
                    <a:avLst/>
                    <a:gdLst/>
                    <a:ahLst/>
                    <a:cxnLst/>
                    <a:rect l="0" t="0" r="r" b="b"/>
                    <a:pathLst>
                      <a:path w="65193" h="29633" fill="none" stroke="1" extrusionOk="0">
                        <a:moveTo>
                          <a:pt x="0" y="5926"/>
                        </a:moveTo>
                        <a:quadBezTo>
                          <a:pt x="35560" y="29633"/>
                          <a:pt x="65193" y="0"/>
                        </a:quadBezTo>
                      </a:path>
                    </a:pathLst>
                  </a:custGeom>
                  <a:noFill/>
                  <a:ln w="13039" cap="rnd" cmpd="sng" algn="ctr">
                    <a:solidFill>
                      <a:srgbClr val="243E42"/>
                    </a:solidFill>
                    <a:prstDash val="solid"/>
                    <a:round/>
                    <a:headEnd type="none" w="med" len="med"/>
                    <a:tailEnd type="none" w="med" len="med"/>
                  </a:ln>
                </p:spPr>
              </p:sp>
              <p:sp>
                <p:nvSpPr>
                  <p:cNvPr id="1144" name="path · 124"/>
                  <p:cNvSpPr/>
                  <p:nvPr/>
                </p:nvSpPr>
                <p:spPr>
                  <a:xfrm>
                    <a:off x="8504767" y="3594523"/>
                    <a:ext cx="521547" cy="231140"/>
                  </a:xfrm>
                  <a:custGeom>
                    <a:avLst/>
                    <a:gdLst/>
                    <a:ahLst/>
                    <a:cxnLst/>
                    <a:rect l="0" t="0" r="r" b="b"/>
                    <a:pathLst>
                      <a:path w="521547" h="231140" fill="norm" stroke="1" extrusionOk="0">
                        <a:moveTo>
                          <a:pt x="0" y="106680"/>
                        </a:moveTo>
                        <a:lnTo>
                          <a:pt x="320040" y="0"/>
                        </a:lnTo>
                        <a:lnTo>
                          <a:pt x="521546" y="112607"/>
                        </a:lnTo>
                        <a:lnTo>
                          <a:pt x="201506" y="231140"/>
                        </a:lnTo>
                        <a:close/>
                      </a:path>
                    </a:pathLst>
                  </a:custGeom>
                  <a:solidFill>
                    <a:srgbClr val="F6EAC8"/>
                  </a:solidFill>
                  <a:ln w="13039" cap="rnd" cmpd="sng" algn="ctr">
                    <a:solidFill>
                      <a:srgbClr val="243E42"/>
                    </a:solidFill>
                    <a:prstDash val="solid"/>
                    <a:round/>
                    <a:headEnd type="none" w="med" len="med"/>
                    <a:tailEnd type="none" w="med" len="med"/>
                  </a:ln>
                </p:spPr>
              </p:sp>
              <p:sp>
                <p:nvSpPr>
                  <p:cNvPr id="1145" name="path · 125"/>
                  <p:cNvSpPr/>
                  <p:nvPr/>
                </p:nvSpPr>
                <p:spPr>
                  <a:xfrm>
                    <a:off x="8504767" y="3701203"/>
                    <a:ext cx="521547" cy="325967"/>
                  </a:xfrm>
                  <a:custGeom>
                    <a:avLst/>
                    <a:gdLst/>
                    <a:ahLst/>
                    <a:cxnLst/>
                    <a:rect l="0" t="0" r="r" b="b"/>
                    <a:pathLst>
                      <a:path w="521547" h="325967" fill="norm" stroke="1" extrusionOk="0">
                        <a:moveTo>
                          <a:pt x="0" y="0"/>
                        </a:moveTo>
                        <a:lnTo>
                          <a:pt x="201506" y="124460"/>
                        </a:lnTo>
                        <a:lnTo>
                          <a:pt x="201506" y="325967"/>
                        </a:lnTo>
                        <a:lnTo>
                          <a:pt x="0" y="207434"/>
                        </a:lnTo>
                        <a:close/>
                        <a:moveTo>
                          <a:pt x="201506" y="124460"/>
                        </a:moveTo>
                        <a:lnTo>
                          <a:pt x="521546" y="5927"/>
                        </a:lnTo>
                        <a:lnTo>
                          <a:pt x="521546" y="213360"/>
                        </a:lnTo>
                        <a:lnTo>
                          <a:pt x="201506" y="325967"/>
                        </a:lnTo>
                        <a:close/>
                      </a:path>
                    </a:pathLst>
                  </a:custGeom>
                  <a:solidFill>
                    <a:srgbClr val="F6EAC8"/>
                  </a:solidFill>
                  <a:ln w="13039" cap="rnd" cmpd="sng" algn="ctr">
                    <a:solidFill>
                      <a:srgbClr val="243E42"/>
                    </a:solidFill>
                    <a:prstDash val="solid"/>
                    <a:round/>
                    <a:headEnd type="none" w="med" len="med"/>
                    <a:tailEnd type="none" w="med" len="med"/>
                  </a:ln>
                </p:spPr>
              </p:sp>
              <p:sp>
                <p:nvSpPr>
                  <p:cNvPr id="1146" name="path · 126"/>
                  <p:cNvSpPr/>
                  <p:nvPr/>
                </p:nvSpPr>
                <p:spPr>
                  <a:xfrm>
                    <a:off x="8593667" y="3653790"/>
                    <a:ext cx="272627" cy="237067"/>
                  </a:xfrm>
                  <a:custGeom>
                    <a:avLst/>
                    <a:gdLst/>
                    <a:ahLst/>
                    <a:cxnLst/>
                    <a:rect l="0" t="0" r="r" b="b"/>
                    <a:pathLst>
                      <a:path w="272627" h="237067" fill="norm" stroke="1" extrusionOk="0">
                        <a:moveTo>
                          <a:pt x="59266" y="0"/>
                        </a:moveTo>
                        <a:lnTo>
                          <a:pt x="272626" y="118533"/>
                        </a:lnTo>
                        <a:lnTo>
                          <a:pt x="272626" y="213360"/>
                        </a:lnTo>
                        <a:lnTo>
                          <a:pt x="213360" y="237067"/>
                        </a:lnTo>
                        <a:lnTo>
                          <a:pt x="213360" y="142240"/>
                        </a:lnTo>
                        <a:lnTo>
                          <a:pt x="0" y="23707"/>
                        </a:lnTo>
                      </a:path>
                    </a:pathLst>
                  </a:custGeom>
                  <a:solidFill>
                    <a:srgbClr val="FFFFFF"/>
                  </a:solidFill>
                  <a:ln w="13039" cap="rnd" cmpd="sng" algn="ctr">
                    <a:solidFill>
                      <a:srgbClr val="243E42"/>
                    </a:solidFill>
                    <a:prstDash val="solid"/>
                    <a:round/>
                    <a:headEnd type="none" w="med" len="med"/>
                    <a:tailEnd type="none" w="med" len="med"/>
                  </a:ln>
                </p:spPr>
              </p:sp>
              <p:sp>
                <p:nvSpPr>
                  <p:cNvPr id="1147" name="circle · 127"/>
                  <p:cNvSpPr/>
                  <p:nvPr/>
                </p:nvSpPr>
                <p:spPr>
                  <a:xfrm>
                    <a:off x="8492913" y="3701203"/>
                    <a:ext cx="82973" cy="82973"/>
                  </a:xfrm>
                  <a:prstGeom prst="ellipse">
                    <a:avLst/>
                  </a:prstGeom>
                  <a:solidFill>
                    <a:srgbClr val="F4DFD3"/>
                  </a:solidFill>
                  <a:ln w="13039" cap="rnd" cmpd="sng" algn="ctr">
                    <a:solidFill>
                      <a:srgbClr val="243E42"/>
                    </a:solidFill>
                    <a:prstDash val="solid"/>
                    <a:round/>
                    <a:headEnd type="none" w="med" len="med"/>
                    <a:tailEnd type="none" w="med" len="med"/>
                  </a:ln>
                </p:spPr>
              </p:sp>
              <p:sp>
                <p:nvSpPr>
                  <p:cNvPr id="1148" name="circle · 128"/>
                  <p:cNvSpPr/>
                  <p:nvPr/>
                </p:nvSpPr>
                <p:spPr>
                  <a:xfrm>
                    <a:off x="8913707" y="3724910"/>
                    <a:ext cx="82973" cy="82973"/>
                  </a:xfrm>
                  <a:prstGeom prst="ellipse">
                    <a:avLst/>
                  </a:prstGeom>
                  <a:solidFill>
                    <a:srgbClr val="F4DFD3"/>
                  </a:solidFill>
                  <a:ln w="13039" cap="rnd" cmpd="sng" algn="ctr">
                    <a:solidFill>
                      <a:srgbClr val="243E42"/>
                    </a:solidFill>
                    <a:prstDash val="solid"/>
                    <a:round/>
                    <a:headEnd type="none" w="med" len="med"/>
                    <a:tailEnd type="none" w="med" len="med"/>
                  </a:ln>
                </p:spPr>
              </p:sp>
            </p:grpSp>
            <p:grpSp>
              <p:nvGrpSpPr>
                <p:cNvPr id="1149" name="customer-confirmation · 132"/>
                <p:cNvGrpSpPr/>
                <p:nvPr/>
              </p:nvGrpSpPr>
              <p:grpSpPr>
                <a:xfrm>
                  <a:off x="8832850" y="3263900"/>
                  <a:ext cx="355600" cy="355600"/>
                  <a:chOff x="8832850" y="3263900"/>
                  <a:chExt cx="355600" cy="355600"/>
                </a:xfrm>
              </p:grpSpPr>
              <p:sp>
                <p:nvSpPr>
                  <p:cNvPr id="1150" name="circle · 130"/>
                  <p:cNvSpPr/>
                  <p:nvPr/>
                </p:nvSpPr>
                <p:spPr>
                  <a:xfrm>
                    <a:off x="8832850" y="3263900"/>
                    <a:ext cx="355600" cy="355600"/>
                  </a:xfrm>
                  <a:prstGeom prst="ellipse">
                    <a:avLst/>
                  </a:prstGeom>
                  <a:solidFill>
                    <a:srgbClr val="D7EBE1"/>
                  </a:solidFill>
                  <a:ln w="12700" cap="flat" cmpd="sng" algn="ctr">
                    <a:solidFill>
                      <a:srgbClr val="2E6653"/>
                    </a:solidFill>
                    <a:prstDash val="solid"/>
                    <a:miter lim="400000"/>
                    <a:headEnd type="none" w="med" len="med"/>
                    <a:tailEnd type="none" w="med" len="med"/>
                  </a:ln>
                </p:spPr>
              </p:sp>
              <p:sp>
                <p:nvSpPr>
                  <p:cNvPr id="1151" name="path · 131"/>
                  <p:cNvSpPr/>
                  <p:nvPr/>
                </p:nvSpPr>
                <p:spPr>
                  <a:xfrm>
                    <a:off x="8928100" y="3378200"/>
                    <a:ext cx="165100" cy="120650"/>
                  </a:xfrm>
                  <a:custGeom>
                    <a:avLst/>
                    <a:gdLst/>
                    <a:ahLst/>
                    <a:cxnLst/>
                    <a:rect l="0" t="0" r="r" b="b"/>
                    <a:pathLst>
                      <a:path w="165100" h="120650" fill="none" stroke="1" extrusionOk="0">
                        <a:moveTo>
                          <a:pt x="0" y="63500"/>
                        </a:moveTo>
                        <a:lnTo>
                          <a:pt x="57150" y="120650"/>
                        </a:lnTo>
                        <a:lnTo>
                          <a:pt x="165100" y="0"/>
                        </a:lnTo>
                      </a:path>
                    </a:pathLst>
                  </a:custGeom>
                  <a:noFill/>
                  <a:ln w="25400" cap="rnd" cmpd="sng" algn="ctr">
                    <a:solidFill>
                      <a:srgbClr val="2E6653"/>
                    </a:solidFill>
                    <a:prstDash val="solid"/>
                    <a:round/>
                    <a:headEnd type="none" w="med" len="med"/>
                    <a:tailEnd type="none" w="med" len="med"/>
                  </a:ln>
                </p:spPr>
              </p:sp>
            </p:grpSp>
            <p:sp>
              <p:nvSpPr>
                <p:cNvPr id="1152" name="text · 133"/>
                <p:cNvSpPr txBox="1"/>
                <p:nvPr/>
              </p:nvSpPr>
              <p:spPr>
                <a:xfrm>
                  <a:off x="8256292" y="4265650"/>
                  <a:ext cx="848314" cy="32946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322"/>
                    </a:lnSpc>
                    <a:spcBef>
                      <a:spcPts val="0"/>
                    </a:spcBef>
                    <a:spcAft>
                      <a:spcPts val="0"/>
                    </a:spcAft>
                  </a:pPr>
                  <a:r>
                    <a:rPr lang="en-US" sz="1700" b="1" i="0" kern="0" spc="0" dirty="0">
                      <a:solidFill>
                        <a:srgbClr val="243E42"/>
                      </a:solidFill>
                      <a:latin typeface="Manrope"/>
                      <a:ea typeface="Manrope"/>
                      <a:cs typeface="Manrope"/>
                    </a:rPr>
                    <a:t>Confirm</a:t>
                  </a:r>
                  <a:endParaRPr lang="en-US" sz="1700"/>
                </a:p>
              </p:txBody>
            </p:sp>
            <p:grpSp>
              <p:nvGrpSpPr>
                <p:cNvPr id="1153" name="parcel · 143"/>
                <p:cNvGrpSpPr/>
                <p:nvPr/>
              </p:nvGrpSpPr>
              <p:grpSpPr>
                <a:xfrm>
                  <a:off x="10122288" y="3290923"/>
                  <a:ext cx="1187909" cy="1030570"/>
                  <a:chOff x="10122288" y="3290923"/>
                  <a:chExt cx="1187909" cy="1030570"/>
                </a:xfrm>
              </p:grpSpPr>
              <p:sp>
                <p:nvSpPr>
                  <p:cNvPr id="1154" name="path · 134"/>
                  <p:cNvSpPr/>
                  <p:nvPr/>
                </p:nvSpPr>
                <p:spPr>
                  <a:xfrm>
                    <a:off x="10169490" y="3511197"/>
                    <a:ext cx="1054171" cy="424815"/>
                  </a:xfrm>
                  <a:custGeom>
                    <a:avLst/>
                    <a:gdLst/>
                    <a:ahLst/>
                    <a:cxnLst/>
                    <a:rect l="0" t="0" r="r" b="b"/>
                    <a:pathLst>
                      <a:path w="1054171" h="424815" fill="norm" stroke="1" extrusionOk="0">
                        <a:moveTo>
                          <a:pt x="0" y="188807"/>
                        </a:moveTo>
                        <a:lnTo>
                          <a:pt x="590021" y="0"/>
                        </a:lnTo>
                        <a:lnTo>
                          <a:pt x="1054170" y="220275"/>
                        </a:lnTo>
                        <a:lnTo>
                          <a:pt x="464149" y="424815"/>
                        </a:lnTo>
                        <a:close/>
                      </a:path>
                    </a:pathLst>
                  </a:custGeom>
                  <a:solidFill>
                    <a:srgbClr val="F6EAC8"/>
                  </a:solidFill>
                  <a:ln w="17307" cap="rnd" cmpd="sng" algn="ctr">
                    <a:solidFill>
                      <a:srgbClr val="243E42"/>
                    </a:solidFill>
                    <a:prstDash val="solid"/>
                    <a:round/>
                    <a:headEnd type="none" w="med" len="med"/>
                    <a:tailEnd type="none" w="med" len="med"/>
                  </a:ln>
                </p:spPr>
              </p:sp>
              <p:sp>
                <p:nvSpPr>
                  <p:cNvPr id="1155" name="path · 135"/>
                  <p:cNvSpPr/>
                  <p:nvPr/>
                </p:nvSpPr>
                <p:spPr>
                  <a:xfrm>
                    <a:off x="10169490" y="3700004"/>
                    <a:ext cx="1054171" cy="613622"/>
                  </a:xfrm>
                  <a:custGeom>
                    <a:avLst/>
                    <a:gdLst/>
                    <a:ahLst/>
                    <a:cxnLst/>
                    <a:rect l="0" t="0" r="r" b="b"/>
                    <a:pathLst>
                      <a:path w="1054171" h="613622" fill="norm" stroke="1" extrusionOk="0">
                        <a:moveTo>
                          <a:pt x="0" y="0"/>
                        </a:moveTo>
                        <a:lnTo>
                          <a:pt x="464149" y="236008"/>
                        </a:lnTo>
                        <a:lnTo>
                          <a:pt x="464149" y="613622"/>
                        </a:lnTo>
                        <a:lnTo>
                          <a:pt x="0" y="369746"/>
                        </a:lnTo>
                        <a:close/>
                        <a:moveTo>
                          <a:pt x="464149" y="236008"/>
                        </a:moveTo>
                        <a:lnTo>
                          <a:pt x="1054170" y="31468"/>
                        </a:lnTo>
                        <a:lnTo>
                          <a:pt x="1054170" y="416948"/>
                        </a:lnTo>
                        <a:lnTo>
                          <a:pt x="464149" y="613622"/>
                        </a:lnTo>
                        <a:close/>
                      </a:path>
                    </a:pathLst>
                  </a:custGeom>
                  <a:solidFill>
                    <a:srgbClr val="F6EAC8"/>
                  </a:solidFill>
                  <a:ln w="17307" cap="rnd" cmpd="sng" algn="ctr">
                    <a:solidFill>
                      <a:srgbClr val="243E42"/>
                    </a:solidFill>
                    <a:prstDash val="solid"/>
                    <a:round/>
                    <a:headEnd type="none" w="med" len="med"/>
                    <a:tailEnd type="none" w="med" len="med"/>
                  </a:ln>
                </p:spPr>
              </p:sp>
              <p:sp>
                <p:nvSpPr>
                  <p:cNvPr id="1156" name="path · 136"/>
                  <p:cNvSpPr/>
                  <p:nvPr/>
                </p:nvSpPr>
                <p:spPr>
                  <a:xfrm>
                    <a:off x="10326829" y="3613467"/>
                    <a:ext cx="605755" cy="472017"/>
                  </a:xfrm>
                  <a:custGeom>
                    <a:avLst/>
                    <a:gdLst/>
                    <a:ahLst/>
                    <a:cxnLst/>
                    <a:rect l="0" t="0" r="r" b="b"/>
                    <a:pathLst>
                      <a:path w="605755" h="472017" fill="norm" stroke="1" extrusionOk="0">
                        <a:moveTo>
                          <a:pt x="118004" y="0"/>
                        </a:moveTo>
                        <a:lnTo>
                          <a:pt x="605754" y="220275"/>
                        </a:lnTo>
                        <a:lnTo>
                          <a:pt x="605754" y="432682"/>
                        </a:lnTo>
                        <a:lnTo>
                          <a:pt x="487750" y="472017"/>
                        </a:lnTo>
                        <a:lnTo>
                          <a:pt x="487750" y="267477"/>
                        </a:lnTo>
                        <a:lnTo>
                          <a:pt x="0" y="47202"/>
                        </a:lnTo>
                      </a:path>
                    </a:pathLst>
                  </a:custGeom>
                  <a:solidFill>
                    <a:srgbClr val="FFFFFF"/>
                  </a:solidFill>
                  <a:ln w="17307" cap="rnd" cmpd="sng" algn="ctr">
                    <a:solidFill>
                      <a:srgbClr val="243E42"/>
                    </a:solidFill>
                    <a:prstDash val="solid"/>
                    <a:round/>
                    <a:headEnd type="none" w="med" len="med"/>
                    <a:tailEnd type="none" w="med" len="med"/>
                  </a:ln>
                </p:spPr>
              </p:sp>
              <p:sp>
                <p:nvSpPr>
                  <p:cNvPr id="1157" name="path · 137"/>
                  <p:cNvSpPr/>
                  <p:nvPr/>
                </p:nvSpPr>
                <p:spPr>
                  <a:xfrm>
                    <a:off x="10122288" y="3290923"/>
                    <a:ext cx="597888" cy="165206"/>
                  </a:xfrm>
                  <a:custGeom>
                    <a:avLst/>
                    <a:gdLst/>
                    <a:ahLst/>
                    <a:cxnLst/>
                    <a:rect l="0" t="0" r="r" b="b"/>
                    <a:pathLst>
                      <a:path w="597888" h="165206" fill="none" stroke="1" extrusionOk="0">
                        <a:moveTo>
                          <a:pt x="283210" y="165206"/>
                        </a:moveTo>
                        <a:lnTo>
                          <a:pt x="78670" y="165206"/>
                        </a:lnTo>
                        <a:quadBezTo>
                          <a:pt x="0" y="165206"/>
                          <a:pt x="0" y="86536"/>
                        </a:quadBezTo>
                        <a:quadBezTo>
                          <a:pt x="0" y="0"/>
                          <a:pt x="78670" y="0"/>
                        </a:quadBezTo>
                        <a:lnTo>
                          <a:pt x="597888" y="0"/>
                        </a:lnTo>
                      </a:path>
                    </a:pathLst>
                  </a:custGeom>
                  <a:noFill/>
                  <a:ln w="62936" cap="rnd" cmpd="sng" algn="ctr">
                    <a:solidFill>
                      <a:srgbClr val="2E6653"/>
                    </a:solidFill>
                    <a:prstDash val="solid"/>
                    <a:round/>
                    <a:headEnd type="none" w="med" len="med"/>
                    <a:tailEnd type="none" w="med" len="med"/>
                  </a:ln>
                </p:spPr>
              </p:sp>
              <p:sp>
                <p:nvSpPr>
                  <p:cNvPr id="1158" name="path · 138"/>
                  <p:cNvSpPr/>
                  <p:nvPr/>
                </p:nvSpPr>
                <p:spPr>
                  <a:xfrm>
                    <a:off x="10334696" y="3377459"/>
                    <a:ext cx="102270" cy="157339"/>
                  </a:xfrm>
                  <a:custGeom>
                    <a:avLst/>
                    <a:gdLst/>
                    <a:ahLst/>
                    <a:cxnLst/>
                    <a:rect l="0" t="0" r="r" b="b"/>
                    <a:pathLst>
                      <a:path w="102270" h="157339" fill="none" stroke="1" extrusionOk="0">
                        <a:moveTo>
                          <a:pt x="0" y="0"/>
                        </a:moveTo>
                        <a:lnTo>
                          <a:pt x="102270" y="78670"/>
                        </a:lnTo>
                        <a:lnTo>
                          <a:pt x="0" y="157339"/>
                        </a:lnTo>
                      </a:path>
                    </a:pathLst>
                  </a:custGeom>
                  <a:noFill/>
                  <a:ln w="55069" cap="rnd" cmpd="sng" algn="ctr">
                    <a:solidFill>
                      <a:srgbClr val="2E6653"/>
                    </a:solidFill>
                    <a:prstDash val="solid"/>
                    <a:round/>
                    <a:headEnd type="none" w="med" len="med"/>
                    <a:tailEnd type="none" w="med" len="med"/>
                  </a:ln>
                </p:spPr>
              </p:sp>
              <p:sp>
                <p:nvSpPr>
                  <p:cNvPr id="1159" name="path · 139"/>
                  <p:cNvSpPr/>
                  <p:nvPr/>
                </p:nvSpPr>
                <p:spPr>
                  <a:xfrm>
                    <a:off x="10893249" y="3904544"/>
                    <a:ext cx="385480" cy="416948"/>
                  </a:xfrm>
                  <a:custGeom>
                    <a:avLst/>
                    <a:gdLst/>
                    <a:ahLst/>
                    <a:cxnLst/>
                    <a:rect l="0" t="0" r="r" b="b"/>
                    <a:pathLst>
                      <a:path w="385480" h="416948" fill="norm" stroke="1" extrusionOk="0">
                        <a:moveTo>
                          <a:pt x="0" y="0"/>
                        </a:moveTo>
                        <a:lnTo>
                          <a:pt x="385480" y="0"/>
                        </a:lnTo>
                        <a:lnTo>
                          <a:pt x="385480" y="416948"/>
                        </a:lnTo>
                        <a:lnTo>
                          <a:pt x="0" y="416948"/>
                        </a:lnTo>
                        <a:close/>
                      </a:path>
                    </a:pathLst>
                  </a:custGeom>
                  <a:solidFill>
                    <a:srgbClr val="FFFFFF"/>
                  </a:solidFill>
                  <a:ln w="17307" cap="rnd" cmpd="sng" algn="ctr">
                    <a:solidFill>
                      <a:srgbClr val="243E42"/>
                    </a:solidFill>
                    <a:prstDash val="solid"/>
                    <a:round/>
                    <a:headEnd type="none" w="med" len="med"/>
                    <a:tailEnd type="none" w="med" len="med"/>
                  </a:ln>
                </p:spPr>
              </p:sp>
              <p:sp>
                <p:nvSpPr>
                  <p:cNvPr id="1160" name="path · 140"/>
                  <p:cNvSpPr/>
                  <p:nvPr/>
                </p:nvSpPr>
                <p:spPr>
                  <a:xfrm>
                    <a:off x="10956184" y="3991081"/>
                    <a:ext cx="243875" cy="251742"/>
                  </a:xfrm>
                  <a:custGeom>
                    <a:avLst/>
                    <a:gdLst/>
                    <a:ahLst/>
                    <a:cxnLst/>
                    <a:rect l="0" t="0" r="r" b="b"/>
                    <a:pathLst>
                      <a:path w="243875" h="251742" fill="none" stroke="1" extrusionOk="0">
                        <a:moveTo>
                          <a:pt x="0" y="0"/>
                        </a:moveTo>
                        <a:lnTo>
                          <a:pt x="243875" y="0"/>
                        </a:lnTo>
                        <a:moveTo>
                          <a:pt x="0" y="62935"/>
                        </a:moveTo>
                        <a:lnTo>
                          <a:pt x="133738" y="62935"/>
                        </a:lnTo>
                        <a:moveTo>
                          <a:pt x="7867" y="165206"/>
                        </a:moveTo>
                        <a:lnTo>
                          <a:pt x="7867" y="251742"/>
                        </a:lnTo>
                        <a:moveTo>
                          <a:pt x="47202" y="165206"/>
                        </a:moveTo>
                        <a:lnTo>
                          <a:pt x="47202" y="251742"/>
                        </a:lnTo>
                        <a:moveTo>
                          <a:pt x="94404" y="165206"/>
                        </a:moveTo>
                        <a:lnTo>
                          <a:pt x="94404" y="251742"/>
                        </a:lnTo>
                        <a:moveTo>
                          <a:pt x="157339" y="165206"/>
                        </a:moveTo>
                        <a:lnTo>
                          <a:pt x="157339" y="251742"/>
                        </a:lnTo>
                        <a:moveTo>
                          <a:pt x="196674" y="165206"/>
                        </a:moveTo>
                        <a:lnTo>
                          <a:pt x="196674" y="251742"/>
                        </a:lnTo>
                        <a:moveTo>
                          <a:pt x="236008" y="165206"/>
                        </a:moveTo>
                        <a:lnTo>
                          <a:pt x="236008" y="251742"/>
                        </a:lnTo>
                      </a:path>
                    </a:pathLst>
                  </a:custGeom>
                  <a:noFill/>
                  <a:ln w="17307" cap="rnd" cmpd="sng" algn="ctr">
                    <a:solidFill>
                      <a:srgbClr val="243E42"/>
                    </a:solidFill>
                    <a:prstDash val="solid"/>
                    <a:round/>
                    <a:headEnd type="none" w="med" len="med"/>
                    <a:tailEnd type="none" w="med" len="med"/>
                  </a:ln>
                </p:spPr>
              </p:sp>
              <p:sp>
                <p:nvSpPr>
                  <p:cNvPr id="1161" name="circle · 141"/>
                  <p:cNvSpPr/>
                  <p:nvPr/>
                </p:nvSpPr>
                <p:spPr>
                  <a:xfrm>
                    <a:off x="10964051" y="3487596"/>
                    <a:ext cx="346146" cy="346146"/>
                  </a:xfrm>
                  <a:prstGeom prst="ellipse">
                    <a:avLst/>
                  </a:prstGeom>
                  <a:solidFill>
                    <a:srgbClr val="D7EBE1"/>
                  </a:solidFill>
                  <a:ln w="17307" cap="rnd" cmpd="sng" algn="ctr">
                    <a:solidFill>
                      <a:srgbClr val="243E42"/>
                    </a:solidFill>
                    <a:prstDash val="solid"/>
                    <a:round/>
                    <a:headEnd type="none" w="med" len="med"/>
                    <a:tailEnd type="none" w="med" len="med"/>
                  </a:ln>
                </p:spPr>
              </p:sp>
              <p:sp>
                <p:nvSpPr>
                  <p:cNvPr id="1162" name="path · 142"/>
                  <p:cNvSpPr/>
                  <p:nvPr/>
                </p:nvSpPr>
                <p:spPr>
                  <a:xfrm>
                    <a:off x="11042721" y="3574133"/>
                    <a:ext cx="180940" cy="149472"/>
                  </a:xfrm>
                  <a:custGeom>
                    <a:avLst/>
                    <a:gdLst/>
                    <a:ahLst/>
                    <a:cxnLst/>
                    <a:rect l="0" t="0" r="r" b="b"/>
                    <a:pathLst>
                      <a:path w="180940" h="149472" fill="none" stroke="1" extrusionOk="0">
                        <a:moveTo>
                          <a:pt x="0" y="86536"/>
                        </a:moveTo>
                        <a:lnTo>
                          <a:pt x="62935" y="149472"/>
                        </a:lnTo>
                        <a:lnTo>
                          <a:pt x="180939" y="0"/>
                        </a:lnTo>
                      </a:path>
                    </a:pathLst>
                  </a:custGeom>
                  <a:noFill/>
                  <a:ln w="31468" cap="rnd" cmpd="sng" algn="ctr">
                    <a:solidFill>
                      <a:srgbClr val="2E6653"/>
                    </a:solidFill>
                    <a:prstDash val="solid"/>
                    <a:round/>
                    <a:headEnd type="none" w="med" len="med"/>
                    <a:tailEnd type="none" w="med" len="med"/>
                  </a:ln>
                </p:spPr>
              </p:sp>
            </p:grpSp>
            <p:grpSp>
              <p:nvGrpSpPr>
                <p:cNvPr id="1163" name="service-approval · 146"/>
                <p:cNvGrpSpPr/>
                <p:nvPr/>
              </p:nvGrpSpPr>
              <p:grpSpPr>
                <a:xfrm>
                  <a:off x="9645650" y="3486150"/>
                  <a:ext cx="330200" cy="482600"/>
                  <a:chOff x="9645650" y="3486150"/>
                  <a:chExt cx="330200" cy="482600"/>
                </a:xfrm>
              </p:grpSpPr>
              <p:sp>
                <p:nvSpPr>
                  <p:cNvPr id="1164" name="path · 144"/>
                  <p:cNvSpPr/>
                  <p:nvPr/>
                </p:nvSpPr>
                <p:spPr>
                  <a:xfrm>
                    <a:off x="9645650" y="3486150"/>
                    <a:ext cx="330200" cy="482600"/>
                  </a:xfrm>
                  <a:custGeom>
                    <a:avLst/>
                    <a:gdLst/>
                    <a:ahLst/>
                    <a:cxnLst/>
                    <a:rect l="0" t="0" r="r" b="b"/>
                    <a:pathLst>
                      <a:path w="330200" h="482600" fill="norm" stroke="1" extrusionOk="0">
                        <a:moveTo>
                          <a:pt x="165100" y="0"/>
                        </a:moveTo>
                        <a:lnTo>
                          <a:pt x="330200" y="57150"/>
                        </a:lnTo>
                        <a:lnTo>
                          <a:pt x="330200" y="215900"/>
                        </a:lnTo>
                        <a:cubicBezTo>
                          <a:pt x="330200" y="336550"/>
                          <a:pt x="260350" y="419100"/>
                          <a:pt x="165100" y="482600"/>
                        </a:cubicBezTo>
                        <a:cubicBezTo>
                          <a:pt x="69850" y="419100"/>
                          <a:pt x="0" y="336550"/>
                          <a:pt x="0" y="215900"/>
                        </a:cubicBezTo>
                        <a:lnTo>
                          <a:pt x="0" y="57150"/>
                        </a:lnTo>
                        <a:close/>
                      </a:path>
                    </a:pathLst>
                  </a:custGeom>
                  <a:solidFill>
                    <a:srgbClr val="E2EEF3"/>
                  </a:solidFill>
                  <a:ln w="15875" cap="flat" cmpd="sng" algn="ctr">
                    <a:solidFill>
                      <a:srgbClr val="355F72"/>
                    </a:solidFill>
                    <a:prstDash val="solid"/>
                    <a:miter lim="400000"/>
                    <a:headEnd type="none" w="med" len="med"/>
                    <a:tailEnd type="none" w="med" len="med"/>
                  </a:ln>
                </p:spPr>
              </p:sp>
              <p:sp>
                <p:nvSpPr>
                  <p:cNvPr id="1165" name="path · 145"/>
                  <p:cNvSpPr/>
                  <p:nvPr/>
                </p:nvSpPr>
                <p:spPr>
                  <a:xfrm>
                    <a:off x="9728200" y="3638550"/>
                    <a:ext cx="171450" cy="127000"/>
                  </a:xfrm>
                  <a:custGeom>
                    <a:avLst/>
                    <a:gdLst/>
                    <a:ahLst/>
                    <a:cxnLst/>
                    <a:rect l="0" t="0" r="r" b="b"/>
                    <a:pathLst>
                      <a:path w="171450" h="127000" fill="none" stroke="1" extrusionOk="0">
                        <a:moveTo>
                          <a:pt x="0" y="63500"/>
                        </a:moveTo>
                        <a:lnTo>
                          <a:pt x="63500" y="127000"/>
                        </a:lnTo>
                        <a:lnTo>
                          <a:pt x="171450" y="0"/>
                        </a:lnTo>
                      </a:path>
                    </a:pathLst>
                  </a:custGeom>
                  <a:noFill/>
                  <a:ln w="25400" cap="rnd" cmpd="sng" algn="ctr">
                    <a:solidFill>
                      <a:srgbClr val="355F72"/>
                    </a:solidFill>
                    <a:prstDash val="solid"/>
                    <a:round/>
                    <a:headEnd type="none" w="med" len="med"/>
                    <a:tailEnd type="none" w="med" len="med"/>
                  </a:ln>
                </p:spPr>
              </p:sp>
            </p:grpSp>
            <p:sp>
              <p:nvSpPr>
                <p:cNvPr id="1166" name="text · 147"/>
                <p:cNvSpPr txBox="1"/>
                <p:nvPr/>
              </p:nvSpPr>
              <p:spPr>
                <a:xfrm>
                  <a:off x="9676066" y="4285959"/>
                  <a:ext cx="1628267" cy="300391"/>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17"/>
                    </a:lnSpc>
                    <a:spcBef>
                      <a:spcPts val="0"/>
                    </a:spcBef>
                    <a:spcAft>
                      <a:spcPts val="0"/>
                    </a:spcAft>
                  </a:pPr>
                  <a:r>
                    <a:rPr lang="en-US" sz="1550" b="1" i="0" kern="0" spc="0" dirty="0">
                      <a:solidFill>
                        <a:srgbClr val="355F72"/>
                      </a:solidFill>
                      <a:latin typeface="Manrope"/>
                      <a:ea typeface="Manrope"/>
                      <a:cs typeface="Manrope"/>
                    </a:rPr>
                    <a:t>Service approves</a:t>
                  </a:r>
                  <a:endParaRPr lang="en-US" sz="1550"/>
                </a:p>
              </p:txBody>
            </p:sp>
            <p:sp>
              <p:nvSpPr>
                <p:cNvPr id="1167" name="text · 148"/>
                <p:cNvSpPr txBox="1"/>
                <p:nvPr/>
              </p:nvSpPr>
              <p:spPr>
                <a:xfrm>
                  <a:off x="9586816" y="4571287"/>
                  <a:ext cx="1806767" cy="310083"/>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186"/>
                    </a:lnSpc>
                    <a:spcBef>
                      <a:spcPts val="0"/>
                    </a:spcBef>
                    <a:spcAft>
                      <a:spcPts val="0"/>
                    </a:spcAft>
                  </a:pPr>
                  <a:r>
                    <a:rPr lang="en-US" sz="1600" b="1" i="0" kern="0" spc="0" dirty="0">
                      <a:solidFill>
                        <a:srgbClr val="2E6653"/>
                      </a:solidFill>
                      <a:latin typeface="Manrope"/>
                      <a:ea typeface="Manrope"/>
                      <a:cs typeface="Manrope"/>
                    </a:rPr>
                    <a:t>Return authorized</a:t>
                  </a:r>
                  <a:endParaRPr lang="en-US" sz="1600"/>
                </a:p>
              </p:txBody>
            </p:sp>
            <p:grpSp>
              <p:nvGrpSpPr>
                <p:cNvPr id="1168" name="standard-day-45-declined · 157"/>
                <p:cNvGrpSpPr/>
                <p:nvPr/>
              </p:nvGrpSpPr>
              <p:grpSpPr>
                <a:xfrm>
                  <a:off x="857250" y="4806950"/>
                  <a:ext cx="2086787" cy="723900"/>
                  <a:chOff x="857250" y="4806950"/>
                  <a:chExt cx="2086787" cy="723900"/>
                </a:xfrm>
              </p:grpSpPr>
              <p:sp>
                <p:nvSpPr>
                  <p:cNvPr id="1169" name="rect · 149"/>
                  <p:cNvSpPr/>
                  <p:nvPr/>
                </p:nvSpPr>
                <p:spPr>
                  <a:xfrm>
                    <a:off x="882650" y="4876800"/>
                    <a:ext cx="596900" cy="654050"/>
                  </a:xfrm>
                  <a:prstGeom prst="roundRect">
                    <a:avLst>
                      <a:gd name="adj" fmla="val 11702"/>
                    </a:avLst>
                  </a:prstGeom>
                  <a:solidFill>
                    <a:srgbClr val="D5DFD9"/>
                  </a:solidFill>
                  <a:ln>
                    <a:noFill/>
                  </a:ln>
                </p:spPr>
              </p:sp>
              <p:sp>
                <p:nvSpPr>
                  <p:cNvPr id="1170" name="rect · 150"/>
                  <p:cNvSpPr/>
                  <p:nvPr/>
                </p:nvSpPr>
                <p:spPr>
                  <a:xfrm>
                    <a:off x="857250" y="4845050"/>
                    <a:ext cx="596900" cy="654050"/>
                  </a:xfrm>
                  <a:prstGeom prst="roundRect">
                    <a:avLst>
                      <a:gd name="adj" fmla="val 11702"/>
                    </a:avLst>
                  </a:prstGeom>
                  <a:solidFill>
                    <a:srgbClr val="FFFFFF"/>
                  </a:solidFill>
                  <a:ln w="12700" cap="flat" cmpd="sng" algn="ctr">
                    <a:solidFill>
                      <a:srgbClr val="81533E"/>
                    </a:solidFill>
                    <a:prstDash val="solid"/>
                    <a:miter lim="400000"/>
                    <a:headEnd type="none" w="med" len="med"/>
                    <a:tailEnd type="none" w="med" len="med"/>
                  </a:ln>
                </p:spPr>
              </p:sp>
              <p:sp>
                <p:nvSpPr>
                  <p:cNvPr id="1171" name="rect · 151"/>
                  <p:cNvSpPr/>
                  <p:nvPr/>
                </p:nvSpPr>
                <p:spPr>
                  <a:xfrm>
                    <a:off x="857250" y="4845050"/>
                    <a:ext cx="596900" cy="158750"/>
                  </a:xfrm>
                  <a:prstGeom prst="roundRect">
                    <a:avLst>
                      <a:gd name="adj" fmla="val 40000"/>
                    </a:avLst>
                  </a:prstGeom>
                  <a:solidFill>
                    <a:srgbClr val="F4DFD3"/>
                  </a:solidFill>
                  <a:ln>
                    <a:noFill/>
                  </a:ln>
                </p:spPr>
              </p:sp>
              <p:sp>
                <p:nvSpPr>
                  <p:cNvPr id="1172" name="path · 152"/>
                  <p:cNvSpPr/>
                  <p:nvPr/>
                </p:nvSpPr>
                <p:spPr>
                  <a:xfrm>
                    <a:off x="984250" y="4806950"/>
                    <a:ext cx="342900" cy="101600"/>
                  </a:xfrm>
                  <a:custGeom>
                    <a:avLst/>
                    <a:gdLst/>
                    <a:ahLst/>
                    <a:cxnLst/>
                    <a:rect l="0" t="0" r="r" b="b"/>
                    <a:pathLst>
                      <a:path w="342900" h="101600" fill="none" stroke="1" extrusionOk="0">
                        <a:moveTo>
                          <a:pt x="0" y="0"/>
                        </a:moveTo>
                        <a:lnTo>
                          <a:pt x="0" y="101600"/>
                        </a:lnTo>
                        <a:moveTo>
                          <a:pt x="342900" y="0"/>
                        </a:moveTo>
                        <a:lnTo>
                          <a:pt x="342900" y="101600"/>
                        </a:lnTo>
                      </a:path>
                    </a:pathLst>
                  </a:custGeom>
                  <a:noFill/>
                  <a:ln w="25400" cap="rnd" cmpd="sng" algn="ctr">
                    <a:solidFill>
                      <a:srgbClr val="81533E"/>
                    </a:solidFill>
                    <a:prstDash val="solid"/>
                    <a:round/>
                    <a:headEnd type="none" w="med" len="med"/>
                    <a:tailEnd type="none" w="med" len="med"/>
                  </a:ln>
                </p:spPr>
              </p:sp>
              <p:sp>
                <p:nvSpPr>
                  <p:cNvPr id="1173" name="text · 153"/>
                  <p:cNvSpPr txBox="1"/>
                  <p:nvPr/>
                </p:nvSpPr>
                <p:spPr>
                  <a:xfrm>
                    <a:off x="960694" y="5001475"/>
                    <a:ext cx="390010" cy="49419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3483"/>
                      </a:lnSpc>
                      <a:spcBef>
                        <a:spcPts val="0"/>
                      </a:spcBef>
                      <a:spcAft>
                        <a:spcPts val="0"/>
                      </a:spcAft>
                    </a:pPr>
                    <a:r>
                      <a:rPr lang="en-US" sz="2550" b="1" i="0" kern="0" spc="0" dirty="0">
                        <a:solidFill>
                          <a:srgbClr val="243E42"/>
                        </a:solidFill>
                        <a:latin typeface="Manrope"/>
                        <a:ea typeface="Manrope"/>
                        <a:cs typeface="Manrope"/>
                      </a:rPr>
                      <a:t>45</a:t>
                    </a:r>
                    <a:endParaRPr lang="en-US" sz="2550"/>
                  </a:p>
                </p:txBody>
              </p:sp>
              <p:sp>
                <p:nvSpPr>
                  <p:cNvPr id="1174" name="path · 154"/>
                  <p:cNvSpPr/>
                  <p:nvPr/>
                </p:nvSpPr>
                <p:spPr>
                  <a:xfrm>
                    <a:off x="901700" y="5016500"/>
                    <a:ext cx="514350" cy="457200"/>
                  </a:xfrm>
                  <a:custGeom>
                    <a:avLst/>
                    <a:gdLst/>
                    <a:ahLst/>
                    <a:cxnLst/>
                    <a:rect l="0" t="0" r="r" b="b"/>
                    <a:pathLst>
                      <a:path w="514350" h="457200" fill="none" stroke="1" extrusionOk="0">
                        <a:moveTo>
                          <a:pt x="0" y="457200"/>
                        </a:moveTo>
                        <a:lnTo>
                          <a:pt x="514350" y="0"/>
                        </a:lnTo>
                      </a:path>
                    </a:pathLst>
                  </a:custGeom>
                  <a:noFill/>
                  <a:ln w="25400" cap="rnd" cmpd="sng" algn="ctr">
                    <a:solidFill>
                      <a:srgbClr val="81533E"/>
                    </a:solidFill>
                    <a:prstDash val="solid"/>
                    <a:round/>
                    <a:headEnd type="none" w="med" len="med"/>
                    <a:tailEnd type="none" w="med" len="med"/>
                  </a:ln>
                </p:spPr>
              </p:sp>
              <p:sp>
                <p:nvSpPr>
                  <p:cNvPr id="1175" name="text · 155"/>
                  <p:cNvSpPr txBox="1"/>
                  <p:nvPr/>
                </p:nvSpPr>
                <p:spPr>
                  <a:xfrm>
                    <a:off x="1585912" y="4876924"/>
                    <a:ext cx="850236" cy="290706"/>
                  </a:xfrm>
                  <a:prstGeom prst="rect">
                    <a:avLst/>
                  </a:prstGeom>
                  <a:noFill/>
                  <a:ln>
                    <a:noFill/>
                  </a:ln>
                </p:spPr>
                <p:txBody>
                  <a:bodyPr wrap="none" lIns="0" tIns="0" rIns="0" bIns="0" anchor="t" anchorCtr="0" vertOverflow="overflow" horzOverflow="overflow">
                    <a:noAutofit/>
                  </a:bodyPr>
                  <a:lstStyle/>
                  <a:p>
                    <a:pPr algn="l" marL="0" marR="0" indent="0" fontAlgn="base">
                      <a:lnSpc>
                        <a:spcPts val="2049"/>
                      </a:lnSpc>
                      <a:spcBef>
                        <a:spcPts val="0"/>
                      </a:spcBef>
                      <a:spcAft>
                        <a:spcPts val="0"/>
                      </a:spcAft>
                    </a:pPr>
                    <a:r>
                      <a:rPr lang="en-US" sz="1500" b="1" i="0" kern="0" spc="0" dirty="0">
                        <a:solidFill>
                          <a:srgbClr val="81533E"/>
                        </a:solidFill>
                        <a:latin typeface="Manrope"/>
                        <a:ea typeface="Manrope"/>
                        <a:cs typeface="Manrope"/>
                      </a:rPr>
                      <a:t>Standard</a:t>
                    </a:r>
                    <a:endParaRPr lang="en-US" sz="1500"/>
                  </a:p>
                </p:txBody>
              </p:sp>
              <p:sp>
                <p:nvSpPr>
                  <p:cNvPr id="1176" name="text · 156"/>
                  <p:cNvSpPr txBox="1"/>
                  <p:nvPr/>
                </p:nvSpPr>
                <p:spPr>
                  <a:xfrm>
                    <a:off x="1585912" y="5150396"/>
                    <a:ext cx="1359712" cy="281015"/>
                  </a:xfrm>
                  <a:prstGeom prst="rect">
                    <a:avLst/>
                  </a:prstGeom>
                  <a:noFill/>
                  <a:ln>
                    <a:noFill/>
                  </a:ln>
                </p:spPr>
                <p:txBody>
                  <a:bodyPr wrap="none" lIns="0" tIns="0" rIns="0" bIns="0" anchor="t" anchorCtr="0" vertOverflow="overflow" horzOverflow="overflow">
                    <a:noAutofit/>
                  </a:bodyPr>
                  <a:lstStyle/>
                  <a:p>
                    <a:pPr algn="l" marL="0" marR="0" indent="0" fontAlgn="base">
                      <a:lnSpc>
                        <a:spcPts val="1981"/>
                      </a:lnSpc>
                      <a:spcBef>
                        <a:spcPts val="0"/>
                      </a:spcBef>
                      <a:spcAft>
                        <a:spcPts val="0"/>
                      </a:spcAft>
                    </a:pPr>
                    <a:r>
                      <a:rPr lang="en-US" sz="1450" b="1" i="0" kern="0" spc="0" dirty="0">
                        <a:solidFill>
                          <a:srgbClr val="81533E"/>
                        </a:solidFill>
                        <a:latin typeface="Manrope"/>
                        <a:ea typeface="Manrope"/>
                        <a:cs typeface="Manrope"/>
                      </a:rPr>
                      <a:t>Too late → stop</a:t>
                    </a:r>
                    <a:endParaRPr lang="en-US" sz="1450"/>
                  </a:p>
                </p:txBody>
              </p:sp>
            </p:grpSp>
          </p:grpSp>
          <p:grpSp>
            <p:nvGrpSpPr>
              <p:cNvPr id="1177" name="whole-item-policy-scope · 160"/>
              <p:cNvGrpSpPr/>
              <p:nvPr/>
            </p:nvGrpSpPr>
            <p:grpSpPr>
              <a:xfrm>
                <a:off x="698500" y="2165350"/>
                <a:ext cx="2336800" cy="387350"/>
                <a:chOff x="698500" y="2165350"/>
                <a:chExt cx="2336800" cy="387350"/>
              </a:xfrm>
            </p:grpSpPr>
            <p:sp>
              <p:nvSpPr>
                <p:cNvPr id="1178" name="rect · 159"/>
                <p:cNvSpPr/>
                <p:nvPr/>
              </p:nvSpPr>
              <p:spPr>
                <a:xfrm>
                  <a:off x="698500" y="2165350"/>
                  <a:ext cx="2336800" cy="387350"/>
                </a:xfrm>
                <a:prstGeom prst="roundRect">
                  <a:avLst>
                    <a:gd name="adj" fmla="val 26230"/>
                  </a:avLst>
                </a:prstGeom>
                <a:solidFill>
                  <a:srgbClr val="E2EEF3"/>
                </a:solidFill>
                <a:ln w="9525" cap="flat" cmpd="sng" algn="ctr">
                  <a:solidFill>
                    <a:srgbClr val="355F72"/>
                  </a:solidFill>
                  <a:prstDash val="solid"/>
                  <a:miter lim="400000"/>
                  <a:headEnd type="none" w="med" len="med"/>
                  <a:tailEnd type="none" w="med" len="med"/>
                </a:ln>
              </p:spPr>
            </p:sp>
          </p:grpSp>
          <p:grpSp>
            <p:nvGrpSpPr>
              <p:cNvPr id="1179" name="whole-item-policy-scope-label · 162"/>
              <p:cNvGrpSpPr/>
              <p:nvPr/>
            </p:nvGrpSpPr>
            <p:grpSpPr>
              <a:xfrm>
                <a:off x="893425" y="2243355"/>
                <a:ext cx="1946951" cy="225524"/>
                <a:chOff x="893425" y="2243355"/>
                <a:chExt cx="1946951" cy="225524"/>
              </a:xfrm>
            </p:grpSpPr>
            <p:sp>
              <p:nvSpPr>
                <p:cNvPr id="1180" name="text · 161"/>
                <p:cNvSpPr txBox="1"/>
                <p:nvPr/>
              </p:nvSpPr>
              <p:spPr>
                <a:xfrm>
                  <a:off x="891837" y="2243355"/>
                  <a:ext cx="1950126" cy="251940"/>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76"/>
                    </a:lnSpc>
                    <a:spcBef>
                      <a:spcPts val="0"/>
                    </a:spcBef>
                    <a:spcAft>
                      <a:spcPts val="0"/>
                    </a:spcAft>
                  </a:pPr>
                  <a:r>
                    <a:rPr lang="en-US" sz="1300" b="1" i="0" kern="0" spc="0" dirty="0">
                      <a:solidFill>
                        <a:srgbClr val="355F72"/>
                      </a:solidFill>
                      <a:latin typeface="Manrope"/>
                      <a:ea typeface="Manrope"/>
                      <a:cs typeface="Manrope"/>
                    </a:rPr>
                    <a:t>Whole-item returns only</a:t>
                  </a:r>
                  <a:endParaRPr lang="en-US" sz="1300"/>
                </a:p>
              </p:txBody>
            </p:sp>
          </p:grpSp>
          <p:grpSp>
            <p:nvGrpSpPr>
              <p:cNvPr id="1181" name="invented-policy-label · 164"/>
              <p:cNvGrpSpPr/>
              <p:nvPr/>
            </p:nvGrpSpPr>
            <p:grpSpPr>
              <a:xfrm>
                <a:off x="1303815" y="2631120"/>
                <a:ext cx="1126170" cy="216855"/>
                <a:chOff x="1303815" y="2631120"/>
                <a:chExt cx="1126170" cy="216855"/>
              </a:xfrm>
            </p:grpSpPr>
            <p:sp>
              <p:nvSpPr>
                <p:cNvPr id="1182" name="text · 163"/>
                <p:cNvSpPr txBox="1"/>
                <p:nvPr/>
              </p:nvSpPr>
              <p:spPr>
                <a:xfrm>
                  <a:off x="1302227" y="2631120"/>
                  <a:ext cx="1129345" cy="242255"/>
                </a:xfrm>
                <a:prstGeom prst="rect">
                  <a:avLst/>
                </a:prstGeom>
                <a:noFill/>
                <a:ln>
                  <a:noFill/>
                </a:ln>
              </p:spPr>
              <p:txBody>
                <a:bodyPr wrap="none" lIns="0" tIns="0" rIns="0" bIns="0" anchor="t" anchorCtr="0" vertOverflow="overflow" horzOverflow="overflow">
                  <a:noAutofit/>
                </a:bodyPr>
                <a:lstStyle/>
                <a:p>
                  <a:pPr algn="ctr" marL="0" marR="0" indent="0" fontAlgn="base">
                    <a:lnSpc>
                      <a:spcPts val="1708"/>
                    </a:lnSpc>
                    <a:spcBef>
                      <a:spcPts val="0"/>
                    </a:spcBef>
                    <a:spcAft>
                      <a:spcPts val="0"/>
                    </a:spcAft>
                  </a:pPr>
                  <a:r>
                    <a:rPr lang="en-US" sz="1250" b="0" i="0" kern="0" spc="0" dirty="0">
                      <a:solidFill>
                        <a:srgbClr val="52676A"/>
                      </a:solidFill>
                      <a:latin typeface="Manrope"/>
                      <a:ea typeface="Manrope"/>
                      <a:cs typeface="Manrope"/>
                    </a:rPr>
                    <a:t>Invented policy</a:t>
                  </a:r>
                  <a:endParaRPr lang="en-US" sz="1250"/>
                </a:p>
              </p:txBody>
            </p:sp>
          </p:grpSp>
        </p:grpSp>
      </p:grpSp>
      <p:grpSp>
        <p:nvGrpSpPr>
          <p:cNvPr id="1188" name="09 · source-line: Whole-item return policy · Tutorial evaluation protocol"/>
          <p:cNvGrpSpPr/>
          <p:nvPr/>
        </p:nvGrpSpPr>
        <p:grpSpPr>
          <a:xfrm>
            <a:off x="558800" y="6037898"/>
            <a:ext cx="11087100" cy="284456"/>
            <a:chOff x="558800" y="6037898"/>
            <a:chExt cx="11087100" cy="284456"/>
          </a:xfrm>
        </p:grpSpPr>
        <p:sp>
          <p:nvSpPr>
            <p:cNvPr id="1183" name="09 · source-line · top border [p09-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84" name="09 · span: Whole-item return policy · Tutorial evaluation protocol [p09-text-0009]" descr="Native editable Unicode text; authored line breaks retained."/>
            <p:cNvSpPr txBox="1"/>
            <p:nvPr/>
          </p:nvSpPr>
          <p:spPr>
            <a:xfrm>
              <a:off x="558800" y="6153126"/>
              <a:ext cx="303347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Whole-item return policy</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185" name="09 · span: Invented whole-item policy · exchanges and kit parts have separate rules [p09-text-0010]" descr="Native editable Unicode text; authored line breaks retained."/>
            <p:cNvSpPr txBox="1"/>
            <p:nvPr/>
          </p:nvSpPr>
          <p:spPr>
            <a:xfrm>
              <a:off x="7596188" y="6153126"/>
              <a:ext cx="404971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Invented whole-item policy · exchanges and kit parts have separate rules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A runtime sits beneath the harness">
    <p:bg>
      <p:bgPr>
        <a:solidFill>
          <a:srgbClr val="FFFFFF"/>
        </a:solidFill>
      </p:bgPr>
    </p:bg>
    <p:spTree>
      <p:nvGrpSpPr>
        <p:cNvPr id="1" name=""/>
        <p:cNvGrpSpPr/>
        <p:nvPr/>
      </p:nvGrpSpPr>
      <p:grpSpPr>
        <a:xfrm>
          <a:off x="0" y="0"/>
          <a:ext cx="0" cy="0"/>
          <a:chOff x="0" y="0"/>
          <a:chExt cx="0" cy="0"/>
        </a:xfrm>
      </p:grpSpPr>
      <p:sp>
        <p:nvSpPr>
          <p:cNvPr id="1000" name="10 · slide dark · surface [p10-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0" name="10 · chrome-min: DISAGGREGATED INTELLIGENCE"/>
          <p:cNvGrpSpPr/>
          <p:nvPr/>
        </p:nvGrpSpPr>
        <p:grpSpPr>
          <a:xfrm>
            <a:off x="558800" y="356053"/>
            <a:ext cx="11087100" cy="187325"/>
            <a:chOff x="558800" y="356053"/>
            <a:chExt cx="11087100" cy="187325"/>
          </a:xfrm>
        </p:grpSpPr>
        <p:sp>
          <p:nvSpPr>
            <p:cNvPr id="1001" name="10 · l: DISAGGREGATED INTELLIGENCE [p10-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0 · r: 10 / 36 [p10-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10 / 36</a:t>
              </a:r>
              <a:endParaRPr lang="en-US" sz="950" b="1" i="0" kern="0" spc="65" dirty="0">
                <a:solidFill>
                  <a:srgbClr val="022AC0"/>
                </a:solidFill>
                <a:latin typeface="Salesforce Sans"/>
                <a:ea typeface="Salesforce Sans"/>
                <a:cs typeface="Salesforce Sans"/>
              </a:endParaRPr>
            </a:p>
          </p:txBody>
        </p:sp>
      </p:grpSp>
      <p:grpSp>
        <p:nvGrpSpPr>
          <p:cNvPr id="1021" name="10 · deck-head: 02 / KEEP THE LAYERS DISTINCT"/>
          <p:cNvGrpSpPr/>
          <p:nvPr/>
        </p:nvGrpSpPr>
        <p:grpSpPr>
          <a:xfrm>
            <a:off x="558800" y="775901"/>
            <a:ext cx="11087100" cy="871263"/>
            <a:chOff x="558800" y="775901"/>
            <a:chExt cx="11087100" cy="871263"/>
          </a:xfrm>
        </p:grpSpPr>
        <p:sp>
          <p:nvSpPr>
            <p:cNvPr id="1003" name="10 · layers-eyebrow: 02 / KEEP THE LAYERS DISTINCT [p10-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02 / KEEP THE LAYERS DISTINCT</a:t>
              </a:r>
              <a:endParaRPr lang="en-US" sz="1050" b="1" i="0" kern="0" spc="68" dirty="0">
                <a:solidFill>
                  <a:srgbClr val="022AC0"/>
                </a:solidFill>
                <a:latin typeface="Salesforce Sans"/>
                <a:ea typeface="Salesforce Sans"/>
                <a:cs typeface="Salesforce Sans"/>
              </a:endParaRPr>
            </a:p>
          </p:txBody>
        </p:sp>
        <p:sp>
          <p:nvSpPr>
            <p:cNvPr id="1004" name="10 · layers-title: A runtime sits beneath the harness [p10-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 runtime sits beneath the harness</a:t>
              </a:r>
              <a:endParaRPr lang="en-US" sz="3600" b="1" i="0" kern="0" spc="-95" dirty="0">
                <a:solidFill>
                  <a:srgbClr val="022AC0"/>
                </a:solidFill>
                <a:latin typeface="Manrope"/>
                <a:ea typeface="Manrope"/>
                <a:cs typeface="Manrope"/>
              </a:endParaRPr>
            </a:p>
          </p:txBody>
        </p:sp>
      </p:grpSp>
      <p:grpSp>
        <p:nvGrpSpPr>
          <p:cNvPr id="1022" name="10 · stack-block lilac: Harness"/>
          <p:cNvGrpSpPr/>
          <p:nvPr/>
        </p:nvGrpSpPr>
        <p:grpSpPr>
          <a:xfrm>
            <a:off x="558800" y="1854200"/>
            <a:ext cx="11074400" cy="1291167"/>
            <a:chOff x="558800" y="1854200"/>
            <a:chExt cx="11074400" cy="1291167"/>
          </a:xfrm>
        </p:grpSpPr>
        <p:sp>
          <p:nvSpPr>
            <p:cNvPr id="1005" name="10 · stack-block lilac · surface [p10-e0008]"/>
            <p:cNvSpPr/>
            <p:nvPr/>
          </p:nvSpPr>
          <p:spPr>
            <a:xfrm>
              <a:off x="558800" y="1854200"/>
              <a:ext cx="11074400" cy="1291167"/>
            </a:xfrm>
            <a:prstGeom prst="roundRect">
              <a:avLst>
                <a:gd name="adj" fmla="val 10820"/>
              </a:avLst>
            </a:prstGeom>
            <a:solidFill>
              <a:srgbClr val="EAE6FA"/>
            </a:solidFill>
            <a:ln>
              <a:noFill/>
            </a:ln>
          </p:spPr>
        </p:sp>
        <p:sp>
          <p:nvSpPr>
            <p:cNvPr id="1006" name="10 · layers-text-1: Harness [p10-text-0011]" descr="Native editable Unicode text; authored line breaks retained."/>
            <p:cNvSpPr txBox="1"/>
            <p:nvPr/>
          </p:nvSpPr>
          <p:spPr>
            <a:xfrm>
              <a:off x="825500" y="2326302"/>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Harness</a:t>
              </a:r>
              <a:endParaRPr lang="en-US" sz="2000" b="1" i="0" kern="0" spc="-38" dirty="0">
                <a:solidFill>
                  <a:srgbClr val="022AC0"/>
                </a:solidFill>
                <a:latin typeface="Manrope"/>
                <a:ea typeface="Manrope"/>
                <a:cs typeface="Manrope"/>
              </a:endParaRPr>
            </a:p>
          </p:txBody>
        </p:sp>
        <p:sp>
          <p:nvSpPr>
            <p:cNvPr id="1007" name="10 · layers-text-2: The agent loop, context strategy, tools, and operating policy. [p10-text-0012]" descr="Native editable Unicode text; authored line breaks retained."/>
            <p:cNvSpPr txBox="1"/>
            <p:nvPr/>
          </p:nvSpPr>
          <p:spPr>
            <a:xfrm>
              <a:off x="3556000" y="2224479"/>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The agent loop, context strategy, tools, and operating policy.</a:t>
              </a:r>
              <a:endParaRPr lang="en-US" sz="1500" b="0" i="0" kern="0" spc="0" dirty="0">
                <a:solidFill>
                  <a:srgbClr val="032D60"/>
                </a:solidFill>
                <a:latin typeface="Salesforce Sans"/>
                <a:ea typeface="Salesforce Sans"/>
                <a:cs typeface="Salesforce Sans"/>
              </a:endParaRPr>
            </a:p>
          </p:txBody>
        </p:sp>
        <p:sp>
          <p:nvSpPr>
            <p:cNvPr id="1008" name="10 · layers-text-3: Example in LangChain’s stack: Deep Agents. [p10-text-0013]" descr="Native editable Unicode text; authored line breaks retained."/>
            <p:cNvSpPr txBox="1"/>
            <p:nvPr/>
          </p:nvSpPr>
          <p:spPr>
            <a:xfrm>
              <a:off x="3556000" y="2571380"/>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Example in LangChain’s stack: Deep Agents.</a:t>
              </a:r>
              <a:endParaRPr lang="en-US" sz="1250" b="0" i="0" kern="0" spc="0" dirty="0">
                <a:solidFill>
                  <a:srgbClr val="032D60"/>
                </a:solidFill>
                <a:latin typeface="Salesforce Sans"/>
                <a:ea typeface="Salesforce Sans"/>
                <a:cs typeface="Salesforce Sans"/>
              </a:endParaRPr>
            </a:p>
          </p:txBody>
        </p:sp>
      </p:grpSp>
      <p:grpSp>
        <p:nvGrpSpPr>
          <p:cNvPr id="1023" name="10 · stack-block mint: Runtime"/>
          <p:cNvGrpSpPr/>
          <p:nvPr/>
        </p:nvGrpSpPr>
        <p:grpSpPr>
          <a:xfrm>
            <a:off x="558800" y="3297767"/>
            <a:ext cx="11074400" cy="1291167"/>
            <a:chOff x="558800" y="3297767"/>
            <a:chExt cx="11074400" cy="1291167"/>
          </a:xfrm>
        </p:grpSpPr>
        <p:sp>
          <p:nvSpPr>
            <p:cNvPr id="1009" name="10 · stack-block mint · surface [p10-e0012]"/>
            <p:cNvSpPr/>
            <p:nvPr/>
          </p:nvSpPr>
          <p:spPr>
            <a:xfrm>
              <a:off x="558800" y="3297767"/>
              <a:ext cx="11074400" cy="1291167"/>
            </a:xfrm>
            <a:prstGeom prst="roundRect">
              <a:avLst>
                <a:gd name="adj" fmla="val 10820"/>
              </a:avLst>
            </a:prstGeom>
            <a:solidFill>
              <a:srgbClr val="DDF3ED"/>
            </a:solidFill>
            <a:ln>
              <a:noFill/>
            </a:ln>
          </p:spPr>
        </p:sp>
        <p:sp>
          <p:nvSpPr>
            <p:cNvPr id="1010" name="10 · layers-text-4: Runtime [p10-text-0014]" descr="Native editable Unicode text; authored line breaks retained."/>
            <p:cNvSpPr txBox="1"/>
            <p:nvPr/>
          </p:nvSpPr>
          <p:spPr>
            <a:xfrm>
              <a:off x="825500" y="3769869"/>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Runtime</a:t>
              </a:r>
              <a:endParaRPr lang="en-US" sz="2000" b="1" i="0" kern="0" spc="-38" dirty="0">
                <a:solidFill>
                  <a:srgbClr val="022AC0"/>
                </a:solidFill>
                <a:latin typeface="Manrope"/>
                <a:ea typeface="Manrope"/>
                <a:cs typeface="Manrope"/>
              </a:endParaRPr>
            </a:p>
          </p:txBody>
        </p:sp>
        <p:sp>
          <p:nvSpPr>
            <p:cNvPr id="1011" name="10 · layers-text-5: State transitions and the execution of the configured workflow. [p10-text-0015]" descr="Native editable Unicode text; authored line breaks retained."/>
            <p:cNvSpPr txBox="1"/>
            <p:nvPr/>
          </p:nvSpPr>
          <p:spPr>
            <a:xfrm>
              <a:off x="3556000" y="3668046"/>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State transitions and the execution of the configured workflow.</a:t>
              </a:r>
              <a:endParaRPr lang="en-US" sz="1500" b="0" i="0" kern="0" spc="0" dirty="0">
                <a:solidFill>
                  <a:srgbClr val="032D60"/>
                </a:solidFill>
                <a:latin typeface="Salesforce Sans"/>
                <a:ea typeface="Salesforce Sans"/>
                <a:cs typeface="Salesforce Sans"/>
              </a:endParaRPr>
            </a:p>
          </p:txBody>
        </p:sp>
        <p:sp>
          <p:nvSpPr>
            <p:cNvPr id="1012" name="10 · layers-text-6: Agent Graph is analogous at this layer to LangGraph. [p10-text-0016]" descr="Native editable Unicode text; authored line breaks retained."/>
            <p:cNvSpPr txBox="1"/>
            <p:nvPr/>
          </p:nvSpPr>
          <p:spPr>
            <a:xfrm>
              <a:off x="3556000" y="4014947"/>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Agent Graph is analogous at this layer to LangGraph.</a:t>
              </a:r>
              <a:endParaRPr lang="en-US" sz="1250" b="0" i="0" kern="0" spc="0" dirty="0">
                <a:solidFill>
                  <a:srgbClr val="032D60"/>
                </a:solidFill>
                <a:latin typeface="Salesforce Sans"/>
                <a:ea typeface="Salesforce Sans"/>
                <a:cs typeface="Salesforce Sans"/>
              </a:endParaRPr>
            </a:p>
          </p:txBody>
        </p:sp>
      </p:grpSp>
      <p:grpSp>
        <p:nvGrpSpPr>
          <p:cNvPr id="1024" name="10 · stack-block sand: Configuration"/>
          <p:cNvGrpSpPr/>
          <p:nvPr/>
        </p:nvGrpSpPr>
        <p:grpSpPr>
          <a:xfrm>
            <a:off x="558800" y="4741333"/>
            <a:ext cx="11074400" cy="1291167"/>
            <a:chOff x="558800" y="4741333"/>
            <a:chExt cx="11074400" cy="1291167"/>
          </a:xfrm>
        </p:grpSpPr>
        <p:sp>
          <p:nvSpPr>
            <p:cNvPr id="1013" name="10 · stack-block sand · surface [p10-e0016]"/>
            <p:cNvSpPr/>
            <p:nvPr/>
          </p:nvSpPr>
          <p:spPr>
            <a:xfrm>
              <a:off x="558800" y="4741333"/>
              <a:ext cx="11074400" cy="1291167"/>
            </a:xfrm>
            <a:prstGeom prst="roundRect">
              <a:avLst>
                <a:gd name="adj" fmla="val 10820"/>
              </a:avLst>
            </a:prstGeom>
            <a:solidFill>
              <a:srgbClr val="FBF0CF"/>
            </a:solidFill>
            <a:ln>
              <a:noFill/>
            </a:ln>
          </p:spPr>
        </p:sp>
        <p:sp>
          <p:nvSpPr>
            <p:cNvPr id="1014" name="10 · layers-text-7: Configuration [p10-text-0017]" descr="Native editable Unicode text; authored line breaks retained."/>
            <p:cNvSpPr txBox="1"/>
            <p:nvPr/>
          </p:nvSpPr>
          <p:spPr>
            <a:xfrm>
              <a:off x="825500" y="5213436"/>
              <a:ext cx="2743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Configuration</a:t>
              </a:r>
              <a:endParaRPr lang="en-US" sz="2000" b="1" i="0" kern="0" spc="-38" dirty="0">
                <a:solidFill>
                  <a:srgbClr val="022AC0"/>
                </a:solidFill>
                <a:latin typeface="Manrope"/>
                <a:ea typeface="Manrope"/>
                <a:cs typeface="Manrope"/>
              </a:endParaRPr>
            </a:p>
          </p:txBody>
        </p:sp>
        <p:sp>
          <p:nvSpPr>
            <p:cNvPr id="1015" name="10 · layers-text-8: The authored rules and bindings that shape behavior. [p10-text-0018]" descr="Native editable Unicode text; authored line breaks retained."/>
            <p:cNvSpPr txBox="1"/>
            <p:nvPr/>
          </p:nvSpPr>
          <p:spPr>
            <a:xfrm>
              <a:off x="3556000" y="5111613"/>
              <a:ext cx="7823200" cy="27686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The authored rules and bindings that shape behavior.</a:t>
              </a:r>
              <a:endParaRPr lang="en-US" sz="1500" b="0" i="0" kern="0" spc="0" dirty="0">
                <a:solidFill>
                  <a:srgbClr val="032D60"/>
                </a:solidFill>
                <a:latin typeface="Salesforce Sans"/>
                <a:ea typeface="Salesforce Sans"/>
                <a:cs typeface="Salesforce Sans"/>
              </a:endParaRPr>
            </a:p>
          </p:txBody>
        </p:sp>
        <p:sp>
          <p:nvSpPr>
            <p:cNvPr id="1016" name="10 · layers-text-9: AgentScript configures Salesforce’s runtime. [p10-text-0019]" descr="Native editable Unicode text; authored line breaks retained."/>
            <p:cNvSpPr txBox="1"/>
            <p:nvPr/>
          </p:nvSpPr>
          <p:spPr>
            <a:xfrm>
              <a:off x="3556000" y="5458514"/>
              <a:ext cx="7823200"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AgentScript configures Salesforce’s runtime.</a:t>
              </a:r>
              <a:endParaRPr lang="en-US" sz="1250" b="0" i="0" kern="0" spc="0" dirty="0">
                <a:solidFill>
                  <a:srgbClr val="032D60"/>
                </a:solidFill>
                <a:latin typeface="Salesforce Sans"/>
                <a:ea typeface="Salesforce Sans"/>
                <a:cs typeface="Salesforce Sans"/>
              </a:endParaRPr>
            </a:p>
          </p:txBody>
        </p:sp>
      </p:grpSp>
      <p:grpSp>
        <p:nvGrpSpPr>
          <p:cNvPr id="1025" name="10 · source-line: Runtime, framework, harness · AgentScript control plane"/>
          <p:cNvGrpSpPr/>
          <p:nvPr/>
        </p:nvGrpSpPr>
        <p:grpSpPr>
          <a:xfrm>
            <a:off x="558800" y="6037898"/>
            <a:ext cx="11087100" cy="284456"/>
            <a:chOff x="558800" y="6037898"/>
            <a:chExt cx="11087100" cy="284456"/>
          </a:xfrm>
        </p:grpSpPr>
        <p:sp>
          <p:nvSpPr>
            <p:cNvPr id="1017" name="10 · source-line · top border [p10-e002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8" name="10 · span: Runtime, framework, harness · AgentScript control plane [p10-text-0020]" descr="Native editable Unicode text; authored line breaks retained."/>
            <p:cNvSpPr txBox="1"/>
            <p:nvPr/>
          </p:nvSpPr>
          <p:spPr>
            <a:xfrm>
              <a:off x="558800" y="6153126"/>
              <a:ext cx="316953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untime, framework, harness"/>
                </a:rPr>
                <a:t>Runtime, framework, harness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19" name="10 · span: Architectural comparison, not API equivalence [p10-text-0021]" descr="Native editable Unicode text; authored line breaks retained."/>
            <p:cNvSpPr txBox="1"/>
            <p:nvPr/>
          </p:nvSpPr>
          <p:spPr>
            <a:xfrm>
              <a:off x="9036658" y="6153126"/>
              <a:ext cx="260924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Architectural comparison, not API equivalence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eparate the remedy, the unit and the uncertainty">
    <p:bg>
      <p:bgPr>
        <a:solidFill>
          <a:srgbClr val="FFFFFF"/>
        </a:solidFill>
      </p:bgPr>
    </p:bg>
    <p:spTree>
      <p:nvGrpSpPr>
        <p:cNvPr id="1" name=""/>
        <p:cNvGrpSpPr/>
        <p:nvPr/>
      </p:nvGrpSpPr>
      <p:grpSpPr>
        <a:xfrm>
          <a:off x="0" y="0"/>
          <a:ext cx="0" cy="0"/>
          <a:chOff x="0" y="0"/>
          <a:chExt cx="0" cy="0"/>
        </a:xfrm>
      </p:grpSpPr>
      <p:sp>
        <p:nvSpPr>
          <p:cNvPr id="1000" name="11 · slide light · surface [p1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6" name="11 · chrome-min: DISAGGREGATED INTELLIGENCE"/>
          <p:cNvGrpSpPr/>
          <p:nvPr/>
        </p:nvGrpSpPr>
        <p:grpSpPr>
          <a:xfrm>
            <a:off x="558800" y="356053"/>
            <a:ext cx="11087100" cy="187325"/>
            <a:chOff x="558800" y="356053"/>
            <a:chExt cx="11087100" cy="187325"/>
          </a:xfrm>
        </p:grpSpPr>
        <p:sp>
          <p:nvSpPr>
            <p:cNvPr id="1001" name="11 · l: DISAGGREGATED INTELLIGENCE [p11-text-002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1 · r: 11 / 36 [p11-text-002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11 / 36</a:t>
              </a:r>
              <a:endParaRPr lang="en-US" sz="950" b="1" i="0" kern="0" spc="65" dirty="0">
                <a:solidFill>
                  <a:srgbClr val="022AC0"/>
                </a:solidFill>
                <a:latin typeface="Salesforce Sans"/>
                <a:ea typeface="Salesforce Sans"/>
                <a:cs typeface="Salesforce Sans"/>
              </a:endParaRPr>
            </a:p>
          </p:txBody>
        </p:sp>
      </p:grpSp>
      <p:grpSp>
        <p:nvGrpSpPr>
          <p:cNvPr id="1047" name="11 · deck-head: 03 / STEP 1"/>
          <p:cNvGrpSpPr/>
          <p:nvPr/>
        </p:nvGrpSpPr>
        <p:grpSpPr>
          <a:xfrm>
            <a:off x="558800" y="775901"/>
            <a:ext cx="11087100" cy="871263"/>
            <a:chOff x="558800" y="775901"/>
            <a:chExt cx="11087100" cy="871263"/>
          </a:xfrm>
        </p:grpSpPr>
        <p:sp>
          <p:nvSpPr>
            <p:cNvPr id="1003" name="11 · contract-eyebrow: 03 / STEP 1 [p11-text-002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STEP 1</a:t>
              </a:r>
              <a:endParaRPr lang="en-US" sz="1050" b="1" i="0" kern="0" spc="68" dirty="0">
                <a:solidFill>
                  <a:srgbClr val="022AC0"/>
                </a:solidFill>
                <a:latin typeface="Salesforce Sans"/>
                <a:ea typeface="Salesforce Sans"/>
                <a:cs typeface="Salesforce Sans"/>
              </a:endParaRPr>
            </a:p>
          </p:txBody>
        </p:sp>
        <p:sp>
          <p:nvSpPr>
            <p:cNvPr id="1004" name="11 · contract-title: Separate the remedy, the unit and the uncertainty [p11-text-002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Separate the remedy, the unit and the uncertainty</a:t>
              </a:r>
              <a:endParaRPr lang="en-US" sz="3600" b="1" i="0" kern="0" spc="-95" dirty="0">
                <a:solidFill>
                  <a:srgbClr val="022AC0"/>
                </a:solidFill>
                <a:latin typeface="Manrope"/>
                <a:ea typeface="Manrope"/>
                <a:cs typeface="Manrope"/>
              </a:endParaRPr>
            </a:p>
          </p:txBody>
        </p:sp>
      </p:grpSp>
      <p:grpSp>
        <p:nvGrpSpPr>
          <p:cNvPr id="1048" name="11 · card sand: "/>
          <p:cNvGrpSpPr/>
          <p:nvPr/>
        </p:nvGrpSpPr>
        <p:grpSpPr>
          <a:xfrm>
            <a:off x="558800" y="1930400"/>
            <a:ext cx="5232400" cy="2046097"/>
            <a:chOff x="558800" y="1930400"/>
            <a:chExt cx="5232400" cy="2046097"/>
          </a:xfrm>
        </p:grpSpPr>
        <p:sp>
          <p:nvSpPr>
            <p:cNvPr id="1005" name="11 · card sand · surface [p11-e0008]"/>
            <p:cNvSpPr/>
            <p:nvPr/>
          </p:nvSpPr>
          <p:spPr>
            <a:xfrm>
              <a:off x="558800" y="1930400"/>
              <a:ext cx="5232400" cy="2046097"/>
            </a:xfrm>
            <a:prstGeom prst="roundRect">
              <a:avLst>
                <a:gd name="adj" fmla="val 6828"/>
              </a:avLst>
            </a:prstGeom>
            <a:solidFill>
              <a:srgbClr val="FBF0CF"/>
            </a:solidFill>
            <a:ln>
              <a:noFill/>
            </a:ln>
          </p:spPr>
        </p:sp>
        <p:sp>
          <p:nvSpPr>
            <p:cNvPr id="1006" name="11 · card sand · outline [p11-e0008]"/>
            <p:cNvSpPr/>
            <p:nvPr/>
          </p:nvSpPr>
          <p:spPr>
            <a:xfrm>
              <a:off x="561975" y="1933575"/>
              <a:ext cx="5226050" cy="2039747"/>
            </a:xfrm>
            <a:prstGeom prst="roundRect">
              <a:avLst>
                <a:gd name="adj" fmla="val 6693"/>
              </a:avLst>
            </a:prstGeom>
            <a:noFill/>
            <a:ln w="6350" algn="ctr">
              <a:solidFill>
                <a:srgbClr val="FFFFFF">
                  <a:alpha val="85098"/>
                </a:srgbClr>
              </a:solidFill>
              <a:prstDash val="solid"/>
            </a:ln>
          </p:spPr>
        </p:sp>
      </p:grpSp>
      <p:sp>
        <p:nvSpPr>
          <p:cNvPr id="1007" name="11 · duo-compare [p11-e0009]"/>
          <p:cNvSpPr/>
          <p:nvPr/>
        </p:nvSpPr>
        <p:spPr>
          <a:xfrm>
            <a:off x="558800" y="481152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08" name="11 · duo-compare [p11-e0010]"/>
          <p:cNvSpPr/>
          <p:nvPr/>
        </p:nvSpPr>
        <p:spPr>
          <a:xfrm>
            <a:off x="4711700" y="481152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sp>
        <p:nvSpPr>
          <p:cNvPr id="1009" name="11 · duo-compare [p11-e0011]"/>
          <p:cNvSpPr/>
          <p:nvPr/>
        </p:nvSpPr>
        <p:spPr>
          <a:xfrm>
            <a:off x="558800" y="523062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10" name="11 · duo-compare [p11-e0012]"/>
          <p:cNvSpPr/>
          <p:nvPr/>
        </p:nvSpPr>
        <p:spPr>
          <a:xfrm>
            <a:off x="4711700" y="523062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sp>
        <p:nvSpPr>
          <p:cNvPr id="1011" name="11 · duo-compare [p11-e0013]"/>
          <p:cNvSpPr/>
          <p:nvPr/>
        </p:nvSpPr>
        <p:spPr>
          <a:xfrm>
            <a:off x="558800" y="5859272"/>
            <a:ext cx="4152900" cy="6"/>
          </a:xfrm>
          <a:custGeom>
            <a:avLst/>
            <a:gdLst/>
            <a:ahLst/>
            <a:cxnLst/>
            <a:rect l="0" t="0" r="r" b="b"/>
            <a:pathLst>
              <a:path w="4152900" h="6" fill="none" stroke="1">
                <a:moveTo>
                  <a:pt x="0" y="0"/>
                </a:moveTo>
                <a:lnTo>
                  <a:pt x="4152900" y="0"/>
                </a:lnTo>
              </a:path>
            </a:pathLst>
          </a:custGeom>
          <a:noFill/>
          <a:ln w="6350" cap="flat">
            <a:solidFill>
              <a:srgbClr val="A4C4DC">
                <a:alpha val="50196"/>
              </a:srgbClr>
            </a:solidFill>
            <a:prstDash val="solid"/>
          </a:ln>
        </p:spPr>
      </p:sp>
      <p:sp>
        <p:nvSpPr>
          <p:cNvPr id="1012" name="11 · duo-compare [p11-e0014]"/>
          <p:cNvSpPr/>
          <p:nvPr/>
        </p:nvSpPr>
        <p:spPr>
          <a:xfrm>
            <a:off x="4711700" y="5859272"/>
            <a:ext cx="1079500" cy="6"/>
          </a:xfrm>
          <a:custGeom>
            <a:avLst/>
            <a:gdLst/>
            <a:ahLst/>
            <a:cxnLst/>
            <a:rect l="0" t="0" r="r" b="b"/>
            <a:pathLst>
              <a:path w="1079500" h="6" fill="none" stroke="1">
                <a:moveTo>
                  <a:pt x="0" y="0"/>
                </a:moveTo>
                <a:lnTo>
                  <a:pt x="1079500" y="0"/>
                </a:lnTo>
              </a:path>
            </a:pathLst>
          </a:custGeom>
          <a:noFill/>
          <a:ln w="6350" cap="flat">
            <a:solidFill>
              <a:srgbClr val="A4C4DC">
                <a:alpha val="50196"/>
              </a:srgbClr>
            </a:solidFill>
            <a:prstDash val="solid"/>
          </a:ln>
        </p:spPr>
      </p:sp>
      <p:grpSp>
        <p:nvGrpSpPr>
          <p:cNvPr id="1049" name="11 · card mint: "/>
          <p:cNvGrpSpPr/>
          <p:nvPr/>
        </p:nvGrpSpPr>
        <p:grpSpPr>
          <a:xfrm>
            <a:off x="6426200" y="2950845"/>
            <a:ext cx="5105400" cy="843280"/>
            <a:chOff x="6426200" y="2950845"/>
            <a:chExt cx="5105400" cy="843280"/>
          </a:xfrm>
        </p:grpSpPr>
        <p:sp>
          <p:nvSpPr>
            <p:cNvPr id="1013" name="11 · card mint · surface [p11-e0015]"/>
            <p:cNvSpPr/>
            <p:nvPr/>
          </p:nvSpPr>
          <p:spPr>
            <a:xfrm>
              <a:off x="6426200" y="2950845"/>
              <a:ext cx="5105400" cy="843280"/>
            </a:xfrm>
            <a:prstGeom prst="roundRect">
              <a:avLst>
                <a:gd name="adj" fmla="val 16566"/>
              </a:avLst>
            </a:prstGeom>
            <a:solidFill>
              <a:srgbClr val="DDF3ED"/>
            </a:solidFill>
            <a:ln>
              <a:noFill/>
            </a:ln>
          </p:spPr>
        </p:sp>
        <p:sp>
          <p:nvSpPr>
            <p:cNvPr id="1014" name="11 · card mint · outline [p11-e0015]"/>
            <p:cNvSpPr/>
            <p:nvPr/>
          </p:nvSpPr>
          <p:spPr>
            <a:xfrm>
              <a:off x="6429375" y="2954020"/>
              <a:ext cx="5099050" cy="836930"/>
            </a:xfrm>
            <a:prstGeom prst="roundRect">
              <a:avLst>
                <a:gd name="adj" fmla="val 16313"/>
              </a:avLst>
            </a:prstGeom>
            <a:noFill/>
            <a:ln w="6350" algn="ctr">
              <a:solidFill>
                <a:srgbClr val="FFFFFF">
                  <a:alpha val="85098"/>
                </a:srgbClr>
              </a:solidFill>
              <a:prstDash val="solid"/>
            </a:ln>
          </p:spPr>
        </p:sp>
      </p:grpSp>
      <p:grpSp>
        <p:nvGrpSpPr>
          <p:cNvPr id="1050" name="11 · card sand: "/>
          <p:cNvGrpSpPr/>
          <p:nvPr/>
        </p:nvGrpSpPr>
        <p:grpSpPr>
          <a:xfrm>
            <a:off x="6426200" y="3921125"/>
            <a:ext cx="5105400" cy="843280"/>
            <a:chOff x="6426200" y="3921125"/>
            <a:chExt cx="5105400" cy="843280"/>
          </a:xfrm>
        </p:grpSpPr>
        <p:sp>
          <p:nvSpPr>
            <p:cNvPr id="1015" name="11 · card sand · surface [p11-e0016]"/>
            <p:cNvSpPr/>
            <p:nvPr/>
          </p:nvSpPr>
          <p:spPr>
            <a:xfrm>
              <a:off x="6426200" y="3921125"/>
              <a:ext cx="5105400" cy="843280"/>
            </a:xfrm>
            <a:prstGeom prst="roundRect">
              <a:avLst>
                <a:gd name="adj" fmla="val 16566"/>
              </a:avLst>
            </a:prstGeom>
            <a:solidFill>
              <a:srgbClr val="FBF0CF"/>
            </a:solidFill>
            <a:ln>
              <a:noFill/>
            </a:ln>
          </p:spPr>
        </p:sp>
        <p:sp>
          <p:nvSpPr>
            <p:cNvPr id="1016" name="11 · card sand · outline [p11-e0016]"/>
            <p:cNvSpPr/>
            <p:nvPr/>
          </p:nvSpPr>
          <p:spPr>
            <a:xfrm>
              <a:off x="6429375" y="3924300"/>
              <a:ext cx="5099050" cy="836930"/>
            </a:xfrm>
            <a:prstGeom prst="roundRect">
              <a:avLst>
                <a:gd name="adj" fmla="val 16313"/>
              </a:avLst>
            </a:prstGeom>
            <a:noFill/>
            <a:ln w="6350" algn="ctr">
              <a:solidFill>
                <a:srgbClr val="FFFFFF">
                  <a:alpha val="85098"/>
                </a:srgbClr>
              </a:solidFill>
              <a:prstDash val="solid"/>
            </a:ln>
          </p:spPr>
        </p:sp>
      </p:grpSp>
      <p:grpSp>
        <p:nvGrpSpPr>
          <p:cNvPr id="1051" name="11 · card sand: What work is the customer requesting?"/>
          <p:cNvGrpSpPr/>
          <p:nvPr/>
        </p:nvGrpSpPr>
        <p:grpSpPr>
          <a:xfrm>
            <a:off x="781050" y="2486534"/>
            <a:ext cx="4800600" cy="1260930"/>
            <a:chOff x="781050" y="2486534"/>
            <a:chExt cx="4800600" cy="1260930"/>
          </a:xfrm>
        </p:grpSpPr>
        <p:sp>
          <p:nvSpPr>
            <p:cNvPr id="1017" name="11 · contract-text-1: What work is the customer requesting? [p11-text-0024]" descr="Native editable Unicode text; authored line breaks retained."/>
            <p:cNvSpPr txBox="1"/>
            <p:nvPr/>
          </p:nvSpPr>
          <p:spPr>
            <a:xfrm>
              <a:off x="781050" y="2486534"/>
              <a:ext cx="4800600"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What work is</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the customer requesting?</a:t>
              </a:r>
              <a:endParaRPr lang="en-US" sz="2000" b="1" i="0" kern="0" spc="-38" dirty="0">
                <a:solidFill>
                  <a:srgbClr val="022AC0"/>
                </a:solidFill>
                <a:latin typeface="Manrope"/>
                <a:ea typeface="Manrope"/>
                <a:cs typeface="Manrope"/>
              </a:endParaRPr>
            </a:p>
          </p:txBody>
        </p:sp>
        <p:sp>
          <p:nvSpPr>
            <p:cNvPr id="1018" name="11 · contract-text-2: Conversation prefix + verified candidate items. [p11-text-0025]" descr="Native editable Unicode text; authored line breaks retained."/>
            <p:cNvSpPr txBox="1"/>
            <p:nvPr/>
          </p:nvSpPr>
          <p:spPr>
            <a:xfrm>
              <a:off x="781050" y="3236162"/>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Conversation prefix</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 verified candidate items.</a:t>
              </a:r>
              <a:endParaRPr lang="en-US" sz="1400" b="0" i="0" kern="0" spc="0" dirty="0">
                <a:solidFill>
                  <a:srgbClr val="032D60"/>
                </a:solidFill>
                <a:latin typeface="Salesforce Sans"/>
                <a:ea typeface="Salesforce Sans"/>
                <a:cs typeface="Salesforce Sans"/>
              </a:endParaRPr>
            </a:p>
          </p:txBody>
        </p:sp>
      </p:grpSp>
      <p:sp>
        <p:nvSpPr>
          <p:cNvPr id="1019" name="11 · caption: CONCEPTUAL LABELS · BOUNDARY EXAMPLES [p11-text-0026]" descr="Native editable Unicode text; authored line breaks retained."/>
          <p:cNvSpPr txBox="1"/>
          <p:nvPr/>
        </p:nvSpPr>
        <p:spPr>
          <a:xfrm>
            <a:off x="558800" y="4141597"/>
            <a:ext cx="5245100" cy="1714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000" b="0" i="0" kern="0" spc="0" dirty="0">
                <a:solidFill>
                  <a:srgbClr val="032D60"/>
                </a:solidFill>
                <a:latin typeface="IBM Plex Mono"/>
                <a:ea typeface="IBM Plex Mono"/>
                <a:cs typeface="IBM Plex Mono"/>
              </a:rPr>
              <a:t>CONCEPTUAL LABELS · BOUNDARY EXAMPLES</a:t>
            </a:r>
            <a:endParaRPr lang="en-US" sz="1000" b="0" i="0" kern="0" spc="0" dirty="0">
              <a:solidFill>
                <a:srgbClr val="032D60"/>
              </a:solidFill>
              <a:latin typeface="IBM Plex Mono"/>
              <a:ea typeface="IBM Plex Mono"/>
              <a:cs typeface="IBM Plex Mono"/>
            </a:endParaRPr>
          </a:p>
        </p:txBody>
      </p:sp>
      <p:sp>
        <p:nvSpPr>
          <p:cNvPr id="1020" name="11 · td: “Swap for blue.” [p11-text-0027]" descr="Native editable Unicode text; authored line breaks retained."/>
          <p:cNvSpPr txBox="1"/>
          <p:nvPr/>
        </p:nvSpPr>
        <p:spPr>
          <a:xfrm>
            <a:off x="609600" y="4500214"/>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“Swap for blue.”</a:t>
            </a:r>
            <a:endParaRPr lang="en-US" sz="1250" b="0" i="0" kern="0" spc="0" dirty="0">
              <a:solidFill>
                <a:srgbClr val="032D60"/>
              </a:solidFill>
              <a:latin typeface="Salesforce Sans"/>
              <a:ea typeface="Salesforce Sans"/>
              <a:cs typeface="Salesforce Sans"/>
            </a:endParaRPr>
          </a:p>
        </p:txBody>
      </p:sp>
      <p:sp>
        <p:nvSpPr>
          <p:cNvPr id="1021" name="11 · code · surface [p11-e0023]"/>
          <p:cNvSpPr/>
          <p:nvPr/>
        </p:nvSpPr>
        <p:spPr>
          <a:xfrm>
            <a:off x="4762500" y="4522620"/>
            <a:ext cx="751225" cy="161798"/>
          </a:xfrm>
          <a:prstGeom prst="roundRect">
            <a:avLst>
              <a:gd name="adj" fmla="val 23548"/>
            </a:avLst>
          </a:prstGeom>
          <a:solidFill>
            <a:srgbClr val="FFFFFF">
              <a:alpha val="65882"/>
            </a:srgbClr>
          </a:solidFill>
          <a:ln>
            <a:noFill/>
          </a:ln>
        </p:spPr>
      </p:sp>
      <p:sp>
        <p:nvSpPr>
          <p:cNvPr id="1022" name="11 · td: exchange [p11-text-0028]" descr="Native editable Unicode text; authored line breaks retained."/>
          <p:cNvSpPr txBox="1"/>
          <p:nvPr/>
        </p:nvSpPr>
        <p:spPr>
          <a:xfrm>
            <a:off x="4762500" y="4509621"/>
            <a:ext cx="990600" cy="215900"/>
          </a:xfrm>
          <a:prstGeom prst="rect">
            <a:avLst/>
          </a:prstGeom>
          <a:noFill/>
          <a:ln>
            <a:noFill/>
          </a:ln>
        </p:spPr>
        <p:txBody>
          <a:bodyPr wrap="none" lIns="0" rIns="0" tIns="0" bIns="0" anchor="t" anchorCtr="0" vertOverflow="overflow" horzOverflow="overflow" spcFirstLastPara="0">
            <a:noAutofit/>
          </a:bodyPr>
          <a:lstStyle/>
          <a:p>
            <a:pPr marL="0" marR="0" indent="28892"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exchange</a:t>
            </a:r>
            <a:endParaRPr lang="en-US" sz="1138" b="0" i="0" kern="0" spc="0" dirty="0">
              <a:solidFill>
                <a:srgbClr val="032D60"/>
              </a:solidFill>
              <a:latin typeface="IBM Plex Mono"/>
              <a:ea typeface="IBM Plex Mono"/>
              <a:cs typeface="IBM Plex Mono"/>
            </a:endParaRPr>
          </a:p>
        </p:txBody>
      </p:sp>
      <p:sp>
        <p:nvSpPr>
          <p:cNvPr id="1023" name="11 · td: “Only the kit cable.” [p11-text-0029]" descr="Native editable Unicode text; authored line breaks retained."/>
          <p:cNvSpPr txBox="1"/>
          <p:nvPr/>
        </p:nvSpPr>
        <p:spPr>
          <a:xfrm>
            <a:off x="609600" y="4919314"/>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“Only the kit cable.”</a:t>
            </a:r>
            <a:endParaRPr lang="en-US" sz="1250" b="0" i="0" kern="0" spc="0" dirty="0">
              <a:solidFill>
                <a:srgbClr val="032D60"/>
              </a:solidFill>
              <a:latin typeface="Salesforce Sans"/>
              <a:ea typeface="Salesforce Sans"/>
              <a:cs typeface="Salesforce Sans"/>
            </a:endParaRPr>
          </a:p>
        </p:txBody>
      </p:sp>
      <p:sp>
        <p:nvSpPr>
          <p:cNvPr id="1024" name="11 · code · surface [p11-e0026]"/>
          <p:cNvSpPr/>
          <p:nvPr/>
        </p:nvSpPr>
        <p:spPr>
          <a:xfrm>
            <a:off x="4762500" y="4941720"/>
            <a:ext cx="837905" cy="161798"/>
          </a:xfrm>
          <a:prstGeom prst="roundRect">
            <a:avLst>
              <a:gd name="adj" fmla="val 23548"/>
            </a:avLst>
          </a:prstGeom>
          <a:solidFill>
            <a:srgbClr val="FFFFFF">
              <a:alpha val="65882"/>
            </a:srgbClr>
          </a:solidFill>
          <a:ln>
            <a:noFill/>
          </a:ln>
        </p:spPr>
      </p:sp>
      <p:sp>
        <p:nvSpPr>
          <p:cNvPr id="1025" name="11 · td: component [p11-text-0030]" descr="Native editable Unicode text; authored line breaks retained."/>
          <p:cNvSpPr txBox="1"/>
          <p:nvPr/>
        </p:nvSpPr>
        <p:spPr>
          <a:xfrm>
            <a:off x="4762500" y="4928721"/>
            <a:ext cx="990600" cy="215900"/>
          </a:xfrm>
          <a:prstGeom prst="rect">
            <a:avLst/>
          </a:prstGeom>
          <a:noFill/>
          <a:ln>
            <a:noFill/>
          </a:ln>
        </p:spPr>
        <p:txBody>
          <a:bodyPr wrap="none" lIns="0" rIns="0" tIns="0" bIns="0" anchor="t" anchorCtr="0" vertOverflow="overflow" horzOverflow="overflow" spcFirstLastPara="0">
            <a:noAutofit/>
          </a:bodyPr>
          <a:lstStyle/>
          <a:p>
            <a:pPr marL="0" marR="0" indent="28892"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component</a:t>
            </a:r>
            <a:endParaRPr lang="en-US" sz="1138" b="0" i="0" kern="0" spc="0" dirty="0">
              <a:solidFill>
                <a:srgbClr val="032D60"/>
              </a:solidFill>
              <a:latin typeface="IBM Plex Mono"/>
              <a:ea typeface="IBM Plex Mono"/>
              <a:cs typeface="IBM Plex Mono"/>
            </a:endParaRPr>
          </a:p>
        </p:txBody>
      </p:sp>
      <p:sp>
        <p:nvSpPr>
          <p:cNvPr id="1026" name="11 · td: “Return this one.” [p11-text-0031]" descr="Native editable Unicode text; authored line breaks retained."/>
          <p:cNvSpPr txBox="1"/>
          <p:nvPr/>
        </p:nvSpPr>
        <p:spPr>
          <a:xfrm>
            <a:off x="609600" y="5443189"/>
            <a:ext cx="4064000" cy="2159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50"/>
              </a:lnSpc>
              <a:spcBef>
                <a:spcPts val="0"/>
              </a:spcBef>
              <a:spcAft>
                <a:spcPts val="0"/>
              </a:spcAft>
              <a:buNone/>
            </a:pPr>
            <a:r>
              <a:rPr lang="en-US" sz="1250" b="0" i="0" kern="0" spc="0" dirty="0">
                <a:solidFill>
                  <a:srgbClr val="032D60"/>
                </a:solidFill>
                <a:latin typeface="Salesforce Sans"/>
                <a:ea typeface="Salesforce Sans"/>
                <a:cs typeface="Salesforce Sans"/>
              </a:rPr>
              <a:t>“Return this one.”</a:t>
            </a:r>
            <a:endParaRPr lang="en-US" sz="1250" b="0" i="0" kern="0" spc="0" dirty="0">
              <a:solidFill>
                <a:srgbClr val="032D60"/>
              </a:solidFill>
              <a:latin typeface="Salesforce Sans"/>
              <a:ea typeface="Salesforce Sans"/>
              <a:cs typeface="Salesforce Sans"/>
            </a:endParaRPr>
          </a:p>
        </p:txBody>
      </p:sp>
      <p:sp>
        <p:nvSpPr>
          <p:cNvPr id="1027" name="11 · code · surface [p11-e0029]"/>
          <p:cNvSpPr/>
          <p:nvPr/>
        </p:nvSpPr>
        <p:spPr>
          <a:xfrm>
            <a:off x="4762500" y="5360820"/>
            <a:ext cx="635652" cy="161798"/>
          </a:xfrm>
          <a:custGeom>
            <a:avLst/>
            <a:gdLst/>
            <a:ahLst/>
            <a:cxnLst/>
            <a:rect l="0" t="0" r="r" b="b"/>
            <a:pathLst>
              <a:path w="635652" h="161798" fill="norm" stroke="1" extrusionOk="0">
                <a:moveTo>
                  <a:pt x="38100" y="0"/>
                </a:moveTo>
                <a:lnTo>
                  <a:pt x="635652" y="0"/>
                </a:lnTo>
                <a:cubicBezTo>
                  <a:pt x="635652" y="0"/>
                  <a:pt x="635652" y="0"/>
                  <a:pt x="635652" y="0"/>
                </a:cubicBezTo>
                <a:lnTo>
                  <a:pt x="635652" y="161798"/>
                </a:lnTo>
                <a:cubicBezTo>
                  <a:pt x="635652" y="161798"/>
                  <a:pt x="635652" y="161798"/>
                  <a:pt x="635652" y="161798"/>
                </a:cubicBezTo>
                <a:lnTo>
                  <a:pt x="38100" y="161798"/>
                </a:lnTo>
                <a:cubicBezTo>
                  <a:pt x="17058" y="161798"/>
                  <a:pt x="0" y="144740"/>
                  <a:pt x="0" y="123698"/>
                </a:cubicBezTo>
                <a:lnTo>
                  <a:pt x="0" y="38100"/>
                </a:lnTo>
                <a:cubicBezTo>
                  <a:pt x="0" y="17058"/>
                  <a:pt x="17058" y="0"/>
                  <a:pt x="38100" y="0"/>
                </a:cubicBezTo>
                <a:close/>
              </a:path>
            </a:pathLst>
          </a:custGeom>
          <a:solidFill>
            <a:srgbClr val="FFFFFF">
              <a:alpha val="65882"/>
            </a:srgbClr>
          </a:solidFill>
          <a:ln>
            <a:noFill/>
          </a:ln>
        </p:spPr>
      </p:sp>
      <p:sp>
        <p:nvSpPr>
          <p:cNvPr id="1028" name="11 · code · surface [p11-e0031]"/>
          <p:cNvSpPr/>
          <p:nvPr/>
        </p:nvSpPr>
        <p:spPr>
          <a:xfrm>
            <a:off x="4762500" y="5570370"/>
            <a:ext cx="375612" cy="161798"/>
          </a:xfrm>
          <a:custGeom>
            <a:avLst/>
            <a:gdLst/>
            <a:ahLst/>
            <a:cxnLst/>
            <a:rect l="0" t="0" r="r" b="b"/>
            <a:pathLst>
              <a:path w="375612" h="161798" fill="norm" stroke="1" extrusionOk="0">
                <a:moveTo>
                  <a:pt x="0" y="0"/>
                </a:moveTo>
                <a:lnTo>
                  <a:pt x="337512" y="0"/>
                </a:lnTo>
                <a:cubicBezTo>
                  <a:pt x="358554" y="0"/>
                  <a:pt x="375612" y="17058"/>
                  <a:pt x="375612" y="38100"/>
                </a:cubicBezTo>
                <a:lnTo>
                  <a:pt x="375612" y="123698"/>
                </a:lnTo>
                <a:cubicBezTo>
                  <a:pt x="375612" y="144740"/>
                  <a:pt x="358554" y="161798"/>
                  <a:pt x="337512" y="161798"/>
                </a:cubicBezTo>
                <a:lnTo>
                  <a:pt x="0" y="161798"/>
                </a:lnTo>
                <a:cubicBezTo>
                  <a:pt x="0" y="161798"/>
                  <a:pt x="0" y="161798"/>
                  <a:pt x="0" y="161798"/>
                </a:cubicBezTo>
                <a:lnTo>
                  <a:pt x="0" y="0"/>
                </a:lnTo>
                <a:cubicBezTo>
                  <a:pt x="0" y="0"/>
                  <a:pt x="0" y="0"/>
                  <a:pt x="0" y="0"/>
                </a:cubicBezTo>
                <a:close/>
              </a:path>
            </a:pathLst>
          </a:custGeom>
          <a:solidFill>
            <a:srgbClr val="FFFFFF">
              <a:alpha val="65882"/>
            </a:srgbClr>
          </a:solidFill>
          <a:ln>
            <a:noFill/>
          </a:ln>
        </p:spPr>
      </p:sp>
      <p:sp>
        <p:nvSpPr>
          <p:cNvPr id="1029" name="11 · td: clarify unit [p11-text-0032]" descr="Native editable Unicode text; authored line breaks retained."/>
          <p:cNvSpPr txBox="1"/>
          <p:nvPr/>
        </p:nvSpPr>
        <p:spPr>
          <a:xfrm>
            <a:off x="4762500" y="5347821"/>
            <a:ext cx="990600" cy="425450"/>
          </a:xfrm>
          <a:prstGeom prst="rect">
            <a:avLst/>
          </a:prstGeom>
          <a:noFill/>
          <a:ln>
            <a:noFill/>
          </a:ln>
        </p:spPr>
        <p:txBody>
          <a:bodyPr wrap="none" lIns="0" rIns="0" tIns="0" bIns="0" anchor="t" anchorCtr="0" vertOverflow="overflow" horzOverflow="overflow" spcFirstLastPara="0">
            <a:noAutofit/>
          </a:bodyPr>
          <a:lstStyle/>
          <a:p>
            <a:pPr marL="0" marR="0" indent="28892"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clarify</a:t>
            </a:r>
            <a:endParaRPr lang="en-US" sz="1138" b="0" i="0" kern="0" spc="0" dirty="0">
              <a:solidFill>
                <a:srgbClr val="032D60"/>
              </a:solidFill>
              <a:latin typeface="IBM Plex Mono"/>
              <a:ea typeface="IBM Plex Mono"/>
              <a:cs typeface="IBM Plex Mono"/>
            </a:endParaRPr>
          </a:p>
          <a:p>
            <a:pPr marL="0" marR="0" indent="0" algn="l" fontAlgn="base">
              <a:lnSpc>
                <a:spcPts val="1650"/>
              </a:lnSpc>
              <a:spcBef>
                <a:spcPts val="0"/>
              </a:spcBef>
              <a:spcAft>
                <a:spcPts val="0"/>
              </a:spcAft>
              <a:buNone/>
            </a:pPr>
            <a:r>
              <a:rPr lang="en-US" sz="1138" b="0" i="0" kern="0" spc="0" dirty="0">
                <a:solidFill>
                  <a:srgbClr val="032D60"/>
                </a:solidFill>
                <a:latin typeface="IBM Plex Mono"/>
                <a:ea typeface="IBM Plex Mono"/>
                <a:cs typeface="IBM Plex Mono"/>
              </a:rPr>
              <a:t>unit</a:t>
            </a:r>
            <a:endParaRPr lang="en-US" sz="1138" b="0" i="0" kern="0" spc="0" dirty="0">
              <a:solidFill>
                <a:srgbClr val="032D60"/>
              </a:solidFill>
              <a:latin typeface="IBM Plex Mono"/>
              <a:ea typeface="IBM Plex Mono"/>
              <a:cs typeface="IBM Plex Mono"/>
            </a:endParaRPr>
          </a:p>
        </p:txBody>
      </p:sp>
      <p:sp>
        <p:nvSpPr>
          <p:cNvPr id="1030" name="11 · contract-text-3: Keep three fields distinct [p11-text-0033]"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three fields distinct</a:t>
            </a:r>
            <a:endParaRPr lang="en-US" sz="2000" b="1" i="0" kern="0" spc="-38" dirty="0">
              <a:solidFill>
                <a:srgbClr val="022AC0"/>
              </a:solidFill>
              <a:latin typeface="Manrope"/>
              <a:ea typeface="Manrope"/>
              <a:cs typeface="Manrope"/>
            </a:endParaRPr>
          </a:p>
        </p:txBody>
      </p:sp>
      <p:grpSp>
        <p:nvGrpSpPr>
          <p:cNvPr id="1052" name="11 · pill: Remedy"/>
          <p:cNvGrpSpPr/>
          <p:nvPr/>
        </p:nvGrpSpPr>
        <p:grpSpPr>
          <a:xfrm>
            <a:off x="6470650" y="2388870"/>
            <a:ext cx="800100" cy="358775"/>
            <a:chOff x="6470650" y="2388870"/>
            <a:chExt cx="800100" cy="358775"/>
          </a:xfrm>
        </p:grpSpPr>
        <p:sp>
          <p:nvSpPr>
            <p:cNvPr id="1031" name="11 · pill · surface [p11-e0034]"/>
            <p:cNvSpPr/>
            <p:nvPr/>
          </p:nvSpPr>
          <p:spPr>
            <a:xfrm>
              <a:off x="6470650" y="2388870"/>
              <a:ext cx="800100" cy="358775"/>
            </a:xfrm>
            <a:prstGeom prst="roundRect">
              <a:avLst>
                <a:gd name="adj" fmla="val 35398"/>
              </a:avLst>
            </a:prstGeom>
            <a:solidFill>
              <a:srgbClr val="EAE6FA"/>
            </a:solidFill>
            <a:ln>
              <a:noFill/>
            </a:ln>
          </p:spPr>
        </p:sp>
        <p:sp>
          <p:nvSpPr>
            <p:cNvPr id="1032" name="11 · pill: Remedy [p11-text-0034]" descr="Native editable Unicode text; authored line breaks retained."/>
            <p:cNvSpPr txBox="1"/>
            <p:nvPr/>
          </p:nvSpPr>
          <p:spPr>
            <a:xfrm>
              <a:off x="6584950" y="2465070"/>
              <a:ext cx="5842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Remedy</a:t>
              </a:r>
              <a:endParaRPr lang="en-US" sz="1250" b="0" i="0" kern="0" spc="0" dirty="0">
                <a:solidFill>
                  <a:srgbClr val="032D60"/>
                </a:solidFill>
                <a:latin typeface="IBM Plex Mono"/>
                <a:ea typeface="IBM Plex Mono"/>
                <a:cs typeface="IBM Plex Mono"/>
              </a:endParaRPr>
            </a:p>
          </p:txBody>
        </p:sp>
      </p:grpSp>
      <p:grpSp>
        <p:nvGrpSpPr>
          <p:cNvPr id="1053" name="11 · pill: Unit"/>
          <p:cNvGrpSpPr/>
          <p:nvPr/>
        </p:nvGrpSpPr>
        <p:grpSpPr>
          <a:xfrm>
            <a:off x="7359650" y="2388870"/>
            <a:ext cx="609600" cy="358775"/>
            <a:chOff x="7359650" y="2388870"/>
            <a:chExt cx="609600" cy="358775"/>
          </a:xfrm>
        </p:grpSpPr>
        <p:sp>
          <p:nvSpPr>
            <p:cNvPr id="1033" name="11 · pill · surface [p11-e0036]"/>
            <p:cNvSpPr/>
            <p:nvPr/>
          </p:nvSpPr>
          <p:spPr>
            <a:xfrm>
              <a:off x="7359650" y="2388870"/>
              <a:ext cx="609600" cy="358775"/>
            </a:xfrm>
            <a:prstGeom prst="roundRect">
              <a:avLst>
                <a:gd name="adj" fmla="val 35398"/>
              </a:avLst>
            </a:prstGeom>
            <a:solidFill>
              <a:srgbClr val="EAE6FA"/>
            </a:solidFill>
            <a:ln>
              <a:noFill/>
            </a:ln>
          </p:spPr>
        </p:sp>
        <p:sp>
          <p:nvSpPr>
            <p:cNvPr id="1034" name="11 · pill: Unit [p11-text-0035]" descr="Native editable Unicode text; authored line breaks retained."/>
            <p:cNvSpPr txBox="1"/>
            <p:nvPr/>
          </p:nvSpPr>
          <p:spPr>
            <a:xfrm>
              <a:off x="7473950" y="2465070"/>
              <a:ext cx="3937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Unit</a:t>
              </a:r>
              <a:endParaRPr lang="en-US" sz="1250" b="0" i="0" kern="0" spc="0" dirty="0">
                <a:solidFill>
                  <a:srgbClr val="032D60"/>
                </a:solidFill>
                <a:latin typeface="IBM Plex Mono"/>
                <a:ea typeface="IBM Plex Mono"/>
                <a:cs typeface="IBM Plex Mono"/>
              </a:endParaRPr>
            </a:p>
          </p:txBody>
        </p:sp>
      </p:grpSp>
      <p:grpSp>
        <p:nvGrpSpPr>
          <p:cNvPr id="1054" name="11 · pill: Interpretation"/>
          <p:cNvGrpSpPr/>
          <p:nvPr/>
        </p:nvGrpSpPr>
        <p:grpSpPr>
          <a:xfrm>
            <a:off x="8058150" y="2388870"/>
            <a:ext cx="1562100" cy="358775"/>
            <a:chOff x="8058150" y="2388870"/>
            <a:chExt cx="1562100" cy="358775"/>
          </a:xfrm>
        </p:grpSpPr>
        <p:sp>
          <p:nvSpPr>
            <p:cNvPr id="1035" name="11 · pill · surface [p11-e0038]"/>
            <p:cNvSpPr/>
            <p:nvPr/>
          </p:nvSpPr>
          <p:spPr>
            <a:xfrm>
              <a:off x="8058150" y="2388870"/>
              <a:ext cx="1562100" cy="358775"/>
            </a:xfrm>
            <a:prstGeom prst="roundRect">
              <a:avLst>
                <a:gd name="adj" fmla="val 35398"/>
              </a:avLst>
            </a:prstGeom>
            <a:solidFill>
              <a:srgbClr val="EAE6FA"/>
            </a:solidFill>
            <a:ln>
              <a:noFill/>
            </a:ln>
          </p:spPr>
        </p:sp>
        <p:sp>
          <p:nvSpPr>
            <p:cNvPr id="1036" name="11 · pill: Interpretation [p11-text-0036]" descr="Native editable Unicode text; authored line breaks retained."/>
            <p:cNvSpPr txBox="1"/>
            <p:nvPr/>
          </p:nvSpPr>
          <p:spPr>
            <a:xfrm>
              <a:off x="8172450" y="2465070"/>
              <a:ext cx="134620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Interpretation</a:t>
              </a:r>
              <a:endParaRPr lang="en-US" sz="1250" b="0" i="0" kern="0" spc="0" dirty="0">
                <a:solidFill>
                  <a:srgbClr val="032D60"/>
                </a:solidFill>
                <a:latin typeface="IBM Plex Mono"/>
                <a:ea typeface="IBM Plex Mono"/>
                <a:cs typeface="IBM Plex Mono"/>
              </a:endParaRPr>
            </a:p>
          </p:txBody>
        </p:sp>
      </p:grpSp>
      <p:grpSp>
        <p:nvGrpSpPr>
          <p:cNvPr id="1055" name="11 · card mint: Clear + supported"/>
          <p:cNvGrpSpPr/>
          <p:nvPr/>
        </p:nvGrpSpPr>
        <p:grpSpPr>
          <a:xfrm>
            <a:off x="6610350" y="3096895"/>
            <a:ext cx="4749800" cy="569359"/>
            <a:chOff x="6610350" y="3096895"/>
            <a:chExt cx="4749800" cy="569359"/>
          </a:xfrm>
        </p:grpSpPr>
        <p:sp>
          <p:nvSpPr>
            <p:cNvPr id="1037" name="11 · strong: Clear + supported [p11-text-0037]" descr="Native editable Unicode text; authored line breaks retained."/>
            <p:cNvSpPr txBox="1"/>
            <p:nvPr/>
          </p:nvSpPr>
          <p:spPr>
            <a:xfrm>
              <a:off x="6610350" y="3096895"/>
              <a:ext cx="4749800"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1" i="0" kern="0" spc="0" dirty="0">
                  <a:solidFill>
                    <a:srgbClr val="032D60"/>
                  </a:solidFill>
                  <a:latin typeface="Salesforce Sans"/>
                  <a:ea typeface="Salesforce Sans"/>
                  <a:cs typeface="Salesforce Sans"/>
                </a:rPr>
                <a:t>Clear + supported</a:t>
              </a:r>
              <a:endParaRPr lang="en-US" sz="1500" b="1" i="0" kern="0" spc="0" dirty="0">
                <a:solidFill>
                  <a:srgbClr val="032D60"/>
                </a:solidFill>
                <a:latin typeface="Salesforce Sans"/>
                <a:ea typeface="Salesforce Sans"/>
                <a:cs typeface="Salesforce Sans"/>
              </a:endParaRPr>
            </a:p>
          </p:txBody>
        </p:sp>
        <p:sp>
          <p:nvSpPr>
            <p:cNvPr id="1038" name="11 · contract-text-4: Graph selects the applicable handler. [p11-text-0038]" descr="Native editable Unicode text; authored line breaks retained."/>
            <p:cNvSpPr txBox="1"/>
            <p:nvPr/>
          </p:nvSpPr>
          <p:spPr>
            <a:xfrm>
              <a:off x="6610350" y="3416445"/>
              <a:ext cx="4749800" cy="24980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17"/>
                </a:lnSpc>
                <a:spcBef>
                  <a:spcPts val="0"/>
                </a:spcBef>
                <a:spcAft>
                  <a:spcPts val="0"/>
                </a:spcAft>
                <a:buNone/>
              </a:pPr>
              <a:r>
                <a:rPr lang="en-US" sz="1350" b="0" i="0" kern="0" spc="0" dirty="0">
                  <a:solidFill>
                    <a:srgbClr val="032D60"/>
                  </a:solidFill>
                  <a:latin typeface="Salesforce Sans"/>
                  <a:ea typeface="Salesforce Sans"/>
                  <a:cs typeface="Salesforce Sans"/>
                </a:rPr>
                <a:t>Graph selects the applicable handler.</a:t>
              </a:r>
              <a:endParaRPr lang="en-US" sz="1350" b="0" i="0" kern="0" spc="0" dirty="0">
                <a:solidFill>
                  <a:srgbClr val="032D60"/>
                </a:solidFill>
                <a:latin typeface="Salesforce Sans"/>
                <a:ea typeface="Salesforce Sans"/>
                <a:cs typeface="Salesforce Sans"/>
              </a:endParaRPr>
            </a:p>
          </p:txBody>
        </p:sp>
      </p:grpSp>
      <p:grpSp>
        <p:nvGrpSpPr>
          <p:cNvPr id="1056" name="11 · card sand: Meaning unclear"/>
          <p:cNvGrpSpPr/>
          <p:nvPr/>
        </p:nvGrpSpPr>
        <p:grpSpPr>
          <a:xfrm>
            <a:off x="6610350" y="4067175"/>
            <a:ext cx="4749800" cy="569359"/>
            <a:chOff x="6610350" y="4067175"/>
            <a:chExt cx="4749800" cy="569359"/>
          </a:xfrm>
        </p:grpSpPr>
        <p:sp>
          <p:nvSpPr>
            <p:cNvPr id="1039" name="11 · strong: Meaning unclear [p11-text-0039]" descr="Native editable Unicode text; authored line breaks retained."/>
            <p:cNvSpPr txBox="1"/>
            <p:nvPr/>
          </p:nvSpPr>
          <p:spPr>
            <a:xfrm>
              <a:off x="6610350" y="4067175"/>
              <a:ext cx="4749800"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1" i="0" kern="0" spc="0" dirty="0">
                  <a:solidFill>
                    <a:srgbClr val="032D60"/>
                  </a:solidFill>
                  <a:latin typeface="Salesforce Sans"/>
                  <a:ea typeface="Salesforce Sans"/>
                  <a:cs typeface="Salesforce Sans"/>
                </a:rPr>
                <a:t>Meaning unclear</a:t>
              </a:r>
              <a:endParaRPr lang="en-US" sz="1500" b="1" i="0" kern="0" spc="0" dirty="0">
                <a:solidFill>
                  <a:srgbClr val="032D60"/>
                </a:solidFill>
                <a:latin typeface="Salesforce Sans"/>
                <a:ea typeface="Salesforce Sans"/>
                <a:cs typeface="Salesforce Sans"/>
              </a:endParaRPr>
            </a:p>
          </p:txBody>
        </p:sp>
        <p:sp>
          <p:nvSpPr>
            <p:cNvPr id="1040" name="11 · contract-text-5: Ask one useful clarification. [p11-text-0040]" descr="Native editable Unicode text; authored line breaks retained."/>
            <p:cNvSpPr txBox="1"/>
            <p:nvPr/>
          </p:nvSpPr>
          <p:spPr>
            <a:xfrm>
              <a:off x="6610350" y="4386725"/>
              <a:ext cx="4749800" cy="24980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17"/>
                </a:lnSpc>
                <a:spcBef>
                  <a:spcPts val="0"/>
                </a:spcBef>
                <a:spcAft>
                  <a:spcPts val="0"/>
                </a:spcAft>
                <a:buNone/>
              </a:pPr>
              <a:r>
                <a:rPr lang="en-US" sz="1350" b="0" i="0" kern="0" spc="0" dirty="0">
                  <a:solidFill>
                    <a:srgbClr val="032D60"/>
                  </a:solidFill>
                  <a:latin typeface="Salesforce Sans"/>
                  <a:ea typeface="Salesforce Sans"/>
                  <a:cs typeface="Salesforce Sans"/>
                </a:rPr>
                <a:t>Ask one useful clarification.</a:t>
              </a:r>
              <a:endParaRPr lang="en-US" sz="1350" b="0" i="0" kern="0" spc="0" dirty="0">
                <a:solidFill>
                  <a:srgbClr val="032D60"/>
                </a:solidFill>
                <a:latin typeface="Salesforce Sans"/>
                <a:ea typeface="Salesforce Sans"/>
                <a:cs typeface="Salesforce Sans"/>
              </a:endParaRPr>
            </a:p>
          </p:txBody>
        </p:sp>
      </p:grpSp>
      <p:sp>
        <p:nvSpPr>
          <p:cNvPr id="1041" name="11 · contract-text-6: Unsupported combinations use a configured specialist. Invalid output follows b [p11-text-0041]" descr="Native editable Unicode text; authored line breaks retained."/>
          <p:cNvSpPr txBox="1"/>
          <p:nvPr/>
        </p:nvSpPr>
        <p:spPr>
          <a:xfrm>
            <a:off x="6426200" y="4904740"/>
            <a:ext cx="5118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Unsupported combinations use a configured specialist.</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Invalid output follows bounded recovery.</a:t>
            </a:r>
            <a:endParaRPr lang="en-US" sz="1250" b="0" i="0" kern="0" spc="0" dirty="0">
              <a:solidFill>
                <a:srgbClr val="032D60"/>
              </a:solidFill>
              <a:latin typeface="Salesforce Sans"/>
              <a:ea typeface="Salesforce Sans"/>
              <a:cs typeface="Salesforce Sans"/>
            </a:endParaRPr>
          </a:p>
        </p:txBody>
      </p:sp>
      <p:sp>
        <p:nvSpPr>
          <p:cNvPr id="1042" name="11 · tag: BOUNDED SEMANTIC QUESTION [p11-text-0042]"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BOUNDED SEMANTIC QUESTION</a:t>
            </a:r>
            <a:endParaRPr lang="en-US" sz="1050" b="0" i="0" kern="0" spc="50" dirty="0">
              <a:solidFill>
                <a:srgbClr val="022AC0">
                  <a:alpha val="85000"/>
                </a:srgbClr>
              </a:solidFill>
              <a:latin typeface="IBM Plex Mono"/>
              <a:ea typeface="IBM Plex Mono"/>
              <a:cs typeface="IBM Plex Mono"/>
            </a:endParaRPr>
          </a:p>
        </p:txBody>
      </p:sp>
      <p:grpSp>
        <p:nvGrpSpPr>
          <p:cNvPr id="1057" name="11 · source-line: TypeSafe quickstart · Intent routing · Structured decision criteria"/>
          <p:cNvGrpSpPr/>
          <p:nvPr/>
        </p:nvGrpSpPr>
        <p:grpSpPr>
          <a:xfrm>
            <a:off x="558800" y="6037898"/>
            <a:ext cx="11087100" cy="284456"/>
            <a:chOff x="558800" y="6037898"/>
            <a:chExt cx="11087100" cy="284456"/>
          </a:xfrm>
        </p:grpSpPr>
        <p:sp>
          <p:nvSpPr>
            <p:cNvPr id="1043" name="11 · source-line · top border [p11-e0047]"/>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4" name="11 · span: TypeSafe quickstart · Intent routing · Structured decision criteria [p11-text-0043]" descr="Native editable Unicode text; authored line breaks retained."/>
            <p:cNvSpPr txBox="1"/>
            <p:nvPr/>
          </p:nvSpPr>
          <p:spPr>
            <a:xfrm>
              <a:off x="558800" y="6153126"/>
              <a:ext cx="357517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TypeSafe quickstart"/>
                </a:rPr>
                <a:t>TypeSafe quickstart</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Intent routing"/>
                </a:rPr>
                <a:t>Intent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Structured decision criteria"/>
                </a:rPr>
                <a:t>Structured decision criteria</a:t>
              </a:r>
              <a:endParaRPr lang="en-US" sz="950" b="0" i="0" kern="0" spc="0" dirty="0" u="sng">
                <a:solidFill>
                  <a:srgbClr val="315A7A"/>
                </a:solidFill>
                <a:latin typeface="Salesforce Sans"/>
                <a:ea typeface="Salesforce Sans"/>
                <a:cs typeface="Salesforce Sans"/>
              </a:endParaRPr>
            </a:p>
          </p:txBody>
        </p:sp>
        <p:sp>
          <p:nvSpPr>
            <p:cNvPr id="1045" name="11 · span: Illustrative application contract [p11-text-0044]" descr="Native editable Unicode text; authored line breaks retained."/>
            <p:cNvSpPr txBox="1"/>
            <p:nvPr/>
          </p:nvSpPr>
          <p:spPr>
            <a:xfrm>
              <a:off x="9900512" y="6153126"/>
              <a:ext cx="174538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application contract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our bounded decisions, four contracts">
    <p:bg>
      <p:bgPr>
        <a:solidFill>
          <a:srgbClr val="FFFFFF"/>
        </a:solidFill>
      </p:bgPr>
    </p:bg>
    <p:spTree>
      <p:nvGrpSpPr>
        <p:cNvPr id="1" name=""/>
        <p:cNvGrpSpPr/>
        <p:nvPr/>
      </p:nvGrpSpPr>
      <p:grpSpPr>
        <a:xfrm>
          <a:off x="0" y="0"/>
          <a:ext cx="0" cy="0"/>
          <a:chOff x="0" y="0"/>
          <a:chExt cx="0" cy="0"/>
        </a:xfrm>
      </p:grpSpPr>
      <p:sp>
        <p:nvSpPr>
          <p:cNvPr id="1000" name="12 · slide light · surface [p1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9" name="12 · chrome-min: DISAGGREGATED INTELLIGENCE"/>
          <p:cNvGrpSpPr/>
          <p:nvPr/>
        </p:nvGrpSpPr>
        <p:grpSpPr>
          <a:xfrm>
            <a:off x="558800" y="356053"/>
            <a:ext cx="11087100" cy="187325"/>
            <a:chOff x="558800" y="356053"/>
            <a:chExt cx="11087100" cy="187325"/>
          </a:xfrm>
        </p:grpSpPr>
        <p:sp>
          <p:nvSpPr>
            <p:cNvPr id="1001" name="12 · l: DISAGGREGATED INTELLIGENCE [p12-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2 · r: 12 / 36 [p12-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12 / 36</a:t>
              </a:r>
              <a:endParaRPr lang="en-US" sz="950" b="1" i="0" kern="0" spc="65" dirty="0">
                <a:solidFill>
                  <a:srgbClr val="022AC0"/>
                </a:solidFill>
                <a:latin typeface="Salesforce Sans"/>
                <a:ea typeface="Salesforce Sans"/>
                <a:cs typeface="Salesforce Sans"/>
              </a:endParaRPr>
            </a:p>
          </p:txBody>
        </p:sp>
      </p:grpSp>
      <p:grpSp>
        <p:nvGrpSpPr>
          <p:cNvPr id="1030" name="12 · deck-head: 03 / SYSTEM ONE CAPABILITIES"/>
          <p:cNvGrpSpPr/>
          <p:nvPr/>
        </p:nvGrpSpPr>
        <p:grpSpPr>
          <a:xfrm>
            <a:off x="558800" y="775901"/>
            <a:ext cx="11087100" cy="871263"/>
            <a:chOff x="558800" y="775901"/>
            <a:chExt cx="11087100" cy="871263"/>
          </a:xfrm>
        </p:grpSpPr>
        <p:sp>
          <p:nvSpPr>
            <p:cNvPr id="1003" name="12 · primitives-eyebrow: 03 / SYSTEM ONE CAPABILITIES [p12-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SYSTEM ONE CAPABILITIES</a:t>
              </a:r>
              <a:endParaRPr lang="en-US" sz="1050" b="1" i="0" kern="0" spc="68" dirty="0">
                <a:solidFill>
                  <a:srgbClr val="022AC0"/>
                </a:solidFill>
                <a:latin typeface="Salesforce Sans"/>
                <a:ea typeface="Salesforce Sans"/>
                <a:cs typeface="Salesforce Sans"/>
              </a:endParaRPr>
            </a:p>
          </p:txBody>
        </p:sp>
        <p:sp>
          <p:nvSpPr>
            <p:cNvPr id="1004" name="12 · primitives-title: Four bounded decisions, four contracts [p12-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Four bounded decisions, four contracts</a:t>
              </a:r>
              <a:endParaRPr lang="en-US" sz="3600" b="1" i="0" kern="0" spc="-95" dirty="0">
                <a:solidFill>
                  <a:srgbClr val="022AC0"/>
                </a:solidFill>
                <a:latin typeface="Manrope"/>
                <a:ea typeface="Manrope"/>
                <a:cs typeface="Manrope"/>
              </a:endParaRPr>
            </a:p>
          </p:txBody>
        </p:sp>
      </p:grpSp>
      <p:sp>
        <p:nvSpPr>
          <p:cNvPr id="1005" name="12 · four-cards · top border [p12-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31" name="12 · card lilac: "/>
          <p:cNvGrpSpPr/>
          <p:nvPr/>
        </p:nvGrpSpPr>
        <p:grpSpPr>
          <a:xfrm>
            <a:off x="558800" y="1930400"/>
            <a:ext cx="2644775" cy="4102100"/>
            <a:chOff x="558800" y="1930400"/>
            <a:chExt cx="2644775" cy="4102100"/>
          </a:xfrm>
        </p:grpSpPr>
        <p:sp>
          <p:nvSpPr>
            <p:cNvPr id="1006" name="12 · card lilac · surface [p12-e0009]"/>
            <p:cNvSpPr/>
            <p:nvPr/>
          </p:nvSpPr>
          <p:spPr>
            <a:xfrm>
              <a:off x="558800" y="1930400"/>
              <a:ext cx="2644775" cy="4102100"/>
            </a:xfrm>
            <a:prstGeom prst="roundRect">
              <a:avLst>
                <a:gd name="adj" fmla="val 5282"/>
              </a:avLst>
            </a:prstGeom>
            <a:solidFill>
              <a:srgbClr val="EAE6FA"/>
            </a:solidFill>
            <a:ln>
              <a:noFill/>
            </a:ln>
          </p:spPr>
        </p:sp>
        <p:sp>
          <p:nvSpPr>
            <p:cNvPr id="1007" name="12 · card lilac · outline [p12-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32" name="12 · card sand: "/>
          <p:cNvGrpSpPr/>
          <p:nvPr/>
        </p:nvGrpSpPr>
        <p:grpSpPr>
          <a:xfrm>
            <a:off x="3368675" y="1930400"/>
            <a:ext cx="2644775" cy="4102100"/>
            <a:chOff x="3368675" y="1930400"/>
            <a:chExt cx="2644775" cy="4102100"/>
          </a:xfrm>
        </p:grpSpPr>
        <p:sp>
          <p:nvSpPr>
            <p:cNvPr id="1008" name="12 · card sand · surface [p12-e0010]"/>
            <p:cNvSpPr/>
            <p:nvPr/>
          </p:nvSpPr>
          <p:spPr>
            <a:xfrm>
              <a:off x="3368675" y="1930400"/>
              <a:ext cx="2644775" cy="4102100"/>
            </a:xfrm>
            <a:prstGeom prst="roundRect">
              <a:avLst>
                <a:gd name="adj" fmla="val 5282"/>
              </a:avLst>
            </a:prstGeom>
            <a:solidFill>
              <a:srgbClr val="FBF0CF"/>
            </a:solidFill>
            <a:ln>
              <a:noFill/>
            </a:ln>
          </p:spPr>
        </p:sp>
        <p:sp>
          <p:nvSpPr>
            <p:cNvPr id="1009" name="12 · card sand · outline [p12-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33" name="12 · card mint: "/>
          <p:cNvGrpSpPr/>
          <p:nvPr/>
        </p:nvGrpSpPr>
        <p:grpSpPr>
          <a:xfrm>
            <a:off x="6178550" y="1930400"/>
            <a:ext cx="2644775" cy="4102100"/>
            <a:chOff x="6178550" y="1930400"/>
            <a:chExt cx="2644775" cy="4102100"/>
          </a:xfrm>
        </p:grpSpPr>
        <p:sp>
          <p:nvSpPr>
            <p:cNvPr id="1010" name="12 · card mint · surface [p12-e0011]"/>
            <p:cNvSpPr/>
            <p:nvPr/>
          </p:nvSpPr>
          <p:spPr>
            <a:xfrm>
              <a:off x="6178550" y="1930400"/>
              <a:ext cx="2644775" cy="4102100"/>
            </a:xfrm>
            <a:prstGeom prst="roundRect">
              <a:avLst>
                <a:gd name="adj" fmla="val 5282"/>
              </a:avLst>
            </a:prstGeom>
            <a:solidFill>
              <a:srgbClr val="DDF3ED"/>
            </a:solidFill>
            <a:ln>
              <a:noFill/>
            </a:ln>
          </p:spPr>
        </p:sp>
        <p:sp>
          <p:nvSpPr>
            <p:cNvPr id="1011" name="12 · card mint · outline [p12-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34" name="12 · card blue: "/>
          <p:cNvGrpSpPr/>
          <p:nvPr/>
        </p:nvGrpSpPr>
        <p:grpSpPr>
          <a:xfrm>
            <a:off x="8988425" y="1930400"/>
            <a:ext cx="2644775" cy="4102100"/>
            <a:chOff x="8988425" y="1930400"/>
            <a:chExt cx="2644775" cy="4102100"/>
          </a:xfrm>
        </p:grpSpPr>
        <p:sp>
          <p:nvSpPr>
            <p:cNvPr id="1012" name="12 · card blue · surface [p12-e0012]"/>
            <p:cNvSpPr/>
            <p:nvPr/>
          </p:nvSpPr>
          <p:spPr>
            <a:xfrm>
              <a:off x="8988425" y="1930400"/>
              <a:ext cx="2644775" cy="4102100"/>
            </a:xfrm>
            <a:prstGeom prst="roundRect">
              <a:avLst>
                <a:gd name="adj" fmla="val 5282"/>
              </a:avLst>
            </a:prstGeom>
            <a:solidFill>
              <a:srgbClr val="DCEEFE"/>
            </a:solidFill>
            <a:ln>
              <a:noFill/>
            </a:ln>
          </p:spPr>
        </p:sp>
        <p:sp>
          <p:nvSpPr>
            <p:cNvPr id="1013" name="12 · card blue · outline [p12-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35" name="12 · card lilac: Classification"/>
          <p:cNvGrpSpPr/>
          <p:nvPr/>
        </p:nvGrpSpPr>
        <p:grpSpPr>
          <a:xfrm>
            <a:off x="781050" y="2486534"/>
            <a:ext cx="2212975" cy="1213686"/>
            <a:chOff x="781050" y="2486534"/>
            <a:chExt cx="2212975" cy="1213686"/>
          </a:xfrm>
        </p:grpSpPr>
        <p:sp>
          <p:nvSpPr>
            <p:cNvPr id="1014" name="12 · primitives-text-1: Classification [p12-text-0013]" descr="Native editable Unicode text; authored line breaks retained."/>
            <p:cNvSpPr txBox="1"/>
            <p:nvPr/>
          </p:nvSpPr>
          <p:spPr>
            <a:xfrm>
              <a:off x="78105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Classification</a:t>
              </a:r>
              <a:endParaRPr lang="en-US" sz="2000" b="1" i="0" kern="0" spc="-38" dirty="0">
                <a:solidFill>
                  <a:srgbClr val="022AC0"/>
                </a:solidFill>
                <a:latin typeface="Manrope"/>
                <a:ea typeface="Manrope"/>
                <a:cs typeface="Manrope"/>
              </a:endParaRPr>
            </a:p>
          </p:txBody>
        </p:sp>
        <p:sp>
          <p:nvSpPr>
            <p:cNvPr id="1015" name="12 · primitives-text-2: Which route? Select a category. [p12-text-0014]" descr="Native editable Unicode text; authored line breaks retained."/>
            <p:cNvSpPr txBox="1"/>
            <p:nvPr/>
          </p:nvSpPr>
          <p:spPr>
            <a:xfrm>
              <a:off x="78105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Which route?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Select a category.</a:t>
              </a:r>
              <a:endParaRPr lang="en-US" sz="1400" b="0" i="0" kern="0" spc="0" dirty="0">
                <a:solidFill>
                  <a:srgbClr val="032D60"/>
                </a:solidFill>
                <a:latin typeface="Salesforce Sans"/>
                <a:ea typeface="Salesforce Sans"/>
                <a:cs typeface="Salesforce Sans"/>
              </a:endParaRPr>
            </a:p>
          </p:txBody>
        </p:sp>
      </p:grpSp>
      <p:grpSp>
        <p:nvGrpSpPr>
          <p:cNvPr id="1036" name="12 · card sand: Noul"/>
          <p:cNvGrpSpPr/>
          <p:nvPr/>
        </p:nvGrpSpPr>
        <p:grpSpPr>
          <a:xfrm>
            <a:off x="3590925" y="2486534"/>
            <a:ext cx="2212975" cy="1466162"/>
            <a:chOff x="3590925" y="2486534"/>
            <a:chExt cx="2212975" cy="1466162"/>
          </a:xfrm>
        </p:grpSpPr>
        <p:sp>
          <p:nvSpPr>
            <p:cNvPr id="1016" name="12 · primitives-text-3: Noul [p12-text-0015]" descr="Native editable Unicode text; authored line breaks retained."/>
            <p:cNvSpPr txBox="1"/>
            <p:nvPr/>
          </p:nvSpPr>
          <p:spPr>
            <a:xfrm>
              <a:off x="359092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Noul</a:t>
              </a:r>
              <a:endParaRPr lang="en-US" sz="2000" b="1" i="0" kern="0" spc="-38" dirty="0">
                <a:solidFill>
                  <a:srgbClr val="022AC0"/>
                </a:solidFill>
                <a:latin typeface="Manrope"/>
                <a:ea typeface="Manrope"/>
                <a:cs typeface="Manrope"/>
              </a:endParaRPr>
            </a:p>
          </p:txBody>
        </p:sp>
        <p:sp>
          <p:nvSpPr>
            <p:cNvPr id="1017" name="12 · primitives-text-4: Return requested? Assess a yes/no proposition. [p12-text-0016]" descr="Native editable Unicode text; authored line breaks retained."/>
            <p:cNvSpPr txBox="1"/>
            <p:nvPr/>
          </p:nvSpPr>
          <p:spPr>
            <a:xfrm>
              <a:off x="3590925" y="2936442"/>
              <a:ext cx="2212975" cy="101625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Return requested?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Assess a yes/no</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proposition.</a:t>
              </a:r>
              <a:endParaRPr lang="en-US" sz="1400" b="0" i="0" kern="0" spc="0" dirty="0">
                <a:solidFill>
                  <a:srgbClr val="032D60"/>
                </a:solidFill>
                <a:latin typeface="Salesforce Sans"/>
                <a:ea typeface="Salesforce Sans"/>
                <a:cs typeface="Salesforce Sans"/>
              </a:endParaRPr>
            </a:p>
          </p:txBody>
        </p:sp>
      </p:grpSp>
      <p:grpSp>
        <p:nvGrpSpPr>
          <p:cNvPr id="1037" name="12 · card mint: Scoring"/>
          <p:cNvGrpSpPr/>
          <p:nvPr/>
        </p:nvGrpSpPr>
        <p:grpSpPr>
          <a:xfrm>
            <a:off x="6400800" y="2486534"/>
            <a:ext cx="2212975" cy="1213686"/>
            <a:chOff x="6400800" y="2486534"/>
            <a:chExt cx="2212975" cy="1213686"/>
          </a:xfrm>
        </p:grpSpPr>
        <p:sp>
          <p:nvSpPr>
            <p:cNvPr id="1018" name="12 · primitives-text-5: Scoring [p12-text-0017]" descr="Native editable Unicode text; authored line breaks retained."/>
            <p:cNvSpPr txBox="1"/>
            <p:nvPr/>
          </p:nvSpPr>
          <p:spPr>
            <a:xfrm>
              <a:off x="640080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Scoring</a:t>
              </a:r>
              <a:endParaRPr lang="en-US" sz="2000" b="1" i="0" kern="0" spc="-38" dirty="0">
                <a:solidFill>
                  <a:srgbClr val="022AC0"/>
                </a:solidFill>
                <a:latin typeface="Manrope"/>
                <a:ea typeface="Manrope"/>
                <a:cs typeface="Manrope"/>
              </a:endParaRPr>
            </a:p>
          </p:txBody>
        </p:sp>
        <p:sp>
          <p:nvSpPr>
            <p:cNvPr id="1019" name="12 · primitives-text-6: How urgent is this case? Use an anchored rubric. [p12-text-0018]" descr="Native editable Unicode text; authored line breaks retained."/>
            <p:cNvSpPr txBox="1"/>
            <p:nvPr/>
          </p:nvSpPr>
          <p:spPr>
            <a:xfrm>
              <a:off x="640080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How urgent is this case?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an anchored rubric.</a:t>
              </a:r>
              <a:endParaRPr lang="en-US" sz="1400" b="0" i="0" kern="0" spc="0" dirty="0">
                <a:solidFill>
                  <a:srgbClr val="032D60"/>
                </a:solidFill>
                <a:latin typeface="Salesforce Sans"/>
                <a:ea typeface="Salesforce Sans"/>
                <a:cs typeface="Salesforce Sans"/>
              </a:endParaRPr>
            </a:p>
          </p:txBody>
        </p:sp>
      </p:grpSp>
      <p:grpSp>
        <p:nvGrpSpPr>
          <p:cNvPr id="1038" name="12 · card blue: Endpointing"/>
          <p:cNvGrpSpPr/>
          <p:nvPr/>
        </p:nvGrpSpPr>
        <p:grpSpPr>
          <a:xfrm>
            <a:off x="9210675" y="2486534"/>
            <a:ext cx="2212975" cy="1213686"/>
            <a:chOff x="9210675" y="2486534"/>
            <a:chExt cx="2212975" cy="1213686"/>
          </a:xfrm>
        </p:grpSpPr>
        <p:sp>
          <p:nvSpPr>
            <p:cNvPr id="1020" name="12 · primitives-text-7: Endpointing [p12-text-0019]" descr="Native editable Unicode text; authored line breaks retained."/>
            <p:cNvSpPr txBox="1"/>
            <p:nvPr/>
          </p:nvSpPr>
          <p:spPr>
            <a:xfrm>
              <a:off x="921067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Endpointing</a:t>
              </a:r>
              <a:endParaRPr lang="en-US" sz="2000" b="1" i="0" kern="0" spc="-38" dirty="0">
                <a:solidFill>
                  <a:srgbClr val="022AC0"/>
                </a:solidFill>
                <a:latin typeface="Manrope"/>
                <a:ea typeface="Manrope"/>
                <a:cs typeface="Manrope"/>
              </a:endParaRPr>
            </a:p>
          </p:txBody>
        </p:sp>
        <p:sp>
          <p:nvSpPr>
            <p:cNvPr id="1021" name="12 · primitives-text-8: Has the turn ended? Judge the available prefix. [p12-text-0020]" descr="Native editable Unicode text; authored line breaks retained."/>
            <p:cNvSpPr txBox="1"/>
            <p:nvPr/>
          </p:nvSpPr>
          <p:spPr>
            <a:xfrm>
              <a:off x="9210675"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76"/>
                </a:lnSpc>
                <a:spcBef>
                  <a:spcPts val="0"/>
                </a:spcBef>
                <a:spcAft>
                  <a:spcPts val="0"/>
                </a:spcAft>
                <a:buNone/>
              </a:pPr>
              <a:r>
                <a:rPr lang="en-US" sz="1400" b="0" i="0" kern="0" spc="0" dirty="0">
                  <a:solidFill>
                    <a:srgbClr val="032D60"/>
                  </a:solidFill>
                  <a:latin typeface="Salesforce Sans"/>
                  <a:ea typeface="Salesforce Sans"/>
                  <a:cs typeface="Salesforce Sans"/>
                </a:rPr>
                <a:t>Has the turn ended?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Judge the available prefix.</a:t>
              </a:r>
              <a:endParaRPr lang="en-US" sz="1400" b="0" i="0" kern="0" spc="0" dirty="0">
                <a:solidFill>
                  <a:srgbClr val="032D60"/>
                </a:solidFill>
                <a:latin typeface="Salesforce Sans"/>
                <a:ea typeface="Salesforce Sans"/>
                <a:cs typeface="Salesforce Sans"/>
              </a:endParaRPr>
            </a:p>
          </p:txBody>
        </p:sp>
      </p:grpSp>
      <p:sp>
        <p:nvSpPr>
          <p:cNvPr id="1022" name="12 · tag: 01 [p12-text-0021]"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01</a:t>
            </a:r>
            <a:endParaRPr lang="en-US" sz="1050" b="0" i="0" kern="0" spc="50" dirty="0">
              <a:solidFill>
                <a:srgbClr val="022AC0">
                  <a:alpha val="85000"/>
                </a:srgbClr>
              </a:solidFill>
              <a:latin typeface="IBM Plex Mono"/>
              <a:ea typeface="IBM Plex Mono"/>
              <a:cs typeface="IBM Plex Mono"/>
            </a:endParaRPr>
          </a:p>
        </p:txBody>
      </p:sp>
      <p:sp>
        <p:nvSpPr>
          <p:cNvPr id="1023" name="12 · tag: 02 [p12-text-0022]"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02</a:t>
            </a:r>
            <a:endParaRPr lang="en-US" sz="1050" b="0" i="0" kern="0" spc="50" dirty="0">
              <a:solidFill>
                <a:srgbClr val="022AC0">
                  <a:alpha val="85000"/>
                </a:srgbClr>
              </a:solidFill>
              <a:latin typeface="IBM Plex Mono"/>
              <a:ea typeface="IBM Plex Mono"/>
              <a:cs typeface="IBM Plex Mono"/>
            </a:endParaRPr>
          </a:p>
        </p:txBody>
      </p:sp>
      <p:sp>
        <p:nvSpPr>
          <p:cNvPr id="1024" name="12 · tag: 03 [p12-text-0023]"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03</a:t>
            </a:r>
            <a:endParaRPr lang="en-US" sz="1050" b="0" i="0" kern="0" spc="50" dirty="0">
              <a:solidFill>
                <a:srgbClr val="022AC0">
                  <a:alpha val="85000"/>
                </a:srgbClr>
              </a:solidFill>
              <a:latin typeface="IBM Plex Mono"/>
              <a:ea typeface="IBM Plex Mono"/>
              <a:cs typeface="IBM Plex Mono"/>
            </a:endParaRPr>
          </a:p>
        </p:txBody>
      </p:sp>
      <p:sp>
        <p:nvSpPr>
          <p:cNvPr id="1025" name="12 · tag: 04 [p12-text-0024]"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04</a:t>
            </a:r>
            <a:endParaRPr lang="en-US" sz="1050" b="0" i="0" kern="0" spc="50" dirty="0">
              <a:solidFill>
                <a:srgbClr val="022AC0">
                  <a:alpha val="85000"/>
                </a:srgbClr>
              </a:solidFill>
              <a:latin typeface="IBM Plex Mono"/>
              <a:ea typeface="IBM Plex Mono"/>
              <a:cs typeface="IBM Plex Mono"/>
            </a:endParaRPr>
          </a:p>
        </p:txBody>
      </p:sp>
      <p:grpSp>
        <p:nvGrpSpPr>
          <p:cNvPr id="1039" name="12 · source-line: TypeSafe quickstart · Noul · Score"/>
          <p:cNvGrpSpPr/>
          <p:nvPr/>
        </p:nvGrpSpPr>
        <p:grpSpPr>
          <a:xfrm>
            <a:off x="558800" y="6037898"/>
            <a:ext cx="11087100" cy="284456"/>
            <a:chOff x="558800" y="6037898"/>
            <a:chExt cx="11087100" cy="284456"/>
          </a:xfrm>
        </p:grpSpPr>
        <p:sp>
          <p:nvSpPr>
            <p:cNvPr id="1026" name="12 · source-line · top border [p12-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7" name="12 · span: TypeSafe quickstart · Noul · Score [p12-text-0025]" descr="Native editable Unicode text; authored line breaks retained."/>
            <p:cNvSpPr txBox="1"/>
            <p:nvPr/>
          </p:nvSpPr>
          <p:spPr>
            <a:xfrm>
              <a:off x="558800" y="6153126"/>
              <a:ext cx="18691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TypeSafe quickstart"/>
                </a:rPr>
                <a:t>TypeSafe quickstart</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Noul"/>
                </a:rPr>
                <a:t>Noul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Score"/>
                </a:rPr>
                <a:t>Score</a:t>
              </a:r>
              <a:endParaRPr lang="en-US" sz="950" b="0" i="0" kern="0" spc="0" dirty="0" u="sng">
                <a:solidFill>
                  <a:srgbClr val="315A7A"/>
                </a:solidFill>
                <a:latin typeface="Salesforce Sans"/>
                <a:ea typeface="Salesforce Sans"/>
                <a:cs typeface="Salesforce Sans"/>
              </a:endParaRPr>
            </a:p>
          </p:txBody>
        </p:sp>
        <p:sp>
          <p:nvSpPr>
            <p:cNvPr id="1028" name="12 · span: koa-action capabilities: supplied brief; interfaces unspecified [p12-text-0026]" descr="Native editable Unicode text; authored line breaks retained."/>
            <p:cNvSpPr txBox="1"/>
            <p:nvPr/>
          </p:nvSpPr>
          <p:spPr>
            <a:xfrm>
              <a:off x="8255304" y="6153126"/>
              <a:ext cx="33905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koa-action capabilities: supplied brief; interfaces unspecified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Probability and intensity answer different questions">
    <p:bg>
      <p:bgPr>
        <a:solidFill>
          <a:srgbClr val="FFFFFF"/>
        </a:solidFill>
      </p:bgPr>
    </p:bg>
    <p:spTree>
      <p:nvGrpSpPr>
        <p:cNvPr id="1" name=""/>
        <p:cNvGrpSpPr/>
        <p:nvPr/>
      </p:nvGrpSpPr>
      <p:grpSpPr>
        <a:xfrm>
          <a:off x="0" y="0"/>
          <a:ext cx="0" cy="0"/>
          <a:chOff x="0" y="0"/>
          <a:chExt cx="0" cy="0"/>
        </a:xfrm>
      </p:grpSpPr>
      <p:sp>
        <p:nvSpPr>
          <p:cNvPr id="1000" name="13 · slide dark · surface [p1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5" name="13 · chrome-min: DISAGGREGATED INTELLIGENCE"/>
          <p:cNvGrpSpPr/>
          <p:nvPr/>
        </p:nvGrpSpPr>
        <p:grpSpPr>
          <a:xfrm>
            <a:off x="558800" y="356053"/>
            <a:ext cx="11087100" cy="187325"/>
            <a:chOff x="558800" y="356053"/>
            <a:chExt cx="11087100" cy="187325"/>
          </a:xfrm>
        </p:grpSpPr>
        <p:sp>
          <p:nvSpPr>
            <p:cNvPr id="1001" name="13 · l: DISAGGREGATED INTELLIGENCE [p13-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3 · r: 13 / 36 [p13-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13 / 36</a:t>
              </a:r>
              <a:endParaRPr lang="en-US" sz="950" b="1" i="0" kern="0" spc="65" dirty="0">
                <a:solidFill>
                  <a:srgbClr val="022AC0"/>
                </a:solidFill>
                <a:latin typeface="Salesforce Sans"/>
                <a:ea typeface="Salesforce Sans"/>
                <a:cs typeface="Salesforce Sans"/>
              </a:endParaRPr>
            </a:p>
          </p:txBody>
        </p:sp>
      </p:grpSp>
      <p:grpSp>
        <p:nvGrpSpPr>
          <p:cNvPr id="1026" name="13 · deck-head: 03 / GIVE EVERY NUMBER A MEANING"/>
          <p:cNvGrpSpPr/>
          <p:nvPr/>
        </p:nvGrpSpPr>
        <p:grpSpPr>
          <a:xfrm>
            <a:off x="558800" y="775901"/>
            <a:ext cx="11087100" cy="805579"/>
            <a:chOff x="558800" y="775901"/>
            <a:chExt cx="11087100" cy="805579"/>
          </a:xfrm>
        </p:grpSpPr>
        <p:sp>
          <p:nvSpPr>
            <p:cNvPr id="1003" name="13 · semantics-eyebrow: 03 / GIVE EVERY NUMBER A MEANING [p13-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GIVE EVERY NUMBER A MEANING</a:t>
              </a:r>
              <a:endParaRPr lang="en-US" sz="1050" b="1" i="0" kern="0" spc="68" dirty="0">
                <a:solidFill>
                  <a:srgbClr val="022AC0"/>
                </a:solidFill>
                <a:latin typeface="Salesforce Sans"/>
                <a:ea typeface="Salesforce Sans"/>
                <a:cs typeface="Salesforce Sans"/>
              </a:endParaRPr>
            </a:p>
          </p:txBody>
        </p:sp>
        <p:sp>
          <p:nvSpPr>
            <p:cNvPr id="1004" name="13 · semantics-title: Probability and intensity answer different questions [p13-text-0013]" descr="Native editable Unicode text; authored line breaks retained."/>
            <p:cNvSpPr txBox="1"/>
            <p:nvPr/>
          </p:nvSpPr>
          <p:spPr>
            <a:xfrm>
              <a:off x="558800" y="1019988"/>
              <a:ext cx="10998200" cy="56149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04"/>
                </a:lnSpc>
                <a:spcBef>
                  <a:spcPts val="0"/>
                </a:spcBef>
                <a:spcAft>
                  <a:spcPts val="0"/>
                </a:spcAft>
                <a:buNone/>
              </a:pPr>
              <a:r>
                <a:rPr lang="en-US" sz="3200" b="1" i="0" kern="0" spc="-85" dirty="0">
                  <a:solidFill>
                    <a:srgbClr val="022AC0"/>
                  </a:solidFill>
                  <a:latin typeface="Manrope"/>
                  <a:ea typeface="Manrope"/>
                  <a:cs typeface="Manrope"/>
                </a:rPr>
                <a:t>Probability and intensity answer different questions</a:t>
              </a:r>
              <a:endParaRPr lang="en-US" sz="3200" b="1" i="0" kern="0" spc="-85" dirty="0">
                <a:solidFill>
                  <a:srgbClr val="022AC0"/>
                </a:solidFill>
                <a:latin typeface="Manrope"/>
                <a:ea typeface="Manrope"/>
                <a:cs typeface="Manrope"/>
              </a:endParaRPr>
            </a:p>
          </p:txBody>
        </p:sp>
      </p:grpSp>
      <p:grpSp>
        <p:nvGrpSpPr>
          <p:cNvPr id="1027" name="13 · card sand: "/>
          <p:cNvGrpSpPr/>
          <p:nvPr/>
        </p:nvGrpSpPr>
        <p:grpSpPr>
          <a:xfrm>
            <a:off x="558800" y="1930400"/>
            <a:ext cx="5232400" cy="2530602"/>
            <a:chOff x="558800" y="1930400"/>
            <a:chExt cx="5232400" cy="2530602"/>
          </a:xfrm>
        </p:grpSpPr>
        <p:sp>
          <p:nvSpPr>
            <p:cNvPr id="1005" name="13 · card sand · surface [p13-e0008]"/>
            <p:cNvSpPr/>
            <p:nvPr/>
          </p:nvSpPr>
          <p:spPr>
            <a:xfrm>
              <a:off x="558800" y="1930400"/>
              <a:ext cx="5232400" cy="2530602"/>
            </a:xfrm>
            <a:prstGeom prst="roundRect">
              <a:avLst>
                <a:gd name="adj" fmla="val 5520"/>
              </a:avLst>
            </a:prstGeom>
            <a:solidFill>
              <a:srgbClr val="FBF0CF"/>
            </a:solidFill>
            <a:ln>
              <a:noFill/>
            </a:ln>
          </p:spPr>
        </p:sp>
        <p:sp>
          <p:nvSpPr>
            <p:cNvPr id="1006" name="13 · card sand · outline [p13-e0008]"/>
            <p:cNvSpPr/>
            <p:nvPr/>
          </p:nvSpPr>
          <p:spPr>
            <a:xfrm>
              <a:off x="561975" y="1933575"/>
              <a:ext cx="5226050" cy="2524252"/>
            </a:xfrm>
            <a:prstGeom prst="roundRect">
              <a:avLst>
                <a:gd name="adj" fmla="val 5409"/>
              </a:avLst>
            </a:prstGeom>
            <a:noFill/>
            <a:ln w="6350" algn="ctr">
              <a:solidFill>
                <a:srgbClr val="FFFFFF">
                  <a:alpha val="85098"/>
                </a:srgbClr>
              </a:solidFill>
              <a:prstDash val="solid"/>
            </a:ln>
          </p:spPr>
        </p:sp>
        <p:sp>
          <p:nvSpPr>
            <p:cNvPr id="1007" name="13 · rule-line · surface [p13-e0009]"/>
            <p:cNvSpPr/>
            <p:nvPr/>
          </p:nvSpPr>
          <p:spPr>
            <a:xfrm>
              <a:off x="781050" y="3587877"/>
              <a:ext cx="4787900" cy="6350"/>
            </a:xfrm>
            <a:prstGeom prst="rect">
              <a:avLst/>
            </a:prstGeom>
            <a:solidFill>
              <a:srgbClr val="A9CBDC"/>
            </a:solidFill>
            <a:ln>
              <a:noFill/>
            </a:ln>
          </p:spPr>
        </p:sp>
      </p:grpSp>
      <p:grpSp>
        <p:nvGrpSpPr>
          <p:cNvPr id="1028" name="13 · card mint: "/>
          <p:cNvGrpSpPr/>
          <p:nvPr/>
        </p:nvGrpSpPr>
        <p:grpSpPr>
          <a:xfrm>
            <a:off x="6426200" y="1930400"/>
            <a:ext cx="5105400" cy="2646553"/>
            <a:chOff x="6426200" y="1930400"/>
            <a:chExt cx="5105400" cy="2646553"/>
          </a:xfrm>
        </p:grpSpPr>
        <p:sp>
          <p:nvSpPr>
            <p:cNvPr id="1008" name="13 · card mint · surface [p13-e0010]"/>
            <p:cNvSpPr/>
            <p:nvPr/>
          </p:nvSpPr>
          <p:spPr>
            <a:xfrm>
              <a:off x="6426200" y="1930400"/>
              <a:ext cx="5105400" cy="2646553"/>
            </a:xfrm>
            <a:prstGeom prst="roundRect">
              <a:avLst>
                <a:gd name="adj" fmla="val 5279"/>
              </a:avLst>
            </a:prstGeom>
            <a:solidFill>
              <a:srgbClr val="DDF3ED"/>
            </a:solidFill>
            <a:ln>
              <a:noFill/>
            </a:ln>
          </p:spPr>
        </p:sp>
        <p:sp>
          <p:nvSpPr>
            <p:cNvPr id="1009" name="13 · card mint · outline [p13-e0010]"/>
            <p:cNvSpPr/>
            <p:nvPr/>
          </p:nvSpPr>
          <p:spPr>
            <a:xfrm>
              <a:off x="6429375" y="1933575"/>
              <a:ext cx="5099050" cy="2640203"/>
            </a:xfrm>
            <a:prstGeom prst="roundRect">
              <a:avLst>
                <a:gd name="adj" fmla="val 5171"/>
              </a:avLst>
            </a:prstGeom>
            <a:noFill/>
            <a:ln w="6350" algn="ctr">
              <a:solidFill>
                <a:srgbClr val="FFFFFF">
                  <a:alpha val="85098"/>
                </a:srgbClr>
              </a:solidFill>
              <a:prstDash val="solid"/>
            </a:ln>
          </p:spPr>
        </p:sp>
        <p:sp>
          <p:nvSpPr>
            <p:cNvPr id="1010" name="13 · ledger · top border [p13-e0011]"/>
            <p:cNvSpPr/>
            <p:nvPr/>
          </p:nvSpPr>
          <p:spPr>
            <a:xfrm>
              <a:off x="6648450" y="3019425"/>
              <a:ext cx="4660900" cy="6"/>
            </a:xfrm>
            <a:custGeom>
              <a:avLst/>
              <a:gdLst/>
              <a:ahLst/>
              <a:cxnLst/>
              <a:rect l="0" t="0" r="r" b="b"/>
              <a:pathLst>
                <a:path w="4660900" h="6" fill="none" stroke="1">
                  <a:moveTo>
                    <a:pt x="0" y="0"/>
                  </a:moveTo>
                  <a:lnTo>
                    <a:pt x="4660900" y="0"/>
                  </a:lnTo>
                </a:path>
              </a:pathLst>
            </a:custGeom>
            <a:noFill/>
            <a:ln w="12700" cap="flat">
              <a:solidFill>
                <a:srgbClr val="A4C4DC">
                  <a:alpha val="50196"/>
                </a:srgbClr>
              </a:solidFill>
              <a:prstDash val="solid"/>
            </a:ln>
          </p:spPr>
        </p:sp>
      </p:grpSp>
      <p:sp>
        <p:nvSpPr>
          <p:cNvPr id="1011" name="13 · semantics-text-6 · top border [p13-e0012]"/>
          <p:cNvSpPr/>
          <p:nvPr/>
        </p:nvSpPr>
        <p:spPr>
          <a:xfrm>
            <a:off x="6648450" y="3459226"/>
            <a:ext cx="4660900" cy="6"/>
          </a:xfrm>
          <a:custGeom>
            <a:avLst/>
            <a:gdLst/>
            <a:ahLst/>
            <a:cxnLst/>
            <a:rect l="0" t="0" r="r" b="b"/>
            <a:pathLst>
              <a:path w="4660900" h="6" fill="none" stroke="1">
                <a:moveTo>
                  <a:pt x="0" y="0"/>
                </a:moveTo>
                <a:lnTo>
                  <a:pt x="4660900" y="0"/>
                </a:lnTo>
              </a:path>
            </a:pathLst>
          </a:custGeom>
          <a:noFill/>
          <a:ln w="6350" cap="flat">
            <a:solidFill>
              <a:srgbClr val="7C9B91"/>
            </a:solidFill>
            <a:prstDash val="solid"/>
          </a:ln>
        </p:spPr>
      </p:sp>
      <p:sp>
        <p:nvSpPr>
          <p:cNvPr id="1012" name="13 · semantics-text-7 · top border [p13-e0013]"/>
          <p:cNvSpPr/>
          <p:nvPr/>
        </p:nvSpPr>
        <p:spPr>
          <a:xfrm>
            <a:off x="6648450" y="3895852"/>
            <a:ext cx="4660900" cy="6"/>
          </a:xfrm>
          <a:custGeom>
            <a:avLst/>
            <a:gdLst/>
            <a:ahLst/>
            <a:cxnLst/>
            <a:rect l="0" t="0" r="r" b="b"/>
            <a:pathLst>
              <a:path w="4660900" h="6" fill="none" stroke="1">
                <a:moveTo>
                  <a:pt x="0" y="0"/>
                </a:moveTo>
                <a:lnTo>
                  <a:pt x="4660900" y="0"/>
                </a:lnTo>
              </a:path>
            </a:pathLst>
          </a:custGeom>
          <a:noFill/>
          <a:ln w="6350" cap="flat">
            <a:solidFill>
              <a:srgbClr val="7C9B91"/>
            </a:solidFill>
            <a:prstDash val="solid"/>
          </a:ln>
        </p:spPr>
      </p:sp>
      <p:grpSp>
        <p:nvGrpSpPr>
          <p:cNvPr id="1029" name="13 · card sand: Was a return requested?"/>
          <p:cNvGrpSpPr/>
          <p:nvPr/>
        </p:nvGrpSpPr>
        <p:grpSpPr>
          <a:xfrm>
            <a:off x="781050" y="2486534"/>
            <a:ext cx="4800600" cy="1746503"/>
            <a:chOff x="781050" y="2486534"/>
            <a:chExt cx="4800600" cy="1746503"/>
          </a:xfrm>
        </p:grpSpPr>
        <p:sp>
          <p:nvSpPr>
            <p:cNvPr id="1013" name="13 · semantics-text-1: Was a return requested? [p13-text-0014]"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Was a return requested?</a:t>
              </a:r>
              <a:endParaRPr lang="en-US" sz="2000" b="1" i="0" kern="0" spc="-38" dirty="0">
                <a:solidFill>
                  <a:srgbClr val="022AC0"/>
                </a:solidFill>
                <a:latin typeface="Manrope"/>
                <a:ea typeface="Manrope"/>
                <a:cs typeface="Manrope"/>
              </a:endParaRPr>
            </a:p>
          </p:txBody>
        </p:sp>
        <p:sp>
          <p:nvSpPr>
            <p:cNvPr id="1014" name="13 · semantics-text-2: A probability-valued yes/no judgment. [p13-text-0015]" descr="Native editable Unicode text; authored line breaks retained."/>
            <p:cNvSpPr txBox="1"/>
            <p:nvPr/>
          </p:nvSpPr>
          <p:spPr>
            <a:xfrm>
              <a:off x="781050" y="2936442"/>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 probability-valued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yes/no judgment.</a:t>
              </a:r>
              <a:endParaRPr lang="en-US" sz="1400" b="0" i="0" kern="0" spc="0" dirty="0">
                <a:solidFill>
                  <a:srgbClr val="032D60"/>
                </a:solidFill>
                <a:latin typeface="Salesforce Sans"/>
                <a:ea typeface="Salesforce Sans"/>
                <a:cs typeface="Salesforce Sans"/>
              </a:endParaRPr>
            </a:p>
          </p:txBody>
        </p:sp>
        <p:sp>
          <p:nvSpPr>
            <p:cNvPr id="1015" name="13 · semantics-text-3: An uncertain answer does not mean “a medium amount of returning.” [p13-text-0016]" descr="Native editable Unicode text; authored line breaks retained."/>
            <p:cNvSpPr txBox="1"/>
            <p:nvPr/>
          </p:nvSpPr>
          <p:spPr>
            <a:xfrm>
              <a:off x="781050" y="3766313"/>
              <a:ext cx="4800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An uncertain answer does not mean</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“a medium amount of returning.”</a:t>
              </a:r>
              <a:endParaRPr lang="en-US" sz="1250" b="0" i="0" kern="0" spc="0" dirty="0">
                <a:solidFill>
                  <a:srgbClr val="032D60"/>
                </a:solidFill>
                <a:latin typeface="Salesforce Sans"/>
                <a:ea typeface="Salesforce Sans"/>
                <a:cs typeface="Salesforce Sans"/>
              </a:endParaRPr>
            </a:p>
          </p:txBody>
        </p:sp>
      </p:grpSp>
      <p:grpSp>
        <p:nvGrpSpPr>
          <p:cNvPr id="1030" name="13 · card mint: How urgent is the case?"/>
          <p:cNvGrpSpPr/>
          <p:nvPr/>
        </p:nvGrpSpPr>
        <p:grpSpPr>
          <a:xfrm>
            <a:off x="6648450" y="2486534"/>
            <a:ext cx="4673600" cy="899234"/>
            <a:chOff x="6648450" y="2486534"/>
            <a:chExt cx="4673600" cy="899234"/>
          </a:xfrm>
        </p:grpSpPr>
        <p:sp>
          <p:nvSpPr>
            <p:cNvPr id="1016" name="13 · semantics-text-4: How urgent is the case? [p13-text-0017]"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How urgent is the case?</a:t>
              </a:r>
              <a:endParaRPr lang="en-US" sz="2000" b="1" i="0" kern="0" spc="-38" dirty="0">
                <a:solidFill>
                  <a:srgbClr val="022AC0"/>
                </a:solidFill>
                <a:latin typeface="Manrope"/>
                <a:ea typeface="Manrope"/>
                <a:cs typeface="Manrope"/>
              </a:endParaRPr>
            </a:p>
          </p:txBody>
        </p:sp>
        <p:sp>
          <p:nvSpPr>
            <p:cNvPr id="1017" name="13 · semantics-text-5: Can wait [p13-text-0018]" descr="Native editable Unicode text; authored line breaks retained."/>
            <p:cNvSpPr txBox="1"/>
            <p:nvPr/>
          </p:nvSpPr>
          <p:spPr>
            <a:xfrm>
              <a:off x="6648450" y="3126942"/>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Can wait</a:t>
              </a:r>
              <a:endParaRPr lang="en-US" sz="1400" b="0" i="0" kern="0" spc="0" dirty="0">
                <a:solidFill>
                  <a:srgbClr val="032D60"/>
                </a:solidFill>
                <a:latin typeface="Salesforce Sans"/>
                <a:ea typeface="Salesforce Sans"/>
                <a:cs typeface="Salesforce Sans"/>
              </a:endParaRPr>
            </a:p>
          </p:txBody>
        </p:sp>
      </p:grpSp>
      <p:sp>
        <p:nvSpPr>
          <p:cNvPr id="1018" name="13 · semantics-text-6: Use disrupted [p13-text-0019]" descr="Native editable Unicode text; authored line breaks retained."/>
          <p:cNvSpPr txBox="1"/>
          <p:nvPr/>
        </p:nvSpPr>
        <p:spPr>
          <a:xfrm>
            <a:off x="6648450" y="3563568"/>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disrupted</a:t>
            </a:r>
            <a:endParaRPr lang="en-US" sz="1400" b="0" i="0" kern="0" spc="0" dirty="0">
              <a:solidFill>
                <a:srgbClr val="032D60"/>
              </a:solidFill>
              <a:latin typeface="Salesforce Sans"/>
              <a:ea typeface="Salesforce Sans"/>
              <a:cs typeface="Salesforce Sans"/>
            </a:endParaRPr>
          </a:p>
        </p:txBody>
      </p:sp>
      <p:sp>
        <p:nvSpPr>
          <p:cNvPr id="1019" name="13 · semantics-text-7: Essential use blocked [p13-text-0020]" descr="Native editable Unicode text; authored line breaks retained."/>
          <p:cNvSpPr txBox="1"/>
          <p:nvPr/>
        </p:nvSpPr>
        <p:spPr>
          <a:xfrm>
            <a:off x="6648450" y="4000194"/>
            <a:ext cx="46736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Essential use blocked</a:t>
            </a:r>
            <a:endParaRPr lang="en-US" sz="1400" b="0" i="0" kern="0" spc="0" dirty="0">
              <a:solidFill>
                <a:srgbClr val="032D60"/>
              </a:solidFill>
              <a:latin typeface="Salesforce Sans"/>
              <a:ea typeface="Salesforce Sans"/>
              <a:cs typeface="Salesforce Sans"/>
            </a:endParaRPr>
          </a:p>
        </p:txBody>
      </p:sp>
      <p:sp>
        <p:nvSpPr>
          <p:cNvPr id="1020" name="13 · tag: NOUL · TYPESAFE SEMANTICS [p13-text-0021]"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NOUL · TYPESAFE SEMANTICS</a:t>
            </a:r>
            <a:endParaRPr lang="en-US" sz="1050" b="0" i="0" kern="0" spc="50" dirty="0">
              <a:solidFill>
                <a:srgbClr val="022AC0">
                  <a:alpha val="85000"/>
                </a:srgbClr>
              </a:solidFill>
              <a:latin typeface="IBM Plex Mono"/>
              <a:ea typeface="IBM Plex Mono"/>
              <a:cs typeface="IBM Plex Mono"/>
            </a:endParaRPr>
          </a:p>
        </p:txBody>
      </p:sp>
      <p:sp>
        <p:nvSpPr>
          <p:cNvPr id="1021" name="13 · tag: SCORE · ILLUSTRATIVE RUBRIC [p13-text-0022]"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SCORE · ILLUSTRATIVE RUBRIC</a:t>
            </a:r>
            <a:endParaRPr lang="en-US" sz="1050" b="0" i="0" kern="0" spc="50" dirty="0">
              <a:solidFill>
                <a:srgbClr val="022AC0">
                  <a:alpha val="85000"/>
                </a:srgbClr>
              </a:solidFill>
              <a:latin typeface="IBM Plex Mono"/>
              <a:ea typeface="IBM Plex Mono"/>
              <a:cs typeface="IBM Plex Mono"/>
            </a:endParaRPr>
          </a:p>
        </p:txBody>
      </p:sp>
      <p:grpSp>
        <p:nvGrpSpPr>
          <p:cNvPr id="1031" name="13 · source-line: Noul · Score"/>
          <p:cNvGrpSpPr/>
          <p:nvPr/>
        </p:nvGrpSpPr>
        <p:grpSpPr>
          <a:xfrm>
            <a:off x="558800" y="6037898"/>
            <a:ext cx="11087100" cy="284456"/>
            <a:chOff x="558800" y="6037898"/>
            <a:chExt cx="11087100" cy="284456"/>
          </a:xfrm>
        </p:grpSpPr>
        <p:sp>
          <p:nvSpPr>
            <p:cNvPr id="1022" name="13 · source-line · top border [p13-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3" name="13 · span: Noul · Score [p13-text-0023]" descr="Native editable Unicode text; authored line breaks retained."/>
            <p:cNvSpPr txBox="1"/>
            <p:nvPr/>
          </p:nvSpPr>
          <p:spPr>
            <a:xfrm>
              <a:off x="558800" y="6153126"/>
              <a:ext cx="68955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Noul"/>
                </a:rPr>
                <a:t>Noul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Score"/>
                </a:rPr>
                <a:t>Score</a:t>
              </a:r>
              <a:endParaRPr lang="en-US" sz="950" b="0" i="0" kern="0" spc="0" dirty="0" u="sng">
                <a:solidFill>
                  <a:srgbClr val="315A7A"/>
                </a:solidFill>
                <a:latin typeface="Salesforce Sans"/>
                <a:ea typeface="Salesforce Sans"/>
                <a:cs typeface="Salesforce Sans"/>
              </a:endParaRPr>
            </a:p>
          </p:txBody>
        </p:sp>
        <p:sp>
          <p:nvSpPr>
            <p:cNvPr id="1024" name="13 · span: TypeSafe semantics / proposed Salesforce use [p13-text-0024]" descr="Native editable Unicode text; authored line breaks retained."/>
            <p:cNvSpPr txBox="1"/>
            <p:nvPr/>
          </p:nvSpPr>
          <p:spPr>
            <a:xfrm>
              <a:off x="9053897" y="6153126"/>
              <a:ext cx="259200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TypeSafe semantics / proposed Salesforce use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Endpointing is a decision in time">
    <p:bg>
      <p:bgPr>
        <a:solidFill>
          <a:srgbClr val="FFFFFF"/>
        </a:solidFill>
      </p:bgPr>
    </p:bg>
    <p:spTree>
      <p:nvGrpSpPr>
        <p:cNvPr id="1" name=""/>
        <p:cNvGrpSpPr/>
        <p:nvPr/>
      </p:nvGrpSpPr>
      <p:grpSpPr>
        <a:xfrm>
          <a:off x="0" y="0"/>
          <a:ext cx="0" cy="0"/>
          <a:chOff x="0" y="0"/>
          <a:chExt cx="0" cy="0"/>
        </a:xfrm>
      </p:grpSpPr>
      <p:sp>
        <p:nvSpPr>
          <p:cNvPr id="1000" name="14 · slide hero light · surface [p1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2" name="14 · chrome-min: DISAGGREGATED INTELLIGENCE"/>
          <p:cNvGrpSpPr/>
          <p:nvPr/>
        </p:nvGrpSpPr>
        <p:grpSpPr>
          <a:xfrm>
            <a:off x="558800" y="356053"/>
            <a:ext cx="11087100" cy="187325"/>
            <a:chOff x="558800" y="356053"/>
            <a:chExt cx="11087100" cy="187325"/>
          </a:xfrm>
        </p:grpSpPr>
        <p:sp>
          <p:nvSpPr>
            <p:cNvPr id="1001" name="14 · l: DISAGGREGATED INTELLIGENCE [p14-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4 · r: 14 / 36 [p14-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14 / 36</a:t>
              </a:r>
              <a:endParaRPr lang="en-US" sz="950" b="1" i="0" kern="0" spc="65" dirty="0">
                <a:solidFill>
                  <a:srgbClr val="022AC0"/>
                </a:solidFill>
                <a:latin typeface="Salesforce Sans"/>
                <a:ea typeface="Salesforce Sans"/>
                <a:cs typeface="Salesforce Sans"/>
              </a:endParaRPr>
            </a:p>
          </p:txBody>
        </p:sp>
      </p:grpSp>
      <p:grpSp>
        <p:nvGrpSpPr>
          <p:cNvPr id="1023" name="14 · deck-head: 03 / A PREFIX IS THE INPUT"/>
          <p:cNvGrpSpPr/>
          <p:nvPr/>
        </p:nvGrpSpPr>
        <p:grpSpPr>
          <a:xfrm>
            <a:off x="558800" y="775901"/>
            <a:ext cx="11087100" cy="871263"/>
            <a:chOff x="558800" y="775901"/>
            <a:chExt cx="11087100" cy="871263"/>
          </a:xfrm>
        </p:grpSpPr>
        <p:sp>
          <p:nvSpPr>
            <p:cNvPr id="1003" name="14 · endpointing-eyebrow: 03 / A PREFIX IS THE INPUT [p14-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03 / A PREFIX IS THE INPUT</a:t>
              </a:r>
              <a:endParaRPr lang="en-US" sz="1050" b="1" i="0" kern="0" spc="68" dirty="0">
                <a:solidFill>
                  <a:srgbClr val="022AC0"/>
                </a:solidFill>
                <a:latin typeface="Salesforce Sans"/>
                <a:ea typeface="Salesforce Sans"/>
                <a:cs typeface="Salesforce Sans"/>
              </a:endParaRPr>
            </a:p>
          </p:txBody>
        </p:sp>
        <p:sp>
          <p:nvSpPr>
            <p:cNvPr id="1004" name="14 · endpointing-title: Endpointing is a decision in time [p14-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Endpointing is a decision in time</a:t>
              </a:r>
              <a:endParaRPr lang="en-US" sz="3600" b="1" i="0" kern="0" spc="-95" dirty="0">
                <a:solidFill>
                  <a:srgbClr val="022AC0"/>
                </a:solidFill>
                <a:latin typeface="Manrope"/>
                <a:ea typeface="Manrope"/>
                <a:cs typeface="Manrope"/>
              </a:endParaRPr>
            </a:p>
          </p:txBody>
        </p:sp>
      </p:grpSp>
      <p:sp>
        <p:nvSpPr>
          <p:cNvPr id="1005" name="14 · endpointing-text-1: Cut too early [p14-text-0009]" descr="Native editable Unicode text; authored line breaks retained."/>
          <p:cNvSpPr txBox="1"/>
          <p:nvPr/>
        </p:nvSpPr>
        <p:spPr>
          <a:xfrm>
            <a:off x="558800"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Cut too early</a:t>
            </a:r>
            <a:endParaRPr lang="en-US" sz="2000" b="1" i="0" kern="0" spc="-38" dirty="0">
              <a:solidFill>
                <a:srgbClr val="022AC0"/>
              </a:solidFill>
              <a:latin typeface="Manrope"/>
              <a:ea typeface="Manrope"/>
              <a:cs typeface="Manrope"/>
            </a:endParaRPr>
          </a:p>
        </p:txBody>
      </p:sp>
      <p:sp>
        <p:nvSpPr>
          <p:cNvPr id="1006" name="14 · endpointing-text-2: The customer is interrupted. [p14-text-0010]" descr="Native editable Unicode text; authored line breaks retained."/>
          <p:cNvSpPr txBox="1"/>
          <p:nvPr/>
        </p:nvSpPr>
        <p:spPr>
          <a:xfrm>
            <a:off x="558800" y="4857274"/>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The customer is interrupted.</a:t>
            </a:r>
            <a:endParaRPr lang="en-US" sz="1250" b="0" i="0" kern="0" spc="0" dirty="0">
              <a:solidFill>
                <a:srgbClr val="032D60"/>
              </a:solidFill>
              <a:latin typeface="Salesforce Sans"/>
              <a:ea typeface="Salesforce Sans"/>
              <a:cs typeface="Salesforce Sans"/>
            </a:endParaRPr>
          </a:p>
        </p:txBody>
      </p:sp>
      <p:sp>
        <p:nvSpPr>
          <p:cNvPr id="1007" name="14 · endpointing-text-3: Wait too long [p14-text-0011]" descr="Native editable Unicode text; authored line breaks retained."/>
          <p:cNvSpPr txBox="1"/>
          <p:nvPr/>
        </p:nvSpPr>
        <p:spPr>
          <a:xfrm>
            <a:off x="4313767"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Wait too long</a:t>
            </a:r>
            <a:endParaRPr lang="en-US" sz="2000" b="1" i="0" kern="0" spc="-38" dirty="0">
              <a:solidFill>
                <a:srgbClr val="022AC0"/>
              </a:solidFill>
              <a:latin typeface="Manrope"/>
              <a:ea typeface="Manrope"/>
              <a:cs typeface="Manrope"/>
            </a:endParaRPr>
          </a:p>
        </p:txBody>
      </p:sp>
      <p:sp>
        <p:nvSpPr>
          <p:cNvPr id="1008" name="14 · endpointing-text-4: The response is delayed. [p14-text-0012]" descr="Native editable Unicode text; authored line breaks retained."/>
          <p:cNvSpPr txBox="1"/>
          <p:nvPr/>
        </p:nvSpPr>
        <p:spPr>
          <a:xfrm>
            <a:off x="4313767" y="4857274"/>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The response is delayed.</a:t>
            </a:r>
            <a:endParaRPr lang="en-US" sz="1250" b="0" i="0" kern="0" spc="0" dirty="0">
              <a:solidFill>
                <a:srgbClr val="032D60"/>
              </a:solidFill>
              <a:latin typeface="Salesforce Sans"/>
              <a:ea typeface="Salesforce Sans"/>
              <a:cs typeface="Salesforce Sans"/>
            </a:endParaRPr>
          </a:p>
        </p:txBody>
      </p:sp>
      <p:sp>
        <p:nvSpPr>
          <p:cNvPr id="1009" name="14 · endpointing-text-5: Keep the boundary [p14-text-0013]" descr="Native editable Unicode text; authored line breaks retained."/>
          <p:cNvSpPr txBox="1"/>
          <p:nvPr/>
        </p:nvSpPr>
        <p:spPr>
          <a:xfrm>
            <a:off x="8068733" y="4408679"/>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the boundary</a:t>
            </a:r>
            <a:endParaRPr lang="en-US" sz="2000" b="1" i="0" kern="0" spc="-38" dirty="0">
              <a:solidFill>
                <a:srgbClr val="022AC0"/>
              </a:solidFill>
              <a:latin typeface="Manrope"/>
              <a:ea typeface="Manrope"/>
              <a:cs typeface="Manrope"/>
            </a:endParaRPr>
          </a:p>
        </p:txBody>
      </p:sp>
      <p:sp>
        <p:nvSpPr>
          <p:cNvPr id="1010" name="14 · endpointing-text-6: Future audio may label the prefix. It cannot enter the input. [p14-text-0014]" descr="Native editable Unicode text; authored line breaks retained."/>
          <p:cNvSpPr txBox="1"/>
          <p:nvPr/>
        </p:nvSpPr>
        <p:spPr>
          <a:xfrm>
            <a:off x="8068733" y="4857274"/>
            <a:ext cx="3577167"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Future audio may label the prefix.</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It cannot enter the input.</a:t>
            </a:r>
            <a:endParaRPr lang="en-US" sz="1250" b="0" i="0" kern="0" spc="0" dirty="0">
              <a:solidFill>
                <a:srgbClr val="032D60"/>
              </a:solidFill>
              <a:latin typeface="Salesforce Sans"/>
              <a:ea typeface="Salesforce Sans"/>
              <a:cs typeface="Salesforce Sans"/>
            </a:endParaRPr>
          </a:p>
        </p:txBody>
      </p:sp>
      <p:grpSp>
        <p:nvGrpSpPr>
          <p:cNvPr id="1011" name="14 · svg · drawing [p14-e0015]"/>
          <p:cNvGrpSpPr/>
          <p:nvPr/>
        </p:nvGrpSpPr>
        <p:grpSpPr>
          <a:xfrm>
            <a:off x="725714" y="1988457"/>
            <a:ext cx="10740571" cy="2114550"/>
            <a:chOff x="725714" y="1988457"/>
            <a:chExt cx="10740571" cy="2114550"/>
          </a:xfrm>
        </p:grpSpPr>
        <p:sp>
          <p:nvSpPr>
            <p:cNvPr id="1012" name="rect · 1"/>
            <p:cNvSpPr/>
            <p:nvPr/>
          </p:nvSpPr>
          <p:spPr>
            <a:xfrm>
              <a:off x="725714" y="2156279"/>
              <a:ext cx="6645729" cy="1778907"/>
            </a:xfrm>
            <a:prstGeom prst="rect">
              <a:avLst/>
            </a:prstGeom>
            <a:solidFill>
              <a:srgbClr val="D3E8DF"/>
            </a:solidFill>
            <a:ln>
              <a:noFill/>
            </a:ln>
          </p:spPr>
        </p:sp>
        <p:sp>
          <p:nvSpPr>
            <p:cNvPr id="1013" name="rect · 2"/>
            <p:cNvSpPr/>
            <p:nvPr/>
          </p:nvSpPr>
          <p:spPr>
            <a:xfrm>
              <a:off x="7438571" y="2156279"/>
              <a:ext cx="4027714" cy="1778907"/>
            </a:xfrm>
            <a:prstGeom prst="rect">
              <a:avLst/>
            </a:prstGeom>
            <a:solidFill>
              <a:srgbClr val="DFE4F4">
                <a:alpha val="55000"/>
              </a:srgbClr>
            </a:solidFill>
            <a:ln>
              <a:noFill/>
            </a:ln>
          </p:spPr>
        </p:sp>
        <p:sp>
          <p:nvSpPr>
            <p:cNvPr id="1014" name="polyline · 3"/>
            <p:cNvSpPr/>
            <p:nvPr/>
          </p:nvSpPr>
          <p:spPr>
            <a:xfrm>
              <a:off x="859971" y="2572476"/>
              <a:ext cx="9901464" cy="1241879"/>
            </a:xfrm>
            <a:custGeom>
              <a:avLst/>
              <a:gdLst/>
              <a:ahLst/>
              <a:cxnLst/>
              <a:rect l="0" t="0" r="r" b="b"/>
              <a:pathLst>
                <a:path w="9901464" h="1241879" fill="none" stroke="1" extrusionOk="0">
                  <a:moveTo>
                    <a:pt x="0" y="523603"/>
                  </a:moveTo>
                  <a:lnTo>
                    <a:pt x="167822" y="973364"/>
                  </a:lnTo>
                  <a:lnTo>
                    <a:pt x="335643" y="26851"/>
                  </a:lnTo>
                  <a:lnTo>
                    <a:pt x="503465" y="933087"/>
                  </a:lnTo>
                  <a:lnTo>
                    <a:pt x="671286" y="67128"/>
                  </a:lnTo>
                  <a:lnTo>
                    <a:pt x="839108" y="892810"/>
                  </a:lnTo>
                  <a:lnTo>
                    <a:pt x="1006929" y="107405"/>
                  </a:lnTo>
                  <a:lnTo>
                    <a:pt x="1174750" y="852533"/>
                  </a:lnTo>
                  <a:lnTo>
                    <a:pt x="1342572" y="147683"/>
                  </a:lnTo>
                  <a:lnTo>
                    <a:pt x="1510393" y="812255"/>
                  </a:lnTo>
                  <a:lnTo>
                    <a:pt x="1678215" y="187960"/>
                  </a:lnTo>
                  <a:lnTo>
                    <a:pt x="1846036" y="771978"/>
                  </a:lnTo>
                  <a:lnTo>
                    <a:pt x="2013858" y="228237"/>
                  </a:lnTo>
                  <a:lnTo>
                    <a:pt x="2181679" y="731701"/>
                  </a:lnTo>
                  <a:lnTo>
                    <a:pt x="2349500" y="268514"/>
                  </a:lnTo>
                  <a:lnTo>
                    <a:pt x="2517322" y="1228453"/>
                  </a:lnTo>
                  <a:lnTo>
                    <a:pt x="2685143" y="308791"/>
                  </a:lnTo>
                  <a:lnTo>
                    <a:pt x="2852965" y="1188175"/>
                  </a:lnTo>
                  <a:lnTo>
                    <a:pt x="3020786" y="349068"/>
                  </a:lnTo>
                  <a:lnTo>
                    <a:pt x="3188608" y="1147898"/>
                  </a:lnTo>
                  <a:lnTo>
                    <a:pt x="3356429" y="389345"/>
                  </a:lnTo>
                  <a:lnTo>
                    <a:pt x="3524250" y="1107621"/>
                  </a:lnTo>
                  <a:lnTo>
                    <a:pt x="3692072" y="429623"/>
                  </a:lnTo>
                  <a:lnTo>
                    <a:pt x="3859893" y="1067344"/>
                  </a:lnTo>
                  <a:lnTo>
                    <a:pt x="4027715" y="469900"/>
                  </a:lnTo>
                  <a:lnTo>
                    <a:pt x="4195536" y="1027067"/>
                  </a:lnTo>
                  <a:lnTo>
                    <a:pt x="4363358" y="510177"/>
                  </a:lnTo>
                  <a:lnTo>
                    <a:pt x="4531179" y="986790"/>
                  </a:lnTo>
                  <a:lnTo>
                    <a:pt x="4699000" y="13425"/>
                  </a:lnTo>
                  <a:lnTo>
                    <a:pt x="4866822" y="946513"/>
                  </a:lnTo>
                  <a:lnTo>
                    <a:pt x="5034643" y="53703"/>
                  </a:lnTo>
                  <a:lnTo>
                    <a:pt x="5202465" y="906235"/>
                  </a:lnTo>
                  <a:lnTo>
                    <a:pt x="5370286" y="93980"/>
                  </a:lnTo>
                  <a:lnTo>
                    <a:pt x="5538108" y="865958"/>
                  </a:lnTo>
                  <a:lnTo>
                    <a:pt x="5705929" y="134257"/>
                  </a:lnTo>
                  <a:lnTo>
                    <a:pt x="5873750" y="825681"/>
                  </a:lnTo>
                  <a:lnTo>
                    <a:pt x="6041572" y="174534"/>
                  </a:lnTo>
                  <a:lnTo>
                    <a:pt x="6209393" y="785404"/>
                  </a:lnTo>
                  <a:lnTo>
                    <a:pt x="6377215" y="214811"/>
                  </a:lnTo>
                  <a:lnTo>
                    <a:pt x="6545036" y="745127"/>
                  </a:lnTo>
                  <a:lnTo>
                    <a:pt x="6712858" y="255088"/>
                  </a:lnTo>
                  <a:lnTo>
                    <a:pt x="6880679" y="1241878"/>
                  </a:lnTo>
                  <a:lnTo>
                    <a:pt x="7048500" y="295365"/>
                  </a:lnTo>
                  <a:lnTo>
                    <a:pt x="7216322" y="1201601"/>
                  </a:lnTo>
                  <a:lnTo>
                    <a:pt x="7384143" y="335643"/>
                  </a:lnTo>
                  <a:lnTo>
                    <a:pt x="7551965" y="1161324"/>
                  </a:lnTo>
                  <a:lnTo>
                    <a:pt x="7719786" y="375920"/>
                  </a:lnTo>
                  <a:lnTo>
                    <a:pt x="7887608" y="1121047"/>
                  </a:lnTo>
                  <a:lnTo>
                    <a:pt x="8055429" y="416197"/>
                  </a:lnTo>
                  <a:lnTo>
                    <a:pt x="8223250" y="1080770"/>
                  </a:lnTo>
                  <a:lnTo>
                    <a:pt x="8391072" y="456474"/>
                  </a:lnTo>
                  <a:lnTo>
                    <a:pt x="8558893" y="1040493"/>
                  </a:lnTo>
                  <a:lnTo>
                    <a:pt x="8726715" y="496751"/>
                  </a:lnTo>
                  <a:lnTo>
                    <a:pt x="8894536" y="1000215"/>
                  </a:lnTo>
                  <a:lnTo>
                    <a:pt x="9062358" y="0"/>
                  </a:lnTo>
                  <a:lnTo>
                    <a:pt x="9230179" y="959938"/>
                  </a:lnTo>
                  <a:lnTo>
                    <a:pt x="9398000" y="40277"/>
                  </a:lnTo>
                  <a:lnTo>
                    <a:pt x="9565822" y="919661"/>
                  </a:lnTo>
                  <a:lnTo>
                    <a:pt x="9733643" y="80554"/>
                  </a:lnTo>
                  <a:lnTo>
                    <a:pt x="9901465" y="879384"/>
                  </a:lnTo>
                </a:path>
              </a:pathLst>
            </a:custGeom>
            <a:noFill/>
            <a:ln w="26851" cap="flat" cmpd="sng" algn="ctr">
              <a:solidFill>
                <a:srgbClr val="35594D"/>
              </a:solidFill>
              <a:prstDash val="solid"/>
              <a:miter lim="400000"/>
              <a:headEnd type="none" w="med" len="med"/>
              <a:tailEnd type="none" w="med" len="med"/>
            </a:ln>
          </p:spPr>
        </p:sp>
        <p:sp>
          <p:nvSpPr>
            <p:cNvPr id="1015" name="path · 4"/>
            <p:cNvSpPr/>
            <p:nvPr/>
          </p:nvSpPr>
          <p:spPr>
            <a:xfrm>
              <a:off x="7371443" y="1988457"/>
              <a:ext cx="1" cy="2114550"/>
            </a:xfrm>
            <a:custGeom>
              <a:avLst/>
              <a:gdLst/>
              <a:ahLst/>
              <a:cxnLst/>
              <a:rect l="0" t="0" r="r" b="b"/>
              <a:pathLst>
                <a:path w="1" h="2114550" fill="norm" stroke="1" extrusionOk="0">
                  <a:moveTo>
                    <a:pt x="0" y="0"/>
                  </a:moveTo>
                  <a:lnTo>
                    <a:pt x="0" y="2114550"/>
                  </a:lnTo>
                </a:path>
              </a:pathLst>
            </a:custGeom>
            <a:solidFill>
              <a:srgbClr val="000000"/>
            </a:solidFill>
            <a:ln w="26851" cap="flat" cmpd="sng" algn="ctr">
              <a:solidFill>
                <a:srgbClr val="243E42"/>
              </a:solidFill>
              <a:custDash>
                <a:ds d="200000" sp="200000"/>
              </a:custDash>
              <a:miter lim="400000"/>
              <a:headEnd type="none" w="med" len="med"/>
              <a:tailEnd type="none" w="med" len="med"/>
            </a:ln>
          </p:spPr>
        </p:sp>
      </p:grpSp>
      <p:sp>
        <p:nvSpPr>
          <p:cNvPr id="1016" name="14 · span: Available audio prefix [p14-text-0015]" descr="Native editable Unicode text; authored line breaks retained."/>
          <p:cNvSpPr txBox="1"/>
          <p:nvPr/>
        </p:nvSpPr>
        <p:spPr>
          <a:xfrm>
            <a:off x="1001776" y="2441575"/>
            <a:ext cx="1911995"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Available audio prefix</a:t>
            </a:r>
            <a:endParaRPr lang="en-US" sz="1500" b="0" i="0" kern="0" spc="0" dirty="0">
              <a:solidFill>
                <a:srgbClr val="032D60"/>
              </a:solidFill>
              <a:latin typeface="Salesforce Sans"/>
              <a:ea typeface="Salesforce Sans"/>
              <a:cs typeface="Salesforce Sans"/>
            </a:endParaRPr>
          </a:p>
        </p:txBody>
      </p:sp>
      <p:sp>
        <p:nvSpPr>
          <p:cNvPr id="1017" name="14 · span: Future audio [p14-text-0016]" descr="Native editable Unicode text; authored line breaks retained."/>
          <p:cNvSpPr txBox="1"/>
          <p:nvPr/>
        </p:nvSpPr>
        <p:spPr>
          <a:xfrm>
            <a:off x="7978648" y="2441575"/>
            <a:ext cx="1135131"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Future audio</a:t>
            </a:r>
            <a:endParaRPr lang="en-US" sz="1500" b="0" i="0" kern="0" spc="0" dirty="0">
              <a:solidFill>
                <a:srgbClr val="032D60"/>
              </a:solidFill>
              <a:latin typeface="Salesforce Sans"/>
              <a:ea typeface="Salesforce Sans"/>
              <a:cs typeface="Salesforce Sans"/>
            </a:endParaRPr>
          </a:p>
        </p:txBody>
      </p:sp>
      <p:sp>
        <p:nvSpPr>
          <p:cNvPr id="1018" name="14 · tag: DECISION NOW [p14-text-0017]" descr="Native editable Unicode text; authored line breaks retained."/>
          <p:cNvSpPr txBox="1"/>
          <p:nvPr/>
        </p:nvSpPr>
        <p:spPr>
          <a:xfrm>
            <a:off x="5985256" y="3824603"/>
            <a:ext cx="104899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DECISION NOW</a:t>
            </a:r>
            <a:endParaRPr lang="en-US" sz="1050" b="0" i="0" kern="0" spc="50" dirty="0">
              <a:solidFill>
                <a:srgbClr val="022AC0">
                  <a:alpha val="85000"/>
                </a:srgbClr>
              </a:solidFill>
              <a:latin typeface="IBM Plex Mono"/>
              <a:ea typeface="IBM Plex Mono"/>
              <a:cs typeface="IBM Plex Mono"/>
            </a:endParaRPr>
          </a:p>
        </p:txBody>
      </p:sp>
      <p:grpSp>
        <p:nvGrpSpPr>
          <p:cNvPr id="1024" name="14 · source-line: Building with System One"/>
          <p:cNvGrpSpPr/>
          <p:nvPr/>
        </p:nvGrpSpPr>
        <p:grpSpPr>
          <a:xfrm>
            <a:off x="558800" y="6037898"/>
            <a:ext cx="11087100" cy="284456"/>
            <a:chOff x="558800" y="6037898"/>
            <a:chExt cx="11087100" cy="284456"/>
          </a:xfrm>
        </p:grpSpPr>
        <p:sp>
          <p:nvSpPr>
            <p:cNvPr id="1019" name="14 · source-line · top border [p14-e001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14 · span: Building with System One [p14-text-0018]" descr="Native editable Unicode text; authored line breaks retained."/>
            <p:cNvSpPr txBox="1"/>
            <p:nvPr/>
          </p:nvSpPr>
          <p:spPr>
            <a:xfrm>
              <a:off x="558800" y="6153126"/>
              <a:ext cx="144736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21" name="14 · span: Illustrative waveform; proposed evaluation [p14-text-0019]" descr="Native editable Unicode text; authored line breaks retained."/>
            <p:cNvSpPr txBox="1"/>
            <p:nvPr/>
          </p:nvSpPr>
          <p:spPr>
            <a:xfrm>
              <a:off x="9253569" y="6153126"/>
              <a:ext cx="239233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waveform; proposed evaluation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plit work along information dependencies">
    <p:bg>
      <p:bgPr>
        <a:solidFill>
          <a:srgbClr val="FFFFFF"/>
        </a:solidFill>
      </p:bgPr>
    </p:bg>
    <p:spTree>
      <p:nvGrpSpPr>
        <p:cNvPr id="1" name=""/>
        <p:cNvGrpSpPr/>
        <p:nvPr/>
      </p:nvGrpSpPr>
      <p:grpSpPr>
        <a:xfrm>
          <a:off x="0" y="0"/>
          <a:ext cx="0" cy="0"/>
          <a:chOff x="0" y="0"/>
          <a:chExt cx="0" cy="0"/>
        </a:xfrm>
      </p:grpSpPr>
      <p:sp>
        <p:nvSpPr>
          <p:cNvPr id="1000" name="15 · slide light · surface [p1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1" name="15 · chrome-min: DISAGGREGATED INTELLIGENCE"/>
          <p:cNvGrpSpPr/>
          <p:nvPr/>
        </p:nvGrpSpPr>
        <p:grpSpPr>
          <a:xfrm>
            <a:off x="558800" y="356053"/>
            <a:ext cx="11087100" cy="187325"/>
            <a:chOff x="558800" y="356053"/>
            <a:chExt cx="11087100" cy="187325"/>
          </a:xfrm>
        </p:grpSpPr>
        <p:sp>
          <p:nvSpPr>
            <p:cNvPr id="1001" name="15 · l: DISAGGREGATED INTELLIGENCE [p15-text-0012]"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5 · r: 15 / 36 [p15-text-0013]"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15 / 36</a:t>
              </a:r>
              <a:endParaRPr lang="en-US" sz="950" b="1" i="0" kern="0" spc="65" dirty="0">
                <a:solidFill>
                  <a:srgbClr val="022AC0"/>
                </a:solidFill>
                <a:latin typeface="Salesforce Sans"/>
                <a:ea typeface="Salesforce Sans"/>
                <a:cs typeface="Salesforce Sans"/>
              </a:endParaRPr>
            </a:p>
          </p:txBody>
        </p:sp>
      </p:grpSp>
      <p:grpSp>
        <p:nvGrpSpPr>
          <p:cNvPr id="1042" name="15 · deck-head: 04 / STEP 2"/>
          <p:cNvGrpSpPr/>
          <p:nvPr/>
        </p:nvGrpSpPr>
        <p:grpSpPr>
          <a:xfrm>
            <a:off x="558800" y="775901"/>
            <a:ext cx="11087100" cy="871263"/>
            <a:chOff x="558800" y="775901"/>
            <a:chExt cx="11087100" cy="871263"/>
          </a:xfrm>
        </p:grpSpPr>
        <p:sp>
          <p:nvSpPr>
            <p:cNvPr id="1003" name="15 · dependencies-eyebrow: 04 / STEP 2 [p15-text-0014]"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STEP 2</a:t>
              </a:r>
              <a:endParaRPr lang="en-US" sz="1050" b="1" i="0" kern="0" spc="68" dirty="0">
                <a:solidFill>
                  <a:srgbClr val="022AC0"/>
                </a:solidFill>
                <a:latin typeface="Salesforce Sans"/>
                <a:ea typeface="Salesforce Sans"/>
                <a:cs typeface="Salesforce Sans"/>
              </a:endParaRPr>
            </a:p>
          </p:txBody>
        </p:sp>
        <p:sp>
          <p:nvSpPr>
            <p:cNvPr id="1004" name="15 · dependencies-title: Split work along information dependencies [p15-text-0015]"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Split work along information dependencies</a:t>
              </a:r>
              <a:endParaRPr lang="en-US" sz="3600" b="1" i="0" kern="0" spc="-95" dirty="0">
                <a:solidFill>
                  <a:srgbClr val="022AC0"/>
                </a:solidFill>
                <a:latin typeface="Manrope"/>
                <a:ea typeface="Manrope"/>
                <a:cs typeface="Manrope"/>
              </a:endParaRPr>
            </a:p>
          </p:txBody>
        </p:sp>
      </p:grpSp>
      <p:grpSp>
        <p:nvGrpSpPr>
          <p:cNvPr id="1005" name="15 · svg · drawing [p15-e0008]"/>
          <p:cNvGrpSpPr/>
          <p:nvPr/>
        </p:nvGrpSpPr>
        <p:grpSpPr>
          <a:xfrm>
            <a:off x="1675045" y="2719265"/>
            <a:ext cx="2999909" cy="1005803"/>
            <a:chOff x="1675045" y="2719265"/>
            <a:chExt cx="2999909" cy="1005803"/>
          </a:xfrm>
        </p:grpSpPr>
        <p:grpSp>
          <p:nvGrpSpPr>
            <p:cNvPr id="1006" name="path · 1 + arrowhead"/>
            <p:cNvGrpSpPr/>
            <p:nvPr/>
          </p:nvGrpSpPr>
          <p:grpSpPr>
            <a:xfrm>
              <a:off x="1675045" y="2719265"/>
              <a:ext cx="1499955" cy="1005803"/>
              <a:chOff x="1675045" y="2719265"/>
              <a:chExt cx="1499955" cy="1005803"/>
            </a:xfrm>
          </p:grpSpPr>
          <p:sp>
            <p:nvSpPr>
              <p:cNvPr id="1007" name="path · 1"/>
              <p:cNvSpPr/>
              <p:nvPr/>
            </p:nvSpPr>
            <p:spPr>
              <a:xfrm>
                <a:off x="1744811" y="2719265"/>
                <a:ext cx="1430189" cy="986082"/>
              </a:xfrm>
              <a:custGeom>
                <a:avLst/>
                <a:gdLst/>
                <a:ahLst/>
                <a:cxnLst/>
                <a:rect l="0" t="0" r="r" b="b"/>
                <a:pathLst>
                  <a:path w="1430189" h="986082" fill="none" stroke="1" extrusionOk="0">
                    <a:moveTo>
                      <a:pt x="1430189" y="0"/>
                    </a:moveTo>
                    <a:lnTo>
                      <a:pt x="1430189" y="512763"/>
                    </a:lnTo>
                    <a:lnTo>
                      <a:pt x="0" y="512763"/>
                    </a:lnTo>
                    <a:lnTo>
                      <a:pt x="0" y="986082"/>
                    </a:lnTo>
                  </a:path>
                </a:pathLst>
              </a:custGeom>
              <a:noFill/>
              <a:ln w="15875" cap="flat" cmpd="sng" algn="ctr">
                <a:solidFill>
                  <a:srgbClr val="789B8E"/>
                </a:solidFill>
                <a:prstDash val="solid"/>
                <a:miter lim="400000"/>
                <a:headEnd type="none" w="med" len="med"/>
                <a:tailEnd type="none" w="med" len="med"/>
              </a:ln>
            </p:spPr>
          </p:sp>
          <p:grpSp>
            <p:nvGrpSpPr>
              <p:cNvPr id="1008" name="arr4 end"/>
              <p:cNvGrpSpPr/>
              <p:nvPr/>
            </p:nvGrpSpPr>
            <p:grpSpPr>
              <a:xfrm>
                <a:off x="1675045" y="3567296"/>
                <a:ext cx="139531" cy="157773"/>
                <a:chOff x="1675045" y="3567296"/>
                <a:chExt cx="139531" cy="157773"/>
              </a:xfrm>
            </p:grpSpPr>
            <p:sp>
              <p:nvSpPr>
                <p:cNvPr id="1009" name="path · 2"/>
                <p:cNvSpPr/>
                <p:nvPr/>
              </p:nvSpPr>
              <p:spPr>
                <a:xfrm>
                  <a:off x="1675045" y="3567296"/>
                  <a:ext cx="139531" cy="157773"/>
                </a:xfrm>
                <a:custGeom>
                  <a:avLst/>
                  <a:gdLst/>
                  <a:ahLst/>
                  <a:cxnLst/>
                  <a:rect l="0" t="0" r="r" b="b"/>
                  <a:pathLst>
                    <a:path w="139531" h="157773" fill="norm" stroke="0" extrusionOk="0">
                      <a:moveTo>
                        <a:pt x="139531" y="0"/>
                      </a:moveTo>
                      <a:lnTo>
                        <a:pt x="69766" y="157773"/>
                      </a:lnTo>
                      <a:lnTo>
                        <a:pt x="0" y="0"/>
                      </a:lnTo>
                      <a:close/>
                    </a:path>
                  </a:pathLst>
                </a:custGeom>
                <a:solidFill>
                  <a:srgbClr val="789B8E"/>
                </a:solidFill>
                <a:ln>
                  <a:noFill/>
                </a:ln>
              </p:spPr>
            </p:sp>
          </p:grpSp>
        </p:grpSp>
        <p:grpSp>
          <p:nvGrpSpPr>
            <p:cNvPr id="1010" name="path · 3 + arrowhead"/>
            <p:cNvGrpSpPr/>
            <p:nvPr/>
          </p:nvGrpSpPr>
          <p:grpSpPr>
            <a:xfrm>
              <a:off x="3175000" y="3232028"/>
              <a:ext cx="1499955" cy="493041"/>
              <a:chOff x="3175000" y="3232028"/>
              <a:chExt cx="1499955" cy="493041"/>
            </a:xfrm>
          </p:grpSpPr>
          <p:sp>
            <p:nvSpPr>
              <p:cNvPr id="1011" name="path · 3"/>
              <p:cNvSpPr/>
              <p:nvPr/>
            </p:nvSpPr>
            <p:spPr>
              <a:xfrm>
                <a:off x="3175000" y="3232028"/>
                <a:ext cx="1430189" cy="473319"/>
              </a:xfrm>
              <a:custGeom>
                <a:avLst/>
                <a:gdLst/>
                <a:ahLst/>
                <a:cxnLst/>
                <a:rect l="0" t="0" r="r" b="b"/>
                <a:pathLst>
                  <a:path w="1430189" h="473319" fill="none" stroke="1" extrusionOk="0">
                    <a:moveTo>
                      <a:pt x="0" y="0"/>
                    </a:moveTo>
                    <a:lnTo>
                      <a:pt x="1430189" y="0"/>
                    </a:lnTo>
                    <a:lnTo>
                      <a:pt x="1430189" y="473319"/>
                    </a:lnTo>
                  </a:path>
                </a:pathLst>
              </a:custGeom>
              <a:noFill/>
              <a:ln w="15875" cap="flat" cmpd="sng" algn="ctr">
                <a:solidFill>
                  <a:srgbClr val="789B8E"/>
                </a:solidFill>
                <a:prstDash val="solid"/>
                <a:miter lim="400000"/>
                <a:headEnd type="none" w="med" len="med"/>
                <a:tailEnd type="none" w="med" len="med"/>
              </a:ln>
            </p:spPr>
          </p:sp>
          <p:grpSp>
            <p:nvGrpSpPr>
              <p:cNvPr id="1012" name="arr4 end"/>
              <p:cNvGrpSpPr/>
              <p:nvPr/>
            </p:nvGrpSpPr>
            <p:grpSpPr>
              <a:xfrm>
                <a:off x="4535424" y="3567296"/>
                <a:ext cx="139531" cy="157773"/>
                <a:chOff x="4535424" y="3567296"/>
                <a:chExt cx="139531" cy="157773"/>
              </a:xfrm>
            </p:grpSpPr>
            <p:sp>
              <p:nvSpPr>
                <p:cNvPr id="1013" name="path · 4"/>
                <p:cNvSpPr/>
                <p:nvPr/>
              </p:nvSpPr>
              <p:spPr>
                <a:xfrm>
                  <a:off x="4535424" y="3567296"/>
                  <a:ext cx="139531" cy="157773"/>
                </a:xfrm>
                <a:custGeom>
                  <a:avLst/>
                  <a:gdLst/>
                  <a:ahLst/>
                  <a:cxnLst/>
                  <a:rect l="0" t="0" r="r" b="b"/>
                  <a:pathLst>
                    <a:path w="139531" h="157773" fill="norm" stroke="0" extrusionOk="0">
                      <a:moveTo>
                        <a:pt x="139531" y="0"/>
                      </a:moveTo>
                      <a:lnTo>
                        <a:pt x="69765" y="157773"/>
                      </a:lnTo>
                      <a:lnTo>
                        <a:pt x="0" y="0"/>
                      </a:lnTo>
                      <a:close/>
                    </a:path>
                  </a:pathLst>
                </a:custGeom>
                <a:solidFill>
                  <a:srgbClr val="789B8E"/>
                </a:solidFill>
                <a:ln>
                  <a:noFill/>
                </a:ln>
              </p:spPr>
            </p:sp>
          </p:grpSp>
        </p:grpSp>
      </p:grpSp>
      <p:grpSp>
        <p:nvGrpSpPr>
          <p:cNvPr id="1043" name="15 · node sand: Same decision-time snapshot"/>
          <p:cNvGrpSpPr/>
          <p:nvPr/>
        </p:nvGrpSpPr>
        <p:grpSpPr>
          <a:xfrm>
            <a:off x="1465732" y="2009283"/>
            <a:ext cx="3418484" cy="709991"/>
            <a:chOff x="1465732" y="2009283"/>
            <a:chExt cx="3418484" cy="709991"/>
          </a:xfrm>
        </p:grpSpPr>
        <p:sp>
          <p:nvSpPr>
            <p:cNvPr id="1014" name="15 · node sand · surface [p15-e0009]"/>
            <p:cNvSpPr/>
            <p:nvPr/>
          </p:nvSpPr>
          <p:spPr>
            <a:xfrm>
              <a:off x="1465732" y="2009283"/>
              <a:ext cx="3418484" cy="709991"/>
            </a:xfrm>
            <a:prstGeom prst="roundRect">
              <a:avLst>
                <a:gd name="adj" fmla="val 19676"/>
              </a:avLst>
            </a:prstGeom>
            <a:solidFill>
              <a:srgbClr val="FBF0CF"/>
            </a:solidFill>
            <a:ln>
              <a:noFill/>
            </a:ln>
          </p:spPr>
        </p:sp>
        <p:sp>
          <p:nvSpPr>
            <p:cNvPr id="1015" name="15 · strong: Same decision-time snapshot [p15-text-0016]" descr="Native editable Unicode text; authored line breaks retained."/>
            <p:cNvSpPr txBox="1"/>
            <p:nvPr/>
          </p:nvSpPr>
          <p:spPr>
            <a:xfrm>
              <a:off x="1643532" y="2246240"/>
              <a:ext cx="307558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Same decision-time snapshot</a:t>
              </a:r>
              <a:endParaRPr lang="en-US" sz="1450" b="1" i="0" kern="0" spc="0" dirty="0">
                <a:solidFill>
                  <a:srgbClr val="032D60"/>
                </a:solidFill>
                <a:latin typeface="Salesforce Sans"/>
                <a:ea typeface="Salesforce Sans"/>
                <a:cs typeface="Salesforce Sans"/>
              </a:endParaRPr>
            </a:p>
          </p:txBody>
        </p:sp>
      </p:grpSp>
      <p:grpSp>
        <p:nvGrpSpPr>
          <p:cNvPr id="1044" name="15 · node lilac: Remedy"/>
          <p:cNvGrpSpPr/>
          <p:nvPr/>
        </p:nvGrpSpPr>
        <p:grpSpPr>
          <a:xfrm>
            <a:off x="558800" y="3744800"/>
            <a:ext cx="2372004" cy="1262175"/>
            <a:chOff x="558800" y="3744800"/>
            <a:chExt cx="2372004" cy="1262175"/>
          </a:xfrm>
        </p:grpSpPr>
        <p:sp>
          <p:nvSpPr>
            <p:cNvPr id="1016" name="15 · node lilac · surface [p15-e0011]"/>
            <p:cNvSpPr/>
            <p:nvPr/>
          </p:nvSpPr>
          <p:spPr>
            <a:xfrm>
              <a:off x="558800" y="3744800"/>
              <a:ext cx="2372004" cy="1262175"/>
            </a:xfrm>
            <a:prstGeom prst="roundRect">
              <a:avLst>
                <a:gd name="adj" fmla="val 11068"/>
              </a:avLst>
            </a:prstGeom>
            <a:solidFill>
              <a:srgbClr val="EAE6FA"/>
            </a:solidFill>
            <a:ln>
              <a:noFill/>
            </a:ln>
          </p:spPr>
        </p:sp>
        <p:sp>
          <p:nvSpPr>
            <p:cNvPr id="1017" name="15 · strong: Remedy [p15-text-0017]" descr="Native editable Unicode text; authored line breaks retained."/>
            <p:cNvSpPr txBox="1"/>
            <p:nvPr/>
          </p:nvSpPr>
          <p:spPr>
            <a:xfrm>
              <a:off x="736600" y="4125451"/>
              <a:ext cx="202910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Remedy</a:t>
              </a:r>
              <a:endParaRPr lang="en-US" sz="1450" b="1" i="0" kern="0" spc="0" dirty="0">
                <a:solidFill>
                  <a:srgbClr val="032D60"/>
                </a:solidFill>
                <a:latin typeface="Salesforce Sans"/>
                <a:ea typeface="Salesforce Sans"/>
                <a:cs typeface="Salesforce Sans"/>
              </a:endParaRPr>
            </a:p>
          </p:txBody>
        </p:sp>
        <p:sp>
          <p:nvSpPr>
            <p:cNvPr id="1018" name="15 · small: Return or exchange? [p15-text-0018]" descr="Native editable Unicode text; authored line breaks retained."/>
            <p:cNvSpPr txBox="1"/>
            <p:nvPr/>
          </p:nvSpPr>
          <p:spPr>
            <a:xfrm>
              <a:off x="736600" y="4436771"/>
              <a:ext cx="202910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Return or exchange?</a:t>
              </a:r>
              <a:endParaRPr lang="en-US" sz="1100" b="0" i="0" kern="0" spc="0" dirty="0">
                <a:solidFill>
                  <a:srgbClr val="032D60"/>
                </a:solidFill>
                <a:latin typeface="Salesforce Sans"/>
                <a:ea typeface="Salesforce Sans"/>
                <a:cs typeface="Salesforce Sans"/>
              </a:endParaRPr>
            </a:p>
          </p:txBody>
        </p:sp>
      </p:grpSp>
      <p:grpSp>
        <p:nvGrpSpPr>
          <p:cNvPr id="1045" name="15 · node lilac: Urgency"/>
          <p:cNvGrpSpPr/>
          <p:nvPr/>
        </p:nvGrpSpPr>
        <p:grpSpPr>
          <a:xfrm>
            <a:off x="3419196" y="3744800"/>
            <a:ext cx="2372004" cy="1262175"/>
            <a:chOff x="3419196" y="3744800"/>
            <a:chExt cx="2372004" cy="1262175"/>
          </a:xfrm>
        </p:grpSpPr>
        <p:sp>
          <p:nvSpPr>
            <p:cNvPr id="1019" name="15 · node lilac · surface [p15-e0014]"/>
            <p:cNvSpPr/>
            <p:nvPr/>
          </p:nvSpPr>
          <p:spPr>
            <a:xfrm>
              <a:off x="3419196" y="3744800"/>
              <a:ext cx="2372004" cy="1262175"/>
            </a:xfrm>
            <a:prstGeom prst="roundRect">
              <a:avLst>
                <a:gd name="adj" fmla="val 11068"/>
              </a:avLst>
            </a:prstGeom>
            <a:solidFill>
              <a:srgbClr val="EAE6FA"/>
            </a:solidFill>
            <a:ln>
              <a:noFill/>
            </a:ln>
          </p:spPr>
        </p:sp>
        <p:sp>
          <p:nvSpPr>
            <p:cNvPr id="1020" name="15 · strong: Urgency [p15-text-0019]" descr="Native editable Unicode text; authored line breaks retained."/>
            <p:cNvSpPr txBox="1"/>
            <p:nvPr/>
          </p:nvSpPr>
          <p:spPr>
            <a:xfrm>
              <a:off x="3596996" y="4125451"/>
              <a:ext cx="202910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Urgency</a:t>
              </a:r>
              <a:endParaRPr lang="en-US" sz="1450" b="1" i="0" kern="0" spc="0" dirty="0">
                <a:solidFill>
                  <a:srgbClr val="032D60"/>
                </a:solidFill>
                <a:latin typeface="Salesforce Sans"/>
                <a:ea typeface="Salesforce Sans"/>
                <a:cs typeface="Salesforce Sans"/>
              </a:endParaRPr>
            </a:p>
          </p:txBody>
        </p:sp>
        <p:sp>
          <p:nvSpPr>
            <p:cNvPr id="1021" name="15 · small: Which rubric level? [p15-text-0020]" descr="Native editable Unicode text; authored line breaks retained."/>
            <p:cNvSpPr txBox="1"/>
            <p:nvPr/>
          </p:nvSpPr>
          <p:spPr>
            <a:xfrm>
              <a:off x="3596996" y="4436771"/>
              <a:ext cx="202910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Which rubric level?</a:t>
              </a:r>
              <a:endParaRPr lang="en-US" sz="1100" b="0" i="0" kern="0" spc="0" dirty="0">
                <a:solidFill>
                  <a:srgbClr val="032D60"/>
                </a:solidFill>
                <a:latin typeface="Salesforce Sans"/>
                <a:ea typeface="Salesforce Sans"/>
                <a:cs typeface="Salesforce Sans"/>
              </a:endParaRPr>
            </a:p>
          </p:txBody>
        </p:sp>
      </p:grpSp>
      <p:sp>
        <p:nvSpPr>
          <p:cNvPr id="1022" name="15 · node label: Independent execution can still produce correlated errors. [p15-text-0021]" descr="Native editable Unicode text; authored line breaks retained."/>
          <p:cNvSpPr txBox="1"/>
          <p:nvPr/>
        </p:nvSpPr>
        <p:spPr>
          <a:xfrm>
            <a:off x="768096" y="5540396"/>
            <a:ext cx="4896256" cy="201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64"/>
              </a:lnSpc>
              <a:spcBef>
                <a:spcPts val="0"/>
              </a:spcBef>
              <a:spcAft>
                <a:spcPts val="0"/>
              </a:spcAft>
              <a:buNone/>
            </a:pPr>
            <a:r>
              <a:rPr lang="en-US" sz="1200" b="0" i="0" kern="0" spc="0" dirty="0">
                <a:solidFill>
                  <a:srgbClr val="032D60"/>
                </a:solidFill>
                <a:latin typeface="Salesforce Sans"/>
                <a:ea typeface="Salesforce Sans"/>
                <a:cs typeface="Salesforce Sans"/>
              </a:rPr>
              <a:t>Independent execution can still produce correlated errors.</a:t>
            </a:r>
            <a:endParaRPr lang="en-US" sz="1200" b="0" i="0" kern="0" spc="0" dirty="0">
              <a:solidFill>
                <a:srgbClr val="032D60"/>
              </a:solidFill>
              <a:latin typeface="Salesforce Sans"/>
              <a:ea typeface="Salesforce Sans"/>
              <a:cs typeface="Salesforce Sans"/>
            </a:endParaRPr>
          </a:p>
        </p:txBody>
      </p:sp>
      <p:grpSp>
        <p:nvGrpSpPr>
          <p:cNvPr id="1023" name="15 · svg · drawing [p15-e0018]"/>
          <p:cNvGrpSpPr/>
          <p:nvPr/>
        </p:nvGrpSpPr>
        <p:grpSpPr>
          <a:xfrm>
            <a:off x="8910828" y="2798152"/>
            <a:ext cx="136144" cy="1952442"/>
            <a:chOff x="8910828" y="2798152"/>
            <a:chExt cx="136144" cy="1952442"/>
          </a:xfrm>
        </p:grpSpPr>
        <p:grpSp>
          <p:nvGrpSpPr>
            <p:cNvPr id="1024" name="path · 1 + arrowhead"/>
            <p:cNvGrpSpPr/>
            <p:nvPr/>
          </p:nvGrpSpPr>
          <p:grpSpPr>
            <a:xfrm>
              <a:off x="8910828" y="2798152"/>
              <a:ext cx="136144" cy="571927"/>
              <a:chOff x="8910828" y="2798152"/>
              <a:chExt cx="136144" cy="571927"/>
            </a:xfrm>
          </p:grpSpPr>
          <p:sp>
            <p:nvSpPr>
              <p:cNvPr id="1025" name="path · 1"/>
              <p:cNvSpPr/>
              <p:nvPr/>
            </p:nvSpPr>
            <p:spPr>
              <a:xfrm>
                <a:off x="8978900" y="2798152"/>
                <a:ext cx="1" cy="552206"/>
              </a:xfrm>
              <a:custGeom>
                <a:avLst/>
                <a:gdLst/>
                <a:ahLst/>
                <a:cxnLst/>
                <a:rect l="0" t="0" r="r" b="b"/>
                <a:pathLst>
                  <a:path w="1" h="552206" fill="none" stroke="1" extrusionOk="0">
                    <a:moveTo>
                      <a:pt x="0" y="0"/>
                    </a:moveTo>
                    <a:lnTo>
                      <a:pt x="0" y="552206"/>
                    </a:lnTo>
                  </a:path>
                </a:pathLst>
              </a:custGeom>
              <a:noFill/>
              <a:ln w="15875" cap="flat" cmpd="sng" algn="ctr">
                <a:solidFill>
                  <a:srgbClr val="789B8E"/>
                </a:solidFill>
                <a:prstDash val="solid"/>
                <a:miter lim="400000"/>
                <a:headEnd type="none" w="med" len="med"/>
                <a:tailEnd type="none" w="med" len="med"/>
              </a:ln>
            </p:spPr>
          </p:sp>
          <p:grpSp>
            <p:nvGrpSpPr>
              <p:cNvPr id="1026" name="arr5 end"/>
              <p:cNvGrpSpPr/>
              <p:nvPr/>
            </p:nvGrpSpPr>
            <p:grpSpPr>
              <a:xfrm>
                <a:off x="8910828" y="3212306"/>
                <a:ext cx="136144" cy="157773"/>
                <a:chOff x="8910828" y="3212306"/>
                <a:chExt cx="136144" cy="157773"/>
              </a:xfrm>
            </p:grpSpPr>
            <p:sp>
              <p:nvSpPr>
                <p:cNvPr id="1027" name="path · 2"/>
                <p:cNvSpPr/>
                <p:nvPr/>
              </p:nvSpPr>
              <p:spPr>
                <a:xfrm>
                  <a:off x="8910828" y="3212306"/>
                  <a:ext cx="136144" cy="157773"/>
                </a:xfrm>
                <a:custGeom>
                  <a:avLst/>
                  <a:gdLst/>
                  <a:ahLst/>
                  <a:cxnLst/>
                  <a:rect l="0" t="0" r="r" b="b"/>
                  <a:pathLst>
                    <a:path w="136144" h="157773" fill="norm" stroke="0" extrusionOk="0">
                      <a:moveTo>
                        <a:pt x="136144" y="0"/>
                      </a:moveTo>
                      <a:lnTo>
                        <a:pt x="68072" y="157773"/>
                      </a:lnTo>
                      <a:lnTo>
                        <a:pt x="0" y="0"/>
                      </a:lnTo>
                      <a:close/>
                    </a:path>
                  </a:pathLst>
                </a:custGeom>
                <a:solidFill>
                  <a:srgbClr val="789B8E"/>
                </a:solidFill>
                <a:ln>
                  <a:noFill/>
                </a:ln>
              </p:spPr>
            </p:sp>
          </p:grpSp>
        </p:grpSp>
        <p:grpSp>
          <p:nvGrpSpPr>
            <p:cNvPr id="1028" name="path · 3 + arrowhead"/>
            <p:cNvGrpSpPr/>
            <p:nvPr/>
          </p:nvGrpSpPr>
          <p:grpSpPr>
            <a:xfrm>
              <a:off x="8910828" y="4178666"/>
              <a:ext cx="136144" cy="571927"/>
              <a:chOff x="8910828" y="4178666"/>
              <a:chExt cx="136144" cy="571927"/>
            </a:xfrm>
          </p:grpSpPr>
          <p:sp>
            <p:nvSpPr>
              <p:cNvPr id="1029" name="path · 3"/>
              <p:cNvSpPr/>
              <p:nvPr/>
            </p:nvSpPr>
            <p:spPr>
              <a:xfrm>
                <a:off x="8978900" y="4178666"/>
                <a:ext cx="1" cy="552206"/>
              </a:xfrm>
              <a:custGeom>
                <a:avLst/>
                <a:gdLst/>
                <a:ahLst/>
                <a:cxnLst/>
                <a:rect l="0" t="0" r="r" b="b"/>
                <a:pathLst>
                  <a:path w="1" h="552206" fill="none" stroke="1" extrusionOk="0">
                    <a:moveTo>
                      <a:pt x="0" y="0"/>
                    </a:moveTo>
                    <a:lnTo>
                      <a:pt x="0" y="552206"/>
                    </a:lnTo>
                  </a:path>
                </a:pathLst>
              </a:custGeom>
              <a:noFill/>
              <a:ln w="15875" cap="flat" cmpd="sng" algn="ctr">
                <a:solidFill>
                  <a:srgbClr val="789B8E"/>
                </a:solidFill>
                <a:prstDash val="solid"/>
                <a:miter lim="400000"/>
                <a:headEnd type="none" w="med" len="med"/>
                <a:tailEnd type="none" w="med" len="med"/>
              </a:ln>
            </p:spPr>
          </p:sp>
          <p:grpSp>
            <p:nvGrpSpPr>
              <p:cNvPr id="1030" name="arr5 end"/>
              <p:cNvGrpSpPr/>
              <p:nvPr/>
            </p:nvGrpSpPr>
            <p:grpSpPr>
              <a:xfrm>
                <a:off x="8910828" y="4592821"/>
                <a:ext cx="136144" cy="157773"/>
                <a:chOff x="8910828" y="4592821"/>
                <a:chExt cx="136144" cy="157773"/>
              </a:xfrm>
            </p:grpSpPr>
            <p:sp>
              <p:nvSpPr>
                <p:cNvPr id="1031" name="path · 4"/>
                <p:cNvSpPr/>
                <p:nvPr/>
              </p:nvSpPr>
              <p:spPr>
                <a:xfrm>
                  <a:off x="8910828" y="4592821"/>
                  <a:ext cx="136144" cy="157773"/>
                </a:xfrm>
                <a:custGeom>
                  <a:avLst/>
                  <a:gdLst/>
                  <a:ahLst/>
                  <a:cxnLst/>
                  <a:rect l="0" t="0" r="r" b="b"/>
                  <a:pathLst>
                    <a:path w="136144" h="157773" fill="norm" stroke="0" extrusionOk="0">
                      <a:moveTo>
                        <a:pt x="136144" y="0"/>
                      </a:moveTo>
                      <a:lnTo>
                        <a:pt x="68072" y="157773"/>
                      </a:lnTo>
                      <a:lnTo>
                        <a:pt x="0" y="0"/>
                      </a:lnTo>
                      <a:close/>
                    </a:path>
                  </a:pathLst>
                </a:custGeom>
                <a:solidFill>
                  <a:srgbClr val="789B8E"/>
                </a:solidFill>
                <a:ln>
                  <a:noFill/>
                </a:ln>
              </p:spPr>
            </p:sp>
          </p:grpSp>
        </p:grpSp>
      </p:grpSp>
      <p:grpSp>
        <p:nvGrpSpPr>
          <p:cNvPr id="1046" name="15 · node blue: Verify identity"/>
          <p:cNvGrpSpPr/>
          <p:nvPr/>
        </p:nvGrpSpPr>
        <p:grpSpPr>
          <a:xfrm>
            <a:off x="6732524" y="2009283"/>
            <a:ext cx="4492752" cy="788875"/>
            <a:chOff x="6732524" y="2009283"/>
            <a:chExt cx="4492752" cy="788875"/>
          </a:xfrm>
        </p:grpSpPr>
        <p:sp>
          <p:nvSpPr>
            <p:cNvPr id="1032" name="15 · node blue · surface [p15-e0019]"/>
            <p:cNvSpPr/>
            <p:nvPr/>
          </p:nvSpPr>
          <p:spPr>
            <a:xfrm>
              <a:off x="6732524" y="2009283"/>
              <a:ext cx="4492752" cy="788875"/>
            </a:xfrm>
            <a:prstGeom prst="roundRect">
              <a:avLst>
                <a:gd name="adj" fmla="val 17709"/>
              </a:avLst>
            </a:prstGeom>
            <a:solidFill>
              <a:srgbClr val="DCEEFE"/>
            </a:solidFill>
            <a:ln>
              <a:noFill/>
            </a:ln>
          </p:spPr>
        </p:sp>
        <p:sp>
          <p:nvSpPr>
            <p:cNvPr id="1033" name="15 · strong: Verify identity [p15-text-0022]" descr="Native editable Unicode text; authored line breaks retained."/>
            <p:cNvSpPr txBox="1"/>
            <p:nvPr/>
          </p:nvSpPr>
          <p:spPr>
            <a:xfrm>
              <a:off x="6910324" y="2285682"/>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Verify identity</a:t>
              </a:r>
              <a:endParaRPr lang="en-US" sz="1450" b="1" i="0" kern="0" spc="0" dirty="0">
                <a:solidFill>
                  <a:srgbClr val="032D60"/>
                </a:solidFill>
                <a:latin typeface="Salesforce Sans"/>
                <a:ea typeface="Salesforce Sans"/>
                <a:cs typeface="Salesforce Sans"/>
              </a:endParaRPr>
            </a:p>
          </p:txBody>
        </p:sp>
      </p:grpSp>
      <p:grpSp>
        <p:nvGrpSpPr>
          <p:cNvPr id="1047" name="15 · node mint: Match owned purchase"/>
          <p:cNvGrpSpPr/>
          <p:nvPr/>
        </p:nvGrpSpPr>
        <p:grpSpPr>
          <a:xfrm>
            <a:off x="6732524" y="3389804"/>
            <a:ext cx="4492752" cy="788875"/>
            <a:chOff x="6732524" y="3389804"/>
            <a:chExt cx="4492752" cy="788875"/>
          </a:xfrm>
        </p:grpSpPr>
        <p:sp>
          <p:nvSpPr>
            <p:cNvPr id="1034" name="15 · node mint · surface [p15-e0021]"/>
            <p:cNvSpPr/>
            <p:nvPr/>
          </p:nvSpPr>
          <p:spPr>
            <a:xfrm>
              <a:off x="6732524" y="3389804"/>
              <a:ext cx="4492752" cy="788875"/>
            </a:xfrm>
            <a:prstGeom prst="roundRect">
              <a:avLst>
                <a:gd name="adj" fmla="val 17709"/>
              </a:avLst>
            </a:prstGeom>
            <a:solidFill>
              <a:srgbClr val="DDF3ED"/>
            </a:solidFill>
            <a:ln>
              <a:noFill/>
            </a:ln>
          </p:spPr>
        </p:sp>
        <p:sp>
          <p:nvSpPr>
            <p:cNvPr id="1035" name="15 · strong: Match owned purchase [p15-text-0023]" descr="Native editable Unicode text; authored line breaks retained."/>
            <p:cNvSpPr txBox="1"/>
            <p:nvPr/>
          </p:nvSpPr>
          <p:spPr>
            <a:xfrm>
              <a:off x="6910324" y="3666202"/>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Match owned purchase</a:t>
              </a:r>
              <a:endParaRPr lang="en-US" sz="1450" b="1" i="0" kern="0" spc="0" dirty="0">
                <a:solidFill>
                  <a:srgbClr val="032D60"/>
                </a:solidFill>
                <a:latin typeface="Salesforce Sans"/>
                <a:ea typeface="Salesforce Sans"/>
                <a:cs typeface="Salesforce Sans"/>
              </a:endParaRPr>
            </a:p>
          </p:txBody>
        </p:sp>
      </p:grpSp>
      <p:grpSp>
        <p:nvGrpSpPr>
          <p:cNvPr id="1048" name="15 · node lilac: Bind the affected item"/>
          <p:cNvGrpSpPr/>
          <p:nvPr/>
        </p:nvGrpSpPr>
        <p:grpSpPr>
          <a:xfrm>
            <a:off x="6732524" y="4770325"/>
            <a:ext cx="4492752" cy="788875"/>
            <a:chOff x="6732524" y="4770325"/>
            <a:chExt cx="4492752" cy="788875"/>
          </a:xfrm>
        </p:grpSpPr>
        <p:sp>
          <p:nvSpPr>
            <p:cNvPr id="1036" name="15 · node lilac · surface [p15-e0023]"/>
            <p:cNvSpPr/>
            <p:nvPr/>
          </p:nvSpPr>
          <p:spPr>
            <a:xfrm>
              <a:off x="6732524" y="4770325"/>
              <a:ext cx="4492752" cy="788875"/>
            </a:xfrm>
            <a:prstGeom prst="roundRect">
              <a:avLst>
                <a:gd name="adj" fmla="val 17709"/>
              </a:avLst>
            </a:prstGeom>
            <a:solidFill>
              <a:srgbClr val="EAE6FA"/>
            </a:solidFill>
            <a:ln>
              <a:noFill/>
            </a:ln>
          </p:spPr>
        </p:sp>
        <p:sp>
          <p:nvSpPr>
            <p:cNvPr id="1037" name="15 · strong: Bind the affected item [p15-text-0024]" descr="Native editable Unicode text; authored line breaks retained."/>
            <p:cNvSpPr txBox="1"/>
            <p:nvPr/>
          </p:nvSpPr>
          <p:spPr>
            <a:xfrm>
              <a:off x="6910324" y="5046723"/>
              <a:ext cx="414985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Bind the affected item</a:t>
              </a:r>
              <a:endParaRPr lang="en-US" sz="1450" b="1" i="0" kern="0" spc="0" dirty="0">
                <a:solidFill>
                  <a:srgbClr val="032D60"/>
                </a:solidFill>
                <a:latin typeface="Salesforce Sans"/>
                <a:ea typeface="Salesforce Sans"/>
                <a:cs typeface="Salesforce Sans"/>
              </a:endParaRPr>
            </a:p>
          </p:txBody>
        </p:sp>
      </p:grpSp>
      <p:grpSp>
        <p:nvGrpSpPr>
          <p:cNvPr id="1049" name="15 · source-line: Building with System One · A harness with Jev"/>
          <p:cNvGrpSpPr/>
          <p:nvPr/>
        </p:nvGrpSpPr>
        <p:grpSpPr>
          <a:xfrm>
            <a:off x="558800" y="6037898"/>
            <a:ext cx="11087100" cy="284456"/>
            <a:chOff x="558800" y="6037898"/>
            <a:chExt cx="11087100" cy="284456"/>
          </a:xfrm>
        </p:grpSpPr>
        <p:sp>
          <p:nvSpPr>
            <p:cNvPr id="1038" name="15 · source-line · top border [p15-e002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9" name="15 · span: Building with System One · A harness with Jev [p15-text-0025]" descr="Native editable Unicode text; authored line breaks retained."/>
            <p:cNvSpPr txBox="1"/>
            <p:nvPr/>
          </p:nvSpPr>
          <p:spPr>
            <a:xfrm>
              <a:off x="558800" y="6153126"/>
              <a:ext cx="25649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Building with System One"/>
                </a:rPr>
                <a:t>Building with System One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 harness with Jev"/>
                </a:rPr>
                <a:t>A harness with Jev</a:t>
              </a:r>
              <a:endParaRPr lang="en-US" sz="950" b="0" i="0" kern="0" spc="0" dirty="0" u="sng">
                <a:solidFill>
                  <a:srgbClr val="315A7A"/>
                </a:solidFill>
                <a:latin typeface="Salesforce Sans"/>
                <a:ea typeface="Salesforce Sans"/>
                <a:cs typeface="Salesforce Sans"/>
              </a:endParaRPr>
            </a:p>
          </p:txBody>
        </p:sp>
        <p:sp>
          <p:nvSpPr>
            <p:cNvPr id="1040" name="15 · span: Proposed scheduling pattern [p15-text-0026]" descr="Native editable Unicode text; authored line breaks retained."/>
            <p:cNvSpPr txBox="1"/>
            <p:nvPr/>
          </p:nvSpPr>
          <p:spPr>
            <a:xfrm>
              <a:off x="10019723" y="6153126"/>
              <a:ext cx="16261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scheduling pattern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Each node sees a different view of the case">
    <p:bg>
      <p:bgPr>
        <a:solidFill>
          <a:srgbClr val="FFFFFF"/>
        </a:solidFill>
      </p:bgPr>
    </p:bg>
    <p:spTree>
      <p:nvGrpSpPr>
        <p:cNvPr id="1" name=""/>
        <p:cNvGrpSpPr/>
        <p:nvPr/>
      </p:nvGrpSpPr>
      <p:grpSpPr>
        <a:xfrm>
          <a:off x="0" y="0"/>
          <a:ext cx="0" cy="0"/>
          <a:chOff x="0" y="0"/>
          <a:chExt cx="0" cy="0"/>
        </a:xfrm>
      </p:grpSpPr>
      <p:sp>
        <p:nvSpPr>
          <p:cNvPr id="1000" name="16 · slide dark · surface [p1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4" name="16 · chrome-min: DISAGGREGATED INTELLIGENCE"/>
          <p:cNvGrpSpPr/>
          <p:nvPr/>
        </p:nvGrpSpPr>
        <p:grpSpPr>
          <a:xfrm>
            <a:off x="558800" y="356053"/>
            <a:ext cx="11087100" cy="187325"/>
            <a:chOff x="558800" y="356053"/>
            <a:chExt cx="11087100" cy="187325"/>
          </a:xfrm>
        </p:grpSpPr>
        <p:sp>
          <p:nvSpPr>
            <p:cNvPr id="1001" name="16 · l: DISAGGREGATED INTELLIGENCE [p16-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6 · r: 16 / 36 [p16-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16 / 36</a:t>
              </a:r>
              <a:endParaRPr lang="en-US" sz="950" b="1" i="0" kern="0" spc="65" dirty="0">
                <a:solidFill>
                  <a:srgbClr val="022AC0"/>
                </a:solidFill>
                <a:latin typeface="Salesforce Sans"/>
                <a:ea typeface="Salesforce Sans"/>
                <a:cs typeface="Salesforce Sans"/>
              </a:endParaRPr>
            </a:p>
          </p:txBody>
        </p:sp>
      </p:grpSp>
      <p:grpSp>
        <p:nvGrpSpPr>
          <p:cNvPr id="1035" name="16 · deck-head: 04 / CONTEXT IS PART OF TOPOLOGY"/>
          <p:cNvGrpSpPr/>
          <p:nvPr/>
        </p:nvGrpSpPr>
        <p:grpSpPr>
          <a:xfrm>
            <a:off x="558800" y="775901"/>
            <a:ext cx="11087100" cy="871263"/>
            <a:chOff x="558800" y="775901"/>
            <a:chExt cx="11087100" cy="871263"/>
          </a:xfrm>
        </p:grpSpPr>
        <p:sp>
          <p:nvSpPr>
            <p:cNvPr id="1003" name="16 · context-eyebrow: 04 / CONTEXT IS PART OF TOPOLOGY [p16-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CONTEXT IS PART OF TOPOLOGY</a:t>
              </a:r>
              <a:endParaRPr lang="en-US" sz="1050" b="1" i="0" kern="0" spc="68" dirty="0">
                <a:solidFill>
                  <a:srgbClr val="022AC0"/>
                </a:solidFill>
                <a:latin typeface="Salesforce Sans"/>
                <a:ea typeface="Salesforce Sans"/>
                <a:cs typeface="Salesforce Sans"/>
              </a:endParaRPr>
            </a:p>
          </p:txBody>
        </p:sp>
        <p:sp>
          <p:nvSpPr>
            <p:cNvPr id="1004" name="16 · context-title: Each node sees a different view of the case [p16-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Each node sees a different view of the case</a:t>
              </a:r>
              <a:endParaRPr lang="en-US" sz="3600" b="1" i="0" kern="0" spc="-95" dirty="0">
                <a:solidFill>
                  <a:srgbClr val="022AC0"/>
                </a:solidFill>
                <a:latin typeface="Manrope"/>
                <a:ea typeface="Manrope"/>
                <a:cs typeface="Manrope"/>
              </a:endParaRPr>
            </a:p>
          </p:txBody>
        </p:sp>
      </p:grpSp>
      <p:grpSp>
        <p:nvGrpSpPr>
          <p:cNvPr id="1005" name="16 · svg · drawing [p16-e0008]"/>
          <p:cNvGrpSpPr/>
          <p:nvPr/>
        </p:nvGrpSpPr>
        <p:grpSpPr>
          <a:xfrm>
            <a:off x="5819140" y="2244631"/>
            <a:ext cx="1851501" cy="2671372"/>
            <a:chOff x="5819140" y="2244631"/>
            <a:chExt cx="1851501" cy="2671372"/>
          </a:xfrm>
        </p:grpSpPr>
        <p:grpSp>
          <p:nvGrpSpPr>
            <p:cNvPr id="1006" name="path · 1 + arrowhead"/>
            <p:cNvGrpSpPr/>
            <p:nvPr/>
          </p:nvGrpSpPr>
          <p:grpSpPr>
            <a:xfrm>
              <a:off x="5819140" y="2244631"/>
              <a:ext cx="1851501" cy="136993"/>
              <a:chOff x="5819140" y="2244631"/>
              <a:chExt cx="1851501" cy="136993"/>
            </a:xfrm>
          </p:grpSpPr>
          <p:sp>
            <p:nvSpPr>
              <p:cNvPr id="1007" name="path · 1"/>
              <p:cNvSpPr/>
              <p:nvPr/>
            </p:nvSpPr>
            <p:spPr>
              <a:xfrm>
                <a:off x="5819140" y="2313128"/>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08" name="v2arr43 end"/>
              <p:cNvGrpSpPr/>
              <p:nvPr/>
            </p:nvGrpSpPr>
            <p:grpSpPr>
              <a:xfrm>
                <a:off x="7532211" y="2244631"/>
                <a:ext cx="138430" cy="136993"/>
                <a:chOff x="7532211" y="2244631"/>
                <a:chExt cx="138430" cy="136993"/>
              </a:xfrm>
            </p:grpSpPr>
            <p:sp>
              <p:nvSpPr>
                <p:cNvPr id="1009" name="path · 2"/>
                <p:cNvSpPr/>
                <p:nvPr/>
              </p:nvSpPr>
              <p:spPr>
                <a:xfrm>
                  <a:off x="7532211" y="2244631"/>
                  <a:ext cx="138430" cy="136993"/>
                </a:xfrm>
                <a:custGeom>
                  <a:avLst/>
                  <a:gdLst/>
                  <a:ahLst/>
                  <a:cxnLst/>
                  <a:rect l="0" t="0" r="r" b="b"/>
                  <a:pathLst>
                    <a:path w="138430" h="136993" fill="norm" stroke="0" extrusionOk="0">
                      <a:moveTo>
                        <a:pt x="0" y="0"/>
                      </a:moveTo>
                      <a:lnTo>
                        <a:pt x="138430" y="68497"/>
                      </a:lnTo>
                      <a:lnTo>
                        <a:pt x="0" y="136994"/>
                      </a:lnTo>
                      <a:close/>
                    </a:path>
                  </a:pathLst>
                </a:custGeom>
                <a:solidFill>
                  <a:srgbClr val="789B8E"/>
                </a:solidFill>
                <a:ln>
                  <a:noFill/>
                </a:ln>
              </p:spPr>
            </p:sp>
          </p:grpSp>
        </p:grpSp>
        <p:grpSp>
          <p:nvGrpSpPr>
            <p:cNvPr id="1010" name="path · 3 + arrowhead"/>
            <p:cNvGrpSpPr/>
            <p:nvPr/>
          </p:nvGrpSpPr>
          <p:grpSpPr>
            <a:xfrm>
              <a:off x="5819140" y="3511821"/>
              <a:ext cx="1851501" cy="136993"/>
              <a:chOff x="5819140" y="3511821"/>
              <a:chExt cx="1851501" cy="136993"/>
            </a:xfrm>
          </p:grpSpPr>
          <p:sp>
            <p:nvSpPr>
              <p:cNvPr id="1011" name="path · 3"/>
              <p:cNvSpPr/>
              <p:nvPr/>
            </p:nvSpPr>
            <p:spPr>
              <a:xfrm>
                <a:off x="5819140" y="3580317"/>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12" name="v2arr43 end"/>
              <p:cNvGrpSpPr/>
              <p:nvPr/>
            </p:nvGrpSpPr>
            <p:grpSpPr>
              <a:xfrm>
                <a:off x="7532211" y="3511821"/>
                <a:ext cx="138430" cy="136993"/>
                <a:chOff x="7532211" y="3511821"/>
                <a:chExt cx="138430" cy="136993"/>
              </a:xfrm>
            </p:grpSpPr>
            <p:sp>
              <p:nvSpPr>
                <p:cNvPr id="1013" name="path · 4"/>
                <p:cNvSpPr/>
                <p:nvPr/>
              </p:nvSpPr>
              <p:spPr>
                <a:xfrm>
                  <a:off x="7532211" y="3511821"/>
                  <a:ext cx="138430" cy="136993"/>
                </a:xfrm>
                <a:custGeom>
                  <a:avLst/>
                  <a:gdLst/>
                  <a:ahLst/>
                  <a:cxnLst/>
                  <a:rect l="0" t="0" r="r" b="b"/>
                  <a:pathLst>
                    <a:path w="138430" h="136993" fill="norm" stroke="0" extrusionOk="0">
                      <a:moveTo>
                        <a:pt x="0" y="0"/>
                      </a:moveTo>
                      <a:lnTo>
                        <a:pt x="138430" y="68496"/>
                      </a:lnTo>
                      <a:lnTo>
                        <a:pt x="0" y="136993"/>
                      </a:lnTo>
                      <a:close/>
                    </a:path>
                  </a:pathLst>
                </a:custGeom>
                <a:solidFill>
                  <a:srgbClr val="789B8E"/>
                </a:solidFill>
                <a:ln>
                  <a:noFill/>
                </a:ln>
              </p:spPr>
            </p:sp>
          </p:grpSp>
        </p:grpSp>
        <p:grpSp>
          <p:nvGrpSpPr>
            <p:cNvPr id="1014" name="path · 5 + arrowhead"/>
            <p:cNvGrpSpPr/>
            <p:nvPr/>
          </p:nvGrpSpPr>
          <p:grpSpPr>
            <a:xfrm>
              <a:off x="5819140" y="4779010"/>
              <a:ext cx="1851501" cy="136993"/>
              <a:chOff x="5819140" y="4779010"/>
              <a:chExt cx="1851501" cy="136993"/>
            </a:xfrm>
          </p:grpSpPr>
          <p:sp>
            <p:nvSpPr>
              <p:cNvPr id="1015" name="path · 5"/>
              <p:cNvSpPr/>
              <p:nvPr/>
            </p:nvSpPr>
            <p:spPr>
              <a:xfrm>
                <a:off x="5819140" y="4847507"/>
                <a:ext cx="1834198" cy="1"/>
              </a:xfrm>
              <a:custGeom>
                <a:avLst/>
                <a:gdLst/>
                <a:ahLst/>
                <a:cxnLst/>
                <a:rect l="0" t="0" r="r" b="b"/>
                <a:pathLst>
                  <a:path w="1834198" h="1" fill="none" stroke="1" extrusionOk="0">
                    <a:moveTo>
                      <a:pt x="0" y="0"/>
                    </a:moveTo>
                    <a:lnTo>
                      <a:pt x="1834198" y="0"/>
                    </a:lnTo>
                  </a:path>
                </a:pathLst>
              </a:custGeom>
              <a:noFill/>
              <a:ln w="15875" cap="flat" cmpd="sng" algn="ctr">
                <a:solidFill>
                  <a:srgbClr val="789B8E"/>
                </a:solidFill>
                <a:prstDash val="solid"/>
                <a:miter lim="400000"/>
                <a:headEnd type="none" w="med" len="med"/>
                <a:tailEnd type="none" w="med" len="med"/>
              </a:ln>
            </p:spPr>
          </p:sp>
          <p:grpSp>
            <p:nvGrpSpPr>
              <p:cNvPr id="1016" name="v2arr43 end"/>
              <p:cNvGrpSpPr/>
              <p:nvPr/>
            </p:nvGrpSpPr>
            <p:grpSpPr>
              <a:xfrm>
                <a:off x="7532211" y="4779010"/>
                <a:ext cx="138430" cy="136993"/>
                <a:chOff x="7532211" y="4779010"/>
                <a:chExt cx="138430" cy="136993"/>
              </a:xfrm>
            </p:grpSpPr>
            <p:sp>
              <p:nvSpPr>
                <p:cNvPr id="1017" name="path · 6"/>
                <p:cNvSpPr/>
                <p:nvPr/>
              </p:nvSpPr>
              <p:spPr>
                <a:xfrm>
                  <a:off x="7532211" y="4779010"/>
                  <a:ext cx="138430" cy="136993"/>
                </a:xfrm>
                <a:custGeom>
                  <a:avLst/>
                  <a:gdLst/>
                  <a:ahLst/>
                  <a:cxnLst/>
                  <a:rect l="0" t="0" r="r" b="b"/>
                  <a:pathLst>
                    <a:path w="138430" h="136993" fill="norm" stroke="0" extrusionOk="0">
                      <a:moveTo>
                        <a:pt x="0" y="0"/>
                      </a:moveTo>
                      <a:lnTo>
                        <a:pt x="138430" y="68497"/>
                      </a:lnTo>
                      <a:lnTo>
                        <a:pt x="0" y="136993"/>
                      </a:lnTo>
                      <a:close/>
                    </a:path>
                  </a:pathLst>
                </a:custGeom>
                <a:solidFill>
                  <a:srgbClr val="789B8E"/>
                </a:solidFill>
                <a:ln>
                  <a:noFill/>
                </a:ln>
              </p:spPr>
            </p:sp>
          </p:grpSp>
        </p:grpSp>
      </p:grpSp>
      <p:grpSp>
        <p:nvGrpSpPr>
          <p:cNvPr id="1036" name="16 · node lilac: Prefix + task definitions + verified items"/>
          <p:cNvGrpSpPr/>
          <p:nvPr/>
        </p:nvGrpSpPr>
        <p:grpSpPr>
          <a:xfrm>
            <a:off x="558800" y="1854200"/>
            <a:ext cx="5260340" cy="924700"/>
            <a:chOff x="558800" y="1854200"/>
            <a:chExt cx="5260340" cy="924700"/>
          </a:xfrm>
        </p:grpSpPr>
        <p:sp>
          <p:nvSpPr>
            <p:cNvPr id="1018" name="16 · node lilac · surface [p16-e0009]"/>
            <p:cNvSpPr/>
            <p:nvPr/>
          </p:nvSpPr>
          <p:spPr>
            <a:xfrm>
              <a:off x="558800" y="1854200"/>
              <a:ext cx="5260340" cy="924700"/>
            </a:xfrm>
            <a:prstGeom prst="roundRect">
              <a:avLst>
                <a:gd name="adj" fmla="val 15108"/>
              </a:avLst>
            </a:prstGeom>
            <a:solidFill>
              <a:srgbClr val="EAE6FA"/>
            </a:solidFill>
            <a:ln>
              <a:noFill/>
            </a:ln>
          </p:spPr>
        </p:sp>
        <p:sp>
          <p:nvSpPr>
            <p:cNvPr id="1019" name="16 · strong: Prefix + task definitions + verified items [p16-text-0015]" descr="Native editable Unicode text; authored line breaks retained."/>
            <p:cNvSpPr txBox="1"/>
            <p:nvPr/>
          </p:nvSpPr>
          <p:spPr>
            <a:xfrm>
              <a:off x="736600" y="2198510"/>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Prefix + task definitions + verified items</a:t>
              </a:r>
              <a:endParaRPr lang="en-US" sz="1450" b="1" i="0" kern="0" spc="0" dirty="0">
                <a:solidFill>
                  <a:srgbClr val="032D60"/>
                </a:solidFill>
                <a:latin typeface="Salesforce Sans"/>
                <a:ea typeface="Salesforce Sans"/>
                <a:cs typeface="Salesforce Sans"/>
              </a:endParaRPr>
            </a:p>
          </p:txBody>
        </p:sp>
      </p:grpSp>
      <p:grpSp>
        <p:nvGrpSpPr>
          <p:cNvPr id="1037" name="16 · node lilac: Task interpretation"/>
          <p:cNvGrpSpPr/>
          <p:nvPr/>
        </p:nvGrpSpPr>
        <p:grpSpPr>
          <a:xfrm>
            <a:off x="7687945" y="1854200"/>
            <a:ext cx="3910592" cy="924700"/>
            <a:chOff x="7687945" y="1854200"/>
            <a:chExt cx="3910592" cy="924700"/>
          </a:xfrm>
        </p:grpSpPr>
        <p:sp>
          <p:nvSpPr>
            <p:cNvPr id="1020" name="16 · node lilac · surface [p16-e0011]"/>
            <p:cNvSpPr/>
            <p:nvPr/>
          </p:nvSpPr>
          <p:spPr>
            <a:xfrm>
              <a:off x="7687945" y="1854200"/>
              <a:ext cx="3910592" cy="924700"/>
            </a:xfrm>
            <a:prstGeom prst="roundRect">
              <a:avLst>
                <a:gd name="adj" fmla="val 15108"/>
              </a:avLst>
            </a:prstGeom>
            <a:solidFill>
              <a:srgbClr val="EAE6FA"/>
            </a:solidFill>
            <a:ln>
              <a:noFill/>
            </a:ln>
          </p:spPr>
        </p:sp>
        <p:sp>
          <p:nvSpPr>
            <p:cNvPr id="1021" name="16 · strong: Task interpretation [p16-text-0016]" descr="Native editable Unicode text; authored line breaks retained."/>
            <p:cNvSpPr txBox="1"/>
            <p:nvPr/>
          </p:nvSpPr>
          <p:spPr>
            <a:xfrm>
              <a:off x="7865745" y="2198510"/>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Task interpretation</a:t>
              </a:r>
              <a:endParaRPr lang="en-US" sz="1450" b="1" i="0" kern="0" spc="0" dirty="0">
                <a:solidFill>
                  <a:srgbClr val="032D60"/>
                </a:solidFill>
                <a:latin typeface="Salesforce Sans"/>
                <a:ea typeface="Salesforce Sans"/>
                <a:cs typeface="Salesforce Sans"/>
              </a:endParaRPr>
            </a:p>
          </p:txBody>
        </p:sp>
      </p:grpSp>
      <p:grpSp>
        <p:nvGrpSpPr>
          <p:cNvPr id="1038" name="16 · node blue: Trusted principal + purchase reference"/>
          <p:cNvGrpSpPr/>
          <p:nvPr/>
        </p:nvGrpSpPr>
        <p:grpSpPr>
          <a:xfrm>
            <a:off x="558800" y="3121395"/>
            <a:ext cx="5260340" cy="924700"/>
            <a:chOff x="558800" y="3121395"/>
            <a:chExt cx="5260340" cy="924700"/>
          </a:xfrm>
        </p:grpSpPr>
        <p:sp>
          <p:nvSpPr>
            <p:cNvPr id="1022" name="16 · node blue · surface [p16-e0013]"/>
            <p:cNvSpPr/>
            <p:nvPr/>
          </p:nvSpPr>
          <p:spPr>
            <a:xfrm>
              <a:off x="558800" y="3121395"/>
              <a:ext cx="5260340" cy="924700"/>
            </a:xfrm>
            <a:prstGeom prst="roundRect">
              <a:avLst>
                <a:gd name="adj" fmla="val 15108"/>
              </a:avLst>
            </a:prstGeom>
            <a:solidFill>
              <a:srgbClr val="DCEEFE"/>
            </a:solidFill>
            <a:ln>
              <a:noFill/>
            </a:ln>
          </p:spPr>
        </p:sp>
        <p:sp>
          <p:nvSpPr>
            <p:cNvPr id="1023" name="16 · strong: Trusted principal + purchase reference [p16-text-0017]" descr="Native editable Unicode text; authored line breaks retained."/>
            <p:cNvSpPr txBox="1"/>
            <p:nvPr/>
          </p:nvSpPr>
          <p:spPr>
            <a:xfrm>
              <a:off x="736600" y="3465705"/>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Trusted principal + purchase reference</a:t>
              </a:r>
              <a:endParaRPr lang="en-US" sz="1450" b="1" i="0" kern="0" spc="0" dirty="0">
                <a:solidFill>
                  <a:srgbClr val="032D60"/>
                </a:solidFill>
                <a:latin typeface="Salesforce Sans"/>
                <a:ea typeface="Salesforce Sans"/>
                <a:cs typeface="Salesforce Sans"/>
              </a:endParaRPr>
            </a:p>
          </p:txBody>
        </p:sp>
      </p:grpSp>
      <p:grpSp>
        <p:nvGrpSpPr>
          <p:cNvPr id="1039" name="16 · node blue: Ownership check"/>
          <p:cNvGrpSpPr/>
          <p:nvPr/>
        </p:nvGrpSpPr>
        <p:grpSpPr>
          <a:xfrm>
            <a:off x="7687945" y="3121395"/>
            <a:ext cx="3910592" cy="924700"/>
            <a:chOff x="7687945" y="3121395"/>
            <a:chExt cx="3910592" cy="924700"/>
          </a:xfrm>
        </p:grpSpPr>
        <p:sp>
          <p:nvSpPr>
            <p:cNvPr id="1024" name="16 · node blue · surface [p16-e0015]"/>
            <p:cNvSpPr/>
            <p:nvPr/>
          </p:nvSpPr>
          <p:spPr>
            <a:xfrm>
              <a:off x="7687945" y="3121395"/>
              <a:ext cx="3910592" cy="924700"/>
            </a:xfrm>
            <a:prstGeom prst="roundRect">
              <a:avLst>
                <a:gd name="adj" fmla="val 15108"/>
              </a:avLst>
            </a:prstGeom>
            <a:solidFill>
              <a:srgbClr val="DCEEFE"/>
            </a:solidFill>
            <a:ln>
              <a:noFill/>
            </a:ln>
          </p:spPr>
        </p:sp>
        <p:sp>
          <p:nvSpPr>
            <p:cNvPr id="1025" name="16 · strong: Ownership check [p16-text-0018]" descr="Native editable Unicode text; authored line breaks retained."/>
            <p:cNvSpPr txBox="1"/>
            <p:nvPr/>
          </p:nvSpPr>
          <p:spPr>
            <a:xfrm>
              <a:off x="7865745" y="3465705"/>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Ownership check</a:t>
              </a:r>
              <a:endParaRPr lang="en-US" sz="1450" b="1" i="0" kern="0" spc="0" dirty="0">
                <a:solidFill>
                  <a:srgbClr val="032D60"/>
                </a:solidFill>
                <a:latin typeface="Salesforce Sans"/>
                <a:ea typeface="Salesforce Sans"/>
                <a:cs typeface="Salesforce Sans"/>
              </a:endParaRPr>
            </a:p>
          </p:txBody>
        </p:sp>
      </p:grpSp>
      <p:grpSp>
        <p:nvGrpSpPr>
          <p:cNvPr id="1040" name="16 · node mint: Selected task + service policy + stock"/>
          <p:cNvGrpSpPr/>
          <p:nvPr/>
        </p:nvGrpSpPr>
        <p:grpSpPr>
          <a:xfrm>
            <a:off x="558800" y="4388590"/>
            <a:ext cx="5260340" cy="924700"/>
            <a:chOff x="558800" y="4388590"/>
            <a:chExt cx="5260340" cy="924700"/>
          </a:xfrm>
        </p:grpSpPr>
        <p:sp>
          <p:nvSpPr>
            <p:cNvPr id="1026" name="16 · node mint · surface [p16-e0017]"/>
            <p:cNvSpPr/>
            <p:nvPr/>
          </p:nvSpPr>
          <p:spPr>
            <a:xfrm>
              <a:off x="558800" y="4388590"/>
              <a:ext cx="5260340" cy="924700"/>
            </a:xfrm>
            <a:prstGeom prst="roundRect">
              <a:avLst>
                <a:gd name="adj" fmla="val 15108"/>
              </a:avLst>
            </a:prstGeom>
            <a:solidFill>
              <a:srgbClr val="DDF3ED"/>
            </a:solidFill>
            <a:ln>
              <a:noFill/>
            </a:ln>
          </p:spPr>
        </p:sp>
        <p:sp>
          <p:nvSpPr>
            <p:cNvPr id="1027" name="16 · strong: Selected task + service policy + stock [p16-text-0019]" descr="Native editable Unicode text; authored line breaks retained."/>
            <p:cNvSpPr txBox="1"/>
            <p:nvPr/>
          </p:nvSpPr>
          <p:spPr>
            <a:xfrm>
              <a:off x="736600" y="4732900"/>
              <a:ext cx="491744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Selected task + service policy + stock</a:t>
              </a:r>
              <a:endParaRPr lang="en-US" sz="1450" b="1" i="0" kern="0" spc="0" dirty="0">
                <a:solidFill>
                  <a:srgbClr val="032D60"/>
                </a:solidFill>
                <a:latin typeface="Salesforce Sans"/>
                <a:ea typeface="Salesforce Sans"/>
                <a:cs typeface="Salesforce Sans"/>
              </a:endParaRPr>
            </a:p>
          </p:txBody>
        </p:sp>
      </p:grpSp>
      <p:grpSp>
        <p:nvGrpSpPr>
          <p:cNvPr id="1041" name="16 · node mint: Eligible offer or denial"/>
          <p:cNvGrpSpPr/>
          <p:nvPr/>
        </p:nvGrpSpPr>
        <p:grpSpPr>
          <a:xfrm>
            <a:off x="7687945" y="4388590"/>
            <a:ext cx="3910592" cy="924700"/>
            <a:chOff x="7687945" y="4388590"/>
            <a:chExt cx="3910592" cy="924700"/>
          </a:xfrm>
        </p:grpSpPr>
        <p:sp>
          <p:nvSpPr>
            <p:cNvPr id="1028" name="16 · node mint · surface [p16-e0019]"/>
            <p:cNvSpPr/>
            <p:nvPr/>
          </p:nvSpPr>
          <p:spPr>
            <a:xfrm>
              <a:off x="7687945" y="4388590"/>
              <a:ext cx="3910592" cy="924700"/>
            </a:xfrm>
            <a:prstGeom prst="roundRect">
              <a:avLst>
                <a:gd name="adj" fmla="val 15108"/>
              </a:avLst>
            </a:prstGeom>
            <a:solidFill>
              <a:srgbClr val="DDF3ED"/>
            </a:solidFill>
            <a:ln>
              <a:noFill/>
            </a:ln>
          </p:spPr>
        </p:sp>
        <p:sp>
          <p:nvSpPr>
            <p:cNvPr id="1029" name="16 · strong: Eligible offer or denial [p16-text-0020]" descr="Native editable Unicode text; authored line breaks retained."/>
            <p:cNvSpPr txBox="1"/>
            <p:nvPr/>
          </p:nvSpPr>
          <p:spPr>
            <a:xfrm>
              <a:off x="7865745" y="4732900"/>
              <a:ext cx="3567692"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Eligible offer or denial</a:t>
              </a:r>
              <a:endParaRPr lang="en-US" sz="1450" b="1" i="0" kern="0" spc="0" dirty="0">
                <a:solidFill>
                  <a:srgbClr val="032D60"/>
                </a:solidFill>
                <a:latin typeface="Salesforce Sans"/>
                <a:ea typeface="Salesforce Sans"/>
                <a:cs typeface="Salesforce Sans"/>
              </a:endParaRPr>
            </a:p>
          </p:txBody>
        </p:sp>
      </p:grpSp>
      <p:sp>
        <p:nvSpPr>
          <p:cNvPr id="1030" name="16 · node label: A node receives its declared input view; task state remains in the graph. [p16-text-0021]" descr="Native editable Unicode text; authored line breaks retained."/>
          <p:cNvSpPr txBox="1"/>
          <p:nvPr/>
        </p:nvSpPr>
        <p:spPr>
          <a:xfrm>
            <a:off x="558800" y="5708143"/>
            <a:ext cx="1108710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A node receives its declared input view; task state remains in the graph.</a:t>
            </a:r>
            <a:endParaRPr lang="en-US" sz="1250" b="0" i="0" kern="0" spc="0" dirty="0">
              <a:solidFill>
                <a:srgbClr val="032D60"/>
              </a:solidFill>
              <a:latin typeface="Salesforce Sans"/>
              <a:ea typeface="Salesforce Sans"/>
              <a:cs typeface="Salesforce Sans"/>
            </a:endParaRPr>
          </a:p>
        </p:txBody>
      </p:sp>
      <p:grpSp>
        <p:nvGrpSpPr>
          <p:cNvPr id="1042" name="16 · source-line: Agent Graph / guided determinism · AgentScript control plane · Building wit"/>
          <p:cNvGrpSpPr/>
          <p:nvPr/>
        </p:nvGrpSpPr>
        <p:grpSpPr>
          <a:xfrm>
            <a:off x="558800" y="6037898"/>
            <a:ext cx="11087100" cy="284456"/>
            <a:chOff x="558800" y="6037898"/>
            <a:chExt cx="11087100" cy="284456"/>
          </a:xfrm>
        </p:grpSpPr>
        <p:sp>
          <p:nvSpPr>
            <p:cNvPr id="1031" name="16 · source-line · top border [p16-e002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2" name="16 · span: Agent Graph / guided determinism · AgentScript control plane · Building with S [p16-text-0022]" descr="Native editable Unicode text; authored line breaks retained."/>
            <p:cNvSpPr txBox="1"/>
            <p:nvPr/>
          </p:nvSpPr>
          <p:spPr>
            <a:xfrm>
              <a:off x="558800" y="6153126"/>
              <a:ext cx="502831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33" name="16 · span: Proposed node contracts [p16-text-0023]" descr="Native editable Unicode text; authored line breaks retained."/>
            <p:cNvSpPr txBox="1"/>
            <p:nvPr/>
          </p:nvSpPr>
          <p:spPr>
            <a:xfrm>
              <a:off x="10232430" y="6153126"/>
              <a:ext cx="14134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node contracts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tate preserves work across a branch">
    <p:bg>
      <p:bgPr>
        <a:solidFill>
          <a:srgbClr val="FFFFFF"/>
        </a:solidFill>
      </p:bgPr>
    </p:bg>
    <p:spTree>
      <p:nvGrpSpPr>
        <p:cNvPr id="1" name=""/>
        <p:cNvGrpSpPr/>
        <p:nvPr/>
      </p:nvGrpSpPr>
      <p:grpSpPr>
        <a:xfrm>
          <a:off x="0" y="0"/>
          <a:ext cx="0" cy="0"/>
          <a:chOff x="0" y="0"/>
          <a:chExt cx="0" cy="0"/>
        </a:xfrm>
      </p:grpSpPr>
      <p:sp>
        <p:nvSpPr>
          <p:cNvPr id="1000" name="17 · slide light · surface [p1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5" name="17 · chrome-min: DISAGGREGATED INTELLIGENCE"/>
          <p:cNvGrpSpPr/>
          <p:nvPr/>
        </p:nvGrpSpPr>
        <p:grpSpPr>
          <a:xfrm>
            <a:off x="558800" y="356053"/>
            <a:ext cx="11087100" cy="187325"/>
            <a:chOff x="558800" y="356053"/>
            <a:chExt cx="11087100" cy="187325"/>
          </a:xfrm>
        </p:grpSpPr>
        <p:sp>
          <p:nvSpPr>
            <p:cNvPr id="1001" name="17 · l: DISAGGREGATED INTELLIGENCE [p17-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7 · r: 17 / 36 [p17-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17 / 36</a:t>
              </a:r>
              <a:endParaRPr lang="en-US" sz="950" b="1" i="0" kern="0" spc="65" dirty="0">
                <a:solidFill>
                  <a:srgbClr val="022AC0"/>
                </a:solidFill>
                <a:latin typeface="Salesforce Sans"/>
                <a:ea typeface="Salesforce Sans"/>
                <a:cs typeface="Salesforce Sans"/>
              </a:endParaRPr>
            </a:p>
          </p:txBody>
        </p:sp>
      </p:grpSp>
      <p:grpSp>
        <p:nvGrpSpPr>
          <p:cNvPr id="1046" name="17 · deck-head: 04 / STEP 3"/>
          <p:cNvGrpSpPr/>
          <p:nvPr/>
        </p:nvGrpSpPr>
        <p:grpSpPr>
          <a:xfrm>
            <a:off x="558800" y="775901"/>
            <a:ext cx="11087100" cy="871263"/>
            <a:chOff x="558800" y="775901"/>
            <a:chExt cx="11087100" cy="871263"/>
          </a:xfrm>
        </p:grpSpPr>
        <p:sp>
          <p:nvSpPr>
            <p:cNvPr id="1003" name="17 · mixed-eyebrow: 04 / STEP 3 [p17-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04 / STEP 3</a:t>
              </a:r>
              <a:endParaRPr lang="en-US" sz="1050" b="1" i="0" kern="0" spc="68" dirty="0">
                <a:solidFill>
                  <a:srgbClr val="022AC0"/>
                </a:solidFill>
                <a:latin typeface="Salesforce Sans"/>
                <a:ea typeface="Salesforce Sans"/>
                <a:cs typeface="Salesforce Sans"/>
              </a:endParaRPr>
            </a:p>
          </p:txBody>
        </p:sp>
        <p:sp>
          <p:nvSpPr>
            <p:cNvPr id="1004" name="17 · mixed-title: State preserves work across a branch [p17-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State preserves work across a branch</a:t>
              </a:r>
              <a:endParaRPr lang="en-US" sz="3600" b="1" i="0" kern="0" spc="-95" dirty="0">
                <a:solidFill>
                  <a:srgbClr val="022AC0"/>
                </a:solidFill>
                <a:latin typeface="Manrope"/>
                <a:ea typeface="Manrope"/>
                <a:cs typeface="Manrope"/>
              </a:endParaRPr>
            </a:p>
          </p:txBody>
        </p:sp>
      </p:grpSp>
      <p:grpSp>
        <p:nvGrpSpPr>
          <p:cNvPr id="1005" name="17 · svg · drawing [p17-e0008]"/>
          <p:cNvGrpSpPr/>
          <p:nvPr/>
        </p:nvGrpSpPr>
        <p:grpSpPr>
          <a:xfrm>
            <a:off x="2981325" y="2470670"/>
            <a:ext cx="6990715" cy="2311764"/>
            <a:chOff x="2981325" y="2470670"/>
            <a:chExt cx="6990715" cy="2311764"/>
          </a:xfrm>
        </p:grpSpPr>
        <p:grpSp>
          <p:nvGrpSpPr>
            <p:cNvPr id="1006" name="path · 1 + arrowhead"/>
            <p:cNvGrpSpPr/>
            <p:nvPr/>
          </p:nvGrpSpPr>
          <p:grpSpPr>
            <a:xfrm>
              <a:off x="2981325" y="3087141"/>
              <a:ext cx="744061" cy="136993"/>
              <a:chOff x="2981325" y="3087141"/>
              <a:chExt cx="744061" cy="136993"/>
            </a:xfrm>
          </p:grpSpPr>
          <p:sp>
            <p:nvSpPr>
              <p:cNvPr id="1007" name="path · 1"/>
              <p:cNvSpPr/>
              <p:nvPr/>
            </p:nvSpPr>
            <p:spPr>
              <a:xfrm>
                <a:off x="2981325" y="3155638"/>
                <a:ext cx="726758" cy="1"/>
              </a:xfrm>
              <a:custGeom>
                <a:avLst/>
                <a:gdLst/>
                <a:ahLst/>
                <a:cxnLst/>
                <a:rect l="0" t="0" r="r" b="b"/>
                <a:pathLst>
                  <a:path w="726758" h="1" fill="none" stroke="1" extrusionOk="0">
                    <a:moveTo>
                      <a:pt x="0" y="0"/>
                    </a:moveTo>
                    <a:lnTo>
                      <a:pt x="726758" y="0"/>
                    </a:lnTo>
                  </a:path>
                </a:pathLst>
              </a:custGeom>
              <a:noFill/>
              <a:ln w="15875" cap="flat" cmpd="sng" algn="ctr">
                <a:solidFill>
                  <a:srgbClr val="789B8E"/>
                </a:solidFill>
                <a:prstDash val="solid"/>
                <a:miter lim="400000"/>
                <a:headEnd type="none" w="med" len="med"/>
                <a:tailEnd type="none" w="med" len="med"/>
              </a:ln>
            </p:spPr>
          </p:sp>
          <p:grpSp>
            <p:nvGrpSpPr>
              <p:cNvPr id="1008" name="v2arr42 end"/>
              <p:cNvGrpSpPr/>
              <p:nvPr/>
            </p:nvGrpSpPr>
            <p:grpSpPr>
              <a:xfrm>
                <a:off x="3586956" y="3087141"/>
                <a:ext cx="138430" cy="136993"/>
                <a:chOff x="3586956" y="3087141"/>
                <a:chExt cx="138430" cy="136993"/>
              </a:xfrm>
            </p:grpSpPr>
            <p:sp>
              <p:nvSpPr>
                <p:cNvPr id="1009" name="path · 2"/>
                <p:cNvSpPr/>
                <p:nvPr/>
              </p:nvSpPr>
              <p:spPr>
                <a:xfrm>
                  <a:off x="3586956" y="3087141"/>
                  <a:ext cx="138430" cy="136993"/>
                </a:xfrm>
                <a:custGeom>
                  <a:avLst/>
                  <a:gdLst/>
                  <a:ahLst/>
                  <a:cxnLst/>
                  <a:rect l="0" t="0" r="r" b="b"/>
                  <a:pathLst>
                    <a:path w="138430" h="136993" fill="norm" stroke="0" extrusionOk="0">
                      <a:moveTo>
                        <a:pt x="0" y="0"/>
                      </a:moveTo>
                      <a:lnTo>
                        <a:pt x="138430" y="68497"/>
                      </a:lnTo>
                      <a:lnTo>
                        <a:pt x="0" y="136993"/>
                      </a:lnTo>
                      <a:close/>
                    </a:path>
                  </a:pathLst>
                </a:custGeom>
                <a:solidFill>
                  <a:srgbClr val="789B8E"/>
                </a:solidFill>
                <a:ln>
                  <a:noFill/>
                </a:ln>
              </p:spPr>
            </p:sp>
          </p:grpSp>
        </p:grpSp>
        <p:grpSp>
          <p:nvGrpSpPr>
            <p:cNvPr id="1010" name="path · 3 + arrowhead"/>
            <p:cNvGrpSpPr/>
            <p:nvPr/>
          </p:nvGrpSpPr>
          <p:grpSpPr>
            <a:xfrm>
              <a:off x="6372860" y="2470670"/>
              <a:ext cx="1782286" cy="547974"/>
              <a:chOff x="6372860" y="2470670"/>
              <a:chExt cx="1782286" cy="547974"/>
            </a:xfrm>
          </p:grpSpPr>
          <p:sp>
            <p:nvSpPr>
              <p:cNvPr id="1011" name="path · 3"/>
              <p:cNvSpPr/>
              <p:nvPr/>
            </p:nvSpPr>
            <p:spPr>
              <a:xfrm>
                <a:off x="6372860" y="2539167"/>
                <a:ext cx="1764983" cy="479477"/>
              </a:xfrm>
              <a:custGeom>
                <a:avLst/>
                <a:gdLst/>
                <a:ahLst/>
                <a:cxnLst/>
                <a:rect l="0" t="0" r="r" b="b"/>
                <a:pathLst>
                  <a:path w="1764983" h="479477" fill="none" stroke="1" extrusionOk="0">
                    <a:moveTo>
                      <a:pt x="0" y="479477"/>
                    </a:moveTo>
                    <a:lnTo>
                      <a:pt x="865188" y="479477"/>
                    </a:lnTo>
                    <a:lnTo>
                      <a:pt x="865188" y="0"/>
                    </a:lnTo>
                    <a:lnTo>
                      <a:pt x="1764983" y="0"/>
                    </a:lnTo>
                  </a:path>
                </a:pathLst>
              </a:custGeom>
              <a:noFill/>
              <a:ln w="15875" cap="flat" cmpd="sng" algn="ctr">
                <a:solidFill>
                  <a:srgbClr val="789B8E"/>
                </a:solidFill>
                <a:prstDash val="solid"/>
                <a:miter lim="400000"/>
                <a:headEnd type="none" w="med" len="med"/>
                <a:tailEnd type="none" w="med" len="med"/>
              </a:ln>
            </p:spPr>
          </p:sp>
          <p:grpSp>
            <p:nvGrpSpPr>
              <p:cNvPr id="1012" name="v2arr42 end"/>
              <p:cNvGrpSpPr/>
              <p:nvPr/>
            </p:nvGrpSpPr>
            <p:grpSpPr>
              <a:xfrm>
                <a:off x="8016716" y="2470670"/>
                <a:ext cx="138430" cy="136993"/>
                <a:chOff x="8016716" y="2470670"/>
                <a:chExt cx="138430" cy="136993"/>
              </a:xfrm>
            </p:grpSpPr>
            <p:sp>
              <p:nvSpPr>
                <p:cNvPr id="1013" name="path · 4"/>
                <p:cNvSpPr/>
                <p:nvPr/>
              </p:nvSpPr>
              <p:spPr>
                <a:xfrm>
                  <a:off x="8016716" y="2470670"/>
                  <a:ext cx="138430" cy="136993"/>
                </a:xfrm>
                <a:custGeom>
                  <a:avLst/>
                  <a:gdLst/>
                  <a:ahLst/>
                  <a:cxnLst/>
                  <a:rect l="0" t="0" r="r" b="b"/>
                  <a:pathLst>
                    <a:path w="138430" h="136993" fill="norm" stroke="0" extrusionOk="0">
                      <a:moveTo>
                        <a:pt x="0" y="0"/>
                      </a:moveTo>
                      <a:lnTo>
                        <a:pt x="138430" y="68497"/>
                      </a:lnTo>
                      <a:lnTo>
                        <a:pt x="0" y="136994"/>
                      </a:lnTo>
                      <a:close/>
                    </a:path>
                  </a:pathLst>
                </a:custGeom>
                <a:solidFill>
                  <a:srgbClr val="789B8E"/>
                </a:solidFill>
                <a:ln>
                  <a:noFill/>
                </a:ln>
              </p:spPr>
            </p:sp>
          </p:grpSp>
        </p:grpSp>
        <p:grpSp>
          <p:nvGrpSpPr>
            <p:cNvPr id="1014" name="path · 5 + arrowhead"/>
            <p:cNvGrpSpPr/>
            <p:nvPr/>
          </p:nvGrpSpPr>
          <p:grpSpPr>
            <a:xfrm>
              <a:off x="4988560" y="3669363"/>
              <a:ext cx="138430" cy="1113072"/>
              <a:chOff x="4988560" y="3669363"/>
              <a:chExt cx="138430" cy="1113072"/>
            </a:xfrm>
          </p:grpSpPr>
          <p:sp>
            <p:nvSpPr>
              <p:cNvPr id="1015" name="path · 5"/>
              <p:cNvSpPr/>
              <p:nvPr/>
            </p:nvSpPr>
            <p:spPr>
              <a:xfrm>
                <a:off x="5057775" y="3669363"/>
                <a:ext cx="1" cy="1095948"/>
              </a:xfrm>
              <a:custGeom>
                <a:avLst/>
                <a:gdLst/>
                <a:ahLst/>
                <a:cxnLst/>
                <a:rect l="0" t="0" r="r" b="b"/>
                <a:pathLst>
                  <a:path w="1" h="1095948" fill="none" stroke="1" extrusionOk="0">
                    <a:moveTo>
                      <a:pt x="0" y="0"/>
                    </a:moveTo>
                    <a:lnTo>
                      <a:pt x="0" y="1095948"/>
                    </a:lnTo>
                  </a:path>
                </a:pathLst>
              </a:custGeom>
              <a:noFill/>
              <a:ln w="15875" cap="flat" cmpd="sng" algn="ctr">
                <a:solidFill>
                  <a:srgbClr val="789B8E"/>
                </a:solidFill>
                <a:prstDash val="solid"/>
                <a:miter lim="400000"/>
                <a:headEnd type="none" w="med" len="med"/>
                <a:tailEnd type="none" w="med" len="med"/>
              </a:ln>
            </p:spPr>
          </p:sp>
          <p:grpSp>
            <p:nvGrpSpPr>
              <p:cNvPr id="1016" name="v2arr42 end"/>
              <p:cNvGrpSpPr/>
              <p:nvPr/>
            </p:nvGrpSpPr>
            <p:grpSpPr>
              <a:xfrm>
                <a:off x="4988560" y="4645441"/>
                <a:ext cx="138430" cy="136993"/>
                <a:chOff x="4988560" y="4645441"/>
                <a:chExt cx="138430" cy="136993"/>
              </a:xfrm>
            </p:grpSpPr>
            <p:sp>
              <p:nvSpPr>
                <p:cNvPr id="1017" name="path · 6"/>
                <p:cNvSpPr/>
                <p:nvPr/>
              </p:nvSpPr>
              <p:spPr>
                <a:xfrm>
                  <a:off x="4988560" y="4645441"/>
                  <a:ext cx="138430" cy="136993"/>
                </a:xfrm>
                <a:custGeom>
                  <a:avLst/>
                  <a:gdLst/>
                  <a:ahLst/>
                  <a:cxnLst/>
                  <a:rect l="0" t="0" r="r" b="b"/>
                  <a:pathLst>
                    <a:path w="138430" h="136993" fill="norm" stroke="0" extrusionOk="0">
                      <a:moveTo>
                        <a:pt x="138430" y="0"/>
                      </a:moveTo>
                      <a:lnTo>
                        <a:pt x="69215" y="136994"/>
                      </a:lnTo>
                      <a:lnTo>
                        <a:pt x="0" y="0"/>
                      </a:lnTo>
                      <a:close/>
                    </a:path>
                  </a:pathLst>
                </a:custGeom>
                <a:solidFill>
                  <a:srgbClr val="789B8E"/>
                </a:solidFill>
                <a:ln>
                  <a:noFill/>
                </a:ln>
              </p:spPr>
            </p:sp>
          </p:grpSp>
        </p:grpSp>
        <p:grpSp>
          <p:nvGrpSpPr>
            <p:cNvPr id="1018" name="path · 7 + arrowhead"/>
            <p:cNvGrpSpPr/>
            <p:nvPr/>
          </p:nvGrpSpPr>
          <p:grpSpPr>
            <a:xfrm>
              <a:off x="9833610" y="3087141"/>
              <a:ext cx="138430" cy="1558300"/>
              <a:chOff x="9833610" y="3087141"/>
              <a:chExt cx="138430" cy="1558300"/>
            </a:xfrm>
          </p:grpSpPr>
          <p:sp>
            <p:nvSpPr>
              <p:cNvPr id="1019" name="path · 7"/>
              <p:cNvSpPr/>
              <p:nvPr/>
            </p:nvSpPr>
            <p:spPr>
              <a:xfrm>
                <a:off x="9902825" y="3087141"/>
                <a:ext cx="1" cy="1541176"/>
              </a:xfrm>
              <a:custGeom>
                <a:avLst/>
                <a:gdLst/>
                <a:ahLst/>
                <a:cxnLst/>
                <a:rect l="0" t="0" r="r" b="b"/>
                <a:pathLst>
                  <a:path w="1" h="1541176" fill="none" stroke="1" extrusionOk="0">
                    <a:moveTo>
                      <a:pt x="0" y="0"/>
                    </a:moveTo>
                    <a:lnTo>
                      <a:pt x="0" y="1541176"/>
                    </a:lnTo>
                  </a:path>
                </a:pathLst>
              </a:custGeom>
              <a:noFill/>
              <a:ln w="15875" cap="flat" cmpd="sng" algn="ctr">
                <a:solidFill>
                  <a:srgbClr val="789B8E"/>
                </a:solidFill>
                <a:prstDash val="solid"/>
                <a:miter lim="400000"/>
                <a:headEnd type="none" w="med" len="med"/>
                <a:tailEnd type="none" w="med" len="med"/>
              </a:ln>
            </p:spPr>
          </p:sp>
          <p:grpSp>
            <p:nvGrpSpPr>
              <p:cNvPr id="1020" name="v2arr42 end"/>
              <p:cNvGrpSpPr/>
              <p:nvPr/>
            </p:nvGrpSpPr>
            <p:grpSpPr>
              <a:xfrm>
                <a:off x="9833610" y="4508448"/>
                <a:ext cx="138430" cy="136993"/>
                <a:chOff x="9833610" y="4508448"/>
                <a:chExt cx="138430" cy="136993"/>
              </a:xfrm>
            </p:grpSpPr>
            <p:sp>
              <p:nvSpPr>
                <p:cNvPr id="1021" name="path · 8"/>
                <p:cNvSpPr/>
                <p:nvPr/>
              </p:nvSpPr>
              <p:spPr>
                <a:xfrm>
                  <a:off x="9833610" y="4508448"/>
                  <a:ext cx="138430" cy="136993"/>
                </a:xfrm>
                <a:custGeom>
                  <a:avLst/>
                  <a:gdLst/>
                  <a:ahLst/>
                  <a:cxnLst/>
                  <a:rect l="0" t="0" r="r" b="b"/>
                  <a:pathLst>
                    <a:path w="138430" h="136993" fill="norm" stroke="0" extrusionOk="0">
                      <a:moveTo>
                        <a:pt x="138430" y="0"/>
                      </a:moveTo>
                      <a:lnTo>
                        <a:pt x="69215" y="136993"/>
                      </a:lnTo>
                      <a:lnTo>
                        <a:pt x="0" y="0"/>
                      </a:lnTo>
                      <a:close/>
                    </a:path>
                  </a:pathLst>
                </a:custGeom>
                <a:solidFill>
                  <a:srgbClr val="789B8E"/>
                </a:solidFill>
                <a:ln>
                  <a:noFill/>
                </a:ln>
              </p:spPr>
            </p:sp>
          </p:grpSp>
        </p:grpSp>
      </p:grpSp>
      <p:grpSp>
        <p:nvGrpSpPr>
          <p:cNvPr id="1047" name="17 · node lilac: Two AND tasks"/>
          <p:cNvGrpSpPr/>
          <p:nvPr/>
        </p:nvGrpSpPr>
        <p:grpSpPr>
          <a:xfrm>
            <a:off x="558800" y="2676155"/>
            <a:ext cx="2422525" cy="993182"/>
            <a:chOff x="558800" y="2676155"/>
            <a:chExt cx="2422525" cy="993182"/>
          </a:xfrm>
        </p:grpSpPr>
        <p:sp>
          <p:nvSpPr>
            <p:cNvPr id="1022" name="17 · node lilac · surface [p17-e0009]"/>
            <p:cNvSpPr/>
            <p:nvPr/>
          </p:nvSpPr>
          <p:spPr>
            <a:xfrm>
              <a:off x="558800" y="2676155"/>
              <a:ext cx="2422525" cy="993182"/>
            </a:xfrm>
            <a:prstGeom prst="roundRect">
              <a:avLst>
                <a:gd name="adj" fmla="val 14066"/>
              </a:avLst>
            </a:prstGeom>
            <a:solidFill>
              <a:srgbClr val="EAE6FA"/>
            </a:solidFill>
            <a:ln>
              <a:noFill/>
            </a:ln>
          </p:spPr>
        </p:sp>
        <p:sp>
          <p:nvSpPr>
            <p:cNvPr id="1023" name="17 · strong: Two AND tasks [p17-text-0014]" descr="Native editable Unicode text; authored line breaks retained."/>
            <p:cNvSpPr txBox="1"/>
            <p:nvPr/>
          </p:nvSpPr>
          <p:spPr>
            <a:xfrm>
              <a:off x="736600" y="2922309"/>
              <a:ext cx="207962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Two AND tasks</a:t>
              </a:r>
              <a:endParaRPr lang="en-US" sz="1450" b="1" i="0" kern="0" spc="0" dirty="0">
                <a:solidFill>
                  <a:srgbClr val="032D60"/>
                </a:solidFill>
                <a:latin typeface="Salesforce Sans"/>
                <a:ea typeface="Salesforce Sans"/>
                <a:cs typeface="Salesforce Sans"/>
              </a:endParaRPr>
            </a:p>
          </p:txBody>
        </p:sp>
        <p:sp>
          <p:nvSpPr>
            <p:cNvPr id="1024" name="17 · small: Record exchange + cable return [p17-text-0015]" descr="Native editable Unicode text; authored line breaks retained."/>
            <p:cNvSpPr txBox="1"/>
            <p:nvPr/>
          </p:nvSpPr>
          <p:spPr>
            <a:xfrm>
              <a:off x="736600" y="3233630"/>
              <a:ext cx="207962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Record exchange + cable return</a:t>
              </a:r>
              <a:endParaRPr lang="en-US" sz="1100" b="0" i="0" kern="0" spc="0" dirty="0">
                <a:solidFill>
                  <a:srgbClr val="032D60"/>
                </a:solidFill>
                <a:latin typeface="Salesforce Sans"/>
                <a:ea typeface="Salesforce Sans"/>
                <a:cs typeface="Salesforce Sans"/>
              </a:endParaRPr>
            </a:p>
          </p:txBody>
        </p:sp>
      </p:grpSp>
      <p:grpSp>
        <p:nvGrpSpPr>
          <p:cNvPr id="1048" name="17 · node sand: Clarify priority"/>
          <p:cNvGrpSpPr/>
          <p:nvPr/>
        </p:nvGrpSpPr>
        <p:grpSpPr>
          <a:xfrm>
            <a:off x="3742690" y="2676155"/>
            <a:ext cx="2630170" cy="993182"/>
            <a:chOff x="3742690" y="2676155"/>
            <a:chExt cx="2630170" cy="993182"/>
          </a:xfrm>
        </p:grpSpPr>
        <p:sp>
          <p:nvSpPr>
            <p:cNvPr id="1025" name="17 · node sand · surface [p17-e0012]"/>
            <p:cNvSpPr/>
            <p:nvPr/>
          </p:nvSpPr>
          <p:spPr>
            <a:xfrm>
              <a:off x="3742690" y="2676155"/>
              <a:ext cx="2630170" cy="993182"/>
            </a:xfrm>
            <a:prstGeom prst="roundRect">
              <a:avLst>
                <a:gd name="adj" fmla="val 14066"/>
              </a:avLst>
            </a:prstGeom>
            <a:solidFill>
              <a:srgbClr val="FBF0CF"/>
            </a:solidFill>
            <a:ln>
              <a:noFill/>
            </a:ln>
          </p:spPr>
        </p:sp>
        <p:sp>
          <p:nvSpPr>
            <p:cNvPr id="1026" name="17 · strong: Clarify priority [p17-text-0016]" descr="Native editable Unicode text; authored line breaks retained."/>
            <p:cNvSpPr txBox="1"/>
            <p:nvPr/>
          </p:nvSpPr>
          <p:spPr>
            <a:xfrm>
              <a:off x="3920490" y="2922309"/>
              <a:ext cx="228727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Clarify priority</a:t>
              </a:r>
              <a:endParaRPr lang="en-US" sz="1450" b="1" i="0" kern="0" spc="0" dirty="0">
                <a:solidFill>
                  <a:srgbClr val="032D60"/>
                </a:solidFill>
                <a:latin typeface="Salesforce Sans"/>
                <a:ea typeface="Salesforce Sans"/>
                <a:cs typeface="Salesforce Sans"/>
              </a:endParaRPr>
            </a:p>
          </p:txBody>
        </p:sp>
        <p:sp>
          <p:nvSpPr>
            <p:cNvPr id="1027" name="17 · small: Ask which task to start [p17-text-0017]" descr="Native editable Unicode text; authored line breaks retained."/>
            <p:cNvSpPr txBox="1"/>
            <p:nvPr/>
          </p:nvSpPr>
          <p:spPr>
            <a:xfrm>
              <a:off x="3920490" y="3233630"/>
              <a:ext cx="228727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Ask which task to start</a:t>
              </a:r>
              <a:endParaRPr lang="en-US" sz="1100" b="0" i="0" kern="0" spc="0" dirty="0">
                <a:solidFill>
                  <a:srgbClr val="032D60"/>
                </a:solidFill>
                <a:latin typeface="Salesforce Sans"/>
                <a:ea typeface="Salesforce Sans"/>
                <a:cs typeface="Salesforce Sans"/>
              </a:endParaRPr>
            </a:p>
          </p:txBody>
        </p:sp>
      </p:grpSp>
      <p:grpSp>
        <p:nvGrpSpPr>
          <p:cNvPr id="1049" name="17 · node mint: Exchange active"/>
          <p:cNvGrpSpPr/>
          <p:nvPr/>
        </p:nvGrpSpPr>
        <p:grpSpPr>
          <a:xfrm>
            <a:off x="8172450" y="1991206"/>
            <a:ext cx="3426198" cy="1095968"/>
            <a:chOff x="8172450" y="1991206"/>
            <a:chExt cx="3426198" cy="1095968"/>
          </a:xfrm>
        </p:grpSpPr>
        <p:sp>
          <p:nvSpPr>
            <p:cNvPr id="1028" name="17 · node mint · surface [p17-e0015]"/>
            <p:cNvSpPr/>
            <p:nvPr/>
          </p:nvSpPr>
          <p:spPr>
            <a:xfrm>
              <a:off x="8172450" y="1991206"/>
              <a:ext cx="3426198" cy="1095968"/>
            </a:xfrm>
            <a:prstGeom prst="roundRect">
              <a:avLst>
                <a:gd name="adj" fmla="val 12747"/>
              </a:avLst>
            </a:prstGeom>
            <a:solidFill>
              <a:srgbClr val="DDF3ED"/>
            </a:solidFill>
            <a:ln>
              <a:noFill/>
            </a:ln>
          </p:spPr>
        </p:sp>
        <p:sp>
          <p:nvSpPr>
            <p:cNvPr id="1029" name="17 · strong: Exchange active [p17-text-0018]" descr="Native editable Unicode text; authored line breaks retained."/>
            <p:cNvSpPr txBox="1"/>
            <p:nvPr/>
          </p:nvSpPr>
          <p:spPr>
            <a:xfrm>
              <a:off x="8350250" y="2288754"/>
              <a:ext cx="30832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Exchange active</a:t>
              </a:r>
              <a:endParaRPr lang="en-US" sz="1450" b="1" i="0" kern="0" spc="0" dirty="0">
                <a:solidFill>
                  <a:srgbClr val="032D60"/>
                </a:solidFill>
                <a:latin typeface="Salesforce Sans"/>
                <a:ea typeface="Salesforce Sans"/>
                <a:cs typeface="Salesforce Sans"/>
              </a:endParaRPr>
            </a:p>
          </p:txBody>
        </p:sp>
        <p:sp>
          <p:nvSpPr>
            <p:cNvPr id="1030" name="17 · small: Cable return stays pending [p17-text-0019]" descr="Native editable Unicode text; authored line breaks retained."/>
            <p:cNvSpPr txBox="1"/>
            <p:nvPr/>
          </p:nvSpPr>
          <p:spPr>
            <a:xfrm>
              <a:off x="8350250" y="2600074"/>
              <a:ext cx="30832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Cable return stays pending</a:t>
              </a:r>
              <a:endParaRPr lang="en-US" sz="1100" b="0" i="0" kern="0" spc="0" dirty="0">
                <a:solidFill>
                  <a:srgbClr val="032D60"/>
                </a:solidFill>
                <a:latin typeface="Salesforce Sans"/>
                <a:ea typeface="Salesforce Sans"/>
                <a:cs typeface="Salesforce Sans"/>
              </a:endParaRPr>
            </a:p>
          </p:txBody>
        </p:sp>
      </p:grpSp>
      <p:grpSp>
        <p:nvGrpSpPr>
          <p:cNvPr id="1050" name="17 · node blue: Cable return active"/>
          <p:cNvGrpSpPr/>
          <p:nvPr/>
        </p:nvGrpSpPr>
        <p:grpSpPr>
          <a:xfrm>
            <a:off x="8172450" y="4662561"/>
            <a:ext cx="3426198" cy="1095968"/>
            <a:chOff x="8172450" y="4662561"/>
            <a:chExt cx="3426198" cy="1095968"/>
          </a:xfrm>
        </p:grpSpPr>
        <p:sp>
          <p:nvSpPr>
            <p:cNvPr id="1031" name="17 · node blue · surface [p17-e0018]"/>
            <p:cNvSpPr/>
            <p:nvPr/>
          </p:nvSpPr>
          <p:spPr>
            <a:xfrm>
              <a:off x="8172450" y="4662561"/>
              <a:ext cx="3426198" cy="1095968"/>
            </a:xfrm>
            <a:prstGeom prst="roundRect">
              <a:avLst>
                <a:gd name="adj" fmla="val 12747"/>
              </a:avLst>
            </a:prstGeom>
            <a:solidFill>
              <a:srgbClr val="DCEEFE"/>
            </a:solidFill>
            <a:ln>
              <a:noFill/>
            </a:ln>
          </p:spPr>
        </p:sp>
        <p:sp>
          <p:nvSpPr>
            <p:cNvPr id="1032" name="17 · strong: Cable return active [p17-text-0020]" descr="Native editable Unicode text; authored line breaks retained."/>
            <p:cNvSpPr txBox="1"/>
            <p:nvPr/>
          </p:nvSpPr>
          <p:spPr>
            <a:xfrm>
              <a:off x="8350250" y="4960108"/>
              <a:ext cx="30832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Cable return active</a:t>
              </a:r>
              <a:endParaRPr lang="en-US" sz="1450" b="1" i="0" kern="0" spc="0" dirty="0">
                <a:solidFill>
                  <a:srgbClr val="032D60"/>
                </a:solidFill>
                <a:latin typeface="Salesforce Sans"/>
                <a:ea typeface="Salesforce Sans"/>
                <a:cs typeface="Salesforce Sans"/>
              </a:endParaRPr>
            </a:p>
          </p:txBody>
        </p:sp>
        <p:sp>
          <p:nvSpPr>
            <p:cNvPr id="1033" name="17 · small: Resume after exchange authorization [p17-text-0021]" descr="Native editable Unicode text; authored line breaks retained."/>
            <p:cNvSpPr txBox="1"/>
            <p:nvPr/>
          </p:nvSpPr>
          <p:spPr>
            <a:xfrm>
              <a:off x="8350250" y="5271428"/>
              <a:ext cx="30832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Resume after exchange authorization</a:t>
              </a:r>
              <a:endParaRPr lang="en-US" sz="1100" b="0" i="0" kern="0" spc="0" dirty="0">
                <a:solidFill>
                  <a:srgbClr val="032D60"/>
                </a:solidFill>
                <a:latin typeface="Salesforce Sans"/>
                <a:ea typeface="Salesforce Sans"/>
                <a:cs typeface="Salesforce Sans"/>
              </a:endParaRPr>
            </a:p>
          </p:txBody>
        </p:sp>
      </p:grpSp>
      <p:grpSp>
        <p:nvGrpSpPr>
          <p:cNvPr id="1051" name="17 · node peach: Recorded handoff"/>
          <p:cNvGrpSpPr/>
          <p:nvPr/>
        </p:nvGrpSpPr>
        <p:grpSpPr>
          <a:xfrm>
            <a:off x="3742690" y="4799567"/>
            <a:ext cx="2630170" cy="958962"/>
            <a:chOff x="3742690" y="4799567"/>
            <a:chExt cx="2630170" cy="958962"/>
          </a:xfrm>
        </p:grpSpPr>
        <p:sp>
          <p:nvSpPr>
            <p:cNvPr id="1034" name="17 · node peach · surface [p17-e0021]"/>
            <p:cNvSpPr/>
            <p:nvPr/>
          </p:nvSpPr>
          <p:spPr>
            <a:xfrm>
              <a:off x="3742690" y="4799567"/>
              <a:ext cx="2630170" cy="958962"/>
            </a:xfrm>
            <a:prstGeom prst="roundRect">
              <a:avLst>
                <a:gd name="adj" fmla="val 14568"/>
              </a:avLst>
            </a:prstGeom>
            <a:solidFill>
              <a:srgbClr val="FBE5DF"/>
            </a:solidFill>
            <a:ln>
              <a:noFill/>
            </a:ln>
          </p:spPr>
        </p:sp>
        <p:sp>
          <p:nvSpPr>
            <p:cNvPr id="1035" name="17 · strong: Recorded handoff [p17-text-0022]" descr="Native editable Unicode text; authored line breaks retained."/>
            <p:cNvSpPr txBox="1"/>
            <p:nvPr/>
          </p:nvSpPr>
          <p:spPr>
            <a:xfrm>
              <a:off x="3920490" y="5028611"/>
              <a:ext cx="228727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Recorded handoff</a:t>
              </a:r>
              <a:endParaRPr lang="en-US" sz="1450" b="1" i="0" kern="0" spc="0" dirty="0">
                <a:solidFill>
                  <a:srgbClr val="032D60"/>
                </a:solidFill>
                <a:latin typeface="Salesforce Sans"/>
                <a:ea typeface="Salesforce Sans"/>
                <a:cs typeface="Salesforce Sans"/>
              </a:endParaRPr>
            </a:p>
          </p:txBody>
        </p:sp>
        <p:sp>
          <p:nvSpPr>
            <p:cNvPr id="1036" name="17 · small: Retain all outstanding work [p17-text-0023]" descr="Native editable Unicode text; authored line breaks retained."/>
            <p:cNvSpPr txBox="1"/>
            <p:nvPr/>
          </p:nvSpPr>
          <p:spPr>
            <a:xfrm>
              <a:off x="3920490" y="5339932"/>
              <a:ext cx="228727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Retain all outstanding work</a:t>
              </a:r>
              <a:endParaRPr lang="en-US" sz="1100" b="0" i="0" kern="0" spc="0" dirty="0">
                <a:solidFill>
                  <a:srgbClr val="032D60"/>
                </a:solidFill>
                <a:latin typeface="Salesforce Sans"/>
                <a:ea typeface="Salesforce Sans"/>
                <a:cs typeface="Salesforce Sans"/>
              </a:endParaRPr>
            </a:p>
          </p:txBody>
        </p:sp>
      </p:grpSp>
      <p:sp>
        <p:nvSpPr>
          <p:cNvPr id="1037" name="17 · node label: exchange selected [p17-text-0024]" descr="Native editable Unicode text; authored line breaks retained."/>
          <p:cNvSpPr txBox="1"/>
          <p:nvPr/>
        </p:nvSpPr>
        <p:spPr>
          <a:xfrm>
            <a:off x="6545842" y="2060675"/>
            <a:ext cx="167386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exchange selected</a:t>
            </a:r>
            <a:endParaRPr lang="en-US" sz="1250" b="0" i="0" kern="0" spc="0" dirty="0">
              <a:solidFill>
                <a:srgbClr val="032D60"/>
              </a:solidFill>
              <a:latin typeface="Salesforce Sans"/>
              <a:ea typeface="Salesforce Sans"/>
              <a:cs typeface="Salesforce Sans"/>
            </a:endParaRPr>
          </a:p>
        </p:txBody>
      </p:sp>
      <p:grpSp>
        <p:nvGrpSpPr>
          <p:cNvPr id="1052" name="17 · node label: no choice"/>
          <p:cNvGrpSpPr/>
          <p:nvPr/>
        </p:nvGrpSpPr>
        <p:grpSpPr>
          <a:xfrm>
            <a:off x="3742690" y="3921909"/>
            <a:ext cx="2642870" cy="597216"/>
            <a:chOff x="3742690" y="3921909"/>
            <a:chExt cx="2642870" cy="597216"/>
          </a:xfrm>
        </p:grpSpPr>
        <p:sp>
          <p:nvSpPr>
            <p:cNvPr id="1038" name="17 · node label: no choice [p17-text-0025]" descr="Native editable Unicode text; authored line breaks retained."/>
            <p:cNvSpPr txBox="1"/>
            <p:nvPr/>
          </p:nvSpPr>
          <p:spPr>
            <a:xfrm>
              <a:off x="3742690" y="3921909"/>
              <a:ext cx="264287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no choice</a:t>
              </a:r>
              <a:endParaRPr lang="en-US" sz="1250" b="0" i="0" kern="0" spc="0" dirty="0">
                <a:solidFill>
                  <a:srgbClr val="032D60"/>
                </a:solidFill>
                <a:latin typeface="Salesforce Sans"/>
                <a:ea typeface="Salesforce Sans"/>
                <a:cs typeface="Salesforce Sans"/>
              </a:endParaRPr>
            </a:p>
          </p:txBody>
        </p:sp>
        <p:sp>
          <p:nvSpPr>
            <p:cNvPr id="1039" name="17 · node label: within budget [p17-text-0026]" descr="Native editable Unicode text; authored line breaks retained."/>
            <p:cNvSpPr txBox="1"/>
            <p:nvPr/>
          </p:nvSpPr>
          <p:spPr>
            <a:xfrm>
              <a:off x="3742690" y="4309259"/>
              <a:ext cx="2642870"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within budget</a:t>
              </a:r>
              <a:endParaRPr lang="en-US" sz="1250" b="0" i="0" kern="0" spc="0" dirty="0">
                <a:solidFill>
                  <a:srgbClr val="032D60"/>
                </a:solidFill>
                <a:latin typeface="Salesforce Sans"/>
                <a:ea typeface="Salesforce Sans"/>
                <a:cs typeface="Salesforce Sans"/>
              </a:endParaRPr>
            </a:p>
          </p:txBody>
        </p:sp>
      </p:grpSp>
      <p:grpSp>
        <p:nvGrpSpPr>
          <p:cNvPr id="1053" name="17 · node label: exchange"/>
          <p:cNvGrpSpPr/>
          <p:nvPr/>
        </p:nvGrpSpPr>
        <p:grpSpPr>
          <a:xfrm>
            <a:off x="10179685" y="3613676"/>
            <a:ext cx="1431552" cy="597216"/>
            <a:chOff x="10179685" y="3613676"/>
            <a:chExt cx="1431552" cy="597216"/>
          </a:xfrm>
        </p:grpSpPr>
        <p:sp>
          <p:nvSpPr>
            <p:cNvPr id="1040" name="17 · node label: exchange [p17-text-0027]" descr="Native editable Unicode text; authored line breaks retained."/>
            <p:cNvSpPr txBox="1"/>
            <p:nvPr/>
          </p:nvSpPr>
          <p:spPr>
            <a:xfrm>
              <a:off x="10179685" y="3613676"/>
              <a:ext cx="143155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exchange</a:t>
              </a:r>
              <a:endParaRPr lang="en-US" sz="1250" b="0" i="0" kern="0" spc="0" dirty="0">
                <a:solidFill>
                  <a:srgbClr val="032D60"/>
                </a:solidFill>
                <a:latin typeface="Salesforce Sans"/>
                <a:ea typeface="Salesforce Sans"/>
                <a:cs typeface="Salesforce Sans"/>
              </a:endParaRPr>
            </a:p>
          </p:txBody>
        </p:sp>
        <p:sp>
          <p:nvSpPr>
            <p:cNvPr id="1041" name="17 · node label: authorized [p17-text-0028]" descr="Native editable Unicode text; authored line breaks retained."/>
            <p:cNvSpPr txBox="1"/>
            <p:nvPr/>
          </p:nvSpPr>
          <p:spPr>
            <a:xfrm>
              <a:off x="10179685" y="4001026"/>
              <a:ext cx="1431552" cy="20986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25"/>
                </a:lnSpc>
                <a:spcBef>
                  <a:spcPts val="0"/>
                </a:spcBef>
                <a:spcAft>
                  <a:spcPts val="0"/>
                </a:spcAft>
                <a:buNone/>
              </a:pPr>
              <a:r>
                <a:rPr lang="en-US" sz="1250" b="0" i="0" kern="0" spc="0" dirty="0">
                  <a:solidFill>
                    <a:srgbClr val="032D60"/>
                  </a:solidFill>
                  <a:latin typeface="Salesforce Sans"/>
                  <a:ea typeface="Salesforce Sans"/>
                  <a:cs typeface="Salesforce Sans"/>
                </a:rPr>
                <a:t>authorized</a:t>
              </a:r>
              <a:endParaRPr lang="en-US" sz="1250" b="0" i="0" kern="0" spc="0" dirty="0">
                <a:solidFill>
                  <a:srgbClr val="032D60"/>
                </a:solidFill>
                <a:latin typeface="Salesforce Sans"/>
                <a:ea typeface="Salesforce Sans"/>
                <a:cs typeface="Salesforce Sans"/>
              </a:endParaRPr>
            </a:p>
          </p:txBody>
        </p:sp>
      </p:grpSp>
      <p:grpSp>
        <p:nvGrpSpPr>
          <p:cNvPr id="1054" name="17 · source-line: Agent Graph / guided determinism"/>
          <p:cNvGrpSpPr/>
          <p:nvPr/>
        </p:nvGrpSpPr>
        <p:grpSpPr>
          <a:xfrm>
            <a:off x="558800" y="6037898"/>
            <a:ext cx="11087100" cy="284456"/>
            <a:chOff x="558800" y="6037898"/>
            <a:chExt cx="11087100" cy="284456"/>
          </a:xfrm>
        </p:grpSpPr>
        <p:sp>
          <p:nvSpPr>
            <p:cNvPr id="1042" name="17 · source-line · top border [p17-e002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3" name="17 · span: Agent Graph / guided determinism [p17-text-0029]" descr="Native editable Unicode text; authored line breaks retained."/>
            <p:cNvSpPr txBox="1"/>
            <p:nvPr/>
          </p:nvSpPr>
          <p:spPr>
            <a:xfrm>
              <a:off x="558800" y="6153126"/>
              <a:ext cx="198257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endParaRPr lang="en-US" sz="950" b="0" i="0" kern="0" spc="0" dirty="0" u="sng">
                <a:solidFill>
                  <a:srgbClr val="315A7A"/>
                </a:solidFill>
                <a:latin typeface="Salesforce Sans"/>
                <a:ea typeface="Salesforce Sans"/>
                <a:cs typeface="Salesforce Sans"/>
              </a:endParaRPr>
            </a:p>
          </p:txBody>
        </p:sp>
        <p:sp>
          <p:nvSpPr>
            <p:cNvPr id="1044" name="17 · span: Constructed mixed-request path [p17-text-0030]" descr="Native editable Unicode text; authored line breaks retained."/>
            <p:cNvSpPr txBox="1"/>
            <p:nvPr/>
          </p:nvSpPr>
          <p:spPr>
            <a:xfrm>
              <a:off x="9814750" y="6153126"/>
              <a:ext cx="183115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mixed-request path</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Guided determinism gives uncertainty a place">
    <p:bg>
      <p:bgPr>
        <a:solidFill>
          <a:srgbClr val="FFFFFF"/>
        </a:solidFill>
      </p:bgPr>
    </p:bg>
    <p:spTree>
      <p:nvGrpSpPr>
        <p:cNvPr id="1" name=""/>
        <p:cNvGrpSpPr/>
        <p:nvPr/>
      </p:nvGrpSpPr>
      <p:grpSpPr>
        <a:xfrm>
          <a:off x="0" y="0"/>
          <a:ext cx="0" cy="0"/>
          <a:chOff x="0" y="0"/>
          <a:chExt cx="0" cy="0"/>
        </a:xfrm>
      </p:grpSpPr>
      <p:sp>
        <p:nvSpPr>
          <p:cNvPr id="1000" name="18 · slide hero dark · surface [p18-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17" name="18 · chrome-min: DISAGGREGATED INTELLIGENCE"/>
          <p:cNvGrpSpPr/>
          <p:nvPr/>
        </p:nvGrpSpPr>
        <p:grpSpPr>
          <a:xfrm>
            <a:off x="558800" y="356053"/>
            <a:ext cx="11087100" cy="187325"/>
            <a:chOff x="558800" y="356053"/>
            <a:chExt cx="11087100" cy="187325"/>
          </a:xfrm>
        </p:grpSpPr>
        <p:sp>
          <p:nvSpPr>
            <p:cNvPr id="1001" name="18 · l: DISAGGREGATED INTELLIGENCE [p18-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8 · r: 18 / 36 [p18-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18 / 36</a:t>
              </a:r>
              <a:endParaRPr lang="en-US" sz="950" b="1" i="0" kern="0" spc="65" dirty="0">
                <a:solidFill>
                  <a:srgbClr val="022AC0"/>
                </a:solidFill>
                <a:latin typeface="Salesforce Sans"/>
                <a:ea typeface="Salesforce Sans"/>
                <a:cs typeface="Salesforce Sans"/>
              </a:endParaRPr>
            </a:p>
          </p:txBody>
        </p:sp>
      </p:grpSp>
      <p:grpSp>
        <p:nvGrpSpPr>
          <p:cNvPr id="1018" name="18 · deck-head: 05 / NEURO-SYMBOLIC REASONING"/>
          <p:cNvGrpSpPr/>
          <p:nvPr/>
        </p:nvGrpSpPr>
        <p:grpSpPr>
          <a:xfrm>
            <a:off x="558800" y="775901"/>
            <a:ext cx="11087100" cy="871263"/>
            <a:chOff x="558800" y="775901"/>
            <a:chExt cx="11087100" cy="871263"/>
          </a:xfrm>
        </p:grpSpPr>
        <p:sp>
          <p:nvSpPr>
            <p:cNvPr id="1003" name="18 · guided-eyebrow: 05 / NEURO-SYMBOLIC REASONING [p18-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NEURO-SYMBOLIC REASONING</a:t>
              </a:r>
              <a:endParaRPr lang="en-US" sz="1050" b="1" i="0" kern="0" spc="68" dirty="0">
                <a:solidFill>
                  <a:srgbClr val="022AC0"/>
                </a:solidFill>
                <a:latin typeface="Salesforce Sans"/>
                <a:ea typeface="Salesforce Sans"/>
                <a:cs typeface="Salesforce Sans"/>
              </a:endParaRPr>
            </a:p>
          </p:txBody>
        </p:sp>
        <p:sp>
          <p:nvSpPr>
            <p:cNvPr id="1004" name="18 · guided-title: Guided determinism gives uncertainty a place [p18-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Guided determinism gives uncertainty a place</a:t>
              </a:r>
              <a:endParaRPr lang="en-US" sz="3600" b="1" i="0" kern="0" spc="-95" dirty="0">
                <a:solidFill>
                  <a:srgbClr val="022AC0"/>
                </a:solidFill>
                <a:latin typeface="Manrope"/>
                <a:ea typeface="Manrope"/>
                <a:cs typeface="Manrope"/>
              </a:endParaRPr>
            </a:p>
          </p:txBody>
        </p:sp>
      </p:grpSp>
      <p:sp>
        <p:nvSpPr>
          <p:cNvPr id="1005" name="18 · ink-banner-full · surface [p18-e0008]"/>
          <p:cNvSpPr/>
          <p:nvPr/>
        </p:nvSpPr>
        <p:spPr>
          <a:xfrm>
            <a:off x="558800" y="3224276"/>
            <a:ext cx="11074400" cy="894842"/>
          </a:xfrm>
          <a:prstGeom prst="roundRect">
            <a:avLst>
              <a:gd name="adj" fmla="val 14192"/>
            </a:avLst>
          </a:prstGeom>
          <a:solidFill>
            <a:srgbClr val="DDF3ED"/>
          </a:solidFill>
          <a:ln>
            <a:noFill/>
          </a:ln>
        </p:spPr>
      </p:sp>
      <p:sp>
        <p:nvSpPr>
          <p:cNvPr id="1006" name="18 · manifesto-top: Neural interpretation inside an authored process. [p18-text-0009]" descr="Native editable Unicode text; authored line breaks retained."/>
          <p:cNvSpPr txBox="1"/>
          <p:nvPr/>
        </p:nvSpPr>
        <p:spPr>
          <a:xfrm>
            <a:off x="558800" y="1816138"/>
            <a:ext cx="9791700" cy="113505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144"/>
              </a:lnSpc>
              <a:spcBef>
                <a:spcPts val="0"/>
              </a:spcBef>
              <a:spcAft>
                <a:spcPts val="0"/>
              </a:spcAft>
              <a:buNone/>
            </a:pPr>
            <a:r>
              <a:rPr lang="en-US" sz="3700" b="0" i="0" kern="0" spc="-100" dirty="0">
                <a:solidFill>
                  <a:srgbClr val="032D60"/>
                </a:solidFill>
                <a:latin typeface="Salesforce Sans"/>
                <a:ea typeface="Salesforce Sans"/>
                <a:cs typeface="Salesforce Sans"/>
              </a:rPr>
              <a:t>Neural interpretation</a:t>
            </a:r>
            <a:endParaRPr lang="en-US" sz="3700" b="0" i="0" kern="0" spc="-100" dirty="0">
              <a:solidFill>
                <a:srgbClr val="032D60"/>
              </a:solidFill>
              <a:latin typeface="Salesforce Sans"/>
              <a:ea typeface="Salesforce Sans"/>
              <a:cs typeface="Salesforce Sans"/>
            </a:endParaRPr>
          </a:p>
          <a:p>
            <a:pPr marL="0" marR="0" indent="0" algn="l" fontAlgn="base">
              <a:lnSpc>
                <a:spcPts val="4144"/>
              </a:lnSpc>
              <a:spcBef>
                <a:spcPts val="0"/>
              </a:spcBef>
              <a:spcAft>
                <a:spcPts val="0"/>
              </a:spcAft>
              <a:buNone/>
            </a:pPr>
            <a:r>
              <a:rPr lang="en-US" sz="3700" b="0" i="0" kern="0" spc="-100" dirty="0">
                <a:solidFill>
                  <a:srgbClr val="032D60"/>
                </a:solidFill>
                <a:latin typeface="Salesforce Sans"/>
                <a:ea typeface="Salesforce Sans"/>
                <a:cs typeface="Salesforce Sans"/>
              </a:rPr>
              <a:t>inside an authored process.</a:t>
            </a:r>
            <a:endParaRPr lang="en-US" sz="3700" b="0" i="0" kern="0" spc="-100" dirty="0">
              <a:solidFill>
                <a:srgbClr val="032D60"/>
              </a:solidFill>
              <a:latin typeface="Salesforce Sans"/>
              <a:ea typeface="Salesforce Sans"/>
              <a:cs typeface="Salesforce Sans"/>
            </a:endParaRPr>
          </a:p>
        </p:txBody>
      </p:sp>
      <p:sp>
        <p:nvSpPr>
          <p:cNvPr id="1007" name="18 · ink-banner-full: AgentScript defines where model choice is available. Agent Graph executes the  [p18-text-0010]" descr="Native editable Unicode text; authored line breaks retained."/>
          <p:cNvSpPr txBox="1"/>
          <p:nvPr/>
        </p:nvSpPr>
        <p:spPr>
          <a:xfrm>
            <a:off x="838200" y="3427476"/>
            <a:ext cx="10528300" cy="49479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AgentScript defines where model choice is available.</a:t>
            </a:r>
            <a:endParaRPr lang="en-US" sz="1500" b="0" i="0" kern="0" spc="0" dirty="0">
              <a:solidFill>
                <a:srgbClr val="032D60"/>
              </a:solidFill>
              <a:latin typeface="Salesforce Sans"/>
              <a:ea typeface="Salesforce Sans"/>
              <a:cs typeface="Salesforce Sans"/>
            </a:endParaRPr>
          </a:p>
          <a:p>
            <a:pPr marL="0" marR="0" indent="0" algn="l" fontAlgn="base">
              <a:lnSpc>
                <a:spcPts val="1923"/>
              </a:lnSpc>
              <a:spcBef>
                <a:spcPts val="0"/>
              </a:spcBef>
              <a:spcAft>
                <a:spcPts val="0"/>
              </a:spcAft>
              <a:buNone/>
            </a:pPr>
            <a:r>
              <a:rPr lang="en-US" sz="1500" b="0" i="0" kern="0" spc="0" dirty="0">
                <a:solidFill>
                  <a:srgbClr val="032D60"/>
                </a:solidFill>
                <a:latin typeface="Salesforce Sans"/>
                <a:ea typeface="Salesforce Sans"/>
                <a:cs typeface="Salesforce Sans"/>
              </a:rPr>
              <a:t>Agent Graph executes the configured transitions.</a:t>
            </a:r>
            <a:endParaRPr lang="en-US" sz="1500" b="0" i="0" kern="0" spc="0" dirty="0">
              <a:solidFill>
                <a:srgbClr val="032D60"/>
              </a:solidFill>
              <a:latin typeface="Salesforce Sans"/>
              <a:ea typeface="Salesforce Sans"/>
              <a:cs typeface="Salesforce Sans"/>
            </a:endParaRPr>
          </a:p>
        </p:txBody>
      </p:sp>
      <p:sp>
        <p:nvSpPr>
          <p:cNvPr id="1008" name="18 · guided-text-1: Interpretation [p18-text-0011]" descr="Native editable Unicode text; authored line breaks retained."/>
          <p:cNvSpPr txBox="1"/>
          <p:nvPr/>
        </p:nvSpPr>
        <p:spPr>
          <a:xfrm>
            <a:off x="558800"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Interpretation</a:t>
            </a:r>
            <a:endParaRPr lang="en-US" sz="2000" b="1" i="0" kern="0" spc="-38" dirty="0">
              <a:solidFill>
                <a:srgbClr val="022AC0"/>
              </a:solidFill>
              <a:latin typeface="Manrope"/>
              <a:ea typeface="Manrope"/>
              <a:cs typeface="Manrope"/>
            </a:endParaRPr>
          </a:p>
        </p:txBody>
      </p:sp>
      <p:sp>
        <p:nvSpPr>
          <p:cNvPr id="1009" name="18 · guided-text-2: Fallible semantic judgment. [p18-text-0012]" descr="Native editable Unicode text; authored line breaks retained."/>
          <p:cNvSpPr txBox="1"/>
          <p:nvPr/>
        </p:nvSpPr>
        <p:spPr>
          <a:xfrm>
            <a:off x="558800"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Fallible semantic judgment.</a:t>
            </a:r>
            <a:endParaRPr lang="en-US" sz="1250" b="0" i="0" kern="0" spc="0" dirty="0">
              <a:solidFill>
                <a:srgbClr val="032D60"/>
              </a:solidFill>
              <a:latin typeface="Salesforce Sans"/>
              <a:ea typeface="Salesforce Sans"/>
              <a:cs typeface="Salesforce Sans"/>
            </a:endParaRPr>
          </a:p>
        </p:txBody>
      </p:sp>
      <p:sp>
        <p:nvSpPr>
          <p:cNvPr id="1010" name="18 · guided-text-3: Procedure [p18-text-0013]" descr="Native editable Unicode text; authored line breaks retained."/>
          <p:cNvSpPr txBox="1"/>
          <p:nvPr/>
        </p:nvSpPr>
        <p:spPr>
          <a:xfrm>
            <a:off x="4313767"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Procedure</a:t>
            </a:r>
            <a:endParaRPr lang="en-US" sz="2000" b="1" i="0" kern="0" spc="-38" dirty="0">
              <a:solidFill>
                <a:srgbClr val="022AC0"/>
              </a:solidFill>
              <a:latin typeface="Manrope"/>
              <a:ea typeface="Manrope"/>
              <a:cs typeface="Manrope"/>
            </a:endParaRPr>
          </a:p>
        </p:txBody>
      </p:sp>
      <p:sp>
        <p:nvSpPr>
          <p:cNvPr id="1011" name="18 · guided-text-4: Required steps and state changes. [p18-text-0014]" descr="Native editable Unicode text; authored line breaks retained."/>
          <p:cNvSpPr txBox="1"/>
          <p:nvPr/>
        </p:nvSpPr>
        <p:spPr>
          <a:xfrm>
            <a:off x="4313767"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Required steps and state changes.</a:t>
            </a:r>
            <a:endParaRPr lang="en-US" sz="1250" b="0" i="0" kern="0" spc="0" dirty="0">
              <a:solidFill>
                <a:srgbClr val="032D60"/>
              </a:solidFill>
              <a:latin typeface="Salesforce Sans"/>
              <a:ea typeface="Salesforce Sans"/>
              <a:cs typeface="Salesforce Sans"/>
            </a:endParaRPr>
          </a:p>
        </p:txBody>
      </p:sp>
      <p:sp>
        <p:nvSpPr>
          <p:cNvPr id="1012" name="18 · guided-text-5: Authority [p18-text-0015]" descr="Native editable Unicode text; authored line breaks retained."/>
          <p:cNvSpPr txBox="1"/>
          <p:nvPr/>
        </p:nvSpPr>
        <p:spPr>
          <a:xfrm>
            <a:off x="8068733" y="4444747"/>
            <a:ext cx="3577167"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Authority</a:t>
            </a:r>
            <a:endParaRPr lang="en-US" sz="2000" b="1" i="0" kern="0" spc="-38" dirty="0">
              <a:solidFill>
                <a:srgbClr val="022AC0"/>
              </a:solidFill>
              <a:latin typeface="Manrope"/>
              <a:ea typeface="Manrope"/>
              <a:cs typeface="Manrope"/>
            </a:endParaRPr>
          </a:p>
        </p:txBody>
      </p:sp>
      <p:sp>
        <p:nvSpPr>
          <p:cNvPr id="1013" name="18 · guided-text-6: Enforced by trusted services. [p18-text-0016]" descr="Native editable Unicode text; authored line breaks retained."/>
          <p:cNvSpPr txBox="1"/>
          <p:nvPr/>
        </p:nvSpPr>
        <p:spPr>
          <a:xfrm>
            <a:off x="8068733" y="4893342"/>
            <a:ext cx="3577167"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Enforced by trusted services.</a:t>
            </a:r>
            <a:endParaRPr lang="en-US" sz="1250" b="0" i="0" kern="0" spc="0" dirty="0">
              <a:solidFill>
                <a:srgbClr val="032D60"/>
              </a:solidFill>
              <a:latin typeface="Salesforce Sans"/>
              <a:ea typeface="Salesforce Sans"/>
              <a:cs typeface="Salesforce Sans"/>
            </a:endParaRPr>
          </a:p>
        </p:txBody>
      </p:sp>
      <p:grpSp>
        <p:nvGrpSpPr>
          <p:cNvPr id="1019" name="18 · source-line: Agent Graph / guided determinism · AgentScript control plane"/>
          <p:cNvGrpSpPr/>
          <p:nvPr/>
        </p:nvGrpSpPr>
        <p:grpSpPr>
          <a:xfrm>
            <a:off x="558800" y="6037898"/>
            <a:ext cx="11087100" cy="284456"/>
            <a:chOff x="558800" y="6037898"/>
            <a:chExt cx="11087100" cy="284456"/>
          </a:xfrm>
        </p:grpSpPr>
        <p:sp>
          <p:nvSpPr>
            <p:cNvPr id="1014" name="18 · source-line · top border [p18-e001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5" name="18 · span: Agent Graph / guided determinism · AgentScript control plane [p18-text-0017]" descr="Native editable Unicode text; authored line breaks retained."/>
            <p:cNvSpPr txBox="1"/>
            <p:nvPr/>
          </p:nvSpPr>
          <p:spPr>
            <a:xfrm>
              <a:off x="558800" y="6153126"/>
              <a:ext cx="349917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16" name="18 · span: Documented architecture; illustrative workflow [p18-text-0018]" descr="Native editable Unicode text; authored line breaks retained."/>
            <p:cNvSpPr txBox="1"/>
            <p:nvPr/>
          </p:nvSpPr>
          <p:spPr>
            <a:xfrm>
              <a:off x="9017608" y="6153126"/>
              <a:ext cx="262829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Documented architecture; illustrative workflow</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Availability and required execution differ">
    <p:bg>
      <p:bgPr>
        <a:solidFill>
          <a:srgbClr val="FFFFFF"/>
        </a:solidFill>
      </p:bgPr>
    </p:bg>
    <p:spTree>
      <p:nvGrpSpPr>
        <p:cNvPr id="1" name=""/>
        <p:cNvGrpSpPr/>
        <p:nvPr/>
      </p:nvGrpSpPr>
      <p:grpSpPr>
        <a:xfrm>
          <a:off x="0" y="0"/>
          <a:ext cx="0" cy="0"/>
          <a:chOff x="0" y="0"/>
          <a:chExt cx="0" cy="0"/>
        </a:xfrm>
      </p:grpSpPr>
      <p:sp>
        <p:nvSpPr>
          <p:cNvPr id="1000" name="19 · slide light · surface [p1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3" name="19 · chrome-min: DISAGGREGATED INTELLIGENCE"/>
          <p:cNvGrpSpPr/>
          <p:nvPr/>
        </p:nvGrpSpPr>
        <p:grpSpPr>
          <a:xfrm>
            <a:off x="558800" y="356053"/>
            <a:ext cx="11087100" cy="187325"/>
            <a:chOff x="558800" y="356053"/>
            <a:chExt cx="11087100" cy="187325"/>
          </a:xfrm>
        </p:grpSpPr>
        <p:sp>
          <p:nvSpPr>
            <p:cNvPr id="1001" name="19 · l: DISAGGREGATED INTELLIGENCE [p19-text-0012]"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19 · r: 19 / 36 [p19-text-0013]"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19 / 36</a:t>
              </a:r>
              <a:endParaRPr lang="en-US" sz="950" b="1" i="0" kern="0" spc="65" dirty="0">
                <a:solidFill>
                  <a:srgbClr val="022AC0"/>
                </a:solidFill>
                <a:latin typeface="Salesforce Sans"/>
                <a:ea typeface="Salesforce Sans"/>
                <a:cs typeface="Salesforce Sans"/>
              </a:endParaRPr>
            </a:p>
          </p:txBody>
        </p:sp>
      </p:grpSp>
      <p:grpSp>
        <p:nvGrpSpPr>
          <p:cNvPr id="1034" name="19 · deck-head: 05 / STEP 4"/>
          <p:cNvGrpSpPr/>
          <p:nvPr/>
        </p:nvGrpSpPr>
        <p:grpSpPr>
          <a:xfrm>
            <a:off x="558800" y="775901"/>
            <a:ext cx="11087100" cy="871263"/>
            <a:chOff x="558800" y="775901"/>
            <a:chExt cx="11087100" cy="871263"/>
          </a:xfrm>
        </p:grpSpPr>
        <p:sp>
          <p:nvSpPr>
            <p:cNvPr id="1003" name="19 · agentscript-eyebrow: 05 / STEP 4 [p19-text-0014]"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STEP 4</a:t>
              </a:r>
              <a:endParaRPr lang="en-US" sz="1050" b="1" i="0" kern="0" spc="68" dirty="0">
                <a:solidFill>
                  <a:srgbClr val="022AC0"/>
                </a:solidFill>
                <a:latin typeface="Salesforce Sans"/>
                <a:ea typeface="Salesforce Sans"/>
                <a:cs typeface="Salesforce Sans"/>
              </a:endParaRPr>
            </a:p>
          </p:txBody>
        </p:sp>
        <p:sp>
          <p:nvSpPr>
            <p:cNvPr id="1004" name="19 · agentscript-title: Availability and required execution differ [p19-text-0015]"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Availability and required execution differ</a:t>
              </a:r>
              <a:endParaRPr lang="en-US" sz="3600" b="1" i="0" kern="0" spc="-95" dirty="0">
                <a:solidFill>
                  <a:srgbClr val="022AC0"/>
                </a:solidFill>
                <a:latin typeface="Manrope"/>
                <a:ea typeface="Manrope"/>
                <a:cs typeface="Manrope"/>
              </a:endParaRPr>
            </a:p>
          </p:txBody>
        </p:sp>
      </p:grpSp>
      <p:grpSp>
        <p:nvGrpSpPr>
          <p:cNvPr id="1035" name="19 · card ink: "/>
          <p:cNvGrpSpPr/>
          <p:nvPr/>
        </p:nvGrpSpPr>
        <p:grpSpPr>
          <a:xfrm>
            <a:off x="558800" y="1854200"/>
            <a:ext cx="4467606" cy="4300220"/>
            <a:chOff x="558800" y="1854200"/>
            <a:chExt cx="4467606" cy="4300220"/>
          </a:xfrm>
        </p:grpSpPr>
        <p:sp>
          <p:nvSpPr>
            <p:cNvPr id="1005" name="19 · card ink · surface [p19-e0008]"/>
            <p:cNvSpPr/>
            <p:nvPr/>
          </p:nvSpPr>
          <p:spPr>
            <a:xfrm>
              <a:off x="558800" y="1854200"/>
              <a:ext cx="4467606" cy="4300220"/>
            </a:xfrm>
            <a:prstGeom prst="roundRect">
              <a:avLst>
                <a:gd name="adj" fmla="val 3249"/>
              </a:avLst>
            </a:prstGeom>
            <a:solidFill>
              <a:srgbClr val="032D60"/>
            </a:solidFill>
            <a:ln>
              <a:noFill/>
            </a:ln>
          </p:spPr>
        </p:sp>
        <p:sp>
          <p:nvSpPr>
            <p:cNvPr id="1006" name="19 · card ink · outline [p19-e0008]"/>
            <p:cNvSpPr/>
            <p:nvPr/>
          </p:nvSpPr>
          <p:spPr>
            <a:xfrm>
              <a:off x="561975" y="1857375"/>
              <a:ext cx="4461256" cy="4293870"/>
            </a:xfrm>
            <a:prstGeom prst="roundRect">
              <a:avLst>
                <a:gd name="adj" fmla="val 3180"/>
              </a:avLst>
            </a:prstGeom>
            <a:noFill/>
            <a:ln w="6350" algn="ctr">
              <a:solidFill>
                <a:srgbClr val="FFFFFF">
                  <a:alpha val="85098"/>
                </a:srgbClr>
              </a:solidFill>
              <a:prstDash val="solid"/>
            </a:ln>
          </p:spPr>
        </p:sp>
        <p:sp>
          <p:nvSpPr>
            <p:cNvPr id="1007" name="19 · design-code · surface [p19-e0009]"/>
            <p:cNvSpPr/>
            <p:nvPr/>
          </p:nvSpPr>
          <p:spPr>
            <a:xfrm>
              <a:off x="781050" y="3236595"/>
              <a:ext cx="4023106" cy="2032000"/>
            </a:xfrm>
            <a:prstGeom prst="roundRect">
              <a:avLst>
                <a:gd name="adj" fmla="val 5625"/>
              </a:avLst>
            </a:prstGeom>
            <a:solidFill>
              <a:srgbClr val="FFFFFF">
                <a:alpha val="67843"/>
              </a:srgbClr>
            </a:solidFill>
            <a:ln>
              <a:noFill/>
            </a:ln>
          </p:spPr>
        </p:sp>
      </p:grpSp>
      <p:grpSp>
        <p:nvGrpSpPr>
          <p:cNvPr id="1036" name="19 · card mint: "/>
          <p:cNvGrpSpPr/>
          <p:nvPr/>
        </p:nvGrpSpPr>
        <p:grpSpPr>
          <a:xfrm>
            <a:off x="5204206" y="1854200"/>
            <a:ext cx="6428994" cy="1331807"/>
            <a:chOff x="5204206" y="1854200"/>
            <a:chExt cx="6428994" cy="1331807"/>
          </a:xfrm>
        </p:grpSpPr>
        <p:sp>
          <p:nvSpPr>
            <p:cNvPr id="1008" name="19 · card mint · surface [p19-e0010]"/>
            <p:cNvSpPr/>
            <p:nvPr/>
          </p:nvSpPr>
          <p:spPr>
            <a:xfrm>
              <a:off x="5204206" y="1854200"/>
              <a:ext cx="6428994" cy="1331807"/>
            </a:xfrm>
            <a:prstGeom prst="roundRect">
              <a:avLst>
                <a:gd name="adj" fmla="val 10490"/>
              </a:avLst>
            </a:prstGeom>
            <a:solidFill>
              <a:srgbClr val="DDF3ED"/>
            </a:solidFill>
            <a:ln>
              <a:noFill/>
            </a:ln>
          </p:spPr>
        </p:sp>
        <p:sp>
          <p:nvSpPr>
            <p:cNvPr id="1009" name="19 · card mint · outline [p19-e0010]"/>
            <p:cNvSpPr/>
            <p:nvPr/>
          </p:nvSpPr>
          <p:spPr>
            <a:xfrm>
              <a:off x="5207381" y="1857375"/>
              <a:ext cx="6422644" cy="1325457"/>
            </a:xfrm>
            <a:prstGeom prst="roundRect">
              <a:avLst>
                <a:gd name="adj" fmla="val 10300"/>
              </a:avLst>
            </a:prstGeom>
            <a:noFill/>
            <a:ln w="6350" algn="ctr">
              <a:solidFill>
                <a:srgbClr val="FFFFFF">
                  <a:alpha val="85098"/>
                </a:srgbClr>
              </a:solidFill>
              <a:prstDash val="solid"/>
            </a:ln>
          </p:spPr>
        </p:sp>
      </p:grpSp>
      <p:grpSp>
        <p:nvGrpSpPr>
          <p:cNvPr id="1037" name="19 · card lilac: "/>
          <p:cNvGrpSpPr/>
          <p:nvPr/>
        </p:nvGrpSpPr>
        <p:grpSpPr>
          <a:xfrm>
            <a:off x="5204206" y="3338407"/>
            <a:ext cx="6428994" cy="1331807"/>
            <a:chOff x="5204206" y="3338407"/>
            <a:chExt cx="6428994" cy="1331807"/>
          </a:xfrm>
        </p:grpSpPr>
        <p:sp>
          <p:nvSpPr>
            <p:cNvPr id="1010" name="19 · card lilac · surface [p19-e0011]"/>
            <p:cNvSpPr/>
            <p:nvPr/>
          </p:nvSpPr>
          <p:spPr>
            <a:xfrm>
              <a:off x="5204206" y="3338407"/>
              <a:ext cx="6428994" cy="1331807"/>
            </a:xfrm>
            <a:prstGeom prst="roundRect">
              <a:avLst>
                <a:gd name="adj" fmla="val 10490"/>
              </a:avLst>
            </a:prstGeom>
            <a:solidFill>
              <a:srgbClr val="EAE6FA"/>
            </a:solidFill>
            <a:ln>
              <a:noFill/>
            </a:ln>
          </p:spPr>
        </p:sp>
        <p:sp>
          <p:nvSpPr>
            <p:cNvPr id="1011" name="19 · card lilac · outline [p19-e0011]"/>
            <p:cNvSpPr/>
            <p:nvPr/>
          </p:nvSpPr>
          <p:spPr>
            <a:xfrm>
              <a:off x="5207381" y="3341582"/>
              <a:ext cx="6422644" cy="1325457"/>
            </a:xfrm>
            <a:prstGeom prst="roundRect">
              <a:avLst>
                <a:gd name="adj" fmla="val 10300"/>
              </a:avLst>
            </a:prstGeom>
            <a:noFill/>
            <a:ln w="6350" algn="ctr">
              <a:solidFill>
                <a:srgbClr val="FFFFFF">
                  <a:alpha val="85098"/>
                </a:srgbClr>
              </a:solidFill>
              <a:prstDash val="solid"/>
            </a:ln>
          </p:spPr>
        </p:sp>
      </p:grpSp>
      <p:grpSp>
        <p:nvGrpSpPr>
          <p:cNvPr id="1038" name="19 · card blue: "/>
          <p:cNvGrpSpPr/>
          <p:nvPr/>
        </p:nvGrpSpPr>
        <p:grpSpPr>
          <a:xfrm>
            <a:off x="5204206" y="4822613"/>
            <a:ext cx="6428994" cy="1331807"/>
            <a:chOff x="5204206" y="4822613"/>
            <a:chExt cx="6428994" cy="1331807"/>
          </a:xfrm>
        </p:grpSpPr>
        <p:sp>
          <p:nvSpPr>
            <p:cNvPr id="1012" name="19 · card blue · surface [p19-e0012]"/>
            <p:cNvSpPr/>
            <p:nvPr/>
          </p:nvSpPr>
          <p:spPr>
            <a:xfrm>
              <a:off x="5204206" y="4822613"/>
              <a:ext cx="6428994" cy="1331807"/>
            </a:xfrm>
            <a:prstGeom prst="roundRect">
              <a:avLst>
                <a:gd name="adj" fmla="val 10490"/>
              </a:avLst>
            </a:prstGeom>
            <a:solidFill>
              <a:srgbClr val="DCEEFE"/>
            </a:solidFill>
            <a:ln>
              <a:noFill/>
            </a:ln>
          </p:spPr>
        </p:sp>
        <p:sp>
          <p:nvSpPr>
            <p:cNvPr id="1013" name="19 · card blue · outline [p19-e0012]"/>
            <p:cNvSpPr/>
            <p:nvPr/>
          </p:nvSpPr>
          <p:spPr>
            <a:xfrm>
              <a:off x="5207381" y="4825788"/>
              <a:ext cx="6422644" cy="1325457"/>
            </a:xfrm>
            <a:prstGeom prst="roundRect">
              <a:avLst>
                <a:gd name="adj" fmla="val 10300"/>
              </a:avLst>
            </a:prstGeom>
            <a:noFill/>
            <a:ln w="6350" algn="ctr">
              <a:solidFill>
                <a:srgbClr val="FFFFFF">
                  <a:alpha val="85098"/>
                </a:srgbClr>
              </a:solidFill>
              <a:prstDash val="solid"/>
            </a:ln>
          </p:spPr>
        </p:sp>
      </p:grpSp>
      <p:grpSp>
        <p:nvGrpSpPr>
          <p:cNvPr id="1039" name="19 · card ink: Control around the model choice."/>
          <p:cNvGrpSpPr/>
          <p:nvPr/>
        </p:nvGrpSpPr>
        <p:grpSpPr>
          <a:xfrm>
            <a:off x="781050" y="2410334"/>
            <a:ext cx="4035806" cy="3516121"/>
            <a:chOff x="781050" y="2410334"/>
            <a:chExt cx="4035806" cy="3516121"/>
          </a:xfrm>
        </p:grpSpPr>
        <p:sp>
          <p:nvSpPr>
            <p:cNvPr id="1014" name="19 · agentscript-text-1: Control around the model choice. [p19-text-0016]" descr="Native editable Unicode text; authored line breaks retained."/>
            <p:cNvSpPr txBox="1"/>
            <p:nvPr/>
          </p:nvSpPr>
          <p:spPr>
            <a:xfrm>
              <a:off x="781050" y="2410334"/>
              <a:ext cx="4035806"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CFE9FE"/>
                  </a:solidFill>
                  <a:latin typeface="Manrope"/>
                  <a:ea typeface="Manrope"/>
                  <a:cs typeface="Manrope"/>
                </a:rPr>
                <a:t>Control around</a:t>
              </a:r>
              <a:endParaRPr lang="en-US" sz="2000" b="1" i="0" kern="0" spc="-38" dirty="0">
                <a:solidFill>
                  <a:srgbClr val="CFE9FE"/>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CFE9FE"/>
                  </a:solidFill>
                  <a:latin typeface="Manrope"/>
                  <a:ea typeface="Manrope"/>
                  <a:cs typeface="Manrope"/>
                </a:rPr>
                <a:t>the model choice.</a:t>
              </a:r>
              <a:endParaRPr lang="en-US" sz="2000" b="1" i="0" kern="0" spc="-38" dirty="0">
                <a:solidFill>
                  <a:srgbClr val="CFE9FE"/>
                </a:solidFill>
                <a:latin typeface="Manrope"/>
                <a:ea typeface="Manrope"/>
                <a:cs typeface="Manrope"/>
              </a:endParaRPr>
            </a:p>
          </p:txBody>
        </p:sp>
        <p:sp>
          <p:nvSpPr>
            <p:cNvPr id="1015" name="19 · design-code: identity = verifySession() if identity != verified: return recovery purchase = [p19-text-0017]" descr="Native editable Unicode text; authored line breaks retained."/>
            <p:cNvSpPr txBox="1"/>
            <p:nvPr/>
          </p:nvSpPr>
          <p:spPr>
            <a:xfrm>
              <a:off x="939800" y="3435033"/>
              <a:ext cx="3718306" cy="17208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identity = verifySession()</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 xml:space="preserve">if identity != verified: return </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recovery</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purchase = requireOwnedOrder(identity)</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tasks = interpretAndValidate(purchase)</a:t>
              </a:r>
              <a:endParaRPr lang="en-US" sz="1250" b="0" i="0" kern="0" spc="0" dirty="0">
                <a:solidFill>
                  <a:srgbClr val="FFFFFF"/>
                </a:solidFill>
                <a:latin typeface="IBM Plex Mono"/>
                <a:ea typeface="IBM Plex Mono"/>
                <a:cs typeface="IBM Plex Mono"/>
              </a:endParaRPr>
            </a:p>
            <a:p>
              <a:pPr marL="0" marR="0" indent="0" algn="l" fontAlgn="base">
                <a:lnSpc>
                  <a:spcPts val="2250"/>
                </a:lnSpc>
                <a:spcBef>
                  <a:spcPts val="0"/>
                </a:spcBef>
                <a:spcAft>
                  <a:spcPts val="0"/>
                </a:spcAft>
                <a:buNone/>
              </a:pPr>
              <a:r>
                <a:rPr lang="en-US" sz="1250" b="0" i="0" kern="0" spc="0" dirty="0">
                  <a:solidFill>
                    <a:srgbClr val="FFFFFF"/>
                  </a:solidFill>
                  <a:latin typeface="IBM Plex Mono"/>
                  <a:ea typeface="IBM Plex Mono"/>
                  <a:cs typeface="IBM Plex Mono"/>
                </a:rPr>
                <a:t>run selectedHandler(tasks)</a:t>
              </a:r>
              <a:endParaRPr lang="en-US" sz="1250" b="0" i="0" kern="0" spc="0" dirty="0">
                <a:solidFill>
                  <a:srgbClr val="FFFFFF"/>
                </a:solidFill>
                <a:latin typeface="IBM Plex Mono"/>
                <a:ea typeface="IBM Plex Mono"/>
                <a:cs typeface="IBM Plex Mono"/>
              </a:endParaRPr>
            </a:p>
          </p:txBody>
        </p:sp>
        <p:sp>
          <p:nvSpPr>
            <p:cNvPr id="1016" name="19 · agentscript-text-2: Backend services also enforce access. This is an authoring sketch, not runnabl [p19-text-0018]" descr="Native editable Unicode text; authored line breaks retained."/>
            <p:cNvSpPr txBox="1"/>
            <p:nvPr/>
          </p:nvSpPr>
          <p:spPr>
            <a:xfrm>
              <a:off x="781050" y="5459731"/>
              <a:ext cx="4035806"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FFFFFF"/>
                  </a:solidFill>
                  <a:latin typeface="Salesforce Sans"/>
                  <a:ea typeface="Salesforce Sans"/>
                  <a:cs typeface="Salesforce Sans"/>
                </a:rPr>
                <a:t>Backend services also enforce access.</a:t>
              </a:r>
              <a:endParaRPr lang="en-US" sz="1250" b="0" i="0" kern="0" spc="0" dirty="0">
                <a:solidFill>
                  <a:srgbClr val="FFFFFF"/>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FFFFFF"/>
                  </a:solidFill>
                  <a:latin typeface="Salesforce Sans"/>
                  <a:ea typeface="Salesforce Sans"/>
                  <a:cs typeface="Salesforce Sans"/>
                </a:rPr>
                <a:t>This is an authoring sketch, not runnable syntax.</a:t>
              </a:r>
              <a:endParaRPr lang="en-US" sz="1250" b="0" i="0" kern="0" spc="0" dirty="0">
                <a:solidFill>
                  <a:srgbClr val="FFFFFF"/>
                </a:solidFill>
                <a:latin typeface="Salesforce Sans"/>
                <a:ea typeface="Salesforce Sans"/>
                <a:cs typeface="Salesforce Sans"/>
              </a:endParaRPr>
            </a:p>
          </p:txBody>
        </p:sp>
      </p:grpSp>
      <p:grpSp>
        <p:nvGrpSpPr>
          <p:cNvPr id="1040" name="19 · card mint: run / procedure"/>
          <p:cNvGrpSpPr/>
          <p:nvPr/>
        </p:nvGrpSpPr>
        <p:grpSpPr>
          <a:xfrm>
            <a:off x="5426456" y="2229725"/>
            <a:ext cx="5997194" cy="583602"/>
            <a:chOff x="5426456" y="2229725"/>
            <a:chExt cx="5997194" cy="583602"/>
          </a:xfrm>
        </p:grpSpPr>
        <p:sp>
          <p:nvSpPr>
            <p:cNvPr id="1017" name="19 · code · surface [p19-e0023]"/>
            <p:cNvSpPr/>
            <p:nvPr/>
          </p:nvSpPr>
          <p:spPr>
            <a:xfrm>
              <a:off x="5426456" y="2276180"/>
              <a:ext cx="417934" cy="220045"/>
            </a:xfrm>
            <a:prstGeom prst="roundRect">
              <a:avLst>
                <a:gd name="adj" fmla="val 17315"/>
              </a:avLst>
            </a:prstGeom>
            <a:solidFill>
              <a:srgbClr val="FFFFFF">
                <a:alpha val="65882"/>
              </a:srgbClr>
            </a:solidFill>
            <a:ln>
              <a:noFill/>
            </a:ln>
          </p:spPr>
        </p:sp>
        <p:sp>
          <p:nvSpPr>
            <p:cNvPr id="1018" name="19 · agentscript-text-3: run / procedure [p19-text-0019]" descr="Native editable Unicode text; authored line breaks retained."/>
            <p:cNvSpPr txBox="1"/>
            <p:nvPr/>
          </p:nvSpPr>
          <p:spPr>
            <a:xfrm>
              <a:off x="5426456" y="2229725"/>
              <a:ext cx="5997194" cy="301272"/>
            </a:xfrm>
            <a:prstGeom prst="rect">
              <a:avLst/>
            </a:prstGeom>
            <a:noFill/>
            <a:ln>
              <a:noFill/>
            </a:ln>
          </p:spPr>
          <p:txBody>
            <a:bodyPr wrap="none" lIns="0" rIns="0" tIns="0" bIns="0" anchor="t" anchorCtr="0" vertOverflow="overflow" horzOverflow="overflow" spcFirstLastPara="0">
              <a:noAutofit/>
            </a:bodyPr>
            <a:lstStyle/>
            <a:p>
              <a:pPr marL="0" marR="0" indent="39294" algn="l" fontAlgn="base">
                <a:lnSpc>
                  <a:spcPts val="2080"/>
                </a:lnSpc>
                <a:spcBef>
                  <a:spcPts val="0"/>
                </a:spcBef>
                <a:spcAft>
                  <a:spcPts val="0"/>
                </a:spcAft>
                <a:buNone/>
                <a:tabLst>
                  <a:tab pos="417934" algn="l"/>
                </a:tabLst>
              </a:pPr>
              <a:r>
                <a:rPr lang="en-US" sz="1547" b="0" i="0" kern="0" spc="-38" dirty="0">
                  <a:solidFill>
                    <a:srgbClr val="022AC0"/>
                  </a:solidFill>
                  <a:latin typeface="IBM Plex Mono"/>
                  <a:ea typeface="IBM Plex Mono"/>
                  <a:cs typeface="IBM Plex Mono"/>
                </a:rPr>
                <a:t>run</a:t>
              </a:r>
              <a:r>
                <a:rPr lang="en-US" sz="1547" b="0" i="0" kern="0" spc="-38" dirty="0">
                  <a:solidFill>
                    <a:srgbClr val="022AC0"/>
                  </a:solidFill>
                  <a:latin typeface="IBM Plex Mono"/>
                  <a:ea typeface="IBM Plex Mono"/>
                  <a:cs typeface="IBM Plex Mono"/>
                </a:rPr>
                <a:t xml:space="preserve">	</a:t>
              </a:r>
              <a:r>
                <a:rPr lang="en-US" sz="1700" b="1" i="0" kern="0" spc="-38" dirty="0">
                  <a:solidFill>
                    <a:srgbClr val="022AC0"/>
                  </a:solidFill>
                  <a:latin typeface="Manrope"/>
                  <a:ea typeface="Manrope"/>
                  <a:cs typeface="Manrope"/>
                </a:rPr>
                <a:t xml:space="preserve"> / procedure</a:t>
              </a:r>
              <a:endParaRPr lang="en-US" sz="1700" b="1" i="0" kern="0" spc="-38" dirty="0">
                <a:solidFill>
                  <a:srgbClr val="022AC0"/>
                </a:solidFill>
                <a:latin typeface="Manrope"/>
                <a:ea typeface="Manrope"/>
                <a:cs typeface="Manrope"/>
              </a:endParaRPr>
            </a:p>
          </p:txBody>
        </p:sp>
        <p:sp>
          <p:nvSpPr>
            <p:cNvPr id="1019" name="19 · agentscript-text-4: Use explicit procedure logic for checks that must execute. [p19-text-0020]" descr="Native editable Unicode text; authored line breaks retained."/>
            <p:cNvSpPr txBox="1"/>
            <p:nvPr/>
          </p:nvSpPr>
          <p:spPr>
            <a:xfrm>
              <a:off x="5426456" y="2580663"/>
              <a:ext cx="5997194" cy="23266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Use explicit procedure logic for checks that must execute.</a:t>
              </a:r>
              <a:endParaRPr lang="en-US" sz="1350" b="0" i="0" kern="0" spc="0" dirty="0">
                <a:solidFill>
                  <a:srgbClr val="032D60"/>
                </a:solidFill>
                <a:latin typeface="Salesforce Sans"/>
                <a:ea typeface="Salesforce Sans"/>
                <a:cs typeface="Salesforce Sans"/>
              </a:endParaRPr>
            </a:p>
          </p:txBody>
        </p:sp>
      </p:grpSp>
      <p:grpSp>
        <p:nvGrpSpPr>
          <p:cNvPr id="1041" name="19 · card lilac: available when"/>
          <p:cNvGrpSpPr/>
          <p:nvPr/>
        </p:nvGrpSpPr>
        <p:grpSpPr>
          <a:xfrm>
            <a:off x="5426456" y="3742705"/>
            <a:ext cx="5997194" cy="781142"/>
            <a:chOff x="5426456" y="3742705"/>
            <a:chExt cx="5997194" cy="781142"/>
          </a:xfrm>
        </p:grpSpPr>
        <p:sp>
          <p:nvSpPr>
            <p:cNvPr id="1020" name="19 · code · surface [p19-e0027]"/>
            <p:cNvSpPr/>
            <p:nvPr/>
          </p:nvSpPr>
          <p:spPr>
            <a:xfrm>
              <a:off x="5426456" y="3760387"/>
              <a:ext cx="1662206" cy="220045"/>
            </a:xfrm>
            <a:prstGeom prst="roundRect">
              <a:avLst>
                <a:gd name="adj" fmla="val 17315"/>
              </a:avLst>
            </a:prstGeom>
            <a:solidFill>
              <a:srgbClr val="FFFFFF">
                <a:alpha val="65882"/>
              </a:srgbClr>
            </a:solidFill>
            <a:ln>
              <a:noFill/>
            </a:ln>
          </p:spPr>
        </p:sp>
        <p:sp>
          <p:nvSpPr>
            <p:cNvPr id="1021" name="19 · agentscript-text-5: available when [p19-text-0021]" descr="Native editable Unicode text; authored line breaks retained."/>
            <p:cNvSpPr txBox="1"/>
            <p:nvPr/>
          </p:nvSpPr>
          <p:spPr>
            <a:xfrm>
              <a:off x="5426456" y="3742705"/>
              <a:ext cx="5997194" cy="270451"/>
            </a:xfrm>
            <a:prstGeom prst="rect">
              <a:avLst/>
            </a:prstGeom>
            <a:noFill/>
            <a:ln>
              <a:noFill/>
            </a:ln>
          </p:spPr>
          <p:txBody>
            <a:bodyPr wrap="none" lIns="0" rIns="0" tIns="0" bIns="0" anchor="t" anchorCtr="0" vertOverflow="overflow" horzOverflow="overflow" spcFirstLastPara="0">
              <a:noAutofit/>
            </a:bodyPr>
            <a:lstStyle/>
            <a:p>
              <a:pPr marL="0" marR="0" indent="39294" algn="l" fontAlgn="base">
                <a:lnSpc>
                  <a:spcPts val="2080"/>
                </a:lnSpc>
                <a:spcBef>
                  <a:spcPts val="0"/>
                </a:spcBef>
                <a:spcAft>
                  <a:spcPts val="0"/>
                </a:spcAft>
                <a:buNone/>
              </a:pPr>
              <a:r>
                <a:rPr lang="en-US" sz="1547" b="0" i="0" kern="0" spc="-38" dirty="0">
                  <a:solidFill>
                    <a:srgbClr val="022AC0"/>
                  </a:solidFill>
                  <a:latin typeface="IBM Plex Mono"/>
                  <a:ea typeface="IBM Plex Mono"/>
                  <a:cs typeface="IBM Plex Mono"/>
                </a:rPr>
                <a:t>available when</a:t>
              </a:r>
              <a:endParaRPr lang="en-US" sz="1547" b="0" i="0" kern="0" spc="-38" dirty="0">
                <a:solidFill>
                  <a:srgbClr val="022AC0"/>
                </a:solidFill>
                <a:latin typeface="IBM Plex Mono"/>
                <a:ea typeface="IBM Plex Mono"/>
                <a:cs typeface="IBM Plex Mono"/>
              </a:endParaRPr>
            </a:p>
          </p:txBody>
        </p:sp>
        <p:sp>
          <p:nvSpPr>
            <p:cNvPr id="1022" name="19 · agentscript-text-6: Filter which actions the model may select. Availability does not force selecti [p19-text-0022]" descr="Native editable Unicode text; authored line breaks retained."/>
            <p:cNvSpPr txBox="1"/>
            <p:nvPr/>
          </p:nvSpPr>
          <p:spPr>
            <a:xfrm>
              <a:off x="5426456" y="4064870"/>
              <a:ext cx="5997194" cy="4589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Filter which actions the model may select. Availability does not force</a:t>
              </a:r>
              <a:endParaRPr lang="en-US" sz="1350" b="0" i="0" kern="0" spc="0" dirty="0">
                <a:solidFill>
                  <a:srgbClr val="032D60"/>
                </a:solidFill>
                <a:latin typeface="Salesforce Sans"/>
                <a:ea typeface="Salesforce Sans"/>
                <a:cs typeface="Salesforce Sans"/>
              </a:endParaRPr>
            </a:p>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selection.</a:t>
              </a:r>
              <a:endParaRPr lang="en-US" sz="1350" b="0" i="0" kern="0" spc="0" dirty="0">
                <a:solidFill>
                  <a:srgbClr val="032D60"/>
                </a:solidFill>
                <a:latin typeface="Salesforce Sans"/>
                <a:ea typeface="Salesforce Sans"/>
                <a:cs typeface="Salesforce Sans"/>
              </a:endParaRPr>
            </a:p>
          </p:txBody>
        </p:sp>
      </p:grpSp>
      <p:grpSp>
        <p:nvGrpSpPr>
          <p:cNvPr id="1042" name="19 · card blue: with / bound input"/>
          <p:cNvGrpSpPr/>
          <p:nvPr/>
        </p:nvGrpSpPr>
        <p:grpSpPr>
          <a:xfrm>
            <a:off x="5426456" y="5198139"/>
            <a:ext cx="5997194" cy="583602"/>
            <a:chOff x="5426456" y="5198139"/>
            <a:chExt cx="5997194" cy="583602"/>
          </a:xfrm>
        </p:grpSpPr>
        <p:sp>
          <p:nvSpPr>
            <p:cNvPr id="1023" name="19 · code · surface [p19-e0031]"/>
            <p:cNvSpPr/>
            <p:nvPr/>
          </p:nvSpPr>
          <p:spPr>
            <a:xfrm>
              <a:off x="5426456" y="5244593"/>
              <a:ext cx="531050" cy="220045"/>
            </a:xfrm>
            <a:prstGeom prst="roundRect">
              <a:avLst>
                <a:gd name="adj" fmla="val 17315"/>
              </a:avLst>
            </a:prstGeom>
            <a:solidFill>
              <a:srgbClr val="FFFFFF">
                <a:alpha val="65882"/>
              </a:srgbClr>
            </a:solidFill>
            <a:ln>
              <a:noFill/>
            </a:ln>
          </p:spPr>
        </p:sp>
        <p:sp>
          <p:nvSpPr>
            <p:cNvPr id="1024" name="19 · agentscript-text-7: with / bound input [p19-text-0023]" descr="Native editable Unicode text; authored line breaks retained."/>
            <p:cNvSpPr txBox="1"/>
            <p:nvPr/>
          </p:nvSpPr>
          <p:spPr>
            <a:xfrm>
              <a:off x="5426456" y="5198139"/>
              <a:ext cx="5997194" cy="301272"/>
            </a:xfrm>
            <a:prstGeom prst="rect">
              <a:avLst/>
            </a:prstGeom>
            <a:noFill/>
            <a:ln>
              <a:noFill/>
            </a:ln>
          </p:spPr>
          <p:txBody>
            <a:bodyPr wrap="none" lIns="0" rIns="0" tIns="0" bIns="0" anchor="t" anchorCtr="0" vertOverflow="overflow" horzOverflow="overflow" spcFirstLastPara="0">
              <a:noAutofit/>
            </a:bodyPr>
            <a:lstStyle/>
            <a:p>
              <a:pPr marL="0" marR="0" indent="39294" algn="l" fontAlgn="base">
                <a:lnSpc>
                  <a:spcPts val="2080"/>
                </a:lnSpc>
                <a:spcBef>
                  <a:spcPts val="0"/>
                </a:spcBef>
                <a:spcAft>
                  <a:spcPts val="0"/>
                </a:spcAft>
                <a:buNone/>
                <a:tabLst>
                  <a:tab pos="531050" algn="l"/>
                </a:tabLst>
              </a:pPr>
              <a:r>
                <a:rPr lang="en-US" sz="1547" b="0" i="0" kern="0" spc="-38" dirty="0">
                  <a:solidFill>
                    <a:srgbClr val="022AC0"/>
                  </a:solidFill>
                  <a:latin typeface="IBM Plex Mono"/>
                  <a:ea typeface="IBM Plex Mono"/>
                  <a:cs typeface="IBM Plex Mono"/>
                </a:rPr>
                <a:t>with</a:t>
              </a:r>
              <a:r>
                <a:rPr lang="en-US" sz="1547" b="0" i="0" kern="0" spc="-38" dirty="0">
                  <a:solidFill>
                    <a:srgbClr val="022AC0"/>
                  </a:solidFill>
                  <a:latin typeface="IBM Plex Mono"/>
                  <a:ea typeface="IBM Plex Mono"/>
                  <a:cs typeface="IBM Plex Mono"/>
                </a:rPr>
                <a:t xml:space="preserve">	</a:t>
              </a:r>
              <a:r>
                <a:rPr lang="en-US" sz="1700" b="1" i="0" kern="0" spc="-38" dirty="0">
                  <a:solidFill>
                    <a:srgbClr val="022AC0"/>
                  </a:solidFill>
                  <a:latin typeface="Manrope"/>
                  <a:ea typeface="Manrope"/>
                  <a:cs typeface="Manrope"/>
                </a:rPr>
                <a:t xml:space="preserve"> / bound input</a:t>
              </a:r>
              <a:endParaRPr lang="en-US" sz="1700" b="1" i="0" kern="0" spc="-38" dirty="0">
                <a:solidFill>
                  <a:srgbClr val="022AC0"/>
                </a:solidFill>
                <a:latin typeface="Manrope"/>
                <a:ea typeface="Manrope"/>
                <a:cs typeface="Manrope"/>
              </a:endParaRPr>
            </a:p>
          </p:txBody>
        </p:sp>
        <p:sp>
          <p:nvSpPr>
            <p:cNvPr id="1025" name="19 · agentscript-text-8: Bind consequential inputs from trusted state. [p19-text-0024]" descr="Native editable Unicode text; authored line breaks retained."/>
            <p:cNvSpPr txBox="1"/>
            <p:nvPr/>
          </p:nvSpPr>
          <p:spPr>
            <a:xfrm>
              <a:off x="5426456" y="5549076"/>
              <a:ext cx="5997194" cy="23266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82"/>
                </a:lnSpc>
                <a:spcBef>
                  <a:spcPts val="0"/>
                </a:spcBef>
                <a:spcAft>
                  <a:spcPts val="0"/>
                </a:spcAft>
                <a:buNone/>
              </a:pPr>
              <a:r>
                <a:rPr lang="en-US" sz="1350" b="0" i="0" kern="0" spc="0" dirty="0">
                  <a:solidFill>
                    <a:srgbClr val="032D60"/>
                  </a:solidFill>
                  <a:latin typeface="Salesforce Sans"/>
                  <a:ea typeface="Salesforce Sans"/>
                  <a:cs typeface="Salesforce Sans"/>
                </a:rPr>
                <a:t>Bind consequential inputs from trusted state.</a:t>
              </a:r>
              <a:endParaRPr lang="en-US" sz="1350" b="0" i="0" kern="0" spc="0" dirty="0">
                <a:solidFill>
                  <a:srgbClr val="032D60"/>
                </a:solidFill>
                <a:latin typeface="Salesforce Sans"/>
                <a:ea typeface="Salesforce Sans"/>
                <a:cs typeface="Salesforce Sans"/>
              </a:endParaRPr>
            </a:p>
          </p:txBody>
        </p:sp>
      </p:grpSp>
      <p:sp>
        <p:nvSpPr>
          <p:cNvPr id="1026" name="19 · tag: DESIGN PSEUDOCODE [p19-text-0025]" descr="Native editable Unicode text; authored line breaks retained."/>
          <p:cNvSpPr txBox="1"/>
          <p:nvPr/>
        </p:nvSpPr>
        <p:spPr>
          <a:xfrm>
            <a:off x="781050" y="2101848"/>
            <a:ext cx="4035806"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CFE9FE">
                    <a:alpha val="85000"/>
                  </a:srgbClr>
                </a:solidFill>
                <a:latin typeface="IBM Plex Mono"/>
                <a:ea typeface="IBM Plex Mono"/>
                <a:cs typeface="IBM Plex Mono"/>
              </a:rPr>
              <a:t>DESIGN PSEUDOCODE</a:t>
            </a:r>
            <a:endParaRPr lang="en-US" sz="1050" b="0" i="0" kern="0" spc="50" dirty="0">
              <a:solidFill>
                <a:srgbClr val="CFE9FE">
                  <a:alpha val="85000"/>
                </a:srgbClr>
              </a:solidFill>
              <a:latin typeface="IBM Plex Mono"/>
              <a:ea typeface="IBM Plex Mono"/>
              <a:cs typeface="IBM Plex Mono"/>
            </a:endParaRPr>
          </a:p>
        </p:txBody>
      </p:sp>
      <p:sp>
        <p:nvSpPr>
          <p:cNvPr id="1027" name="19 · tag: REQUIRED WORK [p19-text-0026]" descr="Native editable Unicode text; authored line breaks retained."/>
          <p:cNvSpPr txBox="1"/>
          <p:nvPr/>
        </p:nvSpPr>
        <p:spPr>
          <a:xfrm>
            <a:off x="5426456" y="2012948"/>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REQUIRED WORK</a:t>
            </a:r>
            <a:endParaRPr lang="en-US" sz="1050" b="0" i="0" kern="0" spc="50" dirty="0">
              <a:solidFill>
                <a:srgbClr val="022AC0">
                  <a:alpha val="85000"/>
                </a:srgbClr>
              </a:solidFill>
              <a:latin typeface="IBM Plex Mono"/>
              <a:ea typeface="IBM Plex Mono"/>
              <a:cs typeface="IBM Plex Mono"/>
            </a:endParaRPr>
          </a:p>
        </p:txBody>
      </p:sp>
      <p:sp>
        <p:nvSpPr>
          <p:cNvPr id="1028" name="19 · tag: PERMITTED CHOICES [p19-text-0027]" descr="Native editable Unicode text; authored line breaks retained."/>
          <p:cNvSpPr txBox="1"/>
          <p:nvPr/>
        </p:nvSpPr>
        <p:spPr>
          <a:xfrm>
            <a:off x="5426456" y="3497154"/>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PERMITTED CHOICES</a:t>
            </a:r>
            <a:endParaRPr lang="en-US" sz="1050" b="0" i="0" kern="0" spc="50" dirty="0">
              <a:solidFill>
                <a:srgbClr val="022AC0">
                  <a:alpha val="85000"/>
                </a:srgbClr>
              </a:solidFill>
              <a:latin typeface="IBM Plex Mono"/>
              <a:ea typeface="IBM Plex Mono"/>
              <a:cs typeface="IBM Plex Mono"/>
            </a:endParaRPr>
          </a:p>
        </p:txBody>
      </p:sp>
      <p:sp>
        <p:nvSpPr>
          <p:cNvPr id="1029" name="19 · tag: CONTROLLED ARGUMENTS [p19-text-0028]" descr="Native editable Unicode text; authored line breaks retained."/>
          <p:cNvSpPr txBox="1"/>
          <p:nvPr/>
        </p:nvSpPr>
        <p:spPr>
          <a:xfrm>
            <a:off x="5426456" y="4981361"/>
            <a:ext cx="5997194"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CONTROLLED ARGUMENTS</a:t>
            </a:r>
            <a:endParaRPr lang="en-US" sz="1050" b="0" i="0" kern="0" spc="50" dirty="0">
              <a:solidFill>
                <a:srgbClr val="022AC0">
                  <a:alpha val="85000"/>
                </a:srgbClr>
              </a:solidFill>
              <a:latin typeface="IBM Plex Mono"/>
              <a:ea typeface="IBM Plex Mono"/>
              <a:cs typeface="IBM Plex Mono"/>
            </a:endParaRPr>
          </a:p>
        </p:txBody>
      </p:sp>
      <p:grpSp>
        <p:nvGrpSpPr>
          <p:cNvPr id="1043" name="19 · source-line: AgentScript control plane · AgentScript specification"/>
          <p:cNvGrpSpPr/>
          <p:nvPr/>
        </p:nvGrpSpPr>
        <p:grpSpPr>
          <a:xfrm>
            <a:off x="558800" y="6037898"/>
            <a:ext cx="11087100" cy="284456"/>
            <a:chOff x="558800" y="6037898"/>
            <a:chExt cx="11087100" cy="284456"/>
          </a:xfrm>
        </p:grpSpPr>
        <p:sp>
          <p:nvSpPr>
            <p:cNvPr id="1030" name="19 · source-line · top border [p19-e003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1" name="19 · span: AgentScript control plane · AgentScript specification [p19-text-0029]" descr="Native editable Unicode text; authored line breaks retained."/>
            <p:cNvSpPr txBox="1"/>
            <p:nvPr/>
          </p:nvSpPr>
          <p:spPr>
            <a:xfrm>
              <a:off x="558800" y="6153126"/>
              <a:ext cx="291775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specification"/>
                </a:rPr>
                <a:t>AgentScript specification</a:t>
              </a:r>
              <a:endParaRPr lang="en-US" sz="950" b="0" i="0" kern="0" spc="0" dirty="0" u="sng">
                <a:solidFill>
                  <a:srgbClr val="315A7A"/>
                </a:solidFill>
                <a:latin typeface="Salesforce Sans"/>
                <a:ea typeface="Salesforce Sans"/>
                <a:cs typeface="Salesforce Sans"/>
              </a:endParaRPr>
            </a:p>
          </p:txBody>
        </p:sp>
        <p:sp>
          <p:nvSpPr>
            <p:cNvPr id="1032" name="19 · span: Verified constructs; no executable koa-action adapter [p19-text-0030]" descr="Native editable Unicode text; authored line breaks retained."/>
            <p:cNvSpPr txBox="1"/>
            <p:nvPr/>
          </p:nvSpPr>
          <p:spPr>
            <a:xfrm>
              <a:off x="8652867" y="6153126"/>
              <a:ext cx="299303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Verified constructs; no executable koa-action adapter</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Authorize the exchange, then resume the cable return">
    <p:bg>
      <p:bgPr>
        <a:solidFill>
          <a:srgbClr val="FFFFFF"/>
        </a:solidFill>
      </p:bgPr>
    </p:bg>
    <p:spTree>
      <p:nvGrpSpPr>
        <p:cNvPr id="1" name=""/>
        <p:cNvGrpSpPr/>
        <p:nvPr/>
      </p:nvGrpSpPr>
      <p:grpSpPr>
        <a:xfrm>
          <a:off x="0" y="0"/>
          <a:ext cx="0" cy="0"/>
          <a:chOff x="0" y="0"/>
          <a:chExt cx="0" cy="0"/>
        </a:xfrm>
      </p:grpSpPr>
      <p:sp>
        <p:nvSpPr>
          <p:cNvPr id="1000" name="20 · slide light · surface [p20-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5" name="20 · chrome-min: DISAGGREGATED INTELLIGENCE"/>
          <p:cNvGrpSpPr/>
          <p:nvPr/>
        </p:nvGrpSpPr>
        <p:grpSpPr>
          <a:xfrm>
            <a:off x="558800" y="356053"/>
            <a:ext cx="11087100" cy="187325"/>
            <a:chOff x="558800" y="356053"/>
            <a:chExt cx="11087100" cy="187325"/>
          </a:xfrm>
        </p:grpSpPr>
        <p:sp>
          <p:nvSpPr>
            <p:cNvPr id="1001" name="20 · l: DISAGGREGATED INTELLIGENCE [p20-text-001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0 · r: 20 / 36 [p20-text-001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20 / 36</a:t>
              </a:r>
              <a:endParaRPr lang="en-US" sz="950" b="1" i="0" kern="0" spc="65" dirty="0">
                <a:solidFill>
                  <a:srgbClr val="022AC0"/>
                </a:solidFill>
                <a:latin typeface="Salesforce Sans"/>
                <a:ea typeface="Salesforce Sans"/>
                <a:cs typeface="Salesforce Sans"/>
              </a:endParaRPr>
            </a:p>
          </p:txBody>
        </p:sp>
      </p:grpSp>
      <p:grpSp>
        <p:nvGrpSpPr>
          <p:cNvPr id="1056" name="20 · deck-head: 05 / STEP 5"/>
          <p:cNvGrpSpPr/>
          <p:nvPr/>
        </p:nvGrpSpPr>
        <p:grpSpPr>
          <a:xfrm>
            <a:off x="558800" y="775901"/>
            <a:ext cx="11087100" cy="805579"/>
            <a:chOff x="558800" y="775901"/>
            <a:chExt cx="11087100" cy="805579"/>
          </a:xfrm>
        </p:grpSpPr>
        <p:sp>
          <p:nvSpPr>
            <p:cNvPr id="1003" name="20 · trace-eyebrow: 05 / STEP 5 [p20-text-001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STEP 5</a:t>
              </a:r>
              <a:endParaRPr lang="en-US" sz="1050" b="1" i="0" kern="0" spc="68" dirty="0">
                <a:solidFill>
                  <a:srgbClr val="022AC0"/>
                </a:solidFill>
                <a:latin typeface="Salesforce Sans"/>
                <a:ea typeface="Salesforce Sans"/>
                <a:cs typeface="Salesforce Sans"/>
              </a:endParaRPr>
            </a:p>
          </p:txBody>
        </p:sp>
        <p:sp>
          <p:nvSpPr>
            <p:cNvPr id="1004" name="20 · trace-title: Authorize the exchange, then resume the cable return [p20-text-0020]" descr="Native editable Unicode text; authored line breaks retained."/>
            <p:cNvSpPr txBox="1"/>
            <p:nvPr/>
          </p:nvSpPr>
          <p:spPr>
            <a:xfrm>
              <a:off x="558800" y="1019988"/>
              <a:ext cx="10998200" cy="56149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04"/>
                </a:lnSpc>
                <a:spcBef>
                  <a:spcPts val="0"/>
                </a:spcBef>
                <a:spcAft>
                  <a:spcPts val="0"/>
                </a:spcAft>
                <a:buNone/>
              </a:pPr>
              <a:r>
                <a:rPr lang="en-US" sz="3200" b="1" i="0" kern="0" spc="-85" dirty="0">
                  <a:solidFill>
                    <a:srgbClr val="022AC0"/>
                  </a:solidFill>
                  <a:latin typeface="Manrope"/>
                  <a:ea typeface="Manrope"/>
                  <a:cs typeface="Manrope"/>
                </a:rPr>
                <a:t>Authorize the exchange, then resume the cable return</a:t>
              </a:r>
              <a:endParaRPr lang="en-US" sz="3200" b="1" i="0" kern="0" spc="-85" dirty="0">
                <a:solidFill>
                  <a:srgbClr val="022AC0"/>
                </a:solidFill>
                <a:latin typeface="Manrope"/>
                <a:ea typeface="Manrope"/>
                <a:cs typeface="Manrope"/>
              </a:endParaRPr>
            </a:p>
          </p:txBody>
        </p:sp>
      </p:grpSp>
      <p:sp>
        <p:nvSpPr>
          <p:cNvPr id="1005" name="20 · trace-event-line · surface [p20-e0008]"/>
          <p:cNvSpPr/>
          <p:nvPr/>
        </p:nvSpPr>
        <p:spPr>
          <a:xfrm>
            <a:off x="558800" y="3390900"/>
            <a:ext cx="11074400" cy="459740"/>
          </a:xfrm>
          <a:prstGeom prst="roundRect">
            <a:avLst>
              <a:gd name="adj" fmla="val 19337"/>
            </a:avLst>
          </a:prstGeom>
          <a:solidFill>
            <a:srgbClr val="FBF0CF"/>
          </a:solidFill>
          <a:ln>
            <a:noFill/>
          </a:ln>
        </p:spPr>
      </p:sp>
      <p:grpSp>
        <p:nvGrpSpPr>
          <p:cNvPr id="1057" name="20 · card mint: "/>
          <p:cNvGrpSpPr/>
          <p:nvPr/>
        </p:nvGrpSpPr>
        <p:grpSpPr>
          <a:xfrm>
            <a:off x="558800" y="3977640"/>
            <a:ext cx="5448300" cy="1484503"/>
            <a:chOff x="558800" y="3977640"/>
            <a:chExt cx="5448300" cy="1484503"/>
          </a:xfrm>
        </p:grpSpPr>
        <p:sp>
          <p:nvSpPr>
            <p:cNvPr id="1006" name="20 · card mint · surface [p20-e0009]"/>
            <p:cNvSpPr/>
            <p:nvPr/>
          </p:nvSpPr>
          <p:spPr>
            <a:xfrm>
              <a:off x="558800" y="3977640"/>
              <a:ext cx="5448300" cy="1484503"/>
            </a:xfrm>
            <a:prstGeom prst="roundRect">
              <a:avLst>
                <a:gd name="adj" fmla="val 9411"/>
              </a:avLst>
            </a:prstGeom>
            <a:solidFill>
              <a:srgbClr val="DDF3ED"/>
            </a:solidFill>
            <a:ln>
              <a:noFill/>
            </a:ln>
          </p:spPr>
        </p:sp>
        <p:sp>
          <p:nvSpPr>
            <p:cNvPr id="1007" name="20 · card mint · outline [p20-e0009]"/>
            <p:cNvSpPr/>
            <p:nvPr/>
          </p:nvSpPr>
          <p:spPr>
            <a:xfrm>
              <a:off x="561975" y="3980815"/>
              <a:ext cx="5441950" cy="1478153"/>
            </a:xfrm>
            <a:prstGeom prst="roundRect">
              <a:avLst>
                <a:gd name="adj" fmla="val 9236"/>
              </a:avLst>
            </a:prstGeom>
            <a:noFill/>
            <a:ln w="6350" algn="ctr">
              <a:solidFill>
                <a:srgbClr val="FFFFFF">
                  <a:alpha val="85098"/>
                </a:srgbClr>
              </a:solidFill>
              <a:prstDash val="solid"/>
            </a:ln>
          </p:spPr>
        </p:sp>
      </p:grpSp>
      <p:grpSp>
        <p:nvGrpSpPr>
          <p:cNvPr id="1058" name="20 · card blue: "/>
          <p:cNvGrpSpPr/>
          <p:nvPr/>
        </p:nvGrpSpPr>
        <p:grpSpPr>
          <a:xfrm>
            <a:off x="6184900" y="3977640"/>
            <a:ext cx="5448300" cy="1484503"/>
            <a:chOff x="6184900" y="3977640"/>
            <a:chExt cx="5448300" cy="1484503"/>
          </a:xfrm>
        </p:grpSpPr>
        <p:sp>
          <p:nvSpPr>
            <p:cNvPr id="1008" name="20 · card blue · surface [p20-e0010]"/>
            <p:cNvSpPr/>
            <p:nvPr/>
          </p:nvSpPr>
          <p:spPr>
            <a:xfrm>
              <a:off x="6184900" y="3977640"/>
              <a:ext cx="5448300" cy="1484503"/>
            </a:xfrm>
            <a:prstGeom prst="roundRect">
              <a:avLst>
                <a:gd name="adj" fmla="val 9411"/>
              </a:avLst>
            </a:prstGeom>
            <a:solidFill>
              <a:srgbClr val="DCEEFE"/>
            </a:solidFill>
            <a:ln>
              <a:noFill/>
            </a:ln>
          </p:spPr>
        </p:sp>
        <p:sp>
          <p:nvSpPr>
            <p:cNvPr id="1009" name="20 · card blue · outline [p20-e0010]"/>
            <p:cNvSpPr/>
            <p:nvPr/>
          </p:nvSpPr>
          <p:spPr>
            <a:xfrm>
              <a:off x="6188075" y="3980815"/>
              <a:ext cx="5441950" cy="1478153"/>
            </a:xfrm>
            <a:prstGeom prst="roundRect">
              <a:avLst>
                <a:gd name="adj" fmla="val 9236"/>
              </a:avLst>
            </a:prstGeom>
            <a:noFill/>
            <a:ln w="6350" algn="ctr">
              <a:solidFill>
                <a:srgbClr val="FFFFFF">
                  <a:alpha val="85098"/>
                </a:srgbClr>
              </a:solidFill>
              <a:prstDash val="solid"/>
            </a:ln>
          </p:spPr>
        </p:sp>
      </p:grpSp>
      <p:sp>
        <p:nvSpPr>
          <p:cNvPr id="1010" name="20 · trace-event-line: Agent Graph resumes the cable return. Its policy, confirmation, and authorizat [p20-text-0021]" descr="Native editable Unicode text; authored line breaks retained."/>
          <p:cNvSpPr txBox="1"/>
          <p:nvPr/>
        </p:nvSpPr>
        <p:spPr>
          <a:xfrm>
            <a:off x="723900" y="3506799"/>
            <a:ext cx="10756900" cy="2374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Agent Graph resumes the cable return. Its policy, confirmation, and authorization are unfinished.</a:t>
            </a:r>
            <a:endParaRPr lang="en-US" sz="1400" b="0" i="0" kern="0" spc="0" dirty="0">
              <a:solidFill>
                <a:srgbClr val="032D60"/>
              </a:solidFill>
              <a:latin typeface="Salesforce Sans"/>
              <a:ea typeface="Salesforce Sans"/>
              <a:cs typeface="Salesforce Sans"/>
            </a:endParaRPr>
          </a:p>
        </p:txBody>
      </p:sp>
      <p:grpSp>
        <p:nvGrpSpPr>
          <p:cNvPr id="1059" name="20 · card mint: Authorized"/>
          <p:cNvGrpSpPr/>
          <p:nvPr/>
        </p:nvGrpSpPr>
        <p:grpSpPr>
          <a:xfrm>
            <a:off x="755650" y="4447236"/>
            <a:ext cx="5067300" cy="873461"/>
            <a:chOff x="755650" y="4447236"/>
            <a:chExt cx="5067300" cy="873461"/>
          </a:xfrm>
        </p:grpSpPr>
        <p:sp>
          <p:nvSpPr>
            <p:cNvPr id="1011" name="20 · h3: Authorized [p20-text-0022]" descr="Native editable Unicode text; authored line breaks retained."/>
            <p:cNvSpPr txBox="1"/>
            <p:nvPr/>
          </p:nvSpPr>
          <p:spPr>
            <a:xfrm>
              <a:off x="755650" y="4447236"/>
              <a:ext cx="5067300" cy="31861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24"/>
                </a:lnSpc>
                <a:spcBef>
                  <a:spcPts val="0"/>
                </a:spcBef>
                <a:spcAft>
                  <a:spcPts val="0"/>
                </a:spcAft>
                <a:buNone/>
              </a:pPr>
              <a:r>
                <a:rPr lang="en-US" sz="1800" b="1" i="0" kern="0" spc="-38" dirty="0">
                  <a:solidFill>
                    <a:srgbClr val="022AC0"/>
                  </a:solidFill>
                  <a:latin typeface="Manrope"/>
                  <a:ea typeface="Manrope"/>
                  <a:cs typeface="Manrope"/>
                </a:rPr>
                <a:t>Authorized</a:t>
              </a:r>
              <a:endParaRPr lang="en-US" sz="1800" b="1" i="0" kern="0" spc="-38" dirty="0">
                <a:solidFill>
                  <a:srgbClr val="022AC0"/>
                </a:solidFill>
                <a:latin typeface="Manrope"/>
                <a:ea typeface="Manrope"/>
                <a:cs typeface="Manrope"/>
              </a:endParaRPr>
            </a:p>
          </p:txBody>
        </p:sp>
        <p:sp>
          <p:nvSpPr>
            <p:cNvPr id="1012" name="20 · trace-text-17: Confirmation precedes a recheck and the service-issued exchange ID. [p20-text-0023]" descr="Native editable Unicode text; authored line breaks retained."/>
            <p:cNvSpPr txBox="1"/>
            <p:nvPr/>
          </p:nvSpPr>
          <p:spPr>
            <a:xfrm>
              <a:off x="755650" y="4863497"/>
              <a:ext cx="5067300"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Confirmation precedes a recheck</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and the service-issued exchange ID.</a:t>
              </a:r>
              <a:endParaRPr lang="en-US" sz="1250" b="0" i="0" kern="0" spc="0" dirty="0">
                <a:solidFill>
                  <a:srgbClr val="032D60"/>
                </a:solidFill>
                <a:latin typeface="Salesforce Sans"/>
                <a:ea typeface="Salesforce Sans"/>
                <a:cs typeface="Salesforce Sans"/>
              </a:endParaRPr>
            </a:p>
          </p:txBody>
        </p:sp>
      </p:grpSp>
      <p:grpSp>
        <p:nvGrpSpPr>
          <p:cNvPr id="1060" name="20 · card blue: Active"/>
          <p:cNvGrpSpPr/>
          <p:nvPr/>
        </p:nvGrpSpPr>
        <p:grpSpPr>
          <a:xfrm>
            <a:off x="6381750" y="4447236"/>
            <a:ext cx="5067300" cy="873461"/>
            <a:chOff x="6381750" y="4447236"/>
            <a:chExt cx="5067300" cy="873461"/>
          </a:xfrm>
        </p:grpSpPr>
        <p:sp>
          <p:nvSpPr>
            <p:cNvPr id="1013" name="20 · h3: Active [p20-text-0024]" descr="Native editable Unicode text; authored line breaks retained."/>
            <p:cNvSpPr txBox="1"/>
            <p:nvPr/>
          </p:nvSpPr>
          <p:spPr>
            <a:xfrm>
              <a:off x="6381750" y="4447236"/>
              <a:ext cx="5067300" cy="31861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24"/>
                </a:lnSpc>
                <a:spcBef>
                  <a:spcPts val="0"/>
                </a:spcBef>
                <a:spcAft>
                  <a:spcPts val="0"/>
                </a:spcAft>
                <a:buNone/>
              </a:pPr>
              <a:r>
                <a:rPr lang="en-US" sz="1800" b="1" i="0" kern="0" spc="-38" dirty="0">
                  <a:solidFill>
                    <a:srgbClr val="022AC0"/>
                  </a:solidFill>
                  <a:latin typeface="Manrope"/>
                  <a:ea typeface="Manrope"/>
                  <a:cs typeface="Manrope"/>
                </a:rPr>
                <a:t>Active</a:t>
              </a:r>
              <a:endParaRPr lang="en-US" sz="1800" b="1" i="0" kern="0" spc="-38" dirty="0">
                <a:solidFill>
                  <a:srgbClr val="022AC0"/>
                </a:solidFill>
                <a:latin typeface="Manrope"/>
                <a:ea typeface="Manrope"/>
                <a:cs typeface="Manrope"/>
              </a:endParaRPr>
            </a:p>
          </p:txBody>
        </p:sp>
        <p:sp>
          <p:nvSpPr>
            <p:cNvPr id="1014" name="20 · trace-text-18: A separately purchased item. Still unfinished when this trace ends. [p20-text-0025]" descr="Native editable Unicode text; authored line breaks retained."/>
            <p:cNvSpPr txBox="1"/>
            <p:nvPr/>
          </p:nvSpPr>
          <p:spPr>
            <a:xfrm>
              <a:off x="6381750" y="4863497"/>
              <a:ext cx="5067300" cy="4572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A separately purchased item.</a:t>
              </a:r>
              <a:endParaRPr lang="en-US" sz="1250" b="0" i="0" kern="0" spc="0" dirty="0">
                <a:solidFill>
                  <a:srgbClr val="032D60"/>
                </a:solidFill>
                <a:latin typeface="Salesforce Sans"/>
                <a:ea typeface="Salesforce Sans"/>
                <a:cs typeface="Salesforce Sans"/>
              </a:endParaRPr>
            </a:p>
            <a:p>
              <a:pPr marL="0" marR="0" indent="0" algn="l" fontAlgn="base">
                <a:lnSpc>
                  <a:spcPts val="1775"/>
                </a:lnSpc>
                <a:spcBef>
                  <a:spcPts val="0"/>
                </a:spcBef>
                <a:spcAft>
                  <a:spcPts val="0"/>
                </a:spcAft>
                <a:buNone/>
              </a:pPr>
              <a:r>
                <a:rPr lang="en-US" sz="1250" b="0" i="0" kern="0" spc="0" dirty="0">
                  <a:solidFill>
                    <a:srgbClr val="032D60"/>
                  </a:solidFill>
                  <a:latin typeface="Salesforce Sans"/>
                  <a:ea typeface="Salesforce Sans"/>
                  <a:cs typeface="Salesforce Sans"/>
                </a:rPr>
                <a:t>Still unfinished when this trace ends.</a:t>
              </a:r>
              <a:endParaRPr lang="en-US" sz="1250" b="0" i="0" kern="0" spc="0" dirty="0">
                <a:solidFill>
                  <a:srgbClr val="032D60"/>
                </a:solidFill>
                <a:latin typeface="Salesforce Sans"/>
                <a:ea typeface="Salesforce Sans"/>
                <a:cs typeface="Salesforce Sans"/>
              </a:endParaRPr>
            </a:p>
          </p:txBody>
        </p:sp>
      </p:grpSp>
      <p:sp>
        <p:nvSpPr>
          <p:cNvPr id="1015" name="20 · small: Event 8 of 8 [p20-text-0026]" descr="Native editable Unicode text; authored line breaks retained."/>
          <p:cNvSpPr txBox="1"/>
          <p:nvPr/>
        </p:nvSpPr>
        <p:spPr>
          <a:xfrm>
            <a:off x="558800" y="5665979"/>
            <a:ext cx="886302" cy="23653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Event 8 of 8</a:t>
            </a:r>
            <a:endParaRPr lang="en-US" sz="1250" b="0" i="0" kern="0" spc="0" dirty="0">
              <a:solidFill>
                <a:srgbClr val="032D60"/>
              </a:solidFill>
              <a:latin typeface="Salesforce Sans"/>
              <a:ea typeface="Salesforce Sans"/>
              <a:cs typeface="Salesforce Sans"/>
            </a:endParaRPr>
          </a:p>
        </p:txBody>
      </p:sp>
      <p:sp>
        <p:nvSpPr>
          <p:cNvPr id="1016" name="20 · timeline-h trace-eight · surface [p20-e0019]"/>
          <p:cNvSpPr/>
          <p:nvPr/>
        </p:nvSpPr>
        <p:spPr>
          <a:xfrm>
            <a:off x="1066800" y="2127250"/>
            <a:ext cx="10058400" cy="12700"/>
          </a:xfrm>
          <a:prstGeom prst="rect">
            <a:avLst/>
          </a:prstGeom>
          <a:solidFill>
            <a:srgbClr val="6EABC9">
              <a:alpha val="35000"/>
            </a:srgbClr>
          </a:solidFill>
          <a:ln>
            <a:noFill/>
          </a:ln>
        </p:spPr>
      </p:sp>
      <p:grpSp>
        <p:nvGrpSpPr>
          <p:cNvPr id="1061" name="20 · tl-h-node trace-step done: Verify identity"/>
          <p:cNvGrpSpPr/>
          <p:nvPr/>
        </p:nvGrpSpPr>
        <p:grpSpPr>
          <a:xfrm>
            <a:off x="558800" y="2104708"/>
            <a:ext cx="1308100" cy="1026274"/>
            <a:chOff x="558800" y="2104708"/>
            <a:chExt cx="1308100" cy="1026274"/>
          </a:xfrm>
        </p:grpSpPr>
        <p:sp>
          <p:nvSpPr>
            <p:cNvPr id="1017" name="20 · trace-text-1: Verify identity [p20-text-0027]" descr="Native editable Unicode text; authored line breaks retained."/>
            <p:cNvSpPr txBox="1"/>
            <p:nvPr/>
          </p:nvSpPr>
          <p:spPr>
            <a:xfrm>
              <a:off x="558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Verify identity</a:t>
              </a:r>
              <a:endParaRPr lang="en-US" sz="1350" b="1" i="0" kern="0" spc="-35" dirty="0">
                <a:solidFill>
                  <a:srgbClr val="022AC0">
                    <a:alpha val="78000"/>
                  </a:srgbClr>
                </a:solidFill>
                <a:latin typeface="Manrope"/>
                <a:ea typeface="Manrope"/>
                <a:cs typeface="Manrope"/>
              </a:endParaRPr>
            </a:p>
          </p:txBody>
        </p:sp>
        <p:sp>
          <p:nvSpPr>
            <p:cNvPr id="1018" name="20 · trace-text-2: Service [p20-text-0028]" descr="Native editable Unicode text; authored line breaks retained."/>
            <p:cNvSpPr txBox="1"/>
            <p:nvPr/>
          </p:nvSpPr>
          <p:spPr>
            <a:xfrm>
              <a:off x="558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19" name="20 · num · surface [p20-e0022]"/>
            <p:cNvSpPr/>
            <p:nvPr/>
          </p:nvSpPr>
          <p:spPr>
            <a:xfrm>
              <a:off x="558800" y="2104708"/>
              <a:ext cx="330200" cy="330200"/>
            </a:xfrm>
            <a:prstGeom prst="ellipse">
              <a:avLst/>
            </a:prstGeom>
            <a:solidFill>
              <a:srgbClr val="022AC0">
                <a:alpha val="78000"/>
              </a:srgbClr>
            </a:solidFill>
            <a:ln>
              <a:noFill/>
            </a:ln>
          </p:spPr>
        </p:sp>
        <p:sp>
          <p:nvSpPr>
            <p:cNvPr id="1020" name="20 · num: 1 [p20-text-0029]" descr="Native editable Unicode text; authored line breaks retained."/>
            <p:cNvSpPr txBox="1"/>
            <p:nvPr/>
          </p:nvSpPr>
          <p:spPr>
            <a:xfrm>
              <a:off x="558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1</a:t>
              </a:r>
              <a:endParaRPr lang="en-US" sz="1100" b="0" i="0" kern="0" spc="0" dirty="0">
                <a:solidFill>
                  <a:srgbClr val="FFFFFF">
                    <a:alpha val="78000"/>
                  </a:srgbClr>
                </a:solidFill>
                <a:latin typeface="IBM Plex Mono"/>
                <a:ea typeface="IBM Plex Mono"/>
                <a:cs typeface="IBM Plex Mono"/>
              </a:endParaRPr>
            </a:p>
          </p:txBody>
        </p:sp>
      </p:grpSp>
      <p:grpSp>
        <p:nvGrpSpPr>
          <p:cNvPr id="1062" name="20 · tl-h-node trace-step done: Match purchase"/>
          <p:cNvGrpSpPr/>
          <p:nvPr/>
        </p:nvGrpSpPr>
        <p:grpSpPr>
          <a:xfrm>
            <a:off x="1955800" y="2104708"/>
            <a:ext cx="1308100" cy="1026274"/>
            <a:chOff x="1955800" y="2104708"/>
            <a:chExt cx="1308100" cy="1026274"/>
          </a:xfrm>
        </p:grpSpPr>
        <p:sp>
          <p:nvSpPr>
            <p:cNvPr id="1021" name="20 · trace-text-3: Match purchase [p20-text-0030]" descr="Native editable Unicode text; authored line breaks retained."/>
            <p:cNvSpPr txBox="1"/>
            <p:nvPr/>
          </p:nvSpPr>
          <p:spPr>
            <a:xfrm>
              <a:off x="1955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Match purchase</a:t>
              </a:r>
              <a:endParaRPr lang="en-US" sz="1350" b="1" i="0" kern="0" spc="-35" dirty="0">
                <a:solidFill>
                  <a:srgbClr val="022AC0">
                    <a:alpha val="78000"/>
                  </a:srgbClr>
                </a:solidFill>
                <a:latin typeface="Manrope"/>
                <a:ea typeface="Manrope"/>
                <a:cs typeface="Manrope"/>
              </a:endParaRPr>
            </a:p>
          </p:txBody>
        </p:sp>
        <p:sp>
          <p:nvSpPr>
            <p:cNvPr id="1022" name="20 · trace-text-4: Service [p20-text-0031]" descr="Native editable Unicode text; authored line breaks retained."/>
            <p:cNvSpPr txBox="1"/>
            <p:nvPr/>
          </p:nvSpPr>
          <p:spPr>
            <a:xfrm>
              <a:off x="1955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23" name="20 · num · surface [p20-e0026]"/>
            <p:cNvSpPr/>
            <p:nvPr/>
          </p:nvSpPr>
          <p:spPr>
            <a:xfrm>
              <a:off x="1955800" y="2104708"/>
              <a:ext cx="330200" cy="330200"/>
            </a:xfrm>
            <a:prstGeom prst="ellipse">
              <a:avLst/>
            </a:prstGeom>
            <a:solidFill>
              <a:srgbClr val="022AC0">
                <a:alpha val="78000"/>
              </a:srgbClr>
            </a:solidFill>
            <a:ln>
              <a:noFill/>
            </a:ln>
          </p:spPr>
        </p:sp>
        <p:sp>
          <p:nvSpPr>
            <p:cNvPr id="1024" name="20 · num: 2 [p20-text-0032]" descr="Native editable Unicode text; authored line breaks retained."/>
            <p:cNvSpPr txBox="1"/>
            <p:nvPr/>
          </p:nvSpPr>
          <p:spPr>
            <a:xfrm>
              <a:off x="1955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2</a:t>
              </a:r>
              <a:endParaRPr lang="en-US" sz="1100" b="0" i="0" kern="0" spc="0" dirty="0">
                <a:solidFill>
                  <a:srgbClr val="FFFFFF">
                    <a:alpha val="78000"/>
                  </a:srgbClr>
                </a:solidFill>
                <a:latin typeface="IBM Plex Mono"/>
                <a:ea typeface="IBM Plex Mono"/>
                <a:cs typeface="IBM Plex Mono"/>
              </a:endParaRPr>
            </a:p>
          </p:txBody>
        </p:sp>
      </p:grpSp>
      <p:grpSp>
        <p:nvGrpSpPr>
          <p:cNvPr id="1063" name="20 · tl-h-node trace-step done: Interpret"/>
          <p:cNvGrpSpPr/>
          <p:nvPr/>
        </p:nvGrpSpPr>
        <p:grpSpPr>
          <a:xfrm>
            <a:off x="3352800" y="2104708"/>
            <a:ext cx="1308100" cy="1026274"/>
            <a:chOff x="3352800" y="2104708"/>
            <a:chExt cx="1308100" cy="1026274"/>
          </a:xfrm>
        </p:grpSpPr>
        <p:sp>
          <p:nvSpPr>
            <p:cNvPr id="1025" name="20 · trace-text-5: Interpret [p20-text-0033]" descr="Native editable Unicode text; authored line breaks retained."/>
            <p:cNvSpPr txBox="1"/>
            <p:nvPr/>
          </p:nvSpPr>
          <p:spPr>
            <a:xfrm>
              <a:off x="3352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Interpret</a:t>
              </a:r>
              <a:endParaRPr lang="en-US" sz="1350" b="1" i="0" kern="0" spc="-35" dirty="0">
                <a:solidFill>
                  <a:srgbClr val="022AC0">
                    <a:alpha val="78000"/>
                  </a:srgbClr>
                </a:solidFill>
                <a:latin typeface="Manrope"/>
                <a:ea typeface="Manrope"/>
                <a:cs typeface="Manrope"/>
              </a:endParaRPr>
            </a:p>
          </p:txBody>
        </p:sp>
        <p:sp>
          <p:nvSpPr>
            <p:cNvPr id="1026" name="20 · trace-text-6: System One [p20-text-0034]" descr="Native editable Unicode text; authored line breaks retained."/>
            <p:cNvSpPr txBox="1"/>
            <p:nvPr/>
          </p:nvSpPr>
          <p:spPr>
            <a:xfrm>
              <a:off x="3352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System One</a:t>
              </a:r>
              <a:endParaRPr lang="en-US" sz="1100" b="0" i="0" kern="0" spc="0" dirty="0">
                <a:solidFill>
                  <a:srgbClr val="032D60">
                    <a:alpha val="78000"/>
                  </a:srgbClr>
                </a:solidFill>
                <a:latin typeface="Salesforce Sans"/>
                <a:ea typeface="Salesforce Sans"/>
                <a:cs typeface="Salesforce Sans"/>
              </a:endParaRPr>
            </a:p>
          </p:txBody>
        </p:sp>
        <p:sp>
          <p:nvSpPr>
            <p:cNvPr id="1027" name="20 · num · surface [p20-e0030]"/>
            <p:cNvSpPr/>
            <p:nvPr/>
          </p:nvSpPr>
          <p:spPr>
            <a:xfrm>
              <a:off x="3352800" y="2104708"/>
              <a:ext cx="330200" cy="330200"/>
            </a:xfrm>
            <a:prstGeom prst="ellipse">
              <a:avLst/>
            </a:prstGeom>
            <a:solidFill>
              <a:srgbClr val="022AC0">
                <a:alpha val="78000"/>
              </a:srgbClr>
            </a:solidFill>
            <a:ln>
              <a:noFill/>
            </a:ln>
          </p:spPr>
        </p:sp>
        <p:sp>
          <p:nvSpPr>
            <p:cNvPr id="1028" name="20 · num: 3 [p20-text-0035]" descr="Native editable Unicode text; authored line breaks retained."/>
            <p:cNvSpPr txBox="1"/>
            <p:nvPr/>
          </p:nvSpPr>
          <p:spPr>
            <a:xfrm>
              <a:off x="3352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3</a:t>
              </a:r>
              <a:endParaRPr lang="en-US" sz="1100" b="0" i="0" kern="0" spc="0" dirty="0">
                <a:solidFill>
                  <a:srgbClr val="FFFFFF">
                    <a:alpha val="78000"/>
                  </a:srgbClr>
                </a:solidFill>
                <a:latin typeface="IBM Plex Mono"/>
                <a:ea typeface="IBM Plex Mono"/>
                <a:cs typeface="IBM Plex Mono"/>
              </a:endParaRPr>
            </a:p>
          </p:txBody>
        </p:sp>
      </p:grpSp>
      <p:grpSp>
        <p:nvGrpSpPr>
          <p:cNvPr id="1064" name="20 · tl-h-node trace-step done: Prioritize"/>
          <p:cNvGrpSpPr/>
          <p:nvPr/>
        </p:nvGrpSpPr>
        <p:grpSpPr>
          <a:xfrm>
            <a:off x="4749800" y="2104708"/>
            <a:ext cx="1308100" cy="1026274"/>
            <a:chOff x="4749800" y="2104708"/>
            <a:chExt cx="1308100" cy="1026274"/>
          </a:xfrm>
        </p:grpSpPr>
        <p:sp>
          <p:nvSpPr>
            <p:cNvPr id="1029" name="20 · trace-text-7: Prioritize [p20-text-0036]" descr="Native editable Unicode text; authored line breaks retained."/>
            <p:cNvSpPr txBox="1"/>
            <p:nvPr/>
          </p:nvSpPr>
          <p:spPr>
            <a:xfrm>
              <a:off x="4749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Prioritize</a:t>
              </a:r>
              <a:endParaRPr lang="en-US" sz="1350" b="1" i="0" kern="0" spc="-35" dirty="0">
                <a:solidFill>
                  <a:srgbClr val="022AC0">
                    <a:alpha val="78000"/>
                  </a:srgbClr>
                </a:solidFill>
                <a:latin typeface="Manrope"/>
                <a:ea typeface="Manrope"/>
                <a:cs typeface="Manrope"/>
              </a:endParaRPr>
            </a:p>
          </p:txBody>
        </p:sp>
        <p:sp>
          <p:nvSpPr>
            <p:cNvPr id="1030" name="20 · trace-text-8: Customer [p20-text-0037]" descr="Native editable Unicode text; authored line breaks retained."/>
            <p:cNvSpPr txBox="1"/>
            <p:nvPr/>
          </p:nvSpPr>
          <p:spPr>
            <a:xfrm>
              <a:off x="4749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Customer</a:t>
              </a:r>
              <a:endParaRPr lang="en-US" sz="1100" b="0" i="0" kern="0" spc="0" dirty="0">
                <a:solidFill>
                  <a:srgbClr val="032D60">
                    <a:alpha val="78000"/>
                  </a:srgbClr>
                </a:solidFill>
                <a:latin typeface="Salesforce Sans"/>
                <a:ea typeface="Salesforce Sans"/>
                <a:cs typeface="Salesforce Sans"/>
              </a:endParaRPr>
            </a:p>
          </p:txBody>
        </p:sp>
        <p:sp>
          <p:nvSpPr>
            <p:cNvPr id="1031" name="20 · num · surface [p20-e0034]"/>
            <p:cNvSpPr/>
            <p:nvPr/>
          </p:nvSpPr>
          <p:spPr>
            <a:xfrm>
              <a:off x="4749800" y="2104708"/>
              <a:ext cx="330200" cy="330200"/>
            </a:xfrm>
            <a:prstGeom prst="ellipse">
              <a:avLst/>
            </a:prstGeom>
            <a:solidFill>
              <a:srgbClr val="022AC0">
                <a:alpha val="78000"/>
              </a:srgbClr>
            </a:solidFill>
            <a:ln>
              <a:noFill/>
            </a:ln>
          </p:spPr>
        </p:sp>
        <p:sp>
          <p:nvSpPr>
            <p:cNvPr id="1032" name="20 · num: 4 [p20-text-0038]" descr="Native editable Unicode text; authored line breaks retained."/>
            <p:cNvSpPr txBox="1"/>
            <p:nvPr/>
          </p:nvSpPr>
          <p:spPr>
            <a:xfrm>
              <a:off x="4749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4</a:t>
              </a:r>
              <a:endParaRPr lang="en-US" sz="1100" b="0" i="0" kern="0" spc="0" dirty="0">
                <a:solidFill>
                  <a:srgbClr val="FFFFFF">
                    <a:alpha val="78000"/>
                  </a:srgbClr>
                </a:solidFill>
                <a:latin typeface="IBM Plex Mono"/>
                <a:ea typeface="IBM Plex Mono"/>
                <a:cs typeface="IBM Plex Mono"/>
              </a:endParaRPr>
            </a:p>
          </p:txBody>
        </p:sp>
      </p:grpSp>
      <p:grpSp>
        <p:nvGrpSpPr>
          <p:cNvPr id="1065" name="20 · tl-h-node trace-step done: Policy + stock"/>
          <p:cNvGrpSpPr/>
          <p:nvPr/>
        </p:nvGrpSpPr>
        <p:grpSpPr>
          <a:xfrm>
            <a:off x="6146800" y="2104708"/>
            <a:ext cx="1308100" cy="1026274"/>
            <a:chOff x="6146800" y="2104708"/>
            <a:chExt cx="1308100" cy="1026274"/>
          </a:xfrm>
        </p:grpSpPr>
        <p:sp>
          <p:nvSpPr>
            <p:cNvPr id="1033" name="20 · trace-text-9: Policy + stock [p20-text-0039]" descr="Native editable Unicode text; authored line breaks retained."/>
            <p:cNvSpPr txBox="1"/>
            <p:nvPr/>
          </p:nvSpPr>
          <p:spPr>
            <a:xfrm>
              <a:off x="6146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Policy + stock</a:t>
              </a:r>
              <a:endParaRPr lang="en-US" sz="1350" b="1" i="0" kern="0" spc="-35" dirty="0">
                <a:solidFill>
                  <a:srgbClr val="022AC0">
                    <a:alpha val="78000"/>
                  </a:srgbClr>
                </a:solidFill>
                <a:latin typeface="Manrope"/>
                <a:ea typeface="Manrope"/>
                <a:cs typeface="Manrope"/>
              </a:endParaRPr>
            </a:p>
          </p:txBody>
        </p:sp>
        <p:sp>
          <p:nvSpPr>
            <p:cNvPr id="1034" name="20 · trace-text-10: Service [p20-text-0040]" descr="Native editable Unicode text; authored line breaks retained."/>
            <p:cNvSpPr txBox="1"/>
            <p:nvPr/>
          </p:nvSpPr>
          <p:spPr>
            <a:xfrm>
              <a:off x="6146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35" name="20 · num · surface [p20-e0038]"/>
            <p:cNvSpPr/>
            <p:nvPr/>
          </p:nvSpPr>
          <p:spPr>
            <a:xfrm>
              <a:off x="6146800" y="2104708"/>
              <a:ext cx="330200" cy="330200"/>
            </a:xfrm>
            <a:prstGeom prst="ellipse">
              <a:avLst/>
            </a:prstGeom>
            <a:solidFill>
              <a:srgbClr val="022AC0">
                <a:alpha val="78000"/>
              </a:srgbClr>
            </a:solidFill>
            <a:ln>
              <a:noFill/>
            </a:ln>
          </p:spPr>
        </p:sp>
        <p:sp>
          <p:nvSpPr>
            <p:cNvPr id="1036" name="20 · num: 5 [p20-text-0041]" descr="Native editable Unicode text; authored line breaks retained."/>
            <p:cNvSpPr txBox="1"/>
            <p:nvPr/>
          </p:nvSpPr>
          <p:spPr>
            <a:xfrm>
              <a:off x="6146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5</a:t>
              </a:r>
              <a:endParaRPr lang="en-US" sz="1100" b="0" i="0" kern="0" spc="0" dirty="0">
                <a:solidFill>
                  <a:srgbClr val="FFFFFF">
                    <a:alpha val="78000"/>
                  </a:srgbClr>
                </a:solidFill>
                <a:latin typeface="IBM Plex Mono"/>
                <a:ea typeface="IBM Plex Mono"/>
                <a:cs typeface="IBM Plex Mono"/>
              </a:endParaRPr>
            </a:p>
          </p:txBody>
        </p:sp>
      </p:grpSp>
      <p:grpSp>
        <p:nvGrpSpPr>
          <p:cNvPr id="1066" name="20 · tl-h-node trace-step done: Confirm"/>
          <p:cNvGrpSpPr/>
          <p:nvPr/>
        </p:nvGrpSpPr>
        <p:grpSpPr>
          <a:xfrm>
            <a:off x="7543800" y="2104708"/>
            <a:ext cx="1308100" cy="1026274"/>
            <a:chOff x="7543800" y="2104708"/>
            <a:chExt cx="1308100" cy="1026274"/>
          </a:xfrm>
        </p:grpSpPr>
        <p:sp>
          <p:nvSpPr>
            <p:cNvPr id="1037" name="20 · trace-text-11: Confirm [p20-text-0042]" descr="Native editable Unicode text; authored line breaks retained."/>
            <p:cNvSpPr txBox="1"/>
            <p:nvPr/>
          </p:nvSpPr>
          <p:spPr>
            <a:xfrm>
              <a:off x="7543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Confirm</a:t>
              </a:r>
              <a:endParaRPr lang="en-US" sz="1350" b="1" i="0" kern="0" spc="-35" dirty="0">
                <a:solidFill>
                  <a:srgbClr val="022AC0">
                    <a:alpha val="78000"/>
                  </a:srgbClr>
                </a:solidFill>
                <a:latin typeface="Manrope"/>
                <a:ea typeface="Manrope"/>
                <a:cs typeface="Manrope"/>
              </a:endParaRPr>
            </a:p>
          </p:txBody>
        </p:sp>
        <p:sp>
          <p:nvSpPr>
            <p:cNvPr id="1038" name="20 · trace-text-12: Customer [p20-text-0043]" descr="Native editable Unicode text; authored line breaks retained."/>
            <p:cNvSpPr txBox="1"/>
            <p:nvPr/>
          </p:nvSpPr>
          <p:spPr>
            <a:xfrm>
              <a:off x="7543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Customer</a:t>
              </a:r>
              <a:endParaRPr lang="en-US" sz="1100" b="0" i="0" kern="0" spc="0" dirty="0">
                <a:solidFill>
                  <a:srgbClr val="032D60">
                    <a:alpha val="78000"/>
                  </a:srgbClr>
                </a:solidFill>
                <a:latin typeface="Salesforce Sans"/>
                <a:ea typeface="Salesforce Sans"/>
                <a:cs typeface="Salesforce Sans"/>
              </a:endParaRPr>
            </a:p>
          </p:txBody>
        </p:sp>
        <p:sp>
          <p:nvSpPr>
            <p:cNvPr id="1039" name="20 · num · surface [p20-e0042]"/>
            <p:cNvSpPr/>
            <p:nvPr/>
          </p:nvSpPr>
          <p:spPr>
            <a:xfrm>
              <a:off x="7543800" y="2104708"/>
              <a:ext cx="330200" cy="330200"/>
            </a:xfrm>
            <a:prstGeom prst="ellipse">
              <a:avLst/>
            </a:prstGeom>
            <a:solidFill>
              <a:srgbClr val="022AC0">
                <a:alpha val="78000"/>
              </a:srgbClr>
            </a:solidFill>
            <a:ln>
              <a:noFill/>
            </a:ln>
          </p:spPr>
        </p:sp>
        <p:sp>
          <p:nvSpPr>
            <p:cNvPr id="1040" name="20 · num: 6 [p20-text-0044]" descr="Native editable Unicode text; authored line breaks retained."/>
            <p:cNvSpPr txBox="1"/>
            <p:nvPr/>
          </p:nvSpPr>
          <p:spPr>
            <a:xfrm>
              <a:off x="7543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6</a:t>
              </a:r>
              <a:endParaRPr lang="en-US" sz="1100" b="0" i="0" kern="0" spc="0" dirty="0">
                <a:solidFill>
                  <a:srgbClr val="FFFFFF">
                    <a:alpha val="78000"/>
                  </a:srgbClr>
                </a:solidFill>
                <a:latin typeface="IBM Plex Mono"/>
                <a:ea typeface="IBM Plex Mono"/>
                <a:cs typeface="IBM Plex Mono"/>
              </a:endParaRPr>
            </a:p>
          </p:txBody>
        </p:sp>
      </p:grpSp>
      <p:grpSp>
        <p:nvGrpSpPr>
          <p:cNvPr id="1067" name="20 · tl-h-node trace-step done: Authorize"/>
          <p:cNvGrpSpPr/>
          <p:nvPr/>
        </p:nvGrpSpPr>
        <p:grpSpPr>
          <a:xfrm>
            <a:off x="8940800" y="2104708"/>
            <a:ext cx="1308100" cy="1026274"/>
            <a:chOff x="8940800" y="2104708"/>
            <a:chExt cx="1308100" cy="1026274"/>
          </a:xfrm>
        </p:grpSpPr>
        <p:sp>
          <p:nvSpPr>
            <p:cNvPr id="1041" name="20 · trace-text-13: Authorize [p20-text-0045]" descr="Native editable Unicode text; authored line breaks retained."/>
            <p:cNvSpPr txBox="1"/>
            <p:nvPr/>
          </p:nvSpPr>
          <p:spPr>
            <a:xfrm>
              <a:off x="8940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alpha val="78000"/>
                    </a:srgbClr>
                  </a:solidFill>
                  <a:latin typeface="Manrope"/>
                  <a:ea typeface="Manrope"/>
                  <a:cs typeface="Manrope"/>
                </a:rPr>
                <a:t>Authorize</a:t>
              </a:r>
              <a:endParaRPr lang="en-US" sz="1350" b="1" i="0" kern="0" spc="-35" dirty="0">
                <a:solidFill>
                  <a:srgbClr val="022AC0">
                    <a:alpha val="78000"/>
                  </a:srgbClr>
                </a:solidFill>
                <a:latin typeface="Manrope"/>
                <a:ea typeface="Manrope"/>
                <a:cs typeface="Manrope"/>
              </a:endParaRPr>
            </a:p>
          </p:txBody>
        </p:sp>
        <p:sp>
          <p:nvSpPr>
            <p:cNvPr id="1042" name="20 · trace-text-14: Service [p20-text-0046]" descr="Native editable Unicode text; authored line breaks retained."/>
            <p:cNvSpPr txBox="1"/>
            <p:nvPr/>
          </p:nvSpPr>
          <p:spPr>
            <a:xfrm>
              <a:off x="8940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alpha val="78000"/>
                    </a:srgbClr>
                  </a:solidFill>
                  <a:latin typeface="Salesforce Sans"/>
                  <a:ea typeface="Salesforce Sans"/>
                  <a:cs typeface="Salesforce Sans"/>
                </a:rPr>
                <a:t>Service</a:t>
              </a:r>
              <a:endParaRPr lang="en-US" sz="1100" b="0" i="0" kern="0" spc="0" dirty="0">
                <a:solidFill>
                  <a:srgbClr val="032D60">
                    <a:alpha val="78000"/>
                  </a:srgbClr>
                </a:solidFill>
                <a:latin typeface="Salesforce Sans"/>
                <a:ea typeface="Salesforce Sans"/>
                <a:cs typeface="Salesforce Sans"/>
              </a:endParaRPr>
            </a:p>
          </p:txBody>
        </p:sp>
        <p:sp>
          <p:nvSpPr>
            <p:cNvPr id="1043" name="20 · num · surface [p20-e0046]"/>
            <p:cNvSpPr/>
            <p:nvPr/>
          </p:nvSpPr>
          <p:spPr>
            <a:xfrm>
              <a:off x="8940800" y="2104708"/>
              <a:ext cx="330200" cy="330200"/>
            </a:xfrm>
            <a:prstGeom prst="ellipse">
              <a:avLst/>
            </a:prstGeom>
            <a:solidFill>
              <a:srgbClr val="022AC0">
                <a:alpha val="78000"/>
              </a:srgbClr>
            </a:solidFill>
            <a:ln>
              <a:noFill/>
            </a:ln>
          </p:spPr>
        </p:sp>
        <p:sp>
          <p:nvSpPr>
            <p:cNvPr id="1044" name="20 · num: 7 [p20-text-0047]" descr="Native editable Unicode text; authored line breaks retained."/>
            <p:cNvSpPr txBox="1"/>
            <p:nvPr/>
          </p:nvSpPr>
          <p:spPr>
            <a:xfrm>
              <a:off x="8940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alpha val="78000"/>
                    </a:srgbClr>
                  </a:solidFill>
                  <a:latin typeface="IBM Plex Mono"/>
                  <a:ea typeface="IBM Plex Mono"/>
                  <a:cs typeface="IBM Plex Mono"/>
                </a:rPr>
                <a:t>7</a:t>
              </a:r>
              <a:endParaRPr lang="en-US" sz="1100" b="0" i="0" kern="0" spc="0" dirty="0">
                <a:solidFill>
                  <a:srgbClr val="FFFFFF">
                    <a:alpha val="78000"/>
                  </a:srgbClr>
                </a:solidFill>
                <a:latin typeface="IBM Plex Mono"/>
                <a:ea typeface="IBM Plex Mono"/>
                <a:cs typeface="IBM Plex Mono"/>
              </a:endParaRPr>
            </a:p>
          </p:txBody>
        </p:sp>
      </p:grpSp>
      <p:grpSp>
        <p:nvGrpSpPr>
          <p:cNvPr id="1068" name="20 · tl-h-node trace-step current: Resume"/>
          <p:cNvGrpSpPr/>
          <p:nvPr/>
        </p:nvGrpSpPr>
        <p:grpSpPr>
          <a:xfrm>
            <a:off x="10337800" y="1990408"/>
            <a:ext cx="1308100" cy="1140574"/>
            <a:chOff x="10337800" y="1990408"/>
            <a:chExt cx="1308100" cy="1140574"/>
          </a:xfrm>
        </p:grpSpPr>
        <p:sp>
          <p:nvSpPr>
            <p:cNvPr id="1045" name="20 · tl-h-node trace-step current · surface [p20-e0048]"/>
            <p:cNvSpPr/>
            <p:nvPr/>
          </p:nvSpPr>
          <p:spPr>
            <a:xfrm>
              <a:off x="10337800" y="1990408"/>
              <a:ext cx="1295400" cy="1124585"/>
            </a:xfrm>
            <a:prstGeom prst="rect">
              <a:avLst/>
            </a:prstGeom>
            <a:solidFill>
              <a:srgbClr val="FBF0CF"/>
            </a:solidFill>
            <a:ln>
              <a:noFill/>
            </a:ln>
          </p:spPr>
        </p:sp>
        <p:sp>
          <p:nvSpPr>
            <p:cNvPr id="1046" name="20 · trace-text-15: Resume [p20-text-0048]" descr="Native editable Unicode text; authored line breaks retained."/>
            <p:cNvSpPr txBox="1"/>
            <p:nvPr/>
          </p:nvSpPr>
          <p:spPr>
            <a:xfrm>
              <a:off x="10337800" y="2584063"/>
              <a:ext cx="1308100" cy="240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93"/>
                </a:lnSpc>
                <a:spcBef>
                  <a:spcPts val="0"/>
                </a:spcBef>
                <a:spcAft>
                  <a:spcPts val="0"/>
                </a:spcAft>
                <a:buNone/>
              </a:pPr>
              <a:r>
                <a:rPr lang="en-US" sz="1350" b="1" i="0" kern="0" spc="-35" dirty="0">
                  <a:solidFill>
                    <a:srgbClr val="022AC0"/>
                  </a:solidFill>
                  <a:latin typeface="Manrope"/>
                  <a:ea typeface="Manrope"/>
                  <a:cs typeface="Manrope"/>
                </a:rPr>
                <a:t>Resume</a:t>
              </a:r>
              <a:endParaRPr lang="en-US" sz="1350" b="1" i="0" kern="0" spc="-35" dirty="0">
                <a:solidFill>
                  <a:srgbClr val="022AC0"/>
                </a:solidFill>
                <a:latin typeface="Manrope"/>
                <a:ea typeface="Manrope"/>
                <a:cs typeface="Manrope"/>
              </a:endParaRPr>
            </a:p>
          </p:txBody>
        </p:sp>
        <p:sp>
          <p:nvSpPr>
            <p:cNvPr id="1047" name="20 · trace-text-16: Agent Graph [p20-text-0049]" descr="Native editable Unicode text; authored line breaks retained."/>
            <p:cNvSpPr txBox="1"/>
            <p:nvPr/>
          </p:nvSpPr>
          <p:spPr>
            <a:xfrm>
              <a:off x="10337800" y="2926257"/>
              <a:ext cx="1308100" cy="204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562"/>
                </a:lnSpc>
                <a:spcBef>
                  <a:spcPts val="0"/>
                </a:spcBef>
                <a:spcAft>
                  <a:spcPts val="0"/>
                </a:spcAft>
                <a:buNone/>
              </a:pPr>
              <a:r>
                <a:rPr lang="en-US" sz="1100" b="0" i="0" kern="0" spc="0" dirty="0">
                  <a:solidFill>
                    <a:srgbClr val="032D60"/>
                  </a:solidFill>
                  <a:latin typeface="Salesforce Sans"/>
                  <a:ea typeface="Salesforce Sans"/>
                  <a:cs typeface="Salesforce Sans"/>
                </a:rPr>
                <a:t>Agent Graph</a:t>
              </a:r>
              <a:endParaRPr lang="en-US" sz="1100" b="0" i="0" kern="0" spc="0" dirty="0">
                <a:solidFill>
                  <a:srgbClr val="032D60"/>
                </a:solidFill>
                <a:latin typeface="Salesforce Sans"/>
                <a:ea typeface="Salesforce Sans"/>
                <a:cs typeface="Salesforce Sans"/>
              </a:endParaRPr>
            </a:p>
          </p:txBody>
        </p:sp>
        <p:sp>
          <p:nvSpPr>
            <p:cNvPr id="1048" name="20 · num · surface [p20-e0051]"/>
            <p:cNvSpPr/>
            <p:nvPr/>
          </p:nvSpPr>
          <p:spPr>
            <a:xfrm>
              <a:off x="10337800" y="2104708"/>
              <a:ext cx="330200" cy="330200"/>
            </a:xfrm>
            <a:prstGeom prst="ellipse">
              <a:avLst/>
            </a:prstGeom>
            <a:solidFill>
              <a:srgbClr val="022AC0"/>
            </a:solidFill>
            <a:ln>
              <a:noFill/>
            </a:ln>
          </p:spPr>
        </p:sp>
        <p:sp>
          <p:nvSpPr>
            <p:cNvPr id="1049" name="20 · num: 8 [p20-text-0050]" descr="Native editable Unicode text; authored line breaks retained."/>
            <p:cNvSpPr txBox="1"/>
            <p:nvPr/>
          </p:nvSpPr>
          <p:spPr>
            <a:xfrm>
              <a:off x="10337800" y="2104708"/>
              <a:ext cx="342900" cy="336550"/>
            </a:xfrm>
            <a:prstGeom prst="rect">
              <a:avLst/>
            </a:prstGeom>
            <a:noFill/>
            <a:ln>
              <a:noFill/>
            </a:ln>
          </p:spPr>
          <p:txBody>
            <a:bodyPr wrap="none" lIns="0" rIns="0" tIns="0" bIns="0" anchor="t" anchorCtr="0" vertOverflow="overflow" horzOverflow="overflow" spcFirstLastPara="0">
              <a:noAutofit/>
            </a:bodyPr>
            <a:lstStyle/>
            <a:p>
              <a:pPr marL="0" marR="0" indent="123189" algn="l" fontAlgn="base">
                <a:lnSpc>
                  <a:spcPts val="1430"/>
                </a:lnSpc>
                <a:spcBef>
                  <a:spcPts val="0"/>
                </a:spcBef>
                <a:spcAft>
                  <a:spcPts val="0"/>
                </a:spcAft>
                <a:buNone/>
              </a:pPr>
              <a:r>
                <a:rPr lang="en-US" sz="1100" b="0" i="0" kern="0" spc="0" dirty="0">
                  <a:solidFill>
                    <a:srgbClr val="FFFFFF"/>
                  </a:solidFill>
                  <a:latin typeface="IBM Plex Mono"/>
                  <a:ea typeface="IBM Plex Mono"/>
                  <a:cs typeface="IBM Plex Mono"/>
                </a:rPr>
                <a:t>8</a:t>
              </a:r>
              <a:endParaRPr lang="en-US" sz="1100" b="0" i="0" kern="0" spc="0" dirty="0">
                <a:solidFill>
                  <a:srgbClr val="FFFFFF"/>
                </a:solidFill>
                <a:latin typeface="IBM Plex Mono"/>
                <a:ea typeface="IBM Plex Mono"/>
                <a:cs typeface="IBM Plex Mono"/>
              </a:endParaRPr>
            </a:p>
          </p:txBody>
        </p:sp>
      </p:grpSp>
      <p:sp>
        <p:nvSpPr>
          <p:cNvPr id="1050" name="20 · tag: EXCHANGE [p20-text-0051]" descr="Native editable Unicode text; authored line breaks retained."/>
          <p:cNvSpPr txBox="1"/>
          <p:nvPr/>
        </p:nvSpPr>
        <p:spPr>
          <a:xfrm>
            <a:off x="755650" y="4136388"/>
            <a:ext cx="50673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EXCHANGE</a:t>
            </a:r>
            <a:endParaRPr lang="en-US" sz="1050" b="0" i="0" kern="0" spc="50" dirty="0">
              <a:solidFill>
                <a:srgbClr val="022AC0">
                  <a:alpha val="85000"/>
                </a:srgbClr>
              </a:solidFill>
              <a:latin typeface="IBM Plex Mono"/>
              <a:ea typeface="IBM Plex Mono"/>
              <a:cs typeface="IBM Plex Mono"/>
            </a:endParaRPr>
          </a:p>
        </p:txBody>
      </p:sp>
      <p:sp>
        <p:nvSpPr>
          <p:cNvPr id="1051" name="20 · tag: CABLE RETURN [p20-text-0052]" descr="Native editable Unicode text; authored line breaks retained."/>
          <p:cNvSpPr txBox="1"/>
          <p:nvPr/>
        </p:nvSpPr>
        <p:spPr>
          <a:xfrm>
            <a:off x="6381750" y="4136388"/>
            <a:ext cx="50673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CABLE RETURN</a:t>
            </a:r>
            <a:endParaRPr lang="en-US" sz="1050" b="0" i="0" kern="0" spc="50" dirty="0">
              <a:solidFill>
                <a:srgbClr val="022AC0">
                  <a:alpha val="85000"/>
                </a:srgbClr>
              </a:solidFill>
              <a:latin typeface="IBM Plex Mono"/>
              <a:ea typeface="IBM Plex Mono"/>
              <a:cs typeface="IBM Plex Mono"/>
            </a:endParaRPr>
          </a:p>
        </p:txBody>
      </p:sp>
      <p:grpSp>
        <p:nvGrpSpPr>
          <p:cNvPr id="1069" name="20 · source-line: Agent Graph / guided determinism · Reliable enterprise agents"/>
          <p:cNvGrpSpPr/>
          <p:nvPr/>
        </p:nvGrpSpPr>
        <p:grpSpPr>
          <a:xfrm>
            <a:off x="558800" y="6037898"/>
            <a:ext cx="11087100" cy="284456"/>
            <a:chOff x="558800" y="6037898"/>
            <a:chExt cx="11087100" cy="284456"/>
          </a:xfrm>
        </p:grpSpPr>
        <p:sp>
          <p:nvSpPr>
            <p:cNvPr id="1052" name="20 · source-line · top border [p20-e005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53" name="20 · span: Agent Graph / guided determinism · Reliable enterprise agents [p20-text-0053]" descr="Native editable Unicode text; authored line breaks retained."/>
            <p:cNvSpPr txBox="1"/>
            <p:nvPr/>
          </p:nvSpPr>
          <p:spPr>
            <a:xfrm>
              <a:off x="558800" y="6153126"/>
              <a:ext cx="35193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Reliable enterprise agents"/>
                </a:rPr>
                <a:t>Reliable enterprise agents</a:t>
              </a:r>
              <a:endParaRPr lang="en-US" sz="950" b="0" i="0" kern="0" spc="0" dirty="0" u="sng">
                <a:solidFill>
                  <a:srgbClr val="315A7A"/>
                </a:solidFill>
                <a:latin typeface="Salesforce Sans"/>
                <a:ea typeface="Salesforce Sans"/>
                <a:cs typeface="Salesforce Sans"/>
              </a:endParaRPr>
            </a:p>
          </p:txBody>
        </p:sp>
        <p:sp>
          <p:nvSpPr>
            <p:cNvPr id="1054" name="20 · span: Constructed trace · final static state [p20-text-0054]" descr="Native editable Unicode text; authored line breaks retained."/>
            <p:cNvSpPr txBox="1"/>
            <p:nvPr/>
          </p:nvSpPr>
          <p:spPr>
            <a:xfrm>
              <a:off x="9671286" y="6153126"/>
              <a:ext cx="197461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trace · final static state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Failure routes are part of the program">
    <p:bg>
      <p:bgPr>
        <a:solidFill>
          <a:srgbClr val="FFFFFF"/>
        </a:solidFill>
      </p:bgPr>
    </p:bg>
    <p:spTree>
      <p:nvGrpSpPr>
        <p:cNvPr id="1" name=""/>
        <p:cNvGrpSpPr/>
        <p:nvPr/>
      </p:nvGrpSpPr>
      <p:grpSpPr>
        <a:xfrm>
          <a:off x="0" y="0"/>
          <a:ext cx="0" cy="0"/>
          <a:chOff x="0" y="0"/>
          <a:chExt cx="0" cy="0"/>
        </a:xfrm>
      </p:grpSpPr>
      <p:sp>
        <p:nvSpPr>
          <p:cNvPr id="1000" name="21 · slide dark · surface [p2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9" name="21 · chrome-min: DISAGGREGATED INTELLIGENCE"/>
          <p:cNvGrpSpPr/>
          <p:nvPr/>
        </p:nvGrpSpPr>
        <p:grpSpPr>
          <a:xfrm>
            <a:off x="558800" y="356053"/>
            <a:ext cx="11087100" cy="187325"/>
            <a:chOff x="558800" y="356053"/>
            <a:chExt cx="11087100" cy="187325"/>
          </a:xfrm>
        </p:grpSpPr>
        <p:sp>
          <p:nvSpPr>
            <p:cNvPr id="1001" name="21 · l: DISAGGREGATED INTELLIGENCE [p21-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1 · r: 21 / 36 [p21-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21 / 36</a:t>
              </a:r>
              <a:endParaRPr lang="en-US" sz="950" b="1" i="0" kern="0" spc="65" dirty="0">
                <a:solidFill>
                  <a:srgbClr val="022AC0"/>
                </a:solidFill>
                <a:latin typeface="Salesforce Sans"/>
                <a:ea typeface="Salesforce Sans"/>
                <a:cs typeface="Salesforce Sans"/>
              </a:endParaRPr>
            </a:p>
          </p:txBody>
        </p:sp>
      </p:grpSp>
      <p:grpSp>
        <p:nvGrpSpPr>
          <p:cNvPr id="1030" name="21 · deck-head: 05 / RECOVER WITHOUT LOSING THE CASE"/>
          <p:cNvGrpSpPr/>
          <p:nvPr/>
        </p:nvGrpSpPr>
        <p:grpSpPr>
          <a:xfrm>
            <a:off x="558800" y="775901"/>
            <a:ext cx="11087100" cy="871263"/>
            <a:chOff x="558800" y="775901"/>
            <a:chExt cx="11087100" cy="871263"/>
          </a:xfrm>
        </p:grpSpPr>
        <p:sp>
          <p:nvSpPr>
            <p:cNvPr id="1003" name="21 · failures-eyebrow: 05 / RECOVER WITHOUT LOSING THE CASE [p21-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05 / RECOVER WITHOUT LOSING THE CASE</a:t>
              </a:r>
              <a:endParaRPr lang="en-US" sz="1050" b="1" i="0" kern="0" spc="68" dirty="0">
                <a:solidFill>
                  <a:srgbClr val="022AC0"/>
                </a:solidFill>
                <a:latin typeface="Salesforce Sans"/>
                <a:ea typeface="Salesforce Sans"/>
                <a:cs typeface="Salesforce Sans"/>
              </a:endParaRPr>
            </a:p>
          </p:txBody>
        </p:sp>
        <p:sp>
          <p:nvSpPr>
            <p:cNvPr id="1004" name="21 · failures-title: Failure routes are part of the program [p21-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Failure routes are part of the program</a:t>
              </a:r>
              <a:endParaRPr lang="en-US" sz="3600" b="1" i="0" kern="0" spc="-95" dirty="0">
                <a:solidFill>
                  <a:srgbClr val="022AC0"/>
                </a:solidFill>
                <a:latin typeface="Manrope"/>
                <a:ea typeface="Manrope"/>
                <a:cs typeface="Manrope"/>
              </a:endParaRPr>
            </a:p>
          </p:txBody>
        </p:sp>
      </p:grpSp>
      <p:sp>
        <p:nvSpPr>
          <p:cNvPr id="1005" name="21 · four-cards · top border [p21-e0008]"/>
          <p:cNvSpPr/>
          <p:nvPr/>
        </p:nvSpPr>
        <p:spPr>
          <a:xfrm>
            <a:off x="558800" y="1866900"/>
            <a:ext cx="11074400" cy="6"/>
          </a:xfrm>
          <a:custGeom>
            <a:avLst/>
            <a:gdLst/>
            <a:ahLst/>
            <a:cxnLst/>
            <a:rect l="0" t="0" r="r" b="b"/>
            <a:pathLst>
              <a:path w="11074400" h="6" fill="none" stroke="1">
                <a:moveTo>
                  <a:pt x="0" y="0"/>
                </a:moveTo>
                <a:lnTo>
                  <a:pt x="11074400" y="0"/>
                </a:lnTo>
              </a:path>
            </a:pathLst>
          </a:custGeom>
          <a:noFill/>
          <a:ln w="25400" cap="flat">
            <a:solidFill>
              <a:srgbClr val="022AC0"/>
            </a:solidFill>
            <a:prstDash val="solid"/>
          </a:ln>
        </p:spPr>
      </p:sp>
      <p:grpSp>
        <p:nvGrpSpPr>
          <p:cNvPr id="1031" name="21 · card lilac: "/>
          <p:cNvGrpSpPr/>
          <p:nvPr/>
        </p:nvGrpSpPr>
        <p:grpSpPr>
          <a:xfrm>
            <a:off x="558800" y="1930400"/>
            <a:ext cx="2644775" cy="4102100"/>
            <a:chOff x="558800" y="1930400"/>
            <a:chExt cx="2644775" cy="4102100"/>
          </a:xfrm>
        </p:grpSpPr>
        <p:sp>
          <p:nvSpPr>
            <p:cNvPr id="1006" name="21 · card lilac · surface [p21-e0009]"/>
            <p:cNvSpPr/>
            <p:nvPr/>
          </p:nvSpPr>
          <p:spPr>
            <a:xfrm>
              <a:off x="558800" y="1930400"/>
              <a:ext cx="2644775" cy="4102100"/>
            </a:xfrm>
            <a:prstGeom prst="roundRect">
              <a:avLst>
                <a:gd name="adj" fmla="val 5282"/>
              </a:avLst>
            </a:prstGeom>
            <a:solidFill>
              <a:srgbClr val="EAE6FA"/>
            </a:solidFill>
            <a:ln>
              <a:noFill/>
            </a:ln>
          </p:spPr>
        </p:sp>
        <p:sp>
          <p:nvSpPr>
            <p:cNvPr id="1007" name="21 · card lilac · outline [p21-e0009]"/>
            <p:cNvSpPr/>
            <p:nvPr/>
          </p:nvSpPr>
          <p:spPr>
            <a:xfrm>
              <a:off x="561975" y="1933575"/>
              <a:ext cx="2638425" cy="4095750"/>
            </a:xfrm>
            <a:prstGeom prst="roundRect">
              <a:avLst>
                <a:gd name="adj" fmla="val 5174"/>
              </a:avLst>
            </a:prstGeom>
            <a:noFill/>
            <a:ln w="6350" algn="ctr">
              <a:solidFill>
                <a:srgbClr val="FFFFFF">
                  <a:alpha val="85098"/>
                </a:srgbClr>
              </a:solidFill>
              <a:prstDash val="solid"/>
            </a:ln>
          </p:spPr>
        </p:sp>
      </p:grpSp>
      <p:grpSp>
        <p:nvGrpSpPr>
          <p:cNvPr id="1032" name="21 · card sand: "/>
          <p:cNvGrpSpPr/>
          <p:nvPr/>
        </p:nvGrpSpPr>
        <p:grpSpPr>
          <a:xfrm>
            <a:off x="3368675" y="1930400"/>
            <a:ext cx="2644775" cy="4102100"/>
            <a:chOff x="3368675" y="1930400"/>
            <a:chExt cx="2644775" cy="4102100"/>
          </a:xfrm>
        </p:grpSpPr>
        <p:sp>
          <p:nvSpPr>
            <p:cNvPr id="1008" name="21 · card sand · surface [p21-e0010]"/>
            <p:cNvSpPr/>
            <p:nvPr/>
          </p:nvSpPr>
          <p:spPr>
            <a:xfrm>
              <a:off x="3368675" y="1930400"/>
              <a:ext cx="2644775" cy="4102100"/>
            </a:xfrm>
            <a:prstGeom prst="roundRect">
              <a:avLst>
                <a:gd name="adj" fmla="val 5282"/>
              </a:avLst>
            </a:prstGeom>
            <a:solidFill>
              <a:srgbClr val="FBF0CF"/>
            </a:solidFill>
            <a:ln>
              <a:noFill/>
            </a:ln>
          </p:spPr>
        </p:sp>
        <p:sp>
          <p:nvSpPr>
            <p:cNvPr id="1009" name="21 · card sand · outline [p21-e0010]"/>
            <p:cNvSpPr/>
            <p:nvPr/>
          </p:nvSpPr>
          <p:spPr>
            <a:xfrm>
              <a:off x="3371850" y="1933575"/>
              <a:ext cx="2638425" cy="4095750"/>
            </a:xfrm>
            <a:prstGeom prst="roundRect">
              <a:avLst>
                <a:gd name="adj" fmla="val 5174"/>
              </a:avLst>
            </a:prstGeom>
            <a:noFill/>
            <a:ln w="6350" algn="ctr">
              <a:solidFill>
                <a:srgbClr val="FFFFFF">
                  <a:alpha val="85098"/>
                </a:srgbClr>
              </a:solidFill>
              <a:prstDash val="solid"/>
            </a:ln>
          </p:spPr>
        </p:sp>
      </p:grpSp>
      <p:grpSp>
        <p:nvGrpSpPr>
          <p:cNvPr id="1033" name="21 · card blue: "/>
          <p:cNvGrpSpPr/>
          <p:nvPr/>
        </p:nvGrpSpPr>
        <p:grpSpPr>
          <a:xfrm>
            <a:off x="6178550" y="1930400"/>
            <a:ext cx="2644775" cy="4102100"/>
            <a:chOff x="6178550" y="1930400"/>
            <a:chExt cx="2644775" cy="4102100"/>
          </a:xfrm>
        </p:grpSpPr>
        <p:sp>
          <p:nvSpPr>
            <p:cNvPr id="1010" name="21 · card blue · surface [p21-e0011]"/>
            <p:cNvSpPr/>
            <p:nvPr/>
          </p:nvSpPr>
          <p:spPr>
            <a:xfrm>
              <a:off x="6178550" y="1930400"/>
              <a:ext cx="2644775" cy="4102100"/>
            </a:xfrm>
            <a:prstGeom prst="roundRect">
              <a:avLst>
                <a:gd name="adj" fmla="val 5282"/>
              </a:avLst>
            </a:prstGeom>
            <a:solidFill>
              <a:srgbClr val="DCEEFE"/>
            </a:solidFill>
            <a:ln>
              <a:noFill/>
            </a:ln>
          </p:spPr>
        </p:sp>
        <p:sp>
          <p:nvSpPr>
            <p:cNvPr id="1011" name="21 · card blue · outline [p21-e0011]"/>
            <p:cNvSpPr/>
            <p:nvPr/>
          </p:nvSpPr>
          <p:spPr>
            <a:xfrm>
              <a:off x="6181725" y="1933575"/>
              <a:ext cx="2638425" cy="4095750"/>
            </a:xfrm>
            <a:prstGeom prst="roundRect">
              <a:avLst>
                <a:gd name="adj" fmla="val 5174"/>
              </a:avLst>
            </a:prstGeom>
            <a:noFill/>
            <a:ln w="6350" algn="ctr">
              <a:solidFill>
                <a:srgbClr val="FFFFFF">
                  <a:alpha val="85098"/>
                </a:srgbClr>
              </a:solidFill>
              <a:prstDash val="solid"/>
            </a:ln>
          </p:spPr>
        </p:sp>
      </p:grpSp>
      <p:grpSp>
        <p:nvGrpSpPr>
          <p:cNvPr id="1034" name="21 · card peach: "/>
          <p:cNvGrpSpPr/>
          <p:nvPr/>
        </p:nvGrpSpPr>
        <p:grpSpPr>
          <a:xfrm>
            <a:off x="8988425" y="1930400"/>
            <a:ext cx="2644775" cy="4102100"/>
            <a:chOff x="8988425" y="1930400"/>
            <a:chExt cx="2644775" cy="4102100"/>
          </a:xfrm>
        </p:grpSpPr>
        <p:sp>
          <p:nvSpPr>
            <p:cNvPr id="1012" name="21 · card peach · surface [p21-e0012]"/>
            <p:cNvSpPr/>
            <p:nvPr/>
          </p:nvSpPr>
          <p:spPr>
            <a:xfrm>
              <a:off x="8988425" y="1930400"/>
              <a:ext cx="2644775" cy="4102100"/>
            </a:xfrm>
            <a:prstGeom prst="roundRect">
              <a:avLst>
                <a:gd name="adj" fmla="val 5282"/>
              </a:avLst>
            </a:prstGeom>
            <a:solidFill>
              <a:srgbClr val="FBE5DF"/>
            </a:solidFill>
            <a:ln>
              <a:noFill/>
            </a:ln>
          </p:spPr>
        </p:sp>
        <p:sp>
          <p:nvSpPr>
            <p:cNvPr id="1013" name="21 · card peach · outline [p21-e0012]"/>
            <p:cNvSpPr/>
            <p:nvPr/>
          </p:nvSpPr>
          <p:spPr>
            <a:xfrm>
              <a:off x="8991600" y="1933575"/>
              <a:ext cx="2638425" cy="4095750"/>
            </a:xfrm>
            <a:prstGeom prst="roundRect">
              <a:avLst>
                <a:gd name="adj" fmla="val 5174"/>
              </a:avLst>
            </a:prstGeom>
            <a:noFill/>
            <a:ln w="6350" algn="ctr">
              <a:solidFill>
                <a:srgbClr val="FFFFFF">
                  <a:alpha val="85098"/>
                </a:srgbClr>
              </a:solidFill>
              <a:prstDash val="solid"/>
            </a:ln>
          </p:spPr>
        </p:sp>
      </p:grpSp>
      <p:grpSp>
        <p:nvGrpSpPr>
          <p:cNvPr id="1035" name="21 · card lilac: Invalid output"/>
          <p:cNvGrpSpPr/>
          <p:nvPr/>
        </p:nvGrpSpPr>
        <p:grpSpPr>
          <a:xfrm>
            <a:off x="781050" y="2486534"/>
            <a:ext cx="2212975" cy="1213686"/>
            <a:chOff x="781050" y="2486534"/>
            <a:chExt cx="2212975" cy="1213686"/>
          </a:xfrm>
        </p:grpSpPr>
        <p:sp>
          <p:nvSpPr>
            <p:cNvPr id="1014" name="21 · failures-text-1: Invalid output [p21-text-0013]" descr="Native editable Unicode text; authored line breaks retained."/>
            <p:cNvSpPr txBox="1"/>
            <p:nvPr/>
          </p:nvSpPr>
          <p:spPr>
            <a:xfrm>
              <a:off x="781050"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Invalid output</a:t>
              </a:r>
              <a:endParaRPr lang="en-US" sz="2000" b="1" i="0" kern="0" spc="-38" dirty="0">
                <a:solidFill>
                  <a:srgbClr val="022AC0"/>
                </a:solidFill>
                <a:latin typeface="Manrope"/>
                <a:ea typeface="Manrope"/>
                <a:cs typeface="Manrope"/>
              </a:endParaRPr>
            </a:p>
          </p:txBody>
        </p:sp>
        <p:sp>
          <p:nvSpPr>
            <p:cNvPr id="1015" name="21 · failures-text-2: Validate the result before branching. Use a defined fallback. [p21-text-0014]" descr="Native editable Unicode text; authored line breaks retained."/>
            <p:cNvSpPr txBox="1"/>
            <p:nvPr/>
          </p:nvSpPr>
          <p:spPr>
            <a:xfrm>
              <a:off x="781050"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Validate the result before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branching. Use a defined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fallback.</a:t>
              </a:r>
              <a:endParaRPr lang="en-US" sz="1400" b="0" i="0" kern="0" spc="0" dirty="0">
                <a:solidFill>
                  <a:srgbClr val="032D60"/>
                </a:solidFill>
                <a:latin typeface="Salesforce Sans"/>
                <a:ea typeface="Salesforce Sans"/>
                <a:cs typeface="Salesforce Sans"/>
              </a:endParaRPr>
            </a:p>
          </p:txBody>
        </p:sp>
      </p:grpSp>
      <p:grpSp>
        <p:nvGrpSpPr>
          <p:cNvPr id="1036" name="21 · card sand: Timeout"/>
          <p:cNvGrpSpPr/>
          <p:nvPr/>
        </p:nvGrpSpPr>
        <p:grpSpPr>
          <a:xfrm>
            <a:off x="3590925" y="2486534"/>
            <a:ext cx="2212975" cy="961210"/>
            <a:chOff x="3590925" y="2486534"/>
            <a:chExt cx="2212975" cy="961210"/>
          </a:xfrm>
        </p:grpSpPr>
        <p:sp>
          <p:nvSpPr>
            <p:cNvPr id="1016" name="21 · failures-text-3: Timeout [p21-text-0015]" descr="Native editable Unicode text; authored line breaks retained."/>
            <p:cNvSpPr txBox="1"/>
            <p:nvPr/>
          </p:nvSpPr>
          <p:spPr>
            <a:xfrm>
              <a:off x="359092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Timeout</a:t>
              </a:r>
              <a:endParaRPr lang="en-US" sz="2000" b="1" i="0" kern="0" spc="-38" dirty="0">
                <a:solidFill>
                  <a:srgbClr val="022AC0"/>
                </a:solidFill>
                <a:latin typeface="Manrope"/>
                <a:ea typeface="Manrope"/>
                <a:cs typeface="Manrope"/>
              </a:endParaRPr>
            </a:p>
          </p:txBody>
        </p:sp>
        <p:sp>
          <p:nvSpPr>
            <p:cNvPr id="1017" name="21 · failures-text-4: Bound retries and retain every pending obligation. [p21-text-0016]" descr="Native editable Unicode text; authored line breaks retained."/>
            <p:cNvSpPr txBox="1"/>
            <p:nvPr/>
          </p:nvSpPr>
          <p:spPr>
            <a:xfrm>
              <a:off x="3590925" y="2936442"/>
              <a:ext cx="2212975"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Bound retries and retain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every pending obligation.</a:t>
              </a:r>
              <a:endParaRPr lang="en-US" sz="1400" b="0" i="0" kern="0" spc="0" dirty="0">
                <a:solidFill>
                  <a:srgbClr val="032D60"/>
                </a:solidFill>
                <a:latin typeface="Salesforce Sans"/>
                <a:ea typeface="Salesforce Sans"/>
                <a:cs typeface="Salesforce Sans"/>
              </a:endParaRPr>
            </a:p>
          </p:txBody>
        </p:sp>
      </p:grpSp>
      <p:grpSp>
        <p:nvGrpSpPr>
          <p:cNvPr id="1037" name="21 · card blue: Unauthorized write"/>
          <p:cNvGrpSpPr/>
          <p:nvPr/>
        </p:nvGrpSpPr>
        <p:grpSpPr>
          <a:xfrm>
            <a:off x="6400800" y="2486534"/>
            <a:ext cx="2212975" cy="1513406"/>
            <a:chOff x="6400800" y="2486534"/>
            <a:chExt cx="2212975" cy="1513406"/>
          </a:xfrm>
        </p:grpSpPr>
        <p:sp>
          <p:nvSpPr>
            <p:cNvPr id="1018" name="21 · failures-text-5: Unauthorized write [p21-text-0017]" descr="Native editable Unicode text; authored line breaks retained."/>
            <p:cNvSpPr txBox="1"/>
            <p:nvPr/>
          </p:nvSpPr>
          <p:spPr>
            <a:xfrm>
              <a:off x="6400800" y="2486534"/>
              <a:ext cx="2212975"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Unauthorized</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write</a:t>
              </a:r>
              <a:endParaRPr lang="en-US" sz="2000" b="1" i="0" kern="0" spc="-38" dirty="0">
                <a:solidFill>
                  <a:srgbClr val="022AC0"/>
                </a:solidFill>
                <a:latin typeface="Manrope"/>
                <a:ea typeface="Manrope"/>
                <a:cs typeface="Manrope"/>
              </a:endParaRPr>
            </a:p>
          </p:txBody>
        </p:sp>
        <p:sp>
          <p:nvSpPr>
            <p:cNvPr id="1019" name="21 · failures-text-6: The service rejects the action under current policy. [p21-text-0018]" descr="Native editable Unicode text; authored line breaks retained."/>
            <p:cNvSpPr txBox="1"/>
            <p:nvPr/>
          </p:nvSpPr>
          <p:spPr>
            <a:xfrm>
              <a:off x="6400800" y="323616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The service rejects the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action under current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policy.</a:t>
              </a:r>
              <a:endParaRPr lang="en-US" sz="1400" b="0" i="0" kern="0" spc="0" dirty="0">
                <a:solidFill>
                  <a:srgbClr val="032D60"/>
                </a:solidFill>
                <a:latin typeface="Salesforce Sans"/>
                <a:ea typeface="Salesforce Sans"/>
                <a:cs typeface="Salesforce Sans"/>
              </a:endParaRPr>
            </a:p>
          </p:txBody>
        </p:sp>
      </p:grpSp>
      <p:grpSp>
        <p:nvGrpSpPr>
          <p:cNvPr id="1038" name="21 · card peach: Repeated write"/>
          <p:cNvGrpSpPr/>
          <p:nvPr/>
        </p:nvGrpSpPr>
        <p:grpSpPr>
          <a:xfrm>
            <a:off x="9210675" y="2486534"/>
            <a:ext cx="2212975" cy="1213686"/>
            <a:chOff x="9210675" y="2486534"/>
            <a:chExt cx="2212975" cy="1213686"/>
          </a:xfrm>
        </p:grpSpPr>
        <p:sp>
          <p:nvSpPr>
            <p:cNvPr id="1020" name="21 · failures-text-7: Repeated write [p21-text-0019]" descr="Native editable Unicode text; authored line breaks retained."/>
            <p:cNvSpPr txBox="1"/>
            <p:nvPr/>
          </p:nvSpPr>
          <p:spPr>
            <a:xfrm>
              <a:off x="9210675" y="2486534"/>
              <a:ext cx="2212975"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Repeated write</a:t>
              </a:r>
              <a:endParaRPr lang="en-US" sz="2000" b="1" i="0" kern="0" spc="-38" dirty="0">
                <a:solidFill>
                  <a:srgbClr val="022AC0"/>
                </a:solidFill>
                <a:latin typeface="Manrope"/>
                <a:ea typeface="Manrope"/>
                <a:cs typeface="Manrope"/>
              </a:endParaRPr>
            </a:p>
          </p:txBody>
        </p:sp>
        <p:sp>
          <p:nvSpPr>
            <p:cNvPr id="1021" name="21 · failures-text-8: Use transaction safeguards; record the actual result. [p21-text-0020]" descr="Native editable Unicode text; authored line breaks retained."/>
            <p:cNvSpPr txBox="1"/>
            <p:nvPr/>
          </p:nvSpPr>
          <p:spPr>
            <a:xfrm>
              <a:off x="9210675" y="2936442"/>
              <a:ext cx="2212975"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 transaction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safeguards; record the</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actual result.</a:t>
              </a:r>
              <a:endParaRPr lang="en-US" sz="1400" b="0" i="0" kern="0" spc="0" dirty="0">
                <a:solidFill>
                  <a:srgbClr val="032D60"/>
                </a:solidFill>
                <a:latin typeface="Salesforce Sans"/>
                <a:ea typeface="Salesforce Sans"/>
                <a:cs typeface="Salesforce Sans"/>
              </a:endParaRPr>
            </a:p>
          </p:txBody>
        </p:sp>
      </p:grpSp>
      <p:sp>
        <p:nvSpPr>
          <p:cNvPr id="1022" name="21 · tag: CONTRACT FAILURE [p21-text-0021]" descr="Native editable Unicode text; authored line breaks retained."/>
          <p:cNvSpPr txBox="1"/>
          <p:nvPr/>
        </p:nvSpPr>
        <p:spPr>
          <a:xfrm>
            <a:off x="78105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CONTRACT FAILURE</a:t>
            </a:r>
            <a:endParaRPr lang="en-US" sz="1050" b="0" i="0" kern="0" spc="50" dirty="0">
              <a:solidFill>
                <a:srgbClr val="022AC0">
                  <a:alpha val="85000"/>
                </a:srgbClr>
              </a:solidFill>
              <a:latin typeface="IBM Plex Mono"/>
              <a:ea typeface="IBM Plex Mono"/>
              <a:cs typeface="IBM Plex Mono"/>
            </a:endParaRPr>
          </a:p>
        </p:txBody>
      </p:sp>
      <p:sp>
        <p:nvSpPr>
          <p:cNvPr id="1023" name="21 · tag: DEPENDENCY FAILURE [p21-text-0022]" descr="Native editable Unicode text; authored line breaks retained."/>
          <p:cNvSpPr txBox="1"/>
          <p:nvPr/>
        </p:nvSpPr>
        <p:spPr>
          <a:xfrm>
            <a:off x="359092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DEPENDENCY FAILURE</a:t>
            </a:r>
            <a:endParaRPr lang="en-US" sz="1050" b="0" i="0" kern="0" spc="50" dirty="0">
              <a:solidFill>
                <a:srgbClr val="022AC0">
                  <a:alpha val="85000"/>
                </a:srgbClr>
              </a:solidFill>
              <a:latin typeface="IBM Plex Mono"/>
              <a:ea typeface="IBM Plex Mono"/>
              <a:cs typeface="IBM Plex Mono"/>
            </a:endParaRPr>
          </a:p>
        </p:txBody>
      </p:sp>
      <p:sp>
        <p:nvSpPr>
          <p:cNvPr id="1024" name="21 · tag: AUTHORITY BOUNDARY [p21-text-0023]" descr="Native editable Unicode text; authored line breaks retained."/>
          <p:cNvSpPr txBox="1"/>
          <p:nvPr/>
        </p:nvSpPr>
        <p:spPr>
          <a:xfrm>
            <a:off x="6400800"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AUTHORITY BOUNDARY</a:t>
            </a:r>
            <a:endParaRPr lang="en-US" sz="1050" b="0" i="0" kern="0" spc="50" dirty="0">
              <a:solidFill>
                <a:srgbClr val="022AC0">
                  <a:alpha val="85000"/>
                </a:srgbClr>
              </a:solidFill>
              <a:latin typeface="IBM Plex Mono"/>
              <a:ea typeface="IBM Plex Mono"/>
              <a:cs typeface="IBM Plex Mono"/>
            </a:endParaRPr>
          </a:p>
        </p:txBody>
      </p:sp>
      <p:sp>
        <p:nvSpPr>
          <p:cNvPr id="1025" name="21 · tag: SIDE EFFECT [p21-text-0024]" descr="Native editable Unicode text; authored line breaks retained."/>
          <p:cNvSpPr txBox="1"/>
          <p:nvPr/>
        </p:nvSpPr>
        <p:spPr>
          <a:xfrm>
            <a:off x="9210675" y="2178048"/>
            <a:ext cx="2212975"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SIDE EFFECT</a:t>
            </a:r>
            <a:endParaRPr lang="en-US" sz="1050" b="0" i="0" kern="0" spc="50" dirty="0">
              <a:solidFill>
                <a:srgbClr val="022AC0">
                  <a:alpha val="85000"/>
                </a:srgbClr>
              </a:solidFill>
              <a:latin typeface="IBM Plex Mono"/>
              <a:ea typeface="IBM Plex Mono"/>
              <a:cs typeface="IBM Plex Mono"/>
            </a:endParaRPr>
          </a:p>
        </p:txBody>
      </p:sp>
      <p:grpSp>
        <p:nvGrpSpPr>
          <p:cNvPr id="1039" name="21 · source-line: Reliable enterprise agents · AgentScript specification"/>
          <p:cNvGrpSpPr/>
          <p:nvPr/>
        </p:nvGrpSpPr>
        <p:grpSpPr>
          <a:xfrm>
            <a:off x="558800" y="6037898"/>
            <a:ext cx="11087100" cy="284456"/>
            <a:chOff x="558800" y="6037898"/>
            <a:chExt cx="11087100" cy="284456"/>
          </a:xfrm>
        </p:grpSpPr>
        <p:sp>
          <p:nvSpPr>
            <p:cNvPr id="1026" name="21 · source-line · top border [p21-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7" name="21 · span: Reliable enterprise agents · AgentScript specification [p21-text-0025]" descr="Native editable Unicode text; authored line breaks retained."/>
            <p:cNvSpPr txBox="1"/>
            <p:nvPr/>
          </p:nvSpPr>
          <p:spPr>
            <a:xfrm>
              <a:off x="558800" y="6153126"/>
              <a:ext cx="293791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specification"/>
                </a:rPr>
                <a:t>AgentScript specification</a:t>
              </a:r>
              <a:endParaRPr lang="en-US" sz="950" b="0" i="0" kern="0" spc="0" dirty="0" u="sng">
                <a:solidFill>
                  <a:srgbClr val="315A7A"/>
                </a:solidFill>
                <a:latin typeface="Salesforce Sans"/>
                <a:ea typeface="Salesforce Sans"/>
                <a:cs typeface="Salesforce Sans"/>
              </a:endParaRPr>
            </a:p>
          </p:txBody>
        </p:sp>
        <p:sp>
          <p:nvSpPr>
            <p:cNvPr id="1028" name="21 · span: Proposed failure behavior [p21-text-0026]" descr="Native editable Unicode text; authored line breaks retained."/>
            <p:cNvSpPr txBox="1"/>
            <p:nvPr/>
          </p:nvSpPr>
          <p:spPr>
            <a:xfrm>
              <a:off x="10200580" y="6153126"/>
              <a:ext cx="144532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failure behavior</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Confidence needs evidence in your domain">
    <p:bg>
      <p:bgPr>
        <a:solidFill>
          <a:srgbClr val="FFFFFF"/>
        </a:solidFill>
      </p:bgPr>
    </p:bg>
    <p:spTree>
      <p:nvGrpSpPr>
        <p:cNvPr id="1" name=""/>
        <p:cNvGrpSpPr/>
        <p:nvPr/>
      </p:nvGrpSpPr>
      <p:grpSpPr>
        <a:xfrm>
          <a:off x="0" y="0"/>
          <a:ext cx="0" cy="0"/>
          <a:chOff x="0" y="0"/>
          <a:chExt cx="0" cy="0"/>
        </a:xfrm>
      </p:grpSpPr>
      <p:sp>
        <p:nvSpPr>
          <p:cNvPr id="1000" name="22 · slide light · surface [p2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4" name="22 · chrome-min: DISAGGREGATED INTELLIGENCE"/>
          <p:cNvGrpSpPr/>
          <p:nvPr/>
        </p:nvGrpSpPr>
        <p:grpSpPr>
          <a:xfrm>
            <a:off x="558800" y="356053"/>
            <a:ext cx="11087100" cy="187325"/>
            <a:chOff x="558800" y="356053"/>
            <a:chExt cx="11087100" cy="187325"/>
          </a:xfrm>
        </p:grpSpPr>
        <p:sp>
          <p:nvSpPr>
            <p:cNvPr id="1001" name="22 · l: DISAGGREGATED INTELLIGENCE [p22-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2 · r: 22 / 36 [p22-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22 / 36</a:t>
              </a:r>
              <a:endParaRPr lang="en-US" sz="950" b="1" i="0" kern="0" spc="65" dirty="0">
                <a:solidFill>
                  <a:srgbClr val="022AC0"/>
                </a:solidFill>
                <a:latin typeface="Salesforce Sans"/>
                <a:ea typeface="Salesforce Sans"/>
                <a:cs typeface="Salesforce Sans"/>
              </a:endParaRPr>
            </a:p>
          </p:txBody>
        </p:sp>
      </p:grpSp>
      <p:grpSp>
        <p:nvGrpSpPr>
          <p:cNvPr id="1025" name="22 · deck-head: 06 / INSPECT THE SIGNAL"/>
          <p:cNvGrpSpPr/>
          <p:nvPr/>
        </p:nvGrpSpPr>
        <p:grpSpPr>
          <a:xfrm>
            <a:off x="558800" y="775901"/>
            <a:ext cx="11087100" cy="871263"/>
            <a:chOff x="558800" y="775901"/>
            <a:chExt cx="11087100" cy="871263"/>
          </a:xfrm>
        </p:grpSpPr>
        <p:sp>
          <p:nvSpPr>
            <p:cNvPr id="1003" name="22 · confidence-eyebrow: 06 / INSPECT THE SIGNAL [p22-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INSPECT THE SIGNAL</a:t>
              </a:r>
              <a:endParaRPr lang="en-US" sz="1050" b="1" i="0" kern="0" spc="68" dirty="0">
                <a:solidFill>
                  <a:srgbClr val="022AC0"/>
                </a:solidFill>
                <a:latin typeface="Salesforce Sans"/>
                <a:ea typeface="Salesforce Sans"/>
                <a:cs typeface="Salesforce Sans"/>
              </a:endParaRPr>
            </a:p>
          </p:txBody>
        </p:sp>
        <p:sp>
          <p:nvSpPr>
            <p:cNvPr id="1004" name="22 · confidence-title: Confidence needs evidence in your domain [p22-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Confidence needs evidence in your domain</a:t>
              </a:r>
              <a:endParaRPr lang="en-US" sz="3600" b="1" i="0" kern="0" spc="-95" dirty="0">
                <a:solidFill>
                  <a:srgbClr val="022AC0"/>
                </a:solidFill>
                <a:latin typeface="Manrope"/>
                <a:ea typeface="Manrope"/>
                <a:cs typeface="Manrope"/>
              </a:endParaRPr>
            </a:p>
          </p:txBody>
        </p:sp>
      </p:grpSp>
      <p:sp>
        <p:nvSpPr>
          <p:cNvPr id="1005" name="22 · div · surface [p22-e0008]"/>
          <p:cNvSpPr/>
          <p:nvPr/>
        </p:nvSpPr>
        <p:spPr>
          <a:xfrm>
            <a:off x="558800" y="2674620"/>
            <a:ext cx="920750" cy="1270000"/>
          </a:xfrm>
          <a:prstGeom prst="rect">
            <a:avLst/>
          </a:prstGeom>
          <a:solidFill>
            <a:srgbClr val="EAE6FA"/>
          </a:solidFill>
          <a:ln>
            <a:noFill/>
          </a:ln>
        </p:spPr>
      </p:sp>
      <p:sp>
        <p:nvSpPr>
          <p:cNvPr id="1006" name="22 · div · surface [p22-e0009]"/>
          <p:cNvSpPr/>
          <p:nvPr/>
        </p:nvSpPr>
        <p:spPr>
          <a:xfrm>
            <a:off x="1631950" y="3627120"/>
            <a:ext cx="920750" cy="317500"/>
          </a:xfrm>
          <a:prstGeom prst="rect">
            <a:avLst/>
          </a:prstGeom>
          <a:solidFill>
            <a:srgbClr val="EAE6FA"/>
          </a:solidFill>
          <a:ln>
            <a:noFill/>
          </a:ln>
        </p:spPr>
      </p:sp>
      <p:sp>
        <p:nvSpPr>
          <p:cNvPr id="1007" name="22 · div · surface [p22-e0010]"/>
          <p:cNvSpPr/>
          <p:nvPr/>
        </p:nvSpPr>
        <p:spPr>
          <a:xfrm>
            <a:off x="2705100" y="3741420"/>
            <a:ext cx="920750" cy="203200"/>
          </a:xfrm>
          <a:prstGeom prst="rect">
            <a:avLst/>
          </a:prstGeom>
          <a:solidFill>
            <a:srgbClr val="EAE6FA"/>
          </a:solidFill>
          <a:ln>
            <a:noFill/>
          </a:ln>
        </p:spPr>
      </p:sp>
      <p:grpSp>
        <p:nvGrpSpPr>
          <p:cNvPr id="1026" name="22 · card mint: "/>
          <p:cNvGrpSpPr/>
          <p:nvPr/>
        </p:nvGrpSpPr>
        <p:grpSpPr>
          <a:xfrm>
            <a:off x="6426200" y="1930400"/>
            <a:ext cx="5105400" cy="2046097"/>
            <a:chOff x="6426200" y="1930400"/>
            <a:chExt cx="5105400" cy="2046097"/>
          </a:xfrm>
        </p:grpSpPr>
        <p:sp>
          <p:nvSpPr>
            <p:cNvPr id="1008" name="22 · card mint · surface [p22-e0011]"/>
            <p:cNvSpPr/>
            <p:nvPr/>
          </p:nvSpPr>
          <p:spPr>
            <a:xfrm>
              <a:off x="6426200" y="1930400"/>
              <a:ext cx="5105400" cy="2046097"/>
            </a:xfrm>
            <a:prstGeom prst="roundRect">
              <a:avLst>
                <a:gd name="adj" fmla="val 6828"/>
              </a:avLst>
            </a:prstGeom>
            <a:solidFill>
              <a:srgbClr val="DDF3ED"/>
            </a:solidFill>
            <a:ln>
              <a:noFill/>
            </a:ln>
          </p:spPr>
        </p:sp>
        <p:sp>
          <p:nvSpPr>
            <p:cNvPr id="1009" name="22 · card mint · outline [p22-e0011]"/>
            <p:cNvSpPr/>
            <p:nvPr/>
          </p:nvSpPr>
          <p:spPr>
            <a:xfrm>
              <a:off x="6429375" y="1933575"/>
              <a:ext cx="5099050" cy="2039747"/>
            </a:xfrm>
            <a:prstGeom prst="roundRect">
              <a:avLst>
                <a:gd name="adj" fmla="val 6693"/>
              </a:avLst>
            </a:prstGeom>
            <a:noFill/>
            <a:ln w="6350" algn="ctr">
              <a:solidFill>
                <a:srgbClr val="FFFFFF">
                  <a:alpha val="85098"/>
                </a:srgbClr>
              </a:solidFill>
              <a:prstDash val="solid"/>
            </a:ln>
          </p:spPr>
        </p:sp>
      </p:grpSp>
      <p:grpSp>
        <p:nvGrpSpPr>
          <p:cNvPr id="1027" name="22 · card blue: "/>
          <p:cNvGrpSpPr/>
          <p:nvPr/>
        </p:nvGrpSpPr>
        <p:grpSpPr>
          <a:xfrm>
            <a:off x="6426200" y="4128897"/>
            <a:ext cx="5105400" cy="1000252"/>
            <a:chOff x="6426200" y="4128897"/>
            <a:chExt cx="5105400" cy="1000252"/>
          </a:xfrm>
        </p:grpSpPr>
        <p:sp>
          <p:nvSpPr>
            <p:cNvPr id="1010" name="22 · card blue · surface [p22-e0012]"/>
            <p:cNvSpPr/>
            <p:nvPr/>
          </p:nvSpPr>
          <p:spPr>
            <a:xfrm>
              <a:off x="6426200" y="4128897"/>
              <a:ext cx="5105400" cy="1000252"/>
            </a:xfrm>
            <a:prstGeom prst="roundRect">
              <a:avLst>
                <a:gd name="adj" fmla="val 13966"/>
              </a:avLst>
            </a:prstGeom>
            <a:solidFill>
              <a:srgbClr val="DCEEFE"/>
            </a:solidFill>
            <a:ln>
              <a:noFill/>
            </a:ln>
          </p:spPr>
        </p:sp>
        <p:sp>
          <p:nvSpPr>
            <p:cNvPr id="1011" name="22 · card blue · outline [p22-e0012]"/>
            <p:cNvSpPr/>
            <p:nvPr/>
          </p:nvSpPr>
          <p:spPr>
            <a:xfrm>
              <a:off x="6429375" y="4132072"/>
              <a:ext cx="5099050" cy="993902"/>
            </a:xfrm>
            <a:prstGeom prst="roundRect">
              <a:avLst>
                <a:gd name="adj" fmla="val 13736"/>
              </a:avLst>
            </a:prstGeom>
            <a:noFill/>
            <a:ln w="6350" algn="ctr">
              <a:solidFill>
                <a:srgbClr val="FFFFFF">
                  <a:alpha val="85098"/>
                </a:srgbClr>
              </a:solidFill>
              <a:prstDash val="solid"/>
            </a:ln>
          </p:spPr>
        </p:sp>
      </p:grpSp>
      <p:sp>
        <p:nvSpPr>
          <p:cNvPr id="1012" name="22 · confidence-text-1: A concentrated distribution [p22-text-0013]"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 concentrated distribution</a:t>
            </a:r>
            <a:endParaRPr lang="en-US" sz="2000" b="1" i="0" kern="0" spc="-38" dirty="0">
              <a:solidFill>
                <a:srgbClr val="022AC0"/>
              </a:solidFill>
              <a:latin typeface="Manrope"/>
              <a:ea typeface="Manrope"/>
              <a:cs typeface="Manrope"/>
            </a:endParaRPr>
          </a:p>
        </p:txBody>
      </p:sp>
      <p:sp>
        <p:nvSpPr>
          <p:cNvPr id="1013" name="22 · div: Return [p22-text-0014]" descr="Native editable Unicode text; authored line breaks retained."/>
          <p:cNvSpPr txBox="1"/>
          <p:nvPr/>
        </p:nvSpPr>
        <p:spPr>
          <a:xfrm>
            <a:off x="660400" y="3655782"/>
            <a:ext cx="46808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Return</a:t>
            </a:r>
            <a:endParaRPr lang="en-US" sz="1150" b="0" i="0" kern="0" spc="0" dirty="0">
              <a:solidFill>
                <a:srgbClr val="032D60"/>
              </a:solidFill>
              <a:latin typeface="Salesforce Sans"/>
              <a:ea typeface="Salesforce Sans"/>
              <a:cs typeface="Salesforce Sans"/>
            </a:endParaRPr>
          </a:p>
        </p:txBody>
      </p:sp>
      <p:sp>
        <p:nvSpPr>
          <p:cNvPr id="1014" name="22 · div: Exchange [p22-text-0015]" descr="Native editable Unicode text; authored line breaks retained."/>
          <p:cNvSpPr txBox="1"/>
          <p:nvPr/>
        </p:nvSpPr>
        <p:spPr>
          <a:xfrm>
            <a:off x="1733550" y="3655782"/>
            <a:ext cx="660865"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Exchange</a:t>
            </a:r>
            <a:endParaRPr lang="en-US" sz="1150" b="0" i="0" kern="0" spc="0" dirty="0">
              <a:solidFill>
                <a:srgbClr val="032D60"/>
              </a:solidFill>
              <a:latin typeface="Salesforce Sans"/>
              <a:ea typeface="Salesforce Sans"/>
              <a:cs typeface="Salesforce Sans"/>
            </a:endParaRPr>
          </a:p>
        </p:txBody>
      </p:sp>
      <p:sp>
        <p:nvSpPr>
          <p:cNvPr id="1015" name="22 · div: Other [p22-text-0016]" descr="Native editable Unicode text; authored line breaks retained."/>
          <p:cNvSpPr txBox="1"/>
          <p:nvPr/>
        </p:nvSpPr>
        <p:spPr>
          <a:xfrm>
            <a:off x="2806700" y="3655782"/>
            <a:ext cx="408496"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Other</a:t>
            </a:r>
            <a:endParaRPr lang="en-US" sz="1150" b="0" i="0" kern="0" spc="0" dirty="0">
              <a:solidFill>
                <a:srgbClr val="032D60"/>
              </a:solidFill>
              <a:latin typeface="Salesforce Sans"/>
              <a:ea typeface="Salesforce Sans"/>
              <a:cs typeface="Salesforce Sans"/>
            </a:endParaRPr>
          </a:p>
        </p:txBody>
      </p:sp>
      <p:sp>
        <p:nvSpPr>
          <p:cNvPr id="1016" name="22 · confidence-text-2: Illustrative output shape. The highest option can still be wrong. [p22-text-0017]" descr="Native editable Unicode text; authored line breaks retained."/>
          <p:cNvSpPr txBox="1"/>
          <p:nvPr/>
        </p:nvSpPr>
        <p:spPr>
          <a:xfrm>
            <a:off x="558800" y="4211956"/>
            <a:ext cx="5245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Illustrative output shape.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The highest option can still be wrong.</a:t>
            </a:r>
            <a:endParaRPr lang="en-US" sz="1250" b="0" i="0" kern="0" spc="0" dirty="0">
              <a:solidFill>
                <a:srgbClr val="032D60"/>
              </a:solidFill>
              <a:latin typeface="Salesforce Sans"/>
              <a:ea typeface="Salesforce Sans"/>
              <a:cs typeface="Salesforce Sans"/>
            </a:endParaRPr>
          </a:p>
        </p:txBody>
      </p:sp>
      <p:grpSp>
        <p:nvGrpSpPr>
          <p:cNvPr id="1028" name="22 · card mint: Compare signals with adjudicated labels."/>
          <p:cNvGrpSpPr/>
          <p:nvPr/>
        </p:nvGrpSpPr>
        <p:grpSpPr>
          <a:xfrm>
            <a:off x="6648450" y="2486534"/>
            <a:ext cx="4673600" cy="1260930"/>
            <a:chOff x="6648450" y="2486534"/>
            <a:chExt cx="4673600" cy="1260930"/>
          </a:xfrm>
        </p:grpSpPr>
        <p:sp>
          <p:nvSpPr>
            <p:cNvPr id="1017" name="22 · confidence-text-3: Compare signals with adjudicated labels. [p22-text-0018]" descr="Native editable Unicode text; authored line breaks retained."/>
            <p:cNvSpPr txBox="1"/>
            <p:nvPr/>
          </p:nvSpPr>
          <p:spPr>
            <a:xfrm>
              <a:off x="6648450" y="2486534"/>
              <a:ext cx="4673600" cy="65303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Compare signals</a:t>
              </a:r>
              <a:endParaRPr lang="en-US" sz="2000" b="1" i="0" kern="0" spc="-38" dirty="0">
                <a:solidFill>
                  <a:srgbClr val="022AC0"/>
                </a:solidFill>
                <a:latin typeface="Manrope"/>
                <a:ea typeface="Manrope"/>
                <a:cs typeface="Manrope"/>
              </a:endParaRPr>
            </a:p>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with adjudicated labels.</a:t>
              </a:r>
              <a:endParaRPr lang="en-US" sz="2000" b="1" i="0" kern="0" spc="-38" dirty="0">
                <a:solidFill>
                  <a:srgbClr val="022AC0"/>
                </a:solidFill>
                <a:latin typeface="Manrope"/>
                <a:ea typeface="Manrope"/>
                <a:cs typeface="Manrope"/>
              </a:endParaRPr>
            </a:p>
          </p:txBody>
        </p:sp>
        <p:sp>
          <p:nvSpPr>
            <p:cNvPr id="1018" name="22 · confidence-text-4: Choose gates on development data. Report error alongside coverage. [p22-text-0019]" descr="Native editable Unicode text; authored line breaks retained."/>
            <p:cNvSpPr txBox="1"/>
            <p:nvPr/>
          </p:nvSpPr>
          <p:spPr>
            <a:xfrm>
              <a:off x="6648450" y="323616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Choose gates on development data.</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Report error alongside coverage.</a:t>
              </a:r>
              <a:endParaRPr lang="en-US" sz="1400" b="0" i="0" kern="0" spc="0" dirty="0">
                <a:solidFill>
                  <a:srgbClr val="032D60"/>
                </a:solidFill>
                <a:latin typeface="Salesforce Sans"/>
                <a:ea typeface="Salesforce Sans"/>
                <a:cs typeface="Salesforce Sans"/>
              </a:endParaRPr>
            </a:p>
          </p:txBody>
        </p:sp>
      </p:grpSp>
      <p:sp>
        <p:nvSpPr>
          <p:cNvPr id="1019" name="22 · confidence-text-5: Identity, permissions, and policy remain separate checks. [p22-text-0020]" descr="Native editable Unicode text; authored line breaks retained."/>
          <p:cNvSpPr txBox="1"/>
          <p:nvPr/>
        </p:nvSpPr>
        <p:spPr>
          <a:xfrm>
            <a:off x="6648450" y="4388814"/>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Identity, permissions, and policy</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remain separate checks.</a:t>
            </a:r>
            <a:endParaRPr lang="en-US" sz="1400" b="0" i="0" kern="0" spc="0" dirty="0">
              <a:solidFill>
                <a:srgbClr val="032D60"/>
              </a:solidFill>
              <a:latin typeface="Salesforce Sans"/>
              <a:ea typeface="Salesforce Sans"/>
              <a:cs typeface="Salesforce Sans"/>
            </a:endParaRPr>
          </a:p>
        </p:txBody>
      </p:sp>
      <p:sp>
        <p:nvSpPr>
          <p:cNvPr id="1020" name="22 · tag: VALIDATE LOCALLY [p22-text-0021]"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VALIDATE LOCALLY</a:t>
            </a:r>
            <a:endParaRPr lang="en-US" sz="1050" b="0" i="0" kern="0" spc="50" dirty="0">
              <a:solidFill>
                <a:srgbClr val="022AC0">
                  <a:alpha val="85000"/>
                </a:srgbClr>
              </a:solidFill>
              <a:latin typeface="IBM Plex Mono"/>
              <a:ea typeface="IBM Plex Mono"/>
              <a:cs typeface="IBM Plex Mono"/>
            </a:endParaRPr>
          </a:p>
        </p:txBody>
      </p:sp>
      <p:grpSp>
        <p:nvGrpSpPr>
          <p:cNvPr id="1029" name="22 · source-line: Confidence routing · Confidence semantics"/>
          <p:cNvGrpSpPr/>
          <p:nvPr/>
        </p:nvGrpSpPr>
        <p:grpSpPr>
          <a:xfrm>
            <a:off x="558800" y="6037898"/>
            <a:ext cx="11087100" cy="284456"/>
            <a:chOff x="558800" y="6037898"/>
            <a:chExt cx="11087100" cy="284456"/>
          </a:xfrm>
        </p:grpSpPr>
        <p:sp>
          <p:nvSpPr>
            <p:cNvPr id="1021" name="22 · source-line · top border [p22-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2" name="22 · span: Confidence routing · Confidence semantics [p22-text-0022]" descr="Native editable Unicode text; authored line breaks retained."/>
            <p:cNvSpPr txBox="1"/>
            <p:nvPr/>
          </p:nvSpPr>
          <p:spPr>
            <a:xfrm>
              <a:off x="558800" y="6153126"/>
              <a:ext cx="241678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nfidence routing"/>
                </a:rPr>
                <a:t>Confidence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23" name="22 · span: Illustrative distribution; no calibration claim [p22-text-0023]" descr="Native editable Unicode text; authored line breaks retained."/>
            <p:cNvSpPr txBox="1"/>
            <p:nvPr/>
          </p:nvSpPr>
          <p:spPr>
            <a:xfrm>
              <a:off x="9200964" y="6153126"/>
              <a:ext cx="244493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distribution; no calibration claim</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name="A stricter gate moves work somewhere">
    <p:bg>
      <p:bgPr>
        <a:solidFill>
          <a:srgbClr val="FFFFFF"/>
        </a:solidFill>
      </p:bgPr>
    </p:bg>
    <p:spTree>
      <p:nvGrpSpPr>
        <p:cNvPr id="1" name=""/>
        <p:cNvGrpSpPr/>
        <p:nvPr/>
      </p:nvGrpSpPr>
      <p:grpSpPr>
        <a:xfrm>
          <a:off x="0" y="0"/>
          <a:ext cx="0" cy="0"/>
          <a:chOff x="0" y="0"/>
          <a:chExt cx="0" cy="0"/>
        </a:xfrm>
      </p:grpSpPr>
      <p:sp>
        <p:nvSpPr>
          <p:cNvPr id="1000" name="23 · slide light · surface [p2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70" name="23 · chrome-min: DISAGGREGATED INTELLIGENCE"/>
          <p:cNvGrpSpPr/>
          <p:nvPr/>
        </p:nvGrpSpPr>
        <p:grpSpPr>
          <a:xfrm>
            <a:off x="558800" y="356053"/>
            <a:ext cx="11087100" cy="187325"/>
            <a:chOff x="558800" y="356053"/>
            <a:chExt cx="11087100" cy="187325"/>
          </a:xfrm>
        </p:grpSpPr>
        <p:sp>
          <p:nvSpPr>
            <p:cNvPr id="1001" name="23 · l: DISAGGREGATED INTELLIGENCE [p23-text-003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3 · r: 23 / 36 [p23-text-003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23 / 36</a:t>
              </a:r>
              <a:endParaRPr lang="en-US" sz="950" b="1" i="0" kern="0" spc="65" dirty="0">
                <a:solidFill>
                  <a:srgbClr val="022AC0"/>
                </a:solidFill>
                <a:latin typeface="Salesforce Sans"/>
                <a:ea typeface="Salesforce Sans"/>
                <a:cs typeface="Salesforce Sans"/>
              </a:endParaRPr>
            </a:p>
          </p:txBody>
        </p:sp>
      </p:grpSp>
      <p:grpSp>
        <p:nvGrpSpPr>
          <p:cNvPr id="1071" name="23 · deck-head: 06 / INTERACTIVE OPERATING POINT"/>
          <p:cNvGrpSpPr/>
          <p:nvPr/>
        </p:nvGrpSpPr>
        <p:grpSpPr>
          <a:xfrm>
            <a:off x="558800" y="775901"/>
            <a:ext cx="11087100" cy="871263"/>
            <a:chOff x="558800" y="775901"/>
            <a:chExt cx="11087100" cy="871263"/>
          </a:xfrm>
        </p:grpSpPr>
        <p:sp>
          <p:nvSpPr>
            <p:cNvPr id="1003" name="23 · gate-eyebrow: 06 / INTERACTIVE OPERATING POINT [p23-text-003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INTERACTIVE OPERATING POINT</a:t>
              </a:r>
              <a:endParaRPr lang="en-US" sz="1050" b="1" i="0" kern="0" spc="68" dirty="0">
                <a:solidFill>
                  <a:srgbClr val="022AC0"/>
                </a:solidFill>
                <a:latin typeface="Salesforce Sans"/>
                <a:ea typeface="Salesforce Sans"/>
                <a:cs typeface="Salesforce Sans"/>
              </a:endParaRPr>
            </a:p>
          </p:txBody>
        </p:sp>
        <p:sp>
          <p:nvSpPr>
            <p:cNvPr id="1004" name="23 · gate-title: A stricter gate moves work somewhere [p23-text-003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A stricter gate moves work somewhere</a:t>
              </a:r>
              <a:endParaRPr lang="en-US" sz="3600" b="1" i="0" kern="0" spc="-95" dirty="0">
                <a:solidFill>
                  <a:srgbClr val="022AC0"/>
                </a:solidFill>
                <a:latin typeface="Manrope"/>
                <a:ea typeface="Manrope"/>
                <a:cs typeface="Manrope"/>
              </a:endParaRPr>
            </a:p>
          </p:txBody>
        </p:sp>
      </p:grpSp>
      <p:grpSp>
        <p:nvGrpSpPr>
          <p:cNvPr id="1072" name="23 · sample wrong: "/>
          <p:cNvGrpSpPr/>
          <p:nvPr/>
        </p:nvGrpSpPr>
        <p:grpSpPr>
          <a:xfrm>
            <a:off x="558800" y="2458720"/>
            <a:ext cx="1222375" cy="469900"/>
            <a:chOff x="558800" y="2458720"/>
            <a:chExt cx="1222375" cy="469900"/>
          </a:xfrm>
        </p:grpSpPr>
        <p:sp>
          <p:nvSpPr>
            <p:cNvPr id="1005" name="23 · sample wrong · surface [p23-e0008]"/>
            <p:cNvSpPr/>
            <p:nvPr/>
          </p:nvSpPr>
          <p:spPr>
            <a:xfrm>
              <a:off x="558800" y="2458720"/>
              <a:ext cx="1222375" cy="469900"/>
            </a:xfrm>
            <a:prstGeom prst="roundRect">
              <a:avLst>
                <a:gd name="adj" fmla="val 16216"/>
              </a:avLst>
            </a:prstGeom>
            <a:solidFill>
              <a:srgbClr val="FFFFFF">
                <a:alpha val="76078"/>
              </a:srgbClr>
            </a:solidFill>
            <a:ln>
              <a:noFill/>
            </a:ln>
          </p:spPr>
        </p:sp>
        <p:sp>
          <p:nvSpPr>
            <p:cNvPr id="1006" name="23 · i · surface [p23-e0009]"/>
            <p:cNvSpPr/>
            <p:nvPr/>
          </p:nvSpPr>
          <p:spPr>
            <a:xfrm>
              <a:off x="666750" y="2579370"/>
              <a:ext cx="228600" cy="228600"/>
            </a:xfrm>
            <a:prstGeom prst="ellipse">
              <a:avLst/>
            </a:prstGeom>
            <a:solidFill>
              <a:srgbClr val="E6B3A5"/>
            </a:solidFill>
            <a:ln>
              <a:noFill/>
            </a:ln>
          </p:spPr>
        </p:sp>
      </p:grpSp>
      <p:grpSp>
        <p:nvGrpSpPr>
          <p:cNvPr id="1073" name="23 · sample: "/>
          <p:cNvGrpSpPr/>
          <p:nvPr/>
        </p:nvGrpSpPr>
        <p:grpSpPr>
          <a:xfrm>
            <a:off x="1895475" y="2458720"/>
            <a:ext cx="1222375" cy="469900"/>
            <a:chOff x="1895475" y="2458720"/>
            <a:chExt cx="1222375" cy="469900"/>
          </a:xfrm>
        </p:grpSpPr>
        <p:sp>
          <p:nvSpPr>
            <p:cNvPr id="1007" name="23 · sample · surface [p23-e0010]"/>
            <p:cNvSpPr/>
            <p:nvPr/>
          </p:nvSpPr>
          <p:spPr>
            <a:xfrm>
              <a:off x="1895475" y="2458720"/>
              <a:ext cx="1222375" cy="469900"/>
            </a:xfrm>
            <a:prstGeom prst="roundRect">
              <a:avLst>
                <a:gd name="adj" fmla="val 16216"/>
              </a:avLst>
            </a:prstGeom>
            <a:solidFill>
              <a:srgbClr val="FFFFFF">
                <a:alpha val="76078"/>
              </a:srgbClr>
            </a:solidFill>
            <a:ln>
              <a:noFill/>
            </a:ln>
          </p:spPr>
        </p:sp>
        <p:sp>
          <p:nvSpPr>
            <p:cNvPr id="1008" name="23 · i · surface [p23-e0011]"/>
            <p:cNvSpPr/>
            <p:nvPr/>
          </p:nvSpPr>
          <p:spPr>
            <a:xfrm>
              <a:off x="2003425" y="2579370"/>
              <a:ext cx="228600" cy="228600"/>
            </a:xfrm>
            <a:prstGeom prst="ellipse">
              <a:avLst/>
            </a:prstGeom>
            <a:solidFill>
              <a:srgbClr val="B1D6C4"/>
            </a:solidFill>
            <a:ln>
              <a:noFill/>
            </a:ln>
          </p:spPr>
        </p:sp>
      </p:grpSp>
      <p:grpSp>
        <p:nvGrpSpPr>
          <p:cNvPr id="1074" name="23 · sample: "/>
          <p:cNvGrpSpPr/>
          <p:nvPr/>
        </p:nvGrpSpPr>
        <p:grpSpPr>
          <a:xfrm>
            <a:off x="3232150" y="2458720"/>
            <a:ext cx="1222375" cy="469900"/>
            <a:chOff x="3232150" y="2458720"/>
            <a:chExt cx="1222375" cy="469900"/>
          </a:xfrm>
        </p:grpSpPr>
        <p:sp>
          <p:nvSpPr>
            <p:cNvPr id="1009" name="23 · sample · surface [p23-e0012]"/>
            <p:cNvSpPr/>
            <p:nvPr/>
          </p:nvSpPr>
          <p:spPr>
            <a:xfrm>
              <a:off x="3232150" y="2458720"/>
              <a:ext cx="1222375" cy="469900"/>
            </a:xfrm>
            <a:prstGeom prst="roundRect">
              <a:avLst>
                <a:gd name="adj" fmla="val 16216"/>
              </a:avLst>
            </a:prstGeom>
            <a:solidFill>
              <a:srgbClr val="FFFFFF">
                <a:alpha val="76078"/>
              </a:srgbClr>
            </a:solidFill>
            <a:ln>
              <a:noFill/>
            </a:ln>
          </p:spPr>
        </p:sp>
        <p:sp>
          <p:nvSpPr>
            <p:cNvPr id="1010" name="23 · i · surface [p23-e0013]"/>
            <p:cNvSpPr/>
            <p:nvPr/>
          </p:nvSpPr>
          <p:spPr>
            <a:xfrm>
              <a:off x="3340100" y="2579370"/>
              <a:ext cx="228600" cy="228600"/>
            </a:xfrm>
            <a:prstGeom prst="ellipse">
              <a:avLst/>
            </a:prstGeom>
            <a:solidFill>
              <a:srgbClr val="B1D6C4"/>
            </a:solidFill>
            <a:ln>
              <a:noFill/>
            </a:ln>
          </p:spPr>
        </p:sp>
      </p:grpSp>
      <p:grpSp>
        <p:nvGrpSpPr>
          <p:cNvPr id="1075" name="23 · sample: "/>
          <p:cNvGrpSpPr/>
          <p:nvPr/>
        </p:nvGrpSpPr>
        <p:grpSpPr>
          <a:xfrm>
            <a:off x="4568825" y="2458720"/>
            <a:ext cx="1222375" cy="469900"/>
            <a:chOff x="4568825" y="2458720"/>
            <a:chExt cx="1222375" cy="469900"/>
          </a:xfrm>
        </p:grpSpPr>
        <p:sp>
          <p:nvSpPr>
            <p:cNvPr id="1011" name="23 · sample · surface [p23-e0014]"/>
            <p:cNvSpPr/>
            <p:nvPr/>
          </p:nvSpPr>
          <p:spPr>
            <a:xfrm>
              <a:off x="4568825" y="2458720"/>
              <a:ext cx="1222375" cy="469900"/>
            </a:xfrm>
            <a:prstGeom prst="roundRect">
              <a:avLst>
                <a:gd name="adj" fmla="val 16216"/>
              </a:avLst>
            </a:prstGeom>
            <a:solidFill>
              <a:srgbClr val="FFFFFF">
                <a:alpha val="76078"/>
              </a:srgbClr>
            </a:solidFill>
            <a:ln>
              <a:noFill/>
            </a:ln>
          </p:spPr>
        </p:sp>
        <p:sp>
          <p:nvSpPr>
            <p:cNvPr id="1012" name="23 · i · surface [p23-e0015]"/>
            <p:cNvSpPr/>
            <p:nvPr/>
          </p:nvSpPr>
          <p:spPr>
            <a:xfrm>
              <a:off x="4676775" y="2579370"/>
              <a:ext cx="228600" cy="228600"/>
            </a:xfrm>
            <a:prstGeom prst="ellipse">
              <a:avLst/>
            </a:prstGeom>
            <a:solidFill>
              <a:srgbClr val="B1D6C4"/>
            </a:solidFill>
            <a:ln>
              <a:noFill/>
            </a:ln>
          </p:spPr>
        </p:sp>
      </p:grpSp>
      <p:grpSp>
        <p:nvGrpSpPr>
          <p:cNvPr id="1076" name="23 · sample wrong: "/>
          <p:cNvGrpSpPr/>
          <p:nvPr/>
        </p:nvGrpSpPr>
        <p:grpSpPr>
          <a:xfrm>
            <a:off x="558800" y="3042920"/>
            <a:ext cx="1222375" cy="469900"/>
            <a:chOff x="558800" y="3042920"/>
            <a:chExt cx="1222375" cy="469900"/>
          </a:xfrm>
        </p:grpSpPr>
        <p:sp>
          <p:nvSpPr>
            <p:cNvPr id="1013" name="23 · sample wrong · surface [p23-e0016]"/>
            <p:cNvSpPr/>
            <p:nvPr/>
          </p:nvSpPr>
          <p:spPr>
            <a:xfrm>
              <a:off x="558800" y="3042920"/>
              <a:ext cx="1222375" cy="469900"/>
            </a:xfrm>
            <a:prstGeom prst="roundRect">
              <a:avLst>
                <a:gd name="adj" fmla="val 16216"/>
              </a:avLst>
            </a:prstGeom>
            <a:solidFill>
              <a:srgbClr val="FFFFFF">
                <a:alpha val="76078"/>
              </a:srgbClr>
            </a:solidFill>
            <a:ln>
              <a:noFill/>
            </a:ln>
          </p:spPr>
        </p:sp>
        <p:sp>
          <p:nvSpPr>
            <p:cNvPr id="1014" name="23 · i · surface [p23-e0017]"/>
            <p:cNvSpPr/>
            <p:nvPr/>
          </p:nvSpPr>
          <p:spPr>
            <a:xfrm>
              <a:off x="666750" y="3163570"/>
              <a:ext cx="228600" cy="228600"/>
            </a:xfrm>
            <a:prstGeom prst="ellipse">
              <a:avLst/>
            </a:prstGeom>
            <a:solidFill>
              <a:srgbClr val="E6B3A5"/>
            </a:solidFill>
            <a:ln>
              <a:noFill/>
            </a:ln>
          </p:spPr>
        </p:sp>
      </p:grpSp>
      <p:grpSp>
        <p:nvGrpSpPr>
          <p:cNvPr id="1077" name="23 · sample: "/>
          <p:cNvGrpSpPr/>
          <p:nvPr/>
        </p:nvGrpSpPr>
        <p:grpSpPr>
          <a:xfrm>
            <a:off x="1895475" y="3042920"/>
            <a:ext cx="1222375" cy="469900"/>
            <a:chOff x="1895475" y="3042920"/>
            <a:chExt cx="1222375" cy="469900"/>
          </a:xfrm>
        </p:grpSpPr>
        <p:sp>
          <p:nvSpPr>
            <p:cNvPr id="1015" name="23 · sample · surface [p23-e0018]"/>
            <p:cNvSpPr/>
            <p:nvPr/>
          </p:nvSpPr>
          <p:spPr>
            <a:xfrm>
              <a:off x="1895475" y="3042920"/>
              <a:ext cx="1222375" cy="469900"/>
            </a:xfrm>
            <a:prstGeom prst="roundRect">
              <a:avLst>
                <a:gd name="adj" fmla="val 16216"/>
              </a:avLst>
            </a:prstGeom>
            <a:solidFill>
              <a:srgbClr val="FFFFFF">
                <a:alpha val="76078"/>
              </a:srgbClr>
            </a:solidFill>
            <a:ln>
              <a:noFill/>
            </a:ln>
          </p:spPr>
        </p:sp>
        <p:sp>
          <p:nvSpPr>
            <p:cNvPr id="1016" name="23 · i · surface [p23-e0019]"/>
            <p:cNvSpPr/>
            <p:nvPr/>
          </p:nvSpPr>
          <p:spPr>
            <a:xfrm>
              <a:off x="2003425" y="3163570"/>
              <a:ext cx="228600" cy="228600"/>
            </a:xfrm>
            <a:prstGeom prst="ellipse">
              <a:avLst/>
            </a:prstGeom>
            <a:solidFill>
              <a:srgbClr val="B1D6C4"/>
            </a:solidFill>
            <a:ln>
              <a:noFill/>
            </a:ln>
          </p:spPr>
        </p:sp>
      </p:grpSp>
      <p:grpSp>
        <p:nvGrpSpPr>
          <p:cNvPr id="1078" name="23 · sample: "/>
          <p:cNvGrpSpPr/>
          <p:nvPr/>
        </p:nvGrpSpPr>
        <p:grpSpPr>
          <a:xfrm>
            <a:off x="3232150" y="3042920"/>
            <a:ext cx="1222375" cy="469900"/>
            <a:chOff x="3232150" y="3042920"/>
            <a:chExt cx="1222375" cy="469900"/>
          </a:xfrm>
        </p:grpSpPr>
        <p:sp>
          <p:nvSpPr>
            <p:cNvPr id="1017" name="23 · sample · surface [p23-e0020]"/>
            <p:cNvSpPr/>
            <p:nvPr/>
          </p:nvSpPr>
          <p:spPr>
            <a:xfrm>
              <a:off x="3232150" y="3042920"/>
              <a:ext cx="1222375" cy="469900"/>
            </a:xfrm>
            <a:prstGeom prst="roundRect">
              <a:avLst>
                <a:gd name="adj" fmla="val 16216"/>
              </a:avLst>
            </a:prstGeom>
            <a:solidFill>
              <a:srgbClr val="FFFFFF">
                <a:alpha val="76078"/>
              </a:srgbClr>
            </a:solidFill>
            <a:ln>
              <a:noFill/>
            </a:ln>
          </p:spPr>
        </p:sp>
        <p:sp>
          <p:nvSpPr>
            <p:cNvPr id="1018" name="23 · i · surface [p23-e0021]"/>
            <p:cNvSpPr/>
            <p:nvPr/>
          </p:nvSpPr>
          <p:spPr>
            <a:xfrm>
              <a:off x="3340100" y="3163570"/>
              <a:ext cx="228600" cy="228600"/>
            </a:xfrm>
            <a:prstGeom prst="ellipse">
              <a:avLst/>
            </a:prstGeom>
            <a:solidFill>
              <a:srgbClr val="B1D6C4"/>
            </a:solidFill>
            <a:ln>
              <a:noFill/>
            </a:ln>
          </p:spPr>
        </p:sp>
      </p:grpSp>
      <p:sp>
        <p:nvSpPr>
          <p:cNvPr id="1019" name="23 · stat · surface [p23-e0022]"/>
          <p:cNvSpPr/>
          <p:nvPr/>
        </p:nvSpPr>
        <p:spPr>
          <a:xfrm>
            <a:off x="6426200" y="2770505"/>
            <a:ext cx="1642533" cy="960033"/>
          </a:xfrm>
          <a:prstGeom prst="roundRect">
            <a:avLst>
              <a:gd name="adj" fmla="val 10583"/>
            </a:avLst>
          </a:prstGeom>
          <a:solidFill>
            <a:srgbClr val="FFFFFF">
              <a:alpha val="85882"/>
            </a:srgbClr>
          </a:solidFill>
          <a:ln>
            <a:noFill/>
          </a:ln>
        </p:spPr>
      </p:sp>
      <p:sp>
        <p:nvSpPr>
          <p:cNvPr id="1020" name="23 · stat · surface [p23-e0023]"/>
          <p:cNvSpPr/>
          <p:nvPr/>
        </p:nvSpPr>
        <p:spPr>
          <a:xfrm>
            <a:off x="8157633" y="2770505"/>
            <a:ext cx="1642533" cy="960033"/>
          </a:xfrm>
          <a:prstGeom prst="roundRect">
            <a:avLst>
              <a:gd name="adj" fmla="val 10583"/>
            </a:avLst>
          </a:prstGeom>
          <a:solidFill>
            <a:srgbClr val="FFFFFF">
              <a:alpha val="85882"/>
            </a:srgbClr>
          </a:solidFill>
          <a:ln>
            <a:noFill/>
          </a:ln>
        </p:spPr>
      </p:sp>
      <p:sp>
        <p:nvSpPr>
          <p:cNvPr id="1021" name="23 · stat · surface [p23-e0024]"/>
          <p:cNvSpPr/>
          <p:nvPr/>
        </p:nvSpPr>
        <p:spPr>
          <a:xfrm>
            <a:off x="9889067" y="2770505"/>
            <a:ext cx="1642533" cy="960033"/>
          </a:xfrm>
          <a:prstGeom prst="roundRect">
            <a:avLst>
              <a:gd name="adj" fmla="val 10583"/>
            </a:avLst>
          </a:prstGeom>
          <a:solidFill>
            <a:srgbClr val="FFFFFF">
              <a:alpha val="85882"/>
            </a:srgbClr>
          </a:solidFill>
          <a:ln>
            <a:noFill/>
          </a:ln>
        </p:spPr>
      </p:sp>
      <p:sp>
        <p:nvSpPr>
          <p:cNvPr id="1022" name="23 · gate-text-1: Twelve constructed examples [p23-text-0035]"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Twelve constructed examples</a:t>
            </a:r>
            <a:endParaRPr lang="en-US" sz="2000" b="1" i="0" kern="0" spc="-38" dirty="0">
              <a:solidFill>
                <a:srgbClr val="022AC0"/>
              </a:solidFill>
              <a:latin typeface="Manrope"/>
              <a:ea typeface="Manrope"/>
              <a:cs typeface="Manrope"/>
            </a:endParaRPr>
          </a:p>
        </p:txBody>
      </p:sp>
      <p:grpSp>
        <p:nvGrpSpPr>
          <p:cNvPr id="1079" name="23 · sample wrong: ×"/>
          <p:cNvGrpSpPr/>
          <p:nvPr/>
        </p:nvGrpSpPr>
        <p:grpSpPr>
          <a:xfrm>
            <a:off x="666750" y="2579370"/>
            <a:ext cx="655315" cy="234950"/>
            <a:chOff x="666750" y="2579370"/>
            <a:chExt cx="655315" cy="234950"/>
          </a:xfrm>
        </p:grpSpPr>
        <p:sp>
          <p:nvSpPr>
            <p:cNvPr id="1023" name="23 · i: × [p23-text-0036]" descr="Native editable Unicode text; authored line breaks retained."/>
            <p:cNvSpPr txBox="1"/>
            <p:nvPr/>
          </p:nvSpPr>
          <p:spPr>
            <a:xfrm>
              <a:off x="666750" y="25793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4" name="23 · sample wrong: 0.99 [p23-text-0037]" descr="Native editable Unicode text; authored line breaks retained."/>
            <p:cNvSpPr txBox="1"/>
            <p:nvPr/>
          </p:nvSpPr>
          <p:spPr>
            <a:xfrm>
              <a:off x="958850"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0.99</a:t>
              </a:r>
              <a:endParaRPr lang="en-US" sz="1150" b="0" i="0" kern="0" spc="0" dirty="0">
                <a:solidFill>
                  <a:srgbClr val="032D60"/>
                </a:solidFill>
                <a:latin typeface="IBM Plex Mono"/>
                <a:ea typeface="IBM Plex Mono"/>
                <a:cs typeface="IBM Plex Mono"/>
              </a:endParaRPr>
            </a:p>
          </p:txBody>
        </p:sp>
      </p:grpSp>
      <p:grpSp>
        <p:nvGrpSpPr>
          <p:cNvPr id="1080" name="23 · sample: ✓"/>
          <p:cNvGrpSpPr/>
          <p:nvPr/>
        </p:nvGrpSpPr>
        <p:grpSpPr>
          <a:xfrm>
            <a:off x="2003425" y="2598736"/>
            <a:ext cx="655315" cy="235282"/>
            <a:chOff x="2003425" y="2598736"/>
            <a:chExt cx="655315" cy="235282"/>
          </a:xfrm>
        </p:grpSpPr>
        <p:sp>
          <p:nvSpPr>
            <p:cNvPr id="1025" name="23 · i: ✓ [p23-text-0038]" descr="Native editable Unicode text; authored line breaks retained."/>
            <p:cNvSpPr txBox="1"/>
            <p:nvPr/>
          </p:nvSpPr>
          <p:spPr>
            <a:xfrm>
              <a:off x="2003425"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6" name="23 · sample: 0.96 [p23-text-0039]" descr="Native editable Unicode text; authored line breaks retained."/>
            <p:cNvSpPr txBox="1"/>
            <p:nvPr/>
          </p:nvSpPr>
          <p:spPr>
            <a:xfrm>
              <a:off x="2295525"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0.96</a:t>
              </a:r>
              <a:endParaRPr lang="en-US" sz="1150" b="0" i="0" kern="0" spc="0" dirty="0">
                <a:solidFill>
                  <a:srgbClr val="032D60"/>
                </a:solidFill>
                <a:latin typeface="IBM Plex Mono"/>
                <a:ea typeface="IBM Plex Mono"/>
                <a:cs typeface="IBM Plex Mono"/>
              </a:endParaRPr>
            </a:p>
          </p:txBody>
        </p:sp>
      </p:grpSp>
      <p:grpSp>
        <p:nvGrpSpPr>
          <p:cNvPr id="1081" name="23 · sample: ✓"/>
          <p:cNvGrpSpPr/>
          <p:nvPr/>
        </p:nvGrpSpPr>
        <p:grpSpPr>
          <a:xfrm>
            <a:off x="3340100" y="2598736"/>
            <a:ext cx="655315" cy="235282"/>
            <a:chOff x="3340100" y="2598736"/>
            <a:chExt cx="655315" cy="235282"/>
          </a:xfrm>
        </p:grpSpPr>
        <p:sp>
          <p:nvSpPr>
            <p:cNvPr id="1027" name="23 · i: ✓ [p23-text-0040]" descr="Native editable Unicode text; authored line breaks retained."/>
            <p:cNvSpPr txBox="1"/>
            <p:nvPr/>
          </p:nvSpPr>
          <p:spPr>
            <a:xfrm>
              <a:off x="3340100"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28" name="23 · sample: 0.92 [p23-text-0041]" descr="Native editable Unicode text; authored line breaks retained."/>
            <p:cNvSpPr txBox="1"/>
            <p:nvPr/>
          </p:nvSpPr>
          <p:spPr>
            <a:xfrm>
              <a:off x="3632200"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0.92</a:t>
              </a:r>
              <a:endParaRPr lang="en-US" sz="1150" b="0" i="0" kern="0" spc="0" dirty="0">
                <a:solidFill>
                  <a:srgbClr val="032D60"/>
                </a:solidFill>
                <a:latin typeface="IBM Plex Mono"/>
                <a:ea typeface="IBM Plex Mono"/>
                <a:cs typeface="IBM Plex Mono"/>
              </a:endParaRPr>
            </a:p>
          </p:txBody>
        </p:sp>
      </p:grpSp>
      <p:grpSp>
        <p:nvGrpSpPr>
          <p:cNvPr id="1082" name="23 · sample: ✓"/>
          <p:cNvGrpSpPr/>
          <p:nvPr/>
        </p:nvGrpSpPr>
        <p:grpSpPr>
          <a:xfrm>
            <a:off x="4676775" y="2598736"/>
            <a:ext cx="655315" cy="235282"/>
            <a:chOff x="4676775" y="2598736"/>
            <a:chExt cx="655315" cy="235282"/>
          </a:xfrm>
        </p:grpSpPr>
        <p:sp>
          <p:nvSpPr>
            <p:cNvPr id="1029" name="23 · i: ✓ [p23-text-0042]" descr="Native editable Unicode text; authored line breaks retained."/>
            <p:cNvSpPr txBox="1"/>
            <p:nvPr/>
          </p:nvSpPr>
          <p:spPr>
            <a:xfrm>
              <a:off x="4676775" y="25990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0" name="23 · sample: 0.88 [p23-text-0043]" descr="Native editable Unicode text; authored line breaks retained."/>
            <p:cNvSpPr txBox="1"/>
            <p:nvPr/>
          </p:nvSpPr>
          <p:spPr>
            <a:xfrm>
              <a:off x="4968875" y="25987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0.88</a:t>
              </a:r>
              <a:endParaRPr lang="en-US" sz="1150" b="0" i="0" kern="0" spc="0" dirty="0">
                <a:solidFill>
                  <a:srgbClr val="032D60"/>
                </a:solidFill>
                <a:latin typeface="IBM Plex Mono"/>
                <a:ea typeface="IBM Plex Mono"/>
                <a:cs typeface="IBM Plex Mono"/>
              </a:endParaRPr>
            </a:p>
          </p:txBody>
        </p:sp>
      </p:grpSp>
      <p:grpSp>
        <p:nvGrpSpPr>
          <p:cNvPr id="1083" name="23 · sample wrong: ×"/>
          <p:cNvGrpSpPr/>
          <p:nvPr/>
        </p:nvGrpSpPr>
        <p:grpSpPr>
          <a:xfrm>
            <a:off x="666750" y="3163570"/>
            <a:ext cx="655315" cy="234950"/>
            <a:chOff x="666750" y="3163570"/>
            <a:chExt cx="655315" cy="234950"/>
          </a:xfrm>
        </p:grpSpPr>
        <p:sp>
          <p:nvSpPr>
            <p:cNvPr id="1031" name="23 · i: × [p23-text-0044]" descr="Native editable Unicode text; authored line breaks retained."/>
            <p:cNvSpPr txBox="1"/>
            <p:nvPr/>
          </p:nvSpPr>
          <p:spPr>
            <a:xfrm>
              <a:off x="666750" y="31635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2" name="23 · sample wrong: 0.85 [p23-text-0045]" descr="Native editable Unicode text; authored line breaks retained."/>
            <p:cNvSpPr txBox="1"/>
            <p:nvPr/>
          </p:nvSpPr>
          <p:spPr>
            <a:xfrm>
              <a:off x="958850"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0.85</a:t>
              </a:r>
              <a:endParaRPr lang="en-US" sz="1150" b="0" i="0" kern="0" spc="0" dirty="0">
                <a:solidFill>
                  <a:srgbClr val="032D60"/>
                </a:solidFill>
                <a:latin typeface="IBM Plex Mono"/>
                <a:ea typeface="IBM Plex Mono"/>
                <a:cs typeface="IBM Plex Mono"/>
              </a:endParaRPr>
            </a:p>
          </p:txBody>
        </p:sp>
      </p:grpSp>
      <p:grpSp>
        <p:nvGrpSpPr>
          <p:cNvPr id="1084" name="23 · sample: ✓"/>
          <p:cNvGrpSpPr/>
          <p:nvPr/>
        </p:nvGrpSpPr>
        <p:grpSpPr>
          <a:xfrm>
            <a:off x="2003425" y="3182936"/>
            <a:ext cx="655315" cy="235282"/>
            <a:chOff x="2003425" y="3182936"/>
            <a:chExt cx="655315" cy="235282"/>
          </a:xfrm>
        </p:grpSpPr>
        <p:sp>
          <p:nvSpPr>
            <p:cNvPr id="1033" name="23 · i: ✓ [p23-text-0046]" descr="Native editable Unicode text; authored line breaks retained."/>
            <p:cNvSpPr txBox="1"/>
            <p:nvPr/>
          </p:nvSpPr>
          <p:spPr>
            <a:xfrm>
              <a:off x="2003425"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4" name="23 · sample: 0.81 [p23-text-0047]" descr="Native editable Unicode text; authored line breaks retained."/>
            <p:cNvSpPr txBox="1"/>
            <p:nvPr/>
          </p:nvSpPr>
          <p:spPr>
            <a:xfrm>
              <a:off x="2295525"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0.81</a:t>
              </a:r>
              <a:endParaRPr lang="en-US" sz="1150" b="0" i="0" kern="0" spc="0" dirty="0">
                <a:solidFill>
                  <a:srgbClr val="032D60"/>
                </a:solidFill>
                <a:latin typeface="IBM Plex Mono"/>
                <a:ea typeface="IBM Plex Mono"/>
                <a:cs typeface="IBM Plex Mono"/>
              </a:endParaRPr>
            </a:p>
          </p:txBody>
        </p:sp>
      </p:grpSp>
      <p:grpSp>
        <p:nvGrpSpPr>
          <p:cNvPr id="1085" name="23 · sample: ✓"/>
          <p:cNvGrpSpPr/>
          <p:nvPr/>
        </p:nvGrpSpPr>
        <p:grpSpPr>
          <a:xfrm>
            <a:off x="3340100" y="3182936"/>
            <a:ext cx="655315" cy="235282"/>
            <a:chOff x="3340100" y="3182936"/>
            <a:chExt cx="655315" cy="235282"/>
          </a:xfrm>
        </p:grpSpPr>
        <p:sp>
          <p:nvSpPr>
            <p:cNvPr id="1035" name="23 · i: ✓ [p23-text-0048]" descr="Native editable Unicode text; authored line breaks retained."/>
            <p:cNvSpPr txBox="1"/>
            <p:nvPr/>
          </p:nvSpPr>
          <p:spPr>
            <a:xfrm>
              <a:off x="3340100"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solidFill>
                  <a:latin typeface="Salesforce Sans"/>
                  <a:ea typeface="Salesforce Sans"/>
                  <a:cs typeface="Salesforce Sans"/>
                </a:rPr>
                <a:t>✓</a:t>
              </a:r>
              <a:endParaRPr lang="en-US" sz="1100" b="1" i="0" kern="0" spc="0" dirty="0">
                <a:solidFill>
                  <a:srgbClr val="032D60"/>
                </a:solidFill>
                <a:latin typeface="Salesforce Sans"/>
                <a:ea typeface="Salesforce Sans"/>
                <a:cs typeface="Salesforce Sans"/>
              </a:endParaRPr>
            </a:p>
          </p:txBody>
        </p:sp>
        <p:sp>
          <p:nvSpPr>
            <p:cNvPr id="1036" name="23 · sample: 0.76 [p23-text-0049]" descr="Native editable Unicode text; authored line breaks retained."/>
            <p:cNvSpPr txBox="1"/>
            <p:nvPr/>
          </p:nvSpPr>
          <p:spPr>
            <a:xfrm>
              <a:off x="3632200"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solidFill>
                  <a:latin typeface="IBM Plex Mono"/>
                  <a:ea typeface="IBM Plex Mono"/>
                  <a:cs typeface="IBM Plex Mono"/>
                </a:rPr>
                <a:t>0.76</a:t>
              </a:r>
              <a:endParaRPr lang="en-US" sz="1150" b="0" i="0" kern="0" spc="0" dirty="0">
                <a:solidFill>
                  <a:srgbClr val="032D60"/>
                </a:solidFill>
                <a:latin typeface="IBM Plex Mono"/>
                <a:ea typeface="IBM Plex Mono"/>
                <a:cs typeface="IBM Plex Mono"/>
              </a:endParaRPr>
            </a:p>
          </p:txBody>
        </p:sp>
      </p:grpSp>
      <p:sp>
        <p:nvSpPr>
          <p:cNvPr id="1037" name="23 · gate-text-2: ✓ correct route · × wrong route Faded examples go to review. [p23-text-0050]" descr="Native editable Unicode text; authored line breaks retained."/>
          <p:cNvSpPr txBox="1"/>
          <p:nvPr/>
        </p:nvSpPr>
        <p:spPr>
          <a:xfrm>
            <a:off x="558800" y="4281806"/>
            <a:ext cx="5245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 correct route · × wrong route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Faded examples go to review.</a:t>
            </a:r>
            <a:endParaRPr lang="en-US" sz="1250" b="0" i="0" kern="0" spc="0" dirty="0">
              <a:solidFill>
                <a:srgbClr val="032D60"/>
              </a:solidFill>
              <a:latin typeface="Salesforce Sans"/>
              <a:ea typeface="Salesforce Sans"/>
              <a:cs typeface="Salesforce Sans"/>
            </a:endParaRPr>
          </a:p>
        </p:txBody>
      </p:sp>
      <p:sp>
        <p:nvSpPr>
          <p:cNvPr id="1038" name="23 · label: Automatic-route threshold: 0.75 [p23-text-0051]" descr="Native editable Unicode text; authored line breaks retained."/>
          <p:cNvSpPr txBox="1"/>
          <p:nvPr/>
        </p:nvSpPr>
        <p:spPr>
          <a:xfrm>
            <a:off x="6426200" y="2262505"/>
            <a:ext cx="5118100" cy="336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00"/>
              </a:lnSpc>
              <a:spcBef>
                <a:spcPts val="0"/>
              </a:spcBef>
              <a:spcAft>
                <a:spcPts val="0"/>
              </a:spcAft>
              <a:buNone/>
            </a:pPr>
            <a:r>
              <a:rPr lang="en-US" sz="1500" b="0" i="0" kern="0" spc="0" dirty="0">
                <a:solidFill>
                  <a:srgbClr val="032D60"/>
                </a:solidFill>
                <a:latin typeface="Salesforce Sans"/>
                <a:ea typeface="Salesforce Sans"/>
                <a:cs typeface="Salesforce Sans"/>
              </a:rPr>
              <a:t xml:space="preserve">Automatic-route threshold: </a:t>
            </a:r>
            <a:r>
              <a:rPr lang="en-US" sz="2000" b="0" i="0" kern="0" spc="0" dirty="0">
                <a:solidFill>
                  <a:srgbClr val="032D60"/>
                </a:solidFill>
                <a:latin typeface="IBM Plex Mono"/>
                <a:ea typeface="IBM Plex Mono"/>
                <a:cs typeface="IBM Plex Mono"/>
              </a:rPr>
              <a:t>0.75</a:t>
            </a:r>
            <a:endParaRPr lang="en-US" sz="2000" b="0" i="0" kern="0" spc="0" dirty="0">
              <a:solidFill>
                <a:srgbClr val="032D60"/>
              </a:solidFill>
              <a:latin typeface="IBM Plex Mono"/>
              <a:ea typeface="IBM Plex Mono"/>
              <a:cs typeface="IBM Plex Mono"/>
            </a:endParaRPr>
          </a:p>
        </p:txBody>
      </p:sp>
      <p:grpSp>
        <p:nvGrpSpPr>
          <p:cNvPr id="1086" name="23 · stat: 58%"/>
          <p:cNvGrpSpPr/>
          <p:nvPr/>
        </p:nvGrpSpPr>
        <p:grpSpPr>
          <a:xfrm>
            <a:off x="6565900" y="2877267"/>
            <a:ext cx="1375833" cy="719921"/>
            <a:chOff x="6565900" y="2877267"/>
            <a:chExt cx="1375833" cy="719921"/>
          </a:xfrm>
        </p:grpSpPr>
        <p:sp>
          <p:nvSpPr>
            <p:cNvPr id="1039" name="23 · strong: 58% [p23-text-0052]" descr="Native editable Unicode text; authored line breaks retained."/>
            <p:cNvSpPr txBox="1"/>
            <p:nvPr/>
          </p:nvSpPr>
          <p:spPr>
            <a:xfrm>
              <a:off x="6565900"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58%</a:t>
              </a:r>
              <a:endParaRPr lang="en-US" sz="2850" b="1" i="0" kern="0" spc="0" dirty="0">
                <a:solidFill>
                  <a:srgbClr val="032D60"/>
                </a:solidFill>
                <a:latin typeface="Salesforce Sans"/>
                <a:ea typeface="Salesforce Sans"/>
                <a:cs typeface="Salesforce Sans"/>
              </a:endParaRPr>
            </a:p>
          </p:txBody>
        </p:sp>
        <p:sp>
          <p:nvSpPr>
            <p:cNvPr id="1040" name="23 · stat: 7 / 12 auto-routed [p23-text-0053]" descr="Native editable Unicode text; authored line breaks retained."/>
            <p:cNvSpPr txBox="1"/>
            <p:nvPr/>
          </p:nvSpPr>
          <p:spPr>
            <a:xfrm>
              <a:off x="6565900"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7 / 12 auto-routed</a:t>
              </a:r>
              <a:endParaRPr lang="en-US" sz="1150" b="0" i="0" kern="0" spc="0" dirty="0">
                <a:solidFill>
                  <a:srgbClr val="032D60"/>
                </a:solidFill>
                <a:latin typeface="Salesforce Sans"/>
                <a:ea typeface="Salesforce Sans"/>
                <a:cs typeface="Salesforce Sans"/>
              </a:endParaRPr>
            </a:p>
          </p:txBody>
        </p:sp>
      </p:grpSp>
      <p:grpSp>
        <p:nvGrpSpPr>
          <p:cNvPr id="1087" name="23 · stat: 29%"/>
          <p:cNvGrpSpPr/>
          <p:nvPr/>
        </p:nvGrpSpPr>
        <p:grpSpPr>
          <a:xfrm>
            <a:off x="8297333" y="2877267"/>
            <a:ext cx="1375833" cy="719921"/>
            <a:chOff x="8297333" y="2877267"/>
            <a:chExt cx="1375833" cy="719921"/>
          </a:xfrm>
        </p:grpSpPr>
        <p:sp>
          <p:nvSpPr>
            <p:cNvPr id="1041" name="23 · strong: 29% [p23-text-0054]" descr="Native editable Unicode text; authored line breaks retained."/>
            <p:cNvSpPr txBox="1"/>
            <p:nvPr/>
          </p:nvSpPr>
          <p:spPr>
            <a:xfrm>
              <a:off x="8297333"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29%</a:t>
              </a:r>
              <a:endParaRPr lang="en-US" sz="2850" b="1" i="0" kern="0" spc="0" dirty="0">
                <a:solidFill>
                  <a:srgbClr val="032D60"/>
                </a:solidFill>
                <a:latin typeface="Salesforce Sans"/>
                <a:ea typeface="Salesforce Sans"/>
                <a:cs typeface="Salesforce Sans"/>
              </a:endParaRPr>
            </a:p>
          </p:txBody>
        </p:sp>
        <p:sp>
          <p:nvSpPr>
            <p:cNvPr id="1042" name="23 · stat: 2 / 7 wrong [p23-text-0055]" descr="Native editable Unicode text; authored line breaks retained."/>
            <p:cNvSpPr txBox="1"/>
            <p:nvPr/>
          </p:nvSpPr>
          <p:spPr>
            <a:xfrm>
              <a:off x="8297333"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2 / 7 wrong</a:t>
              </a:r>
              <a:endParaRPr lang="en-US" sz="1150" b="0" i="0" kern="0" spc="0" dirty="0">
                <a:solidFill>
                  <a:srgbClr val="032D60"/>
                </a:solidFill>
                <a:latin typeface="Salesforce Sans"/>
                <a:ea typeface="Salesforce Sans"/>
                <a:cs typeface="Salesforce Sans"/>
              </a:endParaRPr>
            </a:p>
          </p:txBody>
        </p:sp>
      </p:grpSp>
      <p:grpSp>
        <p:nvGrpSpPr>
          <p:cNvPr id="1088" name="23 · stat: 5"/>
          <p:cNvGrpSpPr/>
          <p:nvPr/>
        </p:nvGrpSpPr>
        <p:grpSpPr>
          <a:xfrm>
            <a:off x="10028767" y="2877267"/>
            <a:ext cx="1375833" cy="719921"/>
            <a:chOff x="10028767" y="2877267"/>
            <a:chExt cx="1375833" cy="719921"/>
          </a:xfrm>
        </p:grpSpPr>
        <p:sp>
          <p:nvSpPr>
            <p:cNvPr id="1043" name="23 · strong: 5 [p23-text-0056]" descr="Native editable Unicode text; authored line breaks retained."/>
            <p:cNvSpPr txBox="1"/>
            <p:nvPr/>
          </p:nvSpPr>
          <p:spPr>
            <a:xfrm>
              <a:off x="10028767" y="2877267"/>
              <a:ext cx="1375833" cy="4703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135"/>
                </a:lnSpc>
                <a:spcBef>
                  <a:spcPts val="0"/>
                </a:spcBef>
                <a:spcAft>
                  <a:spcPts val="0"/>
                </a:spcAft>
                <a:buNone/>
              </a:pPr>
              <a:r>
                <a:rPr lang="en-US" sz="2850" b="1" i="0" kern="0" spc="0" dirty="0">
                  <a:solidFill>
                    <a:srgbClr val="032D60"/>
                  </a:solidFill>
                  <a:latin typeface="Salesforce Sans"/>
                  <a:ea typeface="Salesforce Sans"/>
                  <a:cs typeface="Salesforce Sans"/>
                </a:rPr>
                <a:t>5</a:t>
              </a:r>
              <a:endParaRPr lang="en-US" sz="2850" b="1" i="0" kern="0" spc="0" dirty="0">
                <a:solidFill>
                  <a:srgbClr val="032D60"/>
                </a:solidFill>
                <a:latin typeface="Salesforce Sans"/>
                <a:ea typeface="Salesforce Sans"/>
                <a:cs typeface="Salesforce Sans"/>
              </a:endParaRPr>
            </a:p>
          </p:txBody>
        </p:sp>
        <p:sp>
          <p:nvSpPr>
            <p:cNvPr id="1044" name="23 · stat: To review [p23-text-0057]" descr="Native editable Unicode text; authored line breaks retained."/>
            <p:cNvSpPr txBox="1"/>
            <p:nvPr/>
          </p:nvSpPr>
          <p:spPr>
            <a:xfrm>
              <a:off x="10028767" y="3403600"/>
              <a:ext cx="1375833" cy="19358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74"/>
                </a:lnSpc>
                <a:spcBef>
                  <a:spcPts val="0"/>
                </a:spcBef>
                <a:spcAft>
                  <a:spcPts val="0"/>
                </a:spcAft>
                <a:buNone/>
              </a:pPr>
              <a:r>
                <a:rPr lang="en-US" sz="1150" b="0" i="0" kern="0" spc="0" dirty="0">
                  <a:solidFill>
                    <a:srgbClr val="032D60"/>
                  </a:solidFill>
                  <a:latin typeface="Salesforce Sans"/>
                  <a:ea typeface="Salesforce Sans"/>
                  <a:cs typeface="Salesforce Sans"/>
                </a:rPr>
                <a:t>To review</a:t>
              </a:r>
              <a:endParaRPr lang="en-US" sz="1150" b="0" i="0" kern="0" spc="0" dirty="0">
                <a:solidFill>
                  <a:srgbClr val="032D60"/>
                </a:solidFill>
                <a:latin typeface="Salesforce Sans"/>
                <a:ea typeface="Salesforce Sans"/>
                <a:cs typeface="Salesforce Sans"/>
              </a:endParaRPr>
            </a:p>
          </p:txBody>
        </p:sp>
      </p:grpSp>
      <p:sp>
        <p:nvSpPr>
          <p:cNvPr id="1045" name="23 · gate-text-3: A high-scoring mistake can survive the gate. Review consumes capacity and can  [p23-text-0058]" descr="Native editable Unicode text; authored line breaks retained."/>
          <p:cNvSpPr txBox="1"/>
          <p:nvPr/>
        </p:nvSpPr>
        <p:spPr>
          <a:xfrm>
            <a:off x="6426200" y="3743683"/>
            <a:ext cx="5118100" cy="54737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A high-scoring mistake can survive the gate.</a:t>
            </a:r>
            <a:endParaRPr lang="en-US" sz="1500" b="0" i="0" kern="0" spc="0" dirty="0">
              <a:solidFill>
                <a:srgbClr val="032D60"/>
              </a:solidFill>
              <a:latin typeface="Salesforce Sans"/>
              <a:ea typeface="Salesforce Sans"/>
              <a:cs typeface="Salesforce Sans"/>
            </a:endParaRPr>
          </a:p>
          <a:p>
            <a:pPr marL="0" marR="0" indent="0" algn="l" fontAlgn="base">
              <a:lnSpc>
                <a:spcPts val="2130"/>
              </a:lnSpc>
              <a:spcBef>
                <a:spcPts val="0"/>
              </a:spcBef>
              <a:spcAft>
                <a:spcPts val="0"/>
              </a:spcAft>
              <a:buNone/>
            </a:pPr>
            <a:r>
              <a:rPr lang="en-US" sz="1500" b="0" i="0" kern="0" spc="0" dirty="0">
                <a:solidFill>
                  <a:srgbClr val="032D60"/>
                </a:solidFill>
                <a:latin typeface="Salesforce Sans"/>
                <a:ea typeface="Salesforce Sans"/>
                <a:cs typeface="Salesforce Sans"/>
              </a:rPr>
              <a:t>Review consumes capacity and can add delay.</a:t>
            </a:r>
            <a:endParaRPr lang="en-US" sz="1500" b="0" i="0" kern="0" spc="0" dirty="0">
              <a:solidFill>
                <a:srgbClr val="032D60"/>
              </a:solidFill>
              <a:latin typeface="Salesforce Sans"/>
              <a:ea typeface="Salesforce Sans"/>
              <a:cs typeface="Salesforce Sans"/>
            </a:endParaRPr>
          </a:p>
        </p:txBody>
      </p:sp>
      <p:grpSp>
        <p:nvGrpSpPr>
          <p:cNvPr id="1089" name="23 · sample review: ✓"/>
          <p:cNvGrpSpPr/>
          <p:nvPr/>
        </p:nvGrpSpPr>
        <p:grpSpPr>
          <a:xfrm>
            <a:off x="4575175" y="3049270"/>
            <a:ext cx="1209675" cy="457200"/>
            <a:chOff x="4575175" y="3049270"/>
            <a:chExt cx="1209675" cy="457200"/>
          </a:xfrm>
        </p:grpSpPr>
        <p:sp>
          <p:nvSpPr>
            <p:cNvPr id="1046" name="23 · sample review · outline [p23-e0052]"/>
            <p:cNvSpPr/>
            <p:nvPr/>
          </p:nvSpPr>
          <p:spPr>
            <a:xfrm>
              <a:off x="4575175" y="3049270"/>
              <a:ext cx="1209675" cy="457200"/>
            </a:xfrm>
            <a:prstGeom prst="roundRect">
              <a:avLst>
                <a:gd name="adj" fmla="val 15278"/>
              </a:avLst>
            </a:prstGeom>
            <a:noFill/>
            <a:ln w="12700" algn="ctr">
              <a:solidFill>
                <a:srgbClr val="799AB1">
                  <a:alpha val="45000"/>
                </a:srgbClr>
              </a:solidFill>
              <a:prstDash val="solid"/>
            </a:ln>
          </p:spPr>
        </p:sp>
        <p:sp>
          <p:nvSpPr>
            <p:cNvPr id="1047" name="23 · i · surface [p23-e0053]"/>
            <p:cNvSpPr/>
            <p:nvPr/>
          </p:nvSpPr>
          <p:spPr>
            <a:xfrm>
              <a:off x="4676775" y="3163570"/>
              <a:ext cx="228600" cy="228600"/>
            </a:xfrm>
            <a:prstGeom prst="ellipse">
              <a:avLst/>
            </a:prstGeom>
            <a:solidFill>
              <a:srgbClr val="B1D6C4">
                <a:alpha val="45000"/>
              </a:srgbClr>
            </a:solidFill>
            <a:ln>
              <a:noFill/>
            </a:ln>
          </p:spPr>
        </p:sp>
        <p:sp>
          <p:nvSpPr>
            <p:cNvPr id="1048" name="23 · i: ✓ [p23-text-0059]" descr="Native editable Unicode text; authored line breaks retained."/>
            <p:cNvSpPr txBox="1"/>
            <p:nvPr/>
          </p:nvSpPr>
          <p:spPr>
            <a:xfrm>
              <a:off x="4676775" y="31832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49" name="23 · sample review: 0.70 [p23-text-0060]" descr="Native editable Unicode text; authored line breaks retained."/>
            <p:cNvSpPr txBox="1"/>
            <p:nvPr/>
          </p:nvSpPr>
          <p:spPr>
            <a:xfrm>
              <a:off x="4968875" y="31829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0.70</a:t>
              </a:r>
              <a:endParaRPr lang="en-US" sz="1150" b="0" i="0" kern="0" spc="0" dirty="0">
                <a:solidFill>
                  <a:srgbClr val="032D60">
                    <a:alpha val="45000"/>
                  </a:srgbClr>
                </a:solidFill>
                <a:latin typeface="IBM Plex Mono"/>
                <a:ea typeface="IBM Plex Mono"/>
                <a:cs typeface="IBM Plex Mono"/>
              </a:endParaRPr>
            </a:p>
          </p:txBody>
        </p:sp>
      </p:grpSp>
      <p:grpSp>
        <p:nvGrpSpPr>
          <p:cNvPr id="1090" name="23 · sample wrong review: ×"/>
          <p:cNvGrpSpPr/>
          <p:nvPr/>
        </p:nvGrpSpPr>
        <p:grpSpPr>
          <a:xfrm>
            <a:off x="565150" y="3633470"/>
            <a:ext cx="1209675" cy="457200"/>
            <a:chOff x="565150" y="3633470"/>
            <a:chExt cx="1209675" cy="457200"/>
          </a:xfrm>
        </p:grpSpPr>
        <p:sp>
          <p:nvSpPr>
            <p:cNvPr id="1050" name="23 · sample wrong review · outline [p23-e0056]"/>
            <p:cNvSpPr/>
            <p:nvPr/>
          </p:nvSpPr>
          <p:spPr>
            <a:xfrm>
              <a:off x="565150" y="3633470"/>
              <a:ext cx="1209675" cy="457200"/>
            </a:xfrm>
            <a:prstGeom prst="roundRect">
              <a:avLst>
                <a:gd name="adj" fmla="val 15278"/>
              </a:avLst>
            </a:prstGeom>
            <a:noFill/>
            <a:ln w="12700" algn="ctr">
              <a:solidFill>
                <a:srgbClr val="799AB1">
                  <a:alpha val="45000"/>
                </a:srgbClr>
              </a:solidFill>
              <a:prstDash val="solid"/>
            </a:ln>
          </p:spPr>
        </p:sp>
        <p:sp>
          <p:nvSpPr>
            <p:cNvPr id="1051" name="23 · i · surface [p23-e0057]"/>
            <p:cNvSpPr/>
            <p:nvPr/>
          </p:nvSpPr>
          <p:spPr>
            <a:xfrm>
              <a:off x="666750" y="3747770"/>
              <a:ext cx="228600" cy="228600"/>
            </a:xfrm>
            <a:prstGeom prst="ellipse">
              <a:avLst/>
            </a:prstGeom>
            <a:solidFill>
              <a:srgbClr val="E6B3A5">
                <a:alpha val="45000"/>
              </a:srgbClr>
            </a:solidFill>
            <a:ln>
              <a:noFill/>
            </a:ln>
          </p:spPr>
        </p:sp>
        <p:sp>
          <p:nvSpPr>
            <p:cNvPr id="1052" name="23 · i: × [p23-text-0061]" descr="Native editable Unicode text; authored line breaks retained."/>
            <p:cNvSpPr txBox="1"/>
            <p:nvPr/>
          </p:nvSpPr>
          <p:spPr>
            <a:xfrm>
              <a:off x="666750" y="37477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53" name="23 · sample wrong review: 0.66 [p23-text-0062]" descr="Native editable Unicode text; authored line breaks retained."/>
            <p:cNvSpPr txBox="1"/>
            <p:nvPr/>
          </p:nvSpPr>
          <p:spPr>
            <a:xfrm>
              <a:off x="958850"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0.66</a:t>
              </a:r>
              <a:endParaRPr lang="en-US" sz="1150" b="0" i="0" kern="0" spc="0" dirty="0">
                <a:solidFill>
                  <a:srgbClr val="032D60">
                    <a:alpha val="45000"/>
                  </a:srgbClr>
                </a:solidFill>
                <a:latin typeface="IBM Plex Mono"/>
                <a:ea typeface="IBM Plex Mono"/>
                <a:cs typeface="IBM Plex Mono"/>
              </a:endParaRPr>
            </a:p>
          </p:txBody>
        </p:sp>
      </p:grpSp>
      <p:grpSp>
        <p:nvGrpSpPr>
          <p:cNvPr id="1091" name="23 · sample review: ✓"/>
          <p:cNvGrpSpPr/>
          <p:nvPr/>
        </p:nvGrpSpPr>
        <p:grpSpPr>
          <a:xfrm>
            <a:off x="1901825" y="3633470"/>
            <a:ext cx="1209675" cy="457200"/>
            <a:chOff x="1901825" y="3633470"/>
            <a:chExt cx="1209675" cy="457200"/>
          </a:xfrm>
        </p:grpSpPr>
        <p:sp>
          <p:nvSpPr>
            <p:cNvPr id="1054" name="23 · sample review · outline [p23-e0060]"/>
            <p:cNvSpPr/>
            <p:nvPr/>
          </p:nvSpPr>
          <p:spPr>
            <a:xfrm>
              <a:off x="1901825" y="3633470"/>
              <a:ext cx="1209675" cy="457200"/>
            </a:xfrm>
            <a:prstGeom prst="roundRect">
              <a:avLst>
                <a:gd name="adj" fmla="val 15278"/>
              </a:avLst>
            </a:prstGeom>
            <a:noFill/>
            <a:ln w="12700" algn="ctr">
              <a:solidFill>
                <a:srgbClr val="799AB1">
                  <a:alpha val="45000"/>
                </a:srgbClr>
              </a:solidFill>
              <a:prstDash val="solid"/>
            </a:ln>
          </p:spPr>
        </p:sp>
        <p:sp>
          <p:nvSpPr>
            <p:cNvPr id="1055" name="23 · i · surface [p23-e0061]"/>
            <p:cNvSpPr/>
            <p:nvPr/>
          </p:nvSpPr>
          <p:spPr>
            <a:xfrm>
              <a:off x="2003425" y="3747770"/>
              <a:ext cx="228600" cy="228600"/>
            </a:xfrm>
            <a:prstGeom prst="ellipse">
              <a:avLst/>
            </a:prstGeom>
            <a:solidFill>
              <a:srgbClr val="B1D6C4">
                <a:alpha val="45000"/>
              </a:srgbClr>
            </a:solidFill>
            <a:ln>
              <a:noFill/>
            </a:ln>
          </p:spPr>
        </p:sp>
        <p:sp>
          <p:nvSpPr>
            <p:cNvPr id="1056" name="23 · i: ✓ [p23-text-0063]" descr="Native editable Unicode text; authored line breaks retained."/>
            <p:cNvSpPr txBox="1"/>
            <p:nvPr/>
          </p:nvSpPr>
          <p:spPr>
            <a:xfrm>
              <a:off x="2003425" y="37674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57" name="23 · sample review: 0.60 [p23-text-0064]" descr="Native editable Unicode text; authored line breaks retained."/>
            <p:cNvSpPr txBox="1"/>
            <p:nvPr/>
          </p:nvSpPr>
          <p:spPr>
            <a:xfrm>
              <a:off x="2295525"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0.60</a:t>
              </a:r>
              <a:endParaRPr lang="en-US" sz="1150" b="0" i="0" kern="0" spc="0" dirty="0">
                <a:solidFill>
                  <a:srgbClr val="032D60">
                    <a:alpha val="45000"/>
                  </a:srgbClr>
                </a:solidFill>
                <a:latin typeface="IBM Plex Mono"/>
                <a:ea typeface="IBM Plex Mono"/>
                <a:cs typeface="IBM Plex Mono"/>
              </a:endParaRPr>
            </a:p>
          </p:txBody>
        </p:sp>
      </p:grpSp>
      <p:grpSp>
        <p:nvGrpSpPr>
          <p:cNvPr id="1092" name="23 · sample review: ✓"/>
          <p:cNvGrpSpPr/>
          <p:nvPr/>
        </p:nvGrpSpPr>
        <p:grpSpPr>
          <a:xfrm>
            <a:off x="3238500" y="3633470"/>
            <a:ext cx="1209675" cy="457200"/>
            <a:chOff x="3238500" y="3633470"/>
            <a:chExt cx="1209675" cy="457200"/>
          </a:xfrm>
        </p:grpSpPr>
        <p:sp>
          <p:nvSpPr>
            <p:cNvPr id="1058" name="23 · sample review · outline [p23-e0064]"/>
            <p:cNvSpPr/>
            <p:nvPr/>
          </p:nvSpPr>
          <p:spPr>
            <a:xfrm>
              <a:off x="3238500" y="3633470"/>
              <a:ext cx="1209675" cy="457200"/>
            </a:xfrm>
            <a:prstGeom prst="roundRect">
              <a:avLst>
                <a:gd name="adj" fmla="val 15278"/>
              </a:avLst>
            </a:prstGeom>
            <a:noFill/>
            <a:ln w="12700" algn="ctr">
              <a:solidFill>
                <a:srgbClr val="799AB1">
                  <a:alpha val="45000"/>
                </a:srgbClr>
              </a:solidFill>
              <a:prstDash val="solid"/>
            </a:ln>
          </p:spPr>
        </p:sp>
        <p:sp>
          <p:nvSpPr>
            <p:cNvPr id="1059" name="23 · i · surface [p23-e0065]"/>
            <p:cNvSpPr/>
            <p:nvPr/>
          </p:nvSpPr>
          <p:spPr>
            <a:xfrm>
              <a:off x="3340100" y="3747770"/>
              <a:ext cx="228600" cy="228600"/>
            </a:xfrm>
            <a:prstGeom prst="ellipse">
              <a:avLst/>
            </a:prstGeom>
            <a:solidFill>
              <a:srgbClr val="B1D6C4">
                <a:alpha val="45000"/>
              </a:srgbClr>
            </a:solidFill>
            <a:ln>
              <a:noFill/>
            </a:ln>
          </p:spPr>
        </p:sp>
        <p:sp>
          <p:nvSpPr>
            <p:cNvPr id="1060" name="23 · i: ✓ [p23-text-0065]" descr="Native editable Unicode text; authored line breaks retained."/>
            <p:cNvSpPr txBox="1"/>
            <p:nvPr/>
          </p:nvSpPr>
          <p:spPr>
            <a:xfrm>
              <a:off x="3340100" y="3767468"/>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42"/>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61" name="23 · sample review: 0.55 [p23-text-0066]" descr="Native editable Unicode text; authored line breaks retained."/>
            <p:cNvSpPr txBox="1"/>
            <p:nvPr/>
          </p:nvSpPr>
          <p:spPr>
            <a:xfrm>
              <a:off x="3632200"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0.55</a:t>
              </a:r>
              <a:endParaRPr lang="en-US" sz="1150" b="0" i="0" kern="0" spc="0" dirty="0">
                <a:solidFill>
                  <a:srgbClr val="032D60">
                    <a:alpha val="45000"/>
                  </a:srgbClr>
                </a:solidFill>
                <a:latin typeface="IBM Plex Mono"/>
                <a:ea typeface="IBM Plex Mono"/>
                <a:cs typeface="IBM Plex Mono"/>
              </a:endParaRPr>
            </a:p>
          </p:txBody>
        </p:sp>
      </p:grpSp>
      <p:grpSp>
        <p:nvGrpSpPr>
          <p:cNvPr id="1093" name="23 · sample wrong review: ×"/>
          <p:cNvGrpSpPr/>
          <p:nvPr/>
        </p:nvGrpSpPr>
        <p:grpSpPr>
          <a:xfrm>
            <a:off x="4575175" y="3633470"/>
            <a:ext cx="1209675" cy="457200"/>
            <a:chOff x="4575175" y="3633470"/>
            <a:chExt cx="1209675" cy="457200"/>
          </a:xfrm>
        </p:grpSpPr>
        <p:sp>
          <p:nvSpPr>
            <p:cNvPr id="1062" name="23 · sample wrong review · outline [p23-e0068]"/>
            <p:cNvSpPr/>
            <p:nvPr/>
          </p:nvSpPr>
          <p:spPr>
            <a:xfrm>
              <a:off x="4575175" y="3633470"/>
              <a:ext cx="1209675" cy="457200"/>
            </a:xfrm>
            <a:prstGeom prst="roundRect">
              <a:avLst>
                <a:gd name="adj" fmla="val 15278"/>
              </a:avLst>
            </a:prstGeom>
            <a:noFill/>
            <a:ln w="12700" algn="ctr">
              <a:solidFill>
                <a:srgbClr val="799AB1">
                  <a:alpha val="45000"/>
                </a:srgbClr>
              </a:solidFill>
              <a:prstDash val="solid"/>
            </a:ln>
          </p:spPr>
        </p:sp>
        <p:sp>
          <p:nvSpPr>
            <p:cNvPr id="1063" name="23 · i · surface [p23-e0069]"/>
            <p:cNvSpPr/>
            <p:nvPr/>
          </p:nvSpPr>
          <p:spPr>
            <a:xfrm>
              <a:off x="4676775" y="3747770"/>
              <a:ext cx="228600" cy="228600"/>
            </a:xfrm>
            <a:prstGeom prst="ellipse">
              <a:avLst/>
            </a:prstGeom>
            <a:solidFill>
              <a:srgbClr val="E6B3A5">
                <a:alpha val="45000"/>
              </a:srgbClr>
            </a:solidFill>
            <a:ln>
              <a:noFill/>
            </a:ln>
          </p:spPr>
        </p:sp>
        <p:sp>
          <p:nvSpPr>
            <p:cNvPr id="1064" name="23 · i: × [p23-text-0067]" descr="Native editable Unicode text; authored line breaks retained."/>
            <p:cNvSpPr txBox="1"/>
            <p:nvPr/>
          </p:nvSpPr>
          <p:spPr>
            <a:xfrm>
              <a:off x="4676775" y="3747770"/>
              <a:ext cx="241300" cy="2349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10"/>
                </a:lnSpc>
                <a:spcBef>
                  <a:spcPts val="0"/>
                </a:spcBef>
                <a:spcAft>
                  <a:spcPts val="0"/>
                </a:spcAft>
                <a:buNone/>
              </a:pPr>
              <a:r>
                <a:rPr lang="en-US" sz="1100" b="1" i="0" kern="0" spc="0" dirty="0">
                  <a:solidFill>
                    <a:srgbClr val="032D60">
                      <a:alpha val="45000"/>
                    </a:srgbClr>
                  </a:solidFill>
                  <a:latin typeface="Salesforce Sans"/>
                  <a:ea typeface="Salesforce Sans"/>
                  <a:cs typeface="Salesforce Sans"/>
                </a:rPr>
                <a:t>×</a:t>
              </a:r>
              <a:endParaRPr lang="en-US" sz="1100" b="1" i="0" kern="0" spc="0" dirty="0">
                <a:solidFill>
                  <a:srgbClr val="032D60">
                    <a:alpha val="45000"/>
                  </a:srgbClr>
                </a:solidFill>
                <a:latin typeface="Salesforce Sans"/>
                <a:ea typeface="Salesforce Sans"/>
                <a:cs typeface="Salesforce Sans"/>
              </a:endParaRPr>
            </a:p>
          </p:txBody>
        </p:sp>
        <p:sp>
          <p:nvSpPr>
            <p:cNvPr id="1065" name="23 · sample wrong review: 0.51 [p23-text-0068]" descr="Native editable Unicode text; authored line breaks retained."/>
            <p:cNvSpPr txBox="1"/>
            <p:nvPr/>
          </p:nvSpPr>
          <p:spPr>
            <a:xfrm>
              <a:off x="4968875" y="3767136"/>
              <a:ext cx="363215" cy="1962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95"/>
                </a:lnSpc>
                <a:spcBef>
                  <a:spcPts val="0"/>
                </a:spcBef>
                <a:spcAft>
                  <a:spcPts val="0"/>
                </a:spcAft>
                <a:buNone/>
              </a:pPr>
              <a:r>
                <a:rPr lang="en-US" sz="1150" b="0" i="0" kern="0" spc="0" dirty="0">
                  <a:solidFill>
                    <a:srgbClr val="032D60">
                      <a:alpha val="45000"/>
                    </a:srgbClr>
                  </a:solidFill>
                  <a:latin typeface="IBM Plex Mono"/>
                  <a:ea typeface="IBM Plex Mono"/>
                  <a:cs typeface="IBM Plex Mono"/>
                </a:rPr>
                <a:t>0.51</a:t>
              </a:r>
              <a:endParaRPr lang="en-US" sz="1150" b="0" i="0" kern="0" spc="0" dirty="0">
                <a:solidFill>
                  <a:srgbClr val="032D60">
                    <a:alpha val="45000"/>
                  </a:srgbClr>
                </a:solidFill>
                <a:latin typeface="IBM Plex Mono"/>
                <a:ea typeface="IBM Plex Mono"/>
                <a:cs typeface="IBM Plex Mono"/>
              </a:endParaRPr>
            </a:p>
          </p:txBody>
        </p:sp>
      </p:grpSp>
      <p:sp>
        <p:nvSpPr>
          <p:cNvPr id="1066" name="23 · tag: SYNTHETIC SAMPLE / UNCALIBRATED SIGNAL [p23-text-0069]" descr="Native editable Unicode text; authored line breaks retained."/>
          <p:cNvSpPr txBox="1"/>
          <p:nvPr/>
        </p:nvSpPr>
        <p:spPr>
          <a:xfrm>
            <a:off x="6426200" y="1930398"/>
            <a:ext cx="5118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SYNTHETIC SAMPLE / UNCALIBRATED SIGNAL</a:t>
            </a:r>
            <a:endParaRPr lang="en-US" sz="1050" b="0" i="0" kern="0" spc="50" dirty="0">
              <a:solidFill>
                <a:srgbClr val="022AC0">
                  <a:alpha val="85000"/>
                </a:srgbClr>
              </a:solidFill>
              <a:latin typeface="IBM Plex Mono"/>
              <a:ea typeface="IBM Plex Mono"/>
              <a:cs typeface="IBM Plex Mono"/>
            </a:endParaRPr>
          </a:p>
        </p:txBody>
      </p:sp>
      <p:grpSp>
        <p:nvGrpSpPr>
          <p:cNvPr id="1094" name="23 · source-line: Confidence routing · Confidence semantics"/>
          <p:cNvGrpSpPr/>
          <p:nvPr/>
        </p:nvGrpSpPr>
        <p:grpSpPr>
          <a:xfrm>
            <a:off x="558800" y="6037898"/>
            <a:ext cx="11087100" cy="284456"/>
            <a:chOff x="558800" y="6037898"/>
            <a:chExt cx="11087100" cy="284456"/>
          </a:xfrm>
        </p:grpSpPr>
        <p:sp>
          <p:nvSpPr>
            <p:cNvPr id="1067" name="23 · source-line · top border [p23-e007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68" name="23 · span: Confidence routing · Confidence semantics [p23-text-0070]" descr="Native editable Unicode text; authored line breaks retained."/>
            <p:cNvSpPr txBox="1"/>
            <p:nvPr/>
          </p:nvSpPr>
          <p:spPr>
            <a:xfrm>
              <a:off x="558800" y="6153126"/>
              <a:ext cx="241678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nfidence routing"/>
                </a:rPr>
                <a:t>Confidence routing</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69" name="23 · span: Synthetic teaching data; drag the threshold [p23-text-0071]" descr="Native editable Unicode text; authored line breaks retained."/>
            <p:cNvSpPr txBox="1"/>
            <p:nvPr/>
          </p:nvSpPr>
          <p:spPr>
            <a:xfrm>
              <a:off x="9226699" y="6153126"/>
              <a:ext cx="241920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Synthetic teaching data; drag the threshold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name="Savings depend on avoiding expensive work">
    <p:bg>
      <p:bgPr>
        <a:solidFill>
          <a:srgbClr val="FFFFFF"/>
        </a:solidFill>
      </p:bgPr>
    </p:bg>
    <p:spTree>
      <p:nvGrpSpPr>
        <p:cNvPr id="1" name=""/>
        <p:cNvGrpSpPr/>
        <p:nvPr/>
      </p:nvGrpSpPr>
      <p:grpSpPr>
        <a:xfrm>
          <a:off x="0" y="0"/>
          <a:ext cx="0" cy="0"/>
          <a:chOff x="0" y="0"/>
          <a:chExt cx="0" cy="0"/>
        </a:xfrm>
      </p:grpSpPr>
      <p:sp>
        <p:nvSpPr>
          <p:cNvPr id="1000" name="24 · slide hero dark · surface [p2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5" name="24 · chrome-min: DISAGGREGATED INTELLIGENCE"/>
          <p:cNvGrpSpPr/>
          <p:nvPr/>
        </p:nvGrpSpPr>
        <p:grpSpPr>
          <a:xfrm>
            <a:off x="558800" y="356053"/>
            <a:ext cx="11087100" cy="187325"/>
            <a:chOff x="558800" y="356053"/>
            <a:chExt cx="11087100" cy="187325"/>
          </a:xfrm>
        </p:grpSpPr>
        <p:sp>
          <p:nvSpPr>
            <p:cNvPr id="1001" name="24 · l: DISAGGREGATED INTELLIGENCE [p24-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4 · r: 24 / 36 [p24-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24 / 36</a:t>
              </a:r>
              <a:endParaRPr lang="en-US" sz="950" b="1" i="0" kern="0" spc="65" dirty="0">
                <a:solidFill>
                  <a:srgbClr val="022AC0"/>
                </a:solidFill>
                <a:latin typeface="Salesforce Sans"/>
                <a:ea typeface="Salesforce Sans"/>
                <a:cs typeface="Salesforce Sans"/>
              </a:endParaRPr>
            </a:p>
          </p:txBody>
        </p:sp>
      </p:grpSp>
      <p:grpSp>
        <p:nvGrpSpPr>
          <p:cNvPr id="1026" name="24 · deck-head: 06 / INTERACTIVE BREAK-EVEN"/>
          <p:cNvGrpSpPr/>
          <p:nvPr/>
        </p:nvGrpSpPr>
        <p:grpSpPr>
          <a:xfrm>
            <a:off x="558800" y="775901"/>
            <a:ext cx="11087100" cy="871263"/>
            <a:chOff x="558800" y="775901"/>
            <a:chExt cx="11087100" cy="871263"/>
          </a:xfrm>
        </p:grpSpPr>
        <p:sp>
          <p:nvSpPr>
            <p:cNvPr id="1003" name="24 · economics-eyebrow: 06 / INTERACTIVE BREAK-EVEN [p24-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INTERACTIVE BREAK-EVEN</a:t>
              </a:r>
              <a:endParaRPr lang="en-US" sz="1050" b="1" i="0" kern="0" spc="68" dirty="0">
                <a:solidFill>
                  <a:srgbClr val="022AC0"/>
                </a:solidFill>
                <a:latin typeface="Salesforce Sans"/>
                <a:ea typeface="Salesforce Sans"/>
                <a:cs typeface="Salesforce Sans"/>
              </a:endParaRPr>
            </a:p>
          </p:txBody>
        </p:sp>
        <p:sp>
          <p:nvSpPr>
            <p:cNvPr id="1004" name="24 · economics-title: Savings depend on avoiding expensive work [p24-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Savings depend on avoiding expensive work</a:t>
              </a:r>
              <a:endParaRPr lang="en-US" sz="3600" b="1" i="0" kern="0" spc="-95" dirty="0">
                <a:solidFill>
                  <a:srgbClr val="022AC0"/>
                </a:solidFill>
                <a:latin typeface="Manrope"/>
                <a:ea typeface="Manrope"/>
                <a:cs typeface="Manrope"/>
              </a:endParaRPr>
            </a:p>
          </p:txBody>
        </p:sp>
      </p:grpSp>
      <p:grpSp>
        <p:nvGrpSpPr>
          <p:cNvPr id="1027" name="24 · formula: Baseline = G Candidate = D + O + pG"/>
          <p:cNvGrpSpPr/>
          <p:nvPr/>
        </p:nvGrpSpPr>
        <p:grpSpPr>
          <a:xfrm>
            <a:off x="558800" y="2262505"/>
            <a:ext cx="5232400" cy="1376680"/>
            <a:chOff x="558800" y="2262505"/>
            <a:chExt cx="5232400" cy="1376680"/>
          </a:xfrm>
        </p:grpSpPr>
        <p:sp>
          <p:nvSpPr>
            <p:cNvPr id="1005" name="24 · formula · surface [p24-e0008]"/>
            <p:cNvSpPr/>
            <p:nvPr/>
          </p:nvSpPr>
          <p:spPr>
            <a:xfrm>
              <a:off x="558800" y="2262505"/>
              <a:ext cx="5232400" cy="1376680"/>
            </a:xfrm>
            <a:prstGeom prst="roundRect">
              <a:avLst>
                <a:gd name="adj" fmla="val 8303"/>
              </a:avLst>
            </a:prstGeom>
            <a:solidFill>
              <a:srgbClr val="FBF0CF"/>
            </a:solidFill>
            <a:ln>
              <a:noFill/>
            </a:ln>
          </p:spPr>
        </p:sp>
        <p:sp>
          <p:nvSpPr>
            <p:cNvPr id="1006" name="24 · formula: Baseline = G Candidate = D + O + pG [p24-text-0015]" descr="Native editable Unicode text; authored line breaks retained."/>
            <p:cNvSpPr txBox="1"/>
            <p:nvPr/>
          </p:nvSpPr>
          <p:spPr>
            <a:xfrm>
              <a:off x="787400" y="2470783"/>
              <a:ext cx="4787900" cy="10020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3920"/>
                </a:lnSpc>
                <a:spcBef>
                  <a:spcPts val="0"/>
                </a:spcBef>
                <a:spcAft>
                  <a:spcPts val="0"/>
                </a:spcAft>
                <a:buNone/>
              </a:pPr>
              <a:r>
                <a:rPr lang="en-US" sz="2800" b="0" i="0" kern="0" spc="0" dirty="0">
                  <a:solidFill>
                    <a:srgbClr val="032D60"/>
                  </a:solidFill>
                  <a:latin typeface="IBM Plex Mono"/>
                  <a:ea typeface="IBM Plex Mono"/>
                  <a:cs typeface="IBM Plex Mono"/>
                </a:rPr>
                <a:t>Baseline = G</a:t>
              </a:r>
              <a:endParaRPr lang="en-US" sz="2800" b="0" i="0" kern="0" spc="0" dirty="0">
                <a:solidFill>
                  <a:srgbClr val="032D60"/>
                </a:solidFill>
                <a:latin typeface="IBM Plex Mono"/>
                <a:ea typeface="IBM Plex Mono"/>
                <a:cs typeface="IBM Plex Mono"/>
              </a:endParaRPr>
            </a:p>
            <a:p>
              <a:pPr marL="0" marR="0" indent="0" algn="l" fontAlgn="base">
                <a:lnSpc>
                  <a:spcPts val="3920"/>
                </a:lnSpc>
                <a:spcBef>
                  <a:spcPts val="0"/>
                </a:spcBef>
                <a:spcAft>
                  <a:spcPts val="0"/>
                </a:spcAft>
                <a:buNone/>
              </a:pPr>
              <a:r>
                <a:rPr lang="en-US" sz="2800" b="0" i="0" kern="0" spc="0" dirty="0">
                  <a:solidFill>
                    <a:srgbClr val="032D60"/>
                  </a:solidFill>
                  <a:latin typeface="IBM Plex Mono"/>
                  <a:ea typeface="IBM Plex Mono"/>
                  <a:cs typeface="IBM Plex Mono"/>
                </a:rPr>
                <a:t>Candidate = D + O + pG</a:t>
              </a:r>
              <a:endParaRPr lang="en-US" sz="2800" b="0" i="0" kern="0" spc="0" dirty="0">
                <a:solidFill>
                  <a:srgbClr val="032D60"/>
                </a:solidFill>
                <a:latin typeface="IBM Plex Mono"/>
                <a:ea typeface="IBM Plex Mono"/>
                <a:cs typeface="IBM Plex Mono"/>
              </a:endParaRPr>
            </a:p>
          </p:txBody>
        </p:sp>
      </p:grpSp>
      <p:sp>
        <p:nvSpPr>
          <p:cNvPr id="1007" name="24 · economics-text-1: G = 1.00 expensive routing call D = 0.03 specialized decision O = 0.04 added o [p24-text-0016]" descr="Native editable Unicode text; authored line breaks retained."/>
          <p:cNvSpPr txBox="1"/>
          <p:nvPr/>
        </p:nvSpPr>
        <p:spPr>
          <a:xfrm>
            <a:off x="558800" y="3804921"/>
            <a:ext cx="5245100" cy="6969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G = 1.00 expensive routing call</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D = 0.03 specialized decision</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O = 0.04 added orchestration</a:t>
            </a:r>
            <a:endParaRPr lang="en-US" sz="1250" b="0" i="0" kern="0" spc="0" dirty="0">
              <a:solidFill>
                <a:srgbClr val="032D60"/>
              </a:solidFill>
              <a:latin typeface="Salesforce Sans"/>
              <a:ea typeface="Salesforce Sans"/>
              <a:cs typeface="Salesforce Sans"/>
            </a:endParaRPr>
          </a:p>
        </p:txBody>
      </p:sp>
      <p:sp>
        <p:nvSpPr>
          <p:cNvPr id="1008" name="24 · label: Routes still using G: 20% [p24-text-0017]" descr="Native editable Unicode text; authored line breaks retained."/>
          <p:cNvSpPr txBox="1"/>
          <p:nvPr/>
        </p:nvSpPr>
        <p:spPr>
          <a:xfrm>
            <a:off x="558800" y="4583748"/>
            <a:ext cx="5245100" cy="3365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00"/>
              </a:lnSpc>
              <a:spcBef>
                <a:spcPts val="0"/>
              </a:spcBef>
              <a:spcAft>
                <a:spcPts val="0"/>
              </a:spcAft>
              <a:buNone/>
            </a:pPr>
            <a:r>
              <a:rPr lang="en-US" sz="1500" b="0" i="0" kern="0" spc="0" dirty="0">
                <a:solidFill>
                  <a:srgbClr val="032D60"/>
                </a:solidFill>
                <a:latin typeface="Salesforce Sans"/>
                <a:ea typeface="Salesforce Sans"/>
                <a:cs typeface="Salesforce Sans"/>
              </a:rPr>
              <a:t xml:space="preserve">Routes still using G: </a:t>
            </a:r>
            <a:r>
              <a:rPr lang="en-US" sz="2000" b="0" i="0" kern="0" spc="0" dirty="0">
                <a:solidFill>
                  <a:srgbClr val="032D60"/>
                </a:solidFill>
                <a:latin typeface="IBM Plex Mono"/>
                <a:ea typeface="IBM Plex Mono"/>
                <a:cs typeface="IBM Plex Mono"/>
              </a:rPr>
              <a:t>20%</a:t>
            </a:r>
            <a:endParaRPr lang="en-US" sz="2000" b="0" i="0" kern="0" spc="0" dirty="0">
              <a:solidFill>
                <a:srgbClr val="032D60"/>
              </a:solidFill>
              <a:latin typeface="IBM Plex Mono"/>
              <a:ea typeface="IBM Plex Mono"/>
              <a:cs typeface="IBM Plex Mono"/>
            </a:endParaRPr>
          </a:p>
        </p:txBody>
      </p:sp>
      <p:sp>
        <p:nvSpPr>
          <p:cNvPr id="1009" name="24 · span: Baseline [p24-text-0018]" descr="Native editable Unicode text; authored line breaks retained."/>
          <p:cNvSpPr txBox="1"/>
          <p:nvPr/>
        </p:nvSpPr>
        <p:spPr>
          <a:xfrm>
            <a:off x="6426200" y="2386659"/>
            <a:ext cx="1028700"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Baseline</a:t>
            </a:r>
            <a:endParaRPr lang="en-US" sz="1400" b="0" i="0" kern="0" spc="0" dirty="0">
              <a:solidFill>
                <a:srgbClr val="032D60"/>
              </a:solidFill>
              <a:latin typeface="Salesforce Sans"/>
              <a:ea typeface="Salesforce Sans"/>
              <a:cs typeface="Salesforce Sans"/>
            </a:endParaRPr>
          </a:p>
        </p:txBody>
      </p:sp>
      <p:sp>
        <p:nvSpPr>
          <p:cNvPr id="1010" name="24 · span: Candidate [p24-text-0019]" descr="Native editable Unicode text; authored line breaks retained."/>
          <p:cNvSpPr txBox="1"/>
          <p:nvPr/>
        </p:nvSpPr>
        <p:spPr>
          <a:xfrm>
            <a:off x="6426200" y="3015309"/>
            <a:ext cx="1028700" cy="23429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95"/>
              </a:lnSpc>
              <a:spcBef>
                <a:spcPts val="0"/>
              </a:spcBef>
              <a:spcAft>
                <a:spcPts val="0"/>
              </a:spcAft>
              <a:buNone/>
            </a:pPr>
            <a:r>
              <a:rPr lang="en-US" sz="1400" b="0" i="0" kern="0" spc="0" dirty="0">
                <a:solidFill>
                  <a:srgbClr val="032D60"/>
                </a:solidFill>
                <a:latin typeface="Salesforce Sans"/>
                <a:ea typeface="Salesforce Sans"/>
                <a:cs typeface="Salesforce Sans"/>
              </a:rPr>
              <a:t>Candidate</a:t>
            </a:r>
            <a:endParaRPr lang="en-US" sz="1400" b="0" i="0" kern="0" spc="0" dirty="0">
              <a:solidFill>
                <a:srgbClr val="032D60"/>
              </a:solidFill>
              <a:latin typeface="Salesforce Sans"/>
              <a:ea typeface="Salesforce Sans"/>
              <a:cs typeface="Salesforce Sans"/>
            </a:endParaRPr>
          </a:p>
        </p:txBody>
      </p:sp>
      <p:sp>
        <p:nvSpPr>
          <p:cNvPr id="1011" name="24 · cost-metric: 73% lower [p24-text-0020]" descr="Native editable Unicode text; authored line breaks retained."/>
          <p:cNvSpPr txBox="1"/>
          <p:nvPr/>
        </p:nvSpPr>
        <p:spPr>
          <a:xfrm>
            <a:off x="6426200" y="3468205"/>
            <a:ext cx="5118100" cy="7064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00"/>
              </a:lnSpc>
              <a:spcBef>
                <a:spcPts val="0"/>
              </a:spcBef>
              <a:spcAft>
                <a:spcPts val="0"/>
              </a:spcAft>
              <a:buNone/>
            </a:pPr>
            <a:r>
              <a:rPr lang="en-US" sz="4300" b="0" i="0" kern="0" spc="0" dirty="0">
                <a:solidFill>
                  <a:srgbClr val="032D60"/>
                </a:solidFill>
                <a:latin typeface="Salesforce Sans"/>
                <a:ea typeface="Salesforce Sans"/>
                <a:cs typeface="Salesforce Sans"/>
              </a:rPr>
              <a:t>73% lower</a:t>
            </a:r>
            <a:endParaRPr lang="en-US" sz="4300" b="0" i="0" kern="0" spc="0" dirty="0">
              <a:solidFill>
                <a:srgbClr val="032D60"/>
              </a:solidFill>
              <a:latin typeface="Salesforce Sans"/>
              <a:ea typeface="Salesforce Sans"/>
              <a:cs typeface="Salesforce Sans"/>
            </a:endParaRPr>
          </a:p>
        </p:txBody>
      </p:sp>
      <p:sp>
        <p:nvSpPr>
          <p:cNvPr id="1012" name="24 · economics-text-2: 0.27 normalized units [p24-text-0021]" descr="Native editable Unicode text; authored line breaks retained."/>
          <p:cNvSpPr txBox="1"/>
          <p:nvPr/>
        </p:nvSpPr>
        <p:spPr>
          <a:xfrm>
            <a:off x="6426200" y="4205172"/>
            <a:ext cx="5118100"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0.27 normalized units</a:t>
            </a:r>
            <a:endParaRPr lang="en-US" sz="1400" b="0" i="0" kern="0" spc="0" dirty="0">
              <a:solidFill>
                <a:srgbClr val="032D60"/>
              </a:solidFill>
              <a:latin typeface="Salesforce Sans"/>
              <a:ea typeface="Salesforce Sans"/>
              <a:cs typeface="Salesforce Sans"/>
            </a:endParaRPr>
          </a:p>
        </p:txBody>
      </p:sp>
      <p:sp>
        <p:nvSpPr>
          <p:cNvPr id="1013" name="24 · economics-text-3: Break-even: D + O = (1 − p)G Later messages and service work excluded. [p24-text-0022]" descr="Native editable Unicode text; authored line breaks retained."/>
          <p:cNvSpPr txBox="1"/>
          <p:nvPr/>
        </p:nvSpPr>
        <p:spPr>
          <a:xfrm>
            <a:off x="6426200" y="4611117"/>
            <a:ext cx="51181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Break-even: D + O = (1 − p)G</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Later messages and service work excluded.</a:t>
            </a:r>
            <a:endParaRPr lang="en-US" sz="1250" b="0" i="0" kern="0" spc="0" dirty="0">
              <a:solidFill>
                <a:srgbClr val="032D60"/>
              </a:solidFill>
              <a:latin typeface="Salesforce Sans"/>
              <a:ea typeface="Salesforce Sans"/>
              <a:cs typeface="Salesforce Sans"/>
            </a:endParaRPr>
          </a:p>
        </p:txBody>
      </p:sp>
      <p:sp>
        <p:nvSpPr>
          <p:cNvPr id="1014" name="24 · tag: ROUTING STEP ONLY · INVENTED UNIT COSTS [p24-text-0023]" descr="Native editable Unicode text; authored line breaks retained."/>
          <p:cNvSpPr txBox="1"/>
          <p:nvPr/>
        </p:nvSpPr>
        <p:spPr>
          <a:xfrm>
            <a:off x="558800" y="1930398"/>
            <a:ext cx="5245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ROUTING STEP ONLY · INVENTED UNIT COSTS</a:t>
            </a:r>
            <a:endParaRPr lang="en-US" sz="1050" b="0" i="0" kern="0" spc="50" dirty="0">
              <a:solidFill>
                <a:srgbClr val="022AC0">
                  <a:alpha val="85000"/>
                </a:srgbClr>
              </a:solidFill>
              <a:latin typeface="IBM Plex Mono"/>
              <a:ea typeface="IBM Plex Mono"/>
              <a:cs typeface="IBM Plex Mono"/>
            </a:endParaRPr>
          </a:p>
        </p:txBody>
      </p:sp>
      <p:sp>
        <p:nvSpPr>
          <p:cNvPr id="1015" name="24 · tag: HYPOTHETICAL ROUTING-STAGE ARITHMETIC [p24-text-0024]" descr="Native editable Unicode text; authored line breaks retained."/>
          <p:cNvSpPr txBox="1"/>
          <p:nvPr/>
        </p:nvSpPr>
        <p:spPr>
          <a:xfrm>
            <a:off x="6426200" y="1930398"/>
            <a:ext cx="51181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HYPOTHETICAL ROUTING-STAGE ARITHMETIC</a:t>
            </a:r>
            <a:endParaRPr lang="en-US" sz="1050" b="0" i="0" kern="0" spc="50" dirty="0">
              <a:solidFill>
                <a:srgbClr val="022AC0">
                  <a:alpha val="85000"/>
                </a:srgbClr>
              </a:solidFill>
              <a:latin typeface="IBM Plex Mono"/>
              <a:ea typeface="IBM Plex Mono"/>
              <a:cs typeface="IBM Plex Mono"/>
            </a:endParaRPr>
          </a:p>
        </p:txBody>
      </p:sp>
      <p:sp>
        <p:nvSpPr>
          <p:cNvPr id="1016" name="24 · cost-track · surface [p24-e0024]"/>
          <p:cNvSpPr/>
          <p:nvPr/>
        </p:nvSpPr>
        <p:spPr>
          <a:xfrm>
            <a:off x="7600950" y="2262505"/>
            <a:ext cx="3930650" cy="476250"/>
          </a:xfrm>
          <a:prstGeom prst="roundRect">
            <a:avLst>
              <a:gd name="adj" fmla="val 13333"/>
            </a:avLst>
          </a:prstGeom>
          <a:solidFill>
            <a:srgbClr val="CCDFED"/>
          </a:solidFill>
          <a:ln>
            <a:noFill/>
          </a:ln>
        </p:spPr>
      </p:sp>
      <p:sp>
        <p:nvSpPr>
          <p:cNvPr id="1017" name="24 · div · surface [p24-e0025]"/>
          <p:cNvSpPr/>
          <p:nvPr/>
        </p:nvSpPr>
        <p:spPr>
          <a:xfrm>
            <a:off x="7600950" y="2262505"/>
            <a:ext cx="3573318" cy="476250"/>
          </a:xfrm>
          <a:custGeom>
            <a:avLst/>
            <a:gdLst/>
            <a:ahLst/>
            <a:cxnLst/>
            <a:rect l="0" t="0" r="r" b="b"/>
            <a:pathLst>
              <a:path w="3573318" h="476250" fill="norm" stroke="1" extrusionOk="0">
                <a:moveTo>
                  <a:pt x="0" y="0"/>
                </a:moveTo>
                <a:lnTo>
                  <a:pt x="3509818" y="0"/>
                </a:lnTo>
                <a:cubicBezTo>
                  <a:pt x="3544888" y="0"/>
                  <a:pt x="3573318" y="28430"/>
                  <a:pt x="3573318" y="63500"/>
                </a:cubicBezTo>
                <a:lnTo>
                  <a:pt x="3573318" y="412750"/>
                </a:lnTo>
                <a:cubicBezTo>
                  <a:pt x="3573318" y="447820"/>
                  <a:pt x="3544888" y="476250"/>
                  <a:pt x="3509818" y="476250"/>
                </a:cubicBezTo>
                <a:lnTo>
                  <a:pt x="0" y="476250"/>
                </a:lnTo>
                <a:cubicBezTo>
                  <a:pt x="0" y="476250"/>
                  <a:pt x="0" y="476250"/>
                  <a:pt x="0" y="476250"/>
                </a:cubicBezTo>
                <a:lnTo>
                  <a:pt x="0" y="0"/>
                </a:lnTo>
                <a:cubicBezTo>
                  <a:pt x="0" y="0"/>
                  <a:pt x="0" y="0"/>
                  <a:pt x="0" y="0"/>
                </a:cubicBezTo>
                <a:close/>
              </a:path>
            </a:pathLst>
          </a:custGeom>
          <a:solidFill>
            <a:srgbClr val="EAE6FA"/>
          </a:solidFill>
          <a:ln>
            <a:noFill/>
          </a:ln>
        </p:spPr>
      </p:sp>
      <p:sp>
        <p:nvSpPr>
          <p:cNvPr id="1018" name="24 · cost-track · surface [p24-e0026]"/>
          <p:cNvSpPr/>
          <p:nvPr/>
        </p:nvSpPr>
        <p:spPr>
          <a:xfrm>
            <a:off x="7600950" y="2891155"/>
            <a:ext cx="3930650" cy="476250"/>
          </a:xfrm>
          <a:prstGeom prst="roundRect">
            <a:avLst>
              <a:gd name="adj" fmla="val 13333"/>
            </a:avLst>
          </a:prstGeom>
          <a:solidFill>
            <a:srgbClr val="CCDFED"/>
          </a:solidFill>
          <a:ln>
            <a:noFill/>
          </a:ln>
        </p:spPr>
      </p:sp>
      <p:sp>
        <p:nvSpPr>
          <p:cNvPr id="1019" name="24 · div · surface [p24-e0027]"/>
          <p:cNvSpPr/>
          <p:nvPr/>
        </p:nvSpPr>
        <p:spPr>
          <a:xfrm>
            <a:off x="7600950" y="2891155"/>
            <a:ext cx="107200" cy="476250"/>
          </a:xfrm>
          <a:custGeom>
            <a:avLst/>
            <a:gdLst/>
            <a:ahLst/>
            <a:cxnLst/>
            <a:rect l="0" t="0" r="r" b="b"/>
            <a:pathLst>
              <a:path w="107200" h="476250" fill="norm" stroke="1" extrusionOk="0">
                <a:moveTo>
                  <a:pt x="53600" y="0"/>
                </a:moveTo>
                <a:lnTo>
                  <a:pt x="107200" y="0"/>
                </a:lnTo>
                <a:cubicBezTo>
                  <a:pt x="107200" y="0"/>
                  <a:pt x="107200" y="0"/>
                  <a:pt x="107200" y="0"/>
                </a:cubicBezTo>
                <a:lnTo>
                  <a:pt x="107200" y="476250"/>
                </a:lnTo>
                <a:cubicBezTo>
                  <a:pt x="107200" y="476250"/>
                  <a:pt x="107200" y="476250"/>
                  <a:pt x="107200" y="476250"/>
                </a:cubicBezTo>
                <a:lnTo>
                  <a:pt x="53600" y="476250"/>
                </a:lnTo>
                <a:cubicBezTo>
                  <a:pt x="23997" y="476250"/>
                  <a:pt x="0" y="447820"/>
                  <a:pt x="0" y="412750"/>
                </a:cubicBezTo>
                <a:lnTo>
                  <a:pt x="0" y="63500"/>
                </a:lnTo>
                <a:cubicBezTo>
                  <a:pt x="0" y="28430"/>
                  <a:pt x="23997" y="0"/>
                  <a:pt x="53600" y="0"/>
                </a:cubicBezTo>
                <a:close/>
              </a:path>
            </a:pathLst>
          </a:custGeom>
          <a:solidFill>
            <a:srgbClr val="FBF0CF"/>
          </a:solidFill>
          <a:ln>
            <a:noFill/>
          </a:ln>
        </p:spPr>
      </p:sp>
      <p:sp>
        <p:nvSpPr>
          <p:cNvPr id="1020" name="24 · div · surface [p24-e0028]"/>
          <p:cNvSpPr/>
          <p:nvPr/>
        </p:nvSpPr>
        <p:spPr>
          <a:xfrm>
            <a:off x="7708150" y="2891155"/>
            <a:ext cx="142933" cy="476250"/>
          </a:xfrm>
          <a:prstGeom prst="rect">
            <a:avLst/>
          </a:prstGeom>
          <a:solidFill>
            <a:srgbClr val="DDF3ED"/>
          </a:solidFill>
          <a:ln>
            <a:noFill/>
          </a:ln>
        </p:spPr>
      </p:sp>
      <p:sp>
        <p:nvSpPr>
          <p:cNvPr id="1021" name="24 · div · surface [p24-e0029]"/>
          <p:cNvSpPr/>
          <p:nvPr/>
        </p:nvSpPr>
        <p:spPr>
          <a:xfrm>
            <a:off x="7851082" y="2891155"/>
            <a:ext cx="714664" cy="476250"/>
          </a:xfrm>
          <a:custGeom>
            <a:avLst/>
            <a:gdLst/>
            <a:ahLst/>
            <a:cxnLst/>
            <a:rect l="0" t="0" r="r" b="b"/>
            <a:pathLst>
              <a:path w="714664" h="476250" fill="norm" stroke="1" extrusionOk="0">
                <a:moveTo>
                  <a:pt x="0" y="0"/>
                </a:moveTo>
                <a:lnTo>
                  <a:pt x="651164" y="0"/>
                </a:lnTo>
                <a:cubicBezTo>
                  <a:pt x="686234" y="0"/>
                  <a:pt x="714664" y="28430"/>
                  <a:pt x="714664" y="63500"/>
                </a:cubicBezTo>
                <a:lnTo>
                  <a:pt x="714664" y="412750"/>
                </a:lnTo>
                <a:cubicBezTo>
                  <a:pt x="714664" y="447820"/>
                  <a:pt x="686234" y="476250"/>
                  <a:pt x="651164" y="476250"/>
                </a:cubicBezTo>
                <a:lnTo>
                  <a:pt x="0" y="476250"/>
                </a:lnTo>
                <a:cubicBezTo>
                  <a:pt x="0" y="476250"/>
                  <a:pt x="0" y="476250"/>
                  <a:pt x="0" y="476250"/>
                </a:cubicBezTo>
                <a:lnTo>
                  <a:pt x="0" y="0"/>
                </a:lnTo>
                <a:cubicBezTo>
                  <a:pt x="0" y="0"/>
                  <a:pt x="0" y="0"/>
                  <a:pt x="0" y="0"/>
                </a:cubicBezTo>
                <a:close/>
              </a:path>
            </a:pathLst>
          </a:custGeom>
          <a:solidFill>
            <a:srgbClr val="EAE6FA"/>
          </a:solidFill>
          <a:ln>
            <a:noFill/>
          </a:ln>
        </p:spPr>
      </p:sp>
      <p:grpSp>
        <p:nvGrpSpPr>
          <p:cNvPr id="1028" name="24 · source-line: Composable AI · Building with System One"/>
          <p:cNvGrpSpPr/>
          <p:nvPr/>
        </p:nvGrpSpPr>
        <p:grpSpPr>
          <a:xfrm>
            <a:off x="558800" y="6037898"/>
            <a:ext cx="11087100" cy="284456"/>
            <a:chOff x="558800" y="6037898"/>
            <a:chExt cx="11087100" cy="284456"/>
          </a:xfrm>
        </p:grpSpPr>
        <p:sp>
          <p:nvSpPr>
            <p:cNvPr id="1022" name="24 · source-line · top border [p24-e0030]"/>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3" name="24 · span: Composable AI · Building with System One [p24-text-0025]" descr="Native editable Unicode text; authored line breaks retained."/>
            <p:cNvSpPr txBox="1"/>
            <p:nvPr/>
          </p:nvSpPr>
          <p:spPr>
            <a:xfrm>
              <a:off x="558800" y="6153126"/>
              <a:ext cx="240534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Building with System One"/>
                </a:rPr>
                <a:t>Building with System One</a:t>
              </a:r>
              <a:endParaRPr lang="en-US" sz="950" b="0" i="0" kern="0" spc="0" dirty="0" u="sng">
                <a:solidFill>
                  <a:srgbClr val="315A7A"/>
                </a:solidFill>
                <a:latin typeface="Salesforce Sans"/>
                <a:ea typeface="Salesforce Sans"/>
                <a:cs typeface="Salesforce Sans"/>
              </a:endParaRPr>
            </a:p>
          </p:txBody>
        </p:sp>
        <p:sp>
          <p:nvSpPr>
            <p:cNvPr id="1024" name="24 · span: Illustrative arithmetic; no measured cost claim [p24-text-0026]" descr="Native editable Unicode text; authored line breaks retained."/>
            <p:cNvSpPr txBox="1"/>
            <p:nvPr/>
          </p:nvSpPr>
          <p:spPr>
            <a:xfrm>
              <a:off x="9046183" y="6153126"/>
              <a:ext cx="259971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Illustrative arithmetic; no measured cost claim</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name="Fast inference helps the path that uses it">
    <p:bg>
      <p:bgPr>
        <a:solidFill>
          <a:srgbClr val="FFFFFF"/>
        </a:solidFill>
      </p:bgPr>
    </p:bg>
    <p:spTree>
      <p:nvGrpSpPr>
        <p:cNvPr id="1" name=""/>
        <p:cNvGrpSpPr/>
        <p:nvPr/>
      </p:nvGrpSpPr>
      <p:grpSpPr>
        <a:xfrm>
          <a:off x="0" y="0"/>
          <a:ext cx="0" cy="0"/>
          <a:chOff x="0" y="0"/>
          <a:chExt cx="0" cy="0"/>
        </a:xfrm>
      </p:grpSpPr>
      <p:sp>
        <p:nvSpPr>
          <p:cNvPr id="1000" name="25 · slide light · surface [p2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4" name="25 · chrome-min: DISAGGREGATED INTELLIGENCE"/>
          <p:cNvGrpSpPr/>
          <p:nvPr/>
        </p:nvGrpSpPr>
        <p:grpSpPr>
          <a:xfrm>
            <a:off x="558800" y="356053"/>
            <a:ext cx="11087100" cy="187325"/>
            <a:chOff x="558800" y="356053"/>
            <a:chExt cx="11087100" cy="187325"/>
          </a:xfrm>
        </p:grpSpPr>
        <p:sp>
          <p:nvSpPr>
            <p:cNvPr id="1001" name="25 · l: DISAGGREGATED INTELLIGENCE [p25-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5 · r: 25 / 36 [p25-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25 / 36</a:t>
              </a:r>
              <a:endParaRPr lang="en-US" sz="950" b="1" i="0" kern="0" spc="65" dirty="0">
                <a:solidFill>
                  <a:srgbClr val="022AC0"/>
                </a:solidFill>
                <a:latin typeface="Salesforce Sans"/>
                <a:ea typeface="Salesforce Sans"/>
                <a:cs typeface="Salesforce Sans"/>
              </a:endParaRPr>
            </a:p>
          </p:txBody>
        </p:sp>
      </p:grpSp>
      <p:grpSp>
        <p:nvGrpSpPr>
          <p:cNvPr id="1035" name="25 · deck-head: 06 / MEASURE THE CRITICAL PATH"/>
          <p:cNvGrpSpPr/>
          <p:nvPr/>
        </p:nvGrpSpPr>
        <p:grpSpPr>
          <a:xfrm>
            <a:off x="558800" y="775901"/>
            <a:ext cx="11087100" cy="871263"/>
            <a:chOff x="558800" y="775901"/>
            <a:chExt cx="11087100" cy="871263"/>
          </a:xfrm>
        </p:grpSpPr>
        <p:sp>
          <p:nvSpPr>
            <p:cNvPr id="1003" name="25 · latency-eyebrow: 06 / MEASURE THE CRITICAL PATH [p25-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06 / MEASURE THE CRITICAL PATH</a:t>
              </a:r>
              <a:endParaRPr lang="en-US" sz="1050" b="1" i="0" kern="0" spc="68" dirty="0">
                <a:solidFill>
                  <a:srgbClr val="022AC0"/>
                </a:solidFill>
                <a:latin typeface="Salesforce Sans"/>
                <a:ea typeface="Salesforce Sans"/>
                <a:cs typeface="Salesforce Sans"/>
              </a:endParaRPr>
            </a:p>
          </p:txBody>
        </p:sp>
        <p:sp>
          <p:nvSpPr>
            <p:cNvPr id="1004" name="25 · latency-title: Fast inference helps the path that uses it [p25-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Fast inference helps the path that uses it</a:t>
              </a:r>
              <a:endParaRPr lang="en-US" sz="3600" b="1" i="0" kern="0" spc="-95" dirty="0">
                <a:solidFill>
                  <a:srgbClr val="022AC0"/>
                </a:solidFill>
                <a:latin typeface="Manrope"/>
                <a:ea typeface="Manrope"/>
                <a:cs typeface="Manrope"/>
              </a:endParaRPr>
            </a:p>
          </p:txBody>
        </p:sp>
      </p:grpSp>
      <p:grpSp>
        <p:nvGrpSpPr>
          <p:cNvPr id="1005" name="25 · svg · drawing [p25-e0008]"/>
          <p:cNvGrpSpPr/>
          <p:nvPr/>
        </p:nvGrpSpPr>
        <p:grpSpPr>
          <a:xfrm>
            <a:off x="2912110" y="2359640"/>
            <a:ext cx="5519896" cy="2291326"/>
            <a:chOff x="2912110" y="2359640"/>
            <a:chExt cx="5519896" cy="2291326"/>
          </a:xfrm>
        </p:grpSpPr>
        <p:grpSp>
          <p:nvGrpSpPr>
            <p:cNvPr id="1006" name="path · 1 + arrowhead"/>
            <p:cNvGrpSpPr/>
            <p:nvPr/>
          </p:nvGrpSpPr>
          <p:grpSpPr>
            <a:xfrm>
              <a:off x="2912110" y="2359640"/>
              <a:ext cx="1297781" cy="471744"/>
              <a:chOff x="2912110" y="2359640"/>
              <a:chExt cx="1297781" cy="471744"/>
            </a:xfrm>
          </p:grpSpPr>
          <p:sp>
            <p:nvSpPr>
              <p:cNvPr id="1007" name="path · 1"/>
              <p:cNvSpPr/>
              <p:nvPr/>
            </p:nvSpPr>
            <p:spPr>
              <a:xfrm>
                <a:off x="2912110" y="2427031"/>
                <a:ext cx="1280478" cy="404352"/>
              </a:xfrm>
              <a:custGeom>
                <a:avLst/>
                <a:gdLst/>
                <a:ahLst/>
                <a:cxnLst/>
                <a:rect l="0" t="0" r="r" b="b"/>
                <a:pathLst>
                  <a:path w="1280478" h="404352" fill="none" stroke="1" extrusionOk="0">
                    <a:moveTo>
                      <a:pt x="0" y="404352"/>
                    </a:moveTo>
                    <a:lnTo>
                      <a:pt x="657543" y="404352"/>
                    </a:lnTo>
                    <a:lnTo>
                      <a:pt x="657543" y="0"/>
                    </a:lnTo>
                    <a:lnTo>
                      <a:pt x="1280478" y="0"/>
                    </a:lnTo>
                  </a:path>
                </a:pathLst>
              </a:custGeom>
              <a:noFill/>
              <a:ln w="15875" cap="flat" cmpd="sng" algn="ctr">
                <a:solidFill>
                  <a:srgbClr val="789B8E"/>
                </a:solidFill>
                <a:prstDash val="solid"/>
                <a:miter lim="400000"/>
                <a:headEnd type="none" w="med" len="med"/>
                <a:tailEnd type="none" w="med" len="med"/>
              </a:ln>
            </p:spPr>
          </p:sp>
          <p:grpSp>
            <p:nvGrpSpPr>
              <p:cNvPr id="1008" name="arr8 end"/>
              <p:cNvGrpSpPr/>
              <p:nvPr/>
            </p:nvGrpSpPr>
            <p:grpSpPr>
              <a:xfrm>
                <a:off x="4071461" y="2359640"/>
                <a:ext cx="138430" cy="134784"/>
                <a:chOff x="4071461" y="2359640"/>
                <a:chExt cx="138430" cy="134784"/>
              </a:xfrm>
            </p:grpSpPr>
            <p:sp>
              <p:nvSpPr>
                <p:cNvPr id="1009" name="path · 2"/>
                <p:cNvSpPr/>
                <p:nvPr/>
              </p:nvSpPr>
              <p:spPr>
                <a:xfrm>
                  <a:off x="4071461" y="2359640"/>
                  <a:ext cx="138430" cy="134784"/>
                </a:xfrm>
                <a:custGeom>
                  <a:avLst/>
                  <a:gdLst/>
                  <a:ahLst/>
                  <a:cxnLst/>
                  <a:rect l="0" t="0" r="r" b="b"/>
                  <a:pathLst>
                    <a:path w="138430" h="134784" fill="norm" stroke="0" extrusionOk="0">
                      <a:moveTo>
                        <a:pt x="0" y="0"/>
                      </a:moveTo>
                      <a:lnTo>
                        <a:pt x="138430" y="67391"/>
                      </a:lnTo>
                      <a:lnTo>
                        <a:pt x="0" y="134783"/>
                      </a:lnTo>
                      <a:close/>
                    </a:path>
                  </a:pathLst>
                </a:custGeom>
                <a:solidFill>
                  <a:srgbClr val="789B8E"/>
                </a:solidFill>
                <a:ln>
                  <a:noFill/>
                </a:ln>
              </p:spPr>
            </p:sp>
          </p:grpSp>
        </p:grpSp>
        <p:grpSp>
          <p:nvGrpSpPr>
            <p:cNvPr id="1010" name="path · 3 + arrowhead"/>
            <p:cNvGrpSpPr/>
            <p:nvPr/>
          </p:nvGrpSpPr>
          <p:grpSpPr>
            <a:xfrm>
              <a:off x="7341870" y="2359640"/>
              <a:ext cx="1090136" cy="134784"/>
              <a:chOff x="7341870" y="2359640"/>
              <a:chExt cx="1090136" cy="134784"/>
            </a:xfrm>
          </p:grpSpPr>
          <p:sp>
            <p:nvSpPr>
              <p:cNvPr id="1011" name="path · 3"/>
              <p:cNvSpPr/>
              <p:nvPr/>
            </p:nvSpPr>
            <p:spPr>
              <a:xfrm>
                <a:off x="7341870" y="2427031"/>
                <a:ext cx="1072832" cy="1"/>
              </a:xfrm>
              <a:custGeom>
                <a:avLst/>
                <a:gdLst/>
                <a:ahLst/>
                <a:cxnLst/>
                <a:rect l="0" t="0" r="r" b="b"/>
                <a:pathLst>
                  <a:path w="1072832" h="1" fill="none" stroke="1" extrusionOk="0">
                    <a:moveTo>
                      <a:pt x="0" y="0"/>
                    </a:moveTo>
                    <a:lnTo>
                      <a:pt x="1072832" y="0"/>
                    </a:lnTo>
                  </a:path>
                </a:pathLst>
              </a:custGeom>
              <a:noFill/>
              <a:ln w="15875" cap="flat" cmpd="sng" algn="ctr">
                <a:solidFill>
                  <a:srgbClr val="789B8E"/>
                </a:solidFill>
                <a:prstDash val="solid"/>
                <a:miter lim="400000"/>
                <a:headEnd type="none" w="med" len="med"/>
                <a:tailEnd type="none" w="med" len="med"/>
              </a:ln>
            </p:spPr>
          </p:sp>
          <p:grpSp>
            <p:nvGrpSpPr>
              <p:cNvPr id="1012" name="arr8 end"/>
              <p:cNvGrpSpPr/>
              <p:nvPr/>
            </p:nvGrpSpPr>
            <p:grpSpPr>
              <a:xfrm>
                <a:off x="8293576" y="2359640"/>
                <a:ext cx="138430" cy="134784"/>
                <a:chOff x="8293576" y="2359640"/>
                <a:chExt cx="138430" cy="134784"/>
              </a:xfrm>
            </p:grpSpPr>
            <p:sp>
              <p:nvSpPr>
                <p:cNvPr id="1013" name="path · 4"/>
                <p:cNvSpPr/>
                <p:nvPr/>
              </p:nvSpPr>
              <p:spPr>
                <a:xfrm>
                  <a:off x="8293576" y="2359640"/>
                  <a:ext cx="138430" cy="134784"/>
                </a:xfrm>
                <a:custGeom>
                  <a:avLst/>
                  <a:gdLst/>
                  <a:ahLst/>
                  <a:cxnLst/>
                  <a:rect l="0" t="0" r="r" b="b"/>
                  <a:pathLst>
                    <a:path w="138430" h="134784" fill="norm" stroke="0" extrusionOk="0">
                      <a:moveTo>
                        <a:pt x="0" y="0"/>
                      </a:moveTo>
                      <a:lnTo>
                        <a:pt x="138430" y="67391"/>
                      </a:lnTo>
                      <a:lnTo>
                        <a:pt x="0" y="134783"/>
                      </a:lnTo>
                      <a:close/>
                    </a:path>
                  </a:pathLst>
                </a:custGeom>
                <a:solidFill>
                  <a:srgbClr val="789B8E"/>
                </a:solidFill>
                <a:ln>
                  <a:noFill/>
                </a:ln>
              </p:spPr>
            </p:sp>
          </p:grpSp>
        </p:grpSp>
        <p:grpSp>
          <p:nvGrpSpPr>
            <p:cNvPr id="1014" name="path · 5 + arrowhead"/>
            <p:cNvGrpSpPr/>
            <p:nvPr/>
          </p:nvGrpSpPr>
          <p:grpSpPr>
            <a:xfrm>
              <a:off x="2912110" y="2831383"/>
              <a:ext cx="1297781" cy="1819582"/>
              <a:chOff x="2912110" y="2831383"/>
              <a:chExt cx="1297781" cy="1819582"/>
            </a:xfrm>
          </p:grpSpPr>
          <p:sp>
            <p:nvSpPr>
              <p:cNvPr id="1015" name="path · 5"/>
              <p:cNvSpPr/>
              <p:nvPr/>
            </p:nvSpPr>
            <p:spPr>
              <a:xfrm>
                <a:off x="2912110" y="2831383"/>
                <a:ext cx="1280478" cy="1752190"/>
              </a:xfrm>
              <a:custGeom>
                <a:avLst/>
                <a:gdLst/>
                <a:ahLst/>
                <a:cxnLst/>
                <a:rect l="0" t="0" r="r" b="b"/>
                <a:pathLst>
                  <a:path w="1280478" h="1752190" fill="none" stroke="1" extrusionOk="0">
                    <a:moveTo>
                      <a:pt x="0" y="0"/>
                    </a:moveTo>
                    <a:lnTo>
                      <a:pt x="657543" y="0"/>
                    </a:lnTo>
                    <a:lnTo>
                      <a:pt x="657543" y="1752190"/>
                    </a:lnTo>
                    <a:lnTo>
                      <a:pt x="1280478" y="1752190"/>
                    </a:lnTo>
                  </a:path>
                </a:pathLst>
              </a:custGeom>
              <a:noFill/>
              <a:ln w="15875" cap="flat" cmpd="sng" algn="ctr">
                <a:solidFill>
                  <a:srgbClr val="789B8E"/>
                </a:solidFill>
                <a:prstDash val="solid"/>
                <a:miter lim="400000"/>
                <a:headEnd type="none" w="med" len="med"/>
                <a:tailEnd type="none" w="med" len="med"/>
              </a:ln>
            </p:spPr>
          </p:sp>
          <p:grpSp>
            <p:nvGrpSpPr>
              <p:cNvPr id="1016" name="arr8 end"/>
              <p:cNvGrpSpPr/>
              <p:nvPr/>
            </p:nvGrpSpPr>
            <p:grpSpPr>
              <a:xfrm>
                <a:off x="4071461" y="4516181"/>
                <a:ext cx="138430" cy="134784"/>
                <a:chOff x="4071461" y="4516181"/>
                <a:chExt cx="138430" cy="134784"/>
              </a:xfrm>
            </p:grpSpPr>
            <p:sp>
              <p:nvSpPr>
                <p:cNvPr id="1017" name="path · 6"/>
                <p:cNvSpPr/>
                <p:nvPr/>
              </p:nvSpPr>
              <p:spPr>
                <a:xfrm>
                  <a:off x="4071461" y="4516181"/>
                  <a:ext cx="138430" cy="134784"/>
                </a:xfrm>
                <a:custGeom>
                  <a:avLst/>
                  <a:gdLst/>
                  <a:ahLst/>
                  <a:cxnLst/>
                  <a:rect l="0" t="0" r="r" b="b"/>
                  <a:pathLst>
                    <a:path w="138430" h="134784" fill="norm" stroke="0" extrusionOk="0">
                      <a:moveTo>
                        <a:pt x="0" y="0"/>
                      </a:moveTo>
                      <a:lnTo>
                        <a:pt x="138430" y="67392"/>
                      </a:lnTo>
                      <a:lnTo>
                        <a:pt x="0" y="134784"/>
                      </a:lnTo>
                      <a:close/>
                    </a:path>
                  </a:pathLst>
                </a:custGeom>
                <a:solidFill>
                  <a:srgbClr val="789B8E"/>
                </a:solidFill>
                <a:ln>
                  <a:noFill/>
                </a:ln>
              </p:spPr>
            </p:sp>
          </p:grpSp>
        </p:grpSp>
      </p:grpSp>
      <p:grpSp>
        <p:nvGrpSpPr>
          <p:cNvPr id="1036" name="25 · node lilac: Fast decision"/>
          <p:cNvGrpSpPr/>
          <p:nvPr/>
        </p:nvGrpSpPr>
        <p:grpSpPr>
          <a:xfrm>
            <a:off x="558800" y="2393326"/>
            <a:ext cx="2353310" cy="876106"/>
            <a:chOff x="558800" y="2393326"/>
            <a:chExt cx="2353310" cy="876106"/>
          </a:xfrm>
        </p:grpSpPr>
        <p:sp>
          <p:nvSpPr>
            <p:cNvPr id="1018" name="25 · node lilac · surface [p25-e0009]"/>
            <p:cNvSpPr/>
            <p:nvPr/>
          </p:nvSpPr>
          <p:spPr>
            <a:xfrm>
              <a:off x="558800" y="2393326"/>
              <a:ext cx="2353310" cy="876106"/>
            </a:xfrm>
            <a:prstGeom prst="roundRect">
              <a:avLst>
                <a:gd name="adj" fmla="val 15946"/>
              </a:avLst>
            </a:prstGeom>
            <a:solidFill>
              <a:srgbClr val="EAE6FA"/>
            </a:solidFill>
            <a:ln>
              <a:noFill/>
            </a:ln>
          </p:spPr>
        </p:sp>
        <p:sp>
          <p:nvSpPr>
            <p:cNvPr id="1019" name="25 · strong: Fast decision [p25-text-0013]" descr="Native editable Unicode text; authored line breaks retained."/>
            <p:cNvSpPr txBox="1"/>
            <p:nvPr/>
          </p:nvSpPr>
          <p:spPr>
            <a:xfrm>
              <a:off x="736600" y="2580942"/>
              <a:ext cx="201041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Fast decision</a:t>
              </a:r>
              <a:endParaRPr lang="en-US" sz="1450" b="1" i="0" kern="0" spc="0" dirty="0">
                <a:solidFill>
                  <a:srgbClr val="032D60"/>
                </a:solidFill>
                <a:latin typeface="Salesforce Sans"/>
                <a:ea typeface="Salesforce Sans"/>
                <a:cs typeface="Salesforce Sans"/>
              </a:endParaRPr>
            </a:p>
          </p:txBody>
        </p:sp>
        <p:sp>
          <p:nvSpPr>
            <p:cNvPr id="1020" name="25 · small: Measure call latency [p25-text-0014]" descr="Native editable Unicode text; authored line breaks retained."/>
            <p:cNvSpPr txBox="1"/>
            <p:nvPr/>
          </p:nvSpPr>
          <p:spPr>
            <a:xfrm>
              <a:off x="736600" y="2892262"/>
              <a:ext cx="201041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Measure call latency</a:t>
              </a:r>
              <a:endParaRPr lang="en-US" sz="1100" b="0" i="0" kern="0" spc="0" dirty="0">
                <a:solidFill>
                  <a:srgbClr val="032D60"/>
                </a:solidFill>
                <a:latin typeface="Salesforce Sans"/>
                <a:ea typeface="Salesforce Sans"/>
                <a:cs typeface="Salesforce Sans"/>
              </a:endParaRPr>
            </a:p>
          </p:txBody>
        </p:sp>
      </p:grpSp>
      <p:grpSp>
        <p:nvGrpSpPr>
          <p:cNvPr id="1037" name="25 · node blue: Handler checks"/>
          <p:cNvGrpSpPr/>
          <p:nvPr/>
        </p:nvGrpSpPr>
        <p:grpSpPr>
          <a:xfrm>
            <a:off x="4227195" y="1988992"/>
            <a:ext cx="3114675" cy="876106"/>
            <a:chOff x="4227195" y="1988992"/>
            <a:chExt cx="3114675" cy="876106"/>
          </a:xfrm>
        </p:grpSpPr>
        <p:sp>
          <p:nvSpPr>
            <p:cNvPr id="1021" name="25 · node blue · surface [p25-e0012]"/>
            <p:cNvSpPr/>
            <p:nvPr/>
          </p:nvSpPr>
          <p:spPr>
            <a:xfrm>
              <a:off x="4227195" y="1988992"/>
              <a:ext cx="3114675" cy="876106"/>
            </a:xfrm>
            <a:prstGeom prst="roundRect">
              <a:avLst>
                <a:gd name="adj" fmla="val 15946"/>
              </a:avLst>
            </a:prstGeom>
            <a:solidFill>
              <a:srgbClr val="DCEEFE"/>
            </a:solidFill>
            <a:ln>
              <a:noFill/>
            </a:ln>
          </p:spPr>
        </p:sp>
        <p:sp>
          <p:nvSpPr>
            <p:cNvPr id="1022" name="25 · strong: Handler checks [p25-text-0015]" descr="Native editable Unicode text; authored line breaks retained."/>
            <p:cNvSpPr txBox="1"/>
            <p:nvPr/>
          </p:nvSpPr>
          <p:spPr>
            <a:xfrm>
              <a:off x="4404995" y="2176608"/>
              <a:ext cx="277177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Handler checks</a:t>
              </a:r>
              <a:endParaRPr lang="en-US" sz="1450" b="1" i="0" kern="0" spc="0" dirty="0">
                <a:solidFill>
                  <a:srgbClr val="032D60"/>
                </a:solidFill>
                <a:latin typeface="Salesforce Sans"/>
                <a:ea typeface="Salesforce Sans"/>
                <a:cs typeface="Salesforce Sans"/>
              </a:endParaRPr>
            </a:p>
          </p:txBody>
        </p:sp>
        <p:sp>
          <p:nvSpPr>
            <p:cNvPr id="1023" name="25 · small: Policy + stock + quote [p25-text-0016]" descr="Native editable Unicode text; authored line breaks retained."/>
            <p:cNvSpPr txBox="1"/>
            <p:nvPr/>
          </p:nvSpPr>
          <p:spPr>
            <a:xfrm>
              <a:off x="4404995" y="2487928"/>
              <a:ext cx="277177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Policy + stock + quote</a:t>
              </a:r>
              <a:endParaRPr lang="en-US" sz="1100" b="0" i="0" kern="0" spc="0" dirty="0">
                <a:solidFill>
                  <a:srgbClr val="032D60"/>
                </a:solidFill>
                <a:latin typeface="Salesforce Sans"/>
                <a:ea typeface="Salesforce Sans"/>
                <a:cs typeface="Salesforce Sans"/>
              </a:endParaRPr>
            </a:p>
          </p:txBody>
        </p:sp>
      </p:grpSp>
      <p:grpSp>
        <p:nvGrpSpPr>
          <p:cNvPr id="1038" name="25 · node mint: Customer offer"/>
          <p:cNvGrpSpPr/>
          <p:nvPr/>
        </p:nvGrpSpPr>
        <p:grpSpPr>
          <a:xfrm>
            <a:off x="8449310" y="1988992"/>
            <a:ext cx="3114675" cy="876106"/>
            <a:chOff x="8449310" y="1988992"/>
            <a:chExt cx="3114675" cy="876106"/>
          </a:xfrm>
        </p:grpSpPr>
        <p:sp>
          <p:nvSpPr>
            <p:cNvPr id="1024" name="25 · node mint · surface [p25-e0015]"/>
            <p:cNvSpPr/>
            <p:nvPr/>
          </p:nvSpPr>
          <p:spPr>
            <a:xfrm>
              <a:off x="8449310" y="1988992"/>
              <a:ext cx="3114675" cy="876106"/>
            </a:xfrm>
            <a:prstGeom prst="roundRect">
              <a:avLst>
                <a:gd name="adj" fmla="val 15946"/>
              </a:avLst>
            </a:prstGeom>
            <a:solidFill>
              <a:srgbClr val="DDF3ED"/>
            </a:solidFill>
            <a:ln>
              <a:noFill/>
            </a:ln>
          </p:spPr>
        </p:sp>
        <p:sp>
          <p:nvSpPr>
            <p:cNvPr id="1025" name="25 · strong: Customer offer [p25-text-0017]" descr="Native editable Unicode text; authored line breaks retained."/>
            <p:cNvSpPr txBox="1"/>
            <p:nvPr/>
          </p:nvSpPr>
          <p:spPr>
            <a:xfrm>
              <a:off x="8627110" y="2176608"/>
              <a:ext cx="277177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Customer offer</a:t>
              </a:r>
              <a:endParaRPr lang="en-US" sz="1450" b="1" i="0" kern="0" spc="0" dirty="0">
                <a:solidFill>
                  <a:srgbClr val="032D60"/>
                </a:solidFill>
                <a:latin typeface="Salesforce Sans"/>
                <a:ea typeface="Salesforce Sans"/>
                <a:cs typeface="Salesforce Sans"/>
              </a:endParaRPr>
            </a:p>
          </p:txBody>
        </p:sp>
        <p:sp>
          <p:nvSpPr>
            <p:cNvPr id="1026" name="25 · small: Measure response latency [p25-text-0018]" descr="Native editable Unicode text; authored line breaks retained."/>
            <p:cNvSpPr txBox="1"/>
            <p:nvPr/>
          </p:nvSpPr>
          <p:spPr>
            <a:xfrm>
              <a:off x="8627110" y="2487928"/>
              <a:ext cx="277177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Measure response latency</a:t>
              </a:r>
              <a:endParaRPr lang="en-US" sz="1100" b="0" i="0" kern="0" spc="0" dirty="0">
                <a:solidFill>
                  <a:srgbClr val="032D60"/>
                </a:solidFill>
                <a:latin typeface="Salesforce Sans"/>
                <a:ea typeface="Salesforce Sans"/>
                <a:cs typeface="Salesforce Sans"/>
              </a:endParaRPr>
            </a:p>
          </p:txBody>
        </p:sp>
      </p:grpSp>
      <p:grpSp>
        <p:nvGrpSpPr>
          <p:cNvPr id="1039" name="25 · node peach: Review queue + human handling"/>
          <p:cNvGrpSpPr/>
          <p:nvPr/>
        </p:nvGrpSpPr>
        <p:grpSpPr>
          <a:xfrm>
            <a:off x="4227195" y="4078142"/>
            <a:ext cx="7336790" cy="1010898"/>
            <a:chOff x="4227195" y="4078142"/>
            <a:chExt cx="7336790" cy="1010898"/>
          </a:xfrm>
        </p:grpSpPr>
        <p:sp>
          <p:nvSpPr>
            <p:cNvPr id="1027" name="25 · node peach · surface [p25-e0018]"/>
            <p:cNvSpPr/>
            <p:nvPr/>
          </p:nvSpPr>
          <p:spPr>
            <a:xfrm>
              <a:off x="4227195" y="4078142"/>
              <a:ext cx="7336790" cy="1010898"/>
            </a:xfrm>
            <a:prstGeom prst="roundRect">
              <a:avLst>
                <a:gd name="adj" fmla="val 13819"/>
              </a:avLst>
            </a:prstGeom>
            <a:solidFill>
              <a:srgbClr val="FBE5DF"/>
            </a:solidFill>
            <a:ln>
              <a:noFill/>
            </a:ln>
          </p:spPr>
        </p:sp>
        <p:sp>
          <p:nvSpPr>
            <p:cNvPr id="1028" name="25 · strong: Review queue + human handling [p25-text-0019]" descr="Native editable Unicode text; authored line breaks retained."/>
            <p:cNvSpPr txBox="1"/>
            <p:nvPr/>
          </p:nvSpPr>
          <p:spPr>
            <a:xfrm>
              <a:off x="4404995" y="4333154"/>
              <a:ext cx="6993890"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Review queue + human handling</a:t>
              </a:r>
              <a:endParaRPr lang="en-US" sz="1450" b="1" i="0" kern="0" spc="0" dirty="0">
                <a:solidFill>
                  <a:srgbClr val="032D60"/>
                </a:solidFill>
                <a:latin typeface="Salesforce Sans"/>
                <a:ea typeface="Salesforce Sans"/>
                <a:cs typeface="Salesforce Sans"/>
              </a:endParaRPr>
            </a:p>
          </p:txBody>
        </p:sp>
        <p:sp>
          <p:nvSpPr>
            <p:cNvPr id="1029" name="25 · small: Can dominate the time to resolution [p25-text-0020]" descr="Native editable Unicode text; authored line breaks retained."/>
            <p:cNvSpPr txBox="1"/>
            <p:nvPr/>
          </p:nvSpPr>
          <p:spPr>
            <a:xfrm>
              <a:off x="4404995" y="4644474"/>
              <a:ext cx="6993890"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Can dominate the time to resolution</a:t>
              </a:r>
              <a:endParaRPr lang="en-US" sz="1100" b="0" i="0" kern="0" spc="0" dirty="0">
                <a:solidFill>
                  <a:srgbClr val="032D60"/>
                </a:solidFill>
                <a:latin typeface="Salesforce Sans"/>
                <a:ea typeface="Salesforce Sans"/>
                <a:cs typeface="Salesforce Sans"/>
              </a:endParaRPr>
            </a:p>
          </p:txBody>
        </p:sp>
      </p:grpSp>
      <p:sp>
        <p:nvSpPr>
          <p:cNvPr id="1030" name="25 · node label: Track decision time, response time, and time to completed service separately. [p25-text-0021]" descr="Native editable Unicode text; authored line breaks retained."/>
          <p:cNvSpPr txBox="1"/>
          <p:nvPr/>
        </p:nvSpPr>
        <p:spPr>
          <a:xfrm>
            <a:off x="558800" y="5631552"/>
            <a:ext cx="11087100" cy="20172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64"/>
              </a:lnSpc>
              <a:spcBef>
                <a:spcPts val="0"/>
              </a:spcBef>
              <a:spcAft>
                <a:spcPts val="0"/>
              </a:spcAft>
              <a:buNone/>
            </a:pPr>
            <a:r>
              <a:rPr lang="en-US" sz="1200" b="0" i="0" kern="0" spc="0" dirty="0">
                <a:solidFill>
                  <a:srgbClr val="032D60"/>
                </a:solidFill>
                <a:latin typeface="Salesforce Sans"/>
                <a:ea typeface="Salesforce Sans"/>
                <a:cs typeface="Salesforce Sans"/>
              </a:rPr>
              <a:t>Track decision time, response time, and time to completed service separately.</a:t>
            </a:r>
            <a:endParaRPr lang="en-US" sz="1200" b="0" i="0" kern="0" spc="0" dirty="0">
              <a:solidFill>
                <a:srgbClr val="032D60"/>
              </a:solidFill>
              <a:latin typeface="Salesforce Sans"/>
              <a:ea typeface="Salesforce Sans"/>
              <a:cs typeface="Salesforce Sans"/>
            </a:endParaRPr>
          </a:p>
        </p:txBody>
      </p:sp>
      <p:grpSp>
        <p:nvGrpSpPr>
          <p:cNvPr id="1040" name="25 · source-line: Jev + LangGraph"/>
          <p:cNvGrpSpPr/>
          <p:nvPr/>
        </p:nvGrpSpPr>
        <p:grpSpPr>
          <a:xfrm>
            <a:off x="558800" y="6037898"/>
            <a:ext cx="11087100" cy="284456"/>
            <a:chOff x="558800" y="6037898"/>
            <a:chExt cx="11087100" cy="284456"/>
          </a:xfrm>
        </p:grpSpPr>
        <p:sp>
          <p:nvSpPr>
            <p:cNvPr id="1031" name="25 · source-line · top border [p25-e0022]"/>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2" name="25 · span: Jev + LangGraph [p25-text-0022]" descr="Native editable Unicode text; authored line breaks retained."/>
            <p:cNvSpPr txBox="1"/>
            <p:nvPr/>
          </p:nvSpPr>
          <p:spPr>
            <a:xfrm>
              <a:off x="558800" y="6153126"/>
              <a:ext cx="93931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 LangGraph"/>
                </a:rPr>
                <a:t>Jev + LangGraph</a:t>
              </a:r>
              <a:endParaRPr lang="en-US" sz="950" b="0" i="0" kern="0" spc="0" dirty="0" u="sng">
                <a:solidFill>
                  <a:srgbClr val="315A7A"/>
                </a:solidFill>
                <a:latin typeface="Salesforce Sans"/>
                <a:ea typeface="Salesforce Sans"/>
                <a:cs typeface="Salesforce Sans"/>
              </a:endParaRPr>
            </a:p>
          </p:txBody>
        </p:sp>
        <p:sp>
          <p:nvSpPr>
            <p:cNvPr id="1033" name="25 · span: Mechanism illustration; no timing benchmark [p25-text-0023]" descr="Native editable Unicode text; authored line breaks retained."/>
            <p:cNvSpPr txBox="1"/>
            <p:nvPr/>
          </p:nvSpPr>
          <p:spPr>
            <a:xfrm>
              <a:off x="9084804" y="6153126"/>
              <a:ext cx="25610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Mechanism illustration; no timing benchmark</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name="Find the missing boundary">
    <p:bg>
      <p:bgPr>
        <a:solidFill>
          <a:srgbClr val="FFFFFF"/>
        </a:solidFill>
      </p:bgPr>
    </p:bg>
    <p:spTree>
      <p:nvGrpSpPr>
        <p:cNvPr id="1" name=""/>
        <p:cNvGrpSpPr/>
        <p:nvPr/>
      </p:nvGrpSpPr>
      <p:grpSpPr>
        <a:xfrm>
          <a:off x="0" y="0"/>
          <a:ext cx="0" cy="0"/>
          <a:chOff x="0" y="0"/>
          <a:chExt cx="0" cy="0"/>
        </a:xfrm>
      </p:grpSpPr>
      <p:sp>
        <p:nvSpPr>
          <p:cNvPr id="1000" name="26 · slide light · surface [p2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1" name="26 · chrome-min: DISAGGREGATED INTELLIGENCE"/>
          <p:cNvGrpSpPr/>
          <p:nvPr/>
        </p:nvGrpSpPr>
        <p:grpSpPr>
          <a:xfrm>
            <a:off x="558800" y="356053"/>
            <a:ext cx="11087100" cy="187325"/>
            <a:chOff x="558800" y="356053"/>
            <a:chExt cx="11087100" cy="187325"/>
          </a:xfrm>
        </p:grpSpPr>
        <p:sp>
          <p:nvSpPr>
            <p:cNvPr id="1001" name="26 · l: DISAGGREGATED INTELLIGENCE [p26-text-0010]"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6 · r: 26 / 36 [p26-text-0011]"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26 / 36</a:t>
              </a:r>
              <a:endParaRPr lang="en-US" sz="950" b="1" i="0" kern="0" spc="65" dirty="0">
                <a:solidFill>
                  <a:srgbClr val="022AC0"/>
                </a:solidFill>
                <a:latin typeface="Salesforce Sans"/>
                <a:ea typeface="Salesforce Sans"/>
                <a:cs typeface="Salesforce Sans"/>
              </a:endParaRPr>
            </a:p>
          </p:txBody>
        </p:sp>
      </p:grpSp>
      <p:grpSp>
        <p:nvGrpSpPr>
          <p:cNvPr id="1032" name="26 · deck-head: 07 / EXERCISE"/>
          <p:cNvGrpSpPr/>
          <p:nvPr/>
        </p:nvGrpSpPr>
        <p:grpSpPr>
          <a:xfrm>
            <a:off x="558800" y="775901"/>
            <a:ext cx="11087100" cy="871263"/>
            <a:chOff x="558800" y="775901"/>
            <a:chExt cx="11087100" cy="871263"/>
          </a:xfrm>
        </p:grpSpPr>
        <p:sp>
          <p:nvSpPr>
            <p:cNvPr id="1003" name="26 · exercise-eyebrow: 07 / EXERCISE [p26-text-0012]"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07 / EXERCISE</a:t>
              </a:r>
              <a:endParaRPr lang="en-US" sz="1050" b="1" i="0" kern="0" spc="68" dirty="0">
                <a:solidFill>
                  <a:srgbClr val="022AC0"/>
                </a:solidFill>
                <a:latin typeface="Salesforce Sans"/>
                <a:ea typeface="Salesforce Sans"/>
                <a:cs typeface="Salesforce Sans"/>
              </a:endParaRPr>
            </a:p>
          </p:txBody>
        </p:sp>
        <p:sp>
          <p:nvSpPr>
            <p:cNvPr id="1004" name="26 · exercise-title: Find the missing boundary [p26-text-0013]"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Find the missing boundary</a:t>
              </a:r>
              <a:endParaRPr lang="en-US" sz="3600" b="1" i="0" kern="0" spc="-95" dirty="0">
                <a:solidFill>
                  <a:srgbClr val="022AC0"/>
                </a:solidFill>
                <a:latin typeface="Manrope"/>
                <a:ea typeface="Manrope"/>
                <a:cs typeface="Manrope"/>
              </a:endParaRPr>
            </a:p>
          </p:txBody>
        </p:sp>
      </p:grpSp>
      <p:grpSp>
        <p:nvGrpSpPr>
          <p:cNvPr id="1033" name="26 · card mint: "/>
          <p:cNvGrpSpPr/>
          <p:nvPr/>
        </p:nvGrpSpPr>
        <p:grpSpPr>
          <a:xfrm>
            <a:off x="558800" y="3695700"/>
            <a:ext cx="3585633" cy="1414272"/>
            <a:chOff x="558800" y="3695700"/>
            <a:chExt cx="3585633" cy="1414272"/>
          </a:xfrm>
        </p:grpSpPr>
        <p:sp>
          <p:nvSpPr>
            <p:cNvPr id="1005" name="26 · card mint · surface [p26-e0008]"/>
            <p:cNvSpPr/>
            <p:nvPr/>
          </p:nvSpPr>
          <p:spPr>
            <a:xfrm>
              <a:off x="558800" y="3695700"/>
              <a:ext cx="3585633" cy="1414272"/>
            </a:xfrm>
            <a:prstGeom prst="roundRect">
              <a:avLst>
                <a:gd name="adj" fmla="val 9878"/>
              </a:avLst>
            </a:prstGeom>
            <a:solidFill>
              <a:srgbClr val="DDF3ED"/>
            </a:solidFill>
            <a:ln>
              <a:noFill/>
            </a:ln>
          </p:spPr>
        </p:sp>
        <p:sp>
          <p:nvSpPr>
            <p:cNvPr id="1006" name="26 · card mint · outline [p26-e0008]"/>
            <p:cNvSpPr/>
            <p:nvPr/>
          </p:nvSpPr>
          <p:spPr>
            <a:xfrm>
              <a:off x="561975" y="3698875"/>
              <a:ext cx="3579283" cy="1407922"/>
            </a:xfrm>
            <a:prstGeom prst="roundRect">
              <a:avLst>
                <a:gd name="adj" fmla="val 9697"/>
              </a:avLst>
            </a:prstGeom>
            <a:noFill/>
            <a:ln w="6350" algn="ctr">
              <a:solidFill>
                <a:srgbClr val="FFFFFF">
                  <a:alpha val="85098"/>
                </a:srgbClr>
              </a:solidFill>
              <a:prstDash val="solid"/>
            </a:ln>
          </p:spPr>
        </p:sp>
      </p:grpSp>
      <p:grpSp>
        <p:nvGrpSpPr>
          <p:cNvPr id="1034" name="26 · card sand: "/>
          <p:cNvGrpSpPr/>
          <p:nvPr/>
        </p:nvGrpSpPr>
        <p:grpSpPr>
          <a:xfrm>
            <a:off x="4303183" y="3695700"/>
            <a:ext cx="3585633" cy="1414272"/>
            <a:chOff x="4303183" y="3695700"/>
            <a:chExt cx="3585633" cy="1414272"/>
          </a:xfrm>
        </p:grpSpPr>
        <p:sp>
          <p:nvSpPr>
            <p:cNvPr id="1007" name="26 · card sand · surface [p26-e0009]"/>
            <p:cNvSpPr/>
            <p:nvPr/>
          </p:nvSpPr>
          <p:spPr>
            <a:xfrm>
              <a:off x="4303183" y="3695700"/>
              <a:ext cx="3585633" cy="1414272"/>
            </a:xfrm>
            <a:prstGeom prst="roundRect">
              <a:avLst>
                <a:gd name="adj" fmla="val 9878"/>
              </a:avLst>
            </a:prstGeom>
            <a:solidFill>
              <a:srgbClr val="FBF0CF"/>
            </a:solidFill>
            <a:ln>
              <a:noFill/>
            </a:ln>
          </p:spPr>
        </p:sp>
        <p:sp>
          <p:nvSpPr>
            <p:cNvPr id="1008" name="26 · card sand · outline [p26-e0009]"/>
            <p:cNvSpPr/>
            <p:nvPr/>
          </p:nvSpPr>
          <p:spPr>
            <a:xfrm>
              <a:off x="4306358" y="3698875"/>
              <a:ext cx="3579283" cy="1407922"/>
            </a:xfrm>
            <a:prstGeom prst="roundRect">
              <a:avLst>
                <a:gd name="adj" fmla="val 9697"/>
              </a:avLst>
            </a:prstGeom>
            <a:noFill/>
            <a:ln w="6350" algn="ctr">
              <a:solidFill>
                <a:srgbClr val="FFFFFF">
                  <a:alpha val="85098"/>
                </a:srgbClr>
              </a:solidFill>
              <a:prstDash val="solid"/>
            </a:ln>
          </p:spPr>
        </p:sp>
      </p:grpSp>
      <p:grpSp>
        <p:nvGrpSpPr>
          <p:cNvPr id="1035" name="26 · card blue: "/>
          <p:cNvGrpSpPr/>
          <p:nvPr/>
        </p:nvGrpSpPr>
        <p:grpSpPr>
          <a:xfrm>
            <a:off x="8047567" y="3695700"/>
            <a:ext cx="3585633" cy="1414272"/>
            <a:chOff x="8047567" y="3695700"/>
            <a:chExt cx="3585633" cy="1414272"/>
          </a:xfrm>
        </p:grpSpPr>
        <p:sp>
          <p:nvSpPr>
            <p:cNvPr id="1009" name="26 · card blue · surface [p26-e0010]"/>
            <p:cNvSpPr/>
            <p:nvPr/>
          </p:nvSpPr>
          <p:spPr>
            <a:xfrm>
              <a:off x="8047567" y="3695700"/>
              <a:ext cx="3585633" cy="1414272"/>
            </a:xfrm>
            <a:prstGeom prst="roundRect">
              <a:avLst>
                <a:gd name="adj" fmla="val 9878"/>
              </a:avLst>
            </a:prstGeom>
            <a:solidFill>
              <a:srgbClr val="DCEEFE"/>
            </a:solidFill>
            <a:ln>
              <a:noFill/>
            </a:ln>
          </p:spPr>
        </p:sp>
        <p:sp>
          <p:nvSpPr>
            <p:cNvPr id="1010" name="26 · card blue · outline [p26-e0010]"/>
            <p:cNvSpPr/>
            <p:nvPr/>
          </p:nvSpPr>
          <p:spPr>
            <a:xfrm>
              <a:off x="8050742" y="3698875"/>
              <a:ext cx="3579283" cy="1407922"/>
            </a:xfrm>
            <a:prstGeom prst="roundRect">
              <a:avLst>
                <a:gd name="adj" fmla="val 9697"/>
              </a:avLst>
            </a:prstGeom>
            <a:noFill/>
            <a:ln w="6350" algn="ctr">
              <a:solidFill>
                <a:srgbClr val="FFFFFF">
                  <a:alpha val="85098"/>
                </a:srgbClr>
              </a:solidFill>
              <a:prstDash val="solid"/>
            </a:ln>
          </p:spPr>
        </p:sp>
      </p:grpSp>
      <p:grpSp>
        <p:nvGrpSpPr>
          <p:cNvPr id="1036" name="26 · card mint: Verify access"/>
          <p:cNvGrpSpPr/>
          <p:nvPr/>
        </p:nvGrpSpPr>
        <p:grpSpPr>
          <a:xfrm>
            <a:off x="781050" y="3919729"/>
            <a:ext cx="3153833" cy="708734"/>
            <a:chOff x="781050" y="3919729"/>
            <a:chExt cx="3153833" cy="708734"/>
          </a:xfrm>
        </p:grpSpPr>
        <p:sp>
          <p:nvSpPr>
            <p:cNvPr id="1011" name="26 · exercise-text-1: Verify access [p26-text-0014]" descr="Native editable Unicode text; authored line breaks retained."/>
            <p:cNvSpPr txBox="1"/>
            <p:nvPr/>
          </p:nvSpPr>
          <p:spPr>
            <a:xfrm>
              <a:off x="781050"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Verify access</a:t>
              </a:r>
              <a:endParaRPr lang="en-US" sz="2000" b="1" i="0" kern="0" spc="-38" dirty="0">
                <a:solidFill>
                  <a:srgbClr val="022AC0"/>
                </a:solidFill>
                <a:latin typeface="Manrope"/>
                <a:ea typeface="Manrope"/>
                <a:cs typeface="Manrope"/>
              </a:endParaRPr>
            </a:p>
          </p:txBody>
        </p:sp>
        <p:sp>
          <p:nvSpPr>
            <p:cNvPr id="1012" name="26 · exercise-text-2: Identity and owned purchase. [p26-text-0015]" descr="Native editable Unicode text; authored line breaks retained."/>
            <p:cNvSpPr txBox="1"/>
            <p:nvPr/>
          </p:nvSpPr>
          <p:spPr>
            <a:xfrm>
              <a:off x="781050" y="4369637"/>
              <a:ext cx="3153833" cy="258826"/>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Identity and owned purchase.</a:t>
              </a:r>
              <a:endParaRPr lang="en-US" sz="1400" b="0" i="0" kern="0" spc="0" dirty="0">
                <a:solidFill>
                  <a:srgbClr val="032D60"/>
                </a:solidFill>
                <a:latin typeface="Salesforce Sans"/>
                <a:ea typeface="Salesforce Sans"/>
                <a:cs typeface="Salesforce Sans"/>
              </a:endParaRPr>
            </a:p>
          </p:txBody>
        </p:sp>
      </p:grpSp>
      <p:grpSp>
        <p:nvGrpSpPr>
          <p:cNvPr id="1037" name="26 · card sand: Check policy"/>
          <p:cNvGrpSpPr/>
          <p:nvPr/>
        </p:nvGrpSpPr>
        <p:grpSpPr>
          <a:xfrm>
            <a:off x="4525433" y="3919729"/>
            <a:ext cx="3153833" cy="961210"/>
            <a:chOff x="4525433" y="3919729"/>
            <a:chExt cx="3153833" cy="961210"/>
          </a:xfrm>
        </p:grpSpPr>
        <p:sp>
          <p:nvSpPr>
            <p:cNvPr id="1013" name="26 · exercise-text-3: Check policy [p26-text-0016]" descr="Native editable Unicode text; authored line breaks retained."/>
            <p:cNvSpPr txBox="1"/>
            <p:nvPr/>
          </p:nvSpPr>
          <p:spPr>
            <a:xfrm>
              <a:off x="4525433"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Check policy</a:t>
              </a:r>
              <a:endParaRPr lang="en-US" sz="2000" b="1" i="0" kern="0" spc="-38" dirty="0">
                <a:solidFill>
                  <a:srgbClr val="022AC0"/>
                </a:solidFill>
                <a:latin typeface="Manrope"/>
                <a:ea typeface="Manrope"/>
                <a:cs typeface="Manrope"/>
              </a:endParaRPr>
            </a:p>
          </p:txBody>
        </p:sp>
        <p:sp>
          <p:nvSpPr>
            <p:cNvPr id="1014" name="26 · exercise-text-4: Exchange rules, stock, terms + confirmation. [p26-text-0017]" descr="Native editable Unicode text; authored line breaks retained."/>
            <p:cNvSpPr txBox="1"/>
            <p:nvPr/>
          </p:nvSpPr>
          <p:spPr>
            <a:xfrm>
              <a:off x="4525433" y="4369637"/>
              <a:ext cx="3153833"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Exchange rules, stock, terms +</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confirmation.</a:t>
              </a:r>
              <a:endParaRPr lang="en-US" sz="1400" b="0" i="0" kern="0" spc="0" dirty="0">
                <a:solidFill>
                  <a:srgbClr val="032D60"/>
                </a:solidFill>
                <a:latin typeface="Salesforce Sans"/>
                <a:ea typeface="Salesforce Sans"/>
                <a:cs typeface="Salesforce Sans"/>
              </a:endParaRPr>
            </a:p>
          </p:txBody>
        </p:sp>
      </p:grpSp>
      <p:grpSp>
        <p:nvGrpSpPr>
          <p:cNvPr id="1038" name="26 · card blue: Enforce in service"/>
          <p:cNvGrpSpPr/>
          <p:nvPr/>
        </p:nvGrpSpPr>
        <p:grpSpPr>
          <a:xfrm>
            <a:off x="8269817" y="3919729"/>
            <a:ext cx="3153833" cy="961210"/>
            <a:chOff x="8269817" y="3919729"/>
            <a:chExt cx="3153833" cy="961210"/>
          </a:xfrm>
        </p:grpSpPr>
        <p:sp>
          <p:nvSpPr>
            <p:cNvPr id="1015" name="26 · exercise-text-5: Enforce in service [p26-text-0018]" descr="Native editable Unicode text; authored line breaks retained."/>
            <p:cNvSpPr txBox="1"/>
            <p:nvPr/>
          </p:nvSpPr>
          <p:spPr>
            <a:xfrm>
              <a:off x="8269817" y="3919729"/>
              <a:ext cx="3153833"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Enforce in service</a:t>
              </a:r>
              <a:endParaRPr lang="en-US" sz="2000" b="1" i="0" kern="0" spc="-38" dirty="0">
                <a:solidFill>
                  <a:srgbClr val="022AC0"/>
                </a:solidFill>
                <a:latin typeface="Manrope"/>
                <a:ea typeface="Manrope"/>
                <a:cs typeface="Manrope"/>
              </a:endParaRPr>
            </a:p>
          </p:txBody>
        </p:sp>
        <p:sp>
          <p:nvSpPr>
            <p:cNvPr id="1016" name="26 · exercise-text-6: Recheck authorization and record outcome. [p26-text-0019]" descr="Native editable Unicode text; authored line breaks retained."/>
            <p:cNvSpPr txBox="1"/>
            <p:nvPr/>
          </p:nvSpPr>
          <p:spPr>
            <a:xfrm>
              <a:off x="8269817" y="4369637"/>
              <a:ext cx="3153833"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Recheck authorization and record</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outcome.</a:t>
              </a:r>
              <a:endParaRPr lang="en-US" sz="1400" b="0" i="0" kern="0" spc="0" dirty="0">
                <a:solidFill>
                  <a:srgbClr val="032D60"/>
                </a:solidFill>
                <a:latin typeface="Salesforce Sans"/>
                <a:ea typeface="Salesforce Sans"/>
                <a:cs typeface="Salesforce Sans"/>
              </a:endParaRPr>
            </a:p>
          </p:txBody>
        </p:sp>
      </p:grpSp>
      <p:grpSp>
        <p:nvGrpSpPr>
          <p:cNvPr id="1017" name="26 · svg · drawing [p26-e0019]"/>
          <p:cNvGrpSpPr/>
          <p:nvPr/>
        </p:nvGrpSpPr>
        <p:grpSpPr>
          <a:xfrm>
            <a:off x="3733461" y="2625725"/>
            <a:ext cx="4595876" cy="114300"/>
            <a:chOff x="3733461" y="2625725"/>
            <a:chExt cx="4595876" cy="114300"/>
          </a:xfrm>
        </p:grpSpPr>
        <p:grpSp>
          <p:nvGrpSpPr>
            <p:cNvPr id="1018" name="path · 1 + arrowhead"/>
            <p:cNvGrpSpPr/>
            <p:nvPr/>
          </p:nvGrpSpPr>
          <p:grpSpPr>
            <a:xfrm>
              <a:off x="3733461" y="2625725"/>
              <a:ext cx="4595876" cy="114300"/>
              <a:chOff x="3733461" y="2625725"/>
              <a:chExt cx="4595876" cy="114300"/>
            </a:xfrm>
          </p:grpSpPr>
          <p:sp>
            <p:nvSpPr>
              <p:cNvPr id="1019" name="path · 1"/>
              <p:cNvSpPr/>
              <p:nvPr/>
            </p:nvSpPr>
            <p:spPr>
              <a:xfrm>
                <a:off x="3733461" y="2682875"/>
                <a:ext cx="4577419" cy="1"/>
              </a:xfrm>
              <a:custGeom>
                <a:avLst/>
                <a:gdLst/>
                <a:ahLst/>
                <a:cxnLst/>
                <a:rect l="0" t="0" r="r" b="b"/>
                <a:pathLst>
                  <a:path w="4577419" h="1" fill="none" stroke="1" extrusionOk="0">
                    <a:moveTo>
                      <a:pt x="0" y="0"/>
                    </a:moveTo>
                    <a:lnTo>
                      <a:pt x="4577419" y="0"/>
                    </a:lnTo>
                  </a:path>
                </a:pathLst>
              </a:custGeom>
              <a:noFill/>
              <a:ln w="15875" cap="flat" cmpd="sng" algn="ctr">
                <a:solidFill>
                  <a:srgbClr val="789B8E">
                    <a:alpha val="20000"/>
                  </a:srgbClr>
                </a:solidFill>
                <a:prstDash val="solid"/>
                <a:miter lim="400000"/>
                <a:headEnd type="none" w="med" len="med"/>
                <a:tailEnd type="none" w="med" len="med"/>
              </a:ln>
            </p:spPr>
          </p:sp>
          <p:grpSp>
            <p:nvGrpSpPr>
              <p:cNvPr id="1020" name="arr9 end"/>
              <p:cNvGrpSpPr/>
              <p:nvPr/>
            </p:nvGrpSpPr>
            <p:grpSpPr>
              <a:xfrm>
                <a:off x="8181679" y="2625725"/>
                <a:ext cx="147659" cy="114300"/>
                <a:chOff x="8181679" y="2625725"/>
                <a:chExt cx="147659" cy="114300"/>
              </a:xfrm>
            </p:grpSpPr>
            <p:sp>
              <p:nvSpPr>
                <p:cNvPr id="1021" name="path · 2"/>
                <p:cNvSpPr/>
                <p:nvPr/>
              </p:nvSpPr>
              <p:spPr>
                <a:xfrm>
                  <a:off x="8181679" y="2625725"/>
                  <a:ext cx="147659" cy="114300"/>
                </a:xfrm>
                <a:custGeom>
                  <a:avLst/>
                  <a:gdLst/>
                  <a:ahLst/>
                  <a:cxnLst/>
                  <a:rect l="0" t="0" r="r" b="b"/>
                  <a:pathLst>
                    <a:path w="147659" h="114300" fill="norm" stroke="0" extrusionOk="0">
                      <a:moveTo>
                        <a:pt x="0" y="0"/>
                      </a:moveTo>
                      <a:lnTo>
                        <a:pt x="147658" y="57150"/>
                      </a:lnTo>
                      <a:lnTo>
                        <a:pt x="0" y="114300"/>
                      </a:lnTo>
                      <a:close/>
                    </a:path>
                  </a:pathLst>
                </a:custGeom>
                <a:solidFill>
                  <a:srgbClr val="789B8E">
                    <a:alpha val="20000"/>
                  </a:srgbClr>
                </a:solidFill>
                <a:ln>
                  <a:noFill/>
                </a:ln>
              </p:spPr>
            </p:sp>
          </p:grpSp>
        </p:grpSp>
      </p:grpSp>
      <p:grpSp>
        <p:nvGrpSpPr>
          <p:cNvPr id="1039" name="26 · node lilac: Exchange requested"/>
          <p:cNvGrpSpPr/>
          <p:nvPr/>
        </p:nvGrpSpPr>
        <p:grpSpPr>
          <a:xfrm>
            <a:off x="558800" y="2254244"/>
            <a:ext cx="3174698" cy="857250"/>
            <a:chOff x="558800" y="2254244"/>
            <a:chExt cx="3174698" cy="857250"/>
          </a:xfrm>
        </p:grpSpPr>
        <p:sp>
          <p:nvSpPr>
            <p:cNvPr id="1022" name="26 · node lilac · surface [p26-e0020]"/>
            <p:cNvSpPr/>
            <p:nvPr/>
          </p:nvSpPr>
          <p:spPr>
            <a:xfrm>
              <a:off x="558800" y="2254244"/>
              <a:ext cx="3174698" cy="857250"/>
            </a:xfrm>
            <a:prstGeom prst="roundRect">
              <a:avLst>
                <a:gd name="adj" fmla="val 16296"/>
              </a:avLst>
            </a:prstGeom>
            <a:solidFill>
              <a:srgbClr val="EAE6FA">
                <a:alpha val="20000"/>
              </a:srgbClr>
            </a:solidFill>
            <a:ln>
              <a:noFill/>
            </a:ln>
          </p:spPr>
        </p:sp>
        <p:sp>
          <p:nvSpPr>
            <p:cNvPr id="1023" name="26 · strong: Exchange requested [p26-text-0020]" descr="Native editable Unicode text; authored line breaks retained."/>
            <p:cNvSpPr txBox="1"/>
            <p:nvPr/>
          </p:nvSpPr>
          <p:spPr>
            <a:xfrm>
              <a:off x="736600" y="2432432"/>
              <a:ext cx="2831798"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alpha val="20000"/>
                    </a:srgbClr>
                  </a:solidFill>
                  <a:latin typeface="Salesforce Sans"/>
                  <a:ea typeface="Salesforce Sans"/>
                  <a:cs typeface="Salesforce Sans"/>
                </a:rPr>
                <a:t>Exchange requested</a:t>
              </a:r>
              <a:endParaRPr lang="en-US" sz="1450" b="1" i="0" kern="0" spc="0" dirty="0">
                <a:solidFill>
                  <a:srgbClr val="032D60">
                    <a:alpha val="20000"/>
                  </a:srgbClr>
                </a:solidFill>
                <a:latin typeface="Salesforce Sans"/>
                <a:ea typeface="Salesforce Sans"/>
                <a:cs typeface="Salesforce Sans"/>
              </a:endParaRPr>
            </a:p>
          </p:txBody>
        </p:sp>
        <p:sp>
          <p:nvSpPr>
            <p:cNvPr id="1024" name="26 · small: Strong model score [p26-text-0021]" descr="Native editable Unicode text; authored line breaks retained."/>
            <p:cNvSpPr txBox="1"/>
            <p:nvPr/>
          </p:nvSpPr>
          <p:spPr>
            <a:xfrm>
              <a:off x="736600" y="2743753"/>
              <a:ext cx="2831798"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alpha val="20000"/>
                    </a:srgbClr>
                  </a:solidFill>
                  <a:latin typeface="Salesforce Sans"/>
                  <a:ea typeface="Salesforce Sans"/>
                  <a:cs typeface="Salesforce Sans"/>
                </a:rPr>
                <a:t>Strong model score</a:t>
              </a:r>
              <a:endParaRPr lang="en-US" sz="1100" b="0" i="0" kern="0" spc="0" dirty="0">
                <a:solidFill>
                  <a:srgbClr val="032D60">
                    <a:alpha val="20000"/>
                  </a:srgbClr>
                </a:solidFill>
                <a:latin typeface="Salesforce Sans"/>
                <a:ea typeface="Salesforce Sans"/>
                <a:cs typeface="Salesforce Sans"/>
              </a:endParaRPr>
            </a:p>
          </p:txBody>
        </p:sp>
      </p:grpSp>
      <p:grpSp>
        <p:nvGrpSpPr>
          <p:cNvPr id="1040" name="26 · node blue: Create exchange"/>
          <p:cNvGrpSpPr/>
          <p:nvPr/>
        </p:nvGrpSpPr>
        <p:grpSpPr>
          <a:xfrm>
            <a:off x="8384746" y="2254244"/>
            <a:ext cx="3248454" cy="857250"/>
            <a:chOff x="8384746" y="2254244"/>
            <a:chExt cx="3248454" cy="857250"/>
          </a:xfrm>
        </p:grpSpPr>
        <p:sp>
          <p:nvSpPr>
            <p:cNvPr id="1025" name="26 · node blue · surface [p26-e0023]"/>
            <p:cNvSpPr/>
            <p:nvPr/>
          </p:nvSpPr>
          <p:spPr>
            <a:xfrm>
              <a:off x="8384746" y="2254244"/>
              <a:ext cx="3248454" cy="857250"/>
            </a:xfrm>
            <a:prstGeom prst="roundRect">
              <a:avLst>
                <a:gd name="adj" fmla="val 16296"/>
              </a:avLst>
            </a:prstGeom>
            <a:solidFill>
              <a:srgbClr val="DCEEFE">
                <a:alpha val="20000"/>
              </a:srgbClr>
            </a:solidFill>
            <a:ln>
              <a:noFill/>
            </a:ln>
          </p:spPr>
        </p:sp>
        <p:sp>
          <p:nvSpPr>
            <p:cNvPr id="1026" name="26 · strong: Create exchange [p26-text-0022]" descr="Native editable Unicode text; authored line breaks retained."/>
            <p:cNvSpPr txBox="1"/>
            <p:nvPr/>
          </p:nvSpPr>
          <p:spPr>
            <a:xfrm>
              <a:off x="8562546" y="2432432"/>
              <a:ext cx="2905554"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alpha val="20000"/>
                    </a:srgbClr>
                  </a:solidFill>
                  <a:latin typeface="Salesforce Sans"/>
                  <a:ea typeface="Salesforce Sans"/>
                  <a:cs typeface="Salesforce Sans"/>
                </a:rPr>
                <a:t>Create exchange</a:t>
              </a:r>
              <a:endParaRPr lang="en-US" sz="1450" b="1" i="0" kern="0" spc="0" dirty="0">
                <a:solidFill>
                  <a:srgbClr val="032D60">
                    <a:alpha val="20000"/>
                  </a:srgbClr>
                </a:solidFill>
                <a:latin typeface="Salesforce Sans"/>
                <a:ea typeface="Salesforce Sans"/>
                <a:cs typeface="Salesforce Sans"/>
              </a:endParaRPr>
            </a:p>
          </p:txBody>
        </p:sp>
        <p:sp>
          <p:nvSpPr>
            <p:cNvPr id="1027" name="26 · small: Business transaction [p26-text-0023]" descr="Native editable Unicode text; authored line breaks retained."/>
            <p:cNvSpPr txBox="1"/>
            <p:nvPr/>
          </p:nvSpPr>
          <p:spPr>
            <a:xfrm>
              <a:off x="8562546" y="2743753"/>
              <a:ext cx="2905554"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alpha val="20000"/>
                    </a:srgbClr>
                  </a:solidFill>
                  <a:latin typeface="Salesforce Sans"/>
                  <a:ea typeface="Salesforce Sans"/>
                  <a:cs typeface="Salesforce Sans"/>
                </a:rPr>
                <a:t>Business transaction</a:t>
              </a:r>
              <a:endParaRPr lang="en-US" sz="1100" b="0" i="0" kern="0" spc="0" dirty="0">
                <a:solidFill>
                  <a:srgbClr val="032D60">
                    <a:alpha val="20000"/>
                  </a:srgbClr>
                </a:solidFill>
                <a:latin typeface="Salesforce Sans"/>
                <a:ea typeface="Salesforce Sans"/>
                <a:cs typeface="Salesforce Sans"/>
              </a:endParaRPr>
            </a:p>
          </p:txBody>
        </p:sp>
      </p:grpSp>
      <p:grpSp>
        <p:nvGrpSpPr>
          <p:cNvPr id="1041" name="26 · source-line: Reliable enterprise agents · AgentScript control plane"/>
          <p:cNvGrpSpPr/>
          <p:nvPr/>
        </p:nvGrpSpPr>
        <p:grpSpPr>
          <a:xfrm>
            <a:off x="558800" y="6037898"/>
            <a:ext cx="11087100" cy="284456"/>
            <a:chOff x="558800" y="6037898"/>
            <a:chExt cx="11087100" cy="284456"/>
          </a:xfrm>
        </p:grpSpPr>
        <p:sp>
          <p:nvSpPr>
            <p:cNvPr id="1028" name="26 · source-line · top border [p26-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9" name="26 · span: Reliable enterprise agents · AgentScript control plane [p26-text-0024]" descr="Native editable Unicode text; authored line breaks retained."/>
            <p:cNvSpPr txBox="1"/>
            <p:nvPr/>
          </p:nvSpPr>
          <p:spPr>
            <a:xfrm>
              <a:off x="558800" y="6153126"/>
              <a:ext cx="297158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Reliable enterprise agents"/>
                </a:rPr>
                <a:t>Reliable enterprise agents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endParaRPr lang="en-US" sz="950" b="0" i="0" kern="0" spc="0" dirty="0" u="sng">
                <a:solidFill>
                  <a:srgbClr val="315A7A"/>
                </a:solidFill>
                <a:latin typeface="Salesforce Sans"/>
                <a:ea typeface="Salesforce Sans"/>
                <a:cs typeface="Salesforce Sans"/>
              </a:endParaRPr>
            </a:p>
          </p:txBody>
        </p:sp>
        <p:sp>
          <p:nvSpPr>
            <p:cNvPr id="1030" name="26 · span: Constructed design exercise [p26-text-0025]" descr="Native editable Unicode text; authored line breaks retained."/>
            <p:cNvSpPr txBox="1"/>
            <p:nvPr/>
          </p:nvSpPr>
          <p:spPr>
            <a:xfrm>
              <a:off x="10066058" y="6153126"/>
              <a:ext cx="157984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design exercise</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7.xml><?xml version="1.0" encoding="utf-8"?>
<p:sld xmlns:a="http://schemas.openxmlformats.org/drawingml/2006/main" xmlns:p="http://schemas.openxmlformats.org/presentationml/2006/main">
  <p:cSld name="Begin the dataset at the decision boundary">
    <p:bg>
      <p:bgPr>
        <a:solidFill>
          <a:srgbClr val="FFFFFF"/>
        </a:solidFill>
      </p:bgPr>
    </p:bg>
    <p:spTree>
      <p:nvGrpSpPr>
        <p:cNvPr id="1" name=""/>
        <p:cNvGrpSpPr/>
        <p:nvPr/>
      </p:nvGrpSpPr>
      <p:grpSpPr>
        <a:xfrm>
          <a:off x="0" y="0"/>
          <a:ext cx="0" cy="0"/>
          <a:chOff x="0" y="0"/>
          <a:chExt cx="0" cy="0"/>
        </a:xfrm>
      </p:grpSpPr>
      <p:sp>
        <p:nvSpPr>
          <p:cNvPr id="1000" name="27 · slide dark · surface [p27-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3" name="27 · chrome-min: DISAGGREGATED INTELLIGENCE"/>
          <p:cNvGrpSpPr/>
          <p:nvPr/>
        </p:nvGrpSpPr>
        <p:grpSpPr>
          <a:xfrm>
            <a:off x="558800" y="356053"/>
            <a:ext cx="11087100" cy="187325"/>
            <a:chOff x="558800" y="356053"/>
            <a:chExt cx="11087100" cy="187325"/>
          </a:xfrm>
        </p:grpSpPr>
        <p:sp>
          <p:nvSpPr>
            <p:cNvPr id="1001" name="27 · l: DISAGGREGATED INTELLIGENCE [p27-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7 · r: 27 / 36 [p27-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27 / 36</a:t>
              </a:r>
              <a:endParaRPr lang="en-US" sz="950" b="1" i="0" kern="0" spc="65" dirty="0">
                <a:solidFill>
                  <a:srgbClr val="022AC0"/>
                </a:solidFill>
                <a:latin typeface="Salesforce Sans"/>
                <a:ea typeface="Salesforce Sans"/>
                <a:cs typeface="Salesforce Sans"/>
              </a:endParaRPr>
            </a:p>
          </p:txBody>
        </p:sp>
      </p:grpSp>
      <p:grpSp>
        <p:nvGrpSpPr>
          <p:cNvPr id="1024" name="27 · deck-head: 08 / STEP 6"/>
          <p:cNvGrpSpPr/>
          <p:nvPr/>
        </p:nvGrpSpPr>
        <p:grpSpPr>
          <a:xfrm>
            <a:off x="558800" y="775901"/>
            <a:ext cx="11087100" cy="871263"/>
            <a:chOff x="558800" y="775901"/>
            <a:chExt cx="11087100" cy="871263"/>
          </a:xfrm>
        </p:grpSpPr>
        <p:sp>
          <p:nvSpPr>
            <p:cNvPr id="1003" name="27 · dataset-eyebrow: 08 / STEP 6 [p27-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STEP 6</a:t>
              </a:r>
              <a:endParaRPr lang="en-US" sz="1050" b="1" i="0" kern="0" spc="68" dirty="0">
                <a:solidFill>
                  <a:srgbClr val="022AC0"/>
                </a:solidFill>
                <a:latin typeface="Salesforce Sans"/>
                <a:ea typeface="Salesforce Sans"/>
                <a:cs typeface="Salesforce Sans"/>
              </a:endParaRPr>
            </a:p>
          </p:txBody>
        </p:sp>
        <p:sp>
          <p:nvSpPr>
            <p:cNvPr id="1004" name="27 · dataset-title: Begin the dataset at the decision boundary [p27-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Begin the dataset at the decision boundary</a:t>
              </a:r>
              <a:endParaRPr lang="en-US" sz="3600" b="1" i="0" kern="0" spc="-95" dirty="0">
                <a:solidFill>
                  <a:srgbClr val="022AC0"/>
                </a:solidFill>
                <a:latin typeface="Manrope"/>
                <a:ea typeface="Manrope"/>
                <a:cs typeface="Manrope"/>
              </a:endParaRPr>
            </a:p>
          </p:txBody>
        </p:sp>
      </p:grpSp>
      <p:grpSp>
        <p:nvGrpSpPr>
          <p:cNvPr id="1025" name="27 · card mint: "/>
          <p:cNvGrpSpPr/>
          <p:nvPr/>
        </p:nvGrpSpPr>
        <p:grpSpPr>
          <a:xfrm>
            <a:off x="558800" y="2344420"/>
            <a:ext cx="5232400" cy="1584833"/>
            <a:chOff x="558800" y="2344420"/>
            <a:chExt cx="5232400" cy="1584833"/>
          </a:xfrm>
        </p:grpSpPr>
        <p:sp>
          <p:nvSpPr>
            <p:cNvPr id="1005" name="27 · card mint · surface [p27-e0008]"/>
            <p:cNvSpPr/>
            <p:nvPr/>
          </p:nvSpPr>
          <p:spPr>
            <a:xfrm>
              <a:off x="558800" y="2344420"/>
              <a:ext cx="5232400" cy="1584833"/>
            </a:xfrm>
            <a:prstGeom prst="roundRect">
              <a:avLst>
                <a:gd name="adj" fmla="val 8815"/>
              </a:avLst>
            </a:prstGeom>
            <a:solidFill>
              <a:srgbClr val="DDF3ED"/>
            </a:solidFill>
            <a:ln>
              <a:noFill/>
            </a:ln>
          </p:spPr>
        </p:sp>
        <p:sp>
          <p:nvSpPr>
            <p:cNvPr id="1006" name="27 · card mint · outline [p27-e0008]"/>
            <p:cNvSpPr/>
            <p:nvPr/>
          </p:nvSpPr>
          <p:spPr>
            <a:xfrm>
              <a:off x="561975" y="2347595"/>
              <a:ext cx="5226050" cy="1578483"/>
            </a:xfrm>
            <a:prstGeom prst="roundRect">
              <a:avLst>
                <a:gd name="adj" fmla="val 8649"/>
              </a:avLst>
            </a:prstGeom>
            <a:noFill/>
            <a:ln w="6350" algn="ctr">
              <a:solidFill>
                <a:srgbClr val="FFFFFF">
                  <a:alpha val="85098"/>
                </a:srgbClr>
              </a:solidFill>
              <a:prstDash val="solid"/>
            </a:ln>
          </p:spPr>
        </p:sp>
      </p:grpSp>
      <p:grpSp>
        <p:nvGrpSpPr>
          <p:cNvPr id="1026" name="27 · card sand: "/>
          <p:cNvGrpSpPr/>
          <p:nvPr/>
        </p:nvGrpSpPr>
        <p:grpSpPr>
          <a:xfrm>
            <a:off x="558800" y="4094353"/>
            <a:ext cx="5232400" cy="1332357"/>
            <a:chOff x="558800" y="4094353"/>
            <a:chExt cx="5232400" cy="1332357"/>
          </a:xfrm>
        </p:grpSpPr>
        <p:sp>
          <p:nvSpPr>
            <p:cNvPr id="1007" name="27 · card sand · surface [p27-e0009]"/>
            <p:cNvSpPr/>
            <p:nvPr/>
          </p:nvSpPr>
          <p:spPr>
            <a:xfrm>
              <a:off x="558800" y="4094353"/>
              <a:ext cx="5232400" cy="1332357"/>
            </a:xfrm>
            <a:prstGeom prst="roundRect">
              <a:avLst>
                <a:gd name="adj" fmla="val 10485"/>
              </a:avLst>
            </a:prstGeom>
            <a:solidFill>
              <a:srgbClr val="FBF0CF"/>
            </a:solidFill>
            <a:ln>
              <a:noFill/>
            </a:ln>
          </p:spPr>
        </p:sp>
        <p:sp>
          <p:nvSpPr>
            <p:cNvPr id="1008" name="27 · card sand · outline [p27-e0009]"/>
            <p:cNvSpPr/>
            <p:nvPr/>
          </p:nvSpPr>
          <p:spPr>
            <a:xfrm>
              <a:off x="561975" y="4097528"/>
              <a:ext cx="5226050" cy="1326007"/>
            </a:xfrm>
            <a:prstGeom prst="roundRect">
              <a:avLst>
                <a:gd name="adj" fmla="val 10296"/>
              </a:avLst>
            </a:prstGeom>
            <a:noFill/>
            <a:ln w="6350" algn="ctr">
              <a:solidFill>
                <a:srgbClr val="FFFFFF">
                  <a:alpha val="85098"/>
                </a:srgbClr>
              </a:solidFill>
              <a:prstDash val="solid"/>
            </a:ln>
          </p:spPr>
        </p:sp>
      </p:grpSp>
      <p:grpSp>
        <p:nvGrpSpPr>
          <p:cNvPr id="1027" name="27 · card peach: "/>
          <p:cNvGrpSpPr/>
          <p:nvPr/>
        </p:nvGrpSpPr>
        <p:grpSpPr>
          <a:xfrm>
            <a:off x="6426200" y="2344420"/>
            <a:ext cx="5105400" cy="1332357"/>
            <a:chOff x="6426200" y="2344420"/>
            <a:chExt cx="5105400" cy="1332357"/>
          </a:xfrm>
        </p:grpSpPr>
        <p:sp>
          <p:nvSpPr>
            <p:cNvPr id="1009" name="27 · card peach · surface [p27-e0010]"/>
            <p:cNvSpPr/>
            <p:nvPr/>
          </p:nvSpPr>
          <p:spPr>
            <a:xfrm>
              <a:off x="6426200" y="2344420"/>
              <a:ext cx="5105400" cy="1332357"/>
            </a:xfrm>
            <a:prstGeom prst="roundRect">
              <a:avLst>
                <a:gd name="adj" fmla="val 10485"/>
              </a:avLst>
            </a:prstGeom>
            <a:solidFill>
              <a:srgbClr val="FBE5DF"/>
            </a:solidFill>
            <a:ln>
              <a:noFill/>
            </a:ln>
          </p:spPr>
        </p:sp>
        <p:sp>
          <p:nvSpPr>
            <p:cNvPr id="1010" name="27 · card peach · outline [p27-e0010]"/>
            <p:cNvSpPr/>
            <p:nvPr/>
          </p:nvSpPr>
          <p:spPr>
            <a:xfrm>
              <a:off x="6429375" y="2347595"/>
              <a:ext cx="5099050" cy="1326007"/>
            </a:xfrm>
            <a:prstGeom prst="roundRect">
              <a:avLst>
                <a:gd name="adj" fmla="val 10296"/>
              </a:avLst>
            </a:prstGeom>
            <a:noFill/>
            <a:ln w="6350" algn="ctr">
              <a:solidFill>
                <a:srgbClr val="FFFFFF">
                  <a:alpha val="85098"/>
                </a:srgbClr>
              </a:solidFill>
              <a:prstDash val="solid"/>
            </a:ln>
          </p:spPr>
        </p:sp>
      </p:grpSp>
      <p:sp>
        <p:nvSpPr>
          <p:cNvPr id="1011" name="27 · dataset-text-1: At decision time [p27-text-0011]" descr="Native editable Unicode text; authored line breaks retained."/>
          <p:cNvSpPr txBox="1"/>
          <p:nvPr/>
        </p:nvSpPr>
        <p:spPr>
          <a:xfrm>
            <a:off x="558800" y="1906779"/>
            <a:ext cx="5245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At decision time</a:t>
            </a:r>
            <a:endParaRPr lang="en-US" sz="2000" b="1" i="0" kern="0" spc="-38" dirty="0">
              <a:solidFill>
                <a:srgbClr val="022AC0"/>
              </a:solidFill>
              <a:latin typeface="Manrope"/>
              <a:ea typeface="Manrope"/>
              <a:cs typeface="Manrope"/>
            </a:endParaRPr>
          </a:p>
        </p:txBody>
      </p:sp>
      <p:sp>
        <p:nvSpPr>
          <p:cNvPr id="1012" name="27 · dataset-text-2: Conversation prefix Trusted facts available then Current policy version [p27-text-0012]" descr="Native editable Unicode text; authored line breaks retained."/>
          <p:cNvSpPr txBox="1"/>
          <p:nvPr/>
        </p:nvSpPr>
        <p:spPr>
          <a:xfrm>
            <a:off x="781050" y="2936442"/>
            <a:ext cx="4800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Conversation prefix</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Trusted facts available then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Current policy version</a:t>
            </a:r>
            <a:endParaRPr lang="en-US" sz="1400" b="0" i="0" kern="0" spc="0" dirty="0">
              <a:solidFill>
                <a:srgbClr val="032D60"/>
              </a:solidFill>
              <a:latin typeface="Salesforce Sans"/>
              <a:ea typeface="Salesforce Sans"/>
              <a:cs typeface="Salesforce Sans"/>
            </a:endParaRPr>
          </a:p>
        </p:txBody>
      </p:sp>
      <p:sp>
        <p:nvSpPr>
          <p:cNvPr id="1013" name="27 · dataset-text-3: Remedy, unit and task relationships supported by that evidence. [p27-text-0013]" descr="Native editable Unicode text; authored line breaks retained."/>
          <p:cNvSpPr txBox="1"/>
          <p:nvPr/>
        </p:nvSpPr>
        <p:spPr>
          <a:xfrm>
            <a:off x="781050" y="4686375"/>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Remedy, unit and task relationships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supported by that evidence.</a:t>
            </a:r>
            <a:endParaRPr lang="en-US" sz="1400" b="0" i="0" kern="0" spc="0" dirty="0">
              <a:solidFill>
                <a:srgbClr val="032D60"/>
              </a:solidFill>
              <a:latin typeface="Salesforce Sans"/>
              <a:ea typeface="Salesforce Sans"/>
              <a:cs typeface="Salesforce Sans"/>
            </a:endParaRPr>
          </a:p>
        </p:txBody>
      </p:sp>
      <p:sp>
        <p:nvSpPr>
          <p:cNvPr id="1014" name="27 · dataset-text-4: After the decision [p27-text-0014]" descr="Native editable Unicode text; authored line breaks retained."/>
          <p:cNvSpPr txBox="1"/>
          <p:nvPr/>
        </p:nvSpPr>
        <p:spPr>
          <a:xfrm>
            <a:off x="6426200" y="1906779"/>
            <a:ext cx="51181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After the decision</a:t>
            </a:r>
            <a:endParaRPr lang="en-US" sz="2000" b="1" i="0" kern="0" spc="-38" dirty="0">
              <a:solidFill>
                <a:srgbClr val="022AC0"/>
              </a:solidFill>
              <a:latin typeface="Manrope"/>
              <a:ea typeface="Manrope"/>
              <a:cs typeface="Manrope"/>
            </a:endParaRPr>
          </a:p>
        </p:txBody>
      </p:sp>
      <p:sp>
        <p:nvSpPr>
          <p:cNvPr id="1015" name="27 · dataset-text-5: Useful for separate outcome labels. Excluded from the earlier input. [p27-text-0015]" descr="Native editable Unicode text; authored line breaks retained."/>
          <p:cNvSpPr txBox="1"/>
          <p:nvPr/>
        </p:nvSpPr>
        <p:spPr>
          <a:xfrm>
            <a:off x="6648450" y="293644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Useful for separate outcome labels.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Excluded from the earlier input.</a:t>
            </a:r>
            <a:endParaRPr lang="en-US" sz="1400" b="0" i="0" kern="0" spc="0" dirty="0">
              <a:solidFill>
                <a:srgbClr val="032D60"/>
              </a:solidFill>
              <a:latin typeface="Salesforce Sans"/>
              <a:ea typeface="Salesforce Sans"/>
              <a:cs typeface="Salesforce Sans"/>
            </a:endParaRPr>
          </a:p>
        </p:txBody>
      </p:sp>
      <p:sp>
        <p:nvSpPr>
          <p:cNvPr id="1016" name="27 · tag: INPUT SNAPSHOT [p27-text-0016]" descr="Native editable Unicode text; authored line breaks retained."/>
          <p:cNvSpPr txBox="1"/>
          <p:nvPr/>
        </p:nvSpPr>
        <p:spPr>
          <a:xfrm>
            <a:off x="781050" y="259206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INPUT SNAPSHOT</a:t>
            </a:r>
            <a:endParaRPr lang="en-US" sz="1050" b="0" i="0" kern="0" spc="50" dirty="0">
              <a:solidFill>
                <a:srgbClr val="022AC0">
                  <a:alpha val="85000"/>
                </a:srgbClr>
              </a:solidFill>
              <a:latin typeface="IBM Plex Mono"/>
              <a:ea typeface="IBM Plex Mono"/>
              <a:cs typeface="IBM Plex Mono"/>
            </a:endParaRPr>
          </a:p>
        </p:txBody>
      </p:sp>
      <p:sp>
        <p:nvSpPr>
          <p:cNvPr id="1017" name="27 · tag: REFERENCE LABEL [p27-text-0017]" descr="Native editable Unicode text; authored line breaks retained."/>
          <p:cNvSpPr txBox="1"/>
          <p:nvPr/>
        </p:nvSpPr>
        <p:spPr>
          <a:xfrm>
            <a:off x="781050" y="4342001"/>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REFERENCE LABEL</a:t>
            </a:r>
            <a:endParaRPr lang="en-US" sz="1050" b="0" i="0" kern="0" spc="50" dirty="0">
              <a:solidFill>
                <a:srgbClr val="022AC0">
                  <a:alpha val="85000"/>
                </a:srgbClr>
              </a:solidFill>
              <a:latin typeface="IBM Plex Mono"/>
              <a:ea typeface="IBM Plex Mono"/>
              <a:cs typeface="IBM Plex Mono"/>
            </a:endParaRPr>
          </a:p>
        </p:txBody>
      </p:sp>
      <p:sp>
        <p:nvSpPr>
          <p:cNvPr id="1018" name="27 · tag: LATER TURNS AND OUTCOMES [p27-text-0018]" descr="Native editable Unicode text; authored line breaks retained."/>
          <p:cNvSpPr txBox="1"/>
          <p:nvPr/>
        </p:nvSpPr>
        <p:spPr>
          <a:xfrm>
            <a:off x="6648450" y="259206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LATER TURNS AND OUTCOMES</a:t>
            </a:r>
            <a:endParaRPr lang="en-US" sz="1050" b="0" i="0" kern="0" spc="50" dirty="0">
              <a:solidFill>
                <a:srgbClr val="022AC0">
                  <a:alpha val="85000"/>
                </a:srgbClr>
              </a:solidFill>
              <a:latin typeface="IBM Plex Mono"/>
              <a:ea typeface="IBM Plex Mono"/>
              <a:cs typeface="IBM Plex Mono"/>
            </a:endParaRPr>
          </a:p>
        </p:txBody>
      </p:sp>
      <p:sp>
        <p:nvSpPr>
          <p:cNvPr id="1019" name="27 · dataset-text-6: Preserve order, relationships, and provenance. [p27-text-0019]" descr="Native editable Unicode text; authored line breaks retained."/>
          <p:cNvSpPr txBox="1"/>
          <p:nvPr/>
        </p:nvSpPr>
        <p:spPr>
          <a:xfrm>
            <a:off x="6426200" y="3995814"/>
            <a:ext cx="5118100" cy="10198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Preserve order,</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relationships,</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and provenance.</a:t>
            </a:r>
            <a:endParaRPr lang="en-US" sz="1900" b="0" i="0" kern="0" spc="-10" dirty="0">
              <a:solidFill>
                <a:srgbClr val="032D60">
                  <a:alpha val="86000"/>
                </a:srgbClr>
              </a:solidFill>
              <a:latin typeface="Salesforce Sans"/>
              <a:ea typeface="Salesforce Sans"/>
              <a:cs typeface="Salesforce Sans"/>
            </a:endParaRPr>
          </a:p>
        </p:txBody>
      </p:sp>
      <p:grpSp>
        <p:nvGrpSpPr>
          <p:cNvPr id="1028" name="27 · source-line: Tutorial evaluation protocol"/>
          <p:cNvGrpSpPr/>
          <p:nvPr/>
        </p:nvGrpSpPr>
        <p:grpSpPr>
          <a:xfrm>
            <a:off x="558800" y="6037898"/>
            <a:ext cx="11087100" cy="284456"/>
            <a:chOff x="558800" y="6037898"/>
            <a:chExt cx="11087100" cy="284456"/>
          </a:xfrm>
        </p:grpSpPr>
        <p:sp>
          <p:nvSpPr>
            <p:cNvPr id="1020" name="27 · source-line · top border [p27-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1" name="27 · span: Tutorial evaluation protocol [p27-text-0020]"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22" name="27 · span: Proposed development protocol [p27-text-0021]" descr="Native editable Unicode text; authored line breaks retained."/>
            <p:cNvSpPr txBox="1"/>
            <p:nvPr/>
          </p:nvSpPr>
          <p:spPr>
            <a:xfrm>
              <a:off x="9823047" y="6153126"/>
              <a:ext cx="182285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development protocol</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8.xml><?xml version="1.0" encoding="utf-8"?>
<p:sld xmlns:a="http://schemas.openxmlformats.org/drawingml/2006/main" xmlns:p="http://schemas.openxmlformats.org/presentationml/2006/main">
  <p:cSld name="Split examples before developing the decision">
    <p:bg>
      <p:bgPr>
        <a:solidFill>
          <a:srgbClr val="FFFFFF"/>
        </a:solidFill>
      </p:bgPr>
    </p:bg>
    <p:spTree>
      <p:nvGrpSpPr>
        <p:cNvPr id="1" name=""/>
        <p:cNvGrpSpPr/>
        <p:nvPr/>
      </p:nvGrpSpPr>
      <p:grpSpPr>
        <a:xfrm>
          <a:off x="0" y="0"/>
          <a:ext cx="0" cy="0"/>
          <a:chOff x="0" y="0"/>
          <a:chExt cx="0" cy="0"/>
        </a:xfrm>
      </p:grpSpPr>
      <p:sp>
        <p:nvSpPr>
          <p:cNvPr id="1000" name="28 · slide light · surface [p28-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6" name="28 · chrome-min: DISAGGREGATED INTELLIGENCE"/>
          <p:cNvGrpSpPr/>
          <p:nvPr/>
        </p:nvGrpSpPr>
        <p:grpSpPr>
          <a:xfrm>
            <a:off x="558800" y="356053"/>
            <a:ext cx="11087100" cy="187325"/>
            <a:chOff x="558800" y="356053"/>
            <a:chExt cx="11087100" cy="187325"/>
          </a:xfrm>
        </p:grpSpPr>
        <p:sp>
          <p:nvSpPr>
            <p:cNvPr id="1001" name="28 · l: DISAGGREGATED INTELLIGENCE [p28-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8 · r: 28 / 36 [p28-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28 / 36</a:t>
              </a:r>
              <a:endParaRPr lang="en-US" sz="950" b="1" i="0" kern="0" spc="65" dirty="0">
                <a:solidFill>
                  <a:srgbClr val="022AC0"/>
                </a:solidFill>
                <a:latin typeface="Salesforce Sans"/>
                <a:ea typeface="Salesforce Sans"/>
                <a:cs typeface="Salesforce Sans"/>
              </a:endParaRPr>
            </a:p>
          </p:txBody>
        </p:sp>
      </p:grpSp>
      <p:grpSp>
        <p:nvGrpSpPr>
          <p:cNvPr id="1047" name="28 · deck-head: 08 / TRAINING PIPELINE — PRESERVE THE PARTITIONS"/>
          <p:cNvGrpSpPr/>
          <p:nvPr/>
        </p:nvGrpSpPr>
        <p:grpSpPr>
          <a:xfrm>
            <a:off x="558800" y="775901"/>
            <a:ext cx="11087100" cy="871263"/>
            <a:chOff x="558800" y="775901"/>
            <a:chExt cx="11087100" cy="871263"/>
          </a:xfrm>
        </p:grpSpPr>
        <p:sp>
          <p:nvSpPr>
            <p:cNvPr id="1003" name="28 · training-partitions-eyebrow: 08 / TRAINING PIPELINE — PRESERVE THE PARTITIONS [p28-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TRAINING PIPELINE — PRESERVE THE PARTITIONS</a:t>
              </a:r>
              <a:endParaRPr lang="en-US" sz="1050" b="1" i="0" kern="0" spc="68" dirty="0">
                <a:solidFill>
                  <a:srgbClr val="022AC0"/>
                </a:solidFill>
                <a:latin typeface="Salesforce Sans"/>
                <a:ea typeface="Salesforce Sans"/>
                <a:cs typeface="Salesforce Sans"/>
              </a:endParaRPr>
            </a:p>
          </p:txBody>
        </p:sp>
        <p:sp>
          <p:nvSpPr>
            <p:cNvPr id="1004" name="28 · training-partitions-title: Split examples before developing the decision [p28-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Split examples before developing the decision</a:t>
              </a:r>
              <a:endParaRPr lang="en-US" sz="3600" b="1" i="0" kern="0" spc="-95" dirty="0">
                <a:solidFill>
                  <a:srgbClr val="022AC0"/>
                </a:solidFill>
                <a:latin typeface="Manrope"/>
                <a:ea typeface="Manrope"/>
                <a:cs typeface="Manrope"/>
              </a:endParaRPr>
            </a:p>
          </p:txBody>
        </p:sp>
      </p:grpSp>
      <p:grpSp>
        <p:nvGrpSpPr>
          <p:cNvPr id="1005" name="28 · svg · drawing [p28-e0008]"/>
          <p:cNvGrpSpPr/>
          <p:nvPr/>
        </p:nvGrpSpPr>
        <p:grpSpPr>
          <a:xfrm>
            <a:off x="2197100" y="2393950"/>
            <a:ext cx="7797800" cy="1435100"/>
            <a:chOff x="2197100" y="2393950"/>
            <a:chExt cx="7797800" cy="1435100"/>
          </a:xfrm>
        </p:grpSpPr>
        <p:grpSp>
          <p:nvGrpSpPr>
            <p:cNvPr id="1006" name="path · 1 + arrowhead"/>
            <p:cNvGrpSpPr/>
            <p:nvPr/>
          </p:nvGrpSpPr>
          <p:grpSpPr>
            <a:xfrm>
              <a:off x="3797300" y="2393950"/>
              <a:ext cx="768350" cy="152400"/>
              <a:chOff x="3797300" y="2393950"/>
              <a:chExt cx="768350" cy="152400"/>
            </a:xfrm>
          </p:grpSpPr>
          <p:sp>
            <p:nvSpPr>
              <p:cNvPr id="1007" name="path · 1"/>
              <p:cNvSpPr/>
              <p:nvPr/>
            </p:nvSpPr>
            <p:spPr>
              <a:xfrm>
                <a:off x="3797300" y="2470150"/>
                <a:ext cx="749300" cy="1"/>
              </a:xfrm>
              <a:custGeom>
                <a:avLst/>
                <a:gdLst/>
                <a:ahLst/>
                <a:cxnLst/>
                <a:rect l="0" t="0" r="r" b="b"/>
                <a:pathLst>
                  <a:path w="749300" h="1" fill="none" stroke="1" extrusionOk="0">
                    <a:moveTo>
                      <a:pt x="0" y="0"/>
                    </a:moveTo>
                    <a:lnTo>
                      <a:pt x="749300" y="0"/>
                    </a:lnTo>
                  </a:path>
                </a:pathLst>
              </a:custGeom>
              <a:noFill/>
              <a:ln w="19050" cap="flat" cmpd="sng" algn="ctr">
                <a:solidFill>
                  <a:srgbClr val="51776A"/>
                </a:solidFill>
                <a:prstDash val="solid"/>
                <a:miter lim="400000"/>
                <a:headEnd type="none" w="med" len="med"/>
                <a:tailEnd type="none" w="med" len="med"/>
              </a:ln>
            </p:spPr>
          </p:sp>
          <p:grpSp>
            <p:nvGrpSpPr>
              <p:cNvPr id="1008" name="splitfocus-data end"/>
              <p:cNvGrpSpPr/>
              <p:nvPr/>
            </p:nvGrpSpPr>
            <p:grpSpPr>
              <a:xfrm>
                <a:off x="4413250" y="2393950"/>
                <a:ext cx="152400" cy="152400"/>
                <a:chOff x="4413250" y="2393950"/>
                <a:chExt cx="152400" cy="152400"/>
              </a:xfrm>
            </p:grpSpPr>
            <p:sp>
              <p:nvSpPr>
                <p:cNvPr id="1009" name="path · 2"/>
                <p:cNvSpPr/>
                <p:nvPr/>
              </p:nvSpPr>
              <p:spPr>
                <a:xfrm>
                  <a:off x="4413250" y="239395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51776A"/>
                </a:solidFill>
                <a:ln>
                  <a:noFill/>
                </a:ln>
              </p:spPr>
            </p:sp>
          </p:grpSp>
        </p:grpSp>
        <p:sp>
          <p:nvSpPr>
            <p:cNvPr id="1010" name="path · 3"/>
            <p:cNvSpPr/>
            <p:nvPr/>
          </p:nvSpPr>
          <p:spPr>
            <a:xfrm>
              <a:off x="2273300" y="3028950"/>
              <a:ext cx="7645400" cy="463550"/>
            </a:xfrm>
            <a:custGeom>
              <a:avLst/>
              <a:gdLst/>
              <a:ahLst/>
              <a:cxnLst/>
              <a:rect l="0" t="0" r="r" b="b"/>
              <a:pathLst>
                <a:path w="7645400" h="463550" fill="none" stroke="1" extrusionOk="0">
                  <a:moveTo>
                    <a:pt x="4095750" y="0"/>
                  </a:moveTo>
                  <a:lnTo>
                    <a:pt x="4095750" y="463550"/>
                  </a:lnTo>
                  <a:moveTo>
                    <a:pt x="0" y="463550"/>
                  </a:moveTo>
                  <a:lnTo>
                    <a:pt x="7645400" y="463550"/>
                  </a:lnTo>
                </a:path>
              </a:pathLst>
            </a:custGeom>
            <a:noFill/>
            <a:ln w="19050" cap="flat" cmpd="sng" algn="ctr">
              <a:solidFill>
                <a:srgbClr val="51776A"/>
              </a:solidFill>
              <a:prstDash val="solid"/>
              <a:miter lim="400000"/>
              <a:headEnd type="none" w="med" len="med"/>
              <a:tailEnd type="none" w="med" len="med"/>
            </a:ln>
          </p:spPr>
        </p:sp>
        <p:grpSp>
          <p:nvGrpSpPr>
            <p:cNvPr id="1011" name="path · 4 + arrowhead"/>
            <p:cNvGrpSpPr/>
            <p:nvPr/>
          </p:nvGrpSpPr>
          <p:grpSpPr>
            <a:xfrm>
              <a:off x="2197100" y="3492500"/>
              <a:ext cx="152400" cy="336550"/>
              <a:chOff x="2197100" y="3492500"/>
              <a:chExt cx="152400" cy="336550"/>
            </a:xfrm>
          </p:grpSpPr>
          <p:sp>
            <p:nvSpPr>
              <p:cNvPr id="1012" name="path · 4"/>
              <p:cNvSpPr/>
              <p:nvPr/>
            </p:nvSpPr>
            <p:spPr>
              <a:xfrm>
                <a:off x="22733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13" name="splitfocus-data end"/>
              <p:cNvGrpSpPr/>
              <p:nvPr/>
            </p:nvGrpSpPr>
            <p:grpSpPr>
              <a:xfrm>
                <a:off x="2197100" y="3676650"/>
                <a:ext cx="152400" cy="152400"/>
                <a:chOff x="2197100" y="3676650"/>
                <a:chExt cx="152400" cy="152400"/>
              </a:xfrm>
            </p:grpSpPr>
            <p:sp>
              <p:nvSpPr>
                <p:cNvPr id="1014" name="path · 5"/>
                <p:cNvSpPr/>
                <p:nvPr/>
              </p:nvSpPr>
              <p:spPr>
                <a:xfrm>
                  <a:off x="21971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5" name="path · 6 + arrowhead"/>
            <p:cNvGrpSpPr/>
            <p:nvPr/>
          </p:nvGrpSpPr>
          <p:grpSpPr>
            <a:xfrm>
              <a:off x="6019800" y="3492500"/>
              <a:ext cx="152400" cy="336550"/>
              <a:chOff x="6019800" y="3492500"/>
              <a:chExt cx="152400" cy="336550"/>
            </a:xfrm>
          </p:grpSpPr>
          <p:sp>
            <p:nvSpPr>
              <p:cNvPr id="1016" name="path · 6"/>
              <p:cNvSpPr/>
              <p:nvPr/>
            </p:nvSpPr>
            <p:spPr>
              <a:xfrm>
                <a:off x="60960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17" name="splitfocus-data end"/>
              <p:cNvGrpSpPr/>
              <p:nvPr/>
            </p:nvGrpSpPr>
            <p:grpSpPr>
              <a:xfrm>
                <a:off x="6019800" y="3676650"/>
                <a:ext cx="152400" cy="152400"/>
                <a:chOff x="6019800" y="3676650"/>
                <a:chExt cx="152400" cy="152400"/>
              </a:xfrm>
            </p:grpSpPr>
            <p:sp>
              <p:nvSpPr>
                <p:cNvPr id="1018" name="path · 7"/>
                <p:cNvSpPr/>
                <p:nvPr/>
              </p:nvSpPr>
              <p:spPr>
                <a:xfrm>
                  <a:off x="60198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9" name="path · 8 + arrowhead"/>
            <p:cNvGrpSpPr/>
            <p:nvPr/>
          </p:nvGrpSpPr>
          <p:grpSpPr>
            <a:xfrm>
              <a:off x="9842500" y="3492500"/>
              <a:ext cx="152400" cy="336550"/>
              <a:chOff x="9842500" y="3492500"/>
              <a:chExt cx="152400" cy="336550"/>
            </a:xfrm>
          </p:grpSpPr>
          <p:sp>
            <p:nvSpPr>
              <p:cNvPr id="1020" name="path · 8"/>
              <p:cNvSpPr/>
              <p:nvPr/>
            </p:nvSpPr>
            <p:spPr>
              <a:xfrm>
                <a:off x="9918700" y="3492500"/>
                <a:ext cx="1" cy="317500"/>
              </a:xfrm>
              <a:custGeom>
                <a:avLst/>
                <a:gdLst/>
                <a:ahLst/>
                <a:cxnLst/>
                <a:rect l="0" t="0" r="r" b="b"/>
                <a:pathLst>
                  <a:path w="1" h="317500" fill="none" stroke="1" extrusionOk="0">
                    <a:moveTo>
                      <a:pt x="0" y="0"/>
                    </a:moveTo>
                    <a:lnTo>
                      <a:pt x="0" y="317500"/>
                    </a:lnTo>
                  </a:path>
                </a:pathLst>
              </a:custGeom>
              <a:noFill/>
              <a:ln w="19050" cap="flat" cmpd="sng" algn="ctr">
                <a:solidFill>
                  <a:srgbClr val="51776A"/>
                </a:solidFill>
                <a:prstDash val="solid"/>
                <a:miter lim="400000"/>
                <a:headEnd type="none" w="med" len="med"/>
                <a:tailEnd type="none" w="med" len="med"/>
              </a:ln>
            </p:spPr>
          </p:sp>
          <p:grpSp>
            <p:nvGrpSpPr>
              <p:cNvPr id="1021" name="splitfocus-data end"/>
              <p:cNvGrpSpPr/>
              <p:nvPr/>
            </p:nvGrpSpPr>
            <p:grpSpPr>
              <a:xfrm>
                <a:off x="9842500" y="3676650"/>
                <a:ext cx="152400" cy="152400"/>
                <a:chOff x="9842500" y="3676650"/>
                <a:chExt cx="152400" cy="152400"/>
              </a:xfrm>
            </p:grpSpPr>
            <p:sp>
              <p:nvSpPr>
                <p:cNvPr id="1022" name="path · 9"/>
                <p:cNvSpPr/>
                <p:nvPr/>
              </p:nvSpPr>
              <p:spPr>
                <a:xfrm>
                  <a:off x="9842500" y="367665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grpSp>
        <p:nvGrpSpPr>
          <p:cNvPr id="1048" name="28 · node lilac: Decision-time snapshot"/>
          <p:cNvGrpSpPr/>
          <p:nvPr/>
        </p:nvGrpSpPr>
        <p:grpSpPr>
          <a:xfrm>
            <a:off x="558800" y="1917702"/>
            <a:ext cx="3238498" cy="1111248"/>
            <a:chOff x="558800" y="1917702"/>
            <a:chExt cx="3238498" cy="1111248"/>
          </a:xfrm>
        </p:grpSpPr>
        <p:sp>
          <p:nvSpPr>
            <p:cNvPr id="1023" name="28 · node lilac · surface [p28-e0009]"/>
            <p:cNvSpPr/>
            <p:nvPr/>
          </p:nvSpPr>
          <p:spPr>
            <a:xfrm>
              <a:off x="558800" y="1917702"/>
              <a:ext cx="3238498" cy="1111248"/>
            </a:xfrm>
            <a:prstGeom prst="roundRect">
              <a:avLst>
                <a:gd name="adj" fmla="val 12571"/>
              </a:avLst>
            </a:prstGeom>
            <a:solidFill>
              <a:srgbClr val="EAE6FA"/>
            </a:solidFill>
            <a:ln>
              <a:noFill/>
            </a:ln>
          </p:spPr>
        </p:sp>
        <p:sp>
          <p:nvSpPr>
            <p:cNvPr id="1024" name="28 · strong: Decision-time snapshot [p28-text-0015]" descr="Native editable Unicode text; authored line breaks retained."/>
            <p:cNvSpPr txBox="1"/>
            <p:nvPr/>
          </p:nvSpPr>
          <p:spPr>
            <a:xfrm>
              <a:off x="723900" y="2026959"/>
              <a:ext cx="2920998"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Decision-time snapshot</a:t>
              </a:r>
              <a:endParaRPr lang="en-US" sz="1700" b="1" i="0" kern="0" spc="0" dirty="0">
                <a:solidFill>
                  <a:srgbClr val="032D60"/>
                </a:solidFill>
                <a:latin typeface="Salesforce Sans"/>
                <a:ea typeface="Salesforce Sans"/>
                <a:cs typeface="Salesforce Sans"/>
              </a:endParaRPr>
            </a:p>
          </p:txBody>
        </p:sp>
        <p:sp>
          <p:nvSpPr>
            <p:cNvPr id="1025" name="28 · small: Inputs stop at the decision. Versioned records and labels. [p28-text-0016]" descr="Native editable Unicode text; authored line breaks retained."/>
            <p:cNvSpPr txBox="1"/>
            <p:nvPr/>
          </p:nvSpPr>
          <p:spPr>
            <a:xfrm>
              <a:off x="723900" y="2397570"/>
              <a:ext cx="2920998"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Inputs stop at the decision.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Versioned records and labels.</a:t>
              </a:r>
              <a:endParaRPr lang="en-US" sz="1500" b="0" i="0" kern="0" spc="0" dirty="0">
                <a:solidFill>
                  <a:srgbClr val="032D60"/>
                </a:solidFill>
                <a:latin typeface="Salesforce Sans"/>
                <a:ea typeface="Salesforce Sans"/>
                <a:cs typeface="Salesforce Sans"/>
              </a:endParaRPr>
            </a:p>
          </p:txBody>
        </p:sp>
      </p:grpSp>
      <p:grpSp>
        <p:nvGrpSpPr>
          <p:cNvPr id="1049" name="28 · node sand: Group, then split"/>
          <p:cNvGrpSpPr/>
          <p:nvPr/>
        </p:nvGrpSpPr>
        <p:grpSpPr>
          <a:xfrm>
            <a:off x="4591055" y="1917702"/>
            <a:ext cx="3556001" cy="1111248"/>
            <a:chOff x="4591055" y="1917702"/>
            <a:chExt cx="3556001" cy="1111248"/>
          </a:xfrm>
        </p:grpSpPr>
        <p:sp>
          <p:nvSpPr>
            <p:cNvPr id="1026" name="28 · node sand · surface [p28-e0013]"/>
            <p:cNvSpPr/>
            <p:nvPr/>
          </p:nvSpPr>
          <p:spPr>
            <a:xfrm>
              <a:off x="4591055" y="1917702"/>
              <a:ext cx="3556001" cy="1111248"/>
            </a:xfrm>
            <a:prstGeom prst="roundRect">
              <a:avLst>
                <a:gd name="adj" fmla="val 12571"/>
              </a:avLst>
            </a:prstGeom>
            <a:solidFill>
              <a:srgbClr val="FBF0CF"/>
            </a:solidFill>
            <a:ln>
              <a:noFill/>
            </a:ln>
          </p:spPr>
        </p:sp>
        <p:sp>
          <p:nvSpPr>
            <p:cNvPr id="1027" name="28 · strong: Group, then split [p28-text-0017]" descr="Native editable Unicode text; authored line breaks retained."/>
            <p:cNvSpPr txBox="1"/>
            <p:nvPr/>
          </p:nvSpPr>
          <p:spPr>
            <a:xfrm>
              <a:off x="4756155" y="2026959"/>
              <a:ext cx="3238501"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Group, then split</a:t>
              </a:r>
              <a:endParaRPr lang="en-US" sz="1700" b="1" i="0" kern="0" spc="0" dirty="0">
                <a:solidFill>
                  <a:srgbClr val="032D60"/>
                </a:solidFill>
                <a:latin typeface="Salesforce Sans"/>
                <a:ea typeface="Salesforce Sans"/>
                <a:cs typeface="Salesforce Sans"/>
              </a:endParaRPr>
            </a:p>
          </p:txBody>
        </p:sp>
        <p:sp>
          <p:nvSpPr>
            <p:cNvPr id="1028" name="28 · small: Before augmentation. Preserve record relationships. [p28-text-0018]" descr="Native editable Unicode text; authored line breaks retained."/>
            <p:cNvSpPr txBox="1"/>
            <p:nvPr/>
          </p:nvSpPr>
          <p:spPr>
            <a:xfrm>
              <a:off x="4756155" y="2397570"/>
              <a:ext cx="3238501"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Before augmentation.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Preserve record relationships.</a:t>
              </a:r>
              <a:endParaRPr lang="en-US" sz="1500" b="0" i="0" kern="0" spc="0" dirty="0">
                <a:solidFill>
                  <a:srgbClr val="032D60"/>
                </a:solidFill>
                <a:latin typeface="Salesforce Sans"/>
                <a:ea typeface="Salesforce Sans"/>
                <a:cs typeface="Salesforce Sans"/>
              </a:endParaRPr>
            </a:p>
          </p:txBody>
        </p:sp>
      </p:grpSp>
      <p:grpSp>
        <p:nvGrpSpPr>
          <p:cNvPr id="1050" name="28 · node peach: Family rule"/>
          <p:cNvGrpSpPr/>
          <p:nvPr/>
        </p:nvGrpSpPr>
        <p:grpSpPr>
          <a:xfrm>
            <a:off x="8940803" y="1917702"/>
            <a:ext cx="2692397" cy="1111248"/>
            <a:chOff x="8940803" y="1917702"/>
            <a:chExt cx="2692397" cy="1111248"/>
          </a:xfrm>
        </p:grpSpPr>
        <p:sp>
          <p:nvSpPr>
            <p:cNvPr id="1029" name="28 · node peach · surface [p28-e0017]"/>
            <p:cNvSpPr/>
            <p:nvPr/>
          </p:nvSpPr>
          <p:spPr>
            <a:xfrm>
              <a:off x="8940803" y="1917702"/>
              <a:ext cx="2692397" cy="1111248"/>
            </a:xfrm>
            <a:prstGeom prst="roundRect">
              <a:avLst>
                <a:gd name="adj" fmla="val 12571"/>
              </a:avLst>
            </a:prstGeom>
            <a:solidFill>
              <a:srgbClr val="FBE5DF"/>
            </a:solidFill>
            <a:ln>
              <a:noFill/>
            </a:ln>
          </p:spPr>
        </p:sp>
        <p:sp>
          <p:nvSpPr>
            <p:cNvPr id="1030" name="28 · strong: Family rule [p28-text-0019]" descr="Native editable Unicode text; authored line breaks retained."/>
            <p:cNvSpPr txBox="1"/>
            <p:nvPr/>
          </p:nvSpPr>
          <p:spPr>
            <a:xfrm>
              <a:off x="9105903" y="2026959"/>
              <a:ext cx="2374897"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5"/>
                </a:lnSpc>
                <a:spcBef>
                  <a:spcPts val="0"/>
                </a:spcBef>
                <a:spcAft>
                  <a:spcPts val="0"/>
                </a:spcAft>
                <a:buNone/>
              </a:pPr>
              <a:r>
                <a:rPr lang="en-US" sz="1700" b="1" i="0" kern="0" spc="0" dirty="0">
                  <a:solidFill>
                    <a:srgbClr val="032D60"/>
                  </a:solidFill>
                  <a:latin typeface="Salesforce Sans"/>
                  <a:ea typeface="Salesforce Sans"/>
                  <a:cs typeface="Salesforce Sans"/>
                </a:rPr>
                <a:t>Family rule</a:t>
              </a:r>
              <a:endParaRPr lang="en-US" sz="1700" b="1" i="0" kern="0" spc="0" dirty="0">
                <a:solidFill>
                  <a:srgbClr val="032D60"/>
                </a:solidFill>
                <a:latin typeface="Salesforce Sans"/>
                <a:ea typeface="Salesforce Sans"/>
                <a:cs typeface="Salesforce Sans"/>
              </a:endParaRPr>
            </a:p>
          </p:txBody>
        </p:sp>
        <p:sp>
          <p:nvSpPr>
            <p:cNvPr id="1031" name="28 · small: Source + its variants stay in one partition. [p28-text-0020]" descr="Native editable Unicode text; authored line breaks retained."/>
            <p:cNvSpPr txBox="1"/>
            <p:nvPr/>
          </p:nvSpPr>
          <p:spPr>
            <a:xfrm>
              <a:off x="9105903" y="2397570"/>
              <a:ext cx="2374897"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Source + its variants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stay in one partition.</a:t>
              </a:r>
              <a:endParaRPr lang="en-US" sz="1500" b="0" i="0" kern="0" spc="0" dirty="0">
                <a:solidFill>
                  <a:srgbClr val="032D60"/>
                </a:solidFill>
                <a:latin typeface="Salesforce Sans"/>
                <a:ea typeface="Salesforce Sans"/>
                <a:cs typeface="Salesforce Sans"/>
              </a:endParaRPr>
            </a:p>
          </p:txBody>
        </p:sp>
      </p:grpSp>
      <p:sp>
        <p:nvSpPr>
          <p:cNvPr id="1032" name="28 · node label: Separate sample partitions [p28-text-0021]" descr="Native editable Unicode text; authored line breaks retained."/>
          <p:cNvSpPr txBox="1"/>
          <p:nvPr/>
        </p:nvSpPr>
        <p:spPr>
          <a:xfrm>
            <a:off x="558800" y="3182573"/>
            <a:ext cx="2552702" cy="22923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55"/>
              </a:lnSpc>
              <a:spcBef>
                <a:spcPts val="0"/>
              </a:spcBef>
              <a:spcAft>
                <a:spcPts val="0"/>
              </a:spcAft>
              <a:buNone/>
            </a:pPr>
            <a:r>
              <a:rPr lang="en-US" sz="1350" b="0" i="0" kern="0" spc="0" dirty="0">
                <a:solidFill>
                  <a:srgbClr val="032D60"/>
                </a:solidFill>
                <a:latin typeface="Salesforce Sans"/>
                <a:ea typeface="Salesforce Sans"/>
                <a:cs typeface="Salesforce Sans"/>
              </a:rPr>
              <a:t>Separate sample partitions</a:t>
            </a:r>
            <a:endParaRPr lang="en-US" sz="1350" b="0" i="0" kern="0" spc="0" dirty="0">
              <a:solidFill>
                <a:srgbClr val="032D60"/>
              </a:solidFill>
              <a:latin typeface="Salesforce Sans"/>
              <a:ea typeface="Salesforce Sans"/>
              <a:cs typeface="Salesforce Sans"/>
            </a:endParaRPr>
          </a:p>
        </p:txBody>
      </p:sp>
      <p:grpSp>
        <p:nvGrpSpPr>
          <p:cNvPr id="1051" name="28 · node mint: Train"/>
          <p:cNvGrpSpPr/>
          <p:nvPr/>
        </p:nvGrpSpPr>
        <p:grpSpPr>
          <a:xfrm>
            <a:off x="558800" y="3854448"/>
            <a:ext cx="3429000" cy="1524001"/>
            <a:chOff x="558800" y="3854448"/>
            <a:chExt cx="3429000" cy="1524001"/>
          </a:xfrm>
        </p:grpSpPr>
        <p:sp>
          <p:nvSpPr>
            <p:cNvPr id="1033" name="28 · node mint · surface [p28-e0022]"/>
            <p:cNvSpPr/>
            <p:nvPr/>
          </p:nvSpPr>
          <p:spPr>
            <a:xfrm>
              <a:off x="558800" y="3854448"/>
              <a:ext cx="3429000" cy="1524001"/>
            </a:xfrm>
            <a:prstGeom prst="roundRect">
              <a:avLst>
                <a:gd name="adj" fmla="val 9167"/>
              </a:avLst>
            </a:prstGeom>
            <a:solidFill>
              <a:srgbClr val="DDF3ED"/>
            </a:solidFill>
            <a:ln>
              <a:noFill/>
            </a:ln>
          </p:spPr>
        </p:sp>
        <p:sp>
          <p:nvSpPr>
            <p:cNvPr id="1034" name="28 · strong: Train [p28-text-0022]" descr="Native editable Unicode text; authored line breaks retained."/>
            <p:cNvSpPr txBox="1"/>
            <p:nvPr/>
          </p:nvSpPr>
          <p:spPr>
            <a:xfrm>
              <a:off x="723900" y="4017075"/>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Train</a:t>
              </a:r>
              <a:endParaRPr lang="en-US" sz="2000" b="1" i="0" kern="0" spc="0" dirty="0">
                <a:solidFill>
                  <a:srgbClr val="032D60"/>
                </a:solidFill>
                <a:latin typeface="Salesforce Sans"/>
                <a:ea typeface="Salesforce Sans"/>
                <a:cs typeface="Salesforce Sans"/>
              </a:endParaRPr>
            </a:p>
          </p:txBody>
        </p:sp>
        <p:sp>
          <p:nvSpPr>
            <p:cNvPr id="1035" name="28 · small: Fit permitted components. Adaptation is optional. Augment training data only. [p28-text-0023]" descr="Native editable Unicode text; authored line breaks retained."/>
            <p:cNvSpPr txBox="1"/>
            <p:nvPr/>
          </p:nvSpPr>
          <p:spPr>
            <a:xfrm>
              <a:off x="723900" y="4434014"/>
              <a:ext cx="3111500"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Fit permitted components.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Adaptation is optional.</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Augment training data only.</a:t>
              </a:r>
              <a:endParaRPr lang="en-US" sz="1500" b="0" i="0" kern="0" spc="0" dirty="0">
                <a:solidFill>
                  <a:srgbClr val="032D60"/>
                </a:solidFill>
                <a:latin typeface="Salesforce Sans"/>
                <a:ea typeface="Salesforce Sans"/>
                <a:cs typeface="Salesforce Sans"/>
              </a:endParaRPr>
            </a:p>
          </p:txBody>
        </p:sp>
      </p:grpSp>
      <p:grpSp>
        <p:nvGrpSpPr>
          <p:cNvPr id="1052" name="28 · node sand: Development"/>
          <p:cNvGrpSpPr/>
          <p:nvPr/>
        </p:nvGrpSpPr>
        <p:grpSpPr>
          <a:xfrm>
            <a:off x="4381495" y="3854448"/>
            <a:ext cx="3429000" cy="1524001"/>
            <a:chOff x="4381495" y="3854448"/>
            <a:chExt cx="3429000" cy="1524001"/>
          </a:xfrm>
        </p:grpSpPr>
        <p:sp>
          <p:nvSpPr>
            <p:cNvPr id="1036" name="28 · node sand · surface [p28-e0027]"/>
            <p:cNvSpPr/>
            <p:nvPr/>
          </p:nvSpPr>
          <p:spPr>
            <a:xfrm>
              <a:off x="4381495" y="3854448"/>
              <a:ext cx="3429000" cy="1524001"/>
            </a:xfrm>
            <a:prstGeom prst="roundRect">
              <a:avLst>
                <a:gd name="adj" fmla="val 9167"/>
              </a:avLst>
            </a:prstGeom>
            <a:solidFill>
              <a:srgbClr val="FBF0CF"/>
            </a:solidFill>
            <a:ln>
              <a:noFill/>
            </a:ln>
          </p:spPr>
        </p:sp>
        <p:sp>
          <p:nvSpPr>
            <p:cNvPr id="1037" name="28 · strong: Development [p28-text-0024]" descr="Native editable Unicode text; authored line breaks retained."/>
            <p:cNvSpPr txBox="1"/>
            <p:nvPr/>
          </p:nvSpPr>
          <p:spPr>
            <a:xfrm>
              <a:off x="4546595" y="4145662"/>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Development</a:t>
              </a:r>
              <a:endParaRPr lang="en-US" sz="2000" b="1" i="0" kern="0" spc="0" dirty="0">
                <a:solidFill>
                  <a:srgbClr val="032D60"/>
                </a:solidFill>
                <a:latin typeface="Salesforce Sans"/>
                <a:ea typeface="Salesforce Sans"/>
                <a:cs typeface="Salesforce Sans"/>
              </a:endParaRPr>
            </a:p>
          </p:txBody>
        </p:sp>
        <p:sp>
          <p:nvSpPr>
            <p:cNvPr id="1038" name="28 · small: Use separate subsets for calibration and gate selection. [p28-text-0025]" descr="Native editable Unicode text; authored line breaks retained."/>
            <p:cNvSpPr txBox="1"/>
            <p:nvPr/>
          </p:nvSpPr>
          <p:spPr>
            <a:xfrm>
              <a:off x="4546595" y="4562601"/>
              <a:ext cx="3111500"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Use separate subsets for</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calibration and gate selection.</a:t>
              </a:r>
              <a:endParaRPr lang="en-US" sz="1500" b="0" i="0" kern="0" spc="0" dirty="0">
                <a:solidFill>
                  <a:srgbClr val="032D60"/>
                </a:solidFill>
                <a:latin typeface="Salesforce Sans"/>
                <a:ea typeface="Salesforce Sans"/>
                <a:cs typeface="Salesforce Sans"/>
              </a:endParaRPr>
            </a:p>
          </p:txBody>
        </p:sp>
      </p:grpSp>
      <p:grpSp>
        <p:nvGrpSpPr>
          <p:cNvPr id="1053" name="28 · node blue: Locked test"/>
          <p:cNvGrpSpPr/>
          <p:nvPr/>
        </p:nvGrpSpPr>
        <p:grpSpPr>
          <a:xfrm>
            <a:off x="8204200" y="3854448"/>
            <a:ext cx="3429000" cy="1524001"/>
            <a:chOff x="8204200" y="3854448"/>
            <a:chExt cx="3429000" cy="1524001"/>
          </a:xfrm>
        </p:grpSpPr>
        <p:sp>
          <p:nvSpPr>
            <p:cNvPr id="1039" name="28 · node blue · surface [p28-e0031]"/>
            <p:cNvSpPr/>
            <p:nvPr/>
          </p:nvSpPr>
          <p:spPr>
            <a:xfrm>
              <a:off x="8204200" y="3854448"/>
              <a:ext cx="3429000" cy="1524001"/>
            </a:xfrm>
            <a:prstGeom prst="roundRect">
              <a:avLst>
                <a:gd name="adj" fmla="val 9167"/>
              </a:avLst>
            </a:prstGeom>
            <a:solidFill>
              <a:srgbClr val="DCEEFE"/>
            </a:solidFill>
            <a:ln>
              <a:noFill/>
            </a:ln>
          </p:spPr>
        </p:sp>
        <p:sp>
          <p:nvSpPr>
            <p:cNvPr id="1040" name="28 · strong: Locked test [p28-text-0026]" descr="Native editable Unicode text; authored line breaks retained."/>
            <p:cNvSpPr txBox="1"/>
            <p:nvPr/>
          </p:nvSpPr>
          <p:spPr>
            <a:xfrm>
              <a:off x="8369300" y="4145662"/>
              <a:ext cx="3111500" cy="331974"/>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00"/>
                </a:lnSpc>
                <a:spcBef>
                  <a:spcPts val="0"/>
                </a:spcBef>
                <a:spcAft>
                  <a:spcPts val="0"/>
                </a:spcAft>
                <a:buNone/>
              </a:pPr>
              <a:r>
                <a:rPr lang="en-US" sz="2000" b="1" i="0" kern="0" spc="0" dirty="0">
                  <a:solidFill>
                    <a:srgbClr val="032D60"/>
                  </a:solidFill>
                  <a:latin typeface="Salesforce Sans"/>
                  <a:ea typeface="Salesforce Sans"/>
                  <a:cs typeface="Salesforce Sans"/>
                </a:rPr>
                <a:t>Locked test</a:t>
              </a:r>
              <a:endParaRPr lang="en-US" sz="2000" b="1" i="0" kern="0" spc="0" dirty="0">
                <a:solidFill>
                  <a:srgbClr val="032D60"/>
                </a:solidFill>
                <a:latin typeface="Salesforce Sans"/>
                <a:ea typeface="Salesforce Sans"/>
                <a:cs typeface="Salesforce Sans"/>
              </a:endParaRPr>
            </a:p>
          </p:txBody>
        </p:sp>
        <p:sp>
          <p:nvSpPr>
            <p:cNvPr id="1041" name="28 · small: Keep examples untouched. No fitting or gate tuning. [p28-text-0027]" descr="Native editable Unicode text; authored line breaks retained."/>
            <p:cNvSpPr txBox="1"/>
            <p:nvPr/>
          </p:nvSpPr>
          <p:spPr>
            <a:xfrm>
              <a:off x="8369300" y="4562601"/>
              <a:ext cx="3111500"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Keep examples untouched.</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No fitting or gate tuning.</a:t>
              </a:r>
              <a:endParaRPr lang="en-US" sz="1500" b="0" i="0" kern="0" spc="0" dirty="0">
                <a:solidFill>
                  <a:srgbClr val="032D60"/>
                </a:solidFill>
                <a:latin typeface="Salesforce Sans"/>
                <a:ea typeface="Salesforce Sans"/>
                <a:cs typeface="Salesforce Sans"/>
              </a:endParaRPr>
            </a:p>
          </p:txBody>
        </p:sp>
      </p:grpSp>
      <p:sp>
        <p:nvSpPr>
          <p:cNvPr id="1042" name="28 · node label: Route labels use decision-time evidence; later outcomes belong to separate tar [p28-text-0028]" descr="Native editable Unicode text; authored line breaks retained."/>
          <p:cNvSpPr txBox="1"/>
          <p:nvPr/>
        </p:nvSpPr>
        <p:spPr>
          <a:xfrm>
            <a:off x="558800" y="5678613"/>
            <a:ext cx="11087100" cy="2540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0"/>
              </a:lnSpc>
              <a:spcBef>
                <a:spcPts val="0"/>
              </a:spcBef>
              <a:spcAft>
                <a:spcPts val="0"/>
              </a:spcAft>
              <a:buNone/>
            </a:pPr>
            <a:r>
              <a:rPr lang="en-US" sz="1500" b="0" i="0" kern="0" spc="0" dirty="0">
                <a:solidFill>
                  <a:srgbClr val="032D60"/>
                </a:solidFill>
                <a:latin typeface="Salesforce Sans"/>
                <a:ea typeface="Salesforce Sans"/>
                <a:cs typeface="Salesforce Sans"/>
              </a:rPr>
              <a:t>Route labels use decision-time evidence; later outcomes belong to separate targets.</a:t>
            </a:r>
            <a:endParaRPr lang="en-US" sz="1500" b="0" i="0" kern="0" spc="0" dirty="0">
              <a:solidFill>
                <a:srgbClr val="032D60"/>
              </a:solidFill>
              <a:latin typeface="Salesforce Sans"/>
              <a:ea typeface="Salesforce Sans"/>
              <a:cs typeface="Salesforce Sans"/>
            </a:endParaRPr>
          </a:p>
        </p:txBody>
      </p:sp>
      <p:grpSp>
        <p:nvGrpSpPr>
          <p:cNvPr id="1054" name="28 · source-line: Tutorial evaluation protocol"/>
          <p:cNvGrpSpPr/>
          <p:nvPr/>
        </p:nvGrpSpPr>
        <p:grpSpPr>
          <a:xfrm>
            <a:off x="558800" y="6037898"/>
            <a:ext cx="11087100" cy="284456"/>
            <a:chOff x="558800" y="6037898"/>
            <a:chExt cx="11087100" cy="284456"/>
          </a:xfrm>
        </p:grpSpPr>
        <p:sp>
          <p:nvSpPr>
            <p:cNvPr id="1043" name="28 · source-line · top border [p28-e003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44" name="28 · span: Tutorial evaluation protocol [p28-text-0029]"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45" name="28 · span: Proposed task development; adaptation only where supported [p28-text-0030]" descr="Native editable Unicode text; authored line breaks retained."/>
            <p:cNvSpPr txBox="1"/>
            <p:nvPr/>
          </p:nvSpPr>
          <p:spPr>
            <a:xfrm>
              <a:off x="8134530" y="6153126"/>
              <a:ext cx="3511370"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task development; adaptation only where supported</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29.xml><?xml version="1.0" encoding="utf-8"?>
<p:sld xmlns:a="http://schemas.openxmlformats.org/drawingml/2006/main" xmlns:p="http://schemas.openxmlformats.org/presentationml/2006/main">
  <p:cSld name="Freeze the workflow before earning release">
    <p:bg>
      <p:bgPr>
        <a:solidFill>
          <a:srgbClr val="FFFFFF"/>
        </a:solidFill>
      </p:bgPr>
    </p:bg>
    <p:spTree>
      <p:nvGrpSpPr>
        <p:cNvPr id="1" name=""/>
        <p:cNvGrpSpPr/>
        <p:nvPr/>
      </p:nvGrpSpPr>
      <p:grpSpPr>
        <a:xfrm>
          <a:off x="0" y="0"/>
          <a:ext cx="0" cy="0"/>
          <a:chOff x="0" y="0"/>
          <a:chExt cx="0" cy="0"/>
        </a:xfrm>
      </p:grpSpPr>
      <p:sp>
        <p:nvSpPr>
          <p:cNvPr id="1000" name="29 · slide light · surface [p29-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52" name="29 · chrome-min: DISAGGREGATED INTELLIGENCE"/>
          <p:cNvGrpSpPr/>
          <p:nvPr/>
        </p:nvGrpSpPr>
        <p:grpSpPr>
          <a:xfrm>
            <a:off x="558800" y="356053"/>
            <a:ext cx="11087100" cy="187325"/>
            <a:chOff x="558800" y="356053"/>
            <a:chExt cx="11087100" cy="187325"/>
          </a:xfrm>
        </p:grpSpPr>
        <p:sp>
          <p:nvSpPr>
            <p:cNvPr id="1001" name="29 · l: DISAGGREGATED INTELLIGENCE [p29-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29 · r: 29 / 36 [p29-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29 / 36</a:t>
              </a:r>
              <a:endParaRPr lang="en-US" sz="950" b="1" i="0" kern="0" spc="65" dirty="0">
                <a:solidFill>
                  <a:srgbClr val="022AC0"/>
                </a:solidFill>
                <a:latin typeface="Salesforce Sans"/>
                <a:ea typeface="Salesforce Sans"/>
                <a:cs typeface="Salesforce Sans"/>
              </a:endParaRPr>
            </a:p>
          </p:txBody>
        </p:sp>
      </p:grpSp>
      <p:grpSp>
        <p:nvGrpSpPr>
          <p:cNvPr id="1053" name="29 · deck-head: 08 / TRAINING PIPELINE — QUALIFY THE CANDIDATE"/>
          <p:cNvGrpSpPr/>
          <p:nvPr/>
        </p:nvGrpSpPr>
        <p:grpSpPr>
          <a:xfrm>
            <a:off x="558800" y="775901"/>
            <a:ext cx="11087100" cy="871263"/>
            <a:chOff x="558800" y="775901"/>
            <a:chExt cx="11087100" cy="871263"/>
          </a:xfrm>
        </p:grpSpPr>
        <p:sp>
          <p:nvSpPr>
            <p:cNvPr id="1003" name="29 · training-release-eyebrow: 08 / TRAINING PIPELINE — QUALIFY THE CANDIDATE [p29-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TRAINING PIPELINE — QUALIFY THE CANDIDATE</a:t>
              </a:r>
              <a:endParaRPr lang="en-US" sz="1050" b="1" i="0" kern="0" spc="68" dirty="0">
                <a:solidFill>
                  <a:srgbClr val="022AC0"/>
                </a:solidFill>
                <a:latin typeface="Salesforce Sans"/>
                <a:ea typeface="Salesforce Sans"/>
                <a:cs typeface="Salesforce Sans"/>
              </a:endParaRPr>
            </a:p>
          </p:txBody>
        </p:sp>
        <p:sp>
          <p:nvSpPr>
            <p:cNvPr id="1004" name="29 · training-release-title: Freeze the workflow before earning release [p29-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Freeze the workflow before earning release</a:t>
              </a:r>
              <a:endParaRPr lang="en-US" sz="3600" b="1" i="0" kern="0" spc="-95" dirty="0">
                <a:solidFill>
                  <a:srgbClr val="022AC0"/>
                </a:solidFill>
                <a:latin typeface="Manrope"/>
                <a:ea typeface="Manrope"/>
                <a:cs typeface="Manrope"/>
              </a:endParaRPr>
            </a:p>
          </p:txBody>
        </p:sp>
      </p:grpSp>
      <p:grpSp>
        <p:nvGrpSpPr>
          <p:cNvPr id="1005" name="29 · svg · drawing [p29-e0008]"/>
          <p:cNvGrpSpPr/>
          <p:nvPr/>
        </p:nvGrpSpPr>
        <p:grpSpPr>
          <a:xfrm>
            <a:off x="3543300" y="2438400"/>
            <a:ext cx="6629400" cy="2971800"/>
            <a:chOff x="3543300" y="2438400"/>
            <a:chExt cx="6629400" cy="2971800"/>
          </a:xfrm>
        </p:grpSpPr>
        <p:grpSp>
          <p:nvGrpSpPr>
            <p:cNvPr id="1006" name="path · 1 + arrowhead"/>
            <p:cNvGrpSpPr/>
            <p:nvPr/>
          </p:nvGrpSpPr>
          <p:grpSpPr>
            <a:xfrm>
              <a:off x="5975350" y="2438400"/>
              <a:ext cx="152400" cy="342900"/>
              <a:chOff x="5975350" y="2438400"/>
              <a:chExt cx="152400" cy="342900"/>
            </a:xfrm>
          </p:grpSpPr>
          <p:sp>
            <p:nvSpPr>
              <p:cNvPr id="1007" name="path · 1"/>
              <p:cNvSpPr/>
              <p:nvPr/>
            </p:nvSpPr>
            <p:spPr>
              <a:xfrm>
                <a:off x="6051550" y="2438400"/>
                <a:ext cx="1" cy="323850"/>
              </a:xfrm>
              <a:custGeom>
                <a:avLst/>
                <a:gdLst/>
                <a:ahLst/>
                <a:cxnLst/>
                <a:rect l="0" t="0" r="r" b="b"/>
                <a:pathLst>
                  <a:path w="1" h="323850" fill="none" stroke="1" extrusionOk="0">
                    <a:moveTo>
                      <a:pt x="0" y="0"/>
                    </a:moveTo>
                    <a:lnTo>
                      <a:pt x="0" y="323850"/>
                    </a:lnTo>
                  </a:path>
                </a:pathLst>
              </a:custGeom>
              <a:noFill/>
              <a:ln w="19050" cap="flat" cmpd="sng" algn="ctr">
                <a:solidFill>
                  <a:srgbClr val="51776A"/>
                </a:solidFill>
                <a:prstDash val="solid"/>
                <a:miter lim="400000"/>
                <a:headEnd type="none" w="med" len="med"/>
                <a:tailEnd type="none" w="med" len="med"/>
              </a:ln>
            </p:spPr>
          </p:sp>
          <p:grpSp>
            <p:nvGrpSpPr>
              <p:cNvPr id="1008" name="releasefocus-data end"/>
              <p:cNvGrpSpPr/>
              <p:nvPr/>
            </p:nvGrpSpPr>
            <p:grpSpPr>
              <a:xfrm>
                <a:off x="5975350" y="2628900"/>
                <a:ext cx="152400" cy="152400"/>
                <a:chOff x="5975350" y="2628900"/>
                <a:chExt cx="152400" cy="152400"/>
              </a:xfrm>
            </p:grpSpPr>
            <p:sp>
              <p:nvSpPr>
                <p:cNvPr id="1009" name="path · 2"/>
                <p:cNvSpPr/>
                <p:nvPr/>
              </p:nvSpPr>
              <p:spPr>
                <a:xfrm>
                  <a:off x="5975350" y="262890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51776A"/>
                </a:solidFill>
                <a:ln>
                  <a:noFill/>
                </a:ln>
              </p:spPr>
            </p:sp>
          </p:grpSp>
        </p:grpSp>
        <p:grpSp>
          <p:nvGrpSpPr>
            <p:cNvPr id="1010" name="path · 3 + arrowhead"/>
            <p:cNvGrpSpPr/>
            <p:nvPr/>
          </p:nvGrpSpPr>
          <p:grpSpPr>
            <a:xfrm>
              <a:off x="3543300" y="3479800"/>
              <a:ext cx="895350" cy="152400"/>
              <a:chOff x="3543300" y="3479800"/>
              <a:chExt cx="895350" cy="152400"/>
            </a:xfrm>
          </p:grpSpPr>
          <p:sp>
            <p:nvSpPr>
              <p:cNvPr id="1011" name="path · 3"/>
              <p:cNvSpPr/>
              <p:nvPr/>
            </p:nvSpPr>
            <p:spPr>
              <a:xfrm>
                <a:off x="3543300" y="3556000"/>
                <a:ext cx="876300" cy="1"/>
              </a:xfrm>
              <a:custGeom>
                <a:avLst/>
                <a:gdLst/>
                <a:ahLst/>
                <a:cxnLst/>
                <a:rect l="0" t="0" r="r" b="b"/>
                <a:pathLst>
                  <a:path w="876300" h="1" fill="none" stroke="1" extrusionOk="0">
                    <a:moveTo>
                      <a:pt x="0" y="0"/>
                    </a:moveTo>
                    <a:lnTo>
                      <a:pt x="876300" y="0"/>
                    </a:lnTo>
                  </a:path>
                </a:pathLst>
              </a:custGeom>
              <a:noFill/>
              <a:ln w="19050" cap="flat" cmpd="sng" algn="ctr">
                <a:solidFill>
                  <a:srgbClr val="737DAC"/>
                </a:solidFill>
                <a:custDash>
                  <a:ds d="366667" sp="266667"/>
                </a:custDash>
                <a:miter lim="400000"/>
                <a:headEnd type="none" w="med" len="med"/>
                <a:tailEnd type="none" w="med" len="med"/>
              </a:ln>
            </p:spPr>
          </p:sp>
          <p:grpSp>
            <p:nvGrpSpPr>
              <p:cNvPr id="1012" name="releasefocus-artifact end"/>
              <p:cNvGrpSpPr/>
              <p:nvPr/>
            </p:nvGrpSpPr>
            <p:grpSpPr>
              <a:xfrm>
                <a:off x="4286250" y="3479800"/>
                <a:ext cx="152400" cy="152400"/>
                <a:chOff x="4286250" y="3479800"/>
                <a:chExt cx="152400" cy="152400"/>
              </a:xfrm>
            </p:grpSpPr>
            <p:sp>
              <p:nvSpPr>
                <p:cNvPr id="1013" name="path · 4"/>
                <p:cNvSpPr/>
                <p:nvPr/>
              </p:nvSpPr>
              <p:spPr>
                <a:xfrm>
                  <a:off x="4286250" y="347980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737DAC"/>
                </a:solidFill>
                <a:ln>
                  <a:noFill/>
                </a:ln>
              </p:spPr>
            </p:sp>
          </p:grpSp>
        </p:grpSp>
        <p:grpSp>
          <p:nvGrpSpPr>
            <p:cNvPr id="1014" name="path · 5 + arrowhead"/>
            <p:cNvGrpSpPr/>
            <p:nvPr/>
          </p:nvGrpSpPr>
          <p:grpSpPr>
            <a:xfrm>
              <a:off x="7639050" y="3479800"/>
              <a:ext cx="895350" cy="152400"/>
              <a:chOff x="7639050" y="3479800"/>
              <a:chExt cx="895350" cy="152400"/>
            </a:xfrm>
          </p:grpSpPr>
          <p:sp>
            <p:nvSpPr>
              <p:cNvPr id="1015" name="path · 5"/>
              <p:cNvSpPr/>
              <p:nvPr/>
            </p:nvSpPr>
            <p:spPr>
              <a:xfrm>
                <a:off x="7639050" y="3556000"/>
                <a:ext cx="876300" cy="1"/>
              </a:xfrm>
              <a:custGeom>
                <a:avLst/>
                <a:gdLst/>
                <a:ahLst/>
                <a:cxnLst/>
                <a:rect l="0" t="0" r="r" b="b"/>
                <a:pathLst>
                  <a:path w="876300" h="1" fill="none" stroke="1" extrusionOk="0">
                    <a:moveTo>
                      <a:pt x="0" y="0"/>
                    </a:moveTo>
                    <a:lnTo>
                      <a:pt x="876300" y="0"/>
                    </a:lnTo>
                  </a:path>
                </a:pathLst>
              </a:custGeom>
              <a:noFill/>
              <a:ln w="19050" cap="flat" cmpd="sng" algn="ctr">
                <a:solidFill>
                  <a:srgbClr val="243E42"/>
                </a:solidFill>
                <a:prstDash val="solid"/>
                <a:miter lim="400000"/>
                <a:headEnd type="none" w="med" len="med"/>
                <a:tailEnd type="none" w="med" len="med"/>
              </a:ln>
            </p:spPr>
          </p:sp>
          <p:grpSp>
            <p:nvGrpSpPr>
              <p:cNvPr id="1016" name="releasefocus-gate end"/>
              <p:cNvGrpSpPr/>
              <p:nvPr/>
            </p:nvGrpSpPr>
            <p:grpSpPr>
              <a:xfrm>
                <a:off x="8382000" y="3479800"/>
                <a:ext cx="152400" cy="152400"/>
                <a:chOff x="8382000" y="3479800"/>
                <a:chExt cx="152400" cy="152400"/>
              </a:xfrm>
            </p:grpSpPr>
            <p:sp>
              <p:nvSpPr>
                <p:cNvPr id="1017" name="path · 6"/>
                <p:cNvSpPr/>
                <p:nvPr/>
              </p:nvSpPr>
              <p:spPr>
                <a:xfrm>
                  <a:off x="8382000" y="3479800"/>
                  <a:ext cx="152400" cy="152400"/>
                </a:xfrm>
                <a:custGeom>
                  <a:avLst/>
                  <a:gdLst/>
                  <a:ahLst/>
                  <a:cxnLst/>
                  <a:rect l="0" t="0" r="r" b="b"/>
                  <a:pathLst>
                    <a:path w="152400" h="152400" fill="norm" stroke="0" extrusionOk="0">
                      <a:moveTo>
                        <a:pt x="0" y="0"/>
                      </a:moveTo>
                      <a:lnTo>
                        <a:pt x="152400" y="76200"/>
                      </a:lnTo>
                      <a:lnTo>
                        <a:pt x="0" y="152400"/>
                      </a:lnTo>
                      <a:close/>
                    </a:path>
                  </a:pathLst>
                </a:custGeom>
                <a:solidFill>
                  <a:srgbClr val="243E42"/>
                </a:solidFill>
                <a:ln>
                  <a:noFill/>
                </a:ln>
              </p:spPr>
            </p:sp>
          </p:grpSp>
        </p:grpSp>
        <p:grpSp>
          <p:nvGrpSpPr>
            <p:cNvPr id="1018" name="path · 7 + arrowhead"/>
            <p:cNvGrpSpPr/>
            <p:nvPr/>
          </p:nvGrpSpPr>
          <p:grpSpPr>
            <a:xfrm>
              <a:off x="10020300" y="4394200"/>
              <a:ext cx="152400" cy="355600"/>
              <a:chOff x="10020300" y="4394200"/>
              <a:chExt cx="152400" cy="355600"/>
            </a:xfrm>
          </p:grpSpPr>
          <p:sp>
            <p:nvSpPr>
              <p:cNvPr id="1019" name="path · 7"/>
              <p:cNvSpPr/>
              <p:nvPr/>
            </p:nvSpPr>
            <p:spPr>
              <a:xfrm>
                <a:off x="10096500" y="4394200"/>
                <a:ext cx="1" cy="336550"/>
              </a:xfrm>
              <a:custGeom>
                <a:avLst/>
                <a:gdLst/>
                <a:ahLst/>
                <a:cxnLst/>
                <a:rect l="0" t="0" r="r" b="b"/>
                <a:pathLst>
                  <a:path w="1" h="336550" fill="none" stroke="1" extrusionOk="0">
                    <a:moveTo>
                      <a:pt x="0" y="0"/>
                    </a:moveTo>
                    <a:lnTo>
                      <a:pt x="0" y="336550"/>
                    </a:lnTo>
                  </a:path>
                </a:pathLst>
              </a:custGeom>
              <a:noFill/>
              <a:ln w="19050" cap="flat" cmpd="sng" algn="ctr">
                <a:solidFill>
                  <a:srgbClr val="243E42"/>
                </a:solidFill>
                <a:prstDash val="solid"/>
                <a:miter lim="400000"/>
                <a:headEnd type="none" w="med" len="med"/>
                <a:tailEnd type="none" w="med" len="med"/>
              </a:ln>
            </p:spPr>
          </p:sp>
          <p:grpSp>
            <p:nvGrpSpPr>
              <p:cNvPr id="1020" name="releasefocus-gate end"/>
              <p:cNvGrpSpPr/>
              <p:nvPr/>
            </p:nvGrpSpPr>
            <p:grpSpPr>
              <a:xfrm>
                <a:off x="10020300" y="4597400"/>
                <a:ext cx="152400" cy="152400"/>
                <a:chOff x="10020300" y="4597400"/>
                <a:chExt cx="152400" cy="152400"/>
              </a:xfrm>
            </p:grpSpPr>
            <p:sp>
              <p:nvSpPr>
                <p:cNvPr id="1021" name="path · 8"/>
                <p:cNvSpPr/>
                <p:nvPr/>
              </p:nvSpPr>
              <p:spPr>
                <a:xfrm>
                  <a:off x="10020300" y="4597400"/>
                  <a:ext cx="152400" cy="152400"/>
                </a:xfrm>
                <a:custGeom>
                  <a:avLst/>
                  <a:gdLst/>
                  <a:ahLst/>
                  <a:cxnLst/>
                  <a:rect l="0" t="0" r="r" b="b"/>
                  <a:pathLst>
                    <a:path w="152400" h="152400" fill="norm" stroke="0" extrusionOk="0">
                      <a:moveTo>
                        <a:pt x="152400" y="0"/>
                      </a:moveTo>
                      <a:lnTo>
                        <a:pt x="76200" y="152400"/>
                      </a:lnTo>
                      <a:lnTo>
                        <a:pt x="0" y="0"/>
                      </a:lnTo>
                      <a:close/>
                    </a:path>
                  </a:pathLst>
                </a:custGeom>
                <a:solidFill>
                  <a:srgbClr val="243E42"/>
                </a:solidFill>
                <a:ln>
                  <a:noFill/>
                </a:ln>
              </p:spPr>
            </p:sp>
          </p:grpSp>
        </p:grpSp>
        <p:grpSp>
          <p:nvGrpSpPr>
            <p:cNvPr id="1022" name="path · 9 + arrowhead"/>
            <p:cNvGrpSpPr/>
            <p:nvPr/>
          </p:nvGrpSpPr>
          <p:grpSpPr>
            <a:xfrm>
              <a:off x="7664450" y="5257800"/>
              <a:ext cx="895350" cy="152400"/>
              <a:chOff x="7664450" y="5257800"/>
              <a:chExt cx="895350" cy="152400"/>
            </a:xfrm>
          </p:grpSpPr>
          <p:sp>
            <p:nvSpPr>
              <p:cNvPr id="1023" name="path · 9"/>
              <p:cNvSpPr/>
              <p:nvPr/>
            </p:nvSpPr>
            <p:spPr>
              <a:xfrm>
                <a:off x="7683500" y="5334000"/>
                <a:ext cx="876300" cy="1"/>
              </a:xfrm>
              <a:custGeom>
                <a:avLst/>
                <a:gdLst/>
                <a:ahLst/>
                <a:cxnLst/>
                <a:rect l="0" t="0" r="r" b="b"/>
                <a:pathLst>
                  <a:path w="876300" h="1" fill="none" stroke="1" extrusionOk="0">
                    <a:moveTo>
                      <a:pt x="876300" y="0"/>
                    </a:moveTo>
                    <a:lnTo>
                      <a:pt x="0" y="0"/>
                    </a:lnTo>
                  </a:path>
                </a:pathLst>
              </a:custGeom>
              <a:noFill/>
              <a:ln w="19050" cap="rnd" cmpd="sng" algn="ctr">
                <a:solidFill>
                  <a:srgbClr val="AD7357"/>
                </a:solidFill>
                <a:custDash>
                  <a:ds d="66667" sp="300000"/>
                </a:custDash>
                <a:miter lim="400000"/>
                <a:headEnd type="none" w="med" len="med"/>
                <a:tailEnd type="none" w="med" len="med"/>
              </a:ln>
            </p:spPr>
          </p:sp>
          <p:grpSp>
            <p:nvGrpSpPr>
              <p:cNvPr id="1024" name="releasefocus-feedback end"/>
              <p:cNvGrpSpPr/>
              <p:nvPr/>
            </p:nvGrpSpPr>
            <p:grpSpPr>
              <a:xfrm>
                <a:off x="7664450" y="5257800"/>
                <a:ext cx="152400" cy="152400"/>
                <a:chOff x="7664450" y="5257800"/>
                <a:chExt cx="152400" cy="152400"/>
              </a:xfrm>
            </p:grpSpPr>
            <p:sp>
              <p:nvSpPr>
                <p:cNvPr id="1025" name="path · 10"/>
                <p:cNvSpPr/>
                <p:nvPr/>
              </p:nvSpPr>
              <p:spPr>
                <a:xfrm>
                  <a:off x="7664450" y="5257800"/>
                  <a:ext cx="152400" cy="152400"/>
                </a:xfrm>
                <a:custGeom>
                  <a:avLst/>
                  <a:gdLst/>
                  <a:ahLst/>
                  <a:cxnLst/>
                  <a:rect l="0" t="0" r="r" b="b"/>
                  <a:pathLst>
                    <a:path w="152400" h="152400" fill="norm" stroke="0" extrusionOk="0">
                      <a:moveTo>
                        <a:pt x="152400" y="152400"/>
                      </a:moveTo>
                      <a:lnTo>
                        <a:pt x="0" y="76200"/>
                      </a:lnTo>
                      <a:lnTo>
                        <a:pt x="152400" y="0"/>
                      </a:lnTo>
                      <a:close/>
                    </a:path>
                  </a:pathLst>
                </a:custGeom>
                <a:solidFill>
                  <a:srgbClr val="AD7357"/>
                </a:solidFill>
                <a:ln>
                  <a:noFill/>
                </a:ln>
              </p:spPr>
            </p:sp>
          </p:grpSp>
        </p:grpSp>
      </p:grpSp>
      <p:sp>
        <p:nvSpPr>
          <p:cNvPr id="1026" name="29 · node label: Freeze the selected candidate [p29-text-0015]" descr="Native editable Unicode text; authored line breaks retained."/>
          <p:cNvSpPr txBox="1"/>
          <p:nvPr/>
        </p:nvSpPr>
        <p:spPr>
          <a:xfrm>
            <a:off x="558800" y="2309940"/>
            <a:ext cx="2997195" cy="2540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50"/>
              </a:lnSpc>
              <a:spcBef>
                <a:spcPts val="0"/>
              </a:spcBef>
              <a:spcAft>
                <a:spcPts val="0"/>
              </a:spcAft>
              <a:buNone/>
            </a:pPr>
            <a:r>
              <a:rPr lang="en-US" sz="1500" b="0" i="0" kern="0" spc="0" dirty="0">
                <a:solidFill>
                  <a:srgbClr val="032D60"/>
                </a:solidFill>
                <a:latin typeface="Salesforce Sans"/>
                <a:ea typeface="Salesforce Sans"/>
                <a:cs typeface="Salesforce Sans"/>
              </a:rPr>
              <a:t>Freeze the selected candidate</a:t>
            </a:r>
            <a:endParaRPr lang="en-US" sz="1500" b="0" i="0" kern="0" spc="0" dirty="0">
              <a:solidFill>
                <a:srgbClr val="032D60"/>
              </a:solidFill>
              <a:latin typeface="Salesforce Sans"/>
              <a:ea typeface="Salesforce Sans"/>
              <a:cs typeface="Salesforce Sans"/>
            </a:endParaRPr>
          </a:p>
        </p:txBody>
      </p:sp>
      <p:grpSp>
        <p:nvGrpSpPr>
          <p:cNvPr id="1054" name="29 · node blue: Untouched test cases"/>
          <p:cNvGrpSpPr/>
          <p:nvPr/>
        </p:nvGrpSpPr>
        <p:grpSpPr>
          <a:xfrm>
            <a:off x="4464054" y="1917702"/>
            <a:ext cx="3174997" cy="520700"/>
            <a:chOff x="4464054" y="1917702"/>
            <a:chExt cx="3174997" cy="520700"/>
          </a:xfrm>
        </p:grpSpPr>
        <p:sp>
          <p:nvSpPr>
            <p:cNvPr id="1027" name="29 · node blue · surface [p29-e0010]"/>
            <p:cNvSpPr/>
            <p:nvPr/>
          </p:nvSpPr>
          <p:spPr>
            <a:xfrm>
              <a:off x="4464054" y="1917702"/>
              <a:ext cx="3174997" cy="520700"/>
            </a:xfrm>
            <a:prstGeom prst="roundRect">
              <a:avLst>
                <a:gd name="adj" fmla="val 26829"/>
              </a:avLst>
            </a:prstGeom>
            <a:solidFill>
              <a:srgbClr val="DCEEFE"/>
            </a:solidFill>
            <a:ln>
              <a:noFill/>
            </a:ln>
          </p:spPr>
        </p:sp>
        <p:sp>
          <p:nvSpPr>
            <p:cNvPr id="1028" name="29 · strong: Untouched test cases [p29-text-0016]" descr="Native editable Unicode text; authored line breaks retained."/>
            <p:cNvSpPr txBox="1"/>
            <p:nvPr/>
          </p:nvSpPr>
          <p:spPr>
            <a:xfrm>
              <a:off x="4629154" y="2055941"/>
              <a:ext cx="2857497" cy="25057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25"/>
                </a:lnSpc>
                <a:spcBef>
                  <a:spcPts val="0"/>
                </a:spcBef>
                <a:spcAft>
                  <a:spcPts val="0"/>
                </a:spcAft>
                <a:buNone/>
              </a:pPr>
              <a:r>
                <a:rPr lang="en-US" sz="1500" b="1" i="0" kern="0" spc="0" dirty="0">
                  <a:solidFill>
                    <a:srgbClr val="032D60"/>
                  </a:solidFill>
                  <a:latin typeface="Salesforce Sans"/>
                  <a:ea typeface="Salesforce Sans"/>
                  <a:cs typeface="Salesforce Sans"/>
                </a:rPr>
                <a:t>Untouched test cases</a:t>
              </a:r>
              <a:endParaRPr lang="en-US" sz="1500" b="1" i="0" kern="0" spc="0" dirty="0">
                <a:solidFill>
                  <a:srgbClr val="032D60"/>
                </a:solidFill>
                <a:latin typeface="Salesforce Sans"/>
                <a:ea typeface="Salesforce Sans"/>
                <a:cs typeface="Salesforce Sans"/>
              </a:endParaRPr>
            </a:p>
          </p:txBody>
        </p:sp>
      </p:grpSp>
      <p:grpSp>
        <p:nvGrpSpPr>
          <p:cNvPr id="1055" name="29 · node lilac: Frozen artifacts"/>
          <p:cNvGrpSpPr/>
          <p:nvPr/>
        </p:nvGrpSpPr>
        <p:grpSpPr>
          <a:xfrm>
            <a:off x="558800" y="2806702"/>
            <a:ext cx="2984495" cy="1587499"/>
            <a:chOff x="558800" y="2806702"/>
            <a:chExt cx="2984495" cy="1587499"/>
          </a:xfrm>
        </p:grpSpPr>
        <p:sp>
          <p:nvSpPr>
            <p:cNvPr id="1029" name="29 · node lilac · surface [p29-e0012]"/>
            <p:cNvSpPr/>
            <p:nvPr/>
          </p:nvSpPr>
          <p:spPr>
            <a:xfrm>
              <a:off x="558800" y="2806702"/>
              <a:ext cx="2984495" cy="1587499"/>
            </a:xfrm>
            <a:prstGeom prst="roundRect">
              <a:avLst>
                <a:gd name="adj" fmla="val 8800"/>
              </a:avLst>
            </a:prstGeom>
            <a:solidFill>
              <a:srgbClr val="EAE6FA"/>
            </a:solidFill>
            <a:ln>
              <a:noFill/>
            </a:ln>
          </p:spPr>
        </p:sp>
        <p:sp>
          <p:nvSpPr>
            <p:cNvPr id="1030" name="29 · strong: Frozen artifacts [p29-text-0017]" descr="Native editable Unicode text; authored line breaks retained."/>
            <p:cNvSpPr txBox="1"/>
            <p:nvPr/>
          </p:nvSpPr>
          <p:spPr>
            <a:xfrm>
              <a:off x="723900" y="3009216"/>
              <a:ext cx="2666995"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Frozen artifacts</a:t>
              </a:r>
              <a:endParaRPr lang="en-US" sz="1900" b="1" i="0" kern="0" spc="0" dirty="0">
                <a:solidFill>
                  <a:srgbClr val="032D60"/>
                </a:solidFill>
                <a:latin typeface="Salesforce Sans"/>
                <a:ea typeface="Salesforce Sans"/>
                <a:cs typeface="Salesforce Sans"/>
              </a:endParaRPr>
            </a:p>
          </p:txBody>
        </p:sp>
        <p:sp>
          <p:nvSpPr>
            <p:cNvPr id="1031" name="29 · small: Model and transforms. Decision definitions. Routing policy and gates. [p29-text-0018]" descr="Native editable Unicode text; authored line breaks retained."/>
            <p:cNvSpPr txBox="1"/>
            <p:nvPr/>
          </p:nvSpPr>
          <p:spPr>
            <a:xfrm>
              <a:off x="723900" y="3410714"/>
              <a:ext cx="2666995"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Model and transforms.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Decision definitions.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Routing policy and gates.</a:t>
              </a:r>
              <a:endParaRPr lang="en-US" sz="1500" b="0" i="0" kern="0" spc="0" dirty="0">
                <a:solidFill>
                  <a:srgbClr val="032D60"/>
                </a:solidFill>
                <a:latin typeface="Salesforce Sans"/>
                <a:ea typeface="Salesforce Sans"/>
                <a:cs typeface="Salesforce Sans"/>
              </a:endParaRPr>
            </a:p>
          </p:txBody>
        </p:sp>
      </p:grpSp>
      <p:sp>
        <p:nvSpPr>
          <p:cNvPr id="1032" name="29 · node label: Artifacts [p29-text-0019]" descr="Native editable Unicode text; authored line breaks retained."/>
          <p:cNvSpPr txBox="1"/>
          <p:nvPr/>
        </p:nvSpPr>
        <p:spPr>
          <a:xfrm>
            <a:off x="3594105" y="3192995"/>
            <a:ext cx="850899"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Artifacts</a:t>
            </a:r>
            <a:endParaRPr lang="en-US" sz="1300" b="0" i="0" kern="0" spc="0" dirty="0">
              <a:solidFill>
                <a:srgbClr val="032D60"/>
              </a:solidFill>
              <a:latin typeface="Salesforce Sans"/>
              <a:ea typeface="Salesforce Sans"/>
              <a:cs typeface="Salesforce Sans"/>
            </a:endParaRPr>
          </a:p>
        </p:txBody>
      </p:sp>
      <p:grpSp>
        <p:nvGrpSpPr>
          <p:cNvPr id="1056" name="29 · node blue: Locked evaluation"/>
          <p:cNvGrpSpPr/>
          <p:nvPr/>
        </p:nvGrpSpPr>
        <p:grpSpPr>
          <a:xfrm>
            <a:off x="4464054" y="2806702"/>
            <a:ext cx="3174997" cy="1587499"/>
            <a:chOff x="4464054" y="2806702"/>
            <a:chExt cx="3174997" cy="1587499"/>
          </a:xfrm>
        </p:grpSpPr>
        <p:sp>
          <p:nvSpPr>
            <p:cNvPr id="1033" name="29 · node blue · surface [p29-e0018]"/>
            <p:cNvSpPr/>
            <p:nvPr/>
          </p:nvSpPr>
          <p:spPr>
            <a:xfrm>
              <a:off x="4464054" y="2806702"/>
              <a:ext cx="3174997" cy="1587499"/>
            </a:xfrm>
            <a:prstGeom prst="roundRect">
              <a:avLst>
                <a:gd name="adj" fmla="val 8800"/>
              </a:avLst>
            </a:prstGeom>
            <a:solidFill>
              <a:srgbClr val="DCEEFE"/>
            </a:solidFill>
            <a:ln>
              <a:noFill/>
            </a:ln>
          </p:spPr>
        </p:sp>
        <p:sp>
          <p:nvSpPr>
            <p:cNvPr id="1034" name="29 · strong: Locked evaluation [p29-text-0020]" descr="Native editable Unicode text; authored line breaks retained."/>
            <p:cNvSpPr txBox="1"/>
            <p:nvPr/>
          </p:nvSpPr>
          <p:spPr>
            <a:xfrm>
              <a:off x="4629154" y="3009216"/>
              <a:ext cx="2857497"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Locked evaluation</a:t>
              </a:r>
              <a:endParaRPr lang="en-US" sz="1900" b="1" i="0" kern="0" spc="0" dirty="0">
                <a:solidFill>
                  <a:srgbClr val="032D60"/>
                </a:solidFill>
                <a:latin typeface="Salesforce Sans"/>
                <a:ea typeface="Salesforce Sans"/>
                <a:cs typeface="Salesforce Sans"/>
              </a:endParaRPr>
            </a:p>
          </p:txBody>
        </p:sp>
        <p:sp>
          <p:nvSpPr>
            <p:cNvPr id="1035" name="29 · small: Paired decision comparison. Use untouched examples. Predeclare offline gates. [p29-text-0021]" descr="Native editable Unicode text; authored line breaks retained."/>
            <p:cNvSpPr txBox="1"/>
            <p:nvPr/>
          </p:nvSpPr>
          <p:spPr>
            <a:xfrm>
              <a:off x="4629154" y="3410714"/>
              <a:ext cx="2857497"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Paired decision comparison.</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Use untouched examples.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Predeclare offline gates.</a:t>
              </a:r>
              <a:endParaRPr lang="en-US" sz="1500" b="0" i="0" kern="0" spc="0" dirty="0">
                <a:solidFill>
                  <a:srgbClr val="032D60"/>
                </a:solidFill>
                <a:latin typeface="Salesforce Sans"/>
                <a:ea typeface="Salesforce Sans"/>
                <a:cs typeface="Salesforce Sans"/>
              </a:endParaRPr>
            </a:p>
          </p:txBody>
        </p:sp>
      </p:grpSp>
      <p:sp>
        <p:nvSpPr>
          <p:cNvPr id="1036" name="29 · node label: Pass gates [p29-text-0022]" descr="Native editable Unicode text; authored line breaks retained."/>
          <p:cNvSpPr txBox="1"/>
          <p:nvPr/>
        </p:nvSpPr>
        <p:spPr>
          <a:xfrm>
            <a:off x="7677147" y="3192995"/>
            <a:ext cx="895352"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Pass gates</a:t>
            </a:r>
            <a:endParaRPr lang="en-US" sz="1300" b="0" i="0" kern="0" spc="0" dirty="0">
              <a:solidFill>
                <a:srgbClr val="032D60"/>
              </a:solidFill>
              <a:latin typeface="Salesforce Sans"/>
              <a:ea typeface="Salesforce Sans"/>
              <a:cs typeface="Salesforce Sans"/>
            </a:endParaRPr>
          </a:p>
        </p:txBody>
      </p:sp>
      <p:grpSp>
        <p:nvGrpSpPr>
          <p:cNvPr id="1057" name="29 · node mint: Randomized pilot"/>
          <p:cNvGrpSpPr/>
          <p:nvPr/>
        </p:nvGrpSpPr>
        <p:grpSpPr>
          <a:xfrm>
            <a:off x="8559799" y="2806702"/>
            <a:ext cx="3073401" cy="1587499"/>
            <a:chOff x="8559799" y="2806702"/>
            <a:chExt cx="3073401" cy="1587499"/>
          </a:xfrm>
        </p:grpSpPr>
        <p:sp>
          <p:nvSpPr>
            <p:cNvPr id="1037" name="29 · node mint · surface [p29-e0024]"/>
            <p:cNvSpPr/>
            <p:nvPr/>
          </p:nvSpPr>
          <p:spPr>
            <a:xfrm>
              <a:off x="8559799" y="2806702"/>
              <a:ext cx="3073401" cy="1587499"/>
            </a:xfrm>
            <a:prstGeom prst="roundRect">
              <a:avLst>
                <a:gd name="adj" fmla="val 8800"/>
              </a:avLst>
            </a:prstGeom>
            <a:solidFill>
              <a:srgbClr val="DDF3ED"/>
            </a:solidFill>
            <a:ln>
              <a:noFill/>
            </a:ln>
          </p:spPr>
        </p:sp>
        <p:sp>
          <p:nvSpPr>
            <p:cNvPr id="1038" name="29 · strong: Randomized pilot [p29-text-0023]" descr="Native editable Unicode text; authored line breaks retained."/>
            <p:cNvSpPr txBox="1"/>
            <p:nvPr/>
          </p:nvSpPr>
          <p:spPr>
            <a:xfrm>
              <a:off x="8724899" y="3009216"/>
              <a:ext cx="2755901" cy="31569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85"/>
                </a:lnSpc>
                <a:spcBef>
                  <a:spcPts val="0"/>
                </a:spcBef>
                <a:spcAft>
                  <a:spcPts val="0"/>
                </a:spcAft>
                <a:buNone/>
              </a:pPr>
              <a:r>
                <a:rPr lang="en-US" sz="1900" b="1" i="0" kern="0" spc="0" dirty="0">
                  <a:solidFill>
                    <a:srgbClr val="032D60"/>
                  </a:solidFill>
                  <a:latin typeface="Salesforce Sans"/>
                  <a:ea typeface="Salesforce Sans"/>
                  <a:cs typeface="Salesforce Sans"/>
                </a:rPr>
                <a:t>Randomized pilot</a:t>
              </a:r>
              <a:endParaRPr lang="en-US" sz="1900" b="1" i="0" kern="0" spc="0" dirty="0">
                <a:solidFill>
                  <a:srgbClr val="032D60"/>
                </a:solidFill>
                <a:latin typeface="Salesforce Sans"/>
                <a:ea typeface="Salesforce Sans"/>
                <a:cs typeface="Salesforce Sans"/>
              </a:endParaRPr>
            </a:p>
          </p:txBody>
        </p:sp>
        <p:sp>
          <p:nvSpPr>
            <p:cNvPr id="1039" name="29 · small: Compare complete cases. Quality, cost, and latency. Keep assignment consistent [p29-text-0024]" descr="Native editable Unicode text; authored line breaks retained."/>
            <p:cNvSpPr txBox="1"/>
            <p:nvPr/>
          </p:nvSpPr>
          <p:spPr>
            <a:xfrm>
              <a:off x="8724899" y="3410714"/>
              <a:ext cx="2755901" cy="7778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Compare complete cases.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Quality, cost, and latency.</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Keep assignment consistent.</a:t>
              </a:r>
              <a:endParaRPr lang="en-US" sz="1500" b="0" i="0" kern="0" spc="0" dirty="0">
                <a:solidFill>
                  <a:srgbClr val="032D60"/>
                </a:solidFill>
                <a:latin typeface="Salesforce Sans"/>
                <a:ea typeface="Salesforce Sans"/>
                <a:cs typeface="Salesforce Sans"/>
              </a:endParaRPr>
            </a:p>
          </p:txBody>
        </p:sp>
      </p:grpSp>
      <p:grpSp>
        <p:nvGrpSpPr>
          <p:cNvPr id="1058" name="29 · node mint: Broader rollout"/>
          <p:cNvGrpSpPr/>
          <p:nvPr/>
        </p:nvGrpSpPr>
        <p:grpSpPr>
          <a:xfrm>
            <a:off x="8559799" y="4775199"/>
            <a:ext cx="3073401" cy="1174750"/>
            <a:chOff x="8559799" y="4775199"/>
            <a:chExt cx="3073401" cy="1174750"/>
          </a:xfrm>
        </p:grpSpPr>
        <p:sp>
          <p:nvSpPr>
            <p:cNvPr id="1040" name="29 · node mint · surface [p29-e0029]"/>
            <p:cNvSpPr/>
            <p:nvPr/>
          </p:nvSpPr>
          <p:spPr>
            <a:xfrm>
              <a:off x="8559799" y="4775199"/>
              <a:ext cx="3073401" cy="1174750"/>
            </a:xfrm>
            <a:prstGeom prst="roundRect">
              <a:avLst>
                <a:gd name="adj" fmla="val 11892"/>
              </a:avLst>
            </a:prstGeom>
            <a:solidFill>
              <a:srgbClr val="DDF3ED"/>
            </a:solidFill>
            <a:ln>
              <a:noFill/>
            </a:ln>
          </p:spPr>
        </p:sp>
        <p:sp>
          <p:nvSpPr>
            <p:cNvPr id="1041" name="29 · strong: Broader rollout [p29-text-0025]" descr="Native editable Unicode text; authored line breaks retained."/>
            <p:cNvSpPr txBox="1"/>
            <p:nvPr/>
          </p:nvSpPr>
          <p:spPr>
            <a:xfrm>
              <a:off x="8724899" y="4908066"/>
              <a:ext cx="2755901" cy="2994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Broader rollout</a:t>
              </a:r>
              <a:endParaRPr lang="en-US" sz="1800" b="1" i="0" kern="0" spc="0" dirty="0">
                <a:solidFill>
                  <a:srgbClr val="032D60"/>
                </a:solidFill>
                <a:latin typeface="Salesforce Sans"/>
                <a:ea typeface="Salesforce Sans"/>
                <a:cs typeface="Salesforce Sans"/>
              </a:endParaRPr>
            </a:p>
          </p:txBody>
        </p:sp>
        <p:sp>
          <p:nvSpPr>
            <p:cNvPr id="1042" name="29 · small: Only if pilot gates pass. Track unfinished work. [p29-text-0026]" descr="Native editable Unicode text; authored line breaks retained."/>
            <p:cNvSpPr txBox="1"/>
            <p:nvPr/>
          </p:nvSpPr>
          <p:spPr>
            <a:xfrm>
              <a:off x="8724899" y="5294121"/>
              <a:ext cx="2755901"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Only if pilot gates pass.</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Track unfinished work.</a:t>
              </a:r>
              <a:endParaRPr lang="en-US" sz="1500" b="0" i="0" kern="0" spc="0" dirty="0">
                <a:solidFill>
                  <a:srgbClr val="032D60"/>
                </a:solidFill>
                <a:latin typeface="Salesforce Sans"/>
                <a:ea typeface="Salesforce Sans"/>
                <a:cs typeface="Salesforce Sans"/>
              </a:endParaRPr>
            </a:p>
          </p:txBody>
        </p:sp>
      </p:grpSp>
      <p:sp>
        <p:nvSpPr>
          <p:cNvPr id="1043" name="29 · node label: Feedback [p29-text-0027]" descr="Native editable Unicode text; authored line breaks retained."/>
          <p:cNvSpPr txBox="1"/>
          <p:nvPr/>
        </p:nvSpPr>
        <p:spPr>
          <a:xfrm>
            <a:off x="7753350" y="4932893"/>
            <a:ext cx="806447" cy="22098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Salesforce Sans"/>
                <a:ea typeface="Salesforce Sans"/>
                <a:cs typeface="Salesforce Sans"/>
              </a:rPr>
              <a:t>Feedback</a:t>
            </a:r>
            <a:endParaRPr lang="en-US" sz="1300" b="0" i="0" kern="0" spc="0" dirty="0">
              <a:solidFill>
                <a:srgbClr val="032D60"/>
              </a:solidFill>
              <a:latin typeface="Salesforce Sans"/>
              <a:ea typeface="Salesforce Sans"/>
              <a:cs typeface="Salesforce Sans"/>
            </a:endParaRPr>
          </a:p>
        </p:txBody>
      </p:sp>
      <p:grpSp>
        <p:nvGrpSpPr>
          <p:cNvPr id="1059" name="29 · node peach: Next dataset"/>
          <p:cNvGrpSpPr/>
          <p:nvPr/>
        </p:nvGrpSpPr>
        <p:grpSpPr>
          <a:xfrm>
            <a:off x="4464054" y="4775199"/>
            <a:ext cx="3174997" cy="1174750"/>
            <a:chOff x="4464054" y="4775199"/>
            <a:chExt cx="3174997" cy="1174750"/>
          </a:xfrm>
        </p:grpSpPr>
        <p:sp>
          <p:nvSpPr>
            <p:cNvPr id="1044" name="29 · node peach · surface [p29-e0034]"/>
            <p:cNvSpPr/>
            <p:nvPr/>
          </p:nvSpPr>
          <p:spPr>
            <a:xfrm>
              <a:off x="4464054" y="4775199"/>
              <a:ext cx="3174997" cy="1174750"/>
            </a:xfrm>
            <a:prstGeom prst="roundRect">
              <a:avLst>
                <a:gd name="adj" fmla="val 11892"/>
              </a:avLst>
            </a:prstGeom>
            <a:solidFill>
              <a:srgbClr val="FBE5DF"/>
            </a:solidFill>
            <a:ln>
              <a:noFill/>
            </a:ln>
          </p:spPr>
        </p:sp>
        <p:sp>
          <p:nvSpPr>
            <p:cNvPr id="1045" name="29 · strong: Next dataset [p29-text-0028]" descr="Native editable Unicode text; authored line breaks retained."/>
            <p:cNvSpPr txBox="1"/>
            <p:nvPr/>
          </p:nvSpPr>
          <p:spPr>
            <a:xfrm>
              <a:off x="4629154" y="4908066"/>
              <a:ext cx="2857497" cy="29941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Next dataset</a:t>
              </a:r>
              <a:endParaRPr lang="en-US" sz="1800" b="1" i="0" kern="0" spc="0" dirty="0">
                <a:solidFill>
                  <a:srgbClr val="032D60"/>
                </a:solidFill>
                <a:latin typeface="Salesforce Sans"/>
                <a:ea typeface="Salesforce Sans"/>
                <a:cs typeface="Salesforce Sans"/>
              </a:endParaRPr>
            </a:p>
          </p:txBody>
        </p:sp>
        <p:sp>
          <p:nvSpPr>
            <p:cNvPr id="1046" name="29 · small: Reviewed feedback only. Fresh tests for new claims. [p29-text-0029]" descr="Native editable Unicode text; authored line breaks retained."/>
            <p:cNvSpPr txBox="1"/>
            <p:nvPr/>
          </p:nvSpPr>
          <p:spPr>
            <a:xfrm>
              <a:off x="4629154" y="5294121"/>
              <a:ext cx="2857497" cy="52070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Reviewed feedback only.</a:t>
              </a:r>
              <a:endParaRPr lang="en-US" sz="1500" b="0" i="0" kern="0" spc="0" dirty="0">
                <a:solidFill>
                  <a:srgbClr val="032D60"/>
                </a:solidFill>
                <a:latin typeface="Salesforce Sans"/>
                <a:ea typeface="Salesforce Sans"/>
                <a:cs typeface="Salesforce Sans"/>
              </a:endParaRPr>
            </a:p>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Fresh tests for new claims.</a:t>
              </a:r>
              <a:endParaRPr lang="en-US" sz="1500" b="0" i="0" kern="0" spc="0" dirty="0">
                <a:solidFill>
                  <a:srgbClr val="032D60"/>
                </a:solidFill>
                <a:latin typeface="Salesforce Sans"/>
                <a:ea typeface="Salesforce Sans"/>
                <a:cs typeface="Salesforce Sans"/>
              </a:endParaRPr>
            </a:p>
          </p:txBody>
        </p:sp>
      </p:grpSp>
      <p:grpSp>
        <p:nvGrpSpPr>
          <p:cNvPr id="1060" name="29 · node label: A revision starts a new candidate."/>
          <p:cNvGrpSpPr/>
          <p:nvPr/>
        </p:nvGrpSpPr>
        <p:grpSpPr>
          <a:xfrm>
            <a:off x="558800" y="4959183"/>
            <a:ext cx="3441700" cy="912471"/>
            <a:chOff x="558800" y="4959183"/>
            <a:chExt cx="3441700" cy="912471"/>
          </a:xfrm>
        </p:grpSpPr>
        <p:sp>
          <p:nvSpPr>
            <p:cNvPr id="1047" name="29 · strong: A revision starts a new candidate. [p29-text-0030]" descr="Native editable Unicode text; authored line breaks retained."/>
            <p:cNvSpPr txBox="1"/>
            <p:nvPr/>
          </p:nvSpPr>
          <p:spPr>
            <a:xfrm>
              <a:off x="558800" y="4959183"/>
              <a:ext cx="3441700" cy="562307"/>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A revision starts</a:t>
              </a:r>
              <a:endParaRPr lang="en-US" sz="1800" b="1" i="0" kern="0" spc="0" dirty="0">
                <a:solidFill>
                  <a:srgbClr val="032D60"/>
                </a:solidFill>
                <a:latin typeface="Salesforce Sans"/>
                <a:ea typeface="Salesforce Sans"/>
                <a:cs typeface="Salesforce Sans"/>
              </a:endParaRPr>
            </a:p>
            <a:p>
              <a:pPr marL="0" marR="0" indent="0" algn="l" fontAlgn="base">
                <a:lnSpc>
                  <a:spcPts val="2070"/>
                </a:lnSpc>
                <a:spcBef>
                  <a:spcPts val="0"/>
                </a:spcBef>
                <a:spcAft>
                  <a:spcPts val="0"/>
                </a:spcAft>
                <a:buNone/>
              </a:pPr>
              <a:r>
                <a:rPr lang="en-US" sz="1800" b="1" i="0" kern="0" spc="0" dirty="0">
                  <a:solidFill>
                    <a:srgbClr val="032D60"/>
                  </a:solidFill>
                  <a:latin typeface="Salesforce Sans"/>
                  <a:ea typeface="Salesforce Sans"/>
                  <a:cs typeface="Salesforce Sans"/>
                </a:rPr>
                <a:t>a new candidate.</a:t>
              </a:r>
              <a:endParaRPr lang="en-US" sz="1800" b="1" i="0" kern="0" spc="0" dirty="0">
                <a:solidFill>
                  <a:srgbClr val="032D60"/>
                </a:solidFill>
                <a:latin typeface="Salesforce Sans"/>
                <a:ea typeface="Salesforce Sans"/>
                <a:cs typeface="Salesforce Sans"/>
              </a:endParaRPr>
            </a:p>
          </p:txBody>
        </p:sp>
        <p:sp>
          <p:nvSpPr>
            <p:cNvPr id="1048" name="29 · small: Retest before a new claim. [p29-text-0031]" descr="Native editable Unicode text; authored line breaks retained."/>
            <p:cNvSpPr txBox="1"/>
            <p:nvPr/>
          </p:nvSpPr>
          <p:spPr>
            <a:xfrm>
              <a:off x="558800" y="5608129"/>
              <a:ext cx="3441700" cy="2635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025"/>
                </a:lnSpc>
                <a:spcBef>
                  <a:spcPts val="0"/>
                </a:spcBef>
                <a:spcAft>
                  <a:spcPts val="0"/>
                </a:spcAft>
                <a:buNone/>
              </a:pPr>
              <a:r>
                <a:rPr lang="en-US" sz="1500" b="0" i="0" kern="0" spc="0" dirty="0">
                  <a:solidFill>
                    <a:srgbClr val="032D60"/>
                  </a:solidFill>
                  <a:latin typeface="Salesforce Sans"/>
                  <a:ea typeface="Salesforce Sans"/>
                  <a:cs typeface="Salesforce Sans"/>
                </a:rPr>
                <a:t>Retest before a new claim.</a:t>
              </a:r>
              <a:endParaRPr lang="en-US" sz="1500" b="0" i="0" kern="0" spc="0" dirty="0">
                <a:solidFill>
                  <a:srgbClr val="032D60"/>
                </a:solidFill>
                <a:latin typeface="Salesforce Sans"/>
                <a:ea typeface="Salesforce Sans"/>
                <a:cs typeface="Salesforce Sans"/>
              </a:endParaRPr>
            </a:p>
          </p:txBody>
        </p:sp>
      </p:grpSp>
      <p:grpSp>
        <p:nvGrpSpPr>
          <p:cNvPr id="1061" name="29 · source-line: Tutorial evaluation protocol"/>
          <p:cNvGrpSpPr/>
          <p:nvPr/>
        </p:nvGrpSpPr>
        <p:grpSpPr>
          <a:xfrm>
            <a:off x="558800" y="6037898"/>
            <a:ext cx="11087100" cy="284456"/>
            <a:chOff x="558800" y="6037898"/>
            <a:chExt cx="11087100" cy="284456"/>
          </a:xfrm>
        </p:grpSpPr>
        <p:sp>
          <p:nvSpPr>
            <p:cNvPr id="1049" name="29 · source-line · top border [p29-e0041]"/>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50" name="29 · span: Tutorial evaluation protocol [p29-text-0032]"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51" name="29 · span: Proposed qualification gates; no measured deployment result [p29-text-0033]" descr="Native editable Unicode text; authored line breaks retained."/>
            <p:cNvSpPr txBox="1"/>
            <p:nvPr/>
          </p:nvSpPr>
          <p:spPr>
            <a:xfrm>
              <a:off x="8191605" y="6153126"/>
              <a:ext cx="3454295"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qualification gates; no measured deployment result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name="Choose the split that matches the claim">
    <p:bg>
      <p:bgPr>
        <a:solidFill>
          <a:srgbClr val="FFFFFF"/>
        </a:solidFill>
      </p:bgPr>
    </p:bg>
    <p:spTree>
      <p:nvGrpSpPr>
        <p:cNvPr id="1" name=""/>
        <p:cNvGrpSpPr/>
        <p:nvPr/>
      </p:nvGrpSpPr>
      <p:grpSpPr>
        <a:xfrm>
          <a:off x="0" y="0"/>
          <a:ext cx="0" cy="0"/>
          <a:chOff x="0" y="0"/>
          <a:chExt cx="0" cy="0"/>
        </a:xfrm>
      </p:grpSpPr>
      <p:sp>
        <p:nvSpPr>
          <p:cNvPr id="1000" name="30 · slide hero light · surface [p30-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8" name="30 · chrome-min: DISAGGREGATED INTELLIGENCE"/>
          <p:cNvGrpSpPr/>
          <p:nvPr/>
        </p:nvGrpSpPr>
        <p:grpSpPr>
          <a:xfrm>
            <a:off x="558800" y="356053"/>
            <a:ext cx="11087100" cy="187325"/>
            <a:chOff x="558800" y="356053"/>
            <a:chExt cx="11087100" cy="187325"/>
          </a:xfrm>
        </p:grpSpPr>
        <p:sp>
          <p:nvSpPr>
            <p:cNvPr id="1001" name="30 · l: DISAGGREGATED INTELLIGENCE [p30-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0 · r: 30 / 36 [p30-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30 / 36</a:t>
              </a:r>
              <a:endParaRPr lang="en-US" sz="950" b="1" i="0" kern="0" spc="65" dirty="0">
                <a:solidFill>
                  <a:srgbClr val="022AC0"/>
                </a:solidFill>
                <a:latin typeface="Salesforce Sans"/>
                <a:ea typeface="Salesforce Sans"/>
                <a:cs typeface="Salesforce Sans"/>
              </a:endParaRPr>
            </a:p>
          </p:txBody>
        </p:sp>
      </p:grpSp>
      <p:grpSp>
        <p:nvGrpSpPr>
          <p:cNvPr id="1029" name="30 · deck-head: 08 / GENERALIZATION"/>
          <p:cNvGrpSpPr/>
          <p:nvPr/>
        </p:nvGrpSpPr>
        <p:grpSpPr>
          <a:xfrm>
            <a:off x="558800" y="775901"/>
            <a:ext cx="11087100" cy="871263"/>
            <a:chOff x="558800" y="775901"/>
            <a:chExt cx="11087100" cy="871263"/>
          </a:xfrm>
        </p:grpSpPr>
        <p:sp>
          <p:nvSpPr>
            <p:cNvPr id="1003" name="30 · splits-eyebrow: 08 / GENERALIZATION [p30-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08 / GENERALIZATION</a:t>
              </a:r>
              <a:endParaRPr lang="en-US" sz="1050" b="1" i="0" kern="0" spc="68" dirty="0">
                <a:solidFill>
                  <a:srgbClr val="022AC0"/>
                </a:solidFill>
                <a:latin typeface="Salesforce Sans"/>
                <a:ea typeface="Salesforce Sans"/>
                <a:cs typeface="Salesforce Sans"/>
              </a:endParaRPr>
            </a:p>
          </p:txBody>
        </p:sp>
        <p:sp>
          <p:nvSpPr>
            <p:cNvPr id="1004" name="30 · splits-title: Choose the split that matches the claim [p30-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Choose the split that matches the claim</a:t>
              </a:r>
              <a:endParaRPr lang="en-US" sz="3600" b="1" i="0" kern="0" spc="-95" dirty="0">
                <a:solidFill>
                  <a:srgbClr val="022AC0"/>
                </a:solidFill>
                <a:latin typeface="Manrope"/>
                <a:ea typeface="Manrope"/>
                <a:cs typeface="Manrope"/>
              </a:endParaRPr>
            </a:p>
          </p:txBody>
        </p:sp>
      </p:grpSp>
      <p:grpSp>
        <p:nvGrpSpPr>
          <p:cNvPr id="1030" name="30 · card mint: "/>
          <p:cNvGrpSpPr/>
          <p:nvPr/>
        </p:nvGrpSpPr>
        <p:grpSpPr>
          <a:xfrm>
            <a:off x="558800" y="1930400"/>
            <a:ext cx="5232400" cy="2536952"/>
            <a:chOff x="558800" y="1930400"/>
            <a:chExt cx="5232400" cy="2536952"/>
          </a:xfrm>
        </p:grpSpPr>
        <p:sp>
          <p:nvSpPr>
            <p:cNvPr id="1005" name="30 · card mint · surface [p30-e0008]"/>
            <p:cNvSpPr/>
            <p:nvPr/>
          </p:nvSpPr>
          <p:spPr>
            <a:xfrm>
              <a:off x="558800" y="1930400"/>
              <a:ext cx="5232400" cy="2536952"/>
            </a:xfrm>
            <a:prstGeom prst="roundRect">
              <a:avLst>
                <a:gd name="adj" fmla="val 5507"/>
              </a:avLst>
            </a:prstGeom>
            <a:solidFill>
              <a:srgbClr val="DDF3ED"/>
            </a:solidFill>
            <a:ln>
              <a:noFill/>
            </a:ln>
          </p:spPr>
        </p:sp>
        <p:sp>
          <p:nvSpPr>
            <p:cNvPr id="1006" name="30 · card mint · outline [p30-e0008]"/>
            <p:cNvSpPr/>
            <p:nvPr/>
          </p:nvSpPr>
          <p:spPr>
            <a:xfrm>
              <a:off x="561975" y="1933575"/>
              <a:ext cx="5226050" cy="2530602"/>
            </a:xfrm>
            <a:prstGeom prst="roundRect">
              <a:avLst>
                <a:gd name="adj" fmla="val 5395"/>
              </a:avLst>
            </a:prstGeom>
            <a:noFill/>
            <a:ln w="6350" algn="ctr">
              <a:solidFill>
                <a:srgbClr val="FFFFFF">
                  <a:alpha val="85098"/>
                </a:srgbClr>
              </a:solidFill>
              <a:prstDash val="solid"/>
            </a:ln>
          </p:spPr>
        </p:sp>
      </p:grpSp>
      <p:sp>
        <p:nvSpPr>
          <p:cNvPr id="1007" name="30 · pill · surface [p30-e0009]"/>
          <p:cNvSpPr/>
          <p:nvPr/>
        </p:nvSpPr>
        <p:spPr>
          <a:xfrm>
            <a:off x="825500" y="3082925"/>
            <a:ext cx="704850" cy="358775"/>
          </a:xfrm>
          <a:prstGeom prst="roundRect">
            <a:avLst>
              <a:gd name="adj" fmla="val 35398"/>
            </a:avLst>
          </a:prstGeom>
          <a:solidFill>
            <a:srgbClr val="EAE6FA"/>
          </a:solidFill>
          <a:ln>
            <a:noFill/>
          </a:ln>
        </p:spPr>
      </p:sp>
      <p:sp>
        <p:nvSpPr>
          <p:cNvPr id="1008" name="30 · pill · surface [p30-e0010]"/>
          <p:cNvSpPr/>
          <p:nvPr/>
        </p:nvSpPr>
        <p:spPr>
          <a:xfrm>
            <a:off x="1746250" y="3082925"/>
            <a:ext cx="514350" cy="358775"/>
          </a:xfrm>
          <a:prstGeom prst="roundRect">
            <a:avLst>
              <a:gd name="adj" fmla="val 35398"/>
            </a:avLst>
          </a:prstGeom>
          <a:solidFill>
            <a:srgbClr val="EAE6FA"/>
          </a:solidFill>
          <a:ln>
            <a:noFill/>
          </a:ln>
        </p:spPr>
      </p:sp>
      <p:sp>
        <p:nvSpPr>
          <p:cNvPr id="1009" name="30 · pill · surface [p30-e0011]"/>
          <p:cNvSpPr/>
          <p:nvPr/>
        </p:nvSpPr>
        <p:spPr>
          <a:xfrm>
            <a:off x="2476500" y="3082925"/>
            <a:ext cx="704850" cy="358775"/>
          </a:xfrm>
          <a:prstGeom prst="roundRect">
            <a:avLst>
              <a:gd name="adj" fmla="val 35398"/>
            </a:avLst>
          </a:prstGeom>
          <a:solidFill>
            <a:srgbClr val="EAE6FA"/>
          </a:solidFill>
          <a:ln>
            <a:noFill/>
          </a:ln>
        </p:spPr>
      </p:sp>
      <p:grpSp>
        <p:nvGrpSpPr>
          <p:cNvPr id="1031" name="30 · card blue: "/>
          <p:cNvGrpSpPr/>
          <p:nvPr/>
        </p:nvGrpSpPr>
        <p:grpSpPr>
          <a:xfrm>
            <a:off x="6426200" y="1930400"/>
            <a:ext cx="5105400" cy="2578227"/>
            <a:chOff x="6426200" y="1930400"/>
            <a:chExt cx="5105400" cy="2578227"/>
          </a:xfrm>
        </p:grpSpPr>
        <p:sp>
          <p:nvSpPr>
            <p:cNvPr id="1010" name="30 · card blue · surface [p30-e0012]"/>
            <p:cNvSpPr/>
            <p:nvPr/>
          </p:nvSpPr>
          <p:spPr>
            <a:xfrm>
              <a:off x="6426200" y="1930400"/>
              <a:ext cx="5105400" cy="2578227"/>
            </a:xfrm>
            <a:prstGeom prst="roundRect">
              <a:avLst>
                <a:gd name="adj" fmla="val 5418"/>
              </a:avLst>
            </a:prstGeom>
            <a:solidFill>
              <a:srgbClr val="DCEEFE"/>
            </a:solidFill>
            <a:ln>
              <a:noFill/>
            </a:ln>
          </p:spPr>
        </p:sp>
        <p:sp>
          <p:nvSpPr>
            <p:cNvPr id="1011" name="30 · card blue · outline [p30-e0012]"/>
            <p:cNvSpPr/>
            <p:nvPr/>
          </p:nvSpPr>
          <p:spPr>
            <a:xfrm>
              <a:off x="6429375" y="1933575"/>
              <a:ext cx="5099050" cy="2571877"/>
            </a:xfrm>
            <a:prstGeom prst="roundRect">
              <a:avLst>
                <a:gd name="adj" fmla="val 5308"/>
              </a:avLst>
            </a:prstGeom>
            <a:noFill/>
            <a:ln w="6350" algn="ctr">
              <a:solidFill>
                <a:srgbClr val="FFFFFF">
                  <a:alpha val="85098"/>
                </a:srgbClr>
              </a:solidFill>
              <a:prstDash val="solid"/>
            </a:ln>
          </p:spPr>
        </p:sp>
        <p:sp>
          <p:nvSpPr>
            <p:cNvPr id="1012" name="30 · span · left border [p30-e0013]"/>
            <p:cNvSpPr/>
            <p:nvPr/>
          </p:nvSpPr>
          <p:spPr>
            <a:xfrm>
              <a:off x="8101298" y="3076575"/>
              <a:ext cx="6" cy="412750"/>
            </a:xfrm>
            <a:custGeom>
              <a:avLst/>
              <a:gdLst/>
              <a:ahLst/>
              <a:cxnLst/>
              <a:rect l="0" t="0" r="r" b="b"/>
              <a:pathLst>
                <a:path w="6" h="412750" fill="none" stroke="1">
                  <a:moveTo>
                    <a:pt x="0" y="0"/>
                  </a:moveTo>
                  <a:lnTo>
                    <a:pt x="0" y="412750"/>
                  </a:lnTo>
                </a:path>
              </a:pathLst>
            </a:custGeom>
            <a:noFill/>
            <a:ln w="25400" cap="flat">
              <a:solidFill>
                <a:srgbClr val="032D60"/>
              </a:solidFill>
              <a:prstDash val="solid"/>
            </a:ln>
          </p:spPr>
        </p:sp>
      </p:grpSp>
      <p:sp>
        <p:nvSpPr>
          <p:cNvPr id="1013" name="30 · splits-text-1: Keep account families intact. [p30-text-0015]"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Keep account families intact.</a:t>
            </a:r>
            <a:endParaRPr lang="en-US" sz="2000" b="1" i="0" kern="0" spc="-38" dirty="0">
              <a:solidFill>
                <a:srgbClr val="022AC0"/>
              </a:solidFill>
              <a:latin typeface="Manrope"/>
              <a:ea typeface="Manrope"/>
              <a:cs typeface="Manrope"/>
            </a:endParaRPr>
          </a:p>
        </p:txBody>
      </p:sp>
      <p:sp>
        <p:nvSpPr>
          <p:cNvPr id="1014" name="30 · pill: A A A [p30-text-0016]" descr="Native editable Unicode text; authored line breaks retained."/>
          <p:cNvSpPr txBox="1"/>
          <p:nvPr/>
        </p:nvSpPr>
        <p:spPr>
          <a:xfrm>
            <a:off x="939800" y="3159125"/>
            <a:ext cx="4889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A A A</a:t>
            </a:r>
            <a:endParaRPr lang="en-US" sz="1250" b="0" i="0" kern="0" spc="0" dirty="0">
              <a:solidFill>
                <a:srgbClr val="032D60"/>
              </a:solidFill>
              <a:latin typeface="IBM Plex Mono"/>
              <a:ea typeface="IBM Plex Mono"/>
              <a:cs typeface="IBM Plex Mono"/>
            </a:endParaRPr>
          </a:p>
        </p:txBody>
      </p:sp>
      <p:sp>
        <p:nvSpPr>
          <p:cNvPr id="1015" name="30 · pill: B B [p30-text-0017]" descr="Native editable Unicode text; authored line breaks retained."/>
          <p:cNvSpPr txBox="1"/>
          <p:nvPr/>
        </p:nvSpPr>
        <p:spPr>
          <a:xfrm>
            <a:off x="1860550" y="3159125"/>
            <a:ext cx="2984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B B</a:t>
            </a:r>
            <a:endParaRPr lang="en-US" sz="1250" b="0" i="0" kern="0" spc="0" dirty="0">
              <a:solidFill>
                <a:srgbClr val="032D60"/>
              </a:solidFill>
              <a:latin typeface="IBM Plex Mono"/>
              <a:ea typeface="IBM Plex Mono"/>
              <a:cs typeface="IBM Plex Mono"/>
            </a:endParaRPr>
          </a:p>
        </p:txBody>
      </p:sp>
      <p:sp>
        <p:nvSpPr>
          <p:cNvPr id="1016" name="30 · pill: C C C [p30-text-0018]" descr="Native editable Unicode text; authored line breaks retained."/>
          <p:cNvSpPr txBox="1"/>
          <p:nvPr/>
        </p:nvSpPr>
        <p:spPr>
          <a:xfrm>
            <a:off x="2590800" y="3159125"/>
            <a:ext cx="488950" cy="212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25"/>
              </a:lnSpc>
              <a:spcBef>
                <a:spcPts val="0"/>
              </a:spcBef>
              <a:spcAft>
                <a:spcPts val="0"/>
              </a:spcAft>
              <a:buNone/>
            </a:pPr>
            <a:r>
              <a:rPr lang="en-US" sz="1250" b="0" i="0" kern="0" spc="0" dirty="0">
                <a:solidFill>
                  <a:srgbClr val="032D60"/>
                </a:solidFill>
                <a:latin typeface="IBM Plex Mono"/>
                <a:ea typeface="IBM Plex Mono"/>
                <a:cs typeface="IBM Plex Mono"/>
              </a:rPr>
              <a:t>C C C</a:t>
            </a:r>
            <a:endParaRPr lang="en-US" sz="1250" b="0" i="0" kern="0" spc="0" dirty="0">
              <a:solidFill>
                <a:srgbClr val="032D60"/>
              </a:solidFill>
              <a:latin typeface="IBM Plex Mono"/>
              <a:ea typeface="IBM Plex Mono"/>
              <a:cs typeface="IBM Plex Mono"/>
            </a:endParaRPr>
          </a:p>
        </p:txBody>
      </p:sp>
      <p:sp>
        <p:nvSpPr>
          <p:cNvPr id="1017" name="30 · splits-text-2: Related cases and variants stay in one partition. [p30-text-0019]" descr="Native editable Unicode text; authored line breaks retained."/>
          <p:cNvSpPr txBox="1"/>
          <p:nvPr/>
        </p:nvSpPr>
        <p:spPr>
          <a:xfrm>
            <a:off x="781050" y="3727017"/>
            <a:ext cx="4800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Related cases and variants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stay in one partition.</a:t>
            </a:r>
            <a:endParaRPr lang="en-US" sz="1400" b="0" i="0" kern="0" spc="0" dirty="0">
              <a:solidFill>
                <a:srgbClr val="032D60"/>
              </a:solidFill>
              <a:latin typeface="Salesforce Sans"/>
              <a:ea typeface="Salesforce Sans"/>
              <a:cs typeface="Salesforce Sans"/>
            </a:endParaRPr>
          </a:p>
        </p:txBody>
      </p:sp>
      <p:grpSp>
        <p:nvGrpSpPr>
          <p:cNvPr id="1032" name="30 · card blue: Reserve a later-time cohort."/>
          <p:cNvGrpSpPr/>
          <p:nvPr/>
        </p:nvGrpSpPr>
        <p:grpSpPr>
          <a:xfrm>
            <a:off x="6648450" y="2486534"/>
            <a:ext cx="4673600" cy="1793060"/>
            <a:chOff x="6648450" y="2486534"/>
            <a:chExt cx="4673600" cy="1793060"/>
          </a:xfrm>
        </p:grpSpPr>
        <p:sp>
          <p:nvSpPr>
            <p:cNvPr id="1018" name="30 · splits-text-3: Reserve a later-time cohort. [p30-text-0020]"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Reserve a later-time cohort.</a:t>
              </a:r>
              <a:endParaRPr lang="en-US" sz="2000" b="1" i="0" kern="0" spc="-38" dirty="0">
                <a:solidFill>
                  <a:srgbClr val="022AC0"/>
                </a:solidFill>
                <a:latin typeface="Manrope"/>
                <a:ea typeface="Manrope"/>
                <a:cs typeface="Manrope"/>
              </a:endParaRPr>
            </a:p>
          </p:txBody>
        </p:sp>
        <p:sp>
          <p:nvSpPr>
            <p:cNvPr id="1019" name="30 · div: Earlier cases [p30-text-0021]" descr="Native editable Unicode text; authored line breaks retained."/>
            <p:cNvSpPr txBox="1"/>
            <p:nvPr/>
          </p:nvSpPr>
          <p:spPr>
            <a:xfrm>
              <a:off x="6648450" y="3175633"/>
              <a:ext cx="1300448" cy="22098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IBM Plex Mono"/>
                  <a:ea typeface="IBM Plex Mono"/>
                  <a:cs typeface="IBM Plex Mono"/>
                </a:rPr>
                <a:t>Earlier cases</a:t>
              </a:r>
              <a:endParaRPr lang="en-US" sz="1300" b="0" i="0" kern="0" spc="0" dirty="0">
                <a:solidFill>
                  <a:srgbClr val="032D60"/>
                </a:solidFill>
                <a:latin typeface="IBM Plex Mono"/>
                <a:ea typeface="IBM Plex Mono"/>
                <a:cs typeface="IBM Plex Mono"/>
              </a:endParaRPr>
            </a:p>
          </p:txBody>
        </p:sp>
        <p:sp>
          <p:nvSpPr>
            <p:cNvPr id="1020" name="30 · span · left border [p30-e0022]"/>
            <p:cNvSpPr/>
            <p:nvPr/>
          </p:nvSpPr>
          <p:spPr>
            <a:xfrm>
              <a:off x="8279098" y="3101342"/>
              <a:ext cx="6" cy="165100"/>
            </a:xfrm>
            <a:custGeom>
              <a:avLst/>
              <a:gdLst/>
              <a:ahLst/>
              <a:cxnLst/>
              <a:rect l="0" t="0" r="r" b="b"/>
              <a:pathLst>
                <a:path w="6" h="165100" fill="none" stroke="1">
                  <a:moveTo>
                    <a:pt x="0" y="0"/>
                  </a:moveTo>
                  <a:lnTo>
                    <a:pt x="0" y="165100"/>
                  </a:lnTo>
                </a:path>
              </a:pathLst>
            </a:custGeom>
            <a:noFill/>
            <a:ln w="25400" cap="flat">
              <a:solidFill>
                <a:srgbClr val="032D60"/>
              </a:solidFill>
              <a:prstDash val="solid"/>
            </a:ln>
          </p:spPr>
        </p:sp>
        <p:sp>
          <p:nvSpPr>
            <p:cNvPr id="1021" name="30 · div: Later test [p30-text-0022]" descr="Native editable Unicode text; authored line breaks retained."/>
            <p:cNvSpPr txBox="1"/>
            <p:nvPr/>
          </p:nvSpPr>
          <p:spPr>
            <a:xfrm>
              <a:off x="8596598" y="3175633"/>
              <a:ext cx="1003275" cy="22098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90"/>
                </a:lnSpc>
                <a:spcBef>
                  <a:spcPts val="0"/>
                </a:spcBef>
                <a:spcAft>
                  <a:spcPts val="0"/>
                </a:spcAft>
                <a:buNone/>
              </a:pPr>
              <a:r>
                <a:rPr lang="en-US" sz="1300" b="0" i="0" kern="0" spc="0" dirty="0">
                  <a:solidFill>
                    <a:srgbClr val="032D60"/>
                  </a:solidFill>
                  <a:latin typeface="IBM Plex Mono"/>
                  <a:ea typeface="IBM Plex Mono"/>
                  <a:cs typeface="IBM Plex Mono"/>
                </a:rPr>
                <a:t>Later test</a:t>
              </a:r>
              <a:endParaRPr lang="en-US" sz="1300" b="0" i="0" kern="0" spc="0" dirty="0">
                <a:solidFill>
                  <a:srgbClr val="032D60"/>
                </a:solidFill>
                <a:latin typeface="IBM Plex Mono"/>
                <a:ea typeface="IBM Plex Mono"/>
                <a:cs typeface="IBM Plex Mono"/>
              </a:endParaRPr>
            </a:p>
          </p:txBody>
        </p:sp>
        <p:sp>
          <p:nvSpPr>
            <p:cNvPr id="1022" name="30 · splits-text-4: Declare boundary exclusions and duplicate handling. [p30-text-0023]" descr="Native editable Unicode text; authored line breaks retained."/>
            <p:cNvSpPr txBox="1"/>
            <p:nvPr/>
          </p:nvSpPr>
          <p:spPr>
            <a:xfrm>
              <a:off x="6648450" y="3768292"/>
              <a:ext cx="4673600" cy="5113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Declare boundary exclusions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and duplicate handling.</a:t>
              </a:r>
              <a:endParaRPr lang="en-US" sz="1400" b="0" i="0" kern="0" spc="0" dirty="0">
                <a:solidFill>
                  <a:srgbClr val="032D60"/>
                </a:solidFill>
                <a:latin typeface="Salesforce Sans"/>
                <a:ea typeface="Salesforce Sans"/>
                <a:cs typeface="Salesforce Sans"/>
              </a:endParaRPr>
            </a:p>
          </p:txBody>
        </p:sp>
      </p:grpSp>
      <p:sp>
        <p:nvSpPr>
          <p:cNvPr id="1023" name="30 · tag: UNSEEN ACCOUNTS [p30-text-0024]"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UNSEEN ACCOUNTS</a:t>
            </a:r>
            <a:endParaRPr lang="en-US" sz="1050" b="0" i="0" kern="0" spc="50" dirty="0">
              <a:solidFill>
                <a:srgbClr val="022AC0">
                  <a:alpha val="85000"/>
                </a:srgbClr>
              </a:solidFill>
              <a:latin typeface="IBM Plex Mono"/>
              <a:ea typeface="IBM Plex Mono"/>
              <a:cs typeface="IBM Plex Mono"/>
            </a:endParaRPr>
          </a:p>
        </p:txBody>
      </p:sp>
      <p:sp>
        <p:nvSpPr>
          <p:cNvPr id="1024" name="30 · tag: FUTURE TRAFFIC [p30-text-0025]"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FUTURE TRAFFIC</a:t>
            </a:r>
            <a:endParaRPr lang="en-US" sz="1050" b="0" i="0" kern="0" spc="50" dirty="0">
              <a:solidFill>
                <a:srgbClr val="022AC0">
                  <a:alpha val="85000"/>
                </a:srgbClr>
              </a:solidFill>
              <a:latin typeface="IBM Plex Mono"/>
              <a:ea typeface="IBM Plex Mono"/>
              <a:cs typeface="IBM Plex Mono"/>
            </a:endParaRPr>
          </a:p>
        </p:txBody>
      </p:sp>
      <p:grpSp>
        <p:nvGrpSpPr>
          <p:cNvPr id="1033" name="30 · source-line: Tutorial evaluation protocol · Jev-as-a-Judge"/>
          <p:cNvGrpSpPr/>
          <p:nvPr/>
        </p:nvGrpSpPr>
        <p:grpSpPr>
          <a:xfrm>
            <a:off x="558800" y="6037898"/>
            <a:ext cx="11087100" cy="284456"/>
            <a:chOff x="558800" y="6037898"/>
            <a:chExt cx="11087100" cy="284456"/>
          </a:xfrm>
        </p:grpSpPr>
        <p:sp>
          <p:nvSpPr>
            <p:cNvPr id="1025" name="30 · source-line · top border [p30-e0028]"/>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6" name="30 · span: Tutorial evaluation protocol · Jev-as-a-Judge [p30-text-0026]" descr="Native editable Unicode text; authored line breaks retained."/>
            <p:cNvSpPr txBox="1"/>
            <p:nvPr/>
          </p:nvSpPr>
          <p:spPr>
            <a:xfrm>
              <a:off x="558800" y="6153126"/>
              <a:ext cx="243419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3" tooltip="Jev-as-a-Judge"/>
                </a:rPr>
                <a:t>Jev-as-a-Judge</a:t>
              </a:r>
              <a:endParaRPr lang="en-US" sz="950" b="0" i="0" kern="0" spc="0" dirty="0" u="sng">
                <a:solidFill>
                  <a:srgbClr val="315A7A"/>
                </a:solidFill>
                <a:latin typeface="Salesforce Sans"/>
                <a:ea typeface="Salesforce Sans"/>
                <a:cs typeface="Salesforce Sans"/>
              </a:endParaRPr>
            </a:p>
          </p:txBody>
        </p:sp>
        <p:sp>
          <p:nvSpPr>
            <p:cNvPr id="1027" name="30 · span: Evaluation design; no completed experiment [p30-text-0027]" descr="Native editable Unicode text; authored line breaks retained."/>
            <p:cNvSpPr txBox="1"/>
            <p:nvPr/>
          </p:nvSpPr>
          <p:spPr>
            <a:xfrm>
              <a:off x="9124838" y="6153126"/>
              <a:ext cx="2521062"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Evaluation design; no completed experiment</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1.xml><?xml version="1.0" encoding="utf-8"?>
<p:sld xmlns:a="http://schemas.openxmlformats.org/drawingml/2006/main" xmlns:p="http://schemas.openxmlformats.org/presentationml/2006/main">
  <p:cSld name="Lower cost must come with acceptable quality">
    <p:bg>
      <p:bgPr>
        <a:solidFill>
          <a:srgbClr val="FFFFFF"/>
        </a:solidFill>
      </p:bgPr>
    </p:bg>
    <p:spTree>
      <p:nvGrpSpPr>
        <p:cNvPr id="1" name=""/>
        <p:cNvGrpSpPr/>
        <p:nvPr/>
      </p:nvGrpSpPr>
      <p:grpSpPr>
        <a:xfrm>
          <a:off x="0" y="0"/>
          <a:ext cx="0" cy="0"/>
          <a:chOff x="0" y="0"/>
          <a:chExt cx="0" cy="0"/>
        </a:xfrm>
      </p:grpSpPr>
      <p:sp>
        <p:nvSpPr>
          <p:cNvPr id="1000" name="31 · slide dark · surface [p31-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41" name="31 · chrome-min: DISAGGREGATED INTELLIGENCE"/>
          <p:cNvGrpSpPr/>
          <p:nvPr/>
        </p:nvGrpSpPr>
        <p:grpSpPr>
          <a:xfrm>
            <a:off x="558800" y="356053"/>
            <a:ext cx="11087100" cy="187325"/>
            <a:chOff x="558800" y="356053"/>
            <a:chExt cx="11087100" cy="187325"/>
          </a:xfrm>
        </p:grpSpPr>
        <p:sp>
          <p:nvSpPr>
            <p:cNvPr id="1001" name="31 · l: DISAGGREGATED INTELLIGENCE [p31-text-0011]"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1 · r: 31 / 36 [p31-text-0012]"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31 / 36</a:t>
              </a:r>
              <a:endParaRPr lang="en-US" sz="950" b="1" i="0" kern="0" spc="65" dirty="0">
                <a:solidFill>
                  <a:srgbClr val="022AC0"/>
                </a:solidFill>
                <a:latin typeface="Salesforce Sans"/>
                <a:ea typeface="Salesforce Sans"/>
                <a:cs typeface="Salesforce Sans"/>
              </a:endParaRPr>
            </a:p>
          </p:txBody>
        </p:sp>
      </p:grpSp>
      <p:grpSp>
        <p:nvGrpSpPr>
          <p:cNvPr id="1042" name="31 · deck-head: 09 / STEP 8 · EARN ROLLOUT"/>
          <p:cNvGrpSpPr/>
          <p:nvPr/>
        </p:nvGrpSpPr>
        <p:grpSpPr>
          <a:xfrm>
            <a:off x="558800" y="775901"/>
            <a:ext cx="11087100" cy="871263"/>
            <a:chOff x="558800" y="775901"/>
            <a:chExt cx="11087100" cy="871263"/>
          </a:xfrm>
        </p:grpSpPr>
        <p:sp>
          <p:nvSpPr>
            <p:cNvPr id="1003" name="31 · acceptance-eyebrow: 09 / STEP 8 · EARN ROLLOUT [p31-text-0013]"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STEP 8 · EARN ROLLOUT</a:t>
              </a:r>
              <a:endParaRPr lang="en-US" sz="1050" b="1" i="0" kern="0" spc="68" dirty="0">
                <a:solidFill>
                  <a:srgbClr val="022AC0"/>
                </a:solidFill>
                <a:latin typeface="Salesforce Sans"/>
                <a:ea typeface="Salesforce Sans"/>
                <a:cs typeface="Salesforce Sans"/>
              </a:endParaRPr>
            </a:p>
          </p:txBody>
        </p:sp>
        <p:sp>
          <p:nvSpPr>
            <p:cNvPr id="1004" name="31 · acceptance-title: Lower cost must come with acceptable quality [p31-text-0014]"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Lower cost must come with acceptable quality</a:t>
              </a:r>
              <a:endParaRPr lang="en-US" sz="3600" b="1" i="0" kern="0" spc="-95" dirty="0">
                <a:solidFill>
                  <a:srgbClr val="022AC0"/>
                </a:solidFill>
                <a:latin typeface="Manrope"/>
                <a:ea typeface="Manrope"/>
                <a:cs typeface="Manrope"/>
              </a:endParaRPr>
            </a:p>
          </p:txBody>
        </p:sp>
      </p:grpSp>
      <p:sp>
        <p:nvSpPr>
          <p:cNvPr id="1005" name="31 · div · surface [p31-e0008]"/>
          <p:cNvSpPr/>
          <p:nvPr/>
        </p:nvSpPr>
        <p:spPr>
          <a:xfrm>
            <a:off x="558800" y="2197100"/>
            <a:ext cx="5448300" cy="2298700"/>
          </a:xfrm>
          <a:prstGeom prst="rect">
            <a:avLst/>
          </a:prstGeom>
          <a:solidFill>
            <a:srgbClr val="FFFFFF"/>
          </a:solidFill>
          <a:ln>
            <a:noFill/>
          </a:ln>
        </p:spPr>
      </p:sp>
      <p:sp>
        <p:nvSpPr>
          <p:cNvPr id="1006" name="31 · div · surface [p31-e0009]"/>
          <p:cNvSpPr/>
          <p:nvPr/>
        </p:nvSpPr>
        <p:spPr>
          <a:xfrm>
            <a:off x="6184900" y="2197100"/>
            <a:ext cx="5448300" cy="2298700"/>
          </a:xfrm>
          <a:prstGeom prst="rect">
            <a:avLst/>
          </a:prstGeom>
          <a:solidFill>
            <a:srgbClr val="FFFFFF"/>
          </a:solidFill>
          <a:ln>
            <a:noFill/>
          </a:ln>
        </p:spPr>
      </p:sp>
      <p:sp>
        <p:nvSpPr>
          <p:cNvPr id="1007" name="31 · div · surface [p31-e0010]"/>
          <p:cNvSpPr/>
          <p:nvPr/>
        </p:nvSpPr>
        <p:spPr>
          <a:xfrm>
            <a:off x="558800" y="4597400"/>
            <a:ext cx="11074400" cy="596900"/>
          </a:xfrm>
          <a:prstGeom prst="rect">
            <a:avLst/>
          </a:prstGeom>
          <a:solidFill>
            <a:srgbClr val="FBF0CF"/>
          </a:solidFill>
          <a:ln>
            <a:noFill/>
          </a:ln>
        </p:spPr>
      </p:sp>
      <p:sp>
        <p:nvSpPr>
          <p:cNvPr id="1008" name="31 · div · surface [p31-e0011]"/>
          <p:cNvSpPr/>
          <p:nvPr/>
        </p:nvSpPr>
        <p:spPr>
          <a:xfrm>
            <a:off x="558800" y="5295900"/>
            <a:ext cx="5448300" cy="685800"/>
          </a:xfrm>
          <a:prstGeom prst="rect">
            <a:avLst/>
          </a:prstGeom>
          <a:solidFill>
            <a:srgbClr val="FBE5DF"/>
          </a:solidFill>
          <a:ln>
            <a:noFill/>
          </a:ln>
        </p:spPr>
      </p:sp>
      <p:sp>
        <p:nvSpPr>
          <p:cNvPr id="1009" name="31 · div · surface [p31-e0012]"/>
          <p:cNvSpPr/>
          <p:nvPr/>
        </p:nvSpPr>
        <p:spPr>
          <a:xfrm>
            <a:off x="6184900" y="5295900"/>
            <a:ext cx="5448300" cy="685800"/>
          </a:xfrm>
          <a:prstGeom prst="rect">
            <a:avLst/>
          </a:prstGeom>
          <a:solidFill>
            <a:srgbClr val="DCEEFE"/>
          </a:solidFill>
          <a:ln>
            <a:noFill/>
          </a:ln>
        </p:spPr>
      </p:sp>
      <p:sp>
        <p:nvSpPr>
          <p:cNvPr id="1010" name="31 · acceptance-text-1: Schematic decision rule · no measured results [p31-text-0015]" descr="Native editable Unicode text; authored line breaks retained."/>
          <p:cNvSpPr txBox="1"/>
          <p:nvPr/>
        </p:nvSpPr>
        <p:spPr>
          <a:xfrm>
            <a:off x="558800" y="1855799"/>
            <a:ext cx="11087100" cy="24765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Schematic decision rule · no measured results</a:t>
            </a:r>
            <a:endParaRPr lang="en-US" sz="1400" b="0" i="0" kern="0" spc="0" dirty="0">
              <a:solidFill>
                <a:srgbClr val="032D60"/>
              </a:solidFill>
              <a:latin typeface="Salesforce Sans"/>
              <a:ea typeface="Salesforce Sans"/>
              <a:cs typeface="Salesforce Sans"/>
            </a:endParaRPr>
          </a:p>
        </p:txBody>
      </p:sp>
      <p:sp>
        <p:nvSpPr>
          <p:cNvPr id="1011" name="31 · acceptance-text-2: Quality: upper end must stay below the limit [p31-text-0016]" descr="Native editable Unicode text; authored line breaks retained."/>
          <p:cNvSpPr txBox="1"/>
          <p:nvPr/>
        </p:nvSpPr>
        <p:spPr>
          <a:xfrm>
            <a:off x="711200" y="2307235"/>
            <a:ext cx="5156200" cy="28392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0"/>
              </a:lnSpc>
              <a:spcBef>
                <a:spcPts val="0"/>
              </a:spcBef>
              <a:spcAft>
                <a:spcPts val="0"/>
              </a:spcAft>
              <a:buNone/>
            </a:pPr>
            <a:r>
              <a:rPr lang="en-US" sz="1600" b="1" i="0" kern="0" spc="-38" dirty="0">
                <a:solidFill>
                  <a:srgbClr val="022AC0"/>
                </a:solidFill>
                <a:latin typeface="Manrope"/>
                <a:ea typeface="Manrope"/>
                <a:cs typeface="Manrope"/>
              </a:rPr>
              <a:t>Quality: upper end must stay below the limit</a:t>
            </a:r>
            <a:endParaRPr lang="en-US" sz="1600" b="1" i="0" kern="0" spc="-38" dirty="0">
              <a:solidFill>
                <a:srgbClr val="022AC0"/>
              </a:solidFill>
              <a:latin typeface="Manrope"/>
              <a:ea typeface="Manrope"/>
              <a:cs typeface="Manrope"/>
            </a:endParaRPr>
          </a:p>
        </p:txBody>
      </p:sp>
      <p:sp>
        <p:nvSpPr>
          <p:cNvPr id="1012" name="31 · acceptance-text-3: This range crosses the margin. Quality remains uncertain. [p31-text-0017]" descr="Native editable Unicode text; authored line breaks retained."/>
          <p:cNvSpPr txBox="1"/>
          <p:nvPr/>
        </p:nvSpPr>
        <p:spPr>
          <a:xfrm>
            <a:off x="711200" y="3903039"/>
            <a:ext cx="5156200" cy="4686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This range crosses the margin.</a:t>
            </a:r>
            <a:endParaRPr lang="en-US" sz="1400" b="0" i="0" kern="0" spc="0" dirty="0">
              <a:solidFill>
                <a:srgbClr val="032D60"/>
              </a:solidFill>
              <a:latin typeface="Salesforce Sans"/>
              <a:ea typeface="Salesforce Sans"/>
              <a:cs typeface="Salesforce Sans"/>
            </a:endParaRPr>
          </a:p>
          <a:p>
            <a:pPr marL="0" marR="0" indent="0" algn="l" fontAlgn="base">
              <a:lnSpc>
                <a:spcPts val="1820"/>
              </a:lnSpc>
              <a:spcBef>
                <a:spcPts val="0"/>
              </a:spcBef>
              <a:spcAft>
                <a:spcPts val="0"/>
              </a:spcAft>
              <a:buNone/>
            </a:pPr>
            <a:r>
              <a:rPr lang="en-US" sz="1400" b="1" i="0" kern="0" spc="0" dirty="0">
                <a:solidFill>
                  <a:srgbClr val="032D60"/>
                </a:solidFill>
                <a:latin typeface="Salesforce Sans"/>
                <a:ea typeface="Salesforce Sans"/>
                <a:cs typeface="Salesforce Sans"/>
              </a:rPr>
              <a:t>Quality remains uncertain.</a:t>
            </a:r>
            <a:endParaRPr lang="en-US" sz="1400" b="1" i="0" kern="0" spc="0" dirty="0">
              <a:solidFill>
                <a:srgbClr val="032D60"/>
              </a:solidFill>
              <a:latin typeface="Salesforce Sans"/>
              <a:ea typeface="Salesforce Sans"/>
              <a:cs typeface="Salesforce Sans"/>
            </a:endParaRPr>
          </a:p>
        </p:txBody>
      </p:sp>
      <p:sp>
        <p:nvSpPr>
          <p:cNvPr id="1013" name="31 · acceptance-text-4: Cost: lower end must exceed the target [p31-text-0018]" descr="Native editable Unicode text; authored line breaks retained."/>
          <p:cNvSpPr txBox="1"/>
          <p:nvPr/>
        </p:nvSpPr>
        <p:spPr>
          <a:xfrm>
            <a:off x="6337300" y="2307235"/>
            <a:ext cx="5156200" cy="283921"/>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20"/>
              </a:lnSpc>
              <a:spcBef>
                <a:spcPts val="0"/>
              </a:spcBef>
              <a:spcAft>
                <a:spcPts val="0"/>
              </a:spcAft>
              <a:buNone/>
            </a:pPr>
            <a:r>
              <a:rPr lang="en-US" sz="1600" b="1" i="0" kern="0" spc="-38" dirty="0">
                <a:solidFill>
                  <a:srgbClr val="022AC0"/>
                </a:solidFill>
                <a:latin typeface="Manrope"/>
                <a:ea typeface="Manrope"/>
                <a:cs typeface="Manrope"/>
              </a:rPr>
              <a:t>Cost: lower end must exceed the target</a:t>
            </a:r>
            <a:endParaRPr lang="en-US" sz="1600" b="1" i="0" kern="0" spc="-38" dirty="0">
              <a:solidFill>
                <a:srgbClr val="022AC0"/>
              </a:solidFill>
              <a:latin typeface="Manrope"/>
              <a:ea typeface="Manrope"/>
              <a:cs typeface="Manrope"/>
            </a:endParaRPr>
          </a:p>
        </p:txBody>
      </p:sp>
      <p:sp>
        <p:nvSpPr>
          <p:cNvPr id="1014" name="31 · acceptance-text-5: This range clears the required gain. Cost passes; rollout still waits. [p31-text-0019]" descr="Native editable Unicode text; authored line breaks retained."/>
          <p:cNvSpPr txBox="1"/>
          <p:nvPr/>
        </p:nvSpPr>
        <p:spPr>
          <a:xfrm>
            <a:off x="6337300" y="3903039"/>
            <a:ext cx="5156200" cy="46863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0"/>
              </a:lnSpc>
              <a:spcBef>
                <a:spcPts val="0"/>
              </a:spcBef>
              <a:spcAft>
                <a:spcPts val="0"/>
              </a:spcAft>
              <a:buNone/>
            </a:pPr>
            <a:r>
              <a:rPr lang="en-US" sz="1400" b="0" i="0" kern="0" spc="0" dirty="0">
                <a:solidFill>
                  <a:srgbClr val="032D60"/>
                </a:solidFill>
                <a:latin typeface="Salesforce Sans"/>
                <a:ea typeface="Salesforce Sans"/>
                <a:cs typeface="Salesforce Sans"/>
              </a:rPr>
              <a:t>This range clears the required gain.</a:t>
            </a:r>
            <a:endParaRPr lang="en-US" sz="1400" b="0" i="0" kern="0" spc="0" dirty="0">
              <a:solidFill>
                <a:srgbClr val="032D60"/>
              </a:solidFill>
              <a:latin typeface="Salesforce Sans"/>
              <a:ea typeface="Salesforce Sans"/>
              <a:cs typeface="Salesforce Sans"/>
            </a:endParaRPr>
          </a:p>
          <a:p>
            <a:pPr marL="0" marR="0" indent="0" algn="l" fontAlgn="base">
              <a:lnSpc>
                <a:spcPts val="1820"/>
              </a:lnSpc>
              <a:spcBef>
                <a:spcPts val="0"/>
              </a:spcBef>
              <a:spcAft>
                <a:spcPts val="0"/>
              </a:spcAft>
              <a:buNone/>
            </a:pPr>
            <a:r>
              <a:rPr lang="en-US" sz="1400" b="1" i="0" kern="0" spc="0" dirty="0">
                <a:solidFill>
                  <a:srgbClr val="032D60"/>
                </a:solidFill>
                <a:latin typeface="Salesforce Sans"/>
                <a:ea typeface="Salesforce Sans"/>
                <a:cs typeface="Salesforce Sans"/>
              </a:rPr>
              <a:t>Cost passes; rollout still waits.</a:t>
            </a:r>
            <a:endParaRPr lang="en-US" sz="1400" b="1" i="0" kern="0" spc="0" dirty="0">
              <a:solidFill>
                <a:srgbClr val="032D60"/>
              </a:solidFill>
              <a:latin typeface="Salesforce Sans"/>
              <a:ea typeface="Salesforce Sans"/>
              <a:cs typeface="Salesforce Sans"/>
            </a:endParaRPr>
          </a:p>
        </p:txBody>
      </p:sp>
      <p:sp>
        <p:nvSpPr>
          <p:cNvPr id="1015" name="31 · acceptance-text-6: Count the whole case: exchange authorized + cable return active = incomplete a [p31-text-0020]" descr="Native editable Unicode text; authored line breaks retained."/>
          <p:cNvSpPr txBox="1"/>
          <p:nvPr/>
        </p:nvSpPr>
        <p:spPr>
          <a:xfrm>
            <a:off x="723900" y="4675199"/>
            <a:ext cx="5399150" cy="44765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680"/>
              </a:lnSpc>
              <a:spcBef>
                <a:spcPts val="0"/>
              </a:spcBef>
              <a:spcAft>
                <a:spcPts val="0"/>
              </a:spcAft>
              <a:buNone/>
            </a:pPr>
            <a:r>
              <a:rPr lang="en-US" sz="1400" b="1" i="0" kern="0" spc="0" dirty="0">
                <a:solidFill>
                  <a:srgbClr val="032D60"/>
                </a:solidFill>
                <a:latin typeface="Salesforce Sans"/>
                <a:ea typeface="Salesforce Sans"/>
                <a:cs typeface="Salesforce Sans"/>
              </a:rPr>
              <a:t>Count the whole case:</a:t>
            </a:r>
            <a:r>
              <a:rPr lang="en-US" sz="1400" b="0" i="0" kern="0" spc="0" dirty="0">
                <a:solidFill>
                  <a:srgbClr val="032D60"/>
                </a:solidFill>
                <a:latin typeface="Salesforce Sans"/>
                <a:ea typeface="Salesforce Sans"/>
                <a:cs typeface="Salesforce Sans"/>
              </a:rPr>
              <a:t xml:space="preserve"> exchange authorized + cable return active</a:t>
            </a:r>
            <a:endParaRPr lang="en-US" sz="1400" b="0" i="0" kern="0" spc="0" dirty="0">
              <a:solidFill>
                <a:srgbClr val="032D60"/>
              </a:solidFill>
              <a:latin typeface="Salesforce Sans"/>
              <a:ea typeface="Salesforce Sans"/>
              <a:cs typeface="Salesforce Sans"/>
            </a:endParaRPr>
          </a:p>
          <a:p>
            <a:pPr marL="0" marR="0" indent="0" algn="l" fontAlgn="base">
              <a:lnSpc>
                <a:spcPts val="1680"/>
              </a:lnSpc>
              <a:spcBef>
                <a:spcPts val="0"/>
              </a:spcBef>
              <a:spcAft>
                <a:spcPts val="0"/>
              </a:spcAft>
              <a:buNone/>
            </a:pPr>
            <a:r>
              <a:rPr lang="en-US" sz="1400" b="0" i="0" kern="0" spc="0" dirty="0">
                <a:solidFill>
                  <a:srgbClr val="032D60"/>
                </a:solidFill>
                <a:latin typeface="Salesforce Sans"/>
                <a:ea typeface="Salesforce Sans"/>
                <a:cs typeface="Salesforce Sans"/>
              </a:rPr>
              <a:t>= incomplete at the deadline.</a:t>
            </a:r>
            <a:endParaRPr lang="en-US" sz="1400" b="0" i="0" kern="0" spc="0" dirty="0">
              <a:solidFill>
                <a:srgbClr val="032D60"/>
              </a:solidFill>
              <a:latin typeface="Salesforce Sans"/>
              <a:ea typeface="Salesforce Sans"/>
              <a:cs typeface="Salesforce Sans"/>
            </a:endParaRPr>
          </a:p>
        </p:txBody>
      </p:sp>
      <p:sp>
        <p:nvSpPr>
          <p:cNvPr id="1016" name="31 · acceptance-text-7: Harm limits must also pass. Assess all cases and the same relevant cohort. [p31-text-0021]" descr="Native editable Unicode text; authored line breaks retained."/>
          <p:cNvSpPr txBox="1"/>
          <p:nvPr/>
        </p:nvSpPr>
        <p:spPr>
          <a:xfrm>
            <a:off x="711200" y="5403328"/>
            <a:ext cx="5156200" cy="46926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3"/>
              </a:lnSpc>
              <a:spcBef>
                <a:spcPts val="0"/>
              </a:spcBef>
              <a:spcAft>
                <a:spcPts val="0"/>
              </a:spcAft>
              <a:buNone/>
            </a:pPr>
            <a:r>
              <a:rPr lang="en-US" sz="1350" b="1" i="0" kern="0" spc="0" dirty="0">
                <a:solidFill>
                  <a:srgbClr val="032D60"/>
                </a:solidFill>
                <a:latin typeface="Salesforce Sans"/>
                <a:ea typeface="Salesforce Sans"/>
                <a:cs typeface="Salesforce Sans"/>
              </a:rPr>
              <a:t>Harm limits must also pass.</a:t>
            </a:r>
            <a:endParaRPr lang="en-US" sz="1350" b="1" i="0" kern="0" spc="0" dirty="0">
              <a:solidFill>
                <a:srgbClr val="032D60"/>
              </a:solidFill>
              <a:latin typeface="Salesforce Sans"/>
              <a:ea typeface="Salesforce Sans"/>
              <a:cs typeface="Salesforce Sans"/>
            </a:endParaRPr>
          </a:p>
          <a:p>
            <a:pPr marL="0" marR="0" indent="0" algn="l" fontAlgn="base">
              <a:lnSpc>
                <a:spcPts val="1823"/>
              </a:lnSpc>
              <a:spcBef>
                <a:spcPts val="0"/>
              </a:spcBef>
              <a:spcAft>
                <a:spcPts val="0"/>
              </a:spcAft>
              <a:buNone/>
            </a:pPr>
            <a:r>
              <a:rPr lang="en-US" sz="1350" b="0" i="0" kern="0" spc="0" dirty="0">
                <a:solidFill>
                  <a:srgbClr val="032D60"/>
                </a:solidFill>
                <a:latin typeface="Salesforce Sans"/>
                <a:ea typeface="Salesforce Sans"/>
                <a:cs typeface="Salesforce Sans"/>
              </a:rPr>
              <a:t>Assess all cases and the same relevant cohort.</a:t>
            </a:r>
            <a:endParaRPr lang="en-US" sz="1350" b="0" i="0" kern="0" spc="0" dirty="0">
              <a:solidFill>
                <a:srgbClr val="032D60"/>
              </a:solidFill>
              <a:latin typeface="Salesforce Sans"/>
              <a:ea typeface="Salesforce Sans"/>
              <a:cs typeface="Salesforce Sans"/>
            </a:endParaRPr>
          </a:p>
        </p:txBody>
      </p:sp>
      <p:sp>
        <p:nvSpPr>
          <p:cNvPr id="1017" name="31 · acceptance-text-8: Latency limits must also pass. Include unfinished cases and resolution time. [p31-text-0022]" descr="Native editable Unicode text; authored line breaks retained."/>
          <p:cNvSpPr txBox="1"/>
          <p:nvPr/>
        </p:nvSpPr>
        <p:spPr>
          <a:xfrm>
            <a:off x="6337300" y="5403328"/>
            <a:ext cx="5156200" cy="46926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23"/>
              </a:lnSpc>
              <a:spcBef>
                <a:spcPts val="0"/>
              </a:spcBef>
              <a:spcAft>
                <a:spcPts val="0"/>
              </a:spcAft>
              <a:buNone/>
            </a:pPr>
            <a:r>
              <a:rPr lang="en-US" sz="1350" b="1" i="0" kern="0" spc="0" dirty="0">
                <a:solidFill>
                  <a:srgbClr val="032D60"/>
                </a:solidFill>
                <a:latin typeface="Salesforce Sans"/>
                <a:ea typeface="Salesforce Sans"/>
                <a:cs typeface="Salesforce Sans"/>
              </a:rPr>
              <a:t>Latency limits must also pass.</a:t>
            </a:r>
            <a:endParaRPr lang="en-US" sz="1350" b="1" i="0" kern="0" spc="0" dirty="0">
              <a:solidFill>
                <a:srgbClr val="032D60"/>
              </a:solidFill>
              <a:latin typeface="Salesforce Sans"/>
              <a:ea typeface="Salesforce Sans"/>
              <a:cs typeface="Salesforce Sans"/>
            </a:endParaRPr>
          </a:p>
          <a:p>
            <a:pPr marL="0" marR="0" indent="0" algn="l" fontAlgn="base">
              <a:lnSpc>
                <a:spcPts val="1823"/>
              </a:lnSpc>
              <a:spcBef>
                <a:spcPts val="0"/>
              </a:spcBef>
              <a:spcAft>
                <a:spcPts val="0"/>
              </a:spcAft>
              <a:buNone/>
            </a:pPr>
            <a:r>
              <a:rPr lang="en-US" sz="1350" b="0" i="0" kern="0" spc="0" dirty="0">
                <a:solidFill>
                  <a:srgbClr val="032D60"/>
                </a:solidFill>
                <a:latin typeface="Salesforce Sans"/>
                <a:ea typeface="Salesforce Sans"/>
                <a:cs typeface="Salesforce Sans"/>
              </a:rPr>
              <a:t>Include unfinished cases and resolution time.</a:t>
            </a:r>
            <a:endParaRPr lang="en-US" sz="1350" b="0" i="0" kern="0" spc="0" dirty="0">
              <a:solidFill>
                <a:srgbClr val="032D60"/>
              </a:solidFill>
              <a:latin typeface="Salesforce Sans"/>
              <a:ea typeface="Salesforce Sans"/>
              <a:cs typeface="Salesforce Sans"/>
            </a:endParaRPr>
          </a:p>
        </p:txBody>
      </p:sp>
      <p:grpSp>
        <p:nvGrpSpPr>
          <p:cNvPr id="1018" name="31 · svg · drawing [p31-e0027]"/>
          <p:cNvGrpSpPr/>
          <p:nvPr/>
        </p:nvGrpSpPr>
        <p:grpSpPr>
          <a:xfrm>
            <a:off x="908050" y="2872740"/>
            <a:ext cx="4749800" cy="527050"/>
            <a:chOff x="908050" y="2872740"/>
            <a:chExt cx="4749800" cy="527050"/>
          </a:xfrm>
        </p:grpSpPr>
        <p:sp>
          <p:nvSpPr>
            <p:cNvPr id="1019" name="rect · 1"/>
            <p:cNvSpPr/>
            <p:nvPr/>
          </p:nvSpPr>
          <p:spPr>
            <a:xfrm>
              <a:off x="908050" y="2936240"/>
              <a:ext cx="3009900" cy="279400"/>
            </a:xfrm>
            <a:prstGeom prst="rect">
              <a:avLst/>
            </a:prstGeom>
            <a:solidFill>
              <a:srgbClr val="D3E8DF"/>
            </a:solidFill>
            <a:ln>
              <a:noFill/>
            </a:ln>
          </p:spPr>
        </p:sp>
        <p:sp>
          <p:nvSpPr>
            <p:cNvPr id="1020" name="rect · 2"/>
            <p:cNvSpPr/>
            <p:nvPr/>
          </p:nvSpPr>
          <p:spPr>
            <a:xfrm>
              <a:off x="3917950" y="2936240"/>
              <a:ext cx="1739900" cy="279400"/>
            </a:xfrm>
            <a:prstGeom prst="rect">
              <a:avLst/>
            </a:prstGeom>
            <a:solidFill>
              <a:srgbClr val="F2D8CB"/>
            </a:solidFill>
            <a:ln>
              <a:noFill/>
            </a:ln>
          </p:spPr>
        </p:sp>
        <p:sp>
          <p:nvSpPr>
            <p:cNvPr id="1021" name="line · 3"/>
            <p:cNvSpPr/>
            <p:nvPr/>
          </p:nvSpPr>
          <p:spPr>
            <a:xfrm>
              <a:off x="2393950" y="3075940"/>
              <a:ext cx="2349500" cy="1"/>
            </a:xfrm>
            <a:custGeom>
              <a:avLst/>
              <a:gdLst/>
              <a:ahLst/>
              <a:cxnLst/>
              <a:rect l="0" t="0" r="r" b="b"/>
              <a:pathLst>
                <a:path w="2349500" h="1" fill="none" stroke="1" extrusionOk="0">
                  <a:moveTo>
                    <a:pt x="0" y="0"/>
                  </a:moveTo>
                  <a:lnTo>
                    <a:pt x="2349500" y="0"/>
                  </a:lnTo>
                </a:path>
              </a:pathLst>
            </a:custGeom>
            <a:noFill/>
            <a:ln w="44450" cap="flat" cmpd="sng" algn="ctr">
              <a:solidFill>
                <a:srgbClr val="243E42"/>
              </a:solidFill>
              <a:prstDash val="solid"/>
              <a:miter lim="400000"/>
              <a:headEnd type="none" w="med" len="med"/>
              <a:tailEnd type="none" w="med" len="med"/>
            </a:ln>
          </p:spPr>
        </p:sp>
        <p:sp>
          <p:nvSpPr>
            <p:cNvPr id="1022" name="path · 4"/>
            <p:cNvSpPr/>
            <p:nvPr/>
          </p:nvSpPr>
          <p:spPr>
            <a:xfrm>
              <a:off x="2393950" y="2974340"/>
              <a:ext cx="2349500" cy="203200"/>
            </a:xfrm>
            <a:custGeom>
              <a:avLst/>
              <a:gdLst/>
              <a:ahLst/>
              <a:cxnLst/>
              <a:rect l="0" t="0" r="r" b="b"/>
              <a:pathLst>
                <a:path w="2349500" h="203200" fill="norm" stroke="1" extrusionOk="0">
                  <a:moveTo>
                    <a:pt x="0" y="0"/>
                  </a:moveTo>
                  <a:lnTo>
                    <a:pt x="0" y="203200"/>
                  </a:lnTo>
                  <a:moveTo>
                    <a:pt x="2349500" y="0"/>
                  </a:moveTo>
                  <a:lnTo>
                    <a:pt x="2349500" y="203200"/>
                  </a:lnTo>
                </a:path>
              </a:pathLst>
            </a:custGeom>
            <a:solidFill>
              <a:srgbClr val="000000"/>
            </a:solidFill>
            <a:ln w="25400" cap="flat" cmpd="sng" algn="ctr">
              <a:solidFill>
                <a:srgbClr val="243E42"/>
              </a:solidFill>
              <a:prstDash val="solid"/>
              <a:miter lim="400000"/>
              <a:headEnd type="none" w="med" len="med"/>
              <a:tailEnd type="none" w="med" len="med"/>
            </a:ln>
          </p:spPr>
        </p:sp>
        <p:sp>
          <p:nvSpPr>
            <p:cNvPr id="1023" name="line · 5"/>
            <p:cNvSpPr/>
            <p:nvPr/>
          </p:nvSpPr>
          <p:spPr>
            <a:xfrm>
              <a:off x="3917950" y="2872740"/>
              <a:ext cx="1" cy="495300"/>
            </a:xfrm>
            <a:custGeom>
              <a:avLst/>
              <a:gdLst/>
              <a:ahLst/>
              <a:cxnLst/>
              <a:rect l="0" t="0" r="r" b="b"/>
              <a:pathLst>
                <a:path w="1" h="495300" fill="none" stroke="1" extrusionOk="0">
                  <a:moveTo>
                    <a:pt x="0" y="0"/>
                  </a:moveTo>
                  <a:lnTo>
                    <a:pt x="0" y="495300"/>
                  </a:lnTo>
                </a:path>
              </a:pathLst>
            </a:custGeom>
            <a:noFill/>
            <a:ln w="19050" cap="flat" cmpd="sng" algn="ctr">
              <a:solidFill>
                <a:srgbClr val="8D5744"/>
              </a:solidFill>
              <a:custDash>
                <a:ds d="200000" sp="166667"/>
              </a:custDash>
              <a:miter lim="400000"/>
              <a:headEnd type="none" w="med" len="med"/>
              <a:tailEnd type="none" w="med" len="med"/>
            </a:ln>
          </p:spPr>
        </p:sp>
        <p:sp>
          <p:nvSpPr>
            <p:cNvPr id="1024" name="path · 6"/>
            <p:cNvSpPr/>
            <p:nvPr/>
          </p:nvSpPr>
          <p:spPr>
            <a:xfrm>
              <a:off x="908050" y="3310890"/>
              <a:ext cx="4749800" cy="88900"/>
            </a:xfrm>
            <a:custGeom>
              <a:avLst/>
              <a:gdLst/>
              <a:ahLst/>
              <a:cxnLst/>
              <a:rect l="0" t="0" r="r" b="b"/>
              <a:pathLst>
                <a:path w="4749800" h="88900" fill="none" stroke="1" extrusionOk="0">
                  <a:moveTo>
                    <a:pt x="0" y="44450"/>
                  </a:moveTo>
                  <a:lnTo>
                    <a:pt x="4749800" y="44450"/>
                  </a:lnTo>
                  <a:moveTo>
                    <a:pt x="4673600" y="0"/>
                  </a:moveTo>
                  <a:lnTo>
                    <a:pt x="4749800" y="44450"/>
                  </a:lnTo>
                  <a:lnTo>
                    <a:pt x="4673600" y="88900"/>
                  </a:lnTo>
                </a:path>
              </a:pathLst>
            </a:custGeom>
            <a:noFill/>
            <a:ln w="12700" cap="flat" cmpd="sng" algn="ctr">
              <a:solidFill>
                <a:srgbClr val="587076"/>
              </a:solidFill>
              <a:prstDash val="solid"/>
              <a:miter lim="400000"/>
              <a:headEnd type="none" w="med" len="med"/>
              <a:tailEnd type="none" w="med" len="med"/>
            </a:ln>
          </p:spPr>
        </p:sp>
      </p:grpSp>
      <p:sp>
        <p:nvSpPr>
          <p:cNvPr id="1025" name="31 · span: Uncertainty range [p31-text-0023]" descr="Native editable Unicode text; authored line breaks retained."/>
          <p:cNvSpPr txBox="1"/>
          <p:nvPr/>
        </p:nvSpPr>
        <p:spPr>
          <a:xfrm>
            <a:off x="878364" y="2658961"/>
            <a:ext cx="137264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Uncertainty range</a:t>
            </a:r>
            <a:endParaRPr lang="en-US" sz="1300" b="0" i="0" kern="0" spc="0" dirty="0">
              <a:solidFill>
                <a:srgbClr val="032D60"/>
              </a:solidFill>
              <a:latin typeface="Salesforce Sans"/>
              <a:ea typeface="Salesforce Sans"/>
              <a:cs typeface="Salesforce Sans"/>
            </a:endParaRPr>
          </a:p>
        </p:txBody>
      </p:sp>
      <p:sp>
        <p:nvSpPr>
          <p:cNvPr id="1026" name="31 · span: Allowed loss [p31-text-0024]" descr="Native editable Unicode text; authored line breaks retained."/>
          <p:cNvSpPr txBox="1"/>
          <p:nvPr/>
        </p:nvSpPr>
        <p:spPr>
          <a:xfrm>
            <a:off x="3450893" y="3420961"/>
            <a:ext cx="962689"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Allowed loss</a:t>
            </a:r>
            <a:endParaRPr lang="en-US" sz="1300" b="0" i="0" kern="0" spc="0" dirty="0">
              <a:solidFill>
                <a:srgbClr val="032D60"/>
              </a:solidFill>
              <a:latin typeface="Salesforce Sans"/>
              <a:ea typeface="Salesforce Sans"/>
              <a:cs typeface="Salesforce Sans"/>
            </a:endParaRPr>
          </a:p>
        </p:txBody>
      </p:sp>
      <p:sp>
        <p:nvSpPr>
          <p:cNvPr id="1027" name="31 · span: More quality loss → [p31-text-0025]" descr="Native editable Unicode text; authored line breaks retained."/>
          <p:cNvSpPr txBox="1"/>
          <p:nvPr/>
        </p:nvSpPr>
        <p:spPr>
          <a:xfrm>
            <a:off x="4184955" y="3624161"/>
            <a:ext cx="1515281"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More quality loss →</a:t>
            </a:r>
            <a:endParaRPr lang="en-US" sz="1300" b="0" i="0" kern="0" spc="0" dirty="0">
              <a:solidFill>
                <a:srgbClr val="032D60"/>
              </a:solidFill>
              <a:latin typeface="Salesforce Sans"/>
              <a:ea typeface="Salesforce Sans"/>
              <a:cs typeface="Salesforce Sans"/>
            </a:endParaRPr>
          </a:p>
        </p:txBody>
      </p:sp>
      <p:grpSp>
        <p:nvGrpSpPr>
          <p:cNvPr id="1028" name="31 · svg · drawing [p31-e0031]"/>
          <p:cNvGrpSpPr/>
          <p:nvPr/>
        </p:nvGrpSpPr>
        <p:grpSpPr>
          <a:xfrm>
            <a:off x="6534150" y="2872740"/>
            <a:ext cx="4749800" cy="527050"/>
            <a:chOff x="6534150" y="2872740"/>
            <a:chExt cx="4749800" cy="527050"/>
          </a:xfrm>
        </p:grpSpPr>
        <p:sp>
          <p:nvSpPr>
            <p:cNvPr id="1029" name="rect · 1"/>
            <p:cNvSpPr/>
            <p:nvPr/>
          </p:nvSpPr>
          <p:spPr>
            <a:xfrm>
              <a:off x="6534150" y="2936240"/>
              <a:ext cx="1676400" cy="279400"/>
            </a:xfrm>
            <a:prstGeom prst="rect">
              <a:avLst/>
            </a:prstGeom>
            <a:solidFill>
              <a:srgbClr val="F5E6B9"/>
            </a:solidFill>
            <a:ln>
              <a:noFill/>
            </a:ln>
          </p:spPr>
        </p:sp>
        <p:sp>
          <p:nvSpPr>
            <p:cNvPr id="1030" name="rect · 2"/>
            <p:cNvSpPr/>
            <p:nvPr/>
          </p:nvSpPr>
          <p:spPr>
            <a:xfrm>
              <a:off x="8210550" y="2936240"/>
              <a:ext cx="3073400" cy="279400"/>
            </a:xfrm>
            <a:prstGeom prst="rect">
              <a:avLst/>
            </a:prstGeom>
            <a:solidFill>
              <a:srgbClr val="D3E8DF"/>
            </a:solidFill>
            <a:ln>
              <a:noFill/>
            </a:ln>
          </p:spPr>
        </p:sp>
        <p:sp>
          <p:nvSpPr>
            <p:cNvPr id="1031" name="line · 3"/>
            <p:cNvSpPr/>
            <p:nvPr/>
          </p:nvSpPr>
          <p:spPr>
            <a:xfrm>
              <a:off x="9036050" y="3075940"/>
              <a:ext cx="1651000" cy="1"/>
            </a:xfrm>
            <a:custGeom>
              <a:avLst/>
              <a:gdLst/>
              <a:ahLst/>
              <a:cxnLst/>
              <a:rect l="0" t="0" r="r" b="b"/>
              <a:pathLst>
                <a:path w="1651000" h="1" fill="none" stroke="1" extrusionOk="0">
                  <a:moveTo>
                    <a:pt x="0" y="0"/>
                  </a:moveTo>
                  <a:lnTo>
                    <a:pt x="1651000" y="0"/>
                  </a:lnTo>
                </a:path>
              </a:pathLst>
            </a:custGeom>
            <a:noFill/>
            <a:ln w="44450" cap="flat" cmpd="sng" algn="ctr">
              <a:solidFill>
                <a:srgbClr val="243E42"/>
              </a:solidFill>
              <a:prstDash val="solid"/>
              <a:miter lim="400000"/>
              <a:headEnd type="none" w="med" len="med"/>
              <a:tailEnd type="none" w="med" len="med"/>
            </a:ln>
          </p:spPr>
        </p:sp>
        <p:sp>
          <p:nvSpPr>
            <p:cNvPr id="1032" name="path · 4"/>
            <p:cNvSpPr/>
            <p:nvPr/>
          </p:nvSpPr>
          <p:spPr>
            <a:xfrm>
              <a:off x="9036050" y="2974340"/>
              <a:ext cx="1651000" cy="203200"/>
            </a:xfrm>
            <a:custGeom>
              <a:avLst/>
              <a:gdLst/>
              <a:ahLst/>
              <a:cxnLst/>
              <a:rect l="0" t="0" r="r" b="b"/>
              <a:pathLst>
                <a:path w="1651000" h="203200" fill="norm" stroke="1" extrusionOk="0">
                  <a:moveTo>
                    <a:pt x="0" y="0"/>
                  </a:moveTo>
                  <a:lnTo>
                    <a:pt x="0" y="203200"/>
                  </a:lnTo>
                  <a:moveTo>
                    <a:pt x="1651000" y="0"/>
                  </a:moveTo>
                  <a:lnTo>
                    <a:pt x="1651000" y="203200"/>
                  </a:lnTo>
                </a:path>
              </a:pathLst>
            </a:custGeom>
            <a:solidFill>
              <a:srgbClr val="000000"/>
            </a:solidFill>
            <a:ln w="25400" cap="flat" cmpd="sng" algn="ctr">
              <a:solidFill>
                <a:srgbClr val="243E42"/>
              </a:solidFill>
              <a:prstDash val="solid"/>
              <a:miter lim="400000"/>
              <a:headEnd type="none" w="med" len="med"/>
              <a:tailEnd type="none" w="med" len="med"/>
            </a:ln>
          </p:spPr>
        </p:sp>
        <p:sp>
          <p:nvSpPr>
            <p:cNvPr id="1033" name="line · 5"/>
            <p:cNvSpPr/>
            <p:nvPr/>
          </p:nvSpPr>
          <p:spPr>
            <a:xfrm>
              <a:off x="8210550" y="2872740"/>
              <a:ext cx="1" cy="495300"/>
            </a:xfrm>
            <a:custGeom>
              <a:avLst/>
              <a:gdLst/>
              <a:ahLst/>
              <a:cxnLst/>
              <a:rect l="0" t="0" r="r" b="b"/>
              <a:pathLst>
                <a:path w="1" h="495300" fill="none" stroke="1" extrusionOk="0">
                  <a:moveTo>
                    <a:pt x="0" y="0"/>
                  </a:moveTo>
                  <a:lnTo>
                    <a:pt x="0" y="495300"/>
                  </a:lnTo>
                </a:path>
              </a:pathLst>
            </a:custGeom>
            <a:noFill/>
            <a:ln w="19050" cap="flat" cmpd="sng" algn="ctr">
              <a:solidFill>
                <a:srgbClr val="8D5744"/>
              </a:solidFill>
              <a:custDash>
                <a:ds d="200000" sp="166667"/>
              </a:custDash>
              <a:miter lim="400000"/>
              <a:headEnd type="none" w="med" len="med"/>
              <a:tailEnd type="none" w="med" len="med"/>
            </a:ln>
          </p:spPr>
        </p:sp>
        <p:sp>
          <p:nvSpPr>
            <p:cNvPr id="1034" name="path · 6"/>
            <p:cNvSpPr/>
            <p:nvPr/>
          </p:nvSpPr>
          <p:spPr>
            <a:xfrm>
              <a:off x="6534150" y="3310890"/>
              <a:ext cx="4749800" cy="88900"/>
            </a:xfrm>
            <a:custGeom>
              <a:avLst/>
              <a:gdLst/>
              <a:ahLst/>
              <a:cxnLst/>
              <a:rect l="0" t="0" r="r" b="b"/>
              <a:pathLst>
                <a:path w="4749800" h="88900" fill="none" stroke="1" extrusionOk="0">
                  <a:moveTo>
                    <a:pt x="0" y="44450"/>
                  </a:moveTo>
                  <a:lnTo>
                    <a:pt x="4749800" y="44450"/>
                  </a:lnTo>
                  <a:moveTo>
                    <a:pt x="4673600" y="0"/>
                  </a:moveTo>
                  <a:lnTo>
                    <a:pt x="4749800" y="44450"/>
                  </a:lnTo>
                  <a:lnTo>
                    <a:pt x="4673600" y="88900"/>
                  </a:lnTo>
                </a:path>
              </a:pathLst>
            </a:custGeom>
            <a:noFill/>
            <a:ln w="12700" cap="flat" cmpd="sng" algn="ctr">
              <a:solidFill>
                <a:srgbClr val="587076"/>
              </a:solidFill>
              <a:prstDash val="solid"/>
              <a:miter lim="400000"/>
              <a:headEnd type="none" w="med" len="med"/>
              <a:tailEnd type="none" w="med" len="med"/>
            </a:ln>
          </p:spPr>
        </p:sp>
      </p:grpSp>
      <p:sp>
        <p:nvSpPr>
          <p:cNvPr id="1035" name="31 · span: Uncertainty range [p31-text-0026]" descr="Native editable Unicode text; authored line breaks retained."/>
          <p:cNvSpPr txBox="1"/>
          <p:nvPr/>
        </p:nvSpPr>
        <p:spPr>
          <a:xfrm>
            <a:off x="6504464" y="2658961"/>
            <a:ext cx="137264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Uncertainty range</a:t>
            </a:r>
            <a:endParaRPr lang="en-US" sz="1300" b="0" i="0" kern="0" spc="0" dirty="0">
              <a:solidFill>
                <a:srgbClr val="032D60"/>
              </a:solidFill>
              <a:latin typeface="Salesforce Sans"/>
              <a:ea typeface="Salesforce Sans"/>
              <a:cs typeface="Salesforce Sans"/>
            </a:endParaRPr>
          </a:p>
        </p:txBody>
      </p:sp>
      <p:sp>
        <p:nvSpPr>
          <p:cNvPr id="1036" name="31 · span: Required saving [p31-text-0027]" descr="Native editable Unicode text; authored line breaks retained."/>
          <p:cNvSpPr txBox="1"/>
          <p:nvPr/>
        </p:nvSpPr>
        <p:spPr>
          <a:xfrm>
            <a:off x="7596560" y="3420961"/>
            <a:ext cx="1223218"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Required saving</a:t>
            </a:r>
            <a:endParaRPr lang="en-US" sz="1300" b="0" i="0" kern="0" spc="0" dirty="0">
              <a:solidFill>
                <a:srgbClr val="032D60"/>
              </a:solidFill>
              <a:latin typeface="Salesforce Sans"/>
              <a:ea typeface="Salesforce Sans"/>
              <a:cs typeface="Salesforce Sans"/>
            </a:endParaRPr>
          </a:p>
        </p:txBody>
      </p:sp>
      <p:sp>
        <p:nvSpPr>
          <p:cNvPr id="1037" name="31 · span: More saving per case → [p31-text-0028]" descr="Native editable Unicode text; authored line breaks retained."/>
          <p:cNvSpPr txBox="1"/>
          <p:nvPr/>
        </p:nvSpPr>
        <p:spPr>
          <a:xfrm>
            <a:off x="9504624" y="3624161"/>
            <a:ext cx="1821712" cy="21800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00"/>
              </a:lnSpc>
              <a:spcBef>
                <a:spcPts val="0"/>
              </a:spcBef>
              <a:spcAft>
                <a:spcPts val="0"/>
              </a:spcAft>
              <a:buNone/>
            </a:pPr>
            <a:r>
              <a:rPr lang="en-US" sz="1300" b="0" i="0" kern="0" spc="0" dirty="0">
                <a:solidFill>
                  <a:srgbClr val="032D60"/>
                </a:solidFill>
                <a:latin typeface="Salesforce Sans"/>
                <a:ea typeface="Salesforce Sans"/>
                <a:cs typeface="Salesforce Sans"/>
              </a:rPr>
              <a:t>More saving per case →</a:t>
            </a:r>
            <a:endParaRPr lang="en-US" sz="1300" b="0" i="0" kern="0" spc="0" dirty="0">
              <a:solidFill>
                <a:srgbClr val="032D60"/>
              </a:solidFill>
              <a:latin typeface="Salesforce Sans"/>
              <a:ea typeface="Salesforce Sans"/>
              <a:cs typeface="Salesforce Sans"/>
            </a:endParaRPr>
          </a:p>
        </p:txBody>
      </p:sp>
      <p:grpSp>
        <p:nvGrpSpPr>
          <p:cNvPr id="1043" name="31 · source-line: Tutorial evaluation protocol"/>
          <p:cNvGrpSpPr/>
          <p:nvPr/>
        </p:nvGrpSpPr>
        <p:grpSpPr>
          <a:xfrm>
            <a:off x="558800" y="6037898"/>
            <a:ext cx="11087100" cy="284456"/>
            <a:chOff x="558800" y="6037898"/>
            <a:chExt cx="11087100" cy="284456"/>
          </a:xfrm>
        </p:grpSpPr>
        <p:sp>
          <p:nvSpPr>
            <p:cNvPr id="1038" name="31 · source-line · top border [p31-e0035]"/>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9" name="31 · span: Tutorial evaluation protocol [p31-text-0029]"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40" name="31 · span: Schematic acceptance rule; no empirical intervals [p31-text-0030]" descr="Native editable Unicode text; authored line breaks retained."/>
            <p:cNvSpPr txBox="1"/>
            <p:nvPr/>
          </p:nvSpPr>
          <p:spPr>
            <a:xfrm>
              <a:off x="8869797" y="6153126"/>
              <a:ext cx="2776103"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Schematic acceptance rule; no empirical intervals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2.xml><?xml version="1.0" encoding="utf-8"?>
<p:sld xmlns:a="http://schemas.openxmlformats.org/drawingml/2006/main" xmlns:p="http://schemas.openxmlformats.org/presentationml/2006/main">
  <p:cSld name="Evaluate the decision, then the service">
    <p:bg>
      <p:bgPr>
        <a:solidFill>
          <a:srgbClr val="FFFFFF"/>
        </a:solidFill>
      </p:bgPr>
    </p:bg>
    <p:spTree>
      <p:nvGrpSpPr>
        <p:cNvPr id="1" name=""/>
        <p:cNvGrpSpPr/>
        <p:nvPr/>
      </p:nvGrpSpPr>
      <p:grpSpPr>
        <a:xfrm>
          <a:off x="0" y="0"/>
          <a:ext cx="0" cy="0"/>
          <a:chOff x="0" y="0"/>
          <a:chExt cx="0" cy="0"/>
        </a:xfrm>
      </p:grpSpPr>
      <p:sp>
        <p:nvSpPr>
          <p:cNvPr id="1000" name="32 · slide light · surface [p32-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22" name="32 · chrome-min: DISAGGREGATED INTELLIGENCE"/>
          <p:cNvGrpSpPr/>
          <p:nvPr/>
        </p:nvGrpSpPr>
        <p:grpSpPr>
          <a:xfrm>
            <a:off x="558800" y="356053"/>
            <a:ext cx="11087100" cy="187325"/>
            <a:chOff x="558800" y="356053"/>
            <a:chExt cx="11087100" cy="187325"/>
          </a:xfrm>
        </p:grpSpPr>
        <p:sp>
          <p:nvSpPr>
            <p:cNvPr id="1001" name="32 · l: DISAGGREGATED INTELLIGENCE [p32-text-0008]"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2 · r: 32 / 36 [p32-text-0009]"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32 / 36</a:t>
              </a:r>
              <a:endParaRPr lang="en-US" sz="950" b="1" i="0" kern="0" spc="65" dirty="0">
                <a:solidFill>
                  <a:srgbClr val="022AC0"/>
                </a:solidFill>
                <a:latin typeface="Salesforce Sans"/>
                <a:ea typeface="Salesforce Sans"/>
                <a:cs typeface="Salesforce Sans"/>
              </a:endParaRPr>
            </a:p>
          </p:txBody>
        </p:sp>
      </p:grpSp>
      <p:grpSp>
        <p:nvGrpSpPr>
          <p:cNvPr id="1023" name="32 · deck-head: 09 / TWO EXPERIMENTS"/>
          <p:cNvGrpSpPr/>
          <p:nvPr/>
        </p:nvGrpSpPr>
        <p:grpSpPr>
          <a:xfrm>
            <a:off x="558800" y="775901"/>
            <a:ext cx="11087100" cy="871263"/>
            <a:chOff x="558800" y="775901"/>
            <a:chExt cx="11087100" cy="871263"/>
          </a:xfrm>
        </p:grpSpPr>
        <p:sp>
          <p:nvSpPr>
            <p:cNvPr id="1003" name="32 · evaluation-eyebrow: 09 / TWO EXPERIMENTS [p32-text-0010]"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TWO EXPERIMENTS</a:t>
              </a:r>
              <a:endParaRPr lang="en-US" sz="1050" b="1" i="0" kern="0" spc="68" dirty="0">
                <a:solidFill>
                  <a:srgbClr val="022AC0"/>
                </a:solidFill>
                <a:latin typeface="Salesforce Sans"/>
                <a:ea typeface="Salesforce Sans"/>
                <a:cs typeface="Salesforce Sans"/>
              </a:endParaRPr>
            </a:p>
          </p:txBody>
        </p:sp>
        <p:sp>
          <p:nvSpPr>
            <p:cNvPr id="1004" name="32 · evaluation-title: Evaluate the decision, then the service [p32-text-0011]"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Evaluate the decision, then the service</a:t>
              </a:r>
              <a:endParaRPr lang="en-US" sz="3600" b="1" i="0" kern="0" spc="-95" dirty="0">
                <a:solidFill>
                  <a:srgbClr val="022AC0"/>
                </a:solidFill>
                <a:latin typeface="Manrope"/>
                <a:ea typeface="Manrope"/>
                <a:cs typeface="Manrope"/>
              </a:endParaRPr>
            </a:p>
          </p:txBody>
        </p:sp>
      </p:grpSp>
      <p:grpSp>
        <p:nvGrpSpPr>
          <p:cNvPr id="1024" name="32 · card lilac: "/>
          <p:cNvGrpSpPr/>
          <p:nvPr/>
        </p:nvGrpSpPr>
        <p:grpSpPr>
          <a:xfrm>
            <a:off x="558800" y="1930400"/>
            <a:ext cx="5232400" cy="2783078"/>
            <a:chOff x="558800" y="1930400"/>
            <a:chExt cx="5232400" cy="2783078"/>
          </a:xfrm>
        </p:grpSpPr>
        <p:sp>
          <p:nvSpPr>
            <p:cNvPr id="1005" name="32 · card lilac · surface [p32-e0008]"/>
            <p:cNvSpPr/>
            <p:nvPr/>
          </p:nvSpPr>
          <p:spPr>
            <a:xfrm>
              <a:off x="558800" y="1930400"/>
              <a:ext cx="5232400" cy="2783078"/>
            </a:xfrm>
            <a:prstGeom prst="roundRect">
              <a:avLst>
                <a:gd name="adj" fmla="val 5020"/>
              </a:avLst>
            </a:prstGeom>
            <a:solidFill>
              <a:srgbClr val="EAE6FA"/>
            </a:solidFill>
            <a:ln>
              <a:noFill/>
            </a:ln>
          </p:spPr>
        </p:sp>
        <p:sp>
          <p:nvSpPr>
            <p:cNvPr id="1006" name="32 · card lilac · outline [p32-e0008]"/>
            <p:cNvSpPr/>
            <p:nvPr/>
          </p:nvSpPr>
          <p:spPr>
            <a:xfrm>
              <a:off x="561975" y="1933575"/>
              <a:ext cx="5226050" cy="2776728"/>
            </a:xfrm>
            <a:prstGeom prst="roundRect">
              <a:avLst>
                <a:gd name="adj" fmla="val 4917"/>
              </a:avLst>
            </a:prstGeom>
            <a:noFill/>
            <a:ln w="6350" algn="ctr">
              <a:solidFill>
                <a:srgbClr val="FFFFFF">
                  <a:alpha val="85098"/>
                </a:srgbClr>
              </a:solidFill>
              <a:prstDash val="solid"/>
            </a:ln>
          </p:spPr>
        </p:sp>
        <p:sp>
          <p:nvSpPr>
            <p:cNvPr id="1007" name="32 · rule-line · surface [p32-e0009]"/>
            <p:cNvSpPr/>
            <p:nvPr/>
          </p:nvSpPr>
          <p:spPr>
            <a:xfrm>
              <a:off x="781050" y="3840353"/>
              <a:ext cx="4787900" cy="6350"/>
            </a:xfrm>
            <a:prstGeom prst="rect">
              <a:avLst/>
            </a:prstGeom>
            <a:solidFill>
              <a:srgbClr val="A9CBDC"/>
            </a:solidFill>
            <a:ln>
              <a:noFill/>
            </a:ln>
          </p:spPr>
        </p:sp>
      </p:grpSp>
      <p:grpSp>
        <p:nvGrpSpPr>
          <p:cNvPr id="1025" name="32 · card mint: "/>
          <p:cNvGrpSpPr/>
          <p:nvPr/>
        </p:nvGrpSpPr>
        <p:grpSpPr>
          <a:xfrm>
            <a:off x="6426200" y="1930400"/>
            <a:ext cx="5105400" cy="2783078"/>
            <a:chOff x="6426200" y="1930400"/>
            <a:chExt cx="5105400" cy="2783078"/>
          </a:xfrm>
        </p:grpSpPr>
        <p:sp>
          <p:nvSpPr>
            <p:cNvPr id="1008" name="32 · card mint · surface [p32-e0010]"/>
            <p:cNvSpPr/>
            <p:nvPr/>
          </p:nvSpPr>
          <p:spPr>
            <a:xfrm>
              <a:off x="6426200" y="1930400"/>
              <a:ext cx="5105400" cy="2783078"/>
            </a:xfrm>
            <a:prstGeom prst="roundRect">
              <a:avLst>
                <a:gd name="adj" fmla="val 5020"/>
              </a:avLst>
            </a:prstGeom>
            <a:solidFill>
              <a:srgbClr val="DDF3ED"/>
            </a:solidFill>
            <a:ln>
              <a:noFill/>
            </a:ln>
          </p:spPr>
        </p:sp>
        <p:sp>
          <p:nvSpPr>
            <p:cNvPr id="1009" name="32 · card mint · outline [p32-e0010]"/>
            <p:cNvSpPr/>
            <p:nvPr/>
          </p:nvSpPr>
          <p:spPr>
            <a:xfrm>
              <a:off x="6429375" y="1933575"/>
              <a:ext cx="5099050" cy="2776728"/>
            </a:xfrm>
            <a:prstGeom prst="roundRect">
              <a:avLst>
                <a:gd name="adj" fmla="val 4917"/>
              </a:avLst>
            </a:prstGeom>
            <a:noFill/>
            <a:ln w="6350" algn="ctr">
              <a:solidFill>
                <a:srgbClr val="FFFFFF">
                  <a:alpha val="85098"/>
                </a:srgbClr>
              </a:solidFill>
              <a:prstDash val="solid"/>
            </a:ln>
          </p:spPr>
        </p:sp>
        <p:sp>
          <p:nvSpPr>
            <p:cNvPr id="1010" name="32 · rule-line · surface [p32-e0011]"/>
            <p:cNvSpPr/>
            <p:nvPr/>
          </p:nvSpPr>
          <p:spPr>
            <a:xfrm>
              <a:off x="6648450" y="3840353"/>
              <a:ext cx="4660900" cy="6350"/>
            </a:xfrm>
            <a:prstGeom prst="rect">
              <a:avLst/>
            </a:prstGeom>
            <a:solidFill>
              <a:srgbClr val="A9CBDC"/>
            </a:solidFill>
            <a:ln>
              <a:noFill/>
            </a:ln>
          </p:spPr>
        </p:sp>
      </p:grpSp>
      <p:grpSp>
        <p:nvGrpSpPr>
          <p:cNvPr id="1026" name="32 · card lilac: Evaluate the decision."/>
          <p:cNvGrpSpPr/>
          <p:nvPr/>
        </p:nvGrpSpPr>
        <p:grpSpPr>
          <a:xfrm>
            <a:off x="781050" y="2486534"/>
            <a:ext cx="4800600" cy="1998979"/>
            <a:chOff x="781050" y="2486534"/>
            <a:chExt cx="4800600" cy="1998979"/>
          </a:xfrm>
        </p:grpSpPr>
        <p:sp>
          <p:nvSpPr>
            <p:cNvPr id="1011" name="32 · evaluation-text-1: Evaluate the decision. [p32-text-0012]" descr="Native editable Unicode text; authored line breaks retained."/>
            <p:cNvSpPr txBox="1"/>
            <p:nvPr/>
          </p:nvSpPr>
          <p:spPr>
            <a:xfrm>
              <a:off x="781050" y="2486534"/>
              <a:ext cx="4800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Evaluate the decision.</a:t>
              </a:r>
              <a:endParaRPr lang="en-US" sz="2000" b="1" i="0" kern="0" spc="-38" dirty="0">
                <a:solidFill>
                  <a:srgbClr val="022AC0"/>
                </a:solidFill>
                <a:latin typeface="Manrope"/>
                <a:ea typeface="Manrope"/>
                <a:cs typeface="Manrope"/>
              </a:endParaRPr>
            </a:p>
          </p:txBody>
        </p:sp>
        <p:sp>
          <p:nvSpPr>
            <p:cNvPr id="1012" name="32 · evaluation-text-2: Same held-out snapshots. Same route question. Fixed permissions and tools. [p32-text-0013]" descr="Native editable Unicode text; authored line breaks retained."/>
            <p:cNvSpPr txBox="1"/>
            <p:nvPr/>
          </p:nvSpPr>
          <p:spPr>
            <a:xfrm>
              <a:off x="781050" y="2936442"/>
              <a:ext cx="4800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Same held-out snapshots.</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Same route question.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Fixed permissions and tools.</a:t>
              </a:r>
              <a:endParaRPr lang="en-US" sz="1400" b="0" i="0" kern="0" spc="0" dirty="0">
                <a:solidFill>
                  <a:srgbClr val="032D60"/>
                </a:solidFill>
                <a:latin typeface="Salesforce Sans"/>
                <a:ea typeface="Salesforce Sans"/>
                <a:cs typeface="Salesforce Sans"/>
              </a:endParaRPr>
            </a:p>
          </p:txBody>
        </p:sp>
        <p:sp>
          <p:nvSpPr>
            <p:cNvPr id="1013" name="32 · evaluation-text-3: Each model’s gate is selected on development data. [p32-text-0014]" descr="Native editable Unicode text; authored line breaks retained."/>
            <p:cNvSpPr txBox="1"/>
            <p:nvPr/>
          </p:nvSpPr>
          <p:spPr>
            <a:xfrm>
              <a:off x="781050" y="4018789"/>
              <a:ext cx="4800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Each model’s gate is selected</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on development data.</a:t>
              </a:r>
              <a:endParaRPr lang="en-US" sz="1250" b="0" i="0" kern="0" spc="0" dirty="0">
                <a:solidFill>
                  <a:srgbClr val="032D60"/>
                </a:solidFill>
                <a:latin typeface="Salesforce Sans"/>
                <a:ea typeface="Salesforce Sans"/>
                <a:cs typeface="Salesforce Sans"/>
              </a:endParaRPr>
            </a:p>
          </p:txBody>
        </p:sp>
      </p:grpSp>
      <p:grpSp>
        <p:nvGrpSpPr>
          <p:cNvPr id="1027" name="32 · card mint: Evaluate the complete case."/>
          <p:cNvGrpSpPr/>
          <p:nvPr/>
        </p:nvGrpSpPr>
        <p:grpSpPr>
          <a:xfrm>
            <a:off x="6648450" y="2486534"/>
            <a:ext cx="4673600" cy="1998979"/>
            <a:chOff x="6648450" y="2486534"/>
            <a:chExt cx="4673600" cy="1998979"/>
          </a:xfrm>
        </p:grpSpPr>
        <p:sp>
          <p:nvSpPr>
            <p:cNvPr id="1014" name="32 · evaluation-text-4: Evaluate the complete case. [p32-text-0015]" descr="Native editable Unicode text; authored line breaks retained."/>
            <p:cNvSpPr txBox="1"/>
            <p:nvPr/>
          </p:nvSpPr>
          <p:spPr>
            <a:xfrm>
              <a:off x="6648450" y="2486534"/>
              <a:ext cx="46736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Evaluate the complete case.</a:t>
              </a:r>
              <a:endParaRPr lang="en-US" sz="2000" b="1" i="0" kern="0" spc="-38" dirty="0">
                <a:solidFill>
                  <a:srgbClr val="022AC0"/>
                </a:solidFill>
                <a:latin typeface="Manrope"/>
                <a:ea typeface="Manrope"/>
                <a:cs typeface="Manrope"/>
              </a:endParaRPr>
            </a:p>
          </p:txBody>
        </p:sp>
        <p:sp>
          <p:nvSpPr>
            <p:cNvPr id="1015" name="32 · evaluation-text-5: Randomized case/account assignment. Consistent treatment and horizon. Costs, q [p32-text-0016]" descr="Native editable Unicode text; authored line breaks retained."/>
            <p:cNvSpPr txBox="1"/>
            <p:nvPr/>
          </p:nvSpPr>
          <p:spPr>
            <a:xfrm>
              <a:off x="6648450" y="2936442"/>
              <a:ext cx="4673600" cy="76377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Randomized case/account assignment.</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Consistent treatment and horizon.</a:t>
              </a:r>
              <a:endParaRPr lang="en-US" sz="1400" b="0" i="0" kern="0" spc="0" dirty="0">
                <a:solidFill>
                  <a:srgbClr val="032D60"/>
                </a:solidFill>
                <a:latin typeface="Salesforce Sans"/>
                <a:ea typeface="Salesforce Sans"/>
                <a:cs typeface="Salesforce Sans"/>
              </a:endParaRPr>
            </a:p>
            <a:p>
              <a:pPr marL="0" marR="0" indent="0" algn="l" fontAlgn="base">
                <a:lnSpc>
                  <a:spcPts val="1988"/>
                </a:lnSpc>
                <a:spcBef>
                  <a:spcPts val="0"/>
                </a:spcBef>
                <a:spcAft>
                  <a:spcPts val="0"/>
                </a:spcAft>
                <a:buNone/>
              </a:pPr>
              <a:r>
                <a:rPr lang="en-US" sz="1400" b="0" i="0" kern="0" spc="0" dirty="0">
                  <a:solidFill>
                    <a:srgbClr val="032D60"/>
                  </a:solidFill>
                  <a:latin typeface="Salesforce Sans"/>
                  <a:ea typeface="Salesforce Sans"/>
                  <a:cs typeface="Salesforce Sans"/>
                </a:rPr>
                <a:t>Costs, queues, and unresolved work.</a:t>
              </a:r>
              <a:endParaRPr lang="en-US" sz="1400" b="0" i="0" kern="0" spc="0" dirty="0">
                <a:solidFill>
                  <a:srgbClr val="032D60"/>
                </a:solidFill>
                <a:latin typeface="Salesforce Sans"/>
                <a:ea typeface="Salesforce Sans"/>
                <a:cs typeface="Salesforce Sans"/>
              </a:endParaRPr>
            </a:p>
          </p:txBody>
        </p:sp>
        <p:sp>
          <p:nvSpPr>
            <p:cNvPr id="1016" name="32 · evaluation-text-6: Pilot evidence must precede wider rollout. [p32-text-0017]" descr="Native editable Unicode text; authored line breaks retained."/>
            <p:cNvSpPr txBox="1"/>
            <p:nvPr/>
          </p:nvSpPr>
          <p:spPr>
            <a:xfrm>
              <a:off x="6648450" y="4018789"/>
              <a:ext cx="4673600" cy="4667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Pilot evidence must precede</a:t>
              </a:r>
              <a:endParaRPr lang="en-US" sz="1250" b="0" i="0" kern="0" spc="0" dirty="0">
                <a:solidFill>
                  <a:srgbClr val="032D60"/>
                </a:solidFill>
                <a:latin typeface="Salesforce Sans"/>
                <a:ea typeface="Salesforce Sans"/>
                <a:cs typeface="Salesforce Sans"/>
              </a:endParaRPr>
            </a:p>
            <a:p>
              <a:pPr marL="0" marR="0" indent="0" algn="l" fontAlgn="base">
                <a:lnSpc>
                  <a:spcPts val="1812"/>
                </a:lnSpc>
                <a:spcBef>
                  <a:spcPts val="0"/>
                </a:spcBef>
                <a:spcAft>
                  <a:spcPts val="0"/>
                </a:spcAft>
                <a:buNone/>
              </a:pPr>
              <a:r>
                <a:rPr lang="en-US" sz="1250" b="0" i="0" kern="0" spc="0" dirty="0">
                  <a:solidFill>
                    <a:srgbClr val="032D60"/>
                  </a:solidFill>
                  <a:latin typeface="Salesforce Sans"/>
                  <a:ea typeface="Salesforce Sans"/>
                  <a:cs typeface="Salesforce Sans"/>
                </a:rPr>
                <a:t>wider rollout.</a:t>
              </a:r>
              <a:endParaRPr lang="en-US" sz="1250" b="0" i="0" kern="0" spc="0" dirty="0">
                <a:solidFill>
                  <a:srgbClr val="032D60"/>
                </a:solidFill>
                <a:latin typeface="Salesforce Sans"/>
                <a:ea typeface="Salesforce Sans"/>
                <a:cs typeface="Salesforce Sans"/>
              </a:endParaRPr>
            </a:p>
          </p:txBody>
        </p:sp>
      </p:grpSp>
      <p:sp>
        <p:nvSpPr>
          <p:cNvPr id="1017" name="32 · tag: PAIRED OFFLINE COMPARISON [p32-text-0018]" descr="Native editable Unicode text; authored line breaks retained."/>
          <p:cNvSpPr txBox="1"/>
          <p:nvPr/>
        </p:nvSpPr>
        <p:spPr>
          <a:xfrm>
            <a:off x="781050" y="2178048"/>
            <a:ext cx="4800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PAIRED OFFLINE COMPARISON</a:t>
            </a:r>
            <a:endParaRPr lang="en-US" sz="1050" b="0" i="0" kern="0" spc="50" dirty="0">
              <a:solidFill>
                <a:srgbClr val="022AC0">
                  <a:alpha val="85000"/>
                </a:srgbClr>
              </a:solidFill>
              <a:latin typeface="IBM Plex Mono"/>
              <a:ea typeface="IBM Plex Mono"/>
              <a:cs typeface="IBM Plex Mono"/>
            </a:endParaRPr>
          </a:p>
        </p:txBody>
      </p:sp>
      <p:sp>
        <p:nvSpPr>
          <p:cNvPr id="1018" name="32 · tag: CONTROLLED SERVICE PILOT [p32-text-0019]" descr="Native editable Unicode text; authored line breaks retained."/>
          <p:cNvSpPr txBox="1"/>
          <p:nvPr/>
        </p:nvSpPr>
        <p:spPr>
          <a:xfrm>
            <a:off x="6648450" y="2178048"/>
            <a:ext cx="4673600" cy="17971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0" i="0" kern="0" spc="50" dirty="0">
                <a:solidFill>
                  <a:srgbClr val="022AC0">
                    <a:alpha val="85000"/>
                  </a:srgbClr>
                </a:solidFill>
                <a:latin typeface="IBM Plex Mono"/>
                <a:ea typeface="IBM Plex Mono"/>
                <a:cs typeface="IBM Plex Mono"/>
              </a:rPr>
              <a:t>CONTROLLED SERVICE PILOT</a:t>
            </a:r>
            <a:endParaRPr lang="en-US" sz="1050" b="0" i="0" kern="0" spc="50" dirty="0">
              <a:solidFill>
                <a:srgbClr val="022AC0">
                  <a:alpha val="85000"/>
                </a:srgbClr>
              </a:solidFill>
              <a:latin typeface="IBM Plex Mono"/>
              <a:ea typeface="IBM Plex Mono"/>
              <a:cs typeface="IBM Plex Mono"/>
            </a:endParaRPr>
          </a:p>
        </p:txBody>
      </p:sp>
      <p:grpSp>
        <p:nvGrpSpPr>
          <p:cNvPr id="1028" name="32 · source-line: Tutorial evaluation protocol"/>
          <p:cNvGrpSpPr/>
          <p:nvPr/>
        </p:nvGrpSpPr>
        <p:grpSpPr>
          <a:xfrm>
            <a:off x="558800" y="6037898"/>
            <a:ext cx="11087100" cy="284456"/>
            <a:chOff x="558800" y="6037898"/>
            <a:chExt cx="11087100" cy="284456"/>
          </a:xfrm>
        </p:grpSpPr>
        <p:sp>
          <p:nvSpPr>
            <p:cNvPr id="1019" name="32 · source-line · top border [p32-e0026]"/>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20" name="32 · span: Tutorial evaluation protocol [p32-text-0020]" descr="Native editable Unicode text; authored line breaks retained."/>
            <p:cNvSpPr txBox="1"/>
            <p:nvPr/>
          </p:nvSpPr>
          <p:spPr>
            <a:xfrm>
              <a:off x="558800" y="6153126"/>
              <a:ext cx="154486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Tutorial evaluation protocol</a:t>
              </a:r>
              <a:endParaRPr lang="en-US" sz="950" b="0" i="0" kern="0" spc="0" dirty="0" u="sng">
                <a:solidFill>
                  <a:srgbClr val="315A7A"/>
                </a:solidFill>
                <a:latin typeface="Salesforce Sans"/>
                <a:ea typeface="Salesforce Sans"/>
                <a:cs typeface="Salesforce Sans"/>
              </a:endParaRPr>
            </a:p>
          </p:txBody>
        </p:sp>
        <p:sp>
          <p:nvSpPr>
            <p:cNvPr id="1021" name="32 · span: Proposed controlled evaluation [p32-text-0021]" descr="Native editable Unicode text; authored line breaks retained."/>
            <p:cNvSpPr txBox="1"/>
            <p:nvPr/>
          </p:nvSpPr>
          <p:spPr>
            <a:xfrm>
              <a:off x="9886876" y="6153126"/>
              <a:ext cx="175902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Proposed controlled evaluation</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Diagnose the boundary that failed">
    <p:bg>
      <p:bgPr>
        <a:solidFill>
          <a:srgbClr val="FFFFFF"/>
        </a:solidFill>
      </p:bgPr>
    </p:bg>
    <p:spTree>
      <p:nvGrpSpPr>
        <p:cNvPr id="1" name=""/>
        <p:cNvGrpSpPr/>
        <p:nvPr/>
      </p:nvGrpSpPr>
      <p:grpSpPr>
        <a:xfrm>
          <a:off x="0" y="0"/>
          <a:ext cx="0" cy="0"/>
          <a:chOff x="0" y="0"/>
          <a:chExt cx="0" cy="0"/>
        </a:xfrm>
      </p:grpSpPr>
      <p:sp>
        <p:nvSpPr>
          <p:cNvPr id="1000" name="33 · slide light · surface [p33-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6" name="33 · chrome-min: DISAGGREGATED INTELLIGENCE"/>
          <p:cNvGrpSpPr/>
          <p:nvPr/>
        </p:nvGrpSpPr>
        <p:grpSpPr>
          <a:xfrm>
            <a:off x="558800" y="356053"/>
            <a:ext cx="11087100" cy="187325"/>
            <a:chOff x="558800" y="356053"/>
            <a:chExt cx="11087100" cy="187325"/>
          </a:xfrm>
        </p:grpSpPr>
        <p:sp>
          <p:nvSpPr>
            <p:cNvPr id="1001" name="33 · l: DISAGGREGATED INTELLIGENCE [p33-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3 · r: 33 / 36 [p33-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33 / 36</a:t>
              </a:r>
              <a:endParaRPr lang="en-US" sz="950" b="1" i="0" kern="0" spc="65" dirty="0">
                <a:solidFill>
                  <a:srgbClr val="022AC0"/>
                </a:solidFill>
                <a:latin typeface="Salesforce Sans"/>
                <a:ea typeface="Salesforce Sans"/>
                <a:cs typeface="Salesforce Sans"/>
              </a:endParaRPr>
            </a:p>
          </p:txBody>
        </p:sp>
      </p:grpSp>
      <p:grpSp>
        <p:nvGrpSpPr>
          <p:cNvPr id="1037" name="33 · deck-head: 09 / IMPROVE THE RESPONSIBLE COMPONENT"/>
          <p:cNvGrpSpPr/>
          <p:nvPr/>
        </p:nvGrpSpPr>
        <p:grpSpPr>
          <a:xfrm>
            <a:off x="558800" y="775901"/>
            <a:ext cx="11087100" cy="871263"/>
            <a:chOff x="558800" y="775901"/>
            <a:chExt cx="11087100" cy="871263"/>
          </a:xfrm>
        </p:grpSpPr>
        <p:sp>
          <p:nvSpPr>
            <p:cNvPr id="1003" name="33 · diagnosis-eyebrow: 09 / IMPROVE THE RESPONSIBLE COMPONENT [p33-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09 / IMPROVE THE RESPONSIBLE COMPONENT</a:t>
              </a:r>
              <a:endParaRPr lang="en-US" sz="1050" b="1" i="0" kern="0" spc="68" dirty="0">
                <a:solidFill>
                  <a:srgbClr val="022AC0"/>
                </a:solidFill>
                <a:latin typeface="Salesforce Sans"/>
                <a:ea typeface="Salesforce Sans"/>
                <a:cs typeface="Salesforce Sans"/>
              </a:endParaRPr>
            </a:p>
          </p:txBody>
        </p:sp>
        <p:sp>
          <p:nvSpPr>
            <p:cNvPr id="1004" name="33 · diagnosis-title: Diagnose the boundary that failed [p33-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Diagnose the boundary that failed</a:t>
              </a:r>
              <a:endParaRPr lang="en-US" sz="3600" b="1" i="0" kern="0" spc="-95" dirty="0">
                <a:solidFill>
                  <a:srgbClr val="022AC0"/>
                </a:solidFill>
                <a:latin typeface="Manrope"/>
                <a:ea typeface="Manrope"/>
                <a:cs typeface="Manrope"/>
              </a:endParaRPr>
            </a:p>
          </p:txBody>
        </p:sp>
      </p:grpSp>
      <p:grpSp>
        <p:nvGrpSpPr>
          <p:cNvPr id="1005" name="33 · svg · drawing [p33-e0008]"/>
          <p:cNvGrpSpPr/>
          <p:nvPr/>
        </p:nvGrpSpPr>
        <p:grpSpPr>
          <a:xfrm>
            <a:off x="2116138" y="2641912"/>
            <a:ext cx="7890510" cy="1113072"/>
            <a:chOff x="2116138" y="2641912"/>
            <a:chExt cx="7890510" cy="1113072"/>
          </a:xfrm>
        </p:grpSpPr>
        <p:grpSp>
          <p:nvGrpSpPr>
            <p:cNvPr id="1006" name="path · 1 + arrowhead"/>
            <p:cNvGrpSpPr/>
            <p:nvPr/>
          </p:nvGrpSpPr>
          <p:grpSpPr>
            <a:xfrm>
              <a:off x="2116138" y="2641912"/>
              <a:ext cx="3979862" cy="1113072"/>
              <a:chOff x="2116138" y="2641912"/>
              <a:chExt cx="3979862" cy="1113072"/>
            </a:xfrm>
          </p:grpSpPr>
          <p:sp>
            <p:nvSpPr>
              <p:cNvPr id="1007" name="path · 1"/>
              <p:cNvSpPr/>
              <p:nvPr/>
            </p:nvSpPr>
            <p:spPr>
              <a:xfrm>
                <a:off x="2185352" y="2641912"/>
                <a:ext cx="3910648" cy="1095948"/>
              </a:xfrm>
              <a:custGeom>
                <a:avLst/>
                <a:gdLst/>
                <a:ahLst/>
                <a:cxnLst/>
                <a:rect l="0" t="0" r="r" b="b"/>
                <a:pathLst>
                  <a:path w="3910648" h="1095948" fill="none" stroke="1" extrusionOk="0">
                    <a:moveTo>
                      <a:pt x="3910648" y="0"/>
                    </a:moveTo>
                    <a:lnTo>
                      <a:pt x="3910648" y="582222"/>
                    </a:lnTo>
                    <a:lnTo>
                      <a:pt x="0" y="582222"/>
                    </a:lnTo>
                    <a:lnTo>
                      <a:pt x="0" y="1095948"/>
                    </a:lnTo>
                  </a:path>
                </a:pathLst>
              </a:custGeom>
              <a:noFill/>
              <a:ln w="15875" cap="flat" cmpd="sng" algn="ctr">
                <a:solidFill>
                  <a:srgbClr val="789B8E"/>
                </a:solidFill>
                <a:prstDash val="solid"/>
                <a:miter lim="400000"/>
                <a:headEnd type="none" w="med" len="med"/>
                <a:tailEnd type="none" w="med" len="med"/>
              </a:ln>
            </p:spPr>
          </p:sp>
          <p:grpSp>
            <p:nvGrpSpPr>
              <p:cNvPr id="1008" name="arr10 end"/>
              <p:cNvGrpSpPr/>
              <p:nvPr/>
            </p:nvGrpSpPr>
            <p:grpSpPr>
              <a:xfrm>
                <a:off x="2116138" y="3617991"/>
                <a:ext cx="138430" cy="136993"/>
                <a:chOff x="2116138" y="3617991"/>
                <a:chExt cx="138430" cy="136993"/>
              </a:xfrm>
            </p:grpSpPr>
            <p:sp>
              <p:nvSpPr>
                <p:cNvPr id="1009" name="path · 2"/>
                <p:cNvSpPr/>
                <p:nvPr/>
              </p:nvSpPr>
              <p:spPr>
                <a:xfrm>
                  <a:off x="2116138" y="3617991"/>
                  <a:ext cx="138430" cy="136993"/>
                </a:xfrm>
                <a:custGeom>
                  <a:avLst/>
                  <a:gdLst/>
                  <a:ahLst/>
                  <a:cxnLst/>
                  <a:rect l="0" t="0" r="r" b="b"/>
                  <a:pathLst>
                    <a:path w="138430" h="136993" fill="norm" stroke="0" extrusionOk="0">
                      <a:moveTo>
                        <a:pt x="138430" y="0"/>
                      </a:moveTo>
                      <a:lnTo>
                        <a:pt x="69214" y="136993"/>
                      </a:lnTo>
                      <a:lnTo>
                        <a:pt x="0" y="0"/>
                      </a:lnTo>
                      <a:close/>
                    </a:path>
                  </a:pathLst>
                </a:custGeom>
                <a:solidFill>
                  <a:srgbClr val="789B8E"/>
                </a:solidFill>
                <a:ln>
                  <a:noFill/>
                </a:ln>
              </p:spPr>
            </p:sp>
          </p:grpSp>
        </p:grpSp>
        <p:grpSp>
          <p:nvGrpSpPr>
            <p:cNvPr id="1010" name="path · 3 + arrowhead"/>
            <p:cNvGrpSpPr/>
            <p:nvPr/>
          </p:nvGrpSpPr>
          <p:grpSpPr>
            <a:xfrm>
              <a:off x="6026785" y="3224134"/>
              <a:ext cx="138430" cy="530850"/>
              <a:chOff x="6026785" y="3224134"/>
              <a:chExt cx="138430" cy="530850"/>
            </a:xfrm>
          </p:grpSpPr>
          <p:sp>
            <p:nvSpPr>
              <p:cNvPr id="1011" name="path · 3"/>
              <p:cNvSpPr/>
              <p:nvPr/>
            </p:nvSpPr>
            <p:spPr>
              <a:xfrm>
                <a:off x="6096000" y="3224134"/>
                <a:ext cx="1" cy="513725"/>
              </a:xfrm>
              <a:custGeom>
                <a:avLst/>
                <a:gdLst/>
                <a:ahLst/>
                <a:cxnLst/>
                <a:rect l="0" t="0" r="r" b="b"/>
                <a:pathLst>
                  <a:path w="1" h="513725" fill="none" stroke="1" extrusionOk="0">
                    <a:moveTo>
                      <a:pt x="0" y="0"/>
                    </a:moveTo>
                    <a:lnTo>
                      <a:pt x="0" y="513726"/>
                    </a:lnTo>
                  </a:path>
                </a:pathLst>
              </a:custGeom>
              <a:noFill/>
              <a:ln w="15875" cap="flat" cmpd="sng" algn="ctr">
                <a:solidFill>
                  <a:srgbClr val="789B8E"/>
                </a:solidFill>
                <a:prstDash val="solid"/>
                <a:miter lim="400000"/>
                <a:headEnd type="none" w="med" len="med"/>
                <a:tailEnd type="none" w="med" len="med"/>
              </a:ln>
            </p:spPr>
          </p:sp>
          <p:grpSp>
            <p:nvGrpSpPr>
              <p:cNvPr id="1012" name="arr10 end"/>
              <p:cNvGrpSpPr/>
              <p:nvPr/>
            </p:nvGrpSpPr>
            <p:grpSpPr>
              <a:xfrm>
                <a:off x="6026785" y="3617991"/>
                <a:ext cx="138430" cy="136993"/>
                <a:chOff x="6026785" y="3617991"/>
                <a:chExt cx="138430" cy="136993"/>
              </a:xfrm>
            </p:grpSpPr>
            <p:sp>
              <p:nvSpPr>
                <p:cNvPr id="1013" name="path · 4"/>
                <p:cNvSpPr/>
                <p:nvPr/>
              </p:nvSpPr>
              <p:spPr>
                <a:xfrm>
                  <a:off x="6026785" y="3617991"/>
                  <a:ext cx="138430" cy="136993"/>
                </a:xfrm>
                <a:custGeom>
                  <a:avLst/>
                  <a:gdLst/>
                  <a:ahLst/>
                  <a:cxnLst/>
                  <a:rect l="0" t="0" r="r" b="b"/>
                  <a:pathLst>
                    <a:path w="138430" h="136993" fill="norm" stroke="0" extrusionOk="0">
                      <a:moveTo>
                        <a:pt x="138430" y="0"/>
                      </a:moveTo>
                      <a:lnTo>
                        <a:pt x="69215" y="136993"/>
                      </a:lnTo>
                      <a:lnTo>
                        <a:pt x="0" y="0"/>
                      </a:lnTo>
                      <a:close/>
                    </a:path>
                  </a:pathLst>
                </a:custGeom>
                <a:solidFill>
                  <a:srgbClr val="789B8E"/>
                </a:solidFill>
                <a:ln>
                  <a:noFill/>
                </a:ln>
              </p:spPr>
            </p:sp>
          </p:grpSp>
        </p:grpSp>
        <p:grpSp>
          <p:nvGrpSpPr>
            <p:cNvPr id="1014" name="path · 5 + arrowhead"/>
            <p:cNvGrpSpPr/>
            <p:nvPr/>
          </p:nvGrpSpPr>
          <p:grpSpPr>
            <a:xfrm>
              <a:off x="6096000" y="3224134"/>
              <a:ext cx="3910648" cy="530850"/>
              <a:chOff x="6096000" y="3224134"/>
              <a:chExt cx="3910648" cy="530850"/>
            </a:xfrm>
          </p:grpSpPr>
          <p:sp>
            <p:nvSpPr>
              <p:cNvPr id="1015" name="path · 5"/>
              <p:cNvSpPr/>
              <p:nvPr/>
            </p:nvSpPr>
            <p:spPr>
              <a:xfrm>
                <a:off x="6096000" y="3224134"/>
                <a:ext cx="3841433" cy="513725"/>
              </a:xfrm>
              <a:custGeom>
                <a:avLst/>
                <a:gdLst/>
                <a:ahLst/>
                <a:cxnLst/>
                <a:rect l="0" t="0" r="r" b="b"/>
                <a:pathLst>
                  <a:path w="3841433" h="513725" fill="none" stroke="1" extrusionOk="0">
                    <a:moveTo>
                      <a:pt x="0" y="0"/>
                    </a:moveTo>
                    <a:lnTo>
                      <a:pt x="3841432" y="0"/>
                    </a:lnTo>
                    <a:lnTo>
                      <a:pt x="3841432" y="513726"/>
                    </a:lnTo>
                  </a:path>
                </a:pathLst>
              </a:custGeom>
              <a:noFill/>
              <a:ln w="15875" cap="flat" cmpd="sng" algn="ctr">
                <a:solidFill>
                  <a:srgbClr val="789B8E"/>
                </a:solidFill>
                <a:prstDash val="solid"/>
                <a:miter lim="400000"/>
                <a:headEnd type="none" w="med" len="med"/>
                <a:tailEnd type="none" w="med" len="med"/>
              </a:ln>
            </p:spPr>
          </p:sp>
          <p:grpSp>
            <p:nvGrpSpPr>
              <p:cNvPr id="1016" name="arr10 end"/>
              <p:cNvGrpSpPr/>
              <p:nvPr/>
            </p:nvGrpSpPr>
            <p:grpSpPr>
              <a:xfrm>
                <a:off x="9868218" y="3617991"/>
                <a:ext cx="138430" cy="136993"/>
                <a:chOff x="9868218" y="3617991"/>
                <a:chExt cx="138430" cy="136993"/>
              </a:xfrm>
            </p:grpSpPr>
            <p:sp>
              <p:nvSpPr>
                <p:cNvPr id="1017" name="path · 6"/>
                <p:cNvSpPr/>
                <p:nvPr/>
              </p:nvSpPr>
              <p:spPr>
                <a:xfrm>
                  <a:off x="9868218" y="3617991"/>
                  <a:ext cx="138430" cy="136993"/>
                </a:xfrm>
                <a:custGeom>
                  <a:avLst/>
                  <a:gdLst/>
                  <a:ahLst/>
                  <a:cxnLst/>
                  <a:rect l="0" t="0" r="r" b="b"/>
                  <a:pathLst>
                    <a:path w="138430" h="136993" fill="norm" stroke="0" extrusionOk="0">
                      <a:moveTo>
                        <a:pt x="138430" y="0"/>
                      </a:moveTo>
                      <a:lnTo>
                        <a:pt x="69214" y="136993"/>
                      </a:lnTo>
                      <a:lnTo>
                        <a:pt x="0" y="0"/>
                      </a:lnTo>
                      <a:close/>
                    </a:path>
                  </a:pathLst>
                </a:custGeom>
                <a:solidFill>
                  <a:srgbClr val="789B8E"/>
                </a:solidFill>
                <a:ln>
                  <a:noFill/>
                </a:ln>
              </p:spPr>
            </p:sp>
          </p:grpSp>
        </p:grpSp>
      </p:grpSp>
      <p:grpSp>
        <p:nvGrpSpPr>
          <p:cNvPr id="1038" name="33 · node peach: Exchange authorized; cable task lost"/>
          <p:cNvGrpSpPr/>
          <p:nvPr/>
        </p:nvGrpSpPr>
        <p:grpSpPr>
          <a:xfrm>
            <a:off x="3742690" y="1854200"/>
            <a:ext cx="4775835" cy="787693"/>
            <a:chOff x="3742690" y="1854200"/>
            <a:chExt cx="4775835" cy="787693"/>
          </a:xfrm>
        </p:grpSpPr>
        <p:sp>
          <p:nvSpPr>
            <p:cNvPr id="1018" name="33 · node peach · surface [p33-e0009]"/>
            <p:cNvSpPr/>
            <p:nvPr/>
          </p:nvSpPr>
          <p:spPr>
            <a:xfrm>
              <a:off x="3742690" y="1854200"/>
              <a:ext cx="4775835" cy="787693"/>
            </a:xfrm>
            <a:prstGeom prst="roundRect">
              <a:avLst>
                <a:gd name="adj" fmla="val 17735"/>
              </a:avLst>
            </a:prstGeom>
            <a:solidFill>
              <a:srgbClr val="FBE5DF"/>
            </a:solidFill>
            <a:ln>
              <a:noFill/>
            </a:ln>
          </p:spPr>
        </p:sp>
        <p:sp>
          <p:nvSpPr>
            <p:cNvPr id="1019" name="33 · strong: Exchange authorized; cable task lost [p33-text-0013]" descr="Native editable Unicode text; authored line breaks retained."/>
            <p:cNvSpPr txBox="1"/>
            <p:nvPr/>
          </p:nvSpPr>
          <p:spPr>
            <a:xfrm>
              <a:off x="3920490" y="1997610"/>
              <a:ext cx="443293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Exchange authorized; cable task lost</a:t>
              </a:r>
              <a:endParaRPr lang="en-US" sz="1450" b="1" i="0" kern="0" spc="0" dirty="0">
                <a:solidFill>
                  <a:srgbClr val="032D60"/>
                </a:solidFill>
                <a:latin typeface="Salesforce Sans"/>
                <a:ea typeface="Salesforce Sans"/>
                <a:cs typeface="Salesforce Sans"/>
              </a:endParaRPr>
            </a:p>
          </p:txBody>
        </p:sp>
        <p:sp>
          <p:nvSpPr>
            <p:cNvPr id="1020" name="33 · small: Inspect the recorded route and state changes [p33-text-0014]" descr="Native editable Unicode text; authored line breaks retained."/>
            <p:cNvSpPr txBox="1"/>
            <p:nvPr/>
          </p:nvSpPr>
          <p:spPr>
            <a:xfrm>
              <a:off x="3920490" y="2308930"/>
              <a:ext cx="4432935" cy="19494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the recorded route and state changes</a:t>
              </a:r>
              <a:endParaRPr lang="en-US" sz="1100" b="0" i="0" kern="0" spc="0" dirty="0">
                <a:solidFill>
                  <a:srgbClr val="032D60"/>
                </a:solidFill>
                <a:latin typeface="Salesforce Sans"/>
                <a:ea typeface="Salesforce Sans"/>
                <a:cs typeface="Salesforce Sans"/>
              </a:endParaRPr>
            </a:p>
          </p:txBody>
        </p:sp>
      </p:grpSp>
      <p:grpSp>
        <p:nvGrpSpPr>
          <p:cNvPr id="1039" name="33 · node lilac: ONLY EXCHANGE RECORDED"/>
          <p:cNvGrpSpPr/>
          <p:nvPr/>
        </p:nvGrpSpPr>
        <p:grpSpPr>
          <a:xfrm>
            <a:off x="558800" y="3772123"/>
            <a:ext cx="3253105" cy="1575428"/>
            <a:chOff x="558800" y="3772123"/>
            <a:chExt cx="3253105" cy="1575428"/>
          </a:xfrm>
        </p:grpSpPr>
        <p:sp>
          <p:nvSpPr>
            <p:cNvPr id="1021" name="33 · node lilac · surface [p33-e0012]"/>
            <p:cNvSpPr/>
            <p:nvPr/>
          </p:nvSpPr>
          <p:spPr>
            <a:xfrm>
              <a:off x="558800" y="3772123"/>
              <a:ext cx="3253105" cy="1575428"/>
            </a:xfrm>
            <a:prstGeom prst="roundRect">
              <a:avLst>
                <a:gd name="adj" fmla="val 8867"/>
              </a:avLst>
            </a:prstGeom>
            <a:solidFill>
              <a:srgbClr val="EAE6FA"/>
            </a:solidFill>
            <a:ln>
              <a:noFill/>
            </a:ln>
          </p:spPr>
        </p:sp>
        <p:sp>
          <p:nvSpPr>
            <p:cNvPr id="1022" name="33 · mini: ONLY EXCHANGE RECORDED [p33-text-0015]" descr="Native editable Unicode text; authored line breaks retained."/>
            <p:cNvSpPr txBox="1"/>
            <p:nvPr/>
          </p:nvSpPr>
          <p:spPr>
            <a:xfrm>
              <a:off x="73660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ONLY EXCHANGE RECORDED</a:t>
              </a:r>
              <a:endParaRPr lang="en-US" sz="950" b="0" i="0" kern="0" spc="50" dirty="0">
                <a:solidFill>
                  <a:srgbClr val="022AC0"/>
                </a:solidFill>
                <a:latin typeface="IBM Plex Mono"/>
                <a:ea typeface="IBM Plex Mono"/>
                <a:cs typeface="IBM Plex Mono"/>
              </a:endParaRPr>
            </a:p>
          </p:txBody>
        </p:sp>
        <p:sp>
          <p:nvSpPr>
            <p:cNvPr id="1023" name="33 · strong: Decision boundary [p33-text-0016]" descr="Native editable Unicode text; authored line breaks retained."/>
            <p:cNvSpPr txBox="1"/>
            <p:nvPr/>
          </p:nvSpPr>
          <p:spPr>
            <a:xfrm>
              <a:off x="73660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Decision boundary</a:t>
              </a:r>
              <a:endParaRPr lang="en-US" sz="1450" b="1" i="0" kern="0" spc="0" dirty="0">
                <a:solidFill>
                  <a:srgbClr val="032D60"/>
                </a:solidFill>
                <a:latin typeface="Salesforce Sans"/>
                <a:ea typeface="Salesforce Sans"/>
                <a:cs typeface="Salesforce Sans"/>
              </a:endParaRPr>
            </a:p>
          </p:txBody>
        </p:sp>
        <p:sp>
          <p:nvSpPr>
            <p:cNvPr id="1024" name="33 · small: Inspect input evidence, labels, and category definition. [p33-text-0017]" descr="Native editable Unicode text; authored line breaks retained."/>
            <p:cNvSpPr txBox="1"/>
            <p:nvPr/>
          </p:nvSpPr>
          <p:spPr>
            <a:xfrm>
              <a:off x="73660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input evidence,</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labels, and category definition.</a:t>
              </a:r>
              <a:endParaRPr lang="en-US" sz="1100" b="0" i="0" kern="0" spc="0" dirty="0">
                <a:solidFill>
                  <a:srgbClr val="032D60"/>
                </a:solidFill>
                <a:latin typeface="Salesforce Sans"/>
                <a:ea typeface="Salesforce Sans"/>
                <a:cs typeface="Salesforce Sans"/>
              </a:endParaRPr>
            </a:p>
          </p:txBody>
        </p:sp>
      </p:grpSp>
      <p:grpSp>
        <p:nvGrpSpPr>
          <p:cNvPr id="1040" name="33 · node mint: BOTH TASKS RECORDED"/>
          <p:cNvGrpSpPr/>
          <p:nvPr/>
        </p:nvGrpSpPr>
        <p:grpSpPr>
          <a:xfrm>
            <a:off x="4434840" y="3772123"/>
            <a:ext cx="3253105" cy="1575428"/>
            <a:chOff x="4434840" y="3772123"/>
            <a:chExt cx="3253105" cy="1575428"/>
          </a:xfrm>
        </p:grpSpPr>
        <p:sp>
          <p:nvSpPr>
            <p:cNvPr id="1025" name="33 · node mint · surface [p33-e0017]"/>
            <p:cNvSpPr/>
            <p:nvPr/>
          </p:nvSpPr>
          <p:spPr>
            <a:xfrm>
              <a:off x="4434840" y="3772123"/>
              <a:ext cx="3253105" cy="1575428"/>
            </a:xfrm>
            <a:prstGeom prst="roundRect">
              <a:avLst>
                <a:gd name="adj" fmla="val 8867"/>
              </a:avLst>
            </a:prstGeom>
            <a:solidFill>
              <a:srgbClr val="DDF3ED"/>
            </a:solidFill>
            <a:ln>
              <a:noFill/>
            </a:ln>
          </p:spPr>
        </p:sp>
        <p:sp>
          <p:nvSpPr>
            <p:cNvPr id="1026" name="33 · mini: BOTH TASKS RECORDED [p33-text-0018]" descr="Native editable Unicode text; authored line breaks retained."/>
            <p:cNvSpPr txBox="1"/>
            <p:nvPr/>
          </p:nvSpPr>
          <p:spPr>
            <a:xfrm>
              <a:off x="461264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BOTH TASKS RECORDED</a:t>
              </a:r>
              <a:endParaRPr lang="en-US" sz="950" b="0" i="0" kern="0" spc="50" dirty="0">
                <a:solidFill>
                  <a:srgbClr val="022AC0"/>
                </a:solidFill>
                <a:latin typeface="IBM Plex Mono"/>
                <a:ea typeface="IBM Plex Mono"/>
                <a:cs typeface="IBM Plex Mono"/>
              </a:endParaRPr>
            </a:p>
          </p:txBody>
        </p:sp>
        <p:sp>
          <p:nvSpPr>
            <p:cNvPr id="1027" name="33 · strong: Workflow boundary [p33-text-0019]" descr="Native editable Unicode text; authored line breaks retained."/>
            <p:cNvSpPr txBox="1"/>
            <p:nvPr/>
          </p:nvSpPr>
          <p:spPr>
            <a:xfrm>
              <a:off x="461264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Workflow boundary</a:t>
              </a:r>
              <a:endParaRPr lang="en-US" sz="1450" b="1" i="0" kern="0" spc="0" dirty="0">
                <a:solidFill>
                  <a:srgbClr val="032D60"/>
                </a:solidFill>
                <a:latin typeface="Salesforce Sans"/>
                <a:ea typeface="Salesforce Sans"/>
                <a:cs typeface="Salesforce Sans"/>
              </a:endParaRPr>
            </a:p>
          </p:txBody>
        </p:sp>
        <p:sp>
          <p:nvSpPr>
            <p:cNvPr id="1028" name="33 · small: Inspect the transition that dropped the pending task. [p33-text-0020]" descr="Native editable Unicode text; authored line breaks retained."/>
            <p:cNvSpPr txBox="1"/>
            <p:nvPr/>
          </p:nvSpPr>
          <p:spPr>
            <a:xfrm>
              <a:off x="461264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the transition that</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dropped the pending task.</a:t>
              </a:r>
              <a:endParaRPr lang="en-US" sz="1100" b="0" i="0" kern="0" spc="0" dirty="0">
                <a:solidFill>
                  <a:srgbClr val="032D60"/>
                </a:solidFill>
                <a:latin typeface="Salesforce Sans"/>
                <a:ea typeface="Salesforce Sans"/>
                <a:cs typeface="Salesforce Sans"/>
              </a:endParaRPr>
            </a:p>
          </p:txBody>
        </p:sp>
      </p:grpSp>
      <p:grpSp>
        <p:nvGrpSpPr>
          <p:cNvPr id="1041" name="33 · node blue: TRACE LOOKS CORRECT"/>
          <p:cNvGrpSpPr/>
          <p:nvPr/>
        </p:nvGrpSpPr>
        <p:grpSpPr>
          <a:xfrm>
            <a:off x="8310880" y="3772123"/>
            <a:ext cx="3253105" cy="1575428"/>
            <a:chOff x="8310880" y="3772123"/>
            <a:chExt cx="3253105" cy="1575428"/>
          </a:xfrm>
        </p:grpSpPr>
        <p:sp>
          <p:nvSpPr>
            <p:cNvPr id="1029" name="33 · node blue · surface [p33-e0022]"/>
            <p:cNvSpPr/>
            <p:nvPr/>
          </p:nvSpPr>
          <p:spPr>
            <a:xfrm>
              <a:off x="8310880" y="3772123"/>
              <a:ext cx="3253105" cy="1575428"/>
            </a:xfrm>
            <a:prstGeom prst="roundRect">
              <a:avLst>
                <a:gd name="adj" fmla="val 8867"/>
              </a:avLst>
            </a:prstGeom>
            <a:solidFill>
              <a:srgbClr val="DCEEFE"/>
            </a:solidFill>
            <a:ln>
              <a:noFill/>
            </a:ln>
          </p:spPr>
        </p:sp>
        <p:sp>
          <p:nvSpPr>
            <p:cNvPr id="1030" name="33 · mini: TRACE LOOKS CORRECT [p33-text-0021]" descr="Native editable Unicode text; authored line breaks retained."/>
            <p:cNvSpPr txBox="1"/>
            <p:nvPr/>
          </p:nvSpPr>
          <p:spPr>
            <a:xfrm>
              <a:off x="8488680" y="4110641"/>
              <a:ext cx="2910205" cy="1631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35"/>
                </a:lnSpc>
                <a:spcBef>
                  <a:spcPts val="0"/>
                </a:spcBef>
                <a:spcAft>
                  <a:spcPts val="0"/>
                </a:spcAft>
                <a:buNone/>
              </a:pPr>
              <a:r>
                <a:rPr lang="en-US" sz="950" b="0" i="0" kern="0" spc="50" dirty="0">
                  <a:solidFill>
                    <a:srgbClr val="022AC0"/>
                  </a:solidFill>
                  <a:latin typeface="IBM Plex Mono"/>
                  <a:ea typeface="IBM Plex Mono"/>
                  <a:cs typeface="IBM Plex Mono"/>
                </a:rPr>
                <a:t>TRACE LOOKS CORRECT</a:t>
              </a:r>
              <a:endParaRPr lang="en-US" sz="950" b="0" i="0" kern="0" spc="50" dirty="0">
                <a:solidFill>
                  <a:srgbClr val="022AC0"/>
                </a:solidFill>
                <a:latin typeface="IBM Plex Mono"/>
                <a:ea typeface="IBM Plex Mono"/>
                <a:cs typeface="IBM Plex Mono"/>
              </a:endParaRPr>
            </a:p>
          </p:txBody>
        </p:sp>
        <p:sp>
          <p:nvSpPr>
            <p:cNvPr id="1031" name="33 · strong: Outcome boundary [p33-text-0022]" descr="Native editable Unicode text; authored line breaks retained."/>
            <p:cNvSpPr txBox="1"/>
            <p:nvPr/>
          </p:nvSpPr>
          <p:spPr>
            <a:xfrm>
              <a:off x="8488680" y="4325273"/>
              <a:ext cx="2910205" cy="242429"/>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69"/>
                </a:lnSpc>
                <a:spcBef>
                  <a:spcPts val="0"/>
                </a:spcBef>
                <a:spcAft>
                  <a:spcPts val="0"/>
                </a:spcAft>
                <a:buNone/>
              </a:pPr>
              <a:r>
                <a:rPr lang="en-US" sz="1450" b="1" i="0" kern="0" spc="0" dirty="0">
                  <a:solidFill>
                    <a:srgbClr val="032D60"/>
                  </a:solidFill>
                  <a:latin typeface="Salesforce Sans"/>
                  <a:ea typeface="Salesforce Sans"/>
                  <a:cs typeface="Salesforce Sans"/>
                </a:rPr>
                <a:t>Outcome boundary</a:t>
              </a:r>
              <a:endParaRPr lang="en-US" sz="1450" b="1" i="0" kern="0" spc="0" dirty="0">
                <a:solidFill>
                  <a:srgbClr val="032D60"/>
                </a:solidFill>
                <a:latin typeface="Salesforce Sans"/>
                <a:ea typeface="Salesforce Sans"/>
                <a:cs typeface="Salesforce Sans"/>
              </a:endParaRPr>
            </a:p>
          </p:txBody>
        </p:sp>
        <p:sp>
          <p:nvSpPr>
            <p:cNvPr id="1032" name="33 · small: Inspect services and the resolution condition. [p33-text-0023]" descr="Native editable Unicode text; authored line breaks retained."/>
            <p:cNvSpPr txBox="1"/>
            <p:nvPr/>
          </p:nvSpPr>
          <p:spPr>
            <a:xfrm>
              <a:off x="8488680" y="4636593"/>
              <a:ext cx="2910205" cy="38354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Inspect services and the</a:t>
              </a:r>
              <a:endParaRPr lang="en-US" sz="1100" b="0" i="0" kern="0" spc="0" dirty="0">
                <a:solidFill>
                  <a:srgbClr val="032D60"/>
                </a:solidFill>
                <a:latin typeface="Salesforce Sans"/>
                <a:ea typeface="Salesforce Sans"/>
                <a:cs typeface="Salesforce Sans"/>
              </a:endParaRPr>
            </a:p>
            <a:p>
              <a:pPr marL="0" marR="0" indent="0" algn="l" fontAlgn="base">
                <a:lnSpc>
                  <a:spcPts val="1485"/>
                </a:lnSpc>
                <a:spcBef>
                  <a:spcPts val="0"/>
                </a:spcBef>
                <a:spcAft>
                  <a:spcPts val="0"/>
                </a:spcAft>
                <a:buNone/>
              </a:pPr>
              <a:r>
                <a:rPr lang="en-US" sz="1100" b="0" i="0" kern="0" spc="0" dirty="0">
                  <a:solidFill>
                    <a:srgbClr val="032D60"/>
                  </a:solidFill>
                  <a:latin typeface="Salesforce Sans"/>
                  <a:ea typeface="Salesforce Sans"/>
                  <a:cs typeface="Salesforce Sans"/>
                </a:rPr>
                <a:t>resolution condition.</a:t>
              </a:r>
              <a:endParaRPr lang="en-US" sz="1100" b="0" i="0" kern="0" spc="0" dirty="0">
                <a:solidFill>
                  <a:srgbClr val="032D60"/>
                </a:solidFill>
                <a:latin typeface="Salesforce Sans"/>
                <a:ea typeface="Salesforce Sans"/>
                <a:cs typeface="Salesforce Sans"/>
              </a:endParaRPr>
            </a:p>
          </p:txBody>
        </p:sp>
      </p:grpSp>
      <p:grpSp>
        <p:nvGrpSpPr>
          <p:cNvPr id="1042" name="33 · source-line: Jev in LangSmith Evals · Jev-as-a-Judge"/>
          <p:cNvGrpSpPr/>
          <p:nvPr/>
        </p:nvGrpSpPr>
        <p:grpSpPr>
          <a:xfrm>
            <a:off x="558800" y="6037898"/>
            <a:ext cx="11087100" cy="284456"/>
            <a:chOff x="558800" y="6037898"/>
            <a:chExt cx="11087100" cy="284456"/>
          </a:xfrm>
        </p:grpSpPr>
        <p:sp>
          <p:nvSpPr>
            <p:cNvPr id="1033" name="33 · source-line · top border [p33-e0027]"/>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4" name="33 · span: Jev in LangSmith Evals · Jev-as-a-Judge [p33-text-0024]" descr="Native editable Unicode text; authored line breaks retained."/>
            <p:cNvSpPr txBox="1"/>
            <p:nvPr/>
          </p:nvSpPr>
          <p:spPr>
            <a:xfrm>
              <a:off x="558800" y="6153126"/>
              <a:ext cx="2150548"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Jev in LangSmith Evals"/>
                </a:rPr>
                <a:t>Jev in LangSmith Evals</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Jev-as-a-Judge"/>
                </a:rPr>
                <a:t>Jev-as-a-Judge</a:t>
              </a:r>
              <a:endParaRPr lang="en-US" sz="950" b="0" i="0" kern="0" spc="0" dirty="0" u="sng">
                <a:solidFill>
                  <a:srgbClr val="315A7A"/>
                </a:solidFill>
                <a:latin typeface="Salesforce Sans"/>
                <a:ea typeface="Salesforce Sans"/>
                <a:cs typeface="Salesforce Sans"/>
              </a:endParaRPr>
            </a:p>
          </p:txBody>
        </p:sp>
        <p:sp>
          <p:nvSpPr>
            <p:cNvPr id="1035" name="33 · span: Constructed failure diagnosis [p33-text-0025]" descr="Native editable Unicode text; authored line breaks retained."/>
            <p:cNvSpPr txBox="1"/>
            <p:nvPr/>
          </p:nvSpPr>
          <p:spPr>
            <a:xfrm>
              <a:off x="10006701" y="6153126"/>
              <a:ext cx="163919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Constructed failure diagnosis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Start with one decision that changes the path">
    <p:bg>
      <p:bgPr>
        <a:solidFill>
          <a:srgbClr val="FFFFFF"/>
        </a:solidFill>
      </p:bgPr>
    </p:bg>
    <p:spTree>
      <p:nvGrpSpPr>
        <p:cNvPr id="1" name=""/>
        <p:cNvGrpSpPr/>
        <p:nvPr/>
      </p:nvGrpSpPr>
      <p:grpSpPr>
        <a:xfrm>
          <a:off x="0" y="0"/>
          <a:ext cx="0" cy="0"/>
          <a:chOff x="0" y="0"/>
          <a:chExt cx="0" cy="0"/>
        </a:xfrm>
      </p:grpSpPr>
      <p:sp>
        <p:nvSpPr>
          <p:cNvPr id="1000" name="34 · slide hero dark split · surface [p34-e0003]"/>
          <p:cNvSpPr/>
          <p:nvPr/>
        </p:nvSpPr>
        <p:spPr>
          <a:xfrm>
            <a:off x="0" y="0"/>
            <a:ext cx="12192000" cy="6858000"/>
          </a:xfrm>
          <a:prstGeom prst="rect">
            <a:avLst/>
          </a:prstGeom>
          <a:gradFill rotWithShape="1">
            <a:gsLst>
              <a:gs pos="0">
                <a:srgbClr val="BEE4F7"/>
              </a:gs>
              <a:gs pos="57000">
                <a:srgbClr val="D6F1EE"/>
              </a:gs>
              <a:gs pos="100000">
                <a:srgbClr val="F6FBF7"/>
              </a:gs>
            </a:gsLst>
            <a:lin ang="2279998" scaled="0"/>
          </a:gradFill>
          <a:ln>
            <a:noFill/>
          </a:ln>
        </p:spPr>
      </p:sp>
      <p:grpSp>
        <p:nvGrpSpPr>
          <p:cNvPr id="1020" name="34 · chrome-min: DISAGGREGATED INTELLIGENCE"/>
          <p:cNvGrpSpPr/>
          <p:nvPr/>
        </p:nvGrpSpPr>
        <p:grpSpPr>
          <a:xfrm>
            <a:off x="558800" y="356053"/>
            <a:ext cx="11087100" cy="187325"/>
            <a:chOff x="558800" y="356053"/>
            <a:chExt cx="11087100" cy="187325"/>
          </a:xfrm>
        </p:grpSpPr>
        <p:sp>
          <p:nvSpPr>
            <p:cNvPr id="1001" name="34 · l: DISAGGREGATED INTELLIGENCE [p34-text-0009]"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4 · r: 34 / 36 [p34-text-0010]"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34 / 36</a:t>
              </a:r>
              <a:endParaRPr lang="en-US" sz="950" b="1" i="0" kern="0" spc="65" dirty="0">
                <a:solidFill>
                  <a:srgbClr val="022AC0"/>
                </a:solidFill>
                <a:latin typeface="Salesforce Sans"/>
                <a:ea typeface="Salesforce Sans"/>
                <a:cs typeface="Salesforce Sans"/>
              </a:endParaRPr>
            </a:p>
          </p:txBody>
        </p:sp>
      </p:grpSp>
      <p:grpSp>
        <p:nvGrpSpPr>
          <p:cNvPr id="1021" name="34 · deck-head: 10 / BUILD, MEASURE, REVISE"/>
          <p:cNvGrpSpPr/>
          <p:nvPr/>
        </p:nvGrpSpPr>
        <p:grpSpPr>
          <a:xfrm>
            <a:off x="558800" y="775901"/>
            <a:ext cx="11087100" cy="871263"/>
            <a:chOff x="558800" y="775901"/>
            <a:chExt cx="11087100" cy="871263"/>
          </a:xfrm>
        </p:grpSpPr>
        <p:sp>
          <p:nvSpPr>
            <p:cNvPr id="1003" name="34 · close-eyebrow: 10 / BUILD, MEASURE, REVISE [p34-text-0011]"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10 / BUILD, MEASURE, REVISE</a:t>
              </a:r>
              <a:endParaRPr lang="en-US" sz="1050" b="1" i="0" kern="0" spc="68" dirty="0">
                <a:solidFill>
                  <a:srgbClr val="022AC0"/>
                </a:solidFill>
                <a:latin typeface="Salesforce Sans"/>
                <a:ea typeface="Salesforce Sans"/>
                <a:cs typeface="Salesforce Sans"/>
              </a:endParaRPr>
            </a:p>
          </p:txBody>
        </p:sp>
        <p:sp>
          <p:nvSpPr>
            <p:cNvPr id="1004" name="34 · close-title: Start with one decision that changes the path [p34-text-0012]"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Start with one decision that changes the path</a:t>
              </a:r>
              <a:endParaRPr lang="en-US" sz="3600" b="1" i="0" kern="0" spc="-95" dirty="0">
                <a:solidFill>
                  <a:srgbClr val="022AC0"/>
                </a:solidFill>
                <a:latin typeface="Manrope"/>
                <a:ea typeface="Manrope"/>
                <a:cs typeface="Manrope"/>
              </a:endParaRPr>
            </a:p>
          </p:txBody>
        </p:sp>
      </p:grpSp>
      <p:sp>
        <p:nvSpPr>
          <p:cNvPr id="1005" name="34 · step · bottom border [p34-e0008]"/>
          <p:cNvSpPr/>
          <p:nvPr/>
        </p:nvSpPr>
        <p:spPr>
          <a:xfrm>
            <a:off x="6350000" y="3077325"/>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6" name="34 · step · bottom border [p34-e0009]"/>
          <p:cNvSpPr/>
          <p:nvPr/>
        </p:nvSpPr>
        <p:spPr>
          <a:xfrm>
            <a:off x="6350000" y="3652558"/>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7" name="34 · step · bottom border [p34-e0010]"/>
          <p:cNvSpPr/>
          <p:nvPr/>
        </p:nvSpPr>
        <p:spPr>
          <a:xfrm>
            <a:off x="6350000" y="4227792"/>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8" name="34 · step · bottom border [p34-e0011]"/>
          <p:cNvSpPr/>
          <p:nvPr/>
        </p:nvSpPr>
        <p:spPr>
          <a:xfrm>
            <a:off x="6350000" y="4803025"/>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09" name="34 · step · bottom border [p34-e0012]"/>
          <p:cNvSpPr/>
          <p:nvPr/>
        </p:nvSpPr>
        <p:spPr>
          <a:xfrm>
            <a:off x="6350000" y="5378258"/>
            <a:ext cx="5283200" cy="6"/>
          </a:xfrm>
          <a:custGeom>
            <a:avLst/>
            <a:gdLst/>
            <a:ahLst/>
            <a:cxnLst/>
            <a:rect l="0" t="0" r="r" b="b"/>
            <a:pathLst>
              <a:path w="5283200" h="6" fill="none" stroke="1">
                <a:moveTo>
                  <a:pt x="0" y="0"/>
                </a:moveTo>
                <a:lnTo>
                  <a:pt x="5283200" y="0"/>
                </a:lnTo>
              </a:path>
            </a:pathLst>
          </a:custGeom>
          <a:noFill/>
          <a:ln w="6350" cap="flat">
            <a:solidFill>
              <a:srgbClr val="A4C4DC">
                <a:alpha val="50196"/>
              </a:srgbClr>
            </a:solidFill>
            <a:prstDash val="solid"/>
          </a:ln>
        </p:spPr>
      </p:sp>
      <p:sp>
        <p:nvSpPr>
          <p:cNvPr id="1010" name="34 · h2: Specialize judgment. Author the controls. Keep every task accounted for. [p34-text-0013]" descr="Native editable Unicode text; authored line breaks retained."/>
          <p:cNvSpPr txBox="1"/>
          <p:nvPr/>
        </p:nvSpPr>
        <p:spPr>
          <a:xfrm>
            <a:off x="558800" y="2336954"/>
            <a:ext cx="5295900" cy="227680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Specialize judgment.</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Author the controls.</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Keep every task</a:t>
            </a:r>
            <a:endParaRPr lang="en-US" sz="3600" b="1" i="0" kern="0" spc="-90" dirty="0">
              <a:solidFill>
                <a:srgbClr val="022AC0"/>
              </a:solidFill>
              <a:latin typeface="Manrope"/>
              <a:ea typeface="Manrope"/>
              <a:cs typeface="Manrope"/>
            </a:endParaRPr>
          </a:p>
          <a:p>
            <a:pPr marL="0" marR="0" indent="0" algn="l" fontAlgn="base">
              <a:lnSpc>
                <a:spcPts val="4320"/>
              </a:lnSpc>
              <a:spcBef>
                <a:spcPts val="0"/>
              </a:spcBef>
              <a:spcAft>
                <a:spcPts val="0"/>
              </a:spcAft>
              <a:buNone/>
            </a:pPr>
            <a:r>
              <a:rPr lang="en-US" sz="3600" b="1" i="0" kern="0" spc="-90" dirty="0">
                <a:solidFill>
                  <a:srgbClr val="022AC0"/>
                </a:solidFill>
                <a:latin typeface="Manrope"/>
                <a:ea typeface="Manrope"/>
                <a:cs typeface="Manrope"/>
              </a:rPr>
              <a:t>accounted for.</a:t>
            </a:r>
            <a:endParaRPr lang="en-US" sz="3600" b="1" i="0" kern="0" spc="-90" dirty="0">
              <a:solidFill>
                <a:srgbClr val="022AC0"/>
              </a:solidFill>
              <a:latin typeface="Manrope"/>
              <a:ea typeface="Manrope"/>
              <a:cs typeface="Manrope"/>
            </a:endParaRPr>
          </a:p>
        </p:txBody>
      </p:sp>
      <p:sp>
        <p:nvSpPr>
          <p:cNvPr id="1011" name="34 · step: 01Write one bounded route question. [p34-text-0014]" descr="Native editable Unicode text; authored line breaks retained."/>
          <p:cNvSpPr txBox="1"/>
          <p:nvPr/>
        </p:nvSpPr>
        <p:spPr>
          <a:xfrm>
            <a:off x="6350000" y="2651317"/>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01</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Write one bounded route question.</a:t>
            </a:r>
            <a:endParaRPr lang="en-US" sz="1700" b="0" i="0" kern="0" spc="0" dirty="0">
              <a:solidFill>
                <a:srgbClr val="032D60"/>
              </a:solidFill>
              <a:latin typeface="Salesforce Sans"/>
              <a:ea typeface="Salesforce Sans"/>
              <a:cs typeface="Salesforce Sans"/>
            </a:endParaRPr>
          </a:p>
        </p:txBody>
      </p:sp>
      <p:sp>
        <p:nvSpPr>
          <p:cNvPr id="1012" name="34 · step: 02Label remedies, units and relationships. [p34-text-0015]" descr="Native editable Unicode text; authored line breaks retained."/>
          <p:cNvSpPr txBox="1"/>
          <p:nvPr/>
        </p:nvSpPr>
        <p:spPr>
          <a:xfrm>
            <a:off x="6350000" y="3226550"/>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02</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Label remedies, units and relationships.</a:t>
            </a:r>
            <a:endParaRPr lang="en-US" sz="1700" b="0" i="0" kern="0" spc="0" dirty="0">
              <a:solidFill>
                <a:srgbClr val="032D60"/>
              </a:solidFill>
              <a:latin typeface="Salesforce Sans"/>
              <a:ea typeface="Salesforce Sans"/>
              <a:cs typeface="Salesforce Sans"/>
            </a:endParaRPr>
          </a:p>
        </p:txBody>
      </p:sp>
      <p:sp>
        <p:nvSpPr>
          <p:cNvPr id="1013" name="34 · step: 03Declare the node’s input view. [p34-text-0016]" descr="Native editable Unicode text; authored line breaks retained."/>
          <p:cNvSpPr txBox="1"/>
          <p:nvPr/>
        </p:nvSpPr>
        <p:spPr>
          <a:xfrm>
            <a:off x="6350000" y="3801783"/>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03</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Declare the node’s input view.</a:t>
            </a:r>
            <a:endParaRPr lang="en-US" sz="1700" b="0" i="0" kern="0" spc="0" dirty="0">
              <a:solidFill>
                <a:srgbClr val="032D60"/>
              </a:solidFill>
              <a:latin typeface="Salesforce Sans"/>
              <a:ea typeface="Salesforce Sans"/>
              <a:cs typeface="Salesforce Sans"/>
            </a:endParaRPr>
          </a:p>
        </p:txBody>
      </p:sp>
      <p:sp>
        <p:nvSpPr>
          <p:cNvPr id="1014" name="34 · step: 04Draw the guarded failure route. [p34-text-0017]" descr="Native editable Unicode text; authored line breaks retained."/>
          <p:cNvSpPr txBox="1"/>
          <p:nvPr/>
        </p:nvSpPr>
        <p:spPr>
          <a:xfrm>
            <a:off x="6350000" y="4377017"/>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04</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Draw the guarded failure route.</a:t>
            </a:r>
            <a:endParaRPr lang="en-US" sz="1700" b="0" i="0" kern="0" spc="0" dirty="0">
              <a:solidFill>
                <a:srgbClr val="032D60"/>
              </a:solidFill>
              <a:latin typeface="Salesforce Sans"/>
              <a:ea typeface="Salesforce Sans"/>
              <a:cs typeface="Salesforce Sans"/>
            </a:endParaRPr>
          </a:p>
        </p:txBody>
      </p:sp>
      <p:sp>
        <p:nvSpPr>
          <p:cNvPr id="1015" name="34 · step: 05Define complete-case acceptance. [p34-text-0018]" descr="Native editable Unicode text; authored line breaks retained."/>
          <p:cNvSpPr txBox="1"/>
          <p:nvPr/>
        </p:nvSpPr>
        <p:spPr>
          <a:xfrm>
            <a:off x="6350000" y="4952250"/>
            <a:ext cx="5295900" cy="283133"/>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179"/>
              </a:lnSpc>
              <a:spcBef>
                <a:spcPts val="0"/>
              </a:spcBef>
              <a:spcAft>
                <a:spcPts val="0"/>
              </a:spcAft>
              <a:buNone/>
              <a:tabLst>
                <a:tab pos="341635" algn="l"/>
              </a:tabLst>
            </a:pPr>
            <a:r>
              <a:rPr lang="en-US" sz="1200" b="0" i="0" kern="0" spc="0" dirty="0">
                <a:solidFill>
                  <a:srgbClr val="022AC0"/>
                </a:solidFill>
                <a:latin typeface="IBM Plex Mono"/>
                <a:ea typeface="IBM Plex Mono"/>
                <a:cs typeface="IBM Plex Mono"/>
              </a:rPr>
              <a:t>05</a:t>
            </a:r>
            <a:r>
              <a:rPr lang="en-US" sz="1200" b="0" i="0" kern="0" spc="0" dirty="0">
                <a:solidFill>
                  <a:srgbClr val="022AC0"/>
                </a:solidFill>
                <a:latin typeface="IBM Plex Mono"/>
                <a:ea typeface="IBM Plex Mono"/>
                <a:cs typeface="IBM Plex Mono"/>
              </a:rPr>
              <a:t xml:space="preserve">	</a:t>
            </a:r>
            <a:r>
              <a:rPr lang="en-US" sz="1700" b="0" i="0" kern="0" spc="0" dirty="0">
                <a:solidFill>
                  <a:srgbClr val="032D60"/>
                </a:solidFill>
                <a:latin typeface="Salesforce Sans"/>
                <a:ea typeface="Salesforce Sans"/>
                <a:cs typeface="Salesforce Sans"/>
              </a:rPr>
              <a:t>Define complete-case acceptance.</a:t>
            </a:r>
            <a:endParaRPr lang="en-US" sz="1700" b="0" i="0" kern="0" spc="0" dirty="0">
              <a:solidFill>
                <a:srgbClr val="032D60"/>
              </a:solidFill>
              <a:latin typeface="Salesforce Sans"/>
              <a:ea typeface="Salesforce Sans"/>
              <a:cs typeface="Salesforce Sans"/>
            </a:endParaRPr>
          </a:p>
        </p:txBody>
      </p:sp>
      <p:sp>
        <p:nvSpPr>
          <p:cNvPr id="1016" name="34 · close-text-1: Agentforce coordinates the work within quality, cost and latency limits. [p34-text-0019]" descr="Native editable Unicode text; authored line breaks retained."/>
          <p:cNvSpPr txBox="1"/>
          <p:nvPr/>
        </p:nvSpPr>
        <p:spPr>
          <a:xfrm>
            <a:off x="558800" y="4850397"/>
            <a:ext cx="5295900" cy="681990"/>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Agentforce coordinates the work</a:t>
            </a:r>
            <a:endParaRPr lang="en-US" sz="1900" b="0" i="0" kern="0" spc="-10" dirty="0">
              <a:solidFill>
                <a:srgbClr val="032D60">
                  <a:alpha val="86000"/>
                </a:srgbClr>
              </a:solidFill>
              <a:latin typeface="Salesforce Sans"/>
              <a:ea typeface="Salesforce Sans"/>
              <a:cs typeface="Salesforce Sans"/>
            </a:endParaRPr>
          </a:p>
          <a:p>
            <a:pPr marL="0" marR="0" indent="0" algn="l" fontAlgn="base">
              <a:lnSpc>
                <a:spcPts val="2660"/>
              </a:lnSpc>
              <a:spcBef>
                <a:spcPts val="0"/>
              </a:spcBef>
              <a:spcAft>
                <a:spcPts val="0"/>
              </a:spcAft>
              <a:buNone/>
            </a:pPr>
            <a:r>
              <a:rPr lang="en-US" sz="1900" b="0" i="0" kern="0" spc="-10" dirty="0">
                <a:solidFill>
                  <a:srgbClr val="032D60">
                    <a:alpha val="86000"/>
                  </a:srgbClr>
                </a:solidFill>
                <a:latin typeface="Salesforce Sans"/>
                <a:ea typeface="Salesforce Sans"/>
                <a:cs typeface="Salesforce Sans"/>
              </a:rPr>
              <a:t>within quality, cost and latency limits.</a:t>
            </a:r>
            <a:endParaRPr lang="en-US" sz="1900" b="0" i="0" kern="0" spc="-10" dirty="0">
              <a:solidFill>
                <a:srgbClr val="032D60">
                  <a:alpha val="86000"/>
                </a:srgbClr>
              </a:solidFill>
              <a:latin typeface="Salesforce Sans"/>
              <a:ea typeface="Salesforce Sans"/>
              <a:cs typeface="Salesforce Sans"/>
            </a:endParaRPr>
          </a:p>
        </p:txBody>
      </p:sp>
      <p:grpSp>
        <p:nvGrpSpPr>
          <p:cNvPr id="1022" name="34 · source-line: Agent Graph / guided determinism · AgentScript control plane · Composable A"/>
          <p:cNvGrpSpPr/>
          <p:nvPr/>
        </p:nvGrpSpPr>
        <p:grpSpPr>
          <a:xfrm>
            <a:off x="558800" y="6037898"/>
            <a:ext cx="11087100" cy="284456"/>
            <a:chOff x="558800" y="6037898"/>
            <a:chExt cx="11087100" cy="284456"/>
          </a:xfrm>
        </p:grpSpPr>
        <p:sp>
          <p:nvSpPr>
            <p:cNvPr id="1017" name="34 · source-line · top border [p34-e002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18" name="34 · span: Agent Graph / guided determinism · AgentScript control plane · Composable AI · [p34-text-0020]" descr="Native editable Unicode text; authored line breaks retained."/>
            <p:cNvSpPr txBox="1"/>
            <p:nvPr/>
          </p:nvSpPr>
          <p:spPr>
            <a:xfrm>
              <a:off x="558800" y="6153126"/>
              <a:ext cx="7007126"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3" tooltip="Agent Graph / guided determinism"/>
                </a:rPr>
                <a:t>Agent Graph / guided determinism</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4" tooltip="AgentScript control plane"/>
                </a:rPr>
                <a:t>AgentScript control plane</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5" tooltip="Composable AI"/>
                </a:rPr>
                <a:t>Composable AI</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6" tooltip="Jev + LangGraph"/>
                </a:rPr>
                <a:t>Jev + LangGraph</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rPr>
                <a:t>Throughline source check</a:t>
              </a:r>
              <a:endParaRPr lang="en-US" sz="950" b="0" i="0" kern="0" spc="0" dirty="0" u="sng">
                <a:solidFill>
                  <a:srgbClr val="315A7A"/>
                </a:solidFill>
                <a:latin typeface="Salesforce Sans"/>
                <a:ea typeface="Salesforce Sans"/>
                <a:cs typeface="Salesforce Sans"/>
              </a:endParaRPr>
            </a:p>
          </p:txBody>
        </p:sp>
        <p:sp>
          <p:nvSpPr>
            <p:cNvPr id="1019" name="34 · span: Synthesis [p34-text-0021]" descr="Native editable Unicode text; authored line breaks retained."/>
            <p:cNvSpPr txBox="1"/>
            <p:nvPr/>
          </p:nvSpPr>
          <p:spPr>
            <a:xfrm>
              <a:off x="11111985" y="6153126"/>
              <a:ext cx="533915"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Synthesis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Read the evidence behind the architecture">
    <p:bg>
      <p:bgPr>
        <a:solidFill>
          <a:srgbClr val="FFFFFF"/>
        </a:solidFill>
      </p:bgPr>
    </p:bg>
    <p:spTree>
      <p:nvGrpSpPr>
        <p:cNvPr id="1" name=""/>
        <p:cNvGrpSpPr/>
        <p:nvPr/>
      </p:nvGrpSpPr>
      <p:grpSpPr>
        <a:xfrm>
          <a:off x="0" y="0"/>
          <a:ext cx="0" cy="0"/>
          <a:chOff x="0" y="0"/>
          <a:chExt cx="0" cy="0"/>
        </a:xfrm>
      </p:grpSpPr>
      <p:sp>
        <p:nvSpPr>
          <p:cNvPr id="1000" name="35 · slide light · surface [p35-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036" name="35 · chrome-min: DISAGGREGATED INTELLIGENCE"/>
          <p:cNvGrpSpPr/>
          <p:nvPr/>
        </p:nvGrpSpPr>
        <p:grpSpPr>
          <a:xfrm>
            <a:off x="558800" y="356053"/>
            <a:ext cx="11087100" cy="187325"/>
            <a:chOff x="558800" y="356053"/>
            <a:chExt cx="11087100" cy="187325"/>
          </a:xfrm>
        </p:grpSpPr>
        <p:sp>
          <p:nvSpPr>
            <p:cNvPr id="1001" name="35 · l: DISAGGREGATED INTELLIGENCE [p35-text-0007]"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5 · r: 35 / 36 [p35-text-0008]"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35 / 36</a:t>
              </a:r>
              <a:endParaRPr lang="en-US" sz="950" b="1" i="0" kern="0" spc="65" dirty="0">
                <a:solidFill>
                  <a:srgbClr val="022AC0"/>
                </a:solidFill>
                <a:latin typeface="Salesforce Sans"/>
                <a:ea typeface="Salesforce Sans"/>
                <a:cs typeface="Salesforce Sans"/>
              </a:endParaRPr>
            </a:p>
          </p:txBody>
        </p:sp>
      </p:grpSp>
      <p:grpSp>
        <p:nvGrpSpPr>
          <p:cNvPr id="1037" name="35 · deck-head: REFERENCE / FURTHER STUDY"/>
          <p:cNvGrpSpPr/>
          <p:nvPr/>
        </p:nvGrpSpPr>
        <p:grpSpPr>
          <a:xfrm>
            <a:off x="558800" y="775901"/>
            <a:ext cx="11087100" cy="871263"/>
            <a:chOff x="558800" y="775901"/>
            <a:chExt cx="11087100" cy="871263"/>
          </a:xfrm>
        </p:grpSpPr>
        <p:sp>
          <p:nvSpPr>
            <p:cNvPr id="1003" name="35 · sources-eyebrow: REFERENCE / FURTHER STUDY [p35-text-0009]"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REFERENCE / FURTHER STUDY</a:t>
              </a:r>
              <a:endParaRPr lang="en-US" sz="1050" b="1" i="0" kern="0" spc="68" dirty="0">
                <a:solidFill>
                  <a:srgbClr val="022AC0"/>
                </a:solidFill>
                <a:latin typeface="Salesforce Sans"/>
                <a:ea typeface="Salesforce Sans"/>
                <a:cs typeface="Salesforce Sans"/>
              </a:endParaRPr>
            </a:p>
          </p:txBody>
        </p:sp>
        <p:sp>
          <p:nvSpPr>
            <p:cNvPr id="1004" name="35 · sources-title: Read the evidence behind the architecture [p35-text-0010]"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Read the evidence behind the architecture</a:t>
              </a:r>
              <a:endParaRPr lang="en-US" sz="3600" b="1" i="0" kern="0" spc="-95" dirty="0">
                <a:solidFill>
                  <a:srgbClr val="022AC0"/>
                </a:solidFill>
                <a:latin typeface="Manrope"/>
                <a:ea typeface="Manrope"/>
                <a:cs typeface="Manrope"/>
              </a:endParaRPr>
            </a:p>
          </p:txBody>
        </p:sp>
      </p:grpSp>
      <p:grpSp>
        <p:nvGrpSpPr>
          <p:cNvPr id="1038" name="35 · brief-card: "/>
          <p:cNvGrpSpPr/>
          <p:nvPr/>
        </p:nvGrpSpPr>
        <p:grpSpPr>
          <a:xfrm>
            <a:off x="558800" y="1854200"/>
            <a:ext cx="3581400" cy="4178300"/>
            <a:chOff x="558800" y="1854200"/>
            <a:chExt cx="3581400" cy="4178300"/>
          </a:xfrm>
        </p:grpSpPr>
        <p:sp>
          <p:nvSpPr>
            <p:cNvPr id="1005" name="35 · brief-card · surface [p35-e0008]"/>
            <p:cNvSpPr/>
            <p:nvPr/>
          </p:nvSpPr>
          <p:spPr>
            <a:xfrm>
              <a:off x="558800" y="1854200"/>
              <a:ext cx="3581400" cy="4178300"/>
            </a:xfrm>
            <a:prstGeom prst="roundRect">
              <a:avLst>
                <a:gd name="adj" fmla="val 3901"/>
              </a:avLst>
            </a:prstGeom>
            <a:solidFill>
              <a:srgbClr val="FFFFFF">
                <a:alpha val="39608"/>
              </a:srgbClr>
            </a:solidFill>
            <a:ln>
              <a:noFill/>
            </a:ln>
          </p:spPr>
        </p:sp>
        <p:sp>
          <p:nvSpPr>
            <p:cNvPr id="1006" name="35 · brief-card · outline [p35-e0008]"/>
            <p:cNvSpPr/>
            <p:nvPr/>
          </p:nvSpPr>
          <p:spPr>
            <a:xfrm>
              <a:off x="561975" y="1857375"/>
              <a:ext cx="3575050" cy="4171950"/>
            </a:xfrm>
            <a:prstGeom prst="roundRect">
              <a:avLst>
                <a:gd name="adj" fmla="val 3819"/>
              </a:avLst>
            </a:prstGeom>
            <a:noFill/>
            <a:ln w="6350" algn="ctr">
              <a:solidFill>
                <a:srgbClr val="FFFFFF">
                  <a:alpha val="85098"/>
                </a:srgbClr>
              </a:solidFill>
              <a:prstDash val="solid"/>
            </a:ln>
          </p:spPr>
        </p:sp>
      </p:grpSp>
      <p:grpSp>
        <p:nvGrpSpPr>
          <p:cNvPr id="1039" name="35 · brief-card: "/>
          <p:cNvGrpSpPr/>
          <p:nvPr/>
        </p:nvGrpSpPr>
        <p:grpSpPr>
          <a:xfrm>
            <a:off x="4305300" y="1854200"/>
            <a:ext cx="3581400" cy="4178300"/>
            <a:chOff x="4305300" y="1854200"/>
            <a:chExt cx="3581400" cy="4178300"/>
          </a:xfrm>
        </p:grpSpPr>
        <p:sp>
          <p:nvSpPr>
            <p:cNvPr id="1007" name="35 · brief-card · surface [p35-e0009]"/>
            <p:cNvSpPr/>
            <p:nvPr/>
          </p:nvSpPr>
          <p:spPr>
            <a:xfrm>
              <a:off x="4305300" y="1854200"/>
              <a:ext cx="3581400" cy="4178300"/>
            </a:xfrm>
            <a:prstGeom prst="roundRect">
              <a:avLst>
                <a:gd name="adj" fmla="val 3901"/>
              </a:avLst>
            </a:prstGeom>
            <a:solidFill>
              <a:srgbClr val="FFFFFF">
                <a:alpha val="39608"/>
              </a:srgbClr>
            </a:solidFill>
            <a:ln>
              <a:noFill/>
            </a:ln>
          </p:spPr>
        </p:sp>
        <p:sp>
          <p:nvSpPr>
            <p:cNvPr id="1008" name="35 · brief-card · outline [p35-e0009]"/>
            <p:cNvSpPr/>
            <p:nvPr/>
          </p:nvSpPr>
          <p:spPr>
            <a:xfrm>
              <a:off x="4308475" y="1857375"/>
              <a:ext cx="3575050" cy="4171950"/>
            </a:xfrm>
            <a:prstGeom prst="roundRect">
              <a:avLst>
                <a:gd name="adj" fmla="val 3819"/>
              </a:avLst>
            </a:prstGeom>
            <a:noFill/>
            <a:ln w="6350" algn="ctr">
              <a:solidFill>
                <a:srgbClr val="FFFFFF">
                  <a:alpha val="85098"/>
                </a:srgbClr>
              </a:solidFill>
              <a:prstDash val="solid"/>
            </a:ln>
          </p:spPr>
        </p:sp>
      </p:grpSp>
      <p:grpSp>
        <p:nvGrpSpPr>
          <p:cNvPr id="1040" name="35 · brief-card: "/>
          <p:cNvGrpSpPr/>
          <p:nvPr/>
        </p:nvGrpSpPr>
        <p:grpSpPr>
          <a:xfrm>
            <a:off x="8051800" y="1854200"/>
            <a:ext cx="3581400" cy="4178300"/>
            <a:chOff x="8051800" y="1854200"/>
            <a:chExt cx="3581400" cy="4178300"/>
          </a:xfrm>
        </p:grpSpPr>
        <p:sp>
          <p:nvSpPr>
            <p:cNvPr id="1009" name="35 · brief-card · surface [p35-e0010]"/>
            <p:cNvSpPr/>
            <p:nvPr/>
          </p:nvSpPr>
          <p:spPr>
            <a:xfrm>
              <a:off x="8051800" y="1854200"/>
              <a:ext cx="3581400" cy="4178300"/>
            </a:xfrm>
            <a:prstGeom prst="roundRect">
              <a:avLst>
                <a:gd name="adj" fmla="val 3901"/>
              </a:avLst>
            </a:prstGeom>
            <a:solidFill>
              <a:srgbClr val="FFFFFF">
                <a:alpha val="39608"/>
              </a:srgbClr>
            </a:solidFill>
            <a:ln>
              <a:noFill/>
            </a:ln>
          </p:spPr>
        </p:sp>
        <p:sp>
          <p:nvSpPr>
            <p:cNvPr id="1010" name="35 · brief-card · outline [p35-e0010]"/>
            <p:cNvSpPr/>
            <p:nvPr/>
          </p:nvSpPr>
          <p:spPr>
            <a:xfrm>
              <a:off x="8054975" y="1857375"/>
              <a:ext cx="3575050" cy="4171950"/>
            </a:xfrm>
            <a:prstGeom prst="roundRect">
              <a:avLst>
                <a:gd name="adj" fmla="val 3819"/>
              </a:avLst>
            </a:prstGeom>
            <a:noFill/>
            <a:ln w="6350" algn="ctr">
              <a:solidFill>
                <a:srgbClr val="FFFFFF">
                  <a:alpha val="85098"/>
                </a:srgbClr>
              </a:solidFill>
              <a:prstDash val="solid"/>
            </a:ln>
          </p:spPr>
        </p:sp>
      </p:grpSp>
      <p:grpSp>
        <p:nvGrpSpPr>
          <p:cNvPr id="1041" name="35 · brief-card: Salesforce control"/>
          <p:cNvGrpSpPr/>
          <p:nvPr/>
        </p:nvGrpSpPr>
        <p:grpSpPr>
          <a:xfrm>
            <a:off x="793750" y="2027429"/>
            <a:ext cx="3124200" cy="2455195"/>
            <a:chOff x="793750" y="2027429"/>
            <a:chExt cx="3124200" cy="2455195"/>
          </a:xfrm>
        </p:grpSpPr>
        <p:sp>
          <p:nvSpPr>
            <p:cNvPr id="1011" name="35 · sources-text-1: Salesforce control [p35-text-0011]" descr="Native editable Unicode text; authored line breaks retained."/>
            <p:cNvSpPr txBox="1"/>
            <p:nvPr/>
          </p:nvSpPr>
          <p:spPr>
            <a:xfrm>
              <a:off x="7937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Salesforce control</a:t>
              </a:r>
              <a:endParaRPr lang="en-US" sz="2000" b="1" i="0" kern="0" spc="-38" dirty="0">
                <a:solidFill>
                  <a:srgbClr val="022AC0"/>
                </a:solidFill>
                <a:latin typeface="Manrope"/>
                <a:ea typeface="Manrope"/>
                <a:cs typeface="Manrope"/>
              </a:endParaRPr>
            </a:p>
          </p:txBody>
        </p:sp>
        <p:sp>
          <p:nvSpPr>
            <p:cNvPr id="1012" name="35 · li: Agent Graph / guided determinism ↗ [p35-text-0012]" descr="Native editable Unicode text; authored line breaks retained."/>
            <p:cNvSpPr txBox="1"/>
            <p:nvPr/>
          </p:nvSpPr>
          <p:spPr>
            <a:xfrm>
              <a:off x="7937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3" tooltip="Agent Graph / guided determinism ↗"/>
                </a:rPr>
                <a:t>Agent Graph / guided determinism ↗</a:t>
              </a:r>
              <a:endParaRPr lang="en-US" sz="1250" b="0" i="0" kern="0" spc="0" dirty="0" u="sng">
                <a:solidFill>
                  <a:srgbClr val="032D60"/>
                </a:solidFill>
                <a:latin typeface="Salesforce Sans"/>
                <a:ea typeface="Salesforce Sans"/>
                <a:cs typeface="Salesforce Sans"/>
              </a:endParaRPr>
            </a:p>
          </p:txBody>
        </p:sp>
        <p:sp>
          <p:nvSpPr>
            <p:cNvPr id="1013" name="35 · li: Reliable enterprise agents ↗ [p35-text-0013]" descr="Native editable Unicode text; authored line breaks retained."/>
            <p:cNvSpPr txBox="1"/>
            <p:nvPr/>
          </p:nvSpPr>
          <p:spPr>
            <a:xfrm>
              <a:off x="7937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4" tooltip="Reliable enterprise agents ↗"/>
                </a:rPr>
                <a:t>Reliable enterprise agents ↗</a:t>
              </a:r>
              <a:endParaRPr lang="en-US" sz="1250" b="0" i="0" kern="0" spc="0" dirty="0" u="sng">
                <a:solidFill>
                  <a:srgbClr val="032D60"/>
                </a:solidFill>
                <a:latin typeface="Salesforce Sans"/>
                <a:ea typeface="Salesforce Sans"/>
                <a:cs typeface="Salesforce Sans"/>
              </a:endParaRPr>
            </a:p>
          </p:txBody>
        </p:sp>
        <p:sp>
          <p:nvSpPr>
            <p:cNvPr id="1014" name="35 · li: AgentScript control plane ↗ [p35-text-0014]" descr="Native editable Unicode text; authored line breaks retained."/>
            <p:cNvSpPr txBox="1"/>
            <p:nvPr/>
          </p:nvSpPr>
          <p:spPr>
            <a:xfrm>
              <a:off x="7937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5" tooltip="AgentScript control plane ↗"/>
                </a:rPr>
                <a:t>AgentScript control plane ↗</a:t>
              </a:r>
              <a:endParaRPr lang="en-US" sz="1250" b="0" i="0" kern="0" spc="0" dirty="0" u="sng">
                <a:solidFill>
                  <a:srgbClr val="032D60"/>
                </a:solidFill>
                <a:latin typeface="Salesforce Sans"/>
                <a:ea typeface="Salesforce Sans"/>
                <a:cs typeface="Salesforce Sans"/>
              </a:endParaRPr>
            </a:p>
          </p:txBody>
        </p:sp>
        <p:sp>
          <p:nvSpPr>
            <p:cNvPr id="1015" name="35 · li: AgentScript specification ↗ [p35-text-0015]" descr="Native editable Unicode text; authored line breaks retained."/>
            <p:cNvSpPr txBox="1"/>
            <p:nvPr/>
          </p:nvSpPr>
          <p:spPr>
            <a:xfrm>
              <a:off x="7937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6" tooltip="AgentScript specification ↗"/>
                </a:rPr>
                <a:t>AgentScript specification ↗</a:t>
              </a:r>
              <a:endParaRPr lang="en-US" sz="1250" b="0" i="0" kern="0" spc="0" dirty="0" u="sng">
                <a:solidFill>
                  <a:srgbClr val="032D60"/>
                </a:solidFill>
                <a:latin typeface="Salesforce Sans"/>
                <a:ea typeface="Salesforce Sans"/>
                <a:cs typeface="Salesforce Sans"/>
              </a:endParaRPr>
            </a:p>
          </p:txBody>
        </p:sp>
        <p:sp>
          <p:nvSpPr>
            <p:cNvPr id="1016" name="35 · li: All sources and claim boundaries ↗ [p35-text-0016]" descr="Native editable Unicode text; authored line breaks retained."/>
            <p:cNvSpPr txBox="1"/>
            <p:nvPr/>
          </p:nvSpPr>
          <p:spPr>
            <a:xfrm>
              <a:off x="7937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All sources and claim boundaries ↗</a:t>
              </a:r>
              <a:endParaRPr lang="en-US" sz="1250" b="0" i="0" kern="0" spc="0" dirty="0" u="sng">
                <a:solidFill>
                  <a:srgbClr val="032D60"/>
                </a:solidFill>
                <a:latin typeface="Salesforce Sans"/>
                <a:ea typeface="Salesforce Sans"/>
                <a:cs typeface="Salesforce Sans"/>
              </a:endParaRPr>
            </a:p>
          </p:txBody>
        </p:sp>
        <p:sp>
          <p:nvSpPr>
            <p:cNvPr id="1017" name="35 · li: Tutorial handout and notes ↗ [p35-text-0017]" descr="Native editable Unicode text; authored line breaks retained."/>
            <p:cNvSpPr txBox="1"/>
            <p:nvPr/>
          </p:nvSpPr>
          <p:spPr>
            <a:xfrm>
              <a:off x="793750" y="42508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Tutorial handout and notes ↗</a:t>
              </a:r>
              <a:endParaRPr lang="en-US" sz="1250" b="0" i="0" kern="0" spc="0" dirty="0" u="sng">
                <a:solidFill>
                  <a:srgbClr val="032D60"/>
                </a:solidFill>
                <a:latin typeface="Salesforce Sans"/>
                <a:ea typeface="Salesforce Sans"/>
                <a:cs typeface="Salesforce Sans"/>
              </a:endParaRPr>
            </a:p>
          </p:txBody>
        </p:sp>
      </p:grpSp>
      <p:grpSp>
        <p:nvGrpSpPr>
          <p:cNvPr id="1042" name="35 · brief-card: Agent architecture"/>
          <p:cNvGrpSpPr/>
          <p:nvPr/>
        </p:nvGrpSpPr>
        <p:grpSpPr>
          <a:xfrm>
            <a:off x="4540250" y="2027429"/>
            <a:ext cx="3124200" cy="2102770"/>
            <a:chOff x="4540250" y="2027429"/>
            <a:chExt cx="3124200" cy="2102770"/>
          </a:xfrm>
        </p:grpSpPr>
        <p:sp>
          <p:nvSpPr>
            <p:cNvPr id="1018" name="35 · sources-text-2: Agent architecture [p35-text-0018]" descr="Native editable Unicode text; authored line breaks retained."/>
            <p:cNvSpPr txBox="1"/>
            <p:nvPr/>
          </p:nvSpPr>
          <p:spPr>
            <a:xfrm>
              <a:off x="45402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Agent architecture</a:t>
              </a:r>
              <a:endParaRPr lang="en-US" sz="2000" b="1" i="0" kern="0" spc="-38" dirty="0">
                <a:solidFill>
                  <a:srgbClr val="022AC0"/>
                </a:solidFill>
                <a:latin typeface="Manrope"/>
                <a:ea typeface="Manrope"/>
                <a:cs typeface="Manrope"/>
              </a:endParaRPr>
            </a:p>
          </p:txBody>
        </p:sp>
        <p:sp>
          <p:nvSpPr>
            <p:cNvPr id="1019" name="35 · li: Jev + LangGraph ↗ [p35-text-0019]" descr="Native editable Unicode text; authored line breaks retained."/>
            <p:cNvSpPr txBox="1"/>
            <p:nvPr/>
          </p:nvSpPr>
          <p:spPr>
            <a:xfrm>
              <a:off x="45402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7" tooltip="Jev + LangGraph ↗"/>
                </a:rPr>
                <a:t>Jev + LangGraph ↗</a:t>
              </a:r>
              <a:endParaRPr lang="en-US" sz="1250" b="0" i="0" kern="0" spc="0" dirty="0" u="sng">
                <a:solidFill>
                  <a:srgbClr val="032D60"/>
                </a:solidFill>
                <a:latin typeface="Salesforce Sans"/>
                <a:ea typeface="Salesforce Sans"/>
                <a:cs typeface="Salesforce Sans"/>
              </a:endParaRPr>
            </a:p>
          </p:txBody>
        </p:sp>
        <p:sp>
          <p:nvSpPr>
            <p:cNvPr id="1020" name="35 · li: A harness with Jev ↗ [p35-text-0020]" descr="Native editable Unicode text; authored line breaks retained."/>
            <p:cNvSpPr txBox="1"/>
            <p:nvPr/>
          </p:nvSpPr>
          <p:spPr>
            <a:xfrm>
              <a:off x="45402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8" tooltip="A harness with Jev ↗"/>
                </a:rPr>
                <a:t>A harness with Jev ↗</a:t>
              </a:r>
              <a:endParaRPr lang="en-US" sz="1250" b="0" i="0" kern="0" spc="0" dirty="0" u="sng">
                <a:solidFill>
                  <a:srgbClr val="032D60"/>
                </a:solidFill>
                <a:latin typeface="Salesforce Sans"/>
                <a:ea typeface="Salesforce Sans"/>
                <a:cs typeface="Salesforce Sans"/>
              </a:endParaRPr>
            </a:p>
          </p:txBody>
        </p:sp>
        <p:sp>
          <p:nvSpPr>
            <p:cNvPr id="1021" name="35 · li: Jev in LangSmith Evals ↗ [p35-text-0021]" descr="Native editable Unicode text; authored line breaks retained."/>
            <p:cNvSpPr txBox="1"/>
            <p:nvPr/>
          </p:nvSpPr>
          <p:spPr>
            <a:xfrm>
              <a:off x="45402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9" tooltip="Jev in LangSmith Evals ↗"/>
                </a:rPr>
                <a:t>Jev in LangSmith Evals ↗</a:t>
              </a:r>
              <a:endParaRPr lang="en-US" sz="1250" b="0" i="0" kern="0" spc="0" dirty="0" u="sng">
                <a:solidFill>
                  <a:srgbClr val="032D60"/>
                </a:solidFill>
                <a:latin typeface="Salesforce Sans"/>
                <a:ea typeface="Salesforce Sans"/>
                <a:cs typeface="Salesforce Sans"/>
              </a:endParaRPr>
            </a:p>
          </p:txBody>
        </p:sp>
        <p:sp>
          <p:nvSpPr>
            <p:cNvPr id="1022" name="35 · li: Jev-as-a-Judge ↗ [p35-text-0022]" descr="Native editable Unicode text; authored line breaks retained."/>
            <p:cNvSpPr txBox="1"/>
            <p:nvPr/>
          </p:nvSpPr>
          <p:spPr>
            <a:xfrm>
              <a:off x="45402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0" tooltip="Jev-as-a-Judge ↗"/>
                </a:rPr>
                <a:t>Jev-as-a-Judge ↗</a:t>
              </a:r>
              <a:endParaRPr lang="en-US" sz="1250" b="0" i="0" kern="0" spc="0" dirty="0" u="sng">
                <a:solidFill>
                  <a:srgbClr val="032D60"/>
                </a:solidFill>
                <a:latin typeface="Salesforce Sans"/>
                <a:ea typeface="Salesforce Sans"/>
                <a:cs typeface="Salesforce Sans"/>
              </a:endParaRPr>
            </a:p>
          </p:txBody>
        </p:sp>
        <p:sp>
          <p:nvSpPr>
            <p:cNvPr id="1023" name="35 · li: Runtime, framework, harness ↗ [p35-text-0023]" descr="Native editable Unicode text; authored line breaks retained."/>
            <p:cNvSpPr txBox="1"/>
            <p:nvPr/>
          </p:nvSpPr>
          <p:spPr>
            <a:xfrm>
              <a:off x="45402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1" tooltip="Runtime, framework, harness ↗"/>
                </a:rPr>
                <a:t>Runtime, framework, harness ↗</a:t>
              </a:r>
              <a:endParaRPr lang="en-US" sz="1250" b="0" i="0" kern="0" spc="0" dirty="0" u="sng">
                <a:solidFill>
                  <a:srgbClr val="032D60"/>
                </a:solidFill>
                <a:latin typeface="Salesforce Sans"/>
                <a:ea typeface="Salesforce Sans"/>
                <a:cs typeface="Salesforce Sans"/>
              </a:endParaRPr>
            </a:p>
          </p:txBody>
        </p:sp>
      </p:grpSp>
      <p:grpSp>
        <p:nvGrpSpPr>
          <p:cNvPr id="1043" name="35 · brief-card: Decision patterns"/>
          <p:cNvGrpSpPr/>
          <p:nvPr/>
        </p:nvGrpSpPr>
        <p:grpSpPr>
          <a:xfrm>
            <a:off x="8286750" y="2027429"/>
            <a:ext cx="3124200" cy="3160045"/>
            <a:chOff x="8286750" y="2027429"/>
            <a:chExt cx="3124200" cy="3160045"/>
          </a:xfrm>
        </p:grpSpPr>
        <p:sp>
          <p:nvSpPr>
            <p:cNvPr id="1024" name="35 · sources-text-3: Decision patterns [p35-text-0024]" descr="Native editable Unicode text; authored line breaks retained."/>
            <p:cNvSpPr txBox="1"/>
            <p:nvPr/>
          </p:nvSpPr>
          <p:spPr>
            <a:xfrm>
              <a:off x="8286750" y="2027429"/>
              <a:ext cx="3124200" cy="35331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2360"/>
                </a:lnSpc>
                <a:spcBef>
                  <a:spcPts val="0"/>
                </a:spcBef>
                <a:spcAft>
                  <a:spcPts val="0"/>
                </a:spcAft>
                <a:buNone/>
              </a:pPr>
              <a:r>
                <a:rPr lang="en-US" sz="2000" b="1" i="0" kern="0" spc="-38" dirty="0">
                  <a:solidFill>
                    <a:srgbClr val="022AC0"/>
                  </a:solidFill>
                  <a:latin typeface="Manrope"/>
                  <a:ea typeface="Manrope"/>
                  <a:cs typeface="Manrope"/>
                </a:rPr>
                <a:t>Decision patterns</a:t>
              </a:r>
              <a:endParaRPr lang="en-US" sz="2000" b="1" i="0" kern="0" spc="-38" dirty="0">
                <a:solidFill>
                  <a:srgbClr val="022AC0"/>
                </a:solidFill>
                <a:latin typeface="Manrope"/>
                <a:ea typeface="Manrope"/>
                <a:cs typeface="Manrope"/>
              </a:endParaRPr>
            </a:p>
          </p:txBody>
        </p:sp>
        <p:sp>
          <p:nvSpPr>
            <p:cNvPr id="1025" name="35 · li: Composable AI ↗ [p35-text-0025]" descr="Native editable Unicode text; authored line breaks retained."/>
            <p:cNvSpPr txBox="1"/>
            <p:nvPr/>
          </p:nvSpPr>
          <p:spPr>
            <a:xfrm>
              <a:off x="8286750" y="24887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2" tooltip="Composable AI ↗"/>
                </a:rPr>
                <a:t>Composable AI ↗</a:t>
              </a:r>
              <a:endParaRPr lang="en-US" sz="1250" b="0" i="0" kern="0" spc="0" dirty="0" u="sng">
                <a:solidFill>
                  <a:srgbClr val="032D60"/>
                </a:solidFill>
                <a:latin typeface="Salesforce Sans"/>
                <a:ea typeface="Salesforce Sans"/>
                <a:cs typeface="Salesforce Sans"/>
              </a:endParaRPr>
            </a:p>
          </p:txBody>
        </p:sp>
        <p:sp>
          <p:nvSpPr>
            <p:cNvPr id="1026" name="35 · li: TypeSafe quickstart ↗ [p35-text-0026]" descr="Native editable Unicode text; authored line breaks retained."/>
            <p:cNvSpPr txBox="1"/>
            <p:nvPr/>
          </p:nvSpPr>
          <p:spPr>
            <a:xfrm>
              <a:off x="8286750" y="28411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3" tooltip="TypeSafe quickstart ↗"/>
                </a:rPr>
                <a:t>TypeSafe quickstart ↗</a:t>
              </a:r>
              <a:endParaRPr lang="en-US" sz="1250" b="0" i="0" kern="0" spc="0" dirty="0" u="sng">
                <a:solidFill>
                  <a:srgbClr val="032D60"/>
                </a:solidFill>
                <a:latin typeface="Salesforce Sans"/>
                <a:ea typeface="Salesforce Sans"/>
                <a:cs typeface="Salesforce Sans"/>
              </a:endParaRPr>
            </a:p>
          </p:txBody>
        </p:sp>
        <p:sp>
          <p:nvSpPr>
            <p:cNvPr id="1027" name="35 · li: Confidence routing ↗ [p35-text-0027]" descr="Native editable Unicode text; authored line breaks retained."/>
            <p:cNvSpPr txBox="1"/>
            <p:nvPr/>
          </p:nvSpPr>
          <p:spPr>
            <a:xfrm>
              <a:off x="8286750" y="31935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4" tooltip="Confidence routing ↗"/>
                </a:rPr>
                <a:t>Confidence routing ↗</a:t>
              </a:r>
              <a:endParaRPr lang="en-US" sz="1250" b="0" i="0" kern="0" spc="0" dirty="0" u="sng">
                <a:solidFill>
                  <a:srgbClr val="032D60"/>
                </a:solidFill>
                <a:latin typeface="Salesforce Sans"/>
                <a:ea typeface="Salesforce Sans"/>
                <a:cs typeface="Salesforce Sans"/>
              </a:endParaRPr>
            </a:p>
          </p:txBody>
        </p:sp>
        <p:sp>
          <p:nvSpPr>
            <p:cNvPr id="1028" name="35 · li: Intent routing ↗ [p35-text-0028]" descr="Native editable Unicode text; authored line breaks retained."/>
            <p:cNvSpPr txBox="1"/>
            <p:nvPr/>
          </p:nvSpPr>
          <p:spPr>
            <a:xfrm>
              <a:off x="8286750" y="35459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5" tooltip="Intent routing ↗"/>
                </a:rPr>
                <a:t>Intent routing ↗</a:t>
              </a:r>
              <a:endParaRPr lang="en-US" sz="1250" b="0" i="0" kern="0" spc="0" dirty="0" u="sng">
                <a:solidFill>
                  <a:srgbClr val="032D60"/>
                </a:solidFill>
                <a:latin typeface="Salesforce Sans"/>
                <a:ea typeface="Salesforce Sans"/>
                <a:cs typeface="Salesforce Sans"/>
              </a:endParaRPr>
            </a:p>
          </p:txBody>
        </p:sp>
        <p:sp>
          <p:nvSpPr>
            <p:cNvPr id="1029" name="35 · li: Structured decision criteria ↗ [p35-text-0029]" descr="Native editable Unicode text; authored line breaks retained."/>
            <p:cNvSpPr txBox="1"/>
            <p:nvPr/>
          </p:nvSpPr>
          <p:spPr>
            <a:xfrm>
              <a:off x="8286750" y="389842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6" tooltip="Structured decision criteria ↗"/>
                </a:rPr>
                <a:t>Structured decision criteria ↗</a:t>
              </a:r>
              <a:endParaRPr lang="en-US" sz="1250" b="0" i="0" kern="0" spc="0" dirty="0" u="sng">
                <a:solidFill>
                  <a:srgbClr val="032D60"/>
                </a:solidFill>
                <a:latin typeface="Salesforce Sans"/>
                <a:ea typeface="Salesforce Sans"/>
                <a:cs typeface="Salesforce Sans"/>
              </a:endParaRPr>
            </a:p>
          </p:txBody>
        </p:sp>
        <p:sp>
          <p:nvSpPr>
            <p:cNvPr id="1030" name="35 · li: Building with System One ↗ [p35-text-0030]" descr="Native editable Unicode text; authored line breaks retained."/>
            <p:cNvSpPr txBox="1"/>
            <p:nvPr/>
          </p:nvSpPr>
          <p:spPr>
            <a:xfrm>
              <a:off x="8286750" y="425084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hlinkClick r:id="rId17" tooltip="Building with System One ↗"/>
                </a:rPr>
                <a:t>Building with System One ↗</a:t>
              </a:r>
              <a:endParaRPr lang="en-US" sz="1250" b="0" i="0" kern="0" spc="0" dirty="0" u="sng">
                <a:solidFill>
                  <a:srgbClr val="032D60"/>
                </a:solidFill>
                <a:latin typeface="Salesforce Sans"/>
                <a:ea typeface="Salesforce Sans"/>
                <a:cs typeface="Salesforce Sans"/>
              </a:endParaRPr>
            </a:p>
          </p:txBody>
        </p:sp>
        <p:sp>
          <p:nvSpPr>
            <p:cNvPr id="1031" name="35 · li: Aftercare walkthrough + evaluation ↗ [p35-text-0031]" descr="Native editable Unicode text; authored line breaks retained."/>
            <p:cNvSpPr txBox="1"/>
            <p:nvPr/>
          </p:nvSpPr>
          <p:spPr>
            <a:xfrm>
              <a:off x="8286750" y="4603274"/>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Aftercare walkthrough + evaluation ↗</a:t>
              </a:r>
              <a:endParaRPr lang="en-US" sz="1250" b="0" i="0" kern="0" spc="0" dirty="0" u="sng">
                <a:solidFill>
                  <a:srgbClr val="032D60"/>
                </a:solidFill>
                <a:latin typeface="Salesforce Sans"/>
                <a:ea typeface="Salesforce Sans"/>
                <a:cs typeface="Salesforce Sans"/>
              </a:endParaRPr>
            </a:p>
          </p:txBody>
        </p:sp>
        <p:sp>
          <p:nvSpPr>
            <p:cNvPr id="1032" name="35 · li: Full training pipeline ↗ [p35-text-0032]" descr="Native editable Unicode text; authored line breaks retained."/>
            <p:cNvSpPr txBox="1"/>
            <p:nvPr/>
          </p:nvSpPr>
          <p:spPr>
            <a:xfrm>
              <a:off x="8286750" y="4955699"/>
              <a:ext cx="3124200" cy="23177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775"/>
                </a:lnSpc>
                <a:spcBef>
                  <a:spcPts val="0"/>
                </a:spcBef>
                <a:spcAft>
                  <a:spcPts val="0"/>
                </a:spcAft>
                <a:buNone/>
              </a:pPr>
              <a:r>
                <a:rPr lang="en-US" sz="1250" b="0" i="0" kern="0" spc="0" dirty="0" u="sng">
                  <a:solidFill>
                    <a:srgbClr val="032D60"/>
                  </a:solidFill>
                  <a:latin typeface="Salesforce Sans"/>
                  <a:ea typeface="Salesforce Sans"/>
                  <a:cs typeface="Salesforce Sans"/>
                </a:rPr>
                <a:t>Full training pipeline ↗</a:t>
              </a:r>
              <a:endParaRPr lang="en-US" sz="1250" b="0" i="0" kern="0" spc="0" dirty="0" u="sng">
                <a:solidFill>
                  <a:srgbClr val="032D60"/>
                </a:solidFill>
                <a:latin typeface="Salesforce Sans"/>
                <a:ea typeface="Salesforce Sans"/>
                <a:cs typeface="Salesforce Sans"/>
              </a:endParaRPr>
            </a:p>
          </p:txBody>
        </p:sp>
      </p:grpSp>
      <p:grpSp>
        <p:nvGrpSpPr>
          <p:cNvPr id="1044" name="35 · source-line: Guided determinism tutorial · Confidence semantics"/>
          <p:cNvGrpSpPr/>
          <p:nvPr/>
        </p:nvGrpSpPr>
        <p:grpSpPr>
          <a:xfrm>
            <a:off x="558800" y="6037898"/>
            <a:ext cx="11087100" cy="284456"/>
            <a:chOff x="558800" y="6037898"/>
            <a:chExt cx="11087100" cy="284456"/>
          </a:xfrm>
        </p:grpSpPr>
        <p:sp>
          <p:nvSpPr>
            <p:cNvPr id="1033" name="35 · source-line · top border [p35-e0033]"/>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034" name="35 · span: Guided determinism tutorial · Confidence semantics [p35-text-0033]" descr="Native editable Unicode text; authored line breaks retained."/>
            <p:cNvSpPr txBox="1"/>
            <p:nvPr/>
          </p:nvSpPr>
          <p:spPr>
            <a:xfrm>
              <a:off x="558800" y="6153126"/>
              <a:ext cx="2935839"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hlinkClick r:id="rId18" tooltip="Guided determinism tutorial"/>
                </a:rPr>
                <a:t>Guided determinism tutorial</a:t>
              </a:r>
              <a:r>
                <a:rPr lang="en-US" sz="950" b="0" i="0" kern="0" spc="0" dirty="0">
                  <a:solidFill>
                    <a:srgbClr val="315A7A"/>
                  </a:solidFill>
                  <a:latin typeface="Salesforce Sans"/>
                  <a:ea typeface="Salesforce Sans"/>
                  <a:cs typeface="Salesforce Sans"/>
                </a:rPr>
                <a:t xml:space="preserve"> · </a:t>
              </a:r>
              <a:r>
                <a:rPr lang="en-US" sz="950" b="0" i="0" kern="0" spc="0" dirty="0" u="sng">
                  <a:solidFill>
                    <a:srgbClr val="315A7A"/>
                  </a:solidFill>
                  <a:latin typeface="Salesforce Sans"/>
                  <a:ea typeface="Salesforce Sans"/>
                  <a:cs typeface="Salesforce Sans"/>
                  <a:hlinkClick r:id="rId19" tooltip="Confidence semantics"/>
                </a:rPr>
                <a:t>Confidence semantics</a:t>
              </a:r>
              <a:endParaRPr lang="en-US" sz="950" b="0" i="0" kern="0" spc="0" dirty="0" u="sng">
                <a:solidFill>
                  <a:srgbClr val="315A7A"/>
                </a:solidFill>
                <a:latin typeface="Salesforce Sans"/>
                <a:ea typeface="Salesforce Sans"/>
                <a:cs typeface="Salesforce Sans"/>
              </a:endParaRPr>
            </a:p>
          </p:txBody>
        </p:sp>
        <p:sp>
          <p:nvSpPr>
            <p:cNvPr id="1035" name="35 · span: Sources link to original pages [p35-text-0034]" descr="Native editable Unicode text; authored line breaks retained."/>
            <p:cNvSpPr txBox="1"/>
            <p:nvPr/>
          </p:nvSpPr>
          <p:spPr>
            <a:xfrm>
              <a:off x="10011873" y="6153126"/>
              <a:ext cx="1634027"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Sources link to original pages</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slides/slide36.xml><?xml version="1.0" encoding="utf-8"?>
<p:sld xmlns:a="http://schemas.openxmlformats.org/drawingml/2006/main" xmlns:p="http://schemas.openxmlformats.org/presentationml/2006/main">
  <p:cSld name="Reuse the visual vocabulary in another workflow">
    <p:bg>
      <p:bgPr>
        <a:solidFill>
          <a:srgbClr val="FFFFFF"/>
        </a:solidFill>
      </p:bgPr>
    </p:bg>
    <p:spTree>
      <p:nvGrpSpPr>
        <p:cNvPr id="1" name=""/>
        <p:cNvGrpSpPr/>
        <p:nvPr/>
      </p:nvGrpSpPr>
      <p:grpSpPr>
        <a:xfrm>
          <a:off x="0" y="0"/>
          <a:ext cx="0" cy="0"/>
          <a:chOff x="0" y="0"/>
          <a:chExt cx="0" cy="0"/>
        </a:xfrm>
      </p:grpSpPr>
      <p:sp>
        <p:nvSpPr>
          <p:cNvPr id="1000" name="36 · slide light · surface [p36-e0003]"/>
          <p:cNvSpPr/>
          <p:nvPr/>
        </p:nvSpPr>
        <p:spPr>
          <a:xfrm>
            <a:off x="0" y="0"/>
            <a:ext cx="12192000" cy="6858000"/>
          </a:xfrm>
          <a:prstGeom prst="rect">
            <a:avLst/>
          </a:prstGeom>
          <a:gradFill rotWithShape="1">
            <a:gsLst>
              <a:gs pos="0">
                <a:srgbClr val="D7EDFB"/>
              </a:gs>
              <a:gs pos="57000">
                <a:srgbClr val="E7F6F4"/>
              </a:gs>
              <a:gs pos="100000">
                <a:srgbClr val="FBFDFB"/>
              </a:gs>
            </a:gsLst>
            <a:lin ang="2279998" scaled="0"/>
          </a:gradFill>
          <a:ln>
            <a:noFill/>
          </a:ln>
        </p:spPr>
      </p:sp>
      <p:grpSp>
        <p:nvGrpSpPr>
          <p:cNvPr id="1141" name="36 · chrome-min: DISAGGREGATED INTELLIGENCE"/>
          <p:cNvGrpSpPr/>
          <p:nvPr/>
        </p:nvGrpSpPr>
        <p:grpSpPr>
          <a:xfrm>
            <a:off x="558800" y="356053"/>
            <a:ext cx="11087100" cy="187325"/>
            <a:chOff x="558800" y="356053"/>
            <a:chExt cx="11087100" cy="187325"/>
          </a:xfrm>
        </p:grpSpPr>
        <p:sp>
          <p:nvSpPr>
            <p:cNvPr id="1001" name="36 · l: DISAGGREGATED INTELLIGENCE [p36-text-0005]" descr="Native editable Unicode text; authored line breaks retained."/>
            <p:cNvSpPr txBox="1"/>
            <p:nvPr/>
          </p:nvSpPr>
          <p:spPr>
            <a:xfrm>
              <a:off x="558800" y="356053"/>
              <a:ext cx="2104735"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DISAGGREGATED INTELLIGENCE</a:t>
              </a:r>
              <a:endParaRPr lang="en-US" sz="950" b="1" i="0" kern="0" spc="65" dirty="0">
                <a:solidFill>
                  <a:srgbClr val="022AC0"/>
                </a:solidFill>
                <a:latin typeface="Salesforce Sans"/>
                <a:ea typeface="Salesforce Sans"/>
                <a:cs typeface="Salesforce Sans"/>
              </a:endParaRPr>
            </a:p>
          </p:txBody>
        </p:sp>
        <p:sp>
          <p:nvSpPr>
            <p:cNvPr id="1002" name="36 · r: 36 / 36 [p36-text-0006]" descr="Native editable Unicode text; authored line breaks retained."/>
            <p:cNvSpPr txBox="1"/>
            <p:nvPr/>
          </p:nvSpPr>
          <p:spPr>
            <a:xfrm>
              <a:off x="11150369" y="356053"/>
              <a:ext cx="495531" cy="18732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425"/>
                </a:lnSpc>
                <a:spcBef>
                  <a:spcPts val="0"/>
                </a:spcBef>
                <a:spcAft>
                  <a:spcPts val="0"/>
                </a:spcAft>
                <a:buNone/>
              </a:pPr>
              <a:r>
                <a:rPr lang="en-US" sz="950" b="1" i="0" kern="0" spc="65" dirty="0">
                  <a:solidFill>
                    <a:srgbClr val="022AC0"/>
                  </a:solidFill>
                  <a:latin typeface="Salesforce Sans"/>
                  <a:ea typeface="Salesforce Sans"/>
                  <a:cs typeface="Salesforce Sans"/>
                </a:rPr>
                <a:t>36 / 36</a:t>
              </a:r>
              <a:endParaRPr lang="en-US" sz="950" b="1" i="0" kern="0" spc="65" dirty="0">
                <a:solidFill>
                  <a:srgbClr val="022AC0"/>
                </a:solidFill>
                <a:latin typeface="Salesforce Sans"/>
                <a:ea typeface="Salesforce Sans"/>
                <a:cs typeface="Salesforce Sans"/>
              </a:endParaRPr>
            </a:p>
          </p:txBody>
        </p:sp>
      </p:grpSp>
      <p:grpSp>
        <p:nvGrpSpPr>
          <p:cNvPr id="1142" name="36 · deck-head: APPENDIX / A REUSABLE VISUAL VOCABULARY"/>
          <p:cNvGrpSpPr/>
          <p:nvPr/>
        </p:nvGrpSpPr>
        <p:grpSpPr>
          <a:xfrm>
            <a:off x="558800" y="775901"/>
            <a:ext cx="11087100" cy="871263"/>
            <a:chOff x="558800" y="775901"/>
            <a:chExt cx="11087100" cy="871263"/>
          </a:xfrm>
        </p:grpSpPr>
        <p:sp>
          <p:nvSpPr>
            <p:cNvPr id="1003" name="36 · returns-components-eyebrow: APPENDIX / A REUSABLE VISUAL VOCABULARY [p36-text-0007]" descr="Native editable Unicode text; authored line breaks retained."/>
            <p:cNvSpPr txBox="1"/>
            <p:nvPr/>
          </p:nvSpPr>
          <p:spPr>
            <a:xfrm>
              <a:off x="558800" y="775901"/>
              <a:ext cx="11087100" cy="179705"/>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365"/>
                </a:lnSpc>
                <a:spcBef>
                  <a:spcPts val="0"/>
                </a:spcBef>
                <a:spcAft>
                  <a:spcPts val="0"/>
                </a:spcAft>
                <a:buNone/>
              </a:pPr>
              <a:r>
                <a:rPr lang="en-US" sz="1050" b="1" i="0" kern="0" spc="68" dirty="0">
                  <a:solidFill>
                    <a:srgbClr val="022AC0"/>
                  </a:solidFill>
                  <a:latin typeface="Salesforce Sans"/>
                  <a:ea typeface="Salesforce Sans"/>
                  <a:cs typeface="Salesforce Sans"/>
                </a:rPr>
                <a:t>APPENDIX / A REUSABLE VISUAL VOCABULARY</a:t>
              </a:r>
              <a:endParaRPr lang="en-US" sz="1050" b="1" i="0" kern="0" spc="68" dirty="0">
                <a:solidFill>
                  <a:srgbClr val="022AC0"/>
                </a:solidFill>
                <a:latin typeface="Salesforce Sans"/>
                <a:ea typeface="Salesforce Sans"/>
                <a:cs typeface="Salesforce Sans"/>
              </a:endParaRPr>
            </a:p>
          </p:txBody>
        </p:sp>
        <p:sp>
          <p:nvSpPr>
            <p:cNvPr id="1004" name="36 · returns-components-title: Reuse the visual vocabulary in another workflow [p36-text-0008]" descr="Native editable Unicode text; authored line breaks retained."/>
            <p:cNvSpPr txBox="1"/>
            <p:nvPr/>
          </p:nvSpPr>
          <p:spPr>
            <a:xfrm>
              <a:off x="558800" y="1016281"/>
              <a:ext cx="10998200" cy="630882"/>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4392"/>
                </a:lnSpc>
                <a:spcBef>
                  <a:spcPts val="0"/>
                </a:spcBef>
                <a:spcAft>
                  <a:spcPts val="0"/>
                </a:spcAft>
                <a:buNone/>
              </a:pPr>
              <a:r>
                <a:rPr lang="en-US" sz="3600" b="1" i="0" kern="0" spc="-95" dirty="0">
                  <a:solidFill>
                    <a:srgbClr val="022AC0"/>
                  </a:solidFill>
                  <a:latin typeface="Manrope"/>
                  <a:ea typeface="Manrope"/>
                  <a:cs typeface="Manrope"/>
                </a:rPr>
                <a:t>Reuse the visual vocabulary in another workflow</a:t>
              </a:r>
              <a:endParaRPr lang="en-US" sz="3600" b="1" i="0" kern="0" spc="-95" dirty="0">
                <a:solidFill>
                  <a:srgbClr val="022AC0"/>
                </a:solidFill>
                <a:latin typeface="Manrope"/>
                <a:ea typeface="Manrope"/>
                <a:cs typeface="Manrope"/>
              </a:endParaRPr>
            </a:p>
          </p:txBody>
        </p:sp>
      </p:grpSp>
      <p:grpSp>
        <p:nvGrpSpPr>
          <p:cNvPr id="1005" name="36 · img · drawing [p36-e0008]"/>
          <p:cNvGrpSpPr/>
          <p:nvPr/>
        </p:nvGrpSpPr>
        <p:grpSpPr>
          <a:xfrm>
            <a:off x="558800" y="1854200"/>
            <a:ext cx="11074400" cy="3937000"/>
            <a:chOff x="558800" y="1854200"/>
            <a:chExt cx="11074400" cy="3937000"/>
          </a:xfrm>
        </p:grpSpPr>
        <p:sp>
          <p:nvSpPr>
            <p:cNvPr id="1006" name="rect · 1"/>
            <p:cNvSpPr/>
            <p:nvPr/>
          </p:nvSpPr>
          <p:spPr>
            <a:xfrm>
              <a:off x="558800" y="1854200"/>
              <a:ext cx="11074400" cy="3937000"/>
            </a:xfrm>
            <a:prstGeom prst="roundRect">
              <a:avLst>
                <a:gd name="adj" fmla="val 3226"/>
              </a:avLst>
            </a:prstGeom>
            <a:solidFill>
              <a:srgbClr val="F7F8F3"/>
            </a:solidFill>
            <a:ln>
              <a:noFill/>
            </a:ln>
          </p:spPr>
        </p:sp>
        <p:grpSp>
          <p:nvGrpSpPr>
            <p:cNvPr id="1007" name="auth · 10"/>
            <p:cNvGrpSpPr/>
            <p:nvPr/>
          </p:nvGrpSpPr>
          <p:grpSpPr>
            <a:xfrm>
              <a:off x="1016071" y="2175228"/>
              <a:ext cx="1053959" cy="917081"/>
              <a:chOff x="1016071" y="2175228"/>
              <a:chExt cx="1053959" cy="917081"/>
            </a:xfrm>
          </p:grpSpPr>
          <p:sp>
            <p:nvSpPr>
              <p:cNvPr id="1008" name="rect · 2"/>
              <p:cNvSpPr/>
              <p:nvPr/>
            </p:nvSpPr>
            <p:spPr>
              <a:xfrm>
                <a:off x="1016071" y="2175228"/>
                <a:ext cx="937613" cy="766516"/>
              </a:xfrm>
              <a:prstGeom prst="roundRect">
                <a:avLst>
                  <a:gd name="adj" fmla="val 11607"/>
                </a:avLst>
              </a:prstGeom>
              <a:solidFill>
                <a:srgbClr val="FFFFFF"/>
              </a:solidFill>
              <a:ln w="15057" cap="rnd" cmpd="sng" algn="ctr">
                <a:solidFill>
                  <a:srgbClr val="243E42"/>
                </a:solidFill>
                <a:prstDash val="solid"/>
                <a:round/>
                <a:headEnd type="none" w="med" len="med"/>
                <a:tailEnd type="none" w="med" len="med"/>
              </a:ln>
            </p:spPr>
          </p:sp>
          <p:sp>
            <p:nvSpPr>
              <p:cNvPr id="1009" name="path · 3"/>
              <p:cNvSpPr/>
              <p:nvPr/>
            </p:nvSpPr>
            <p:spPr>
              <a:xfrm>
                <a:off x="1016071" y="2175228"/>
                <a:ext cx="937613" cy="171097"/>
              </a:xfrm>
              <a:custGeom>
                <a:avLst/>
                <a:gdLst/>
                <a:ahLst/>
                <a:cxnLst/>
                <a:rect l="0" t="0" r="r" b="b"/>
                <a:pathLst>
                  <a:path w="937613" h="171097" fill="norm" stroke="1" extrusionOk="0">
                    <a:moveTo>
                      <a:pt x="88970" y="0"/>
                    </a:moveTo>
                    <a:lnTo>
                      <a:pt x="848642" y="0"/>
                    </a:lnTo>
                    <a:quadBezTo>
                      <a:pt x="937612" y="0"/>
                      <a:pt x="937612" y="88970"/>
                    </a:quadBezTo>
                    <a:lnTo>
                      <a:pt x="937612" y="171097"/>
                    </a:lnTo>
                    <a:lnTo>
                      <a:pt x="0" y="171097"/>
                    </a:lnTo>
                    <a:lnTo>
                      <a:pt x="0" y="88970"/>
                    </a:lnTo>
                    <a:quadBezTo>
                      <a:pt x="0" y="0"/>
                      <a:pt x="88970" y="0"/>
                    </a:quadBezTo>
                  </a:path>
                </a:pathLst>
              </a:custGeom>
              <a:solidFill>
                <a:srgbClr val="E2EEF3"/>
              </a:solidFill>
              <a:ln w="15057" cap="rnd" cmpd="sng" algn="ctr">
                <a:solidFill>
                  <a:srgbClr val="243E42"/>
                </a:solidFill>
                <a:prstDash val="solid"/>
                <a:round/>
                <a:headEnd type="none" w="med" len="med"/>
                <a:tailEnd type="none" w="med" len="med"/>
              </a:ln>
            </p:spPr>
          </p:sp>
          <p:sp>
            <p:nvSpPr>
              <p:cNvPr id="1010" name="circle · 4"/>
              <p:cNvSpPr/>
              <p:nvPr/>
            </p:nvSpPr>
            <p:spPr>
              <a:xfrm>
                <a:off x="1194012" y="2469515"/>
                <a:ext cx="164253" cy="164253"/>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11" name="path · 5"/>
              <p:cNvSpPr/>
              <p:nvPr/>
            </p:nvSpPr>
            <p:spPr>
              <a:xfrm>
                <a:off x="1139261" y="2592705"/>
                <a:ext cx="273756" cy="198473"/>
              </a:xfrm>
              <a:custGeom>
                <a:avLst/>
                <a:gdLst/>
                <a:ahLst/>
                <a:cxnLst/>
                <a:rect l="0" t="0" r="r" b="b"/>
                <a:pathLst>
                  <a:path w="273756" h="198473" fill="norm" stroke="1" extrusionOk="0">
                    <a:moveTo>
                      <a:pt x="0" y="198473"/>
                    </a:moveTo>
                    <a:lnTo>
                      <a:pt x="0" y="136878"/>
                    </a:lnTo>
                    <a:quadBezTo>
                      <a:pt x="0" y="0"/>
                      <a:pt x="136877" y="0"/>
                    </a:quadBezTo>
                    <a:quadBezTo>
                      <a:pt x="273755" y="0"/>
                      <a:pt x="273755" y="136878"/>
                    </a:quadBezTo>
                    <a:lnTo>
                      <a:pt x="273755" y="198473"/>
                    </a:lnTo>
                  </a:path>
                </a:pathLst>
              </a:custGeom>
              <a:solidFill>
                <a:srgbClr val="E2EEF3"/>
              </a:solidFill>
              <a:ln w="15057" cap="rnd" cmpd="sng" algn="ctr">
                <a:solidFill>
                  <a:srgbClr val="243E42"/>
                </a:solidFill>
                <a:prstDash val="solid"/>
                <a:round/>
                <a:headEnd type="none" w="med" len="med"/>
                <a:tailEnd type="none" w="med" len="med"/>
              </a:ln>
            </p:spPr>
          </p:sp>
          <p:sp>
            <p:nvSpPr>
              <p:cNvPr id="1012" name="path · 6"/>
              <p:cNvSpPr/>
              <p:nvPr/>
            </p:nvSpPr>
            <p:spPr>
              <a:xfrm>
                <a:off x="1125573" y="2476359"/>
                <a:ext cx="684389" cy="383258"/>
              </a:xfrm>
              <a:custGeom>
                <a:avLst/>
                <a:gdLst/>
                <a:ahLst/>
                <a:cxnLst/>
                <a:rect l="0" t="0" r="r" b="b"/>
                <a:pathLst>
                  <a:path w="684389" h="383258" fill="none" stroke="1" extrusionOk="0">
                    <a:moveTo>
                      <a:pt x="396945" y="0"/>
                    </a:moveTo>
                    <a:lnTo>
                      <a:pt x="684389" y="0"/>
                    </a:lnTo>
                    <a:moveTo>
                      <a:pt x="396945" y="109502"/>
                    </a:moveTo>
                    <a:lnTo>
                      <a:pt x="581730" y="109502"/>
                    </a:lnTo>
                    <a:moveTo>
                      <a:pt x="0" y="383258"/>
                    </a:moveTo>
                    <a:lnTo>
                      <a:pt x="328506" y="383258"/>
                    </a:lnTo>
                  </a:path>
                </a:pathLst>
              </a:custGeom>
              <a:noFill/>
              <a:ln w="27376" cap="rnd" cmpd="sng" algn="ctr">
                <a:solidFill>
                  <a:srgbClr val="243E42"/>
                </a:solidFill>
                <a:prstDash val="solid"/>
                <a:round/>
                <a:headEnd type="none" w="med" len="med"/>
                <a:tailEnd type="none" w="med" len="med"/>
              </a:ln>
            </p:spPr>
          </p:sp>
          <p:sp>
            <p:nvSpPr>
              <p:cNvPr id="1013" name="path · 7"/>
              <p:cNvSpPr/>
              <p:nvPr/>
            </p:nvSpPr>
            <p:spPr>
              <a:xfrm>
                <a:off x="1618333" y="2579017"/>
                <a:ext cx="451697" cy="513292"/>
              </a:xfrm>
              <a:custGeom>
                <a:avLst/>
                <a:gdLst/>
                <a:ahLst/>
                <a:cxnLst/>
                <a:rect l="0" t="0" r="r" b="b"/>
                <a:pathLst>
                  <a:path w="451697" h="513292" fill="norm" stroke="1" extrusionOk="0">
                    <a:moveTo>
                      <a:pt x="225848" y="0"/>
                    </a:moveTo>
                    <a:lnTo>
                      <a:pt x="451696" y="82127"/>
                    </a:lnTo>
                    <a:lnTo>
                      <a:pt x="451696" y="253224"/>
                    </a:lnTo>
                    <a:quadBezTo>
                      <a:pt x="451696" y="410634"/>
                      <a:pt x="225848" y="513292"/>
                    </a:quadBezTo>
                    <a:quadBezTo>
                      <a:pt x="0" y="410634"/>
                      <a:pt x="0" y="253224"/>
                    </a:quadBezTo>
                    <a:lnTo>
                      <a:pt x="0" y="82127"/>
                    </a:lnTo>
                    <a:close/>
                  </a:path>
                </a:pathLst>
              </a:custGeom>
              <a:solidFill>
                <a:srgbClr val="E2EEF3"/>
              </a:solidFill>
              <a:ln w="15057" cap="rnd" cmpd="sng" algn="ctr">
                <a:solidFill>
                  <a:srgbClr val="243E42"/>
                </a:solidFill>
                <a:prstDash val="solid"/>
                <a:round/>
                <a:headEnd type="none" w="med" len="med"/>
                <a:tailEnd type="none" w="med" len="med"/>
              </a:ln>
            </p:spPr>
          </p:sp>
          <p:sp>
            <p:nvSpPr>
              <p:cNvPr id="1014" name="circle · 8"/>
              <p:cNvSpPr/>
              <p:nvPr/>
            </p:nvSpPr>
            <p:spPr>
              <a:xfrm>
                <a:off x="1789430" y="2729583"/>
                <a:ext cx="109502" cy="109502"/>
              </a:xfrm>
              <a:prstGeom prst="ellipse">
                <a:avLst/>
              </a:prstGeom>
              <a:solidFill>
                <a:srgbClr val="FFFFFF"/>
              </a:solidFill>
              <a:ln w="15057" cap="rnd" cmpd="sng" algn="ctr">
                <a:solidFill>
                  <a:srgbClr val="243E42"/>
                </a:solidFill>
                <a:prstDash val="solid"/>
                <a:round/>
                <a:headEnd type="none" w="med" len="med"/>
                <a:tailEnd type="none" w="med" len="med"/>
              </a:ln>
            </p:spPr>
          </p:sp>
          <p:sp>
            <p:nvSpPr>
              <p:cNvPr id="1015" name="path · 9"/>
              <p:cNvSpPr/>
              <p:nvPr/>
            </p:nvSpPr>
            <p:spPr>
              <a:xfrm>
                <a:off x="1844181" y="2832241"/>
                <a:ext cx="1" cy="109502"/>
              </a:xfrm>
              <a:custGeom>
                <a:avLst/>
                <a:gdLst/>
                <a:ahLst/>
                <a:cxnLst/>
                <a:rect l="0" t="0" r="r" b="b"/>
                <a:pathLst>
                  <a:path w="1" h="109502" fill="none" stroke="1" extrusionOk="0">
                    <a:moveTo>
                      <a:pt x="0" y="0"/>
                    </a:moveTo>
                    <a:lnTo>
                      <a:pt x="0" y="109502"/>
                    </a:lnTo>
                  </a:path>
                </a:pathLst>
              </a:custGeom>
              <a:noFill/>
              <a:ln w="34219" cap="rnd" cmpd="sng" algn="ctr">
                <a:solidFill>
                  <a:srgbClr val="243E42"/>
                </a:solidFill>
                <a:prstDash val="solid"/>
                <a:round/>
                <a:headEnd type="none" w="med" len="med"/>
                <a:tailEnd type="none" w="med" len="med"/>
              </a:ln>
            </p:spPr>
          </p:sp>
        </p:grpSp>
        <p:grpSp>
          <p:nvGrpSpPr>
            <p:cNvPr id="1016" name="library-label-auth · 12"/>
            <p:cNvGrpSpPr/>
            <p:nvPr/>
          </p:nvGrpSpPr>
          <p:grpSpPr>
            <a:xfrm>
              <a:off x="957811" y="3289424"/>
              <a:ext cx="1170477" cy="260226"/>
              <a:chOff x="957811" y="3289424"/>
              <a:chExt cx="1170477" cy="260226"/>
            </a:xfrm>
          </p:grpSpPr>
          <p:sp>
            <p:nvSpPr>
              <p:cNvPr id="1017" name="text · 11"/>
              <p:cNvSpPr txBox="1"/>
              <p:nvPr/>
            </p:nvSpPr>
            <p:spPr>
              <a:xfrm>
                <a:off x="956223" y="3289424"/>
                <a:ext cx="1173652"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Identity gate</a:t>
                </a:r>
                <a:endParaRPr lang="en-US" sz="1500"/>
              </a:p>
            </p:txBody>
          </p:sp>
        </p:grpSp>
        <p:grpSp>
          <p:nvGrpSpPr>
            <p:cNvPr id="1018" name="signin · 23"/>
            <p:cNvGrpSpPr/>
            <p:nvPr/>
          </p:nvGrpSpPr>
          <p:grpSpPr>
            <a:xfrm>
              <a:off x="2825327" y="2154696"/>
              <a:ext cx="1060803" cy="807579"/>
              <a:chOff x="2825327" y="2154696"/>
              <a:chExt cx="1060803" cy="807579"/>
            </a:xfrm>
          </p:grpSpPr>
          <p:sp>
            <p:nvSpPr>
              <p:cNvPr id="1019" name="rect · 13"/>
              <p:cNvSpPr/>
              <p:nvPr/>
            </p:nvSpPr>
            <p:spPr>
              <a:xfrm>
                <a:off x="2975892" y="2154696"/>
                <a:ext cx="910237" cy="807579"/>
              </a:xfrm>
              <a:prstGeom prst="roundRect">
                <a:avLst>
                  <a:gd name="adj" fmla="val 11017"/>
                </a:avLst>
              </a:prstGeom>
              <a:solidFill>
                <a:srgbClr val="FFFFFF"/>
              </a:solidFill>
              <a:ln w="15057" cap="rnd" cmpd="sng" algn="ctr">
                <a:solidFill>
                  <a:srgbClr val="243E42"/>
                </a:solidFill>
                <a:prstDash val="solid"/>
                <a:round/>
                <a:headEnd type="none" w="med" len="med"/>
                <a:tailEnd type="none" w="med" len="med"/>
              </a:ln>
            </p:spPr>
          </p:sp>
          <p:sp>
            <p:nvSpPr>
              <p:cNvPr id="1020" name="path · 14"/>
              <p:cNvSpPr/>
              <p:nvPr/>
            </p:nvSpPr>
            <p:spPr>
              <a:xfrm>
                <a:off x="2975892" y="2154696"/>
                <a:ext cx="910237" cy="184785"/>
              </a:xfrm>
              <a:custGeom>
                <a:avLst/>
                <a:gdLst/>
                <a:ahLst/>
                <a:cxnLst/>
                <a:rect l="0" t="0" r="r" b="b"/>
                <a:pathLst>
                  <a:path w="910237" h="184785" fill="norm" stroke="1" extrusionOk="0">
                    <a:moveTo>
                      <a:pt x="88971" y="0"/>
                    </a:moveTo>
                    <a:lnTo>
                      <a:pt x="821267" y="0"/>
                    </a:lnTo>
                    <a:quadBezTo>
                      <a:pt x="910237" y="0"/>
                      <a:pt x="910237" y="88971"/>
                    </a:quadBezTo>
                    <a:lnTo>
                      <a:pt x="910237" y="184785"/>
                    </a:lnTo>
                    <a:lnTo>
                      <a:pt x="0" y="184785"/>
                    </a:lnTo>
                    <a:lnTo>
                      <a:pt x="0" y="88971"/>
                    </a:lnTo>
                    <a:quadBezTo>
                      <a:pt x="0" y="0"/>
                      <a:pt x="88971" y="0"/>
                    </a:quadBezTo>
                    <a:close/>
                  </a:path>
                </a:pathLst>
              </a:custGeom>
              <a:solidFill>
                <a:srgbClr val="E2EEF3"/>
              </a:solidFill>
              <a:ln w="15057" cap="rnd" cmpd="sng" algn="ctr">
                <a:solidFill>
                  <a:srgbClr val="243E42"/>
                </a:solidFill>
                <a:prstDash val="solid"/>
                <a:round/>
                <a:headEnd type="none" w="med" len="med"/>
                <a:tailEnd type="none" w="med" len="med"/>
              </a:ln>
            </p:spPr>
          </p:sp>
          <p:sp>
            <p:nvSpPr>
              <p:cNvPr id="1021" name="circle · 15"/>
              <p:cNvSpPr/>
              <p:nvPr/>
            </p:nvSpPr>
            <p:spPr>
              <a:xfrm>
                <a:off x="3051175" y="2229979"/>
                <a:ext cx="41063" cy="41063"/>
              </a:xfrm>
              <a:prstGeom prst="ellipse">
                <a:avLst/>
              </a:prstGeom>
              <a:solidFill>
                <a:srgbClr val="243E42"/>
              </a:solidFill>
              <a:ln>
                <a:noFill/>
              </a:ln>
            </p:spPr>
          </p:sp>
          <p:sp>
            <p:nvSpPr>
              <p:cNvPr id="1022" name="circle · 16"/>
              <p:cNvSpPr/>
              <p:nvPr/>
            </p:nvSpPr>
            <p:spPr>
              <a:xfrm>
                <a:off x="3140146" y="2229979"/>
                <a:ext cx="41063" cy="41063"/>
              </a:xfrm>
              <a:prstGeom prst="ellipse">
                <a:avLst/>
              </a:prstGeom>
              <a:solidFill>
                <a:srgbClr val="243E42"/>
              </a:solidFill>
              <a:ln>
                <a:noFill/>
              </a:ln>
            </p:spPr>
          </p:sp>
          <p:sp>
            <p:nvSpPr>
              <p:cNvPr id="1023" name="path · 17"/>
              <p:cNvSpPr/>
              <p:nvPr/>
            </p:nvSpPr>
            <p:spPr>
              <a:xfrm>
                <a:off x="3372838" y="2339481"/>
                <a:ext cx="219004" cy="177941"/>
              </a:xfrm>
              <a:custGeom>
                <a:avLst/>
                <a:gdLst/>
                <a:ahLst/>
                <a:cxnLst/>
                <a:rect l="0" t="0" r="r" b="b"/>
                <a:pathLst>
                  <a:path w="219004" h="177941" fill="none" stroke="1" extrusionOk="0">
                    <a:moveTo>
                      <a:pt x="0" y="177941"/>
                    </a:moveTo>
                    <a:lnTo>
                      <a:pt x="0" y="109502"/>
                    </a:lnTo>
                    <a:cubicBezTo>
                      <a:pt x="0" y="49026"/>
                      <a:pt x="49026" y="0"/>
                      <a:pt x="109502" y="0"/>
                    </a:cubicBezTo>
                    <a:cubicBezTo>
                      <a:pt x="169978" y="0"/>
                      <a:pt x="219004" y="49026"/>
                      <a:pt x="219004" y="109502"/>
                    </a:cubicBezTo>
                    <a:lnTo>
                      <a:pt x="219004" y="177941"/>
                    </a:lnTo>
                  </a:path>
                </a:pathLst>
              </a:custGeom>
              <a:noFill/>
              <a:ln w="34219" cap="rnd" cmpd="sng" algn="ctr">
                <a:solidFill>
                  <a:srgbClr val="243E42"/>
                </a:solidFill>
                <a:prstDash val="solid"/>
                <a:round/>
                <a:headEnd type="none" w="med" len="med"/>
                <a:tailEnd type="none" w="med" len="med"/>
              </a:ln>
            </p:spPr>
          </p:sp>
          <p:sp>
            <p:nvSpPr>
              <p:cNvPr id="1024" name="rect · 18"/>
              <p:cNvSpPr/>
              <p:nvPr/>
            </p:nvSpPr>
            <p:spPr>
              <a:xfrm>
                <a:off x="3324931" y="2510578"/>
                <a:ext cx="314819" cy="253224"/>
              </a:xfrm>
              <a:prstGeom prst="roundRect">
                <a:avLst>
                  <a:gd name="adj" fmla="val 18919"/>
                </a:avLst>
              </a:prstGeom>
              <a:solidFill>
                <a:srgbClr val="F6EAC8"/>
              </a:solidFill>
              <a:ln w="15057" cap="rnd" cmpd="sng" algn="ctr">
                <a:solidFill>
                  <a:srgbClr val="243E42"/>
                </a:solidFill>
                <a:prstDash val="solid"/>
                <a:round/>
                <a:headEnd type="none" w="med" len="med"/>
                <a:tailEnd type="none" w="med" len="med"/>
              </a:ln>
            </p:spPr>
          </p:sp>
          <p:sp>
            <p:nvSpPr>
              <p:cNvPr id="1025" name="circle · 19"/>
              <p:cNvSpPr/>
              <p:nvPr/>
            </p:nvSpPr>
            <p:spPr>
              <a:xfrm>
                <a:off x="3454964" y="2585861"/>
                <a:ext cx="54751" cy="54751"/>
              </a:xfrm>
              <a:prstGeom prst="ellipse">
                <a:avLst/>
              </a:prstGeom>
              <a:solidFill>
                <a:srgbClr val="7A6025"/>
              </a:solidFill>
              <a:ln>
                <a:noFill/>
              </a:ln>
            </p:spPr>
          </p:sp>
          <p:sp>
            <p:nvSpPr>
              <p:cNvPr id="1026" name="path · 20"/>
              <p:cNvSpPr/>
              <p:nvPr/>
            </p:nvSpPr>
            <p:spPr>
              <a:xfrm>
                <a:off x="3482340" y="2626924"/>
                <a:ext cx="1" cy="61595"/>
              </a:xfrm>
              <a:custGeom>
                <a:avLst/>
                <a:gdLst/>
                <a:ahLst/>
                <a:cxnLst/>
                <a:rect l="0" t="0" r="r" b="b"/>
                <a:pathLst>
                  <a:path w="1" h="61595" fill="none" stroke="1" extrusionOk="0">
                    <a:moveTo>
                      <a:pt x="0" y="0"/>
                    </a:moveTo>
                    <a:lnTo>
                      <a:pt x="0" y="61595"/>
                    </a:lnTo>
                  </a:path>
                </a:pathLst>
              </a:custGeom>
              <a:noFill/>
              <a:ln w="20532" cap="rnd" cmpd="sng" algn="ctr">
                <a:solidFill>
                  <a:srgbClr val="7A6025"/>
                </a:solidFill>
                <a:prstDash val="solid"/>
                <a:round/>
                <a:headEnd type="none" w="med" len="med"/>
                <a:tailEnd type="none" w="med" len="med"/>
              </a:ln>
            </p:spPr>
          </p:sp>
          <p:sp>
            <p:nvSpPr>
              <p:cNvPr id="1027" name="path · 21"/>
              <p:cNvSpPr/>
              <p:nvPr/>
            </p:nvSpPr>
            <p:spPr>
              <a:xfrm>
                <a:off x="2825327" y="2695363"/>
                <a:ext cx="438009" cy="232692"/>
              </a:xfrm>
              <a:custGeom>
                <a:avLst/>
                <a:gdLst/>
                <a:ahLst/>
                <a:cxnLst/>
                <a:rect l="0" t="0" r="r" b="b"/>
                <a:pathLst>
                  <a:path w="438009" h="232692" fill="none" stroke="1" extrusionOk="0">
                    <a:moveTo>
                      <a:pt x="0" y="116346"/>
                    </a:moveTo>
                    <a:lnTo>
                      <a:pt x="431165" y="116346"/>
                    </a:lnTo>
                    <a:moveTo>
                      <a:pt x="321662" y="0"/>
                    </a:moveTo>
                    <a:lnTo>
                      <a:pt x="438009" y="116346"/>
                    </a:lnTo>
                    <a:lnTo>
                      <a:pt x="321662" y="232693"/>
                    </a:lnTo>
                  </a:path>
                </a:pathLst>
              </a:custGeom>
              <a:noFill/>
              <a:ln w="47907" cap="rnd" cmpd="sng" algn="ctr">
                <a:solidFill>
                  <a:srgbClr val="2E6653"/>
                </a:solidFill>
                <a:prstDash val="solid"/>
                <a:round/>
                <a:headEnd type="none" w="med" len="med"/>
                <a:tailEnd type="none" w="med" len="med"/>
              </a:ln>
            </p:spPr>
          </p:sp>
          <p:sp>
            <p:nvSpPr>
              <p:cNvPr id="1028" name="path · 22"/>
              <p:cNvSpPr/>
              <p:nvPr/>
            </p:nvSpPr>
            <p:spPr>
              <a:xfrm>
                <a:off x="3365994" y="2852773"/>
                <a:ext cx="287443" cy="1"/>
              </a:xfrm>
              <a:custGeom>
                <a:avLst/>
                <a:gdLst/>
                <a:ahLst/>
                <a:cxnLst/>
                <a:rect l="0" t="0" r="r" b="b"/>
                <a:pathLst>
                  <a:path w="287443" h="1" fill="none" stroke="1" extrusionOk="0">
                    <a:moveTo>
                      <a:pt x="0" y="0"/>
                    </a:moveTo>
                    <a:lnTo>
                      <a:pt x="287443" y="0"/>
                    </a:lnTo>
                  </a:path>
                </a:pathLst>
              </a:custGeom>
              <a:noFill/>
              <a:ln w="27376" cap="rnd" cmpd="sng" algn="ctr">
                <a:solidFill>
                  <a:srgbClr val="2E6653"/>
                </a:solidFill>
                <a:prstDash val="solid"/>
                <a:round/>
                <a:headEnd type="none" w="med" len="med"/>
                <a:tailEnd type="none" w="med" len="med"/>
              </a:ln>
            </p:spPr>
          </p:sp>
        </p:grpSp>
        <p:grpSp>
          <p:nvGrpSpPr>
            <p:cNvPr id="1029" name="library-label-signin · 25"/>
            <p:cNvGrpSpPr/>
            <p:nvPr/>
          </p:nvGrpSpPr>
          <p:grpSpPr>
            <a:xfrm>
              <a:off x="3049730" y="3289424"/>
              <a:ext cx="618840" cy="260226"/>
              <a:chOff x="3049730" y="3289424"/>
              <a:chExt cx="618840" cy="260226"/>
            </a:xfrm>
          </p:grpSpPr>
          <p:sp>
            <p:nvSpPr>
              <p:cNvPr id="1030" name="text · 24"/>
              <p:cNvSpPr txBox="1"/>
              <p:nvPr/>
            </p:nvSpPr>
            <p:spPr>
              <a:xfrm>
                <a:off x="3048142" y="3289424"/>
                <a:ext cx="622015"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Sign in</a:t>
                </a:r>
                <a:endParaRPr lang="en-US" sz="1500"/>
              </a:p>
            </p:txBody>
          </p:sp>
        </p:grpSp>
        <p:grpSp>
          <p:nvGrpSpPr>
            <p:cNvPr id="1031" name="whole-kit · 34"/>
            <p:cNvGrpSpPr/>
            <p:nvPr/>
          </p:nvGrpSpPr>
          <p:grpSpPr>
            <a:xfrm>
              <a:off x="4600363" y="2175228"/>
              <a:ext cx="1149773" cy="917081"/>
              <a:chOff x="4600363" y="2175228"/>
              <a:chExt cx="1149773" cy="917081"/>
            </a:xfrm>
          </p:grpSpPr>
          <p:sp>
            <p:nvSpPr>
              <p:cNvPr id="1032" name="path · 26"/>
              <p:cNvSpPr/>
              <p:nvPr/>
            </p:nvSpPr>
            <p:spPr>
              <a:xfrm>
                <a:off x="4661958" y="2407920"/>
                <a:ext cx="1012896" cy="376414"/>
              </a:xfrm>
              <a:custGeom>
                <a:avLst/>
                <a:gdLst/>
                <a:ahLst/>
                <a:cxnLst/>
                <a:rect l="0" t="0" r="r" b="b"/>
                <a:pathLst>
                  <a:path w="1012896" h="376414" fill="norm" stroke="1" extrusionOk="0">
                    <a:moveTo>
                      <a:pt x="0" y="150566"/>
                    </a:moveTo>
                    <a:lnTo>
                      <a:pt x="465385" y="0"/>
                    </a:lnTo>
                    <a:lnTo>
                      <a:pt x="1012896" y="212161"/>
                    </a:lnTo>
                    <a:lnTo>
                      <a:pt x="547511" y="376414"/>
                    </a:lnTo>
                    <a:close/>
                  </a:path>
                </a:pathLst>
              </a:custGeom>
              <a:solidFill>
                <a:srgbClr val="F6EAC8"/>
              </a:solidFill>
              <a:ln w="15057" cap="rnd" cmpd="sng" algn="ctr">
                <a:solidFill>
                  <a:srgbClr val="243E42"/>
                </a:solidFill>
                <a:prstDash val="solid"/>
                <a:round/>
                <a:headEnd type="none" w="med" len="med"/>
                <a:tailEnd type="none" w="med" len="med"/>
              </a:ln>
            </p:spPr>
          </p:sp>
          <p:sp>
            <p:nvSpPr>
              <p:cNvPr id="1033" name="path · 27"/>
              <p:cNvSpPr/>
              <p:nvPr/>
            </p:nvSpPr>
            <p:spPr>
              <a:xfrm>
                <a:off x="4661958" y="2558486"/>
                <a:ext cx="1012896" cy="533823"/>
              </a:xfrm>
              <a:custGeom>
                <a:avLst/>
                <a:gdLst/>
                <a:ahLst/>
                <a:cxnLst/>
                <a:rect l="0" t="0" r="r" b="b"/>
                <a:pathLst>
                  <a:path w="1012896" h="533823" fill="norm" stroke="1" extrusionOk="0">
                    <a:moveTo>
                      <a:pt x="0" y="0"/>
                    </a:moveTo>
                    <a:lnTo>
                      <a:pt x="547511" y="225848"/>
                    </a:lnTo>
                    <a:lnTo>
                      <a:pt x="547511" y="533823"/>
                    </a:lnTo>
                    <a:lnTo>
                      <a:pt x="0" y="314818"/>
                    </a:lnTo>
                    <a:close/>
                    <a:moveTo>
                      <a:pt x="547511" y="225848"/>
                    </a:moveTo>
                    <a:lnTo>
                      <a:pt x="1012896" y="61595"/>
                    </a:lnTo>
                    <a:lnTo>
                      <a:pt x="1012896" y="362726"/>
                    </a:lnTo>
                    <a:lnTo>
                      <a:pt x="547511" y="533823"/>
                    </a:lnTo>
                    <a:close/>
                  </a:path>
                </a:pathLst>
              </a:custGeom>
              <a:solidFill>
                <a:srgbClr val="F6EAC8"/>
              </a:solidFill>
              <a:ln w="15057" cap="rnd" cmpd="sng" algn="ctr">
                <a:solidFill>
                  <a:srgbClr val="243E42"/>
                </a:solidFill>
                <a:prstDash val="solid"/>
                <a:round/>
                <a:headEnd type="none" w="med" len="med"/>
                <a:tailEnd type="none" w="med" len="med"/>
              </a:ln>
            </p:spPr>
          </p:sp>
          <p:sp>
            <p:nvSpPr>
              <p:cNvPr id="1034" name="path · 28"/>
              <p:cNvSpPr/>
              <p:nvPr/>
            </p:nvSpPr>
            <p:spPr>
              <a:xfrm>
                <a:off x="4600363" y="2257354"/>
                <a:ext cx="1149773" cy="362726"/>
              </a:xfrm>
              <a:custGeom>
                <a:avLst/>
                <a:gdLst/>
                <a:ahLst/>
                <a:cxnLst/>
                <a:rect l="0" t="0" r="r" b="b"/>
                <a:pathLst>
                  <a:path w="1149773" h="362726" fill="norm" stroke="1" extrusionOk="0">
                    <a:moveTo>
                      <a:pt x="61595" y="301132"/>
                    </a:moveTo>
                    <a:lnTo>
                      <a:pt x="0" y="150566"/>
                    </a:lnTo>
                    <a:lnTo>
                      <a:pt x="465385" y="0"/>
                    </a:lnTo>
                    <a:lnTo>
                      <a:pt x="526980" y="150566"/>
                    </a:lnTo>
                    <a:moveTo>
                      <a:pt x="1074491" y="362727"/>
                    </a:moveTo>
                    <a:lnTo>
                      <a:pt x="1149774" y="198473"/>
                    </a:lnTo>
                    <a:lnTo>
                      <a:pt x="602263" y="0"/>
                    </a:lnTo>
                    <a:lnTo>
                      <a:pt x="526980" y="150566"/>
                    </a:lnTo>
                  </a:path>
                </a:pathLst>
              </a:custGeom>
              <a:solidFill>
                <a:srgbClr val="FFFFFF"/>
              </a:solidFill>
              <a:ln w="15057" cap="rnd" cmpd="sng" algn="ctr">
                <a:solidFill>
                  <a:srgbClr val="243E42"/>
                </a:solidFill>
                <a:prstDash val="solid"/>
                <a:round/>
                <a:headEnd type="none" w="med" len="med"/>
                <a:tailEnd type="none" w="med" len="med"/>
              </a:ln>
            </p:spPr>
          </p:sp>
          <p:sp>
            <p:nvSpPr>
              <p:cNvPr id="1035" name="path · 29"/>
              <p:cNvSpPr/>
              <p:nvPr/>
            </p:nvSpPr>
            <p:spPr>
              <a:xfrm>
                <a:off x="4880963" y="2175228"/>
                <a:ext cx="369570" cy="349038"/>
              </a:xfrm>
              <a:custGeom>
                <a:avLst/>
                <a:gdLst/>
                <a:ahLst/>
                <a:cxnLst/>
                <a:rect l="0" t="0" r="r" b="b"/>
                <a:pathLst>
                  <a:path w="369570" h="349038" fill="none" stroke="1" extrusionOk="0">
                    <a:moveTo>
                      <a:pt x="0" y="349038"/>
                    </a:moveTo>
                    <a:lnTo>
                      <a:pt x="0" y="184785"/>
                    </a:lnTo>
                    <a:cubicBezTo>
                      <a:pt x="0" y="82731"/>
                      <a:pt x="82731" y="0"/>
                      <a:pt x="184785" y="0"/>
                    </a:cubicBezTo>
                    <a:cubicBezTo>
                      <a:pt x="286839" y="0"/>
                      <a:pt x="369570" y="82731"/>
                      <a:pt x="369570" y="184785"/>
                    </a:cubicBezTo>
                    <a:lnTo>
                      <a:pt x="369570" y="349038"/>
                    </a:lnTo>
                  </a:path>
                </a:pathLst>
              </a:custGeom>
              <a:noFill/>
              <a:ln w="41063" cap="rnd" cmpd="sng" algn="ctr">
                <a:solidFill>
                  <a:srgbClr val="665180"/>
                </a:solidFill>
                <a:prstDash val="solid"/>
                <a:round/>
                <a:headEnd type="none" w="med" len="med"/>
                <a:tailEnd type="none" w="med" len="med"/>
              </a:ln>
            </p:spPr>
          </p:sp>
          <p:sp>
            <p:nvSpPr>
              <p:cNvPr id="1036" name="rect · 30"/>
              <p:cNvSpPr/>
              <p:nvPr/>
            </p:nvSpPr>
            <p:spPr>
              <a:xfrm>
                <a:off x="4833056" y="2421608"/>
                <a:ext cx="95814" cy="171097"/>
              </a:xfrm>
              <a:prstGeom prst="roundRect">
                <a:avLst>
                  <a:gd name="adj" fmla="val 42857"/>
                </a:avLst>
              </a:prstGeom>
              <a:solidFill>
                <a:srgbClr val="E8E0F3"/>
              </a:solidFill>
              <a:ln w="15057" cap="rnd" cmpd="sng" algn="ctr">
                <a:solidFill>
                  <a:srgbClr val="243E42"/>
                </a:solidFill>
                <a:prstDash val="solid"/>
                <a:round/>
                <a:headEnd type="none" w="med" len="med"/>
                <a:tailEnd type="none" w="med" len="med"/>
              </a:ln>
            </p:spPr>
          </p:sp>
          <p:sp>
            <p:nvSpPr>
              <p:cNvPr id="1037" name="rect · 31"/>
              <p:cNvSpPr/>
              <p:nvPr/>
            </p:nvSpPr>
            <p:spPr>
              <a:xfrm>
                <a:off x="5202626" y="2421608"/>
                <a:ext cx="95814" cy="171097"/>
              </a:xfrm>
              <a:prstGeom prst="roundRect">
                <a:avLst>
                  <a:gd name="adj" fmla="val 42857"/>
                </a:avLst>
              </a:prstGeom>
              <a:solidFill>
                <a:srgbClr val="E8E0F3"/>
              </a:solidFill>
              <a:ln w="15057" cap="rnd" cmpd="sng" algn="ctr">
                <a:solidFill>
                  <a:srgbClr val="243E42"/>
                </a:solidFill>
                <a:prstDash val="solid"/>
                <a:round/>
                <a:headEnd type="none" w="med" len="med"/>
                <a:tailEnd type="none" w="med" len="med"/>
              </a:ln>
            </p:spPr>
          </p:sp>
          <p:sp>
            <p:nvSpPr>
              <p:cNvPr id="1038" name="path · 32"/>
              <p:cNvSpPr/>
              <p:nvPr/>
            </p:nvSpPr>
            <p:spPr>
              <a:xfrm>
                <a:off x="5339503" y="2366857"/>
                <a:ext cx="232692" cy="273756"/>
              </a:xfrm>
              <a:custGeom>
                <a:avLst/>
                <a:gdLst/>
                <a:ahLst/>
                <a:cxnLst/>
                <a:rect l="0" t="0" r="r" b="b"/>
                <a:pathLst>
                  <a:path w="232692" h="273756" fill="none" stroke="1" extrusionOk="0">
                    <a:moveTo>
                      <a:pt x="0" y="116346"/>
                    </a:moveTo>
                    <a:quadBezTo>
                      <a:pt x="232693" y="0"/>
                      <a:pt x="184785" y="177941"/>
                    </a:quadBezTo>
                    <a:quadBezTo>
                      <a:pt x="150566" y="273755"/>
                      <a:pt x="34220" y="232692"/>
                    </a:quadBezTo>
                  </a:path>
                </a:pathLst>
              </a:custGeom>
              <a:noFill/>
              <a:ln w="27376" cap="rnd" cmpd="sng" algn="ctr">
                <a:solidFill>
                  <a:srgbClr val="2E6653"/>
                </a:solidFill>
                <a:prstDash val="solid"/>
                <a:round/>
                <a:headEnd type="none" w="med" len="med"/>
                <a:tailEnd type="none" w="med" len="med"/>
              </a:ln>
            </p:spPr>
          </p:sp>
          <p:sp>
            <p:nvSpPr>
              <p:cNvPr id="1039" name="path · 33"/>
              <p:cNvSpPr/>
              <p:nvPr/>
            </p:nvSpPr>
            <p:spPr>
              <a:xfrm>
                <a:off x="5325816" y="2448983"/>
                <a:ext cx="88971" cy="88971"/>
              </a:xfrm>
              <a:custGeom>
                <a:avLst/>
                <a:gdLst/>
                <a:ahLst/>
                <a:cxnLst/>
                <a:rect l="0" t="0" r="r" b="b"/>
                <a:pathLst>
                  <a:path w="88971" h="88971" fill="norm" stroke="1" extrusionOk="0">
                    <a:moveTo>
                      <a:pt x="0" y="34220"/>
                    </a:moveTo>
                    <a:lnTo>
                      <a:pt x="54751" y="0"/>
                    </a:lnTo>
                    <a:lnTo>
                      <a:pt x="88970" y="54751"/>
                    </a:lnTo>
                    <a:lnTo>
                      <a:pt x="34219" y="88971"/>
                    </a:lnTo>
                    <a:close/>
                  </a:path>
                </a:pathLst>
              </a:custGeom>
              <a:solidFill>
                <a:srgbClr val="D7EBE1"/>
              </a:solidFill>
              <a:ln w="15057" cap="rnd" cmpd="sng" algn="ctr">
                <a:solidFill>
                  <a:srgbClr val="243E42"/>
                </a:solidFill>
                <a:prstDash val="solid"/>
                <a:round/>
                <a:headEnd type="none" w="med" len="med"/>
                <a:tailEnd type="none" w="med" len="med"/>
              </a:ln>
            </p:spPr>
          </p:sp>
        </p:grpSp>
        <p:grpSp>
          <p:nvGrpSpPr>
            <p:cNvPr id="1040" name="library-label-whole-kit · 36"/>
            <p:cNvGrpSpPr/>
            <p:nvPr/>
          </p:nvGrpSpPr>
          <p:grpSpPr>
            <a:xfrm>
              <a:off x="4745958" y="3289424"/>
              <a:ext cx="858583" cy="260226"/>
              <a:chOff x="4745958" y="3289424"/>
              <a:chExt cx="858583" cy="260226"/>
            </a:xfrm>
          </p:grpSpPr>
          <p:sp>
            <p:nvSpPr>
              <p:cNvPr id="1041" name="text · 35"/>
              <p:cNvSpPr txBox="1"/>
              <p:nvPr/>
            </p:nvSpPr>
            <p:spPr>
              <a:xfrm>
                <a:off x="4744370" y="3289424"/>
                <a:ext cx="861758"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Whole kit</a:t>
                </a:r>
                <a:endParaRPr lang="en-US" sz="1500"/>
              </a:p>
            </p:txBody>
          </p:sp>
        </p:grpSp>
        <p:grpSp>
          <p:nvGrpSpPr>
            <p:cNvPr id="1042" name="exchange · 42"/>
            <p:cNvGrpSpPr/>
            <p:nvPr/>
          </p:nvGrpSpPr>
          <p:grpSpPr>
            <a:xfrm>
              <a:off x="6498590" y="2045194"/>
              <a:ext cx="985520" cy="1081334"/>
              <a:chOff x="6498590" y="2045194"/>
              <a:chExt cx="985520" cy="1081334"/>
            </a:xfrm>
          </p:grpSpPr>
          <p:sp>
            <p:nvSpPr>
              <p:cNvPr id="1043" name="path · 37"/>
              <p:cNvSpPr/>
              <p:nvPr/>
            </p:nvSpPr>
            <p:spPr>
              <a:xfrm>
                <a:off x="6601248" y="2045194"/>
                <a:ext cx="547511" cy="219004"/>
              </a:xfrm>
              <a:custGeom>
                <a:avLst/>
                <a:gdLst/>
                <a:ahLst/>
                <a:cxnLst/>
                <a:rect l="0" t="0" r="r" b="b"/>
                <a:pathLst>
                  <a:path w="547511" h="219004" fill="none" stroke="1" extrusionOk="0">
                    <a:moveTo>
                      <a:pt x="0" y="219004"/>
                    </a:moveTo>
                    <a:quadBezTo>
                      <a:pt x="116346" y="61595"/>
                      <a:pt x="307975" y="61595"/>
                    </a:quadBezTo>
                    <a:lnTo>
                      <a:pt x="540668" y="61595"/>
                    </a:lnTo>
                    <a:moveTo>
                      <a:pt x="458541" y="0"/>
                    </a:moveTo>
                    <a:lnTo>
                      <a:pt x="547511" y="61595"/>
                    </a:lnTo>
                    <a:lnTo>
                      <a:pt x="458541" y="130034"/>
                    </a:lnTo>
                  </a:path>
                </a:pathLst>
              </a:custGeom>
              <a:noFill/>
              <a:ln w="34219" cap="rnd" cmpd="sng" algn="ctr">
                <a:solidFill>
                  <a:srgbClr val="2E6653"/>
                </a:solidFill>
                <a:prstDash val="solid"/>
                <a:round/>
                <a:headEnd type="none" w="med" len="med"/>
                <a:tailEnd type="none" w="med" len="med"/>
              </a:ln>
            </p:spPr>
          </p:sp>
          <p:sp>
            <p:nvSpPr>
              <p:cNvPr id="1044" name="path · 38"/>
              <p:cNvSpPr/>
              <p:nvPr/>
            </p:nvSpPr>
            <p:spPr>
              <a:xfrm>
                <a:off x="6498590" y="2380544"/>
                <a:ext cx="485916" cy="561199"/>
              </a:xfrm>
              <a:custGeom>
                <a:avLst/>
                <a:gdLst/>
                <a:ahLst/>
                <a:cxnLst/>
                <a:rect l="0" t="0" r="r" b="b"/>
                <a:pathLst>
                  <a:path w="485916" h="561199" fill="norm" stroke="1" extrusionOk="0">
                    <a:moveTo>
                      <a:pt x="0" y="102659"/>
                    </a:moveTo>
                    <a:lnTo>
                      <a:pt x="246380" y="0"/>
                    </a:lnTo>
                    <a:lnTo>
                      <a:pt x="485916" y="116347"/>
                    </a:lnTo>
                    <a:lnTo>
                      <a:pt x="239536" y="225849"/>
                    </a:lnTo>
                    <a:close/>
                    <a:moveTo>
                      <a:pt x="0" y="102659"/>
                    </a:moveTo>
                    <a:lnTo>
                      <a:pt x="239536" y="225849"/>
                    </a:lnTo>
                    <a:lnTo>
                      <a:pt x="239536" y="561199"/>
                    </a:lnTo>
                    <a:lnTo>
                      <a:pt x="0" y="438009"/>
                    </a:lnTo>
                    <a:close/>
                    <a:moveTo>
                      <a:pt x="239536" y="225849"/>
                    </a:moveTo>
                    <a:lnTo>
                      <a:pt x="485916" y="116347"/>
                    </a:lnTo>
                    <a:lnTo>
                      <a:pt x="485916" y="438009"/>
                    </a:lnTo>
                    <a:lnTo>
                      <a:pt x="239536" y="561199"/>
                    </a:lnTo>
                    <a:close/>
                  </a:path>
                </a:pathLst>
              </a:custGeom>
              <a:solidFill>
                <a:srgbClr val="E8E0F3"/>
              </a:solidFill>
              <a:ln w="15057" cap="rnd" cmpd="sng" algn="ctr">
                <a:solidFill>
                  <a:srgbClr val="243E42"/>
                </a:solidFill>
                <a:prstDash val="solid"/>
                <a:round/>
                <a:headEnd type="none" w="med" len="med"/>
                <a:tailEnd type="none" w="med" len="med"/>
              </a:ln>
            </p:spPr>
          </p:sp>
          <p:sp>
            <p:nvSpPr>
              <p:cNvPr id="1045" name="path · 39"/>
              <p:cNvSpPr/>
              <p:nvPr/>
            </p:nvSpPr>
            <p:spPr>
              <a:xfrm>
                <a:off x="6998194" y="2407920"/>
                <a:ext cx="485916" cy="561199"/>
              </a:xfrm>
              <a:custGeom>
                <a:avLst/>
                <a:gdLst/>
                <a:ahLst/>
                <a:cxnLst/>
                <a:rect l="0" t="0" r="r" b="b"/>
                <a:pathLst>
                  <a:path w="485916" h="561199" fill="norm" stroke="1" extrusionOk="0">
                    <a:moveTo>
                      <a:pt x="0" y="102658"/>
                    </a:moveTo>
                    <a:lnTo>
                      <a:pt x="246380" y="0"/>
                    </a:lnTo>
                    <a:lnTo>
                      <a:pt x="485916" y="116346"/>
                    </a:lnTo>
                    <a:lnTo>
                      <a:pt x="239536" y="225848"/>
                    </a:lnTo>
                    <a:close/>
                    <a:moveTo>
                      <a:pt x="0" y="102658"/>
                    </a:moveTo>
                    <a:lnTo>
                      <a:pt x="239536" y="225848"/>
                    </a:lnTo>
                    <a:lnTo>
                      <a:pt x="239536" y="561199"/>
                    </a:lnTo>
                    <a:lnTo>
                      <a:pt x="0" y="438009"/>
                    </a:lnTo>
                    <a:close/>
                    <a:moveTo>
                      <a:pt x="239536" y="225848"/>
                    </a:moveTo>
                    <a:lnTo>
                      <a:pt x="485916" y="116346"/>
                    </a:lnTo>
                    <a:lnTo>
                      <a:pt x="485916" y="438009"/>
                    </a:lnTo>
                    <a:lnTo>
                      <a:pt x="239536" y="561199"/>
                    </a:lnTo>
                    <a:close/>
                  </a:path>
                </a:pathLst>
              </a:custGeom>
              <a:solidFill>
                <a:srgbClr val="E2EEF3"/>
              </a:solidFill>
              <a:ln w="15057" cap="rnd" cmpd="sng" algn="ctr">
                <a:solidFill>
                  <a:srgbClr val="243E42"/>
                </a:solidFill>
                <a:prstDash val="solid"/>
                <a:round/>
                <a:headEnd type="none" w="med" len="med"/>
                <a:tailEnd type="none" w="med" len="med"/>
              </a:ln>
            </p:spPr>
          </p:sp>
          <p:sp>
            <p:nvSpPr>
              <p:cNvPr id="1046" name="path · 40"/>
              <p:cNvSpPr/>
              <p:nvPr/>
            </p:nvSpPr>
            <p:spPr>
              <a:xfrm>
                <a:off x="6580717" y="2414764"/>
                <a:ext cx="800735" cy="307975"/>
              </a:xfrm>
              <a:custGeom>
                <a:avLst/>
                <a:gdLst/>
                <a:ahLst/>
                <a:cxnLst/>
                <a:rect l="0" t="0" r="r" b="b"/>
                <a:pathLst>
                  <a:path w="800735" h="307975" fill="norm" stroke="1" extrusionOk="0">
                    <a:moveTo>
                      <a:pt x="82126" y="0"/>
                    </a:moveTo>
                    <a:lnTo>
                      <a:pt x="307975" y="123190"/>
                    </a:lnTo>
                    <a:lnTo>
                      <a:pt x="307975" y="253224"/>
                    </a:lnTo>
                    <a:lnTo>
                      <a:pt x="225848" y="287443"/>
                    </a:lnTo>
                    <a:lnTo>
                      <a:pt x="225848" y="150565"/>
                    </a:lnTo>
                    <a:lnTo>
                      <a:pt x="0" y="41063"/>
                    </a:lnTo>
                    <a:moveTo>
                      <a:pt x="581730" y="27375"/>
                    </a:moveTo>
                    <a:lnTo>
                      <a:pt x="800735" y="143722"/>
                    </a:lnTo>
                    <a:lnTo>
                      <a:pt x="800735" y="273755"/>
                    </a:lnTo>
                    <a:lnTo>
                      <a:pt x="718608" y="307975"/>
                    </a:lnTo>
                    <a:lnTo>
                      <a:pt x="718608" y="177941"/>
                    </a:lnTo>
                    <a:lnTo>
                      <a:pt x="492760" y="68439"/>
                    </a:lnTo>
                  </a:path>
                </a:pathLst>
              </a:custGeom>
              <a:solidFill>
                <a:srgbClr val="FFFFFF"/>
              </a:solidFill>
              <a:ln w="15057" cap="rnd" cmpd="sng" algn="ctr">
                <a:solidFill>
                  <a:srgbClr val="243E42"/>
                </a:solidFill>
                <a:prstDash val="solid"/>
                <a:round/>
                <a:headEnd type="none" w="med" len="med"/>
                <a:tailEnd type="none" w="med" len="med"/>
              </a:ln>
            </p:spPr>
          </p:sp>
          <p:sp>
            <p:nvSpPr>
              <p:cNvPr id="1047" name="path · 41"/>
              <p:cNvSpPr/>
              <p:nvPr/>
            </p:nvSpPr>
            <p:spPr>
              <a:xfrm>
                <a:off x="6881848" y="2955431"/>
                <a:ext cx="506448" cy="171097"/>
              </a:xfrm>
              <a:custGeom>
                <a:avLst/>
                <a:gdLst/>
                <a:ahLst/>
                <a:cxnLst/>
                <a:rect l="0" t="0" r="r" b="b"/>
                <a:pathLst>
                  <a:path w="506448" h="171097" fill="none" stroke="1" extrusionOk="0">
                    <a:moveTo>
                      <a:pt x="506448" y="0"/>
                    </a:moveTo>
                    <a:quadBezTo>
                      <a:pt x="390101" y="109502"/>
                      <a:pt x="239536" y="109502"/>
                    </a:quadBezTo>
                    <a:lnTo>
                      <a:pt x="6844" y="109502"/>
                    </a:lnTo>
                    <a:moveTo>
                      <a:pt x="88970" y="41063"/>
                    </a:moveTo>
                    <a:lnTo>
                      <a:pt x="0" y="109502"/>
                    </a:lnTo>
                    <a:lnTo>
                      <a:pt x="88970" y="171097"/>
                    </a:lnTo>
                  </a:path>
                </a:pathLst>
              </a:custGeom>
              <a:noFill/>
              <a:ln w="34219" cap="rnd" cmpd="sng" algn="ctr">
                <a:solidFill>
                  <a:srgbClr val="2E6653"/>
                </a:solidFill>
                <a:prstDash val="solid"/>
                <a:round/>
                <a:headEnd type="none" w="med" len="med"/>
                <a:tailEnd type="none" w="med" len="med"/>
              </a:ln>
            </p:spPr>
          </p:sp>
        </p:grpSp>
        <p:grpSp>
          <p:nvGrpSpPr>
            <p:cNvPr id="1048" name="library-label-exchange · 44"/>
            <p:cNvGrpSpPr/>
            <p:nvPr/>
          </p:nvGrpSpPr>
          <p:grpSpPr>
            <a:xfrm>
              <a:off x="6542763" y="3289424"/>
              <a:ext cx="897173" cy="260226"/>
              <a:chOff x="6542763" y="3289424"/>
              <a:chExt cx="897173" cy="260226"/>
            </a:xfrm>
          </p:grpSpPr>
          <p:sp>
            <p:nvSpPr>
              <p:cNvPr id="1049" name="text · 43"/>
              <p:cNvSpPr txBox="1"/>
              <p:nvPr/>
            </p:nvSpPr>
            <p:spPr>
              <a:xfrm>
                <a:off x="6541175" y="3289424"/>
                <a:ext cx="900348"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Exchange</a:t>
                </a:r>
                <a:endParaRPr lang="en-US" sz="1500"/>
              </a:p>
            </p:txBody>
          </p:sp>
        </p:grpSp>
        <p:grpSp>
          <p:nvGrpSpPr>
            <p:cNvPr id="1050" name="kit-part · 52"/>
            <p:cNvGrpSpPr/>
            <p:nvPr/>
          </p:nvGrpSpPr>
          <p:grpSpPr>
            <a:xfrm>
              <a:off x="8307846" y="2161540"/>
              <a:ext cx="1053959" cy="958144"/>
              <a:chOff x="8307846" y="2161540"/>
              <a:chExt cx="1053959" cy="958144"/>
            </a:xfrm>
          </p:grpSpPr>
          <p:sp>
            <p:nvSpPr>
              <p:cNvPr id="1051" name="path · 45"/>
              <p:cNvSpPr/>
              <p:nvPr/>
            </p:nvSpPr>
            <p:spPr>
              <a:xfrm>
                <a:off x="8307846" y="2161540"/>
                <a:ext cx="711764" cy="698077"/>
              </a:xfrm>
              <a:custGeom>
                <a:avLst/>
                <a:gdLst/>
                <a:ahLst/>
                <a:cxnLst/>
                <a:rect l="0" t="0" r="r" b="b"/>
                <a:pathLst>
                  <a:path w="711764" h="698077" fill="norm" stroke="1" extrusionOk="0">
                    <a:moveTo>
                      <a:pt x="0" y="0"/>
                    </a:moveTo>
                    <a:lnTo>
                      <a:pt x="711765" y="0"/>
                    </a:lnTo>
                    <a:lnTo>
                      <a:pt x="711765" y="698077"/>
                    </a:lnTo>
                    <a:lnTo>
                      <a:pt x="0" y="698077"/>
                    </a:lnTo>
                    <a:close/>
                  </a:path>
                </a:pathLst>
              </a:custGeom>
              <a:solidFill>
                <a:srgbClr val="E2EEF3"/>
              </a:solidFill>
              <a:ln w="15057" cap="rnd" cmpd="sng" algn="ctr">
                <a:solidFill>
                  <a:srgbClr val="243E42"/>
                </a:solidFill>
                <a:custDash>
                  <a:ds d="272727" sp="272727"/>
                </a:custDash>
                <a:round/>
                <a:headEnd type="none" w="med" len="med"/>
                <a:tailEnd type="none" w="med" len="med"/>
              </a:ln>
            </p:spPr>
          </p:sp>
          <p:sp>
            <p:nvSpPr>
              <p:cNvPr id="1052" name="path · 46"/>
              <p:cNvSpPr/>
              <p:nvPr/>
            </p:nvSpPr>
            <p:spPr>
              <a:xfrm>
                <a:off x="8451568" y="2216291"/>
                <a:ext cx="369570" cy="314819"/>
              </a:xfrm>
              <a:custGeom>
                <a:avLst/>
                <a:gdLst/>
                <a:ahLst/>
                <a:cxnLst/>
                <a:rect l="0" t="0" r="r" b="b"/>
                <a:pathLst>
                  <a:path w="369570" h="314819" fill="none" stroke="1" extrusionOk="0">
                    <a:moveTo>
                      <a:pt x="0" y="314819"/>
                    </a:moveTo>
                    <a:lnTo>
                      <a:pt x="0" y="184785"/>
                    </a:lnTo>
                    <a:cubicBezTo>
                      <a:pt x="0" y="82731"/>
                      <a:pt x="82731" y="0"/>
                      <a:pt x="184785" y="0"/>
                    </a:cubicBezTo>
                    <a:cubicBezTo>
                      <a:pt x="286839" y="0"/>
                      <a:pt x="369570" y="82731"/>
                      <a:pt x="369570" y="184785"/>
                    </a:cubicBezTo>
                    <a:lnTo>
                      <a:pt x="369570" y="314819"/>
                    </a:lnTo>
                  </a:path>
                </a:pathLst>
              </a:custGeom>
              <a:noFill/>
              <a:ln w="41063" cap="rnd" cmpd="sng" algn="ctr">
                <a:solidFill>
                  <a:srgbClr val="665180"/>
                </a:solidFill>
                <a:prstDash val="solid"/>
                <a:round/>
                <a:headEnd type="none" w="med" len="med"/>
                <a:tailEnd type="none" w="med" len="med"/>
              </a:ln>
            </p:spPr>
          </p:sp>
          <p:sp>
            <p:nvSpPr>
              <p:cNvPr id="1053" name="rect · 47"/>
              <p:cNvSpPr/>
              <p:nvPr/>
            </p:nvSpPr>
            <p:spPr>
              <a:xfrm>
                <a:off x="8396817" y="2448983"/>
                <a:ext cx="109502" cy="198473"/>
              </a:xfrm>
              <a:prstGeom prst="roundRect">
                <a:avLst>
                  <a:gd name="adj" fmla="val 37500"/>
                </a:avLst>
              </a:prstGeom>
              <a:solidFill>
                <a:srgbClr val="E8E0F3"/>
              </a:solidFill>
              <a:ln w="15057" cap="rnd" cmpd="sng" algn="ctr">
                <a:solidFill>
                  <a:srgbClr val="243E42"/>
                </a:solidFill>
                <a:prstDash val="solid"/>
                <a:round/>
                <a:headEnd type="none" w="med" len="med"/>
                <a:tailEnd type="none" w="med" len="med"/>
              </a:ln>
            </p:spPr>
          </p:sp>
          <p:sp>
            <p:nvSpPr>
              <p:cNvPr id="1054" name="rect · 48"/>
              <p:cNvSpPr/>
              <p:nvPr/>
            </p:nvSpPr>
            <p:spPr>
              <a:xfrm>
                <a:off x="8766387" y="2448983"/>
                <a:ext cx="109502" cy="198473"/>
              </a:xfrm>
              <a:prstGeom prst="roundRect">
                <a:avLst>
                  <a:gd name="adj" fmla="val 37500"/>
                </a:avLst>
              </a:prstGeom>
              <a:solidFill>
                <a:srgbClr val="E8E0F3"/>
              </a:solidFill>
              <a:ln w="15057" cap="rnd" cmpd="sng" algn="ctr">
                <a:solidFill>
                  <a:srgbClr val="243E42"/>
                </a:solidFill>
                <a:prstDash val="solid"/>
                <a:round/>
                <a:headEnd type="none" w="med" len="med"/>
                <a:tailEnd type="none" w="med" len="med"/>
              </a:ln>
            </p:spPr>
          </p:sp>
          <p:sp>
            <p:nvSpPr>
              <p:cNvPr id="1055" name="circle · 49"/>
              <p:cNvSpPr/>
              <p:nvPr/>
            </p:nvSpPr>
            <p:spPr>
              <a:xfrm>
                <a:off x="8718479" y="2476359"/>
                <a:ext cx="643326" cy="643326"/>
              </a:xfrm>
              <a:prstGeom prst="ellipse">
                <a:avLst/>
              </a:prstGeom>
              <a:solidFill>
                <a:srgbClr val="D7EBE1"/>
              </a:solidFill>
              <a:ln w="20532" cap="rnd" cmpd="sng" algn="ctr">
                <a:solidFill>
                  <a:srgbClr val="2E6653"/>
                </a:solidFill>
                <a:prstDash val="solid"/>
                <a:round/>
                <a:headEnd type="none" w="med" len="med"/>
                <a:tailEnd type="none" w="med" len="med"/>
              </a:ln>
            </p:spPr>
          </p:sp>
          <p:sp>
            <p:nvSpPr>
              <p:cNvPr id="1056" name="path · 50"/>
              <p:cNvSpPr/>
              <p:nvPr/>
            </p:nvSpPr>
            <p:spPr>
              <a:xfrm>
                <a:off x="8848513" y="2503734"/>
                <a:ext cx="472228" cy="492760"/>
              </a:xfrm>
              <a:custGeom>
                <a:avLst/>
                <a:gdLst/>
                <a:ahLst/>
                <a:cxnLst/>
                <a:rect l="0" t="0" r="r" b="b"/>
                <a:pathLst>
                  <a:path w="472228" h="492760" fill="none" stroke="1" extrusionOk="0">
                    <a:moveTo>
                      <a:pt x="54751" y="246380"/>
                    </a:moveTo>
                    <a:cubicBezTo>
                      <a:pt x="239536" y="0"/>
                      <a:pt x="472229" y="349039"/>
                      <a:pt x="212161" y="431165"/>
                    </a:cubicBezTo>
                    <a:cubicBezTo>
                      <a:pt x="6844" y="492760"/>
                      <a:pt x="0" y="342195"/>
                      <a:pt x="136878" y="314819"/>
                    </a:cubicBezTo>
                  </a:path>
                </a:pathLst>
              </a:custGeom>
              <a:noFill/>
              <a:ln w="34219" cap="rnd" cmpd="sng" algn="ctr">
                <a:solidFill>
                  <a:srgbClr val="2E6653"/>
                </a:solidFill>
                <a:prstDash val="solid"/>
                <a:round/>
                <a:headEnd type="none" w="med" len="med"/>
                <a:tailEnd type="none" w="med" len="med"/>
              </a:ln>
            </p:spPr>
          </p:sp>
          <p:sp>
            <p:nvSpPr>
              <p:cNvPr id="1057" name="path · 51"/>
              <p:cNvSpPr/>
              <p:nvPr/>
            </p:nvSpPr>
            <p:spPr>
              <a:xfrm>
                <a:off x="8821138" y="2729583"/>
                <a:ext cx="260068" cy="130034"/>
              </a:xfrm>
              <a:custGeom>
                <a:avLst/>
                <a:gdLst/>
                <a:ahLst/>
                <a:cxnLst/>
                <a:rect l="0" t="0" r="r" b="b"/>
                <a:pathLst>
                  <a:path w="260068" h="130034" fill="norm" stroke="1" extrusionOk="0">
                    <a:moveTo>
                      <a:pt x="47907" y="0"/>
                    </a:moveTo>
                    <a:lnTo>
                      <a:pt x="123190" y="47907"/>
                    </a:lnTo>
                    <a:lnTo>
                      <a:pt x="75283" y="130034"/>
                    </a:lnTo>
                    <a:lnTo>
                      <a:pt x="0" y="82126"/>
                    </a:lnTo>
                    <a:close/>
                    <a:moveTo>
                      <a:pt x="171097" y="54751"/>
                    </a:moveTo>
                    <a:lnTo>
                      <a:pt x="260068" y="54751"/>
                    </a:lnTo>
                    <a:lnTo>
                      <a:pt x="260068" y="116346"/>
                    </a:lnTo>
                    <a:lnTo>
                      <a:pt x="171097" y="116346"/>
                    </a:lnTo>
                    <a:close/>
                  </a:path>
                </a:pathLst>
              </a:custGeom>
              <a:solidFill>
                <a:srgbClr val="FFFFFF"/>
              </a:solidFill>
              <a:ln w="15057" cap="rnd" cmpd="sng" algn="ctr">
                <a:solidFill>
                  <a:srgbClr val="2E6653"/>
                </a:solidFill>
                <a:prstDash val="solid"/>
                <a:round/>
                <a:headEnd type="none" w="med" len="med"/>
                <a:tailEnd type="none" w="med" len="med"/>
              </a:ln>
            </p:spPr>
          </p:sp>
        </p:grpSp>
        <p:grpSp>
          <p:nvGrpSpPr>
            <p:cNvPr id="1058" name="library-label-kit-part · 54"/>
            <p:cNvGrpSpPr/>
            <p:nvPr/>
          </p:nvGrpSpPr>
          <p:grpSpPr>
            <a:xfrm>
              <a:off x="8469787" y="3289424"/>
              <a:ext cx="675326" cy="260226"/>
              <a:chOff x="8469787" y="3289424"/>
              <a:chExt cx="675326" cy="260226"/>
            </a:xfrm>
          </p:grpSpPr>
          <p:sp>
            <p:nvSpPr>
              <p:cNvPr id="1059" name="text · 53"/>
              <p:cNvSpPr txBox="1"/>
              <p:nvPr/>
            </p:nvSpPr>
            <p:spPr>
              <a:xfrm>
                <a:off x="8468199" y="3289424"/>
                <a:ext cx="678501"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Kit part</a:t>
                </a:r>
                <a:endParaRPr lang="en-US" sz="1500"/>
              </a:p>
            </p:txBody>
          </p:sp>
        </p:grpSp>
        <p:grpSp>
          <p:nvGrpSpPr>
            <p:cNvPr id="1060" name="inventory · 61"/>
            <p:cNvGrpSpPr/>
            <p:nvPr/>
          </p:nvGrpSpPr>
          <p:grpSpPr>
            <a:xfrm>
              <a:off x="10130790" y="2175228"/>
              <a:ext cx="985520" cy="889706"/>
              <a:chOff x="10130790" y="2175228"/>
              <a:chExt cx="985520" cy="889706"/>
            </a:xfrm>
          </p:grpSpPr>
          <p:sp>
            <p:nvSpPr>
              <p:cNvPr id="1061" name="path · 55"/>
              <p:cNvSpPr/>
              <p:nvPr/>
            </p:nvSpPr>
            <p:spPr>
              <a:xfrm>
                <a:off x="10130790" y="2175228"/>
                <a:ext cx="985520" cy="889706"/>
              </a:xfrm>
              <a:custGeom>
                <a:avLst/>
                <a:gdLst/>
                <a:ahLst/>
                <a:cxnLst/>
                <a:rect l="0" t="0" r="r" b="b"/>
                <a:pathLst>
                  <a:path w="985520" h="889706" fill="none" stroke="1" extrusionOk="0">
                    <a:moveTo>
                      <a:pt x="0" y="0"/>
                    </a:moveTo>
                    <a:lnTo>
                      <a:pt x="0" y="889705"/>
                    </a:lnTo>
                    <a:moveTo>
                      <a:pt x="985520" y="0"/>
                    </a:moveTo>
                    <a:lnTo>
                      <a:pt x="985520" y="889705"/>
                    </a:lnTo>
                    <a:moveTo>
                      <a:pt x="0" y="369570"/>
                    </a:moveTo>
                    <a:lnTo>
                      <a:pt x="985520" y="369570"/>
                    </a:lnTo>
                    <a:moveTo>
                      <a:pt x="0" y="793891"/>
                    </a:moveTo>
                    <a:lnTo>
                      <a:pt x="985520" y="793891"/>
                    </a:lnTo>
                  </a:path>
                </a:pathLst>
              </a:custGeom>
              <a:noFill/>
              <a:ln w="34219" cap="rnd" cmpd="sng" algn="ctr">
                <a:solidFill>
                  <a:srgbClr val="243E42"/>
                </a:solidFill>
                <a:prstDash val="solid"/>
                <a:round/>
                <a:headEnd type="none" w="med" len="med"/>
                <a:tailEnd type="none" w="med" len="med"/>
              </a:ln>
            </p:spPr>
          </p:sp>
          <p:sp>
            <p:nvSpPr>
              <p:cNvPr id="1062" name="path · 56"/>
              <p:cNvSpPr/>
              <p:nvPr/>
            </p:nvSpPr>
            <p:spPr>
              <a:xfrm>
                <a:off x="10226604" y="2243667"/>
                <a:ext cx="773359" cy="294287"/>
              </a:xfrm>
              <a:custGeom>
                <a:avLst/>
                <a:gdLst/>
                <a:ahLst/>
                <a:cxnLst/>
                <a:rect l="0" t="0" r="r" b="b"/>
                <a:pathLst>
                  <a:path w="773359" h="294287" fill="norm" stroke="1" extrusionOk="0">
                    <a:moveTo>
                      <a:pt x="0" y="0"/>
                    </a:moveTo>
                    <a:lnTo>
                      <a:pt x="294288" y="0"/>
                    </a:lnTo>
                    <a:lnTo>
                      <a:pt x="294288" y="294287"/>
                    </a:lnTo>
                    <a:lnTo>
                      <a:pt x="0" y="294287"/>
                    </a:lnTo>
                    <a:close/>
                    <a:moveTo>
                      <a:pt x="424322" y="0"/>
                    </a:moveTo>
                    <a:lnTo>
                      <a:pt x="773360" y="0"/>
                    </a:lnTo>
                    <a:lnTo>
                      <a:pt x="773360" y="294287"/>
                    </a:lnTo>
                    <a:lnTo>
                      <a:pt x="424322" y="294287"/>
                    </a:lnTo>
                    <a:close/>
                  </a:path>
                </a:pathLst>
              </a:custGeom>
              <a:solidFill>
                <a:srgbClr val="E2EEF3"/>
              </a:solidFill>
              <a:ln w="15057" cap="rnd" cmpd="sng" algn="ctr">
                <a:solidFill>
                  <a:srgbClr val="243E42"/>
                </a:solidFill>
                <a:prstDash val="solid"/>
                <a:round/>
                <a:headEnd type="none" w="med" len="med"/>
                <a:tailEnd type="none" w="med" len="med"/>
              </a:ln>
            </p:spPr>
          </p:sp>
          <p:sp>
            <p:nvSpPr>
              <p:cNvPr id="1063" name="path · 57"/>
              <p:cNvSpPr/>
              <p:nvPr/>
            </p:nvSpPr>
            <p:spPr>
              <a:xfrm>
                <a:off x="10336107" y="2243667"/>
                <a:ext cx="526979" cy="88971"/>
              </a:xfrm>
              <a:custGeom>
                <a:avLst/>
                <a:gdLst/>
                <a:ahLst/>
                <a:cxnLst/>
                <a:rect l="0" t="0" r="r" b="b"/>
                <a:pathLst>
                  <a:path w="526979" h="88971" fill="norm" stroke="1" extrusionOk="0">
                    <a:moveTo>
                      <a:pt x="0" y="0"/>
                    </a:moveTo>
                    <a:lnTo>
                      <a:pt x="0" y="88970"/>
                    </a:lnTo>
                    <a:lnTo>
                      <a:pt x="82126" y="88970"/>
                    </a:lnTo>
                    <a:lnTo>
                      <a:pt x="82126" y="0"/>
                    </a:lnTo>
                    <a:moveTo>
                      <a:pt x="438009" y="0"/>
                    </a:moveTo>
                    <a:lnTo>
                      <a:pt x="438009" y="88970"/>
                    </a:lnTo>
                    <a:lnTo>
                      <a:pt x="526979" y="88970"/>
                    </a:lnTo>
                    <a:lnTo>
                      <a:pt x="526979" y="0"/>
                    </a:lnTo>
                  </a:path>
                </a:pathLst>
              </a:custGeom>
              <a:solidFill>
                <a:srgbClr val="FFFFFF"/>
              </a:solidFill>
              <a:ln w="15057" cap="rnd" cmpd="sng" algn="ctr">
                <a:solidFill>
                  <a:srgbClr val="243E42"/>
                </a:solidFill>
                <a:prstDash val="solid"/>
                <a:round/>
                <a:headEnd type="none" w="med" len="med"/>
                <a:tailEnd type="none" w="med" len="med"/>
              </a:ln>
            </p:spPr>
          </p:sp>
          <p:sp>
            <p:nvSpPr>
              <p:cNvPr id="1064" name="path · 58"/>
              <p:cNvSpPr/>
              <p:nvPr/>
            </p:nvSpPr>
            <p:spPr>
              <a:xfrm>
                <a:off x="10226604" y="2661144"/>
                <a:ext cx="773359" cy="301131"/>
              </a:xfrm>
              <a:custGeom>
                <a:avLst/>
                <a:gdLst/>
                <a:ahLst/>
                <a:cxnLst/>
                <a:rect l="0" t="0" r="r" b="b"/>
                <a:pathLst>
                  <a:path w="773359" h="301131" fill="norm" stroke="1" extrusionOk="0">
                    <a:moveTo>
                      <a:pt x="0" y="0"/>
                    </a:moveTo>
                    <a:lnTo>
                      <a:pt x="376414" y="0"/>
                    </a:lnTo>
                    <a:lnTo>
                      <a:pt x="376414" y="301131"/>
                    </a:lnTo>
                    <a:lnTo>
                      <a:pt x="0" y="301131"/>
                    </a:lnTo>
                    <a:close/>
                    <a:moveTo>
                      <a:pt x="499604" y="0"/>
                    </a:moveTo>
                    <a:lnTo>
                      <a:pt x="773360" y="0"/>
                    </a:lnTo>
                    <a:lnTo>
                      <a:pt x="773360" y="301131"/>
                    </a:lnTo>
                    <a:lnTo>
                      <a:pt x="499604" y="301131"/>
                    </a:lnTo>
                    <a:close/>
                  </a:path>
                </a:pathLst>
              </a:custGeom>
              <a:solidFill>
                <a:srgbClr val="F6EAC8"/>
              </a:solidFill>
              <a:ln w="15057" cap="rnd" cmpd="sng" algn="ctr">
                <a:solidFill>
                  <a:srgbClr val="243E42"/>
                </a:solidFill>
                <a:prstDash val="solid"/>
                <a:round/>
                <a:headEnd type="none" w="med" len="med"/>
                <a:tailEnd type="none" w="med" len="med"/>
              </a:ln>
            </p:spPr>
          </p:sp>
          <p:sp>
            <p:nvSpPr>
              <p:cNvPr id="1065" name="path · 59"/>
              <p:cNvSpPr/>
              <p:nvPr/>
            </p:nvSpPr>
            <p:spPr>
              <a:xfrm>
                <a:off x="10363482" y="2661144"/>
                <a:ext cx="540667" cy="102658"/>
              </a:xfrm>
              <a:custGeom>
                <a:avLst/>
                <a:gdLst/>
                <a:ahLst/>
                <a:cxnLst/>
                <a:rect l="0" t="0" r="r" b="b"/>
                <a:pathLst>
                  <a:path w="540667" h="102658" fill="norm" stroke="1" extrusionOk="0">
                    <a:moveTo>
                      <a:pt x="0" y="0"/>
                    </a:moveTo>
                    <a:lnTo>
                      <a:pt x="0" y="102658"/>
                    </a:lnTo>
                    <a:lnTo>
                      <a:pt x="88971" y="102658"/>
                    </a:lnTo>
                    <a:lnTo>
                      <a:pt x="88971" y="0"/>
                    </a:lnTo>
                    <a:moveTo>
                      <a:pt x="451697" y="0"/>
                    </a:moveTo>
                    <a:lnTo>
                      <a:pt x="451697" y="102658"/>
                    </a:lnTo>
                    <a:lnTo>
                      <a:pt x="540667" y="102658"/>
                    </a:lnTo>
                    <a:lnTo>
                      <a:pt x="540667" y="0"/>
                    </a:lnTo>
                  </a:path>
                </a:pathLst>
              </a:custGeom>
              <a:solidFill>
                <a:srgbClr val="FFFFFF"/>
              </a:solidFill>
              <a:ln w="15057" cap="rnd" cmpd="sng" algn="ctr">
                <a:solidFill>
                  <a:srgbClr val="243E42"/>
                </a:solidFill>
                <a:prstDash val="solid"/>
                <a:round/>
                <a:headEnd type="none" w="med" len="med"/>
                <a:tailEnd type="none" w="med" len="med"/>
              </a:ln>
            </p:spPr>
          </p:sp>
          <p:sp>
            <p:nvSpPr>
              <p:cNvPr id="1066" name="path · 60"/>
              <p:cNvSpPr/>
              <p:nvPr/>
            </p:nvSpPr>
            <p:spPr>
              <a:xfrm>
                <a:off x="10260824" y="2873304"/>
                <a:ext cx="643326" cy="1"/>
              </a:xfrm>
              <a:custGeom>
                <a:avLst/>
                <a:gdLst/>
                <a:ahLst/>
                <a:cxnLst/>
                <a:rect l="0" t="0" r="r" b="b"/>
                <a:pathLst>
                  <a:path w="643326" h="1" fill="none" stroke="1" extrusionOk="0">
                    <a:moveTo>
                      <a:pt x="0" y="0"/>
                    </a:moveTo>
                    <a:lnTo>
                      <a:pt x="219004" y="0"/>
                    </a:lnTo>
                    <a:moveTo>
                      <a:pt x="479072" y="0"/>
                    </a:moveTo>
                    <a:lnTo>
                      <a:pt x="643325" y="0"/>
                    </a:lnTo>
                  </a:path>
                </a:pathLst>
              </a:custGeom>
              <a:noFill/>
              <a:ln w="20532" cap="rnd" cmpd="sng" algn="ctr">
                <a:solidFill>
                  <a:srgbClr val="243E42"/>
                </a:solidFill>
                <a:prstDash val="solid"/>
                <a:round/>
                <a:headEnd type="none" w="med" len="med"/>
                <a:tailEnd type="none" w="med" len="med"/>
              </a:ln>
            </p:spPr>
          </p:sp>
        </p:grpSp>
        <p:grpSp>
          <p:nvGrpSpPr>
            <p:cNvPr id="1067" name="library-label-inventory · 63"/>
            <p:cNvGrpSpPr/>
            <p:nvPr/>
          </p:nvGrpSpPr>
          <p:grpSpPr>
            <a:xfrm>
              <a:off x="10188138" y="3289424"/>
              <a:ext cx="870824" cy="260226"/>
              <a:chOff x="10188138" y="3289424"/>
              <a:chExt cx="870824" cy="260226"/>
            </a:xfrm>
          </p:grpSpPr>
          <p:sp>
            <p:nvSpPr>
              <p:cNvPr id="1068" name="text · 62"/>
              <p:cNvSpPr txBox="1"/>
              <p:nvPr/>
            </p:nvSpPr>
            <p:spPr>
              <a:xfrm>
                <a:off x="10186550" y="3289424"/>
                <a:ext cx="873999"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Inventory</a:t>
                </a:r>
                <a:endParaRPr lang="en-US" sz="1500"/>
              </a:p>
            </p:txBody>
          </p:sp>
        </p:grpSp>
        <p:grpSp>
          <p:nvGrpSpPr>
            <p:cNvPr id="1069" name="system-one · 70"/>
            <p:cNvGrpSpPr/>
            <p:nvPr/>
          </p:nvGrpSpPr>
          <p:grpSpPr>
            <a:xfrm>
              <a:off x="1091353" y="4008896"/>
              <a:ext cx="910237" cy="862330"/>
              <a:chOff x="1091353" y="4008896"/>
              <a:chExt cx="910237" cy="862330"/>
            </a:xfrm>
          </p:grpSpPr>
          <p:sp>
            <p:nvSpPr>
              <p:cNvPr id="1070" name="path · 64"/>
              <p:cNvSpPr/>
              <p:nvPr/>
            </p:nvSpPr>
            <p:spPr>
              <a:xfrm>
                <a:off x="1091353" y="4008896"/>
                <a:ext cx="910237" cy="862330"/>
              </a:xfrm>
              <a:custGeom>
                <a:avLst/>
                <a:gdLst/>
                <a:ahLst/>
                <a:cxnLst/>
                <a:rect l="0" t="0" r="r" b="b"/>
                <a:pathLst>
                  <a:path w="910237" h="862330" fill="none" stroke="1" extrusionOk="0">
                    <a:moveTo>
                      <a:pt x="260068" y="0"/>
                    </a:moveTo>
                    <a:lnTo>
                      <a:pt x="260068" y="150566"/>
                    </a:lnTo>
                    <a:moveTo>
                      <a:pt x="438009" y="0"/>
                    </a:moveTo>
                    <a:lnTo>
                      <a:pt x="438009" y="150566"/>
                    </a:lnTo>
                    <a:moveTo>
                      <a:pt x="622794" y="0"/>
                    </a:moveTo>
                    <a:lnTo>
                      <a:pt x="622794" y="150566"/>
                    </a:lnTo>
                    <a:moveTo>
                      <a:pt x="260068" y="711765"/>
                    </a:moveTo>
                    <a:lnTo>
                      <a:pt x="260068" y="862330"/>
                    </a:lnTo>
                    <a:moveTo>
                      <a:pt x="438009" y="711765"/>
                    </a:moveTo>
                    <a:lnTo>
                      <a:pt x="438009" y="862330"/>
                    </a:lnTo>
                    <a:moveTo>
                      <a:pt x="622794" y="711765"/>
                    </a:moveTo>
                    <a:lnTo>
                      <a:pt x="622794" y="862330"/>
                    </a:lnTo>
                    <a:moveTo>
                      <a:pt x="0" y="280600"/>
                    </a:moveTo>
                    <a:lnTo>
                      <a:pt x="150566" y="280600"/>
                    </a:lnTo>
                    <a:moveTo>
                      <a:pt x="0" y="540667"/>
                    </a:moveTo>
                    <a:lnTo>
                      <a:pt x="150566" y="540667"/>
                    </a:lnTo>
                    <a:moveTo>
                      <a:pt x="759672" y="280600"/>
                    </a:moveTo>
                    <a:lnTo>
                      <a:pt x="910238" y="280600"/>
                    </a:lnTo>
                    <a:moveTo>
                      <a:pt x="759672" y="540667"/>
                    </a:moveTo>
                    <a:lnTo>
                      <a:pt x="910238" y="540667"/>
                    </a:lnTo>
                  </a:path>
                </a:pathLst>
              </a:custGeom>
              <a:noFill/>
              <a:ln w="34219" cap="rnd" cmpd="sng" algn="ctr">
                <a:solidFill>
                  <a:srgbClr val="2E6653"/>
                </a:solidFill>
                <a:prstDash val="solid"/>
                <a:round/>
                <a:headEnd type="none" w="med" len="med"/>
                <a:tailEnd type="none" w="med" len="med"/>
              </a:ln>
            </p:spPr>
          </p:sp>
          <p:sp>
            <p:nvSpPr>
              <p:cNvPr id="1071" name="rect · 65"/>
              <p:cNvSpPr/>
              <p:nvPr/>
            </p:nvSpPr>
            <p:spPr>
              <a:xfrm>
                <a:off x="1214543" y="4125242"/>
                <a:ext cx="657013" cy="629638"/>
              </a:xfrm>
              <a:prstGeom prst="roundRect">
                <a:avLst>
                  <a:gd name="adj" fmla="val 22826"/>
                </a:avLst>
              </a:prstGeom>
              <a:solidFill>
                <a:srgbClr val="D7EBE1"/>
              </a:solidFill>
              <a:ln w="20532" cap="rnd" cmpd="sng" algn="ctr">
                <a:solidFill>
                  <a:srgbClr val="2E6653"/>
                </a:solidFill>
                <a:prstDash val="solid"/>
                <a:round/>
                <a:headEnd type="none" w="med" len="med"/>
                <a:tailEnd type="none" w="med" len="med"/>
              </a:ln>
            </p:spPr>
          </p:sp>
          <p:sp>
            <p:nvSpPr>
              <p:cNvPr id="1072" name="path · 66"/>
              <p:cNvSpPr/>
              <p:nvPr/>
            </p:nvSpPr>
            <p:spPr>
              <a:xfrm>
                <a:off x="1365109" y="4289496"/>
                <a:ext cx="335351" cy="301131"/>
              </a:xfrm>
              <a:custGeom>
                <a:avLst/>
                <a:gdLst/>
                <a:ahLst/>
                <a:cxnLst/>
                <a:rect l="0" t="0" r="r" b="b"/>
                <a:pathLst>
                  <a:path w="335351" h="301131" fill="none" stroke="1" extrusionOk="0">
                    <a:moveTo>
                      <a:pt x="0" y="150565"/>
                    </a:moveTo>
                    <a:lnTo>
                      <a:pt x="150565" y="150565"/>
                    </a:lnTo>
                    <a:moveTo>
                      <a:pt x="150565" y="150565"/>
                    </a:moveTo>
                    <a:lnTo>
                      <a:pt x="150565" y="0"/>
                    </a:lnTo>
                    <a:lnTo>
                      <a:pt x="335350" y="0"/>
                    </a:lnTo>
                    <a:moveTo>
                      <a:pt x="150565" y="150565"/>
                    </a:moveTo>
                    <a:lnTo>
                      <a:pt x="150565" y="301131"/>
                    </a:lnTo>
                    <a:lnTo>
                      <a:pt x="335350" y="301131"/>
                    </a:lnTo>
                  </a:path>
                </a:pathLst>
              </a:custGeom>
              <a:noFill/>
              <a:ln w="27376" cap="rnd" cmpd="sng" algn="ctr">
                <a:solidFill>
                  <a:srgbClr val="2E6653"/>
                </a:solidFill>
                <a:prstDash val="solid"/>
                <a:round/>
                <a:headEnd type="none" w="med" len="med"/>
                <a:tailEnd type="none" w="med" len="med"/>
              </a:ln>
            </p:spPr>
          </p:sp>
          <p:sp>
            <p:nvSpPr>
              <p:cNvPr id="1073" name="circle · 67"/>
              <p:cNvSpPr/>
              <p:nvPr/>
            </p:nvSpPr>
            <p:spPr>
              <a:xfrm>
                <a:off x="1303514" y="4398998"/>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4" name="circle · 68"/>
              <p:cNvSpPr/>
              <p:nvPr/>
            </p:nvSpPr>
            <p:spPr>
              <a:xfrm>
                <a:off x="1679928" y="4248432"/>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sp>
            <p:nvSpPr>
              <p:cNvPr id="1075" name="circle · 69"/>
              <p:cNvSpPr/>
              <p:nvPr/>
            </p:nvSpPr>
            <p:spPr>
              <a:xfrm>
                <a:off x="1679928" y="4549563"/>
                <a:ext cx="82127" cy="82127"/>
              </a:xfrm>
              <a:prstGeom prst="ellipse">
                <a:avLst/>
              </a:prstGeom>
              <a:solidFill>
                <a:srgbClr val="FFFFFF"/>
              </a:solidFill>
              <a:ln w="15057" cap="rnd" cmpd="sng" algn="ctr">
                <a:solidFill>
                  <a:srgbClr val="2E6653"/>
                </a:solidFill>
                <a:prstDash val="solid"/>
                <a:round/>
                <a:headEnd type="none" w="med" len="med"/>
                <a:tailEnd type="none" w="med" len="med"/>
              </a:ln>
            </p:spPr>
          </p:sp>
        </p:grpSp>
        <p:grpSp>
          <p:nvGrpSpPr>
            <p:cNvPr id="1076" name="library-label-system-one · 72"/>
            <p:cNvGrpSpPr/>
            <p:nvPr/>
          </p:nvGrpSpPr>
          <p:grpSpPr>
            <a:xfrm>
              <a:off x="993673" y="5143624"/>
              <a:ext cx="1098755" cy="260226"/>
              <a:chOff x="993673" y="5143624"/>
              <a:chExt cx="1098755" cy="260226"/>
            </a:xfrm>
          </p:grpSpPr>
          <p:sp>
            <p:nvSpPr>
              <p:cNvPr id="1077" name="text · 71"/>
              <p:cNvSpPr txBox="1"/>
              <p:nvPr/>
            </p:nvSpPr>
            <p:spPr>
              <a:xfrm>
                <a:off x="992085" y="5143624"/>
                <a:ext cx="1101930"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System One</a:t>
                </a:r>
                <a:endParaRPr lang="en-US" sz="1500"/>
              </a:p>
            </p:txBody>
          </p:sp>
        </p:grpSp>
        <p:grpSp>
          <p:nvGrpSpPr>
            <p:cNvPr id="1078" name="frontier · 84"/>
            <p:cNvGrpSpPr/>
            <p:nvPr/>
          </p:nvGrpSpPr>
          <p:grpSpPr>
            <a:xfrm>
              <a:off x="2791107" y="3960989"/>
              <a:ext cx="1136086" cy="964988"/>
              <a:chOff x="2791107" y="3960989"/>
              <a:chExt cx="1136086" cy="964988"/>
            </a:xfrm>
          </p:grpSpPr>
          <p:sp>
            <p:nvSpPr>
              <p:cNvPr id="1079" name="path · 73"/>
              <p:cNvSpPr/>
              <p:nvPr/>
            </p:nvSpPr>
            <p:spPr>
              <a:xfrm>
                <a:off x="2791107" y="3960989"/>
                <a:ext cx="1136086" cy="964988"/>
              </a:xfrm>
              <a:custGeom>
                <a:avLst/>
                <a:gdLst/>
                <a:ahLst/>
                <a:cxnLst/>
                <a:rect l="0" t="0" r="r" b="b"/>
                <a:pathLst>
                  <a:path w="1136086" h="964988" fill="none" stroke="1" extrusionOk="0">
                    <a:moveTo>
                      <a:pt x="232692" y="0"/>
                    </a:moveTo>
                    <a:lnTo>
                      <a:pt x="232692" y="143722"/>
                    </a:lnTo>
                    <a:moveTo>
                      <a:pt x="403790" y="0"/>
                    </a:moveTo>
                    <a:lnTo>
                      <a:pt x="403790" y="143722"/>
                    </a:lnTo>
                    <a:moveTo>
                      <a:pt x="581731" y="0"/>
                    </a:moveTo>
                    <a:lnTo>
                      <a:pt x="581731" y="143722"/>
                    </a:lnTo>
                    <a:moveTo>
                      <a:pt x="759672" y="0"/>
                    </a:moveTo>
                    <a:lnTo>
                      <a:pt x="759672" y="143722"/>
                    </a:lnTo>
                    <a:moveTo>
                      <a:pt x="930769" y="0"/>
                    </a:moveTo>
                    <a:lnTo>
                      <a:pt x="930769" y="143722"/>
                    </a:lnTo>
                    <a:moveTo>
                      <a:pt x="232692" y="821267"/>
                    </a:moveTo>
                    <a:lnTo>
                      <a:pt x="232692" y="964988"/>
                    </a:lnTo>
                    <a:moveTo>
                      <a:pt x="403790" y="821267"/>
                    </a:moveTo>
                    <a:lnTo>
                      <a:pt x="403790" y="964988"/>
                    </a:lnTo>
                    <a:moveTo>
                      <a:pt x="581731" y="821267"/>
                    </a:moveTo>
                    <a:lnTo>
                      <a:pt x="581731" y="964988"/>
                    </a:lnTo>
                    <a:moveTo>
                      <a:pt x="759672" y="821267"/>
                    </a:moveTo>
                    <a:lnTo>
                      <a:pt x="759672" y="964988"/>
                    </a:lnTo>
                    <a:moveTo>
                      <a:pt x="930769" y="821267"/>
                    </a:moveTo>
                    <a:lnTo>
                      <a:pt x="930769" y="964988"/>
                    </a:lnTo>
                    <a:moveTo>
                      <a:pt x="0" y="294287"/>
                    </a:moveTo>
                    <a:lnTo>
                      <a:pt x="136878" y="294287"/>
                    </a:lnTo>
                    <a:moveTo>
                      <a:pt x="0" y="472228"/>
                    </a:moveTo>
                    <a:lnTo>
                      <a:pt x="136878" y="472228"/>
                    </a:lnTo>
                    <a:moveTo>
                      <a:pt x="0" y="657013"/>
                    </a:moveTo>
                    <a:lnTo>
                      <a:pt x="136878" y="657013"/>
                    </a:lnTo>
                    <a:moveTo>
                      <a:pt x="1006052" y="294287"/>
                    </a:moveTo>
                    <a:lnTo>
                      <a:pt x="1136086" y="294287"/>
                    </a:lnTo>
                    <a:moveTo>
                      <a:pt x="1006052" y="472228"/>
                    </a:moveTo>
                    <a:lnTo>
                      <a:pt x="1136086" y="472228"/>
                    </a:lnTo>
                    <a:moveTo>
                      <a:pt x="1006052" y="657013"/>
                    </a:moveTo>
                    <a:lnTo>
                      <a:pt x="1136086" y="657013"/>
                    </a:lnTo>
                  </a:path>
                </a:pathLst>
              </a:custGeom>
              <a:noFill/>
              <a:ln w="34219" cap="rnd" cmpd="sng" algn="ctr">
                <a:solidFill>
                  <a:srgbClr val="665180"/>
                </a:solidFill>
                <a:prstDash val="solid"/>
                <a:round/>
                <a:headEnd type="none" w="med" len="med"/>
                <a:tailEnd type="none" w="med" len="med"/>
              </a:ln>
            </p:spPr>
          </p:sp>
          <p:sp>
            <p:nvSpPr>
              <p:cNvPr id="1080" name="rect · 74"/>
              <p:cNvSpPr/>
              <p:nvPr/>
            </p:nvSpPr>
            <p:spPr>
              <a:xfrm>
                <a:off x="2900609" y="4063647"/>
                <a:ext cx="917081" cy="752828"/>
              </a:xfrm>
              <a:prstGeom prst="roundRect">
                <a:avLst>
                  <a:gd name="adj" fmla="val 21818"/>
                </a:avLst>
              </a:prstGeom>
              <a:solidFill>
                <a:srgbClr val="E8E0F3"/>
              </a:solidFill>
              <a:ln w="20532" cap="rnd" cmpd="sng" algn="ctr">
                <a:solidFill>
                  <a:srgbClr val="665180"/>
                </a:solidFill>
                <a:prstDash val="solid"/>
                <a:round/>
                <a:headEnd type="none" w="med" len="med"/>
                <a:tailEnd type="none" w="med" len="med"/>
              </a:ln>
            </p:spPr>
          </p:sp>
          <p:sp>
            <p:nvSpPr>
              <p:cNvPr id="1081" name="rect · 75"/>
              <p:cNvSpPr/>
              <p:nvPr/>
            </p:nvSpPr>
            <p:spPr>
              <a:xfrm>
                <a:off x="2982736" y="4145774"/>
                <a:ext cx="752828" cy="588574"/>
              </a:xfrm>
              <a:prstGeom prst="roundRect">
                <a:avLst>
                  <a:gd name="adj" fmla="val 18605"/>
                </a:avLst>
              </a:prstGeom>
              <a:solidFill>
                <a:srgbClr val="FFFFFF"/>
              </a:solidFill>
              <a:ln w="15057" cap="rnd" cmpd="sng" algn="ctr">
                <a:solidFill>
                  <a:srgbClr val="665180"/>
                </a:solidFill>
                <a:prstDash val="solid"/>
                <a:round/>
                <a:headEnd type="none" w="med" len="med"/>
                <a:tailEnd type="none" w="med" len="med"/>
              </a:ln>
            </p:spPr>
          </p:sp>
          <p:sp>
            <p:nvSpPr>
              <p:cNvPr id="1082" name="path · 76"/>
              <p:cNvSpPr/>
              <p:nvPr/>
            </p:nvSpPr>
            <p:spPr>
              <a:xfrm>
                <a:off x="3078551" y="4241588"/>
                <a:ext cx="554355" cy="369570"/>
              </a:xfrm>
              <a:custGeom>
                <a:avLst/>
                <a:gdLst/>
                <a:ahLst/>
                <a:cxnLst/>
                <a:rect l="0" t="0" r="r" b="b"/>
                <a:pathLst>
                  <a:path w="554355" h="369570" fill="none" stroke="1" extrusionOk="0">
                    <a:moveTo>
                      <a:pt x="0" y="82127"/>
                    </a:moveTo>
                    <a:lnTo>
                      <a:pt x="205316" y="0"/>
                    </a:lnTo>
                    <a:lnTo>
                      <a:pt x="403789" y="68439"/>
                    </a:lnTo>
                    <a:lnTo>
                      <a:pt x="554355" y="273756"/>
                    </a:lnTo>
                    <a:lnTo>
                      <a:pt x="294287" y="369570"/>
                    </a:lnTo>
                    <a:lnTo>
                      <a:pt x="116346" y="246380"/>
                    </a:lnTo>
                    <a:lnTo>
                      <a:pt x="0" y="82127"/>
                    </a:lnTo>
                    <a:moveTo>
                      <a:pt x="205316" y="0"/>
                    </a:moveTo>
                    <a:lnTo>
                      <a:pt x="294287" y="369570"/>
                    </a:lnTo>
                    <a:moveTo>
                      <a:pt x="403789" y="68439"/>
                    </a:moveTo>
                    <a:lnTo>
                      <a:pt x="116346" y="246380"/>
                    </a:lnTo>
                    <a:moveTo>
                      <a:pt x="554355" y="273756"/>
                    </a:moveTo>
                    <a:lnTo>
                      <a:pt x="0" y="82127"/>
                    </a:lnTo>
                  </a:path>
                </a:pathLst>
              </a:custGeom>
              <a:noFill/>
              <a:ln w="15741" cap="rnd" cmpd="sng" algn="ctr">
                <a:solidFill>
                  <a:srgbClr val="665180"/>
                </a:solidFill>
                <a:prstDash val="solid"/>
                <a:round/>
                <a:headEnd type="none" w="med" len="med"/>
                <a:tailEnd type="none" w="med" len="med"/>
              </a:ln>
            </p:spPr>
          </p:sp>
          <p:grpSp>
            <p:nvGrpSpPr>
              <p:cNvPr id="1083" name="g · 83"/>
              <p:cNvGrpSpPr/>
              <p:nvPr/>
            </p:nvGrpSpPr>
            <p:grpSpPr>
              <a:xfrm>
                <a:off x="3030643" y="4193681"/>
                <a:ext cx="650169" cy="465384"/>
                <a:chOff x="3030643" y="4193681"/>
                <a:chExt cx="650169" cy="465384"/>
              </a:xfrm>
            </p:grpSpPr>
            <p:sp>
              <p:nvSpPr>
                <p:cNvPr id="1084" name="circle · 77"/>
                <p:cNvSpPr/>
                <p:nvPr/>
              </p:nvSpPr>
              <p:spPr>
                <a:xfrm>
                  <a:off x="3030643" y="4275808"/>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5" name="circle · 78"/>
                <p:cNvSpPr/>
                <p:nvPr/>
              </p:nvSpPr>
              <p:spPr>
                <a:xfrm>
                  <a:off x="3235960" y="419368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6" name="circle · 79"/>
                <p:cNvSpPr/>
                <p:nvPr/>
              </p:nvSpPr>
              <p:spPr>
                <a:xfrm>
                  <a:off x="3434433" y="4262120"/>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7" name="circle · 80"/>
                <p:cNvSpPr/>
                <p:nvPr/>
              </p:nvSpPr>
              <p:spPr>
                <a:xfrm>
                  <a:off x="3584998" y="4467437"/>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8" name="circle · 81"/>
                <p:cNvSpPr/>
                <p:nvPr/>
              </p:nvSpPr>
              <p:spPr>
                <a:xfrm>
                  <a:off x="3324931" y="456325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sp>
              <p:nvSpPr>
                <p:cNvPr id="1089" name="circle · 82"/>
                <p:cNvSpPr/>
                <p:nvPr/>
              </p:nvSpPr>
              <p:spPr>
                <a:xfrm>
                  <a:off x="3146989" y="4440061"/>
                  <a:ext cx="95814" cy="95814"/>
                </a:xfrm>
                <a:prstGeom prst="ellipse">
                  <a:avLst/>
                </a:prstGeom>
                <a:solidFill>
                  <a:srgbClr val="E8E0F3"/>
                </a:solidFill>
                <a:ln w="17110" cap="rnd" cmpd="sng" algn="ctr">
                  <a:solidFill>
                    <a:srgbClr val="665180"/>
                  </a:solidFill>
                  <a:prstDash val="solid"/>
                  <a:round/>
                  <a:headEnd type="none" w="med" len="med"/>
                  <a:tailEnd type="none" w="med" len="med"/>
                </a:ln>
              </p:spPr>
            </p:sp>
          </p:grpSp>
        </p:grpSp>
        <p:grpSp>
          <p:nvGrpSpPr>
            <p:cNvPr id="1090" name="library-label-frontier · 86"/>
            <p:cNvGrpSpPr/>
            <p:nvPr/>
          </p:nvGrpSpPr>
          <p:grpSpPr>
            <a:xfrm>
              <a:off x="2793129" y="5143624"/>
              <a:ext cx="1132043" cy="260226"/>
              <a:chOff x="2793129" y="5143624"/>
              <a:chExt cx="1132043" cy="260226"/>
            </a:xfrm>
          </p:grpSpPr>
          <p:sp>
            <p:nvSpPr>
              <p:cNvPr id="1091" name="text · 85"/>
              <p:cNvSpPr txBox="1"/>
              <p:nvPr/>
            </p:nvSpPr>
            <p:spPr>
              <a:xfrm>
                <a:off x="2791541" y="5143624"/>
                <a:ext cx="1135218"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Frontier LLM</a:t>
                </a:r>
                <a:endParaRPr lang="en-US" sz="1500"/>
              </a:p>
            </p:txBody>
          </p:sp>
        </p:grpSp>
        <p:grpSp>
          <p:nvGrpSpPr>
            <p:cNvPr id="1092" name="review · 98"/>
            <p:cNvGrpSpPr/>
            <p:nvPr/>
          </p:nvGrpSpPr>
          <p:grpSpPr>
            <a:xfrm>
              <a:off x="4655114" y="4138930"/>
              <a:ext cx="1074491" cy="793891"/>
              <a:chOff x="4655114" y="4138930"/>
              <a:chExt cx="1074491" cy="793891"/>
            </a:xfrm>
          </p:grpSpPr>
          <p:sp>
            <p:nvSpPr>
              <p:cNvPr id="1093" name="path · 87"/>
              <p:cNvSpPr/>
              <p:nvPr/>
            </p:nvSpPr>
            <p:spPr>
              <a:xfrm>
                <a:off x="4655114" y="4522188"/>
                <a:ext cx="499604" cy="410633"/>
              </a:xfrm>
              <a:custGeom>
                <a:avLst/>
                <a:gdLst/>
                <a:ahLst/>
                <a:cxnLst/>
                <a:rect l="0" t="0" r="r" b="b"/>
                <a:pathLst>
                  <a:path w="499604" h="410633" fill="norm" stroke="1" extrusionOk="0">
                    <a:moveTo>
                      <a:pt x="0" y="410633"/>
                    </a:moveTo>
                    <a:lnTo>
                      <a:pt x="0" y="212160"/>
                    </a:lnTo>
                    <a:quadBezTo>
                      <a:pt x="6844" y="0"/>
                      <a:pt x="232693" y="0"/>
                    </a:quadBezTo>
                    <a:quadBezTo>
                      <a:pt x="458541" y="0"/>
                      <a:pt x="499604" y="212160"/>
                    </a:quadBezTo>
                    <a:lnTo>
                      <a:pt x="499604" y="410633"/>
                    </a:lnTo>
                    <a:close/>
                  </a:path>
                </a:pathLst>
              </a:custGeom>
              <a:solidFill>
                <a:srgbClr val="E2EEF3"/>
              </a:solidFill>
              <a:ln w="15057" cap="rnd" cmpd="sng" algn="ctr">
                <a:solidFill>
                  <a:srgbClr val="243E42"/>
                </a:solidFill>
                <a:prstDash val="solid"/>
                <a:round/>
                <a:headEnd type="none" w="med" len="med"/>
                <a:tailEnd type="none" w="med" len="med"/>
              </a:ln>
            </p:spPr>
          </p:sp>
          <p:sp>
            <p:nvSpPr>
              <p:cNvPr id="1094" name="circle · 88"/>
              <p:cNvSpPr/>
              <p:nvPr/>
            </p:nvSpPr>
            <p:spPr>
              <a:xfrm>
                <a:off x="4723553" y="4200525"/>
                <a:ext cx="328507" cy="328507"/>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095" name="path · 89"/>
              <p:cNvSpPr/>
              <p:nvPr/>
            </p:nvSpPr>
            <p:spPr>
              <a:xfrm>
                <a:off x="4709866" y="4152618"/>
                <a:ext cx="355882" cy="198473"/>
              </a:xfrm>
              <a:custGeom>
                <a:avLst/>
                <a:gdLst/>
                <a:ahLst/>
                <a:cxnLst/>
                <a:rect l="0" t="0" r="r" b="b"/>
                <a:pathLst>
                  <a:path w="355882" h="198473" fill="norm" stroke="1" extrusionOk="0">
                    <a:moveTo>
                      <a:pt x="27375" y="191629"/>
                    </a:moveTo>
                    <a:quadBezTo>
                      <a:pt x="0" y="6844"/>
                      <a:pt x="198472" y="0"/>
                    </a:quadBezTo>
                    <a:quadBezTo>
                      <a:pt x="355882" y="27375"/>
                      <a:pt x="342194" y="198473"/>
                    </a:quadBezTo>
                    <a:lnTo>
                      <a:pt x="239536" y="123190"/>
                    </a:lnTo>
                    <a:quadBezTo>
                      <a:pt x="157409" y="191629"/>
                      <a:pt x="27375" y="191629"/>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096" name="path · 90"/>
              <p:cNvSpPr/>
              <p:nvPr/>
            </p:nvSpPr>
            <p:spPr>
              <a:xfrm>
                <a:off x="4846743" y="4371622"/>
                <a:ext cx="164253" cy="109502"/>
              </a:xfrm>
              <a:custGeom>
                <a:avLst/>
                <a:gdLst/>
                <a:ahLst/>
                <a:cxnLst/>
                <a:rect l="0" t="0" r="r" b="b"/>
                <a:pathLst>
                  <a:path w="164253" h="109502" fill="none" stroke="1" extrusionOk="0">
                    <a:moveTo>
                      <a:pt x="0" y="0"/>
                    </a:moveTo>
                    <a:lnTo>
                      <a:pt x="68439" y="0"/>
                    </a:lnTo>
                    <a:moveTo>
                      <a:pt x="95815" y="0"/>
                    </a:moveTo>
                    <a:lnTo>
                      <a:pt x="164254" y="0"/>
                    </a:lnTo>
                    <a:moveTo>
                      <a:pt x="27376" y="88971"/>
                    </a:moveTo>
                    <a:quadBezTo>
                      <a:pt x="75283" y="109502"/>
                      <a:pt x="109503" y="82127"/>
                    </a:quadBezTo>
                  </a:path>
                </a:pathLst>
              </a:custGeom>
              <a:noFill/>
              <a:ln w="15057" cap="rnd" cmpd="sng" algn="ctr">
                <a:solidFill>
                  <a:srgbClr val="243E42"/>
                </a:solidFill>
                <a:prstDash val="solid"/>
                <a:round/>
                <a:headEnd type="none" w="med" len="med"/>
                <a:tailEnd type="none" w="med" len="med"/>
              </a:ln>
            </p:spPr>
          </p:sp>
          <p:sp>
            <p:nvSpPr>
              <p:cNvPr id="1097" name="circle · 91"/>
              <p:cNvSpPr/>
              <p:nvPr/>
            </p:nvSpPr>
            <p:spPr>
              <a:xfrm>
                <a:off x="4819368" y="4323715"/>
                <a:ext cx="95814" cy="95814"/>
              </a:xfrm>
              <a:prstGeom prst="ellipse">
                <a:avLst/>
              </a:prstGeom>
              <a:noFill/>
              <a:ln w="15057" cap="rnd" cmpd="sng" algn="ctr">
                <a:solidFill>
                  <a:srgbClr val="243E42"/>
                </a:solidFill>
                <a:prstDash val="solid"/>
                <a:round/>
                <a:headEnd type="none" w="med" len="med"/>
                <a:tailEnd type="none" w="med" len="med"/>
              </a:ln>
            </p:spPr>
          </p:sp>
          <p:sp>
            <p:nvSpPr>
              <p:cNvPr id="1098" name="circle · 92"/>
              <p:cNvSpPr/>
              <p:nvPr/>
            </p:nvSpPr>
            <p:spPr>
              <a:xfrm>
                <a:off x="4935714" y="4323715"/>
                <a:ext cx="95814" cy="95814"/>
              </a:xfrm>
              <a:prstGeom prst="ellipse">
                <a:avLst/>
              </a:prstGeom>
              <a:noFill/>
              <a:ln w="15057" cap="rnd" cmpd="sng" algn="ctr">
                <a:solidFill>
                  <a:srgbClr val="243E42"/>
                </a:solidFill>
                <a:prstDash val="solid"/>
                <a:round/>
                <a:headEnd type="none" w="med" len="med"/>
                <a:tailEnd type="none" w="med" len="med"/>
              </a:ln>
            </p:spPr>
          </p:sp>
          <p:sp>
            <p:nvSpPr>
              <p:cNvPr id="1099" name="path · 93"/>
              <p:cNvSpPr/>
              <p:nvPr/>
            </p:nvSpPr>
            <p:spPr>
              <a:xfrm>
                <a:off x="5154718" y="4138930"/>
                <a:ext cx="451697" cy="663857"/>
              </a:xfrm>
              <a:custGeom>
                <a:avLst/>
                <a:gdLst/>
                <a:ahLst/>
                <a:cxnLst/>
                <a:rect l="0" t="0" r="r" b="b"/>
                <a:pathLst>
                  <a:path w="451697" h="663857" fill="norm" stroke="1" extrusionOk="0">
                    <a:moveTo>
                      <a:pt x="0" y="0"/>
                    </a:moveTo>
                    <a:lnTo>
                      <a:pt x="314819" y="0"/>
                    </a:lnTo>
                    <a:lnTo>
                      <a:pt x="451697" y="136878"/>
                    </a:lnTo>
                    <a:lnTo>
                      <a:pt x="451697" y="663857"/>
                    </a:lnTo>
                    <a:lnTo>
                      <a:pt x="0" y="663857"/>
                    </a:lnTo>
                    <a:close/>
                  </a:path>
                </a:pathLst>
              </a:custGeom>
              <a:solidFill>
                <a:srgbClr val="FFFFFF"/>
              </a:solidFill>
              <a:ln w="15057" cap="rnd" cmpd="sng" algn="ctr">
                <a:solidFill>
                  <a:srgbClr val="243E42"/>
                </a:solidFill>
                <a:prstDash val="solid"/>
                <a:round/>
                <a:headEnd type="none" w="med" len="med"/>
                <a:tailEnd type="none" w="med" len="med"/>
              </a:ln>
            </p:spPr>
          </p:sp>
          <p:sp>
            <p:nvSpPr>
              <p:cNvPr id="1100" name="path · 94"/>
              <p:cNvSpPr/>
              <p:nvPr/>
            </p:nvSpPr>
            <p:spPr>
              <a:xfrm>
                <a:off x="5236845" y="4138930"/>
                <a:ext cx="369570" cy="410633"/>
              </a:xfrm>
              <a:custGeom>
                <a:avLst/>
                <a:gdLst/>
                <a:ahLst/>
                <a:cxnLst/>
                <a:rect l="0" t="0" r="r" b="b"/>
                <a:pathLst>
                  <a:path w="369570" h="410633" fill="none" stroke="1" extrusionOk="0">
                    <a:moveTo>
                      <a:pt x="232692" y="0"/>
                    </a:moveTo>
                    <a:lnTo>
                      <a:pt x="232692" y="136878"/>
                    </a:lnTo>
                    <a:lnTo>
                      <a:pt x="369570" y="136878"/>
                    </a:lnTo>
                    <a:moveTo>
                      <a:pt x="0" y="239536"/>
                    </a:moveTo>
                    <a:lnTo>
                      <a:pt x="246380" y="239536"/>
                    </a:lnTo>
                    <a:moveTo>
                      <a:pt x="0" y="321663"/>
                    </a:moveTo>
                    <a:lnTo>
                      <a:pt x="157409" y="321663"/>
                    </a:lnTo>
                    <a:moveTo>
                      <a:pt x="0" y="410633"/>
                    </a:moveTo>
                    <a:lnTo>
                      <a:pt x="184785" y="410633"/>
                    </a:lnTo>
                  </a:path>
                </a:pathLst>
              </a:custGeom>
              <a:noFill/>
              <a:ln w="15057" cap="rnd" cmpd="sng" algn="ctr">
                <a:solidFill>
                  <a:srgbClr val="243E42"/>
                </a:solidFill>
                <a:prstDash val="solid"/>
                <a:round/>
                <a:headEnd type="none" w="med" len="med"/>
                <a:tailEnd type="none" w="med" len="med"/>
              </a:ln>
            </p:spPr>
          </p:sp>
          <p:sp>
            <p:nvSpPr>
              <p:cNvPr id="1101" name="circle · 95"/>
              <p:cNvSpPr/>
              <p:nvPr/>
            </p:nvSpPr>
            <p:spPr>
              <a:xfrm>
                <a:off x="5284752" y="4426373"/>
                <a:ext cx="342194" cy="342194"/>
              </a:xfrm>
              <a:prstGeom prst="ellipse">
                <a:avLst/>
              </a:prstGeom>
              <a:solidFill>
                <a:srgbClr val="F6EAC8">
                  <a:alpha val="75000"/>
                </a:srgbClr>
              </a:solidFill>
              <a:ln w="27376" cap="rnd" cmpd="sng" algn="ctr">
                <a:solidFill>
                  <a:srgbClr val="7A6025"/>
                </a:solidFill>
                <a:prstDash val="solid"/>
                <a:round/>
                <a:headEnd type="none" w="med" len="med"/>
                <a:tailEnd type="none" w="med" len="med"/>
              </a:ln>
            </p:spPr>
          </p:sp>
          <p:sp>
            <p:nvSpPr>
              <p:cNvPr id="1102" name="path · 96"/>
              <p:cNvSpPr/>
              <p:nvPr/>
            </p:nvSpPr>
            <p:spPr>
              <a:xfrm>
                <a:off x="5572196" y="4727504"/>
                <a:ext cx="157409" cy="171097"/>
              </a:xfrm>
              <a:custGeom>
                <a:avLst/>
                <a:gdLst/>
                <a:ahLst/>
                <a:cxnLst/>
                <a:rect l="0" t="0" r="r" b="b"/>
                <a:pathLst>
                  <a:path w="157409" h="171097" fill="none" stroke="1" extrusionOk="0">
                    <a:moveTo>
                      <a:pt x="0" y="0"/>
                    </a:moveTo>
                    <a:lnTo>
                      <a:pt x="157409" y="171098"/>
                    </a:lnTo>
                  </a:path>
                </a:pathLst>
              </a:custGeom>
              <a:noFill/>
              <a:ln w="68439" cap="rnd" cmpd="sng" algn="ctr">
                <a:solidFill>
                  <a:srgbClr val="7A6025"/>
                </a:solidFill>
                <a:prstDash val="solid"/>
                <a:round/>
                <a:headEnd type="none" w="med" len="med"/>
                <a:tailEnd type="none" w="med" len="med"/>
              </a:ln>
            </p:spPr>
          </p:sp>
          <p:sp>
            <p:nvSpPr>
              <p:cNvPr id="1103" name="path · 97"/>
              <p:cNvSpPr/>
              <p:nvPr/>
            </p:nvSpPr>
            <p:spPr>
              <a:xfrm>
                <a:off x="5373723" y="4515344"/>
                <a:ext cx="164253" cy="130034"/>
              </a:xfrm>
              <a:custGeom>
                <a:avLst/>
                <a:gdLst/>
                <a:ahLst/>
                <a:cxnLst/>
                <a:rect l="0" t="0" r="r" b="b"/>
                <a:pathLst>
                  <a:path w="164253" h="130034" fill="none" stroke="1" extrusionOk="0">
                    <a:moveTo>
                      <a:pt x="0" y="75283"/>
                    </a:moveTo>
                    <a:lnTo>
                      <a:pt x="54751" y="130034"/>
                    </a:lnTo>
                    <a:lnTo>
                      <a:pt x="164253" y="0"/>
                    </a:lnTo>
                  </a:path>
                </a:pathLst>
              </a:custGeom>
              <a:noFill/>
              <a:ln w="27376" cap="rnd" cmpd="sng" algn="ctr">
                <a:solidFill>
                  <a:srgbClr val="2E6653"/>
                </a:solidFill>
                <a:prstDash val="solid"/>
                <a:round/>
                <a:headEnd type="none" w="med" len="med"/>
                <a:tailEnd type="none" w="med" len="med"/>
              </a:ln>
            </p:spPr>
          </p:sp>
        </p:grpSp>
        <p:grpSp>
          <p:nvGrpSpPr>
            <p:cNvPr id="1104" name="library-label-review · 100"/>
            <p:cNvGrpSpPr/>
            <p:nvPr/>
          </p:nvGrpSpPr>
          <p:grpSpPr>
            <a:xfrm>
              <a:off x="4529782" y="5143624"/>
              <a:ext cx="1290935" cy="260226"/>
              <a:chOff x="4529782" y="5143624"/>
              <a:chExt cx="1290935" cy="260226"/>
            </a:xfrm>
          </p:grpSpPr>
          <p:sp>
            <p:nvSpPr>
              <p:cNvPr id="1105" name="text · 99"/>
              <p:cNvSpPr txBox="1"/>
              <p:nvPr/>
            </p:nvSpPr>
            <p:spPr>
              <a:xfrm>
                <a:off x="4528194" y="5143624"/>
                <a:ext cx="1294110"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Human review</a:t>
                </a:r>
                <a:endParaRPr lang="en-US" sz="1500"/>
              </a:p>
            </p:txBody>
          </p:sp>
        </p:grpSp>
        <p:grpSp>
          <p:nvGrpSpPr>
            <p:cNvPr id="1106" name="customer · 115"/>
            <p:cNvGrpSpPr/>
            <p:nvPr/>
          </p:nvGrpSpPr>
          <p:grpSpPr>
            <a:xfrm>
              <a:off x="6553341" y="3919926"/>
              <a:ext cx="903393" cy="1047115"/>
              <a:chOff x="6553341" y="3919926"/>
              <a:chExt cx="903393" cy="1047115"/>
            </a:xfrm>
          </p:grpSpPr>
          <p:sp>
            <p:nvSpPr>
              <p:cNvPr id="1107" name="ellipse · 101"/>
              <p:cNvSpPr/>
              <p:nvPr/>
            </p:nvSpPr>
            <p:spPr>
              <a:xfrm>
                <a:off x="6553341" y="4884914"/>
                <a:ext cx="903393" cy="82127"/>
              </a:xfrm>
              <a:prstGeom prst="ellipse">
                <a:avLst/>
              </a:prstGeom>
              <a:solidFill>
                <a:srgbClr val="E2EEF3"/>
              </a:solidFill>
              <a:ln>
                <a:noFill/>
              </a:ln>
            </p:spPr>
          </p:sp>
          <p:sp>
            <p:nvSpPr>
              <p:cNvPr id="1108" name="path · 102"/>
              <p:cNvSpPr/>
              <p:nvPr/>
            </p:nvSpPr>
            <p:spPr>
              <a:xfrm>
                <a:off x="6758658" y="4611158"/>
                <a:ext cx="533823" cy="273756"/>
              </a:xfrm>
              <a:custGeom>
                <a:avLst/>
                <a:gdLst/>
                <a:ahLst/>
                <a:cxnLst/>
                <a:rect l="0" t="0" r="r" b="b"/>
                <a:pathLst>
                  <a:path w="533823" h="273756" fill="norm" stroke="1" extrusionOk="0">
                    <a:moveTo>
                      <a:pt x="27375" y="54751"/>
                    </a:moveTo>
                    <a:lnTo>
                      <a:pt x="0" y="273756"/>
                    </a:lnTo>
                    <a:lnTo>
                      <a:pt x="150565" y="273756"/>
                    </a:lnTo>
                    <a:lnTo>
                      <a:pt x="198473" y="68439"/>
                    </a:lnTo>
                    <a:moveTo>
                      <a:pt x="349038" y="54751"/>
                    </a:moveTo>
                    <a:lnTo>
                      <a:pt x="396945" y="273756"/>
                    </a:lnTo>
                    <a:lnTo>
                      <a:pt x="533823" y="273756"/>
                    </a:lnTo>
                    <a:lnTo>
                      <a:pt x="424321" y="0"/>
                    </a:lnTo>
                  </a:path>
                </a:pathLst>
              </a:custGeom>
              <a:solidFill>
                <a:srgbClr val="243E42"/>
              </a:solidFill>
              <a:ln w="15057" cap="rnd" cmpd="sng" algn="ctr">
                <a:solidFill>
                  <a:srgbClr val="243E42"/>
                </a:solidFill>
                <a:prstDash val="solid"/>
                <a:round/>
                <a:headEnd type="none" w="med" len="med"/>
                <a:tailEnd type="none" w="med" len="med"/>
              </a:ln>
            </p:spPr>
          </p:sp>
          <p:sp>
            <p:nvSpPr>
              <p:cNvPr id="1109" name="path · 103"/>
              <p:cNvSpPr/>
              <p:nvPr/>
            </p:nvSpPr>
            <p:spPr>
              <a:xfrm>
                <a:off x="6690219" y="4891758"/>
                <a:ext cx="677545" cy="47907"/>
              </a:xfrm>
              <a:custGeom>
                <a:avLst/>
                <a:gdLst/>
                <a:ahLst/>
                <a:cxnLst/>
                <a:rect l="0" t="0" r="r" b="b"/>
                <a:pathLst>
                  <a:path w="677545" h="47907" fill="norm" stroke="1" extrusionOk="0">
                    <a:moveTo>
                      <a:pt x="47907" y="0"/>
                    </a:moveTo>
                    <a:lnTo>
                      <a:pt x="225848" y="0"/>
                    </a:lnTo>
                    <a:lnTo>
                      <a:pt x="225848" y="47907"/>
                    </a:lnTo>
                    <a:lnTo>
                      <a:pt x="0" y="47907"/>
                    </a:lnTo>
                    <a:cubicBezTo>
                      <a:pt x="0" y="20531"/>
                      <a:pt x="20532" y="6844"/>
                      <a:pt x="47907" y="0"/>
                    </a:cubicBezTo>
                    <a:moveTo>
                      <a:pt x="458540" y="0"/>
                    </a:moveTo>
                    <a:lnTo>
                      <a:pt x="622794" y="0"/>
                    </a:lnTo>
                    <a:lnTo>
                      <a:pt x="677545" y="47907"/>
                    </a:lnTo>
                    <a:lnTo>
                      <a:pt x="458540" y="47907"/>
                    </a:lnTo>
                    <a:close/>
                  </a:path>
                </a:pathLst>
              </a:custGeom>
              <a:solidFill>
                <a:srgbClr val="FFFFFF"/>
              </a:solidFill>
              <a:ln w="15057" cap="rnd" cmpd="sng" algn="ctr">
                <a:solidFill>
                  <a:srgbClr val="243E42"/>
                </a:solidFill>
                <a:prstDash val="solid"/>
                <a:round/>
                <a:headEnd type="none" w="med" len="med"/>
                <a:tailEnd type="none" w="med" len="med"/>
              </a:ln>
            </p:spPr>
          </p:sp>
          <p:sp>
            <p:nvSpPr>
              <p:cNvPr id="1110" name="path · 104"/>
              <p:cNvSpPr/>
              <p:nvPr/>
            </p:nvSpPr>
            <p:spPr>
              <a:xfrm>
                <a:off x="6731282" y="4248432"/>
                <a:ext cx="499604" cy="472228"/>
              </a:xfrm>
              <a:custGeom>
                <a:avLst/>
                <a:gdLst/>
                <a:ahLst/>
                <a:cxnLst/>
                <a:rect l="0" t="0" r="r" b="b"/>
                <a:pathLst>
                  <a:path w="499604" h="472228" fill="norm" stroke="1" extrusionOk="0">
                    <a:moveTo>
                      <a:pt x="0" y="123190"/>
                    </a:moveTo>
                    <a:quadBezTo>
                      <a:pt x="41064" y="6844"/>
                      <a:pt x="198473" y="0"/>
                    </a:quadBezTo>
                    <a:lnTo>
                      <a:pt x="307975" y="0"/>
                    </a:lnTo>
                    <a:quadBezTo>
                      <a:pt x="465385" y="13688"/>
                      <a:pt x="499604" y="157410"/>
                    </a:quadBezTo>
                    <a:lnTo>
                      <a:pt x="438009" y="472229"/>
                    </a:lnTo>
                    <a:lnTo>
                      <a:pt x="68439" y="472229"/>
                    </a:lnTo>
                    <a:close/>
                  </a:path>
                </a:pathLst>
              </a:custGeom>
              <a:solidFill>
                <a:srgbClr val="E2EEF3"/>
              </a:solidFill>
              <a:ln w="15057" cap="rnd" cmpd="sng" algn="ctr">
                <a:solidFill>
                  <a:srgbClr val="243E42"/>
                </a:solidFill>
                <a:prstDash val="solid"/>
                <a:round/>
                <a:headEnd type="none" w="med" len="med"/>
                <a:tailEnd type="none" w="med" len="med"/>
              </a:ln>
            </p:spPr>
          </p:sp>
          <p:sp>
            <p:nvSpPr>
              <p:cNvPr id="1111" name="path · 105"/>
              <p:cNvSpPr/>
              <p:nvPr/>
            </p:nvSpPr>
            <p:spPr>
              <a:xfrm>
                <a:off x="6690219" y="4303183"/>
                <a:ext cx="602262" cy="301131"/>
              </a:xfrm>
              <a:custGeom>
                <a:avLst/>
                <a:gdLst/>
                <a:ahLst/>
                <a:cxnLst/>
                <a:rect l="0" t="0" r="r" b="b"/>
                <a:pathLst>
                  <a:path w="602262" h="301131" fill="none" stroke="1" extrusionOk="0">
                    <a:moveTo>
                      <a:pt x="116346" y="13688"/>
                    </a:moveTo>
                    <a:lnTo>
                      <a:pt x="0" y="143722"/>
                    </a:lnTo>
                    <a:lnTo>
                      <a:pt x="102658" y="280600"/>
                    </a:lnTo>
                    <a:moveTo>
                      <a:pt x="451697" y="0"/>
                    </a:moveTo>
                    <a:lnTo>
                      <a:pt x="602262" y="150566"/>
                    </a:lnTo>
                    <a:lnTo>
                      <a:pt x="547511" y="301131"/>
                    </a:lnTo>
                  </a:path>
                </a:pathLst>
              </a:custGeom>
              <a:noFill/>
              <a:ln w="61595" cap="rnd" cmpd="sng" algn="ctr">
                <a:solidFill>
                  <a:srgbClr val="E2EEF3"/>
                </a:solidFill>
                <a:prstDash val="solid"/>
                <a:round/>
                <a:headEnd type="none" w="med" len="med"/>
                <a:tailEnd type="none" w="med" len="med"/>
              </a:ln>
            </p:spPr>
          </p:sp>
          <p:sp>
            <p:nvSpPr>
              <p:cNvPr id="1112" name="circle · 106"/>
              <p:cNvSpPr/>
              <p:nvPr/>
            </p:nvSpPr>
            <p:spPr>
              <a:xfrm>
                <a:off x="6806565" y="3960989"/>
                <a:ext cx="314819" cy="314819"/>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113" name="path · 107"/>
              <p:cNvSpPr/>
              <p:nvPr/>
            </p:nvSpPr>
            <p:spPr>
              <a:xfrm>
                <a:off x="6779189" y="3919926"/>
                <a:ext cx="369570" cy="191629"/>
              </a:xfrm>
              <a:custGeom>
                <a:avLst/>
                <a:gdLst/>
                <a:ahLst/>
                <a:cxnLst/>
                <a:rect l="0" t="0" r="r" b="b"/>
                <a:pathLst>
                  <a:path w="369570" h="191629" fill="norm" stroke="1" extrusionOk="0">
                    <a:moveTo>
                      <a:pt x="34220" y="177941"/>
                    </a:moveTo>
                    <a:quadBezTo>
                      <a:pt x="0" y="13687"/>
                      <a:pt x="177942" y="6843"/>
                    </a:quadBezTo>
                    <a:quadBezTo>
                      <a:pt x="369570" y="0"/>
                      <a:pt x="355883" y="191628"/>
                    </a:quadBezTo>
                    <a:lnTo>
                      <a:pt x="287444" y="150565"/>
                    </a:lnTo>
                    <a:lnTo>
                      <a:pt x="266912" y="68438"/>
                    </a:lnTo>
                    <a:quadBezTo>
                      <a:pt x="177942" y="143721"/>
                      <a:pt x="34220" y="136877"/>
                    </a:quadBezTo>
                    <a:close/>
                  </a:path>
                </a:pathLst>
              </a:custGeom>
              <a:solidFill>
                <a:srgbClr val="243E42"/>
              </a:solidFill>
              <a:ln w="15057" cap="rnd" cmpd="sng" algn="ctr">
                <a:solidFill>
                  <a:srgbClr val="243E42"/>
                </a:solidFill>
                <a:prstDash val="solid"/>
                <a:round/>
                <a:headEnd type="none" w="med" len="med"/>
                <a:tailEnd type="none" w="med" len="med"/>
              </a:ln>
            </p:spPr>
          </p:sp>
          <p:sp>
            <p:nvSpPr>
              <p:cNvPr id="1114" name="path · 108"/>
              <p:cNvSpPr/>
              <p:nvPr/>
            </p:nvSpPr>
            <p:spPr>
              <a:xfrm>
                <a:off x="6943443" y="4097867"/>
                <a:ext cx="102658" cy="47907"/>
              </a:xfrm>
              <a:custGeom>
                <a:avLst/>
                <a:gdLst/>
                <a:ahLst/>
                <a:cxnLst/>
                <a:rect l="0" t="0" r="r" b="b"/>
                <a:pathLst>
                  <a:path w="102658" h="47907" fill="none" stroke="1" extrusionOk="0">
                    <a:moveTo>
                      <a:pt x="0" y="0"/>
                    </a:moveTo>
                    <a:lnTo>
                      <a:pt x="0" y="47907"/>
                    </a:lnTo>
                    <a:moveTo>
                      <a:pt x="102658" y="0"/>
                    </a:moveTo>
                    <a:lnTo>
                      <a:pt x="102658" y="47907"/>
                    </a:lnTo>
                  </a:path>
                </a:pathLst>
              </a:custGeom>
              <a:noFill/>
              <a:ln w="17794" cap="rnd" cmpd="sng" algn="ctr">
                <a:solidFill>
                  <a:srgbClr val="243E42"/>
                </a:solidFill>
                <a:prstDash val="solid"/>
                <a:round/>
                <a:headEnd type="none" w="med" len="med"/>
                <a:tailEnd type="none" w="med" len="med"/>
              </a:ln>
            </p:spPr>
          </p:sp>
          <p:sp>
            <p:nvSpPr>
              <p:cNvPr id="1115" name="path · 109"/>
              <p:cNvSpPr/>
              <p:nvPr/>
            </p:nvSpPr>
            <p:spPr>
              <a:xfrm>
                <a:off x="6950287" y="4186837"/>
                <a:ext cx="75283" cy="34219"/>
              </a:xfrm>
              <a:custGeom>
                <a:avLst/>
                <a:gdLst/>
                <a:ahLst/>
                <a:cxnLst/>
                <a:rect l="0" t="0" r="r" b="b"/>
                <a:pathLst>
                  <a:path w="75283" h="34219" fill="none" stroke="1" extrusionOk="0">
                    <a:moveTo>
                      <a:pt x="0" y="6844"/>
                    </a:moveTo>
                    <a:quadBezTo>
                      <a:pt x="41063" y="34220"/>
                      <a:pt x="75282" y="0"/>
                    </a:quadBezTo>
                  </a:path>
                </a:pathLst>
              </a:custGeom>
              <a:noFill/>
              <a:ln w="15057" cap="rnd" cmpd="sng" algn="ctr">
                <a:solidFill>
                  <a:srgbClr val="243E42"/>
                </a:solidFill>
                <a:prstDash val="solid"/>
                <a:round/>
                <a:headEnd type="none" w="med" len="med"/>
                <a:tailEnd type="none" w="med" len="med"/>
              </a:ln>
            </p:spPr>
          </p:sp>
          <p:sp>
            <p:nvSpPr>
              <p:cNvPr id="1116" name="path · 110"/>
              <p:cNvSpPr/>
              <p:nvPr/>
            </p:nvSpPr>
            <p:spPr>
              <a:xfrm>
                <a:off x="6751814" y="4398998"/>
                <a:ext cx="602262" cy="266912"/>
              </a:xfrm>
              <a:custGeom>
                <a:avLst/>
                <a:gdLst/>
                <a:ahLst/>
                <a:cxnLst/>
                <a:rect l="0" t="0" r="r" b="b"/>
                <a:pathLst>
                  <a:path w="602262" h="266912" fill="norm" stroke="1" extrusionOk="0">
                    <a:moveTo>
                      <a:pt x="0" y="123190"/>
                    </a:moveTo>
                    <a:lnTo>
                      <a:pt x="369570" y="0"/>
                    </a:lnTo>
                    <a:lnTo>
                      <a:pt x="602262" y="130034"/>
                    </a:lnTo>
                    <a:lnTo>
                      <a:pt x="232692" y="266911"/>
                    </a:lnTo>
                    <a:close/>
                  </a:path>
                </a:pathLst>
              </a:custGeom>
              <a:solidFill>
                <a:srgbClr val="F6EAC8"/>
              </a:solidFill>
              <a:ln w="15057" cap="rnd" cmpd="sng" algn="ctr">
                <a:solidFill>
                  <a:srgbClr val="243E42"/>
                </a:solidFill>
                <a:prstDash val="solid"/>
                <a:round/>
                <a:headEnd type="none" w="med" len="med"/>
                <a:tailEnd type="none" w="med" len="med"/>
              </a:ln>
            </p:spPr>
          </p:sp>
          <p:sp>
            <p:nvSpPr>
              <p:cNvPr id="1117" name="path · 111"/>
              <p:cNvSpPr/>
              <p:nvPr/>
            </p:nvSpPr>
            <p:spPr>
              <a:xfrm>
                <a:off x="6751814" y="4522188"/>
                <a:ext cx="602262" cy="376414"/>
              </a:xfrm>
              <a:custGeom>
                <a:avLst/>
                <a:gdLst/>
                <a:ahLst/>
                <a:cxnLst/>
                <a:rect l="0" t="0" r="r" b="b"/>
                <a:pathLst>
                  <a:path w="602262" h="376414" fill="norm" stroke="1" extrusionOk="0">
                    <a:moveTo>
                      <a:pt x="0" y="0"/>
                    </a:moveTo>
                    <a:lnTo>
                      <a:pt x="232692" y="143721"/>
                    </a:lnTo>
                    <a:lnTo>
                      <a:pt x="232692" y="376414"/>
                    </a:lnTo>
                    <a:lnTo>
                      <a:pt x="0" y="239536"/>
                    </a:lnTo>
                    <a:close/>
                    <a:moveTo>
                      <a:pt x="232692" y="143721"/>
                    </a:moveTo>
                    <a:lnTo>
                      <a:pt x="602262" y="6844"/>
                    </a:lnTo>
                    <a:lnTo>
                      <a:pt x="602262" y="246380"/>
                    </a:lnTo>
                    <a:lnTo>
                      <a:pt x="232692" y="376414"/>
                    </a:lnTo>
                    <a:close/>
                  </a:path>
                </a:pathLst>
              </a:custGeom>
              <a:solidFill>
                <a:srgbClr val="F6EAC8"/>
              </a:solidFill>
              <a:ln w="15057" cap="rnd" cmpd="sng" algn="ctr">
                <a:solidFill>
                  <a:srgbClr val="243E42"/>
                </a:solidFill>
                <a:prstDash val="solid"/>
                <a:round/>
                <a:headEnd type="none" w="med" len="med"/>
                <a:tailEnd type="none" w="med" len="med"/>
              </a:ln>
            </p:spPr>
          </p:sp>
          <p:sp>
            <p:nvSpPr>
              <p:cNvPr id="1118" name="path · 112"/>
              <p:cNvSpPr/>
              <p:nvPr/>
            </p:nvSpPr>
            <p:spPr>
              <a:xfrm>
                <a:off x="6854472" y="4467437"/>
                <a:ext cx="314819" cy="273756"/>
              </a:xfrm>
              <a:custGeom>
                <a:avLst/>
                <a:gdLst/>
                <a:ahLst/>
                <a:cxnLst/>
                <a:rect l="0" t="0" r="r" b="b"/>
                <a:pathLst>
                  <a:path w="314819" h="273756" fill="norm" stroke="1" extrusionOk="0">
                    <a:moveTo>
                      <a:pt x="68439" y="0"/>
                    </a:moveTo>
                    <a:lnTo>
                      <a:pt x="314819" y="136877"/>
                    </a:lnTo>
                    <a:lnTo>
                      <a:pt x="314819" y="246380"/>
                    </a:lnTo>
                    <a:lnTo>
                      <a:pt x="246380" y="273755"/>
                    </a:lnTo>
                    <a:lnTo>
                      <a:pt x="246380" y="164253"/>
                    </a:lnTo>
                    <a:lnTo>
                      <a:pt x="0" y="27375"/>
                    </a:lnTo>
                  </a:path>
                </a:pathLst>
              </a:custGeom>
              <a:solidFill>
                <a:srgbClr val="FFFFFF"/>
              </a:solidFill>
              <a:ln w="15057" cap="rnd" cmpd="sng" algn="ctr">
                <a:solidFill>
                  <a:srgbClr val="243E42"/>
                </a:solidFill>
                <a:prstDash val="solid"/>
                <a:round/>
                <a:headEnd type="none" w="med" len="med"/>
                <a:tailEnd type="none" w="med" len="med"/>
              </a:ln>
            </p:spPr>
          </p:sp>
          <p:sp>
            <p:nvSpPr>
              <p:cNvPr id="1119" name="circle · 113"/>
              <p:cNvSpPr/>
              <p:nvPr/>
            </p:nvSpPr>
            <p:spPr>
              <a:xfrm>
                <a:off x="6738126" y="4522188"/>
                <a:ext cx="95814" cy="95814"/>
              </a:xfrm>
              <a:prstGeom prst="ellipse">
                <a:avLst/>
              </a:prstGeom>
              <a:solidFill>
                <a:srgbClr val="F4DFD3"/>
              </a:solidFill>
              <a:ln w="15057" cap="rnd" cmpd="sng" algn="ctr">
                <a:solidFill>
                  <a:srgbClr val="243E42"/>
                </a:solidFill>
                <a:prstDash val="solid"/>
                <a:round/>
                <a:headEnd type="none" w="med" len="med"/>
                <a:tailEnd type="none" w="med" len="med"/>
              </a:ln>
            </p:spPr>
          </p:sp>
          <p:sp>
            <p:nvSpPr>
              <p:cNvPr id="1120" name="circle · 114"/>
              <p:cNvSpPr/>
              <p:nvPr/>
            </p:nvSpPr>
            <p:spPr>
              <a:xfrm>
                <a:off x="7224042" y="4549563"/>
                <a:ext cx="95814" cy="95814"/>
              </a:xfrm>
              <a:prstGeom prst="ellipse">
                <a:avLst/>
              </a:prstGeom>
              <a:solidFill>
                <a:srgbClr val="F4DFD3"/>
              </a:solidFill>
              <a:ln w="15057" cap="rnd" cmpd="sng" algn="ctr">
                <a:solidFill>
                  <a:srgbClr val="243E42"/>
                </a:solidFill>
                <a:prstDash val="solid"/>
                <a:round/>
                <a:headEnd type="none" w="med" len="med"/>
                <a:tailEnd type="none" w="med" len="med"/>
              </a:ln>
            </p:spPr>
          </p:sp>
        </p:grpSp>
        <p:grpSp>
          <p:nvGrpSpPr>
            <p:cNvPr id="1121" name="library-label-customer · 117"/>
            <p:cNvGrpSpPr/>
            <p:nvPr/>
          </p:nvGrpSpPr>
          <p:grpSpPr>
            <a:xfrm>
              <a:off x="6535555" y="5143624"/>
              <a:ext cx="911591" cy="260226"/>
              <a:chOff x="6535555" y="5143624"/>
              <a:chExt cx="911591" cy="260226"/>
            </a:xfrm>
          </p:grpSpPr>
          <p:sp>
            <p:nvSpPr>
              <p:cNvPr id="1122" name="text · 116"/>
              <p:cNvSpPr txBox="1"/>
              <p:nvPr/>
            </p:nvSpPr>
            <p:spPr>
              <a:xfrm>
                <a:off x="6533967" y="5143624"/>
                <a:ext cx="914766"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Customer</a:t>
                </a:r>
                <a:endParaRPr lang="en-US" sz="1500"/>
              </a:p>
            </p:txBody>
          </p:sp>
        </p:grpSp>
        <p:grpSp>
          <p:nvGrpSpPr>
            <p:cNvPr id="1123" name="commit · 124"/>
            <p:cNvGrpSpPr/>
            <p:nvPr/>
          </p:nvGrpSpPr>
          <p:grpSpPr>
            <a:xfrm>
              <a:off x="8383129" y="3974677"/>
              <a:ext cx="978676" cy="971832"/>
              <a:chOff x="8383129" y="3974677"/>
              <a:chExt cx="978676" cy="971832"/>
            </a:xfrm>
          </p:grpSpPr>
          <p:sp>
            <p:nvSpPr>
              <p:cNvPr id="1124" name="path · 118"/>
              <p:cNvSpPr/>
              <p:nvPr/>
            </p:nvSpPr>
            <p:spPr>
              <a:xfrm>
                <a:off x="8383129" y="3974677"/>
                <a:ext cx="807579" cy="944457"/>
              </a:xfrm>
              <a:custGeom>
                <a:avLst/>
                <a:gdLst/>
                <a:ahLst/>
                <a:cxnLst/>
                <a:rect l="0" t="0" r="r" b="b"/>
                <a:pathLst>
                  <a:path w="807579" h="944457" fill="norm" stroke="1" extrusionOk="0">
                    <a:moveTo>
                      <a:pt x="0" y="0"/>
                    </a:moveTo>
                    <a:lnTo>
                      <a:pt x="622794" y="0"/>
                    </a:lnTo>
                    <a:lnTo>
                      <a:pt x="807579" y="184785"/>
                    </a:lnTo>
                    <a:lnTo>
                      <a:pt x="807579" y="944456"/>
                    </a:lnTo>
                    <a:lnTo>
                      <a:pt x="0" y="944456"/>
                    </a:lnTo>
                    <a:close/>
                  </a:path>
                </a:pathLst>
              </a:custGeom>
              <a:solidFill>
                <a:srgbClr val="FFFFFF"/>
              </a:solidFill>
              <a:ln w="15057" cap="rnd" cmpd="sng" algn="ctr">
                <a:solidFill>
                  <a:srgbClr val="243E42"/>
                </a:solidFill>
                <a:prstDash val="solid"/>
                <a:round/>
                <a:headEnd type="none" w="med" len="med"/>
                <a:tailEnd type="none" w="med" len="med"/>
              </a:ln>
            </p:spPr>
          </p:sp>
          <p:sp>
            <p:nvSpPr>
              <p:cNvPr id="1125" name="path · 119"/>
              <p:cNvSpPr/>
              <p:nvPr/>
            </p:nvSpPr>
            <p:spPr>
              <a:xfrm>
                <a:off x="9005923" y="3974677"/>
                <a:ext cx="184785" cy="184785"/>
              </a:xfrm>
              <a:custGeom>
                <a:avLst/>
                <a:gdLst/>
                <a:ahLst/>
                <a:cxnLst/>
                <a:rect l="0" t="0" r="r" b="b"/>
                <a:pathLst>
                  <a:path w="184785" h="184785" fill="norm" stroke="1" extrusionOk="0">
                    <a:moveTo>
                      <a:pt x="0" y="0"/>
                    </a:moveTo>
                    <a:lnTo>
                      <a:pt x="0" y="184785"/>
                    </a:lnTo>
                    <a:lnTo>
                      <a:pt x="184785" y="184785"/>
                    </a:lnTo>
                  </a:path>
                </a:pathLst>
              </a:custGeom>
              <a:solidFill>
                <a:srgbClr val="E2EEF3"/>
              </a:solidFill>
              <a:ln w="15057" cap="rnd" cmpd="sng" algn="ctr">
                <a:solidFill>
                  <a:srgbClr val="243E42"/>
                </a:solidFill>
                <a:prstDash val="solid"/>
                <a:round/>
                <a:headEnd type="none" w="med" len="med"/>
                <a:tailEnd type="none" w="med" len="med"/>
              </a:ln>
            </p:spPr>
          </p:sp>
          <p:sp>
            <p:nvSpPr>
              <p:cNvPr id="1126" name="path · 120"/>
              <p:cNvSpPr/>
              <p:nvPr/>
            </p:nvSpPr>
            <p:spPr>
              <a:xfrm>
                <a:off x="8492631" y="4248432"/>
                <a:ext cx="533823" cy="219004"/>
              </a:xfrm>
              <a:custGeom>
                <a:avLst/>
                <a:gdLst/>
                <a:ahLst/>
                <a:cxnLst/>
                <a:rect l="0" t="0" r="r" b="b"/>
                <a:pathLst>
                  <a:path w="533823" h="219004" fill="none" stroke="1" extrusionOk="0">
                    <a:moveTo>
                      <a:pt x="0" y="0"/>
                    </a:moveTo>
                    <a:lnTo>
                      <a:pt x="533823" y="0"/>
                    </a:lnTo>
                    <a:moveTo>
                      <a:pt x="0" y="109502"/>
                    </a:moveTo>
                    <a:lnTo>
                      <a:pt x="403790" y="109502"/>
                    </a:lnTo>
                    <a:moveTo>
                      <a:pt x="0" y="219005"/>
                    </a:moveTo>
                    <a:lnTo>
                      <a:pt x="321663" y="219005"/>
                    </a:lnTo>
                  </a:path>
                </a:pathLst>
              </a:custGeom>
              <a:noFill/>
              <a:ln w="27376" cap="rnd" cmpd="sng" algn="ctr">
                <a:solidFill>
                  <a:srgbClr val="355F72"/>
                </a:solidFill>
                <a:prstDash val="solid"/>
                <a:round/>
                <a:headEnd type="none" w="med" len="med"/>
                <a:tailEnd type="none" w="med" len="med"/>
              </a:ln>
            </p:spPr>
          </p:sp>
          <p:sp>
            <p:nvSpPr>
              <p:cNvPr id="1127" name="path · 121"/>
              <p:cNvSpPr/>
              <p:nvPr/>
            </p:nvSpPr>
            <p:spPr>
              <a:xfrm>
                <a:off x="8492631" y="4652222"/>
                <a:ext cx="314819" cy="150566"/>
              </a:xfrm>
              <a:custGeom>
                <a:avLst/>
                <a:gdLst/>
                <a:ahLst/>
                <a:cxnLst/>
                <a:rect l="0" t="0" r="r" b="b"/>
                <a:pathLst>
                  <a:path w="314819" h="150566" fill="none" stroke="1" extrusionOk="0">
                    <a:moveTo>
                      <a:pt x="0" y="0"/>
                    </a:moveTo>
                    <a:lnTo>
                      <a:pt x="0" y="150565"/>
                    </a:lnTo>
                    <a:moveTo>
                      <a:pt x="41063" y="0"/>
                    </a:moveTo>
                    <a:lnTo>
                      <a:pt x="41063" y="150565"/>
                    </a:lnTo>
                    <a:moveTo>
                      <a:pt x="88971" y="0"/>
                    </a:moveTo>
                    <a:lnTo>
                      <a:pt x="88971" y="150565"/>
                    </a:lnTo>
                    <a:moveTo>
                      <a:pt x="157410" y="0"/>
                    </a:moveTo>
                    <a:lnTo>
                      <a:pt x="157410" y="150565"/>
                    </a:lnTo>
                    <a:moveTo>
                      <a:pt x="205317" y="0"/>
                    </a:moveTo>
                    <a:lnTo>
                      <a:pt x="205317" y="150565"/>
                    </a:lnTo>
                    <a:moveTo>
                      <a:pt x="246380" y="0"/>
                    </a:moveTo>
                    <a:lnTo>
                      <a:pt x="246380" y="150565"/>
                    </a:lnTo>
                    <a:moveTo>
                      <a:pt x="314819" y="0"/>
                    </a:moveTo>
                    <a:lnTo>
                      <a:pt x="314819" y="150565"/>
                    </a:lnTo>
                  </a:path>
                </a:pathLst>
              </a:custGeom>
              <a:noFill/>
              <a:ln w="20532" cap="rnd" cmpd="sng" algn="ctr">
                <a:solidFill>
                  <a:srgbClr val="243E42"/>
                </a:solidFill>
                <a:prstDash val="solid"/>
                <a:round/>
                <a:headEnd type="none" w="med" len="med"/>
                <a:tailEnd type="none" w="med" len="med"/>
              </a:ln>
            </p:spPr>
          </p:sp>
          <p:sp>
            <p:nvSpPr>
              <p:cNvPr id="1128" name="path · 122"/>
              <p:cNvSpPr/>
              <p:nvPr/>
            </p:nvSpPr>
            <p:spPr>
              <a:xfrm>
                <a:off x="8923796" y="4426373"/>
                <a:ext cx="438009" cy="520136"/>
              </a:xfrm>
              <a:custGeom>
                <a:avLst/>
                <a:gdLst/>
                <a:ahLst/>
                <a:cxnLst/>
                <a:rect l="0" t="0" r="r" b="b"/>
                <a:pathLst>
                  <a:path w="438009" h="520136" fill="norm" stroke="1" extrusionOk="0">
                    <a:moveTo>
                      <a:pt x="219005" y="0"/>
                    </a:moveTo>
                    <a:lnTo>
                      <a:pt x="438009" y="75283"/>
                    </a:lnTo>
                    <a:lnTo>
                      <a:pt x="438009" y="253224"/>
                    </a:lnTo>
                    <a:quadBezTo>
                      <a:pt x="438009" y="403790"/>
                      <a:pt x="219005" y="520136"/>
                    </a:quadBezTo>
                    <a:quadBezTo>
                      <a:pt x="0" y="403790"/>
                      <a:pt x="0" y="253224"/>
                    </a:quadBezTo>
                    <a:lnTo>
                      <a:pt x="0" y="75283"/>
                    </a:lnTo>
                    <a:close/>
                  </a:path>
                </a:pathLst>
              </a:custGeom>
              <a:solidFill>
                <a:srgbClr val="D7EBE1"/>
              </a:solidFill>
              <a:ln w="15057" cap="rnd" cmpd="sng" algn="ctr">
                <a:solidFill>
                  <a:srgbClr val="2E6653"/>
                </a:solidFill>
                <a:prstDash val="solid"/>
                <a:round/>
                <a:headEnd type="none" w="med" len="med"/>
                <a:tailEnd type="none" w="med" len="med"/>
              </a:ln>
            </p:spPr>
          </p:sp>
          <p:sp>
            <p:nvSpPr>
              <p:cNvPr id="1129" name="path · 123"/>
              <p:cNvSpPr/>
              <p:nvPr/>
            </p:nvSpPr>
            <p:spPr>
              <a:xfrm>
                <a:off x="9026454" y="4563251"/>
                <a:ext cx="232692" cy="177941"/>
              </a:xfrm>
              <a:custGeom>
                <a:avLst/>
                <a:gdLst/>
                <a:ahLst/>
                <a:cxnLst/>
                <a:rect l="0" t="0" r="r" b="b"/>
                <a:pathLst>
                  <a:path w="232692" h="177941" fill="none" stroke="1" extrusionOk="0">
                    <a:moveTo>
                      <a:pt x="0" y="102658"/>
                    </a:moveTo>
                    <a:lnTo>
                      <a:pt x="75283" y="177941"/>
                    </a:lnTo>
                    <a:lnTo>
                      <a:pt x="232693" y="0"/>
                    </a:lnTo>
                  </a:path>
                </a:pathLst>
              </a:custGeom>
              <a:noFill/>
              <a:ln w="34219" cap="rnd" cmpd="sng" algn="ctr">
                <a:solidFill>
                  <a:srgbClr val="2E6653"/>
                </a:solidFill>
                <a:prstDash val="solid"/>
                <a:round/>
                <a:headEnd type="none" w="med" len="med"/>
                <a:tailEnd type="none" w="med" len="med"/>
              </a:ln>
            </p:spPr>
          </p:sp>
        </p:grpSp>
        <p:grpSp>
          <p:nvGrpSpPr>
            <p:cNvPr id="1130" name="library-label-commit · 126"/>
            <p:cNvGrpSpPr/>
            <p:nvPr/>
          </p:nvGrpSpPr>
          <p:grpSpPr>
            <a:xfrm>
              <a:off x="8173083" y="5143624"/>
              <a:ext cx="1268735" cy="260226"/>
              <a:chOff x="8173083" y="5143624"/>
              <a:chExt cx="1268735" cy="260226"/>
            </a:xfrm>
          </p:grpSpPr>
          <p:sp>
            <p:nvSpPr>
              <p:cNvPr id="1131" name="text · 125"/>
              <p:cNvSpPr txBox="1"/>
              <p:nvPr/>
            </p:nvSpPr>
            <p:spPr>
              <a:xfrm>
                <a:off x="8171495" y="5143624"/>
                <a:ext cx="1271910"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Service result</a:t>
                </a:r>
                <a:endParaRPr lang="en-US" sz="1500"/>
              </a:p>
            </p:txBody>
          </p:sp>
        </p:grpSp>
        <p:grpSp>
          <p:nvGrpSpPr>
            <p:cNvPr id="1132" name="hold · 130"/>
            <p:cNvGrpSpPr/>
            <p:nvPr/>
          </p:nvGrpSpPr>
          <p:grpSpPr>
            <a:xfrm>
              <a:off x="10212917" y="4029428"/>
              <a:ext cx="821267" cy="821267"/>
              <a:chOff x="10212917" y="4029428"/>
              <a:chExt cx="821267" cy="821267"/>
            </a:xfrm>
          </p:grpSpPr>
          <p:sp>
            <p:nvSpPr>
              <p:cNvPr id="1133" name="circle · 127"/>
              <p:cNvSpPr/>
              <p:nvPr/>
            </p:nvSpPr>
            <p:spPr>
              <a:xfrm>
                <a:off x="10212917" y="4029428"/>
                <a:ext cx="821267" cy="821267"/>
              </a:xfrm>
              <a:prstGeom prst="ellipse">
                <a:avLst/>
              </a:prstGeom>
              <a:solidFill>
                <a:srgbClr val="F6EAC8"/>
              </a:solidFill>
              <a:ln w="20532" cap="rnd" cmpd="sng" algn="ctr">
                <a:solidFill>
                  <a:srgbClr val="7A6025"/>
                </a:solidFill>
                <a:prstDash val="solid"/>
                <a:round/>
                <a:headEnd type="none" w="med" len="med"/>
                <a:tailEnd type="none" w="med" len="med"/>
              </a:ln>
            </p:spPr>
          </p:sp>
          <p:sp>
            <p:nvSpPr>
              <p:cNvPr id="1134" name="rect · 128"/>
              <p:cNvSpPr/>
              <p:nvPr/>
            </p:nvSpPr>
            <p:spPr>
              <a:xfrm>
                <a:off x="10445609" y="4221057"/>
                <a:ext cx="123190" cy="444853"/>
              </a:xfrm>
              <a:prstGeom prst="roundRect">
                <a:avLst>
                  <a:gd name="adj" fmla="val 22222"/>
                </a:avLst>
              </a:prstGeom>
              <a:solidFill>
                <a:srgbClr val="7A6025"/>
              </a:solidFill>
              <a:ln>
                <a:noFill/>
              </a:ln>
            </p:spPr>
          </p:sp>
          <p:sp>
            <p:nvSpPr>
              <p:cNvPr id="1135" name="rect · 129"/>
              <p:cNvSpPr/>
              <p:nvPr/>
            </p:nvSpPr>
            <p:spPr>
              <a:xfrm>
                <a:off x="10685145" y="4221057"/>
                <a:ext cx="123190" cy="444853"/>
              </a:xfrm>
              <a:prstGeom prst="roundRect">
                <a:avLst>
                  <a:gd name="adj" fmla="val 22222"/>
                </a:avLst>
              </a:prstGeom>
              <a:solidFill>
                <a:srgbClr val="7A6025"/>
              </a:solidFill>
              <a:ln>
                <a:noFill/>
              </a:ln>
            </p:spPr>
          </p:sp>
        </p:grpSp>
        <p:grpSp>
          <p:nvGrpSpPr>
            <p:cNvPr id="1136" name="library-label-hold · 132"/>
            <p:cNvGrpSpPr/>
            <p:nvPr/>
          </p:nvGrpSpPr>
          <p:grpSpPr>
            <a:xfrm>
              <a:off x="10412574" y="5143624"/>
              <a:ext cx="421953" cy="260226"/>
              <a:chOff x="10412574" y="5143624"/>
              <a:chExt cx="421953" cy="260226"/>
            </a:xfrm>
          </p:grpSpPr>
          <p:sp>
            <p:nvSpPr>
              <p:cNvPr id="1137" name="text · 131"/>
              <p:cNvSpPr txBox="1"/>
              <p:nvPr/>
            </p:nvSpPr>
            <p:spPr>
              <a:xfrm>
                <a:off x="10410986" y="5143624"/>
                <a:ext cx="425128" cy="290706"/>
              </a:xfrm>
              <a:prstGeom prst="rect">
                <a:avLst/>
              </a:prstGeom>
              <a:noFill/>
              <a:ln>
                <a:noFill/>
              </a:ln>
            </p:spPr>
            <p:txBody>
              <a:bodyPr wrap="none" lIns="0" tIns="0" rIns="0" bIns="0" anchor="t" anchorCtr="0" vertOverflow="overflow" horzOverflow="overflow">
                <a:noAutofit/>
              </a:bodyPr>
              <a:lstStyle/>
              <a:p>
                <a:pPr algn="ctr" marL="0" marR="0" indent="0" fontAlgn="base">
                  <a:lnSpc>
                    <a:spcPts val="2049"/>
                  </a:lnSpc>
                  <a:spcBef>
                    <a:spcPts val="0"/>
                  </a:spcBef>
                  <a:spcAft>
                    <a:spcPts val="0"/>
                  </a:spcAft>
                </a:pPr>
                <a:r>
                  <a:rPr lang="en-US" sz="1500" b="1" i="0" kern="0" spc="0" dirty="0">
                    <a:solidFill>
                      <a:srgbClr val="243E42"/>
                    </a:solidFill>
                    <a:latin typeface="Manrope"/>
                    <a:ea typeface="Manrope"/>
                    <a:cs typeface="Manrope"/>
                  </a:rPr>
                  <a:t>Hold</a:t>
                </a:r>
                <a:endParaRPr lang="en-US" sz="1500"/>
              </a:p>
            </p:txBody>
          </p:sp>
        </p:grpSp>
      </p:grpSp>
      <p:grpSp>
        <p:nvGrpSpPr>
          <p:cNvPr id="1143" name="36 · source-line: Reusable vector components"/>
          <p:cNvGrpSpPr/>
          <p:nvPr/>
        </p:nvGrpSpPr>
        <p:grpSpPr>
          <a:xfrm>
            <a:off x="558800" y="6037898"/>
            <a:ext cx="11087100" cy="284456"/>
            <a:chOff x="558800" y="6037898"/>
            <a:chExt cx="11087100" cy="284456"/>
          </a:xfrm>
        </p:grpSpPr>
        <p:sp>
          <p:nvSpPr>
            <p:cNvPr id="1138" name="36 · source-line · top border [p36-e0009]"/>
            <p:cNvSpPr/>
            <p:nvPr/>
          </p:nvSpPr>
          <p:spPr>
            <a:xfrm>
              <a:off x="558800" y="6037898"/>
              <a:ext cx="11074400" cy="6"/>
            </a:xfrm>
            <a:custGeom>
              <a:avLst/>
              <a:gdLst/>
              <a:ahLst/>
              <a:cxnLst/>
              <a:rect l="0" t="0" r="r" b="b"/>
              <a:pathLst>
                <a:path w="11074400" h="6" fill="none" stroke="1">
                  <a:moveTo>
                    <a:pt x="0" y="0"/>
                  </a:moveTo>
                  <a:lnTo>
                    <a:pt x="11074400" y="0"/>
                  </a:lnTo>
                </a:path>
              </a:pathLst>
            </a:custGeom>
            <a:noFill/>
            <a:ln w="6350" cap="flat">
              <a:solidFill>
                <a:srgbClr val="90B8D3">
                  <a:alpha val="30196"/>
                </a:srgbClr>
              </a:solidFill>
              <a:prstDash val="solid"/>
            </a:ln>
          </p:spPr>
        </p:sp>
        <p:sp>
          <p:nvSpPr>
            <p:cNvPr id="1139" name="36 · span: Reusable vector components [p36-text-0009]" descr="Native editable Unicode text; authored line breaks retained."/>
            <p:cNvSpPr txBox="1"/>
            <p:nvPr/>
          </p:nvSpPr>
          <p:spPr>
            <a:xfrm>
              <a:off x="558800" y="6153126"/>
              <a:ext cx="1638734"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u="sng">
                  <a:solidFill>
                    <a:srgbClr val="315A7A"/>
                  </a:solidFill>
                  <a:latin typeface="Salesforce Sans"/>
                  <a:ea typeface="Salesforce Sans"/>
                  <a:cs typeface="Salesforce Sans"/>
                </a:rPr>
                <a:t>Reusable vector components</a:t>
              </a:r>
              <a:endParaRPr lang="en-US" sz="950" b="0" i="0" kern="0" spc="0" dirty="0" u="sng">
                <a:solidFill>
                  <a:srgbClr val="315A7A"/>
                </a:solidFill>
                <a:latin typeface="Salesforce Sans"/>
                <a:ea typeface="Salesforce Sans"/>
                <a:cs typeface="Salesforce Sans"/>
              </a:endParaRPr>
            </a:p>
          </p:txBody>
        </p:sp>
        <p:sp>
          <p:nvSpPr>
            <p:cNvPr id="1140" name="36 · span: Reusable vector objects · optional appendix [p36-text-0010]" descr="Native editable Unicode text; authored line breaks retained."/>
            <p:cNvSpPr txBox="1"/>
            <p:nvPr/>
          </p:nvSpPr>
          <p:spPr>
            <a:xfrm>
              <a:off x="9188289" y="6153126"/>
              <a:ext cx="2457611" cy="169228"/>
            </a:xfrm>
            <a:prstGeom prst="rect">
              <a:avLst/>
            </a:prstGeom>
            <a:noFill/>
            <a:ln>
              <a:noFill/>
            </a:ln>
          </p:spPr>
          <p:txBody>
            <a:bodyPr wrap="none" lIns="0" rIns="0" tIns="0" bIns="0" anchor="t" anchorCtr="0" vertOverflow="overflow" horzOverflow="overflow" spcFirstLastPara="0">
              <a:noAutofit/>
            </a:bodyPr>
            <a:lstStyle/>
            <a:p>
              <a:pPr marL="0" marR="0" indent="0" algn="l" fontAlgn="base">
                <a:lnSpc>
                  <a:spcPts val="1282"/>
                </a:lnSpc>
                <a:spcBef>
                  <a:spcPts val="0"/>
                </a:spcBef>
                <a:spcAft>
                  <a:spcPts val="0"/>
                </a:spcAft>
                <a:buNone/>
              </a:pPr>
              <a:r>
                <a:rPr lang="en-US" sz="950" b="0" i="0" kern="0" spc="0" dirty="0">
                  <a:solidFill>
                    <a:srgbClr val="315A7A"/>
                  </a:solidFill>
                  <a:latin typeface="Salesforce Sans"/>
                  <a:ea typeface="Salesforce Sans"/>
                  <a:cs typeface="Salesforce Sans"/>
                </a:rPr>
                <a:t>Reusable vector objects · optional appendix</a:t>
              </a:r>
              <a:endParaRPr lang="en-US" sz="950" b="0" i="0" kern="0" spc="0" dirty="0">
                <a:solidFill>
                  <a:srgbClr val="315A7A"/>
                </a:solidFill>
                <a:latin typeface="Salesforce Sans"/>
                <a:ea typeface="Salesforce Sans"/>
                <a:cs typeface="Salesforce Sans"/>
              </a:endParaRPr>
            </a:p>
          </p:txBody>
        </p:sp>
      </p:grpSp>
    </p:spTree>
  </p:cSld>
  <p:clrMapOvr>
    <a:masterClrMapping/>
  </p:clrMapOvr>
</p:sld>
</file>

<file path=ppt/theme/theme1.xml><?xml version="1.0" encoding="utf-8"?>
<a:theme xmlns:a="http://schemas.openxmlformats.org/drawingml/2006/main" xmlns:ns1="http://schemas.microsoft.com/office/thememl/2012/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lesforce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ns1:themeFamily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Building reliable Agentforce workflows · v5</dc:title>
  <dc:subject>Disaggregated intelligence for enterprise agentic reasoning</dc:subject>
  <dc:creator>Salesforce · tutorial</dc:creator>
  <cp:lastModifiedBy>Salesforce · tutorial</cp:lastModifiedBy>
  <cp:revision>1</cp:revision>
  <dcterms:created xsi:type="dcterms:W3CDTF">2026-09-29T09:09:51Z</dcterms:created>
  <dcterms:modified xsi:type="dcterms:W3CDTF">2026-09-29T09:09:51Z</dcterms:modified>
</cp:coreProperties>
</file>