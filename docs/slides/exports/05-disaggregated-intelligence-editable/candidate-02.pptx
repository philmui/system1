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slideMasters/slideMaster12.xml" ContentType="application/vnd.openxmlformats-officedocument.presentationml.slideMaster+xml"/>
  <ns0:Override PartName="/ppt/slides/slide12.xml" ContentType="application/vnd.openxmlformats-officedocument.presentationml.slide+xml"/>
  <ns0:Override PartName="/ppt/slideMasters/slideMaster13.xml" ContentType="application/vnd.openxmlformats-officedocument.presentationml.slideMaster+xml"/>
  <ns0:Override PartName="/ppt/slides/slide13.xml" ContentType="application/vnd.openxmlformats-officedocument.presentationml.slide+xml"/>
  <ns0:Override PartName="/ppt/slideMasters/slideMaster14.xml" ContentType="application/vnd.openxmlformats-officedocument.presentationml.slideMaster+xml"/>
  <ns0:Override PartName="/ppt/slides/slide14.xml" ContentType="application/vnd.openxmlformats-officedocument.presentationml.slide+xml"/>
  <ns0:Override PartName="/ppt/slideMasters/slideMaster15.xml" ContentType="application/vnd.openxmlformats-officedocument.presentationml.slideMaster+xml"/>
  <ns0:Override PartName="/ppt/slides/slide15.xml" ContentType="application/vnd.openxmlformats-officedocument.presentationml.slide+xml"/>
  <ns0:Override PartName="/ppt/slideMasters/slideMaster16.xml" ContentType="application/vnd.openxmlformats-officedocument.presentationml.slideMaster+xml"/>
  <ns0:Override PartName="/ppt/slides/slide16.xml" ContentType="application/vnd.openxmlformats-officedocument.presentationml.slide+xml"/>
  <ns0:Override PartName="/ppt/slideMasters/slideMaster17.xml" ContentType="application/vnd.openxmlformats-officedocument.presentationml.slideMaster+xml"/>
  <ns0:Override PartName="/ppt/slides/slide17.xml" ContentType="application/vnd.openxmlformats-officedocument.presentationml.slide+xml"/>
  <ns0:Override PartName="/ppt/slideMasters/slideMaster18.xml" ContentType="application/vnd.openxmlformats-officedocument.presentationml.slideMaster+xml"/>
  <ns0:Override PartName="/ppt/slides/slide18.xml" ContentType="application/vnd.openxmlformats-officedocument.presentationml.slide+xml"/>
  <ns0:Override PartName="/ppt/slideMasters/slideMaster19.xml" ContentType="application/vnd.openxmlformats-officedocument.presentationml.slideMaster+xml"/>
  <ns0:Override PartName="/ppt/slides/slide19.xml" ContentType="application/vnd.openxmlformats-officedocument.presentationml.slide+xml"/>
  <ns0:Override PartName="/ppt/slideMasters/slideMaster20.xml" ContentType="application/vnd.openxmlformats-officedocument.presentationml.slideMaster+xml"/>
  <ns0:Override PartName="/ppt/slides/slide20.xml" ContentType="application/vnd.openxmlformats-officedocument.presentationml.slide+xml"/>
  <ns0:Override PartName="/ppt/slideMasters/slideMaster21.xml" ContentType="application/vnd.openxmlformats-officedocument.presentationml.slideMaster+xml"/>
  <ns0:Override PartName="/ppt/slides/slide21.xml" ContentType="application/vnd.openxmlformats-officedocument.presentationml.slide+xml"/>
  <ns0:Override PartName="/ppt/slideMasters/slideMaster22.xml" ContentType="application/vnd.openxmlformats-officedocument.presentationml.slideMaster+xml"/>
  <ns0:Override PartName="/ppt/slides/slide22.xml" ContentType="application/vnd.openxmlformats-officedocument.presentationml.slide+xml"/>
  <ns0:Override PartName="/ppt/slideMasters/slideMaster23.xml" ContentType="application/vnd.openxmlformats-officedocument.presentationml.slideMaster+xml"/>
  <ns0:Override PartName="/ppt/slides/slide23.xml" ContentType="application/vnd.openxmlformats-officedocument.presentationml.slide+xml"/>
  <ns0:Override PartName="/ppt/slideMasters/slideMaster24.xml" ContentType="application/vnd.openxmlformats-officedocument.presentationml.slideMaster+xml"/>
  <ns0:Override PartName="/ppt/slides/slide24.xml" ContentType="application/vnd.openxmlformats-officedocument.presentationml.slide+xml"/>
  <ns0:Override PartName="/ppt/slideMasters/slideMaster25.xml" ContentType="application/vnd.openxmlformats-officedocument.presentationml.slideMaster+xml"/>
  <ns0:Override PartName="/ppt/slides/slide25.xml" ContentType="application/vnd.openxmlformats-officedocument.presentationml.slide+xml"/>
  <ns0:Override PartName="/ppt/slideMasters/slideMaster26.xml" ContentType="application/vnd.openxmlformats-officedocument.presentationml.slideMaster+xml"/>
  <ns0:Override PartName="/ppt/slides/slide26.xml" ContentType="application/vnd.openxmlformats-officedocument.presentationml.slide+xml"/>
  <ns0:Override PartName="/ppt/slideMasters/slideMaster27.xml" ContentType="application/vnd.openxmlformats-officedocument.presentationml.slideMaster+xml"/>
  <ns0:Override PartName="/ppt/slides/slide27.xml" ContentType="application/vnd.openxmlformats-officedocument.presentationml.slide+xml"/>
  <ns0:Override PartName="/ppt/slideMasters/slideMaster28.xml" ContentType="application/vnd.openxmlformats-officedocument.presentationml.slideMaster+xml"/>
  <ns0:Override PartName="/ppt/slides/slide28.xml" ContentType="application/vnd.openxmlformats-officedocument.presentationml.slide+xml"/>
  <ns0:Override PartName="/ppt/slideMasters/slideMaster29.xml" ContentType="application/vnd.openxmlformats-officedocument.presentationml.slideMaster+xml"/>
  <ns0:Override PartName="/ppt/slides/slide29.xml" ContentType="application/vnd.openxmlformats-officedocument.presentationml.slide+xml"/>
  <ns0:Override PartName="/ppt/slideMasters/slideMaster30.xml" ContentType="application/vnd.openxmlformats-officedocument.presentationml.slideMaster+xml"/>
  <ns0:Override PartName="/ppt/slides/slide30.xml" ContentType="application/vnd.openxmlformats-officedocument.presentationml.slide+xml"/>
  <ns0:Override PartName="/ppt/slideMasters/slideMaster31.xml" ContentType="application/vnd.openxmlformats-officedocument.presentationml.slideMaster+xml"/>
  <ns0:Override PartName="/ppt/slides/slide31.xml" ContentType="application/vnd.openxmlformats-officedocument.presentationml.slide+xml"/>
  <ns0:Override PartName="/ppt/slideMasters/slideMaster32.xml" ContentType="application/vnd.openxmlformats-officedocument.presentationml.slideMaster+xml"/>
  <ns0:Override PartName="/ppt/slides/slide32.xml" ContentType="application/vnd.openxmlformats-officedocument.presentationml.slide+xml"/>
  <ns0:Override PartName="/ppt/slideMasters/slideMaster33.xml" ContentType="application/vnd.openxmlformats-officedocument.presentationml.slideMaster+xml"/>
  <ns0:Override PartName="/ppt/slides/slide33.xml" ContentType="application/vnd.openxmlformats-officedocument.presentationml.slide+xml"/>
  <ns0:Override PartName="/ppt/slideMasters/slideMaster34.xml" ContentType="application/vnd.openxmlformats-officedocument.presentationml.slideMaster+xml"/>
  <ns0:Override PartName="/ppt/slides/slide34.xml" ContentType="application/vnd.openxmlformats-officedocument.presentationml.slide+xml"/>
  <ns0:Override PartName="/ppt/slideMasters/slideMaster35.xml" ContentType="application/vnd.openxmlformats-officedocument.presentationml.slideMaster+xml"/>
  <ns0:Override PartName="/ppt/slides/slide35.xml" ContentType="application/vnd.openxmlformats-officedocument.presentationml.slide+xml"/>
  <ns0:Override PartName="/ppt/slideMasters/slideMaster36.xml" ContentType="application/vnd.openxmlformats-officedocument.presentationml.slideMaster+xml"/>
  <ns0:Override PartName="/ppt/slides/slide36.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notesSlides/notesSlide21.xml" ContentType="application/vnd.openxmlformats-officedocument.presentationml.notesSlide+xml"/>
  <ns0:Override PartName="/ppt/notesSlides/notesSlide22.xml" ContentType="application/vnd.openxmlformats-officedocument.presentationml.notesSlide+xml"/>
  <ns0:Override PartName="/ppt/notesSlides/notesSlide23.xml" ContentType="application/vnd.openxmlformats-officedocument.presentationml.notesSlide+xml"/>
  <ns0:Override PartName="/ppt/notesSlides/notesSlide24.xml" ContentType="application/vnd.openxmlformats-officedocument.presentationml.notesSlide+xml"/>
  <ns0:Override PartName="/ppt/notesSlides/notesSlide25.xml" ContentType="application/vnd.openxmlformats-officedocument.presentationml.notesSlide+xml"/>
  <ns0:Override PartName="/ppt/notesSlides/notesSlide26.xml" ContentType="application/vnd.openxmlformats-officedocument.presentationml.notesSlide+xml"/>
  <ns0:Override PartName="/ppt/notesSlides/notesSlide27.xml" ContentType="application/vnd.openxmlformats-officedocument.presentationml.notesSlide+xml"/>
  <ns0:Override PartName="/ppt/notesSlides/notesSlide28.xml" ContentType="application/vnd.openxmlformats-officedocument.presentationml.notesSlide+xml"/>
  <ns0:Override PartName="/ppt/notesSlides/notesSlide29.xml" ContentType="application/vnd.openxmlformats-officedocument.presentationml.notesSlide+xml"/>
  <ns0:Override PartName="/ppt/notesSlides/notesSlide30.xml" ContentType="application/vnd.openxmlformats-officedocument.presentationml.notesSlide+xml"/>
  <ns0:Override PartName="/ppt/notesSlides/notesSlide31.xml" ContentType="application/vnd.openxmlformats-officedocument.presentationml.notesSlide+xml"/>
  <ns0:Override PartName="/ppt/notesSlides/notesSlide32.xml" ContentType="application/vnd.openxmlformats-officedocument.presentationml.notesSlide+xml"/>
  <ns0:Override PartName="/ppt/notesSlides/notesSlide33.xml" ContentType="application/vnd.openxmlformats-officedocument.presentationml.notesSlide+xml"/>
  <ns0:Override PartName="/ppt/notesSlides/notesSlide34.xml" ContentType="application/vnd.openxmlformats-officedocument.presentationml.notesSlide+xml"/>
  <ns0:Override PartName="/ppt/notesSlides/notesSlide35.xml" ContentType="application/vnd.openxmlformats-officedocument.presentationml.notesSlide+xml"/>
  <ns0:Override PartName="/ppt/notesSlides/notesSlide36.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ns2:creationId val="1024086991"/>
      </p:ext>
    </p:extLst>
  </p:cSld>
  <p:clrMapOvr>
    <a:masterClrMapping/>
  </p:clrMapOvr>
</p:notes>
</file>

<file path=ppt/notesSlides/notesSlide1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ns2:creationId val="1024086991"/>
      </p:ext>
    </p:extLst>
  </p:cSld>
  <p:clrMapOvr>
    <a:masterClrMapping/>
  </p:clrMapOvr>
</p:notes>
</file>

<file path=ppt/notesSlides/notesSlide2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ns2:creationId val="1024086991"/>
      </p:ext>
    </p:extLst>
  </p:cSld>
  <p:clrMapOvr>
    <a:masterClrMapping/>
  </p:clrMapOvr>
</p:notes>
</file>

<file path=ppt/notesSlides/notesSlide2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ns2:creationId val="1024086991"/>
      </p:ext>
    </p:extLst>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ns2:creationId val="1024086991"/>
      </p:ext>
    </p:extLst>
  </p:cSld>
  <p:clrMapOvr>
    <a:masterClrMapping/>
  </p:clrMapOvr>
</p:notes>
</file>

<file path=ppt/notesSlides/notesSlide2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ns2:creationId val="1024086991"/>
      </p:ext>
    </p:extLst>
  </p:cSld>
  <p:clrMapOvr>
    <a:masterClrMapping/>
  </p:clrMapOvr>
</p:notes>
</file>

<file path=ppt/notesSlides/notesSlide2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ns2:creationId val="1024086991"/>
      </p:ext>
    </p:extLst>
  </p:cSld>
  <p:clrMapOvr>
    <a:masterClrMapping/>
  </p:clrMapOvr>
</p:notes>
</file>

<file path=ppt/notesSlides/notesSlide2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ns2:creationId val="1024086991"/>
      </p:ext>
    </p:extLst>
  </p:cSld>
  <p:clrMapOvr>
    <a:masterClrMapping/>
  </p:clrMapOvr>
</p:notes>
</file>

<file path=ppt/notesSlides/notesSlide2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ns2:creationId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ns2:creationId val="1024086991"/>
      </p:ext>
    </p:extLst>
  </p:cSld>
  <p:clrMapOvr>
    <a:masterClrMapping/>
  </p:clrMapOvr>
</p:notes>
</file>

<file path=ppt/notesSlides/notesSlide3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ns2:creationId val="1024086991"/>
      </p:ext>
    </p:extLst>
  </p:cSld>
  <p:clrMapOvr>
    <a:masterClrMapping/>
  </p:clrMapOvr>
</p:notes>
</file>

<file path=ppt/notesSlides/notesSlide3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ns2:creationId val="1024086991"/>
      </p:ext>
    </p:extLst>
  </p:cSld>
  <p:clrMapOvr>
    <a:masterClrMapping/>
  </p:clrMapOvr>
</p:notes>
</file>

<file path=ppt/notesSlides/notesSlide3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ns2:creationId val="1024086991"/>
      </p:ext>
    </p:extLst>
  </p:cSld>
  <p:clrMapOvr>
    <a:masterClrMapping/>
  </p:clrMapOvr>
</p:notes>
</file>

<file path=ppt/notesSlides/notesSlide3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ns2:creationId val="1024086991"/>
      </p:ext>
    </p:extLst>
  </p:cSld>
  <p:clrMapOvr>
    <a:masterClrMapping/>
  </p:clrMapOvr>
</p:notes>
</file>

<file path=ppt/notesSlides/notesSlide3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ns2:creationId val="1024086991"/>
      </p:ext>
    </p:extLst>
  </p:cSld>
  <p:clrMapOvr>
    <a:masterClrMapping/>
  </p:clrMapOvr>
</p:notes>
</file>

<file path=ppt/notesSlides/notesSlide3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ns2:creationId val="1024086991"/>
      </p:ext>
    </p:extLst>
  </p:cSld>
  <p:clrMapOvr>
    <a:masterClrMapping/>
  </p:clrMapOvr>
</p:notes>
</file>

<file path=ppt/notesSlides/notesSlide3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calendars and shipping values are native editable PowerPoint text. Illustration parts are native shapes; speaker notes remain editable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typesafe.ai/manifesto" TargetMode="External" /><ns0:Relationship Id="rId5" Type="http://schemas.openxmlformats.org/officeDocument/2006/relationships/slideLayout" Target="../slideLayouts/slideLayout1.xml" /><ns0:Relationship Id="rId6"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engineering.salesforce.com/agentforces-agent-graph-toward-guided-determinism-with-hybrid-reasoning/" TargetMode="External" /><ns0:Relationship Id="rId5" Type="http://schemas.openxmlformats.org/officeDocument/2006/relationships/slideLayout" Target="../slideLayouts/slideLayout1.xml" /><ns0:Relationship Id="rId6"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www.langchain.com/blog/building-prod-with-jev-and-langgraph" TargetMode="External" /><ns0:Relationship Id="rId6" Type="http://schemas.openxmlformats.org/officeDocument/2006/relationships/slideLayout" Target="../slideLayouts/slideLayout1.xml" /><ns0:Relationship Id="rId7"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patterns/intent-routing" TargetMode="External" /><ns0:Relationship Id="rId6" Type="http://schemas.openxmlformats.org/officeDocument/2006/relationships/slideLayout" Target="../slideLayouts/slideLayout1.xml" /><ns0:Relationship Id="rId7"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3" Type="http://schemas.openxmlformats.org/officeDocument/2006/relationships/hyperlink" Target="https://docs.typesafe.ai/patterns/intent-rout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3" Type="http://schemas.openxmlformats.org/officeDocument/2006/relationships/hyperlink" Target="https://www.langchain.com/blog/deep-agents-vs-langchain-vs-langgraph"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atterns/intent-routing" TargetMode="External" /><ns0:Relationship Id="rId5" Type="http://schemas.openxmlformats.org/officeDocument/2006/relationships/hyperlink" Target="https://docs.typesafe.ai/primitives/advanced" TargetMode="External" /><ns0:Relationship Id="rId6" Type="http://schemas.openxmlformats.org/officeDocument/2006/relationships/slideLayout" Target="../slideLayouts/slideLayout1.xml" /><ns0:Relationship Id="rId7"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rimitives/noul" TargetMode="External" /><ns0:Relationship Id="rId5" Type="http://schemas.openxmlformats.org/officeDocument/2006/relationships/hyperlink" Target="https://docs.typesafe.ai/primitives/score" TargetMode="External" /><ns0:Relationship Id="rId6" Type="http://schemas.openxmlformats.org/officeDocument/2006/relationships/slideLayout" Target="../slideLayouts/slideLayout1.xml" /><ns0:Relationship Id="rId7"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3" Type="http://schemas.openxmlformats.org/officeDocument/2006/relationships/hyperlink" Target="https://docs.typesafe.ai/primitives/noul" TargetMode="External" /><ns0:Relationship Id="rId4" Type="http://schemas.openxmlformats.org/officeDocument/2006/relationships/hyperlink" Target="https://docs.typesafe.ai/primitives/score" TargetMode="External" /><ns0:Relationship Id="rId5" Type="http://schemas.openxmlformats.org/officeDocument/2006/relationships/slideLayout" Target="../slideLayouts/slideLayout1.xml" /><ns0:Relationship Id="rId6"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slideLayout" Target="../slideLayouts/slideLayout1.xml" /><ns0:Relationship Id="rId5"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hyperlink" Target="https://www.langchain.com/blog/building-a-harness-with-jev" TargetMode="External" /><ns0:Relationship Id="rId5" Type="http://schemas.openxmlformats.org/officeDocument/2006/relationships/slideLayout" Target="../slideLayouts/slideLayout1.xml" /><ns0:Relationship Id="rId6"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concepts/how-to-build-with-system-one" TargetMode="External" /><ns0:Relationship Id="rId6" Type="http://schemas.openxmlformats.org/officeDocument/2006/relationships/slideLayout" Target="../slideLayouts/slideLayout1.xml" /><ns0:Relationship Id="rId7"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17.xml" /></ns0:Relationships>
</file>

<file path=ppt/slides/_rels/slide18.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3" Type="http://schemas.openxmlformats.org/officeDocument/2006/relationships/hyperlink" Target="https://www.salesforce.com/blog/agent-script-control-plan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19.xml" /></ns0:Relationships>
</file>

<file path=ppt/slides/_rels/slide20.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slideLayout" Target="../slideLayouts/slideLayout1.xml" /><ns0:Relationship Id="rId6" Type="http://schemas.openxmlformats.org/officeDocument/2006/relationships/notesSlide" Target="../notesSlides/notesSlide20.xml" /></ns0:Relationships>
</file>

<file path=ppt/slides/_rels/slide21.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3.xml" /></ns0:Relationships>
</file>

<file path=ppt/slides/_rels/slide24.xml.rels><?xml version='1.0' encoding='utf-8'?>
<ns0:Relationships xmlns:ns0="http://schemas.openxmlformats.org/package/2006/relationships"><ns0:Relationship Id="rId3" Type="http://schemas.openxmlformats.org/officeDocument/2006/relationships/hyperlink" Target="https://typesafe.ai/manifesto" TargetMode="External" /><ns0:Relationship Id="rId4" Type="http://schemas.openxmlformats.org/officeDocument/2006/relationships/hyperlink" Target="https://docs.typesafe.ai/concepts/how-to-build-with-system-one" TargetMode="External" /><ns0:Relationship Id="rId5" Type="http://schemas.openxmlformats.org/officeDocument/2006/relationships/slideLayout" Target="../slideLayouts/slideLayout1.xml" /><ns0:Relationship Id="rId6" Type="http://schemas.openxmlformats.org/officeDocument/2006/relationships/notesSlide" Target="../notesSlides/notesSlide24.xml" /></ns0:Relationships>
</file>

<file path=ppt/slides/_rels/slide2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slideLayout" Target="../slideLayouts/slideLayout1.xml" /><ns0:Relationship Id="rId5" Type="http://schemas.openxmlformats.org/officeDocument/2006/relationships/notesSlide" Target="../notesSlides/notesSlide25.xml" /></ns0:Relationships>
</file>

<file path=ppt/slides/_rels/slide2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26.xml" /></ns0:Relationships>
</file>

<file path=ppt/slides/_rels/slide27.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7.xml" /></ns0:Relationships>
</file>

<file path=ppt/slides/_rels/slide28.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8.xml" /></ns0:Relationships>
</file>

<file path=ppt/slides/_rels/slide2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9.xml" /></ns0:Relationships>
</file>

<file path=ppt/slides/_rels/slide30.xml.rels><?xml version='1.0' encoding='utf-8'?>
<ns0:Relationships xmlns:ns0="http://schemas.openxmlformats.org/package/2006/relationships"><ns0:Relationship Id="rId3" Type="http://schemas.openxmlformats.org/officeDocument/2006/relationships/hyperlink" Target="https://www.langchain.com/blog/jev-agent-evals-langsmith" TargetMode="External" /><ns0:Relationship Id="rId4" Type="http://schemas.openxmlformats.org/officeDocument/2006/relationships/slideLayout" Target="../slideLayouts/slideLayout1.xml" /><ns0:Relationship Id="rId5" Type="http://schemas.openxmlformats.org/officeDocument/2006/relationships/notesSlide" Target="../notesSlides/notesSlide30.xml" /></ns0:Relationships>
</file>

<file path=ppt/slides/_rels/slide31.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1.xml" /></ns0:Relationships>
</file>

<file path=ppt/slides/_rels/slide32.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2.xml" /></ns0:Relationships>
</file>

<file path=ppt/slides/_rels/slide33.xml.rels><?xml version='1.0' encoding='utf-8'?>
<ns0:Relationships xmlns:ns0="http://schemas.openxmlformats.org/package/2006/relationships"><ns0:Relationship Id="rId3" Type="http://schemas.openxmlformats.org/officeDocument/2006/relationships/hyperlink" Target="https://www.langchain.com/blog/jev-is-now-available-in-langsmith-evals" TargetMode="External" /><ns0:Relationship Id="rId4" Type="http://schemas.openxmlformats.org/officeDocument/2006/relationships/hyperlink" Target="https://www.langchain.com/blog/jev-agent-evals-langsmith" TargetMode="External" /><ns0:Relationship Id="rId5" Type="http://schemas.openxmlformats.org/officeDocument/2006/relationships/slideLayout" Target="../slideLayouts/slideLayout1.xml" /><ns0:Relationship Id="rId6" Type="http://schemas.openxmlformats.org/officeDocument/2006/relationships/notesSlide" Target="../notesSlides/notesSlide33.xml" /></ns0:Relationships>
</file>

<file path=ppt/slides/_rels/slide3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34.xml" /></ns0:Relationships>
</file>

<file path=ppt/slides/_rels/slide35.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hyperlink" Target="https://www.salesforce.com/blog/agent-script-control-plane/" TargetMode="External" /><ns0:Relationship Id="rId6" Type="http://schemas.openxmlformats.org/officeDocument/2006/relationships/hyperlink" Target="https://github.com/salesforce/agentscript/blob/main/SPEC.md" TargetMode="External" /><ns0:Relationship Id="rId7" Type="http://schemas.openxmlformats.org/officeDocument/2006/relationships/hyperlink" Target="https://www.langchain.com/blog/building-prod-with-jev-and-langgraph" TargetMode="External" /><ns0:Relationship Id="rId8" Type="http://schemas.openxmlformats.org/officeDocument/2006/relationships/hyperlink" Target="https://www.langchain.com/blog/building-a-harness-with-jev" TargetMode="External" /><ns0:Relationship Id="rId9" Type="http://schemas.openxmlformats.org/officeDocument/2006/relationships/hyperlink" Target="https://www.langchain.com/blog/jev-is-now-available-in-langsmith-evals" TargetMode="External" /><ns0:Relationship Id="rId10" Type="http://schemas.openxmlformats.org/officeDocument/2006/relationships/hyperlink" Target="https://www.langchain.com/blog/jev-agent-evals-langsmith" TargetMode="External" /><ns0:Relationship Id="rId11" Type="http://schemas.openxmlformats.org/officeDocument/2006/relationships/hyperlink" Target="https://www.langchain.com/blog/deep-agents-vs-langchain-vs-langgraph" TargetMode="External" /><ns0:Relationship Id="rId12" Type="http://schemas.openxmlformats.org/officeDocument/2006/relationships/hyperlink" Target="https://typesafe.ai/manifesto" TargetMode="External" /><ns0:Relationship Id="rId13" Type="http://schemas.openxmlformats.org/officeDocument/2006/relationships/hyperlink" Target="https://docs.typesafe.ai/introduction/quickstart" TargetMode="External" /><ns0:Relationship Id="rId14" Type="http://schemas.openxmlformats.org/officeDocument/2006/relationships/hyperlink" Target="https://docs.typesafe.ai/patterns/confidence-routing" TargetMode="External" /><ns0:Relationship Id="rId15" Type="http://schemas.openxmlformats.org/officeDocument/2006/relationships/hyperlink" Target="https://docs.typesafe.ai/patterns/intent-routing" TargetMode="External" /><ns0:Relationship Id="rId16" Type="http://schemas.openxmlformats.org/officeDocument/2006/relationships/hyperlink" Target="https://docs.typesafe.ai/primitives/advanced" TargetMode="External" /><ns0:Relationship Id="rId17" Type="http://schemas.openxmlformats.org/officeDocument/2006/relationships/hyperlink" Target="https://docs.typesafe.ai/concepts/how-to-build-with-system-one" TargetMode="External" /><ns0:Relationship Id="rId18" Type="http://schemas.openxmlformats.org/officeDocument/2006/relationships/hyperlink" Target="https://everythingagents.org/topics/guided-determinism" TargetMode="External" /><ns0:Relationship Id="rId19" Type="http://schemas.openxmlformats.org/officeDocument/2006/relationships/hyperlink" Target="https://docs.typesafe.ai/confidence" TargetMode="External" /><ns0:Relationship Id="rId20" Type="http://schemas.openxmlformats.org/officeDocument/2006/relationships/slideLayout" Target="../slideLayouts/slideLayout1.xml" /><ns0:Relationship Id="rId21" Type="http://schemas.openxmlformats.org/officeDocument/2006/relationships/notesSlide" Target="../notesSlides/notesSlide35.xml" /></ns0:Relationships>
</file>

<file path=ppt/slides/_rels/slide36.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6.xml" /></ns0:Relationships>
</file>

<file path=ppt/slides/slide1.xml><?xml version="1.0" encoding="utf-8"?>
<p:sld xmlns:a="http://schemas.openxmlformats.org/drawingml/2006/main" xmlns:p="http://schemas.openxmlformats.org/presentationml/2006/main" xmlns:r="http://schemas.openxmlformats.org/officeDocument/2006/relationships">
  <p:cSld name="Disaggregated intelligence">
    <p:bg>
      <p:bgPr>
        <a:solidFill>
          <a:srgbClr val="FFFFFF"/>
        </a:solidFill>
      </p:bgPr>
    </p:bg>
    <p:spTree>
      <p:nvGrpSpPr>
        <p:cNvPr id="1" name=""/>
        <p:cNvGrpSpPr/>
        <p:nvPr/>
      </p:nvGrpSpPr>
      <p:grpSpPr>
        <a:xfrm>
          <a:off x="0" y="0"/>
          <a:ext cx="0" cy="0"/>
          <a:chOff x="0" y="0"/>
          <a:chExt cx="0" cy="0"/>
        </a:xfrm>
      </p:grpSpPr>
      <p:sp>
        <p:nvSpPr>
          <p:cNvPr id="1000" name="01 · slide hero light split · surface [p01-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42" name="01 · chrome-min: DISAGGREGATED INTELLIGENCE"/>
          <p:cNvGrpSpPr/>
          <p:nvPr/>
        </p:nvGrpSpPr>
        <p:grpSpPr>
          <a:xfrm>
            <a:off x="558800" y="356053"/>
            <a:ext cx="11087100" cy="187325"/>
            <a:chOff x="558800" y="356053"/>
            <a:chExt cx="11087100" cy="187325"/>
          </a:xfrm>
        </p:grpSpPr>
        <p:sp>
          <p:nvSpPr>
            <p:cNvPr id="1001" name="01 · l: DISAGGREGATED INTELLIGENCE [p0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1 · r: 01 / 36 [p0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01 / 36</a:t>
              </a:r>
              <a:endParaRPr lang="en-US" sz="950" b="1" i="0" kern="0" spc="65" dirty="0">
                <a:solidFill>
                  <a:srgbClr val="022AC0"/>
                </a:solidFill>
                <a:latin typeface="Salesforce Sans"/>
                <a:ea typeface="Salesforce Sans"/>
                <a:cs typeface="Salesforce Sans"/>
              </a:endParaRPr>
            </a:p>
          </p:txBody>
        </p:sp>
      </p:grpSp>
      <p:sp>
        <p:nvSpPr>
          <p:cNvPr id="1003" name="01 · opening-main: Disaggregated intelligence [p01-text-0013]" descr="Native editable Unicode text; authored line breaks retained."/>
          <p:cNvSpPr txBox="1"/>
          <p:nvPr/>
        </p:nvSpPr>
        <p:spPr>
          <a:xfrm>
            <a:off x="558800" y="1539658"/>
            <a:ext cx="5666740" cy="175239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Disaggregated</a:t>
            </a:r>
            <a:endParaRPr lang="en-US" sz="5400" b="1" i="0" kern="0" spc="-160" dirty="0">
              <a:solidFill>
                <a:srgbClr val="022AC0"/>
              </a:solidFill>
              <a:latin typeface="Manrope"/>
              <a:ea typeface="Manrope"/>
              <a:cs typeface="Manrope"/>
            </a:endParaRPr>
          </a:p>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intelligence</a:t>
            </a:r>
            <a:endParaRPr lang="en-US" sz="5400" b="1" i="0" kern="0" spc="-160" dirty="0">
              <a:solidFill>
                <a:srgbClr val="022AC0"/>
              </a:solidFill>
              <a:latin typeface="Manrope"/>
              <a:ea typeface="Manrope"/>
              <a:cs typeface="Manrope"/>
            </a:endParaRPr>
          </a:p>
        </p:txBody>
      </p:sp>
      <p:sp>
        <p:nvSpPr>
          <p:cNvPr id="1004" name="01 · opening-text-1: Fast, focused judgment by default. Frontier reasoning for the exceptions. [p01-text-0014]" descr="Native editable Unicode text; authored line breaks retained."/>
          <p:cNvSpPr txBox="1"/>
          <p:nvPr/>
        </p:nvSpPr>
        <p:spPr>
          <a:xfrm>
            <a:off x="558800" y="4756722"/>
            <a:ext cx="566674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Fast, focused judgment by default.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Frontier reasoning for the exceptions.</a:t>
            </a:r>
            <a:endParaRPr lang="en-US" sz="1250" b="0" i="0" kern="0" spc="0" dirty="0">
              <a:solidFill>
                <a:srgbClr val="032D60"/>
              </a:solidFill>
              <a:latin typeface="Salesforce Sans"/>
              <a:ea typeface="Salesforce Sans"/>
              <a:cs typeface="Salesforce Sans"/>
            </a:endParaRPr>
          </a:p>
        </p:txBody>
      </p:sp>
      <p:grpSp>
        <p:nvGrpSpPr>
          <p:cNvPr id="1043" name="01 · lead: Enterprise reasoning with koa-action, Agent Graph and AgentScript."/>
          <p:cNvGrpSpPr/>
          <p:nvPr/>
        </p:nvGrpSpPr>
        <p:grpSpPr>
          <a:xfrm>
            <a:off x="558800" y="3490164"/>
            <a:ext cx="5666740" cy="1019810"/>
            <a:chOff x="558800" y="3490164"/>
            <a:chExt cx="5666740" cy="1019810"/>
          </a:xfrm>
        </p:grpSpPr>
        <p:sp>
          <p:nvSpPr>
            <p:cNvPr id="1005" name="01 · code · surface [p01-e0011]"/>
            <p:cNvSpPr/>
            <p:nvPr/>
          </p:nvSpPr>
          <p:spPr>
            <a:xfrm>
              <a:off x="558800" y="3862046"/>
              <a:ext cx="1393238" cy="245933"/>
            </a:xfrm>
            <a:prstGeom prst="roundRect">
              <a:avLst>
                <a:gd name="adj" fmla="val 15492"/>
              </a:avLst>
            </a:prstGeom>
            <a:solidFill>
              <a:srgbClr val="FFFFFF">
                <a:alpha val="56659"/>
              </a:srgbClr>
            </a:solidFill>
            <a:ln>
              <a:noFill/>
            </a:ln>
          </p:spPr>
        </p:sp>
        <p:sp>
          <p:nvSpPr>
            <p:cNvPr id="1006" name="01 · opening-sub: Enterprise reasoning with koa-action, Agent Graph and AgentScript. [p01-text-0015]" descr="Native editable Unicode text; authored line breaks retained."/>
            <p:cNvSpPr txBox="1"/>
            <p:nvPr/>
          </p:nvSpPr>
          <p:spPr>
            <a:xfrm>
              <a:off x="558800" y="3490164"/>
              <a:ext cx="566674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Enterprise reasoning with</a:t>
              </a:r>
              <a:endParaRPr lang="en-US" sz="1900" b="0" i="0" kern="0" spc="-10" dirty="0">
                <a:solidFill>
                  <a:srgbClr val="032D60">
                    <a:alpha val="86000"/>
                  </a:srgbClr>
                </a:solidFill>
                <a:latin typeface="Salesforce Sans"/>
                <a:ea typeface="Salesforce Sans"/>
                <a:cs typeface="Salesforce Sans"/>
              </a:endParaRPr>
            </a:p>
            <a:p>
              <a:pPr marL="43917" marR="0" indent="0" algn="l" fontAlgn="base">
                <a:lnSpc>
                  <a:spcPts val="2660"/>
                </a:lnSpc>
                <a:spcBef>
                  <a:spcPts val="0"/>
                </a:spcBef>
                <a:spcAft>
                  <a:spcPts val="0"/>
                </a:spcAft>
                <a:buNone/>
                <a:tabLst>
                  <a:tab pos="1393238" algn="l"/>
                </a:tabLst>
              </a:pPr>
              <a:r>
                <a:rPr lang="en-US" sz="1729" b="0" i="0" kern="0" spc="-10" dirty="0">
                  <a:solidFill>
                    <a:srgbClr val="032D60">
                      <a:alpha val="86000"/>
                    </a:srgbClr>
                  </a:solidFill>
                  <a:latin typeface="IBM Plex Mono"/>
                  <a:ea typeface="IBM Plex Mono"/>
                  <a:cs typeface="IBM Plex Mono"/>
                </a:rPr>
                <a:t>koa-action</a:t>
              </a:r>
              <a:r>
                <a:rPr lang="en-US" sz="1729" b="0" i="0" kern="0" spc="-10" dirty="0">
                  <a:solidFill>
                    <a:srgbClr val="032D60">
                      <a:alpha val="86000"/>
                    </a:srgbClr>
                  </a:solidFill>
                  <a:latin typeface="IBM Plex Mono"/>
                  <a:ea typeface="IBM Plex Mono"/>
                  <a:cs typeface="IBM Plex Mono"/>
                </a:rPr>
                <a:t xml:space="preserve">	</a:t>
              </a:r>
              <a:r>
                <a:rPr lang="en-US" sz="1900" b="0" i="0" kern="0" spc="-10" dirty="0">
                  <a:solidFill>
                    <a:srgbClr val="032D60">
                      <a:alpha val="86000"/>
                    </a:srgbClr>
                  </a:solidFill>
                  <a:latin typeface="Salesforce Sans"/>
                  <a:ea typeface="Salesforce Sans"/>
                  <a:cs typeface="Salesforce Sans"/>
                </a:rPr>
                <a:t>, Agent Graph</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AgentScript.</a:t>
              </a:r>
              <a:endParaRPr lang="en-US" sz="1900" b="0" i="0" kern="0" spc="-10" dirty="0">
                <a:solidFill>
                  <a:srgbClr val="032D60">
                    <a:alpha val="86000"/>
                  </a:srgbClr>
                </a:solidFill>
                <a:latin typeface="Salesforce Sans"/>
                <a:ea typeface="Salesforce Sans"/>
                <a:cs typeface="Salesforce Sans"/>
              </a:endParaRPr>
            </a:p>
          </p:txBody>
        </p:sp>
      </p:grpSp>
      <p:grpSp>
        <p:nvGrpSpPr>
          <p:cNvPr id="1007" name="01 · svg · drawing [p01-e0015]"/>
          <p:cNvGrpSpPr/>
          <p:nvPr/>
        </p:nvGrpSpPr>
        <p:grpSpPr>
          <a:xfrm>
            <a:off x="7315623" y="2081187"/>
            <a:ext cx="3621193" cy="2177143"/>
            <a:chOff x="7315623" y="2081187"/>
            <a:chExt cx="3621193" cy="2177143"/>
          </a:xfrm>
        </p:grpSpPr>
        <p:grpSp>
          <p:nvGrpSpPr>
            <p:cNvPr id="1008" name="path · 1 + arrowhead"/>
            <p:cNvGrpSpPr/>
            <p:nvPr/>
          </p:nvGrpSpPr>
          <p:grpSpPr>
            <a:xfrm>
              <a:off x="9070509" y="2081187"/>
              <a:ext cx="111421" cy="499937"/>
              <a:chOff x="9070509" y="2081187"/>
              <a:chExt cx="111421" cy="499937"/>
            </a:xfrm>
          </p:grpSpPr>
          <p:sp>
            <p:nvSpPr>
              <p:cNvPr id="1009" name="path · 1"/>
              <p:cNvSpPr/>
              <p:nvPr/>
            </p:nvSpPr>
            <p:spPr>
              <a:xfrm>
                <a:off x="9126220" y="2081187"/>
                <a:ext cx="1" cy="483810"/>
              </a:xfrm>
              <a:custGeom>
                <a:avLst/>
                <a:gdLst/>
                <a:ahLst/>
                <a:cxnLst/>
                <a:rect l="0" t="0" r="r" b="b"/>
                <a:pathLst>
                  <a:path w="1" h="483810" fill="none" stroke="1" extrusionOk="0">
                    <a:moveTo>
                      <a:pt x="0" y="0"/>
                    </a:moveTo>
                    <a:lnTo>
                      <a:pt x="0" y="483810"/>
                    </a:lnTo>
                  </a:path>
                </a:pathLst>
              </a:custGeom>
              <a:noFill/>
              <a:ln w="15875" cap="flat" cmpd="sng" algn="ctr">
                <a:solidFill>
                  <a:srgbClr val="789B8E"/>
                </a:solidFill>
                <a:prstDash val="solid"/>
                <a:miter lim="400000"/>
                <a:headEnd type="none" w="med" len="med"/>
                <a:tailEnd type="none" w="med" len="med"/>
              </a:ln>
            </p:spPr>
          </p:sp>
          <p:grpSp>
            <p:nvGrpSpPr>
              <p:cNvPr id="1010" name="arr1 end"/>
              <p:cNvGrpSpPr/>
              <p:nvPr/>
            </p:nvGrpSpPr>
            <p:grpSpPr>
              <a:xfrm>
                <a:off x="9070509" y="2452108"/>
                <a:ext cx="111421" cy="129016"/>
                <a:chOff x="9070509" y="2452108"/>
                <a:chExt cx="111421" cy="129016"/>
              </a:xfrm>
            </p:grpSpPr>
            <p:sp>
              <p:nvSpPr>
                <p:cNvPr id="1011" name="path · 2"/>
                <p:cNvSpPr/>
                <p:nvPr/>
              </p:nvSpPr>
              <p:spPr>
                <a:xfrm>
                  <a:off x="9070509" y="2452108"/>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2" name="path · 3 + arrowhead"/>
            <p:cNvGrpSpPr/>
            <p:nvPr/>
          </p:nvGrpSpPr>
          <p:grpSpPr>
            <a:xfrm>
              <a:off x="7315623" y="3306838"/>
              <a:ext cx="1810597" cy="951492"/>
              <a:chOff x="7315623" y="3306838"/>
              <a:chExt cx="1810597" cy="951492"/>
            </a:xfrm>
          </p:grpSpPr>
          <p:sp>
            <p:nvSpPr>
              <p:cNvPr id="1013" name="path · 3"/>
              <p:cNvSpPr/>
              <p:nvPr/>
            </p:nvSpPr>
            <p:spPr>
              <a:xfrm>
                <a:off x="7371334" y="3306838"/>
                <a:ext cx="1754886" cy="935365"/>
              </a:xfrm>
              <a:custGeom>
                <a:avLst/>
                <a:gdLst/>
                <a:ahLst/>
                <a:cxnLst/>
                <a:rect l="0" t="0" r="r" b="b"/>
                <a:pathLst>
                  <a:path w="1754886" h="935365" fill="none" stroke="1" extrusionOk="0">
                    <a:moveTo>
                      <a:pt x="1754886" y="0"/>
                    </a:moveTo>
                    <a:lnTo>
                      <a:pt x="1754886" y="483810"/>
                    </a:lnTo>
                    <a:lnTo>
                      <a:pt x="0" y="483810"/>
                    </a:lnTo>
                    <a:lnTo>
                      <a:pt x="0" y="935365"/>
                    </a:lnTo>
                  </a:path>
                </a:pathLst>
              </a:custGeom>
              <a:noFill/>
              <a:ln w="15875" cap="flat" cmpd="sng" algn="ctr">
                <a:solidFill>
                  <a:srgbClr val="789B8E"/>
                </a:solidFill>
                <a:prstDash val="solid"/>
                <a:miter lim="400000"/>
                <a:headEnd type="none" w="med" len="med"/>
                <a:tailEnd type="none" w="med" len="med"/>
              </a:ln>
            </p:spPr>
          </p:sp>
          <p:grpSp>
            <p:nvGrpSpPr>
              <p:cNvPr id="1014" name="arr1 end"/>
              <p:cNvGrpSpPr/>
              <p:nvPr/>
            </p:nvGrpSpPr>
            <p:grpSpPr>
              <a:xfrm>
                <a:off x="7315623" y="4129314"/>
                <a:ext cx="111421" cy="129016"/>
                <a:chOff x="7315623" y="4129314"/>
                <a:chExt cx="111421" cy="129016"/>
              </a:xfrm>
            </p:grpSpPr>
            <p:sp>
              <p:nvSpPr>
                <p:cNvPr id="1015" name="path · 4"/>
                <p:cNvSpPr/>
                <p:nvPr/>
              </p:nvSpPr>
              <p:spPr>
                <a:xfrm>
                  <a:off x="7315623"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6" name="path · 5 + arrowhead"/>
            <p:cNvGrpSpPr/>
            <p:nvPr/>
          </p:nvGrpSpPr>
          <p:grpSpPr>
            <a:xfrm>
              <a:off x="9070509" y="3790648"/>
              <a:ext cx="111421" cy="467683"/>
              <a:chOff x="9070509" y="3790648"/>
              <a:chExt cx="111421" cy="467683"/>
            </a:xfrm>
          </p:grpSpPr>
          <p:sp>
            <p:nvSpPr>
              <p:cNvPr id="1017" name="path · 5"/>
              <p:cNvSpPr/>
              <p:nvPr/>
            </p:nvSpPr>
            <p:spPr>
              <a:xfrm>
                <a:off x="9126220" y="3790648"/>
                <a:ext cx="1" cy="451556"/>
              </a:xfrm>
              <a:custGeom>
                <a:avLst/>
                <a:gdLst/>
                <a:ahLst/>
                <a:cxnLst/>
                <a:rect l="0" t="0" r="r" b="b"/>
                <a:pathLst>
                  <a:path w="1" h="451556" fill="none" stroke="1" extrusionOk="0">
                    <a:moveTo>
                      <a:pt x="0" y="0"/>
                    </a:moveTo>
                    <a:lnTo>
                      <a:pt x="0" y="451555"/>
                    </a:lnTo>
                  </a:path>
                </a:pathLst>
              </a:custGeom>
              <a:noFill/>
              <a:ln w="15875" cap="flat" cmpd="sng" algn="ctr">
                <a:solidFill>
                  <a:srgbClr val="789B8E"/>
                </a:solidFill>
                <a:prstDash val="solid"/>
                <a:miter lim="400000"/>
                <a:headEnd type="none" w="med" len="med"/>
                <a:tailEnd type="none" w="med" len="med"/>
              </a:ln>
            </p:spPr>
          </p:sp>
          <p:grpSp>
            <p:nvGrpSpPr>
              <p:cNvPr id="1018" name="arr1 end"/>
              <p:cNvGrpSpPr/>
              <p:nvPr/>
            </p:nvGrpSpPr>
            <p:grpSpPr>
              <a:xfrm>
                <a:off x="9070509" y="4129314"/>
                <a:ext cx="111421" cy="129016"/>
                <a:chOff x="9070509" y="4129314"/>
                <a:chExt cx="111421" cy="129016"/>
              </a:xfrm>
            </p:grpSpPr>
            <p:sp>
              <p:nvSpPr>
                <p:cNvPr id="1019" name="path · 6"/>
                <p:cNvSpPr/>
                <p:nvPr/>
              </p:nvSpPr>
              <p:spPr>
                <a:xfrm>
                  <a:off x="9070509"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20" name="path · 7 + arrowhead"/>
            <p:cNvGrpSpPr/>
            <p:nvPr/>
          </p:nvGrpSpPr>
          <p:grpSpPr>
            <a:xfrm>
              <a:off x="9126220" y="3790648"/>
              <a:ext cx="1810597" cy="467683"/>
              <a:chOff x="9126220" y="3790648"/>
              <a:chExt cx="1810597" cy="467683"/>
            </a:xfrm>
          </p:grpSpPr>
          <p:sp>
            <p:nvSpPr>
              <p:cNvPr id="1021" name="path · 7"/>
              <p:cNvSpPr/>
              <p:nvPr/>
            </p:nvSpPr>
            <p:spPr>
              <a:xfrm>
                <a:off x="9126220" y="3790648"/>
                <a:ext cx="1754886" cy="451556"/>
              </a:xfrm>
              <a:custGeom>
                <a:avLst/>
                <a:gdLst/>
                <a:ahLst/>
                <a:cxnLst/>
                <a:rect l="0" t="0" r="r" b="b"/>
                <a:pathLst>
                  <a:path w="1754886" h="451556" fill="none" stroke="1" extrusionOk="0">
                    <a:moveTo>
                      <a:pt x="0" y="0"/>
                    </a:moveTo>
                    <a:lnTo>
                      <a:pt x="1754886" y="0"/>
                    </a:lnTo>
                    <a:lnTo>
                      <a:pt x="1754886" y="451555"/>
                    </a:lnTo>
                  </a:path>
                </a:pathLst>
              </a:custGeom>
              <a:noFill/>
              <a:ln w="15875" cap="flat" cmpd="sng" algn="ctr">
                <a:solidFill>
                  <a:srgbClr val="789B8E"/>
                </a:solidFill>
                <a:prstDash val="solid"/>
                <a:miter lim="400000"/>
                <a:headEnd type="none" w="med" len="med"/>
                <a:tailEnd type="none" w="med" len="med"/>
              </a:ln>
            </p:spPr>
          </p:sp>
          <p:grpSp>
            <p:nvGrpSpPr>
              <p:cNvPr id="1022" name="arr1 end"/>
              <p:cNvGrpSpPr/>
              <p:nvPr/>
            </p:nvGrpSpPr>
            <p:grpSpPr>
              <a:xfrm>
                <a:off x="10825395" y="4129314"/>
                <a:ext cx="111421" cy="129016"/>
                <a:chOff x="10825395" y="4129314"/>
                <a:chExt cx="111421" cy="129016"/>
              </a:xfrm>
            </p:grpSpPr>
            <p:sp>
              <p:nvSpPr>
                <p:cNvPr id="1023" name="path · 8"/>
                <p:cNvSpPr/>
                <p:nvPr/>
              </p:nvSpPr>
              <p:spPr>
                <a:xfrm>
                  <a:off x="10825395"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grpSp>
        <p:nvGrpSpPr>
          <p:cNvPr id="1044" name="01 · node sand: AUTHORED CONTROLS"/>
          <p:cNvGrpSpPr/>
          <p:nvPr/>
        </p:nvGrpSpPr>
        <p:grpSpPr>
          <a:xfrm>
            <a:off x="6897816" y="1436096"/>
            <a:ext cx="4456859" cy="645079"/>
            <a:chOff x="6897816" y="1436096"/>
            <a:chExt cx="4456859" cy="645079"/>
          </a:xfrm>
        </p:grpSpPr>
        <p:sp>
          <p:nvSpPr>
            <p:cNvPr id="1024" name="01 · node sand · surface [p01-e0016]"/>
            <p:cNvSpPr/>
            <p:nvPr/>
          </p:nvSpPr>
          <p:spPr>
            <a:xfrm>
              <a:off x="6897816" y="1436096"/>
              <a:ext cx="4456859" cy="645079"/>
            </a:xfrm>
            <a:prstGeom prst="roundRect">
              <a:avLst>
                <a:gd name="adj" fmla="val 21656"/>
              </a:avLst>
            </a:prstGeom>
            <a:solidFill>
              <a:srgbClr val="FBF0CF"/>
            </a:solidFill>
            <a:ln>
              <a:noFill/>
            </a:ln>
          </p:spPr>
        </p:sp>
        <p:sp>
          <p:nvSpPr>
            <p:cNvPr id="1025" name="01 · mini: AUTHORED CONTROLS [p01-text-0016]" descr="Native editable Unicode text; authored line breaks retained."/>
            <p:cNvSpPr txBox="1"/>
            <p:nvPr/>
          </p:nvSpPr>
          <p:spPr>
            <a:xfrm>
              <a:off x="7024816" y="1543881"/>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AUTHORED CONTROLS</a:t>
              </a:r>
              <a:endParaRPr lang="en-US" sz="950" b="0" i="0" kern="0" spc="50" dirty="0">
                <a:solidFill>
                  <a:srgbClr val="022AC0"/>
                </a:solidFill>
                <a:latin typeface="IBM Plex Mono"/>
                <a:ea typeface="IBM Plex Mono"/>
                <a:cs typeface="IBM Plex Mono"/>
              </a:endParaRPr>
            </a:p>
          </p:txBody>
        </p:sp>
        <p:sp>
          <p:nvSpPr>
            <p:cNvPr id="1026" name="01 · strong: AgentScript [p01-text-0017]" descr="Native editable Unicode text; authored line breaks retained."/>
            <p:cNvSpPr txBox="1"/>
            <p:nvPr/>
          </p:nvSpPr>
          <p:spPr>
            <a:xfrm>
              <a:off x="7024816" y="1758905"/>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AgentScript</a:t>
              </a:r>
              <a:endParaRPr lang="en-US" sz="1350" b="1" i="0" kern="0" spc="0" dirty="0">
                <a:solidFill>
                  <a:srgbClr val="032D60"/>
                </a:solidFill>
                <a:latin typeface="Salesforce Sans"/>
                <a:ea typeface="Salesforce Sans"/>
                <a:cs typeface="Salesforce Sans"/>
              </a:endParaRPr>
            </a:p>
          </p:txBody>
        </p:sp>
      </p:grpSp>
      <p:grpSp>
        <p:nvGrpSpPr>
          <p:cNvPr id="1045" name="01 · node mint: STATE + TRANSITIONS"/>
          <p:cNvGrpSpPr/>
          <p:nvPr/>
        </p:nvGrpSpPr>
        <p:grpSpPr>
          <a:xfrm>
            <a:off x="6897816" y="2597262"/>
            <a:ext cx="4456859" cy="709574"/>
            <a:chOff x="6897816" y="2597262"/>
            <a:chExt cx="4456859" cy="709574"/>
          </a:xfrm>
        </p:grpSpPr>
        <p:sp>
          <p:nvSpPr>
            <p:cNvPr id="1027" name="01 · node mint · surface [p01-e0019]"/>
            <p:cNvSpPr/>
            <p:nvPr/>
          </p:nvSpPr>
          <p:spPr>
            <a:xfrm>
              <a:off x="6897816" y="2597262"/>
              <a:ext cx="4456859" cy="709574"/>
            </a:xfrm>
            <a:prstGeom prst="roundRect">
              <a:avLst>
                <a:gd name="adj" fmla="val 19688"/>
              </a:avLst>
            </a:prstGeom>
            <a:solidFill>
              <a:srgbClr val="DDF3ED"/>
            </a:solidFill>
            <a:ln>
              <a:noFill/>
            </a:ln>
          </p:spPr>
        </p:sp>
        <p:sp>
          <p:nvSpPr>
            <p:cNvPr id="1028" name="01 · mini: STATE + TRANSITIONS [p01-text-0018]" descr="Native editable Unicode text; authored line breaks retained."/>
            <p:cNvSpPr txBox="1"/>
            <p:nvPr/>
          </p:nvSpPr>
          <p:spPr>
            <a:xfrm>
              <a:off x="7024816" y="2737294"/>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STATE + TRANSITIONS</a:t>
              </a:r>
              <a:endParaRPr lang="en-US" sz="950" b="0" i="0" kern="0" spc="50" dirty="0">
                <a:solidFill>
                  <a:srgbClr val="022AC0"/>
                </a:solidFill>
                <a:latin typeface="IBM Plex Mono"/>
                <a:ea typeface="IBM Plex Mono"/>
                <a:cs typeface="IBM Plex Mono"/>
              </a:endParaRPr>
            </a:p>
          </p:txBody>
        </p:sp>
        <p:sp>
          <p:nvSpPr>
            <p:cNvPr id="1029" name="01 · strong: Agent Graph [p01-text-0019]" descr="Native editable Unicode text; authored line breaks retained."/>
            <p:cNvSpPr txBox="1"/>
            <p:nvPr/>
          </p:nvSpPr>
          <p:spPr>
            <a:xfrm>
              <a:off x="7024816" y="2952319"/>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 Graph</a:t>
              </a:r>
              <a:endParaRPr lang="en-US" sz="1350" b="1" i="0" kern="0" spc="0" dirty="0">
                <a:solidFill>
                  <a:srgbClr val="032D60"/>
                </a:solidFill>
                <a:latin typeface="Salesforce Sans"/>
                <a:ea typeface="Salesforce Sans"/>
                <a:cs typeface="Salesforce Sans"/>
              </a:endParaRPr>
            </a:p>
          </p:txBody>
        </p:sp>
      </p:grpSp>
      <p:grpSp>
        <p:nvGrpSpPr>
          <p:cNvPr id="1046" name="01 · node mint: koa-action"/>
          <p:cNvGrpSpPr/>
          <p:nvPr/>
        </p:nvGrpSpPr>
        <p:grpSpPr>
          <a:xfrm>
            <a:off x="6619240" y="4274475"/>
            <a:ext cx="1504188" cy="935370"/>
            <a:chOff x="6619240" y="4274475"/>
            <a:chExt cx="1504188" cy="935370"/>
          </a:xfrm>
        </p:grpSpPr>
        <p:sp>
          <p:nvSpPr>
            <p:cNvPr id="1030" name="01 · node mint · surface [p01-e0022]"/>
            <p:cNvSpPr/>
            <p:nvPr/>
          </p:nvSpPr>
          <p:spPr>
            <a:xfrm>
              <a:off x="6619240" y="4274475"/>
              <a:ext cx="1504188" cy="935370"/>
            </a:xfrm>
            <a:prstGeom prst="roundRect">
              <a:avLst>
                <a:gd name="adj" fmla="val 14935"/>
              </a:avLst>
            </a:prstGeom>
            <a:solidFill>
              <a:srgbClr val="DDF3ED"/>
            </a:solidFill>
            <a:ln>
              <a:noFill/>
            </a:ln>
          </p:spPr>
        </p:sp>
        <p:sp>
          <p:nvSpPr>
            <p:cNvPr id="1031" name="01 · strong: koa-action [p01-text-0020]" descr="Native editable Unicode text; authored line breaks retained."/>
            <p:cNvSpPr txBox="1"/>
            <p:nvPr/>
          </p:nvSpPr>
          <p:spPr>
            <a:xfrm>
              <a:off x="6746240"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koa-action</a:t>
              </a:r>
              <a:endParaRPr lang="en-US" sz="1350" b="1" i="0" kern="0" spc="0" dirty="0">
                <a:solidFill>
                  <a:srgbClr val="032D60"/>
                </a:solidFill>
                <a:latin typeface="Salesforce Sans"/>
                <a:ea typeface="Salesforce Sans"/>
                <a:cs typeface="Salesforce Sans"/>
              </a:endParaRPr>
            </a:p>
          </p:txBody>
        </p:sp>
        <p:sp>
          <p:nvSpPr>
            <p:cNvPr id="1032" name="01 · small: Bounded judgment [p01-text-0021]" descr="Native editable Unicode text; authored line breaks retained."/>
            <p:cNvSpPr txBox="1"/>
            <p:nvPr/>
          </p:nvSpPr>
          <p:spPr>
            <a:xfrm>
              <a:off x="6746240"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Bounded judgment</a:t>
              </a:r>
              <a:endParaRPr lang="en-US" sz="1000" b="0" i="0" kern="0" spc="0" dirty="0">
                <a:solidFill>
                  <a:srgbClr val="032D60"/>
                </a:solidFill>
                <a:latin typeface="Salesforce Sans"/>
                <a:ea typeface="Salesforce Sans"/>
                <a:cs typeface="Salesforce Sans"/>
              </a:endParaRPr>
            </a:p>
          </p:txBody>
        </p:sp>
      </p:grpSp>
      <p:grpSp>
        <p:nvGrpSpPr>
          <p:cNvPr id="1047" name="01 · node lilac: Frontier model"/>
          <p:cNvGrpSpPr/>
          <p:nvPr/>
        </p:nvGrpSpPr>
        <p:grpSpPr>
          <a:xfrm>
            <a:off x="8374126" y="4274475"/>
            <a:ext cx="1504188" cy="935370"/>
            <a:chOff x="8374126" y="4274475"/>
            <a:chExt cx="1504188" cy="935370"/>
          </a:xfrm>
        </p:grpSpPr>
        <p:sp>
          <p:nvSpPr>
            <p:cNvPr id="1033" name="01 · node lilac · surface [p01-e0025]"/>
            <p:cNvSpPr/>
            <p:nvPr/>
          </p:nvSpPr>
          <p:spPr>
            <a:xfrm>
              <a:off x="8374126" y="4274475"/>
              <a:ext cx="1504188" cy="935370"/>
            </a:xfrm>
            <a:prstGeom prst="roundRect">
              <a:avLst>
                <a:gd name="adj" fmla="val 14935"/>
              </a:avLst>
            </a:prstGeom>
            <a:solidFill>
              <a:srgbClr val="EAE6FA"/>
            </a:solidFill>
            <a:ln>
              <a:noFill/>
            </a:ln>
          </p:spPr>
        </p:sp>
        <p:sp>
          <p:nvSpPr>
            <p:cNvPr id="1034" name="01 · strong: Frontier model [p01-text-0022]" descr="Native editable Unicode text; authored line breaks retained."/>
            <p:cNvSpPr txBox="1"/>
            <p:nvPr/>
          </p:nvSpPr>
          <p:spPr>
            <a:xfrm>
              <a:off x="8501126" y="4448109"/>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Frontier model</a:t>
              </a:r>
              <a:endParaRPr lang="en-US" sz="1350" b="1" i="0" kern="0" spc="0" dirty="0">
                <a:solidFill>
                  <a:srgbClr val="032D60"/>
                </a:solidFill>
                <a:latin typeface="Salesforce Sans"/>
                <a:ea typeface="Salesforce Sans"/>
                <a:cs typeface="Salesforce Sans"/>
              </a:endParaRPr>
            </a:p>
          </p:txBody>
        </p:sp>
        <p:sp>
          <p:nvSpPr>
            <p:cNvPr id="1035" name="01 · small: Reasoning exceptions [p01-text-0023]" descr="Native editable Unicode text; authored line breaks retained."/>
            <p:cNvSpPr txBox="1"/>
            <p:nvPr/>
          </p:nvSpPr>
          <p:spPr>
            <a:xfrm>
              <a:off x="8501126" y="4711363"/>
              <a:ext cx="1262888" cy="327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Reasoning</a:t>
              </a:r>
              <a:endParaRPr lang="en-US" sz="1000" b="0" i="0" kern="0" spc="0" dirty="0">
                <a:solidFill>
                  <a:srgbClr val="032D60"/>
                </a:solidFill>
                <a:latin typeface="Salesforce Sans"/>
                <a:ea typeface="Salesforce Sans"/>
                <a:cs typeface="Salesforce Sans"/>
              </a:endParaRPr>
            </a:p>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exceptions</a:t>
              </a:r>
              <a:endParaRPr lang="en-US" sz="1000" b="0" i="0" kern="0" spc="0" dirty="0">
                <a:solidFill>
                  <a:srgbClr val="032D60"/>
                </a:solidFill>
                <a:latin typeface="Salesforce Sans"/>
                <a:ea typeface="Salesforce Sans"/>
                <a:cs typeface="Salesforce Sans"/>
              </a:endParaRPr>
            </a:p>
          </p:txBody>
        </p:sp>
      </p:grpSp>
      <p:grpSp>
        <p:nvGrpSpPr>
          <p:cNvPr id="1048" name="01 · node blue: Services"/>
          <p:cNvGrpSpPr/>
          <p:nvPr/>
        </p:nvGrpSpPr>
        <p:grpSpPr>
          <a:xfrm>
            <a:off x="10129012" y="4274475"/>
            <a:ext cx="1504188" cy="935370"/>
            <a:chOff x="10129012" y="4274475"/>
            <a:chExt cx="1504188" cy="935370"/>
          </a:xfrm>
        </p:grpSpPr>
        <p:sp>
          <p:nvSpPr>
            <p:cNvPr id="1036" name="01 · node blue · surface [p01-e0029]"/>
            <p:cNvSpPr/>
            <p:nvPr/>
          </p:nvSpPr>
          <p:spPr>
            <a:xfrm>
              <a:off x="10129012" y="4274475"/>
              <a:ext cx="1504188" cy="935370"/>
            </a:xfrm>
            <a:prstGeom prst="roundRect">
              <a:avLst>
                <a:gd name="adj" fmla="val 14935"/>
              </a:avLst>
            </a:prstGeom>
            <a:solidFill>
              <a:srgbClr val="DCEEFE"/>
            </a:solidFill>
            <a:ln>
              <a:noFill/>
            </a:ln>
          </p:spPr>
        </p:sp>
        <p:sp>
          <p:nvSpPr>
            <p:cNvPr id="1037" name="01 · strong: Services [p01-text-0024]" descr="Native editable Unicode text; authored line breaks retained."/>
            <p:cNvSpPr txBox="1"/>
            <p:nvPr/>
          </p:nvSpPr>
          <p:spPr>
            <a:xfrm>
              <a:off x="10256012"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Services</a:t>
              </a:r>
              <a:endParaRPr lang="en-US" sz="1350" b="1" i="0" kern="0" spc="0" dirty="0">
                <a:solidFill>
                  <a:srgbClr val="032D60"/>
                </a:solidFill>
                <a:latin typeface="Salesforce Sans"/>
                <a:ea typeface="Salesforce Sans"/>
                <a:cs typeface="Salesforce Sans"/>
              </a:endParaRPr>
            </a:p>
          </p:txBody>
        </p:sp>
        <p:sp>
          <p:nvSpPr>
            <p:cNvPr id="1038" name="01 · small: Facts + authority [p01-text-0025]" descr="Native editable Unicode text; authored line breaks retained."/>
            <p:cNvSpPr txBox="1"/>
            <p:nvPr/>
          </p:nvSpPr>
          <p:spPr>
            <a:xfrm>
              <a:off x="10256012"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Facts + authority</a:t>
              </a:r>
              <a:endParaRPr lang="en-US" sz="1000" b="0" i="0" kern="0" spc="0" dirty="0">
                <a:solidFill>
                  <a:srgbClr val="032D60"/>
                </a:solidFill>
                <a:latin typeface="Salesforce Sans"/>
                <a:ea typeface="Salesforce Sans"/>
                <a:cs typeface="Salesforce Sans"/>
              </a:endParaRPr>
            </a:p>
          </p:txBody>
        </p:sp>
      </p:grpSp>
      <p:grpSp>
        <p:nvGrpSpPr>
          <p:cNvPr id="1049" name="01 · source-line: Agent Graph / guided determinism · AgentScript control plane · Composable A"/>
          <p:cNvGrpSpPr/>
          <p:nvPr/>
        </p:nvGrpSpPr>
        <p:grpSpPr>
          <a:xfrm>
            <a:off x="558800" y="6037898"/>
            <a:ext cx="11087100" cy="284456"/>
            <a:chOff x="558800" y="6037898"/>
            <a:chExt cx="11087100" cy="284456"/>
          </a:xfrm>
        </p:grpSpPr>
        <p:sp>
          <p:nvSpPr>
            <p:cNvPr id="1039" name="01 · source-line · top border [p01-e003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0" name="01 · span: Agent Graph / guided determinism · AgentScript control plane · Composable AI · [p01-text-0026]" descr="Native editable Unicode text; authored line breaks retained."/>
            <p:cNvSpPr txBox="1"/>
            <p:nvPr/>
          </p:nvSpPr>
          <p:spPr>
            <a:xfrm>
              <a:off x="558800" y="6153126"/>
              <a:ext cx="54782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41" name="01 · span: Proposed Salesforce composition [p01-text-0027]" descr="Native editable Unicode text; authored line breaks retained."/>
            <p:cNvSpPr txBox="1"/>
            <p:nvPr/>
          </p:nvSpPr>
          <p:spPr>
            <a:xfrm>
              <a:off x="9768756" y="6153126"/>
              <a:ext cx="187714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Salesforce composition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Four benefits. One service to measure.">
    <p:bg>
      <p:bgPr>
        <a:solidFill>
          <a:srgbClr val="FFFFFF"/>
        </a:solidFill>
      </p:bgPr>
    </p:bg>
    <p:spTree>
      <p:nvGrpSpPr>
        <p:cNvPr id="1" name=""/>
        <p:cNvGrpSpPr/>
        <p:nvPr/>
      </p:nvGrpSpPr>
      <p:grpSpPr>
        <a:xfrm>
          <a:off x="0" y="0"/>
          <a:ext cx="0" cy="0"/>
          <a:chOff x="0" y="0"/>
          <a:chExt cx="0" cy="0"/>
        </a:xfrm>
      </p:grpSpPr>
      <p:sp>
        <p:nvSpPr>
          <p:cNvPr id="1000" name="02 · slide light · surface [p0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3" name="02 · chrome-min: DISAGGREGATED INTELLIGENCE"/>
          <p:cNvGrpSpPr/>
          <p:nvPr/>
        </p:nvGrpSpPr>
        <p:grpSpPr>
          <a:xfrm>
            <a:off x="558800" y="356053"/>
            <a:ext cx="11087100" cy="187325"/>
            <a:chOff x="558800" y="356053"/>
            <a:chExt cx="11087100" cy="187325"/>
          </a:xfrm>
        </p:grpSpPr>
        <p:sp>
          <p:nvSpPr>
            <p:cNvPr id="1001" name="02 · l: DISAGGREGATED INTELLIGENCE [p02-text-0013]"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2 · r: 02 / 36 [p02-text-0014]"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02 / 36</a:t>
              </a:r>
              <a:endParaRPr lang="en-US" sz="950" b="1" i="0" kern="0" spc="65" dirty="0">
                <a:solidFill>
                  <a:srgbClr val="022AC0"/>
                </a:solidFill>
                <a:latin typeface="Salesforce Sans"/>
                <a:ea typeface="Salesforce Sans"/>
                <a:cs typeface="Salesforce Sans"/>
              </a:endParaRPr>
            </a:p>
          </p:txBody>
        </p:sp>
      </p:grpSp>
      <p:grpSp>
        <p:nvGrpSpPr>
          <p:cNvPr id="1044" name="02 · deck-head: 01 / ALLOCATE INTELLIGENCE"/>
          <p:cNvGrpSpPr/>
          <p:nvPr/>
        </p:nvGrpSpPr>
        <p:grpSpPr>
          <a:xfrm>
            <a:off x="558800" y="775901"/>
            <a:ext cx="11087100" cy="871263"/>
            <a:chOff x="558800" y="775901"/>
            <a:chExt cx="11087100" cy="871263"/>
          </a:xfrm>
        </p:grpSpPr>
        <p:sp>
          <p:nvSpPr>
            <p:cNvPr id="1003" name="02 · benefits-eyebrow: 01 / ALLOCATE INTELLIGENCE [p02-text-0015]"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ALLOCATE INTELLIGENCE</a:t>
              </a:r>
              <a:endParaRPr lang="en-US" sz="1050" b="1" i="0" kern="0" spc="68" dirty="0">
                <a:solidFill>
                  <a:srgbClr val="022AC0"/>
                </a:solidFill>
                <a:latin typeface="Salesforce Sans"/>
                <a:ea typeface="Salesforce Sans"/>
                <a:cs typeface="Salesforce Sans"/>
              </a:endParaRPr>
            </a:p>
          </p:txBody>
        </p:sp>
        <p:sp>
          <p:nvSpPr>
            <p:cNvPr id="1004" name="02 · benefits-title: Four benefits. One service to measure. [p02-text-0016]"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benefits. One service to measure.</a:t>
              </a:r>
              <a:endParaRPr lang="en-US" sz="3600" b="1" i="0" kern="0" spc="-95" dirty="0">
                <a:solidFill>
                  <a:srgbClr val="022AC0"/>
                </a:solidFill>
                <a:latin typeface="Manrope"/>
                <a:ea typeface="Manrope"/>
                <a:cs typeface="Manrope"/>
              </a:endParaRPr>
            </a:p>
          </p:txBody>
        </p:sp>
      </p:grpSp>
      <p:sp>
        <p:nvSpPr>
          <p:cNvPr id="1005" name="02 · four-cards · top border [p0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45" name="02 · card mint: "/>
          <p:cNvGrpSpPr/>
          <p:nvPr/>
        </p:nvGrpSpPr>
        <p:grpSpPr>
          <a:xfrm>
            <a:off x="558800" y="1930400"/>
            <a:ext cx="2644775" cy="4102100"/>
            <a:chOff x="558800" y="1930400"/>
            <a:chExt cx="2644775" cy="4102100"/>
          </a:xfrm>
        </p:grpSpPr>
        <p:sp>
          <p:nvSpPr>
            <p:cNvPr id="1006" name="02 · card mint · surface [p02-e0009]"/>
            <p:cNvSpPr/>
            <p:nvPr/>
          </p:nvSpPr>
          <p:spPr>
            <a:xfrm>
              <a:off x="558800" y="1930400"/>
              <a:ext cx="2644775" cy="4102100"/>
            </a:xfrm>
            <a:prstGeom prst="roundRect">
              <a:avLst>
                <a:gd name="adj" fmla="val 5282"/>
              </a:avLst>
            </a:prstGeom>
            <a:solidFill>
              <a:srgbClr val="DDF3ED"/>
            </a:solidFill>
            <a:ln>
              <a:noFill/>
            </a:ln>
          </p:spPr>
        </p:sp>
        <p:sp>
          <p:nvSpPr>
            <p:cNvPr id="1007" name="02 · card mint · outline [p0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46" name="02 · card lilac: "/>
          <p:cNvGrpSpPr/>
          <p:nvPr/>
        </p:nvGrpSpPr>
        <p:grpSpPr>
          <a:xfrm>
            <a:off x="3368675" y="1930400"/>
            <a:ext cx="2644775" cy="4102100"/>
            <a:chOff x="3368675" y="1930400"/>
            <a:chExt cx="2644775" cy="4102100"/>
          </a:xfrm>
        </p:grpSpPr>
        <p:sp>
          <p:nvSpPr>
            <p:cNvPr id="1008" name="02 · card lilac · surface [p02-e0010]"/>
            <p:cNvSpPr/>
            <p:nvPr/>
          </p:nvSpPr>
          <p:spPr>
            <a:xfrm>
              <a:off x="3368675" y="1930400"/>
              <a:ext cx="2644775" cy="4102100"/>
            </a:xfrm>
            <a:prstGeom prst="roundRect">
              <a:avLst>
                <a:gd name="adj" fmla="val 5282"/>
              </a:avLst>
            </a:prstGeom>
            <a:solidFill>
              <a:srgbClr val="EAE6FA"/>
            </a:solidFill>
            <a:ln>
              <a:noFill/>
            </a:ln>
          </p:spPr>
        </p:sp>
        <p:sp>
          <p:nvSpPr>
            <p:cNvPr id="1009" name="02 · card lilac · outline [p0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47" name="02 · card sand: "/>
          <p:cNvGrpSpPr/>
          <p:nvPr/>
        </p:nvGrpSpPr>
        <p:grpSpPr>
          <a:xfrm>
            <a:off x="6178550" y="1930400"/>
            <a:ext cx="2644775" cy="4102100"/>
            <a:chOff x="6178550" y="1930400"/>
            <a:chExt cx="2644775" cy="4102100"/>
          </a:xfrm>
        </p:grpSpPr>
        <p:sp>
          <p:nvSpPr>
            <p:cNvPr id="1010" name="02 · card sand · surface [p02-e0011]"/>
            <p:cNvSpPr/>
            <p:nvPr/>
          </p:nvSpPr>
          <p:spPr>
            <a:xfrm>
              <a:off x="6178550" y="1930400"/>
              <a:ext cx="2644775" cy="4102100"/>
            </a:xfrm>
            <a:prstGeom prst="roundRect">
              <a:avLst>
                <a:gd name="adj" fmla="val 5282"/>
              </a:avLst>
            </a:prstGeom>
            <a:solidFill>
              <a:srgbClr val="FBF0CF"/>
            </a:solidFill>
            <a:ln>
              <a:noFill/>
            </a:ln>
          </p:spPr>
        </p:sp>
        <p:sp>
          <p:nvSpPr>
            <p:cNvPr id="1011" name="02 · card sand · outline [p0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48" name="02 · card blue: "/>
          <p:cNvGrpSpPr/>
          <p:nvPr/>
        </p:nvGrpSpPr>
        <p:grpSpPr>
          <a:xfrm>
            <a:off x="8988425" y="1930400"/>
            <a:ext cx="2644775" cy="4102100"/>
            <a:chOff x="8988425" y="1930400"/>
            <a:chExt cx="2644775" cy="4102100"/>
          </a:xfrm>
        </p:grpSpPr>
        <p:sp>
          <p:nvSpPr>
            <p:cNvPr id="1012" name="02 · card blue · surface [p02-e0012]"/>
            <p:cNvSpPr/>
            <p:nvPr/>
          </p:nvSpPr>
          <p:spPr>
            <a:xfrm>
              <a:off x="8988425" y="1930400"/>
              <a:ext cx="2644775" cy="4102100"/>
            </a:xfrm>
            <a:prstGeom prst="roundRect">
              <a:avLst>
                <a:gd name="adj" fmla="val 5282"/>
              </a:avLst>
            </a:prstGeom>
            <a:solidFill>
              <a:srgbClr val="DCEEFE"/>
            </a:solidFill>
            <a:ln>
              <a:noFill/>
            </a:ln>
          </p:spPr>
        </p:sp>
        <p:sp>
          <p:nvSpPr>
            <p:cNvPr id="1013" name="02 · card blue · outline [p0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49" name="02 · card mint: Reliability"/>
          <p:cNvGrpSpPr/>
          <p:nvPr/>
        </p:nvGrpSpPr>
        <p:grpSpPr>
          <a:xfrm>
            <a:off x="781050" y="3680334"/>
            <a:ext cx="2212975" cy="961210"/>
            <a:chOff x="781050" y="3680334"/>
            <a:chExt cx="2212975" cy="961210"/>
          </a:xfrm>
        </p:grpSpPr>
        <p:sp>
          <p:nvSpPr>
            <p:cNvPr id="1014" name="02 · benefits-text-1: Reliability [p02-text-0017]" descr="Native editable Unicode text; authored line breaks retained."/>
            <p:cNvSpPr txBox="1"/>
            <p:nvPr/>
          </p:nvSpPr>
          <p:spPr>
            <a:xfrm>
              <a:off x="78105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Reliability</a:t>
              </a:r>
              <a:endParaRPr lang="en-US" sz="2000" b="1" i="0" kern="0" spc="-38" dirty="0">
                <a:solidFill>
                  <a:srgbClr val="022AC0"/>
                </a:solidFill>
                <a:latin typeface="Manrope"/>
                <a:ea typeface="Manrope"/>
                <a:cs typeface="Manrope"/>
              </a:endParaRPr>
            </a:p>
          </p:txBody>
        </p:sp>
        <p:sp>
          <p:nvSpPr>
            <p:cNvPr id="1015" name="02 · benefits-text-2: Test decisions and enforce required checks. [p02-text-0018]" descr="Native editable Unicode text; authored line breaks retained."/>
            <p:cNvSpPr txBox="1"/>
            <p:nvPr/>
          </p:nvSpPr>
          <p:spPr>
            <a:xfrm>
              <a:off x="78105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Test decisions and enforce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required checks.</a:t>
              </a:r>
              <a:endParaRPr lang="en-US" sz="1400" b="0" i="0" kern="0" spc="0" dirty="0">
                <a:solidFill>
                  <a:srgbClr val="032D60"/>
                </a:solidFill>
                <a:latin typeface="Salesforce Sans"/>
                <a:ea typeface="Salesforce Sans"/>
                <a:cs typeface="Salesforce Sans"/>
              </a:endParaRPr>
            </a:p>
          </p:txBody>
        </p:sp>
      </p:grpSp>
      <p:grpSp>
        <p:nvGrpSpPr>
          <p:cNvPr id="1050" name="02 · card lilac: Predictability"/>
          <p:cNvGrpSpPr/>
          <p:nvPr/>
        </p:nvGrpSpPr>
        <p:grpSpPr>
          <a:xfrm>
            <a:off x="3590925" y="3680334"/>
            <a:ext cx="2212975" cy="961210"/>
            <a:chOff x="3590925" y="3680334"/>
            <a:chExt cx="2212975" cy="961210"/>
          </a:xfrm>
        </p:grpSpPr>
        <p:sp>
          <p:nvSpPr>
            <p:cNvPr id="1016" name="02 · benefits-text-3: Predictability [p02-text-0019]" descr="Native editable Unicode text; authored line breaks retained."/>
            <p:cNvSpPr txBox="1"/>
            <p:nvPr/>
          </p:nvSpPr>
          <p:spPr>
            <a:xfrm>
              <a:off x="359092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Predictability</a:t>
              </a:r>
              <a:endParaRPr lang="en-US" sz="2000" b="1" i="0" kern="0" spc="-38" dirty="0">
                <a:solidFill>
                  <a:srgbClr val="022AC0"/>
                </a:solidFill>
                <a:latin typeface="Manrope"/>
                <a:ea typeface="Manrope"/>
                <a:cs typeface="Manrope"/>
              </a:endParaRPr>
            </a:p>
          </p:txBody>
        </p:sp>
        <p:sp>
          <p:nvSpPr>
            <p:cNvPr id="1017" name="02 · benefits-text-4: Bound outputs, paths, and recovery behavior. [p02-text-0020]" descr="Native editable Unicode text; authored line breaks retained."/>
            <p:cNvSpPr txBox="1"/>
            <p:nvPr/>
          </p:nvSpPr>
          <p:spPr>
            <a:xfrm>
              <a:off x="359092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outputs, paths,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recovery behavior.</a:t>
              </a:r>
              <a:endParaRPr lang="en-US" sz="1400" b="0" i="0" kern="0" spc="0" dirty="0">
                <a:solidFill>
                  <a:srgbClr val="032D60"/>
                </a:solidFill>
                <a:latin typeface="Salesforce Sans"/>
                <a:ea typeface="Salesforce Sans"/>
                <a:cs typeface="Salesforce Sans"/>
              </a:endParaRPr>
            </a:p>
          </p:txBody>
        </p:sp>
      </p:grpSp>
      <p:grpSp>
        <p:nvGrpSpPr>
          <p:cNvPr id="1051" name="02 · card sand: Lower cost"/>
          <p:cNvGrpSpPr/>
          <p:nvPr/>
        </p:nvGrpSpPr>
        <p:grpSpPr>
          <a:xfrm>
            <a:off x="6400800" y="3680334"/>
            <a:ext cx="2212975" cy="961210"/>
            <a:chOff x="6400800" y="3680334"/>
            <a:chExt cx="2212975" cy="961210"/>
          </a:xfrm>
        </p:grpSpPr>
        <p:sp>
          <p:nvSpPr>
            <p:cNvPr id="1018" name="02 · benefits-text-5: Lower cost [p02-text-0021]" descr="Native editable Unicode text; authored line breaks retained."/>
            <p:cNvSpPr txBox="1"/>
            <p:nvPr/>
          </p:nvSpPr>
          <p:spPr>
            <a:xfrm>
              <a:off x="640080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Lower cost</a:t>
              </a:r>
              <a:endParaRPr lang="en-US" sz="2000" b="1" i="0" kern="0" spc="-38" dirty="0">
                <a:solidFill>
                  <a:srgbClr val="022AC0"/>
                </a:solidFill>
                <a:latin typeface="Manrope"/>
                <a:ea typeface="Manrope"/>
                <a:cs typeface="Manrope"/>
              </a:endParaRPr>
            </a:p>
          </p:txBody>
        </p:sp>
        <p:sp>
          <p:nvSpPr>
            <p:cNvPr id="1019" name="02 · benefits-text-6: Avoid expensive work that the case does not need. [p02-text-0022]" descr="Native editable Unicode text; authored line breaks retained."/>
            <p:cNvSpPr txBox="1"/>
            <p:nvPr/>
          </p:nvSpPr>
          <p:spPr>
            <a:xfrm>
              <a:off x="640080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Avoid expensive work that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case does not need.</a:t>
              </a:r>
              <a:endParaRPr lang="en-US" sz="1400" b="0" i="0" kern="0" spc="0" dirty="0">
                <a:solidFill>
                  <a:srgbClr val="032D60"/>
                </a:solidFill>
                <a:latin typeface="Salesforce Sans"/>
                <a:ea typeface="Salesforce Sans"/>
                <a:cs typeface="Salesforce Sans"/>
              </a:endParaRPr>
            </a:p>
          </p:txBody>
        </p:sp>
      </p:grpSp>
      <p:grpSp>
        <p:nvGrpSpPr>
          <p:cNvPr id="1052" name="02 · card blue: Faster inference"/>
          <p:cNvGrpSpPr/>
          <p:nvPr/>
        </p:nvGrpSpPr>
        <p:grpSpPr>
          <a:xfrm>
            <a:off x="9210675" y="3680334"/>
            <a:ext cx="2212975" cy="961210"/>
            <a:chOff x="9210675" y="3680334"/>
            <a:chExt cx="2212975" cy="961210"/>
          </a:xfrm>
        </p:grpSpPr>
        <p:sp>
          <p:nvSpPr>
            <p:cNvPr id="1020" name="02 · benefits-text-7: Faster inference [p02-text-0023]" descr="Native editable Unicode text; authored line breaks retained."/>
            <p:cNvSpPr txBox="1"/>
            <p:nvPr/>
          </p:nvSpPr>
          <p:spPr>
            <a:xfrm>
              <a:off x="921067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Faster inference</a:t>
              </a:r>
              <a:endParaRPr lang="en-US" sz="2000" b="1" i="0" kern="0" spc="-38" dirty="0">
                <a:solidFill>
                  <a:srgbClr val="022AC0"/>
                </a:solidFill>
                <a:latin typeface="Manrope"/>
                <a:ea typeface="Manrope"/>
                <a:cs typeface="Manrope"/>
              </a:endParaRPr>
            </a:p>
          </p:txBody>
        </p:sp>
        <p:sp>
          <p:nvSpPr>
            <p:cNvPr id="1021" name="02 · benefits-text-8: Use short decision steps on frequent routes. [p02-text-0024]" descr="Native editable Unicode text; authored line breaks retained."/>
            <p:cNvSpPr txBox="1"/>
            <p:nvPr/>
          </p:nvSpPr>
          <p:spPr>
            <a:xfrm>
              <a:off x="921067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short decision steps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on frequent routes.</a:t>
              </a:r>
              <a:endParaRPr lang="en-US" sz="1400" b="0" i="0" kern="0" spc="0" dirty="0">
                <a:solidFill>
                  <a:srgbClr val="032D60"/>
                </a:solidFill>
                <a:latin typeface="Salesforce Sans"/>
                <a:ea typeface="Salesforce Sans"/>
                <a:cs typeface="Salesforce Sans"/>
              </a:endParaRPr>
            </a:p>
          </p:txBody>
        </p:sp>
      </p:grpSp>
      <p:grpSp>
        <p:nvGrpSpPr>
          <p:cNvPr id="1053" name="02 · card mint: CORRECT OUTCOMES"/>
          <p:cNvGrpSpPr/>
          <p:nvPr/>
        </p:nvGrpSpPr>
        <p:grpSpPr>
          <a:xfrm>
            <a:off x="781050" y="2178048"/>
            <a:ext cx="2212975" cy="1284607"/>
            <a:chOff x="781050" y="2178048"/>
            <a:chExt cx="2212975" cy="1284607"/>
          </a:xfrm>
        </p:grpSpPr>
        <p:sp>
          <p:nvSpPr>
            <p:cNvPr id="1022" name="02 · tag: CORRECT OUTCOMES [p02-text-0025]"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CORRECT OUTCOMES</a:t>
              </a:r>
              <a:endParaRPr lang="en-US" sz="1050" b="0" i="0" kern="0" spc="50" dirty="0">
                <a:solidFill>
                  <a:srgbClr val="022AC0">
                    <a:alpha val="85000"/>
                  </a:srgbClr>
                </a:solidFill>
                <a:latin typeface="IBM Plex Mono"/>
                <a:ea typeface="IBM Plex Mono"/>
                <a:cs typeface="IBM Plex Mono"/>
              </a:endParaRPr>
            </a:p>
          </p:txBody>
        </p:sp>
        <p:grpSp>
          <p:nvGrpSpPr>
            <p:cNvPr id="1023" name="02 · svg · drawing [p02-e0026]"/>
            <p:cNvGrpSpPr/>
            <p:nvPr/>
          </p:nvGrpSpPr>
          <p:grpSpPr>
            <a:xfrm>
              <a:off x="1472973" y="2680244"/>
              <a:ext cx="748393" cy="544286"/>
              <a:chOff x="1472973" y="2680244"/>
              <a:chExt cx="748393" cy="544286"/>
            </a:xfrm>
          </p:grpSpPr>
          <p:grpSp>
            <p:nvGrpSpPr>
              <p:cNvPr id="1024" name="g · 2"/>
              <p:cNvGrpSpPr/>
              <p:nvPr/>
            </p:nvGrpSpPr>
            <p:grpSpPr>
              <a:xfrm>
                <a:off x="1472973" y="2680244"/>
                <a:ext cx="748393" cy="544286"/>
                <a:chOff x="1472973" y="2680244"/>
                <a:chExt cx="748393" cy="544286"/>
              </a:xfrm>
            </p:grpSpPr>
            <p:sp>
              <p:nvSpPr>
                <p:cNvPr id="1025" name="path · 1"/>
                <p:cNvSpPr/>
                <p:nvPr/>
              </p:nvSpPr>
              <p:spPr>
                <a:xfrm>
                  <a:off x="1472973" y="2680244"/>
                  <a:ext cx="748393" cy="544286"/>
                </a:xfrm>
                <a:custGeom>
                  <a:avLst/>
                  <a:gdLst/>
                  <a:ahLst/>
                  <a:cxnLst/>
                  <a:rect l="0" t="0" r="r" b="b"/>
                  <a:pathLst>
                    <a:path w="748393" h="544286" fill="none" stroke="1" extrusionOk="0">
                      <a:moveTo>
                        <a:pt x="0" y="272143"/>
                      </a:moveTo>
                      <a:lnTo>
                        <a:pt x="272143" y="544286"/>
                      </a:lnTo>
                      <a:lnTo>
                        <a:pt x="748393" y="0"/>
                      </a:lnTo>
                    </a:path>
                  </a:pathLst>
                </a:custGeom>
                <a:noFill/>
                <a:ln w="34018" cap="flat" cmpd="sng" algn="ctr">
                  <a:solidFill>
                    <a:srgbClr val="032D60"/>
                  </a:solidFill>
                  <a:prstDash val="solid"/>
                  <a:miter lim="400000"/>
                  <a:headEnd type="none" w="med" len="med"/>
                  <a:tailEnd type="none" w="med" len="med"/>
                </a:ln>
              </p:spPr>
            </p:sp>
          </p:grpSp>
        </p:grpSp>
      </p:grpSp>
      <p:grpSp>
        <p:nvGrpSpPr>
          <p:cNvPr id="1054" name="02 · card lilac: CONTROLLED VARIATION"/>
          <p:cNvGrpSpPr/>
          <p:nvPr/>
        </p:nvGrpSpPr>
        <p:grpSpPr>
          <a:xfrm>
            <a:off x="3590925" y="2178048"/>
            <a:ext cx="2212975" cy="1284607"/>
            <a:chOff x="3590925" y="2178048"/>
            <a:chExt cx="2212975" cy="1284607"/>
          </a:xfrm>
        </p:grpSpPr>
        <p:sp>
          <p:nvSpPr>
            <p:cNvPr id="1026" name="02 · tag: CONTROLLED VARIATION [p02-text-0026]"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VARIATION</a:t>
              </a:r>
              <a:endParaRPr lang="en-US" sz="1050" b="0" i="0" kern="0" spc="50" dirty="0">
                <a:solidFill>
                  <a:srgbClr val="022AC0">
                    <a:alpha val="85000"/>
                  </a:srgbClr>
                </a:solidFill>
                <a:latin typeface="IBM Plex Mono"/>
                <a:ea typeface="IBM Plex Mono"/>
                <a:cs typeface="IBM Plex Mono"/>
              </a:endParaRPr>
            </a:p>
          </p:txBody>
        </p:sp>
        <p:grpSp>
          <p:nvGrpSpPr>
            <p:cNvPr id="1027" name="02 · svg · drawing [p02-e0028]"/>
            <p:cNvGrpSpPr/>
            <p:nvPr/>
          </p:nvGrpSpPr>
          <p:grpSpPr>
            <a:xfrm>
              <a:off x="4282848" y="2680244"/>
              <a:ext cx="748393" cy="578304"/>
              <a:chOff x="4282848" y="2680244"/>
              <a:chExt cx="748393" cy="578304"/>
            </a:xfrm>
          </p:grpSpPr>
          <p:grpSp>
            <p:nvGrpSpPr>
              <p:cNvPr id="1028" name="g · 3"/>
              <p:cNvGrpSpPr/>
              <p:nvPr/>
            </p:nvGrpSpPr>
            <p:grpSpPr>
              <a:xfrm>
                <a:off x="4282848" y="2680244"/>
                <a:ext cx="748393" cy="578304"/>
                <a:chOff x="4282848" y="2680244"/>
                <a:chExt cx="748393" cy="578304"/>
              </a:xfrm>
            </p:grpSpPr>
            <p:sp>
              <p:nvSpPr>
                <p:cNvPr id="1029" name="rect · 1"/>
                <p:cNvSpPr/>
                <p:nvPr/>
              </p:nvSpPr>
              <p:spPr>
                <a:xfrm>
                  <a:off x="4282848" y="2680244"/>
                  <a:ext cx="748393" cy="578304"/>
                </a:xfrm>
                <a:prstGeom prst="rect">
                  <a:avLst/>
                </a:prstGeom>
                <a:noFill/>
                <a:ln w="34018" cap="flat" cmpd="sng" algn="ctr">
                  <a:solidFill>
                    <a:srgbClr val="032D60"/>
                  </a:solidFill>
                  <a:prstDash val="solid"/>
                  <a:miter lim="400000"/>
                  <a:headEnd type="none" w="med" len="med"/>
                  <a:tailEnd type="none" w="med" len="med"/>
                </a:ln>
              </p:spPr>
            </p:sp>
            <p:sp>
              <p:nvSpPr>
                <p:cNvPr id="1030" name="path · 2"/>
                <p:cNvSpPr/>
                <p:nvPr/>
              </p:nvSpPr>
              <p:spPr>
                <a:xfrm>
                  <a:off x="4282848" y="2884351"/>
                  <a:ext cx="748393" cy="374196"/>
                </a:xfrm>
                <a:custGeom>
                  <a:avLst/>
                  <a:gdLst/>
                  <a:ahLst/>
                  <a:cxnLst/>
                  <a:rect l="0" t="0" r="r" b="b"/>
                  <a:pathLst>
                    <a:path w="748393" h="374196" fill="none" stroke="1" extrusionOk="0">
                      <a:moveTo>
                        <a:pt x="0" y="0"/>
                      </a:moveTo>
                      <a:lnTo>
                        <a:pt x="748393" y="0"/>
                      </a:lnTo>
                      <a:moveTo>
                        <a:pt x="204107" y="0"/>
                      </a:moveTo>
                      <a:lnTo>
                        <a:pt x="204107" y="374197"/>
                      </a:lnTo>
                    </a:path>
                  </a:pathLst>
                </a:custGeom>
                <a:noFill/>
                <a:ln w="34018" cap="flat" cmpd="sng" algn="ctr">
                  <a:solidFill>
                    <a:srgbClr val="032D60"/>
                  </a:solidFill>
                  <a:prstDash val="solid"/>
                  <a:miter lim="400000"/>
                  <a:headEnd type="none" w="med" len="med"/>
                  <a:tailEnd type="none" w="med" len="med"/>
                </a:ln>
              </p:spPr>
            </p:sp>
          </p:grpSp>
        </p:grpSp>
      </p:grpSp>
      <p:grpSp>
        <p:nvGrpSpPr>
          <p:cNvPr id="1055" name="02 · card sand: LESS TOTAL WORK"/>
          <p:cNvGrpSpPr/>
          <p:nvPr/>
        </p:nvGrpSpPr>
        <p:grpSpPr>
          <a:xfrm>
            <a:off x="6400800" y="2178048"/>
            <a:ext cx="2212975" cy="1284607"/>
            <a:chOff x="6400800" y="2178048"/>
            <a:chExt cx="2212975" cy="1284607"/>
          </a:xfrm>
        </p:grpSpPr>
        <p:sp>
          <p:nvSpPr>
            <p:cNvPr id="1031" name="02 · tag: LESS TOTAL WORK [p02-text-0027]"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LESS TOTAL WORK</a:t>
              </a:r>
              <a:endParaRPr lang="en-US" sz="1050" b="0" i="0" kern="0" spc="50" dirty="0">
                <a:solidFill>
                  <a:srgbClr val="022AC0">
                    <a:alpha val="85000"/>
                  </a:srgbClr>
                </a:solidFill>
                <a:latin typeface="IBM Plex Mono"/>
                <a:ea typeface="IBM Plex Mono"/>
                <a:cs typeface="IBM Plex Mono"/>
              </a:endParaRPr>
            </a:p>
          </p:txBody>
        </p:sp>
        <p:grpSp>
          <p:nvGrpSpPr>
            <p:cNvPr id="1032" name="02 · svg · drawing [p02-e0030]"/>
            <p:cNvGrpSpPr/>
            <p:nvPr/>
          </p:nvGrpSpPr>
          <p:grpSpPr>
            <a:xfrm>
              <a:off x="7092723" y="2714262"/>
              <a:ext cx="850446" cy="544286"/>
              <a:chOff x="7092723" y="2714262"/>
              <a:chExt cx="850446" cy="544286"/>
            </a:xfrm>
          </p:grpSpPr>
          <p:grpSp>
            <p:nvGrpSpPr>
              <p:cNvPr id="1033" name="g · 2"/>
              <p:cNvGrpSpPr/>
              <p:nvPr/>
            </p:nvGrpSpPr>
            <p:grpSpPr>
              <a:xfrm>
                <a:off x="7092723" y="2714262"/>
                <a:ext cx="850446" cy="544286"/>
                <a:chOff x="7092723" y="2714262"/>
                <a:chExt cx="850446" cy="544286"/>
              </a:xfrm>
            </p:grpSpPr>
            <p:sp>
              <p:nvSpPr>
                <p:cNvPr id="1034" name="path · 1"/>
                <p:cNvSpPr/>
                <p:nvPr/>
              </p:nvSpPr>
              <p:spPr>
                <a:xfrm>
                  <a:off x="7092723" y="2714262"/>
                  <a:ext cx="850446" cy="544286"/>
                </a:xfrm>
                <a:custGeom>
                  <a:avLst/>
                  <a:gdLst/>
                  <a:ahLst/>
                  <a:cxnLst/>
                  <a:rect l="0" t="0" r="r" b="b"/>
                  <a:pathLst>
                    <a:path w="850446" h="544286" fill="none" stroke="1" extrusionOk="0">
                      <a:moveTo>
                        <a:pt x="0" y="544286"/>
                      </a:moveTo>
                      <a:lnTo>
                        <a:pt x="0" y="170089"/>
                      </a:lnTo>
                      <a:lnTo>
                        <a:pt x="170089" y="170089"/>
                      </a:lnTo>
                      <a:lnTo>
                        <a:pt x="170089" y="544286"/>
                      </a:lnTo>
                      <a:moveTo>
                        <a:pt x="340179" y="544286"/>
                      </a:moveTo>
                      <a:lnTo>
                        <a:pt x="340179" y="0"/>
                      </a:lnTo>
                      <a:lnTo>
                        <a:pt x="510268" y="0"/>
                      </a:lnTo>
                      <a:lnTo>
                        <a:pt x="510268" y="544286"/>
                      </a:lnTo>
                      <a:moveTo>
                        <a:pt x="680357" y="544286"/>
                      </a:moveTo>
                      <a:lnTo>
                        <a:pt x="680357" y="272143"/>
                      </a:lnTo>
                      <a:lnTo>
                        <a:pt x="850447" y="272143"/>
                      </a:lnTo>
                      <a:lnTo>
                        <a:pt x="850447" y="544286"/>
                      </a:lnTo>
                    </a:path>
                  </a:pathLst>
                </a:custGeom>
                <a:noFill/>
                <a:ln w="34018" cap="flat" cmpd="sng" algn="ctr">
                  <a:solidFill>
                    <a:srgbClr val="032D60"/>
                  </a:solidFill>
                  <a:prstDash val="solid"/>
                  <a:miter lim="400000"/>
                  <a:headEnd type="none" w="med" len="med"/>
                  <a:tailEnd type="none" w="med" len="med"/>
                </a:ln>
              </p:spPr>
            </p:sp>
          </p:grpSp>
        </p:grpSp>
      </p:grpSp>
      <p:grpSp>
        <p:nvGrpSpPr>
          <p:cNvPr id="1056" name="02 · card blue: SHORTER CRITICAL PATH"/>
          <p:cNvGrpSpPr/>
          <p:nvPr/>
        </p:nvGrpSpPr>
        <p:grpSpPr>
          <a:xfrm>
            <a:off x="9210675" y="2178048"/>
            <a:ext cx="2212975" cy="1284607"/>
            <a:chOff x="9210675" y="2178048"/>
            <a:chExt cx="2212975" cy="1284607"/>
          </a:xfrm>
        </p:grpSpPr>
        <p:sp>
          <p:nvSpPr>
            <p:cNvPr id="1035" name="02 · tag: SHORTER CRITICAL PATH [p02-text-0028]"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SHORTER CRITICAL PATH</a:t>
              </a:r>
              <a:endParaRPr lang="en-US" sz="1050" b="0" i="0" kern="0" spc="50" dirty="0">
                <a:solidFill>
                  <a:srgbClr val="022AC0">
                    <a:alpha val="85000"/>
                  </a:srgbClr>
                </a:solidFill>
                <a:latin typeface="IBM Plex Mono"/>
                <a:ea typeface="IBM Plex Mono"/>
                <a:cs typeface="IBM Plex Mono"/>
              </a:endParaRPr>
            </a:p>
          </p:txBody>
        </p:sp>
        <p:grpSp>
          <p:nvGrpSpPr>
            <p:cNvPr id="1036" name="02 · svg · drawing [p02-e0032]"/>
            <p:cNvGrpSpPr/>
            <p:nvPr/>
          </p:nvGrpSpPr>
          <p:grpSpPr>
            <a:xfrm>
              <a:off x="9936616" y="2632619"/>
              <a:ext cx="680357" cy="680357"/>
              <a:chOff x="9936616" y="2632619"/>
              <a:chExt cx="680357" cy="680357"/>
            </a:xfrm>
          </p:grpSpPr>
          <p:grpSp>
            <p:nvGrpSpPr>
              <p:cNvPr id="1037" name="g · 3"/>
              <p:cNvGrpSpPr/>
              <p:nvPr/>
            </p:nvGrpSpPr>
            <p:grpSpPr>
              <a:xfrm>
                <a:off x="9936616" y="2632619"/>
                <a:ext cx="680357" cy="680357"/>
                <a:chOff x="9936616" y="2632619"/>
                <a:chExt cx="680357" cy="680357"/>
              </a:xfrm>
            </p:grpSpPr>
            <p:sp>
              <p:nvSpPr>
                <p:cNvPr id="1038" name="circle · 1"/>
                <p:cNvSpPr/>
                <p:nvPr/>
              </p:nvSpPr>
              <p:spPr>
                <a:xfrm>
                  <a:off x="9936616" y="2632619"/>
                  <a:ext cx="680357" cy="680357"/>
                </a:xfrm>
                <a:prstGeom prst="ellipse">
                  <a:avLst/>
                </a:prstGeom>
                <a:noFill/>
                <a:ln w="34018" cap="flat" cmpd="sng" algn="ctr">
                  <a:solidFill>
                    <a:srgbClr val="032D60"/>
                  </a:solidFill>
                  <a:prstDash val="solid"/>
                  <a:miter lim="400000"/>
                  <a:headEnd type="none" w="med" len="med"/>
                  <a:tailEnd type="none" w="med" len="med"/>
                </a:ln>
              </p:spPr>
            </p:sp>
            <p:sp>
              <p:nvSpPr>
                <p:cNvPr id="1039" name="path · 2"/>
                <p:cNvSpPr/>
                <p:nvPr/>
              </p:nvSpPr>
              <p:spPr>
                <a:xfrm>
                  <a:off x="10276795" y="2680244"/>
                  <a:ext cx="238125" cy="442232"/>
                </a:xfrm>
                <a:custGeom>
                  <a:avLst/>
                  <a:gdLst/>
                  <a:ahLst/>
                  <a:cxnLst/>
                  <a:rect l="0" t="0" r="r" b="b"/>
                  <a:pathLst>
                    <a:path w="238125" h="442232" fill="none" stroke="1" extrusionOk="0">
                      <a:moveTo>
                        <a:pt x="0" y="0"/>
                      </a:moveTo>
                      <a:lnTo>
                        <a:pt x="0" y="292554"/>
                      </a:lnTo>
                      <a:lnTo>
                        <a:pt x="238125" y="442232"/>
                      </a:lnTo>
                    </a:path>
                  </a:pathLst>
                </a:custGeom>
                <a:noFill/>
                <a:ln w="34018" cap="flat" cmpd="sng" algn="ctr">
                  <a:solidFill>
                    <a:srgbClr val="032D60"/>
                  </a:solidFill>
                  <a:prstDash val="solid"/>
                  <a:miter lim="400000"/>
                  <a:headEnd type="none" w="med" len="med"/>
                  <a:tailEnd type="none" w="med" len="med"/>
                </a:ln>
              </p:spPr>
            </p:sp>
          </p:grpSp>
        </p:grpSp>
      </p:grpSp>
      <p:grpSp>
        <p:nvGrpSpPr>
          <p:cNvPr id="1057" name="02 · source-line: Jev + LangGraph · Composable AI"/>
          <p:cNvGrpSpPr/>
          <p:nvPr/>
        </p:nvGrpSpPr>
        <p:grpSpPr>
          <a:xfrm>
            <a:off x="558800" y="6037898"/>
            <a:ext cx="11087100" cy="284456"/>
            <a:chOff x="558800" y="6037898"/>
            <a:chExt cx="11087100" cy="284456"/>
          </a:xfrm>
        </p:grpSpPr>
        <p:sp>
          <p:nvSpPr>
            <p:cNvPr id="1040" name="02 · source-line · top border [p02-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1" name="02 · span: Jev + LangGraph · Composable AI [p02-text-0029]" descr="Native editable Unicode text; authored line breaks retained."/>
            <p:cNvSpPr txBox="1"/>
            <p:nvPr/>
          </p:nvSpPr>
          <p:spPr>
            <a:xfrm>
              <a:off x="558800" y="6153126"/>
              <a:ext cx="1897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mposable AI"/>
                </a:rPr>
                <a:t>Composable AI</a:t>
              </a:r>
              <a:endParaRPr lang="en-US" sz="950" b="0" i="0" kern="0" spc="0" dirty="0" u="sng">
                <a:solidFill>
                  <a:srgbClr val="315A7A"/>
                </a:solidFill>
                <a:latin typeface="Salesforce Sans"/>
                <a:ea typeface="Salesforce Sans"/>
                <a:cs typeface="Salesforce Sans"/>
              </a:endParaRPr>
            </a:p>
          </p:txBody>
        </p:sp>
        <p:sp>
          <p:nvSpPr>
            <p:cNvPr id="1042" name="02 · span: Mechanisms and objectives; no koa-action benchmark [p02-text-0030]" descr="Native editable Unicode text; authored line breaks retained."/>
            <p:cNvSpPr txBox="1"/>
            <p:nvPr/>
          </p:nvSpPr>
          <p:spPr>
            <a:xfrm>
              <a:off x="8582168" y="6153126"/>
              <a:ext cx="306373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Mechanisms and objectives; no koa-action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 customer, two obligations">
    <p:bg>
      <p:bgPr>
        <a:solidFill>
          <a:srgbClr val="FFFFFF"/>
        </a:solidFill>
      </p:bgPr>
    </p:bg>
    <p:spTree>
      <p:nvGrpSpPr>
        <p:cNvPr id="1" name=""/>
        <p:cNvGrpSpPr/>
        <p:nvPr/>
      </p:nvGrpSpPr>
      <p:grpSpPr>
        <a:xfrm>
          <a:off x="0" y="0"/>
          <a:ext cx="0" cy="0"/>
          <a:chOff x="0" y="0"/>
          <a:chExt cx="0" cy="0"/>
        </a:xfrm>
      </p:grpSpPr>
      <p:sp>
        <p:nvSpPr>
          <p:cNvPr id="1000" name="03 · slide dark · surface [p0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03 · chrome-min: DISAGGREGATED INTELLIGENCE"/>
          <p:cNvGrpSpPr/>
          <p:nvPr/>
        </p:nvGrpSpPr>
        <p:grpSpPr>
          <a:xfrm>
            <a:off x="558800" y="356053"/>
            <a:ext cx="11087100" cy="187325"/>
            <a:chOff x="558800" y="356053"/>
            <a:chExt cx="11087100" cy="187325"/>
          </a:xfrm>
        </p:grpSpPr>
        <p:sp>
          <p:nvSpPr>
            <p:cNvPr id="1001" name="03 · l: DISAGGREGATED INTELLIGENCE [p03-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3 · r: 03 / 36 [p03-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03 / 36</a:t>
              </a:r>
              <a:endParaRPr lang="en-US" sz="950" b="1" i="0" kern="0" spc="65" dirty="0">
                <a:solidFill>
                  <a:srgbClr val="022AC0"/>
                </a:solidFill>
                <a:latin typeface="Salesforce Sans"/>
                <a:ea typeface="Salesforce Sans"/>
                <a:cs typeface="Salesforce Sans"/>
              </a:endParaRPr>
            </a:p>
          </p:txBody>
        </p:sp>
      </p:grpSp>
      <p:grpSp>
        <p:nvGrpSpPr>
          <p:cNvPr id="1023" name="03 · deck-head: 01 / SERVICE INVARIANT"/>
          <p:cNvGrpSpPr/>
          <p:nvPr/>
        </p:nvGrpSpPr>
        <p:grpSpPr>
          <a:xfrm>
            <a:off x="558800" y="775901"/>
            <a:ext cx="11087100" cy="871263"/>
            <a:chOff x="558800" y="775901"/>
            <a:chExt cx="11087100" cy="871263"/>
          </a:xfrm>
        </p:grpSpPr>
        <p:sp>
          <p:nvSpPr>
            <p:cNvPr id="1003" name="03 · case-eyebrow: 01 / SERVICE INVARIANT [p03-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SERVICE INVARIANT</a:t>
              </a:r>
              <a:endParaRPr lang="en-US" sz="1050" b="1" i="0" kern="0" spc="68" dirty="0">
                <a:solidFill>
                  <a:srgbClr val="022AC0"/>
                </a:solidFill>
                <a:latin typeface="Salesforce Sans"/>
                <a:ea typeface="Salesforce Sans"/>
                <a:cs typeface="Salesforce Sans"/>
              </a:endParaRPr>
            </a:p>
          </p:txBody>
        </p:sp>
        <p:sp>
          <p:nvSpPr>
            <p:cNvPr id="1004" name="03 · case-title: One customer, two obligations [p03-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One customer, two obligations</a:t>
              </a:r>
              <a:endParaRPr lang="en-US" sz="3600" b="1" i="0" kern="0" spc="-95" dirty="0">
                <a:solidFill>
                  <a:srgbClr val="022AC0"/>
                </a:solidFill>
                <a:latin typeface="Manrope"/>
                <a:ea typeface="Manrope"/>
                <a:cs typeface="Manrope"/>
              </a:endParaRPr>
            </a:p>
          </p:txBody>
        </p:sp>
      </p:grpSp>
      <p:sp>
        <p:nvSpPr>
          <p:cNvPr id="1005" name="03 · quote · surface [p03-e0008]"/>
          <p:cNvSpPr/>
          <p:nvPr/>
        </p:nvSpPr>
        <p:spPr>
          <a:xfrm>
            <a:off x="558800" y="1930400"/>
            <a:ext cx="5232400" cy="1952625"/>
          </a:xfrm>
          <a:prstGeom prst="roundRect">
            <a:avLst>
              <a:gd name="adj" fmla="val 7154"/>
            </a:avLst>
          </a:prstGeom>
          <a:solidFill>
            <a:srgbClr val="FFFFFF"/>
          </a:solidFill>
          <a:ln>
            <a:noFill/>
          </a:ln>
        </p:spPr>
      </p:sp>
      <p:sp>
        <p:nvSpPr>
          <p:cNvPr id="1006" name="03 · ledger · top border [p03-e0009]"/>
          <p:cNvSpPr/>
          <p:nvPr/>
        </p:nvSpPr>
        <p:spPr>
          <a:xfrm>
            <a:off x="6426200" y="2439670"/>
            <a:ext cx="5105400" cy="6"/>
          </a:xfrm>
          <a:custGeom>
            <a:avLst/>
            <a:gdLst/>
            <a:ahLst/>
            <a:cxnLst/>
            <a:rect l="0" t="0" r="r" b="b"/>
            <a:pathLst>
              <a:path w="5105400" h="6" fill="none" stroke="1">
                <a:moveTo>
                  <a:pt x="0" y="0"/>
                </a:moveTo>
                <a:lnTo>
                  <a:pt x="5105400" y="0"/>
                </a:lnTo>
              </a:path>
            </a:pathLst>
          </a:custGeom>
          <a:noFill/>
          <a:ln w="12700" cap="flat">
            <a:solidFill>
              <a:srgbClr val="A4C4DC">
                <a:alpha val="50196"/>
              </a:srgbClr>
            </a:solidFill>
            <a:prstDash val="solid"/>
          </a:ln>
        </p:spPr>
      </p:sp>
      <p:sp>
        <p:nvSpPr>
          <p:cNvPr id="1007" name="03 · ledger-row · bottom border [p03-e0010]"/>
          <p:cNvSpPr/>
          <p:nvPr/>
        </p:nvSpPr>
        <p:spPr>
          <a:xfrm>
            <a:off x="6426200" y="2956538"/>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8" name="03 · ledger-row · bottom border [p03-e0011]"/>
          <p:cNvSpPr/>
          <p:nvPr/>
        </p:nvSpPr>
        <p:spPr>
          <a:xfrm>
            <a:off x="6426200" y="3470230"/>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9" name="03 · quote: “Exchange these headphones and return the spare cable.” [p03-text-0012]" descr="Native editable Unicode text; authored line breaks retained."/>
          <p:cNvSpPr txBox="1"/>
          <p:nvPr/>
        </p:nvSpPr>
        <p:spPr>
          <a:xfrm>
            <a:off x="863600" y="2210256"/>
            <a:ext cx="4635500" cy="139926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“Exchange these</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headphones</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and return the spare cable.”</a:t>
            </a:r>
            <a:endParaRPr lang="en-US" sz="2900" b="0" i="0" kern="0" spc="-50" dirty="0">
              <a:solidFill>
                <a:srgbClr val="022AC0"/>
              </a:solidFill>
              <a:latin typeface="Salesforce Sans"/>
              <a:ea typeface="Salesforce Sans"/>
              <a:cs typeface="Salesforce Sans"/>
            </a:endParaRPr>
          </a:p>
        </p:txBody>
      </p:sp>
      <p:sp>
        <p:nvSpPr>
          <p:cNvPr id="1010" name="03 · case-text-1: The cable is a separately purchased item. [p03-text-0013]" descr="Native editable Unicode text; authored line breaks retained."/>
          <p:cNvSpPr txBox="1"/>
          <p:nvPr/>
        </p:nvSpPr>
        <p:spPr>
          <a:xfrm>
            <a:off x="558800" y="4099561"/>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cable is a separately purchased item.</a:t>
            </a:r>
            <a:endParaRPr lang="en-US" sz="1250" b="0" i="0" kern="0" spc="0" dirty="0">
              <a:solidFill>
                <a:srgbClr val="032D60"/>
              </a:solidFill>
              <a:latin typeface="Salesforce Sans"/>
              <a:ea typeface="Salesforce Sans"/>
              <a:cs typeface="Salesforce Sans"/>
            </a:endParaRPr>
          </a:p>
        </p:txBody>
      </p:sp>
      <p:sp>
        <p:nvSpPr>
          <p:cNvPr id="1011" name="03 · case-text-2: The case ledger [p03-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case ledger</a:t>
            </a:r>
            <a:endParaRPr lang="en-US" sz="2000" b="1" i="0" kern="0" spc="-38" dirty="0">
              <a:solidFill>
                <a:srgbClr val="022AC0"/>
              </a:solidFill>
              <a:latin typeface="Manrope"/>
              <a:ea typeface="Manrope"/>
              <a:cs typeface="Manrope"/>
            </a:endParaRPr>
          </a:p>
        </p:txBody>
      </p:sp>
      <p:grpSp>
        <p:nvGrpSpPr>
          <p:cNvPr id="1024" name="03 · ledger-row: Exchange"/>
          <p:cNvGrpSpPr/>
          <p:nvPr/>
        </p:nvGrpSpPr>
        <p:grpSpPr>
          <a:xfrm>
            <a:off x="6426200" y="2585720"/>
            <a:ext cx="5118100" cy="234293"/>
            <a:chOff x="6426200" y="2585720"/>
            <a:chExt cx="5118100" cy="234293"/>
          </a:xfrm>
        </p:grpSpPr>
        <p:sp>
          <p:nvSpPr>
            <p:cNvPr id="1012" name="03 · span: Exchange [p03-text-0015]" descr="Native editable Unicode text; authored line breaks retained."/>
            <p:cNvSpPr txBox="1"/>
            <p:nvPr/>
          </p:nvSpPr>
          <p:spPr>
            <a:xfrm>
              <a:off x="6426200"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Exchange</a:t>
              </a:r>
              <a:endParaRPr lang="en-US" sz="1400" b="0" i="0" kern="0" spc="0" dirty="0">
                <a:solidFill>
                  <a:srgbClr val="032D60"/>
                </a:solidFill>
                <a:latin typeface="Salesforce Sans"/>
                <a:ea typeface="Salesforce Sans"/>
                <a:cs typeface="Salesforce Sans"/>
              </a:endParaRPr>
            </a:p>
          </p:txBody>
        </p:sp>
        <p:sp>
          <p:nvSpPr>
            <p:cNvPr id="1013" name="03 · span: Requested [p03-text-0016]" descr="Native editable Unicode text; authored line breaks retained."/>
            <p:cNvSpPr txBox="1"/>
            <p:nvPr/>
          </p:nvSpPr>
          <p:spPr>
            <a:xfrm>
              <a:off x="8187267"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4" name="03 · status: Pending [p03-text-0017]" descr="Native editable Unicode text; authored line breaks retained."/>
            <p:cNvSpPr txBox="1"/>
            <p:nvPr/>
          </p:nvSpPr>
          <p:spPr>
            <a:xfrm>
              <a:off x="9948333" y="2585720"/>
              <a:ext cx="1595967" cy="234293"/>
            </a:xfrm>
            <a:prstGeom prst="rect">
              <a:avLst/>
            </a:prstGeom>
            <a:noFill/>
            <a:ln>
              <a:noFill/>
            </a:ln>
          </p:spPr>
          <p:txBody>
            <a:bodyPr wrap="none" lIns="0" rIns="0" tIns="0" bIns="0" anchor="t" anchorCtr="0" vertOverflow="overflow" horzOverflow="overflow" spcFirstLastPara="0">
              <a:noAutofit/>
            </a:bodyPr>
            <a:lstStyle/>
            <a:p>
              <a:pPr marL="969865" marR="0" indent="0"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grpSp>
        <p:nvGrpSpPr>
          <p:cNvPr id="1025" name="03 · ledger-row: Cable return"/>
          <p:cNvGrpSpPr/>
          <p:nvPr/>
        </p:nvGrpSpPr>
        <p:grpSpPr>
          <a:xfrm>
            <a:off x="6426200" y="3099413"/>
            <a:ext cx="5118100" cy="234293"/>
            <a:chOff x="6426200" y="3099413"/>
            <a:chExt cx="5118100" cy="234293"/>
          </a:xfrm>
        </p:grpSpPr>
        <p:sp>
          <p:nvSpPr>
            <p:cNvPr id="1015" name="03 · span: Cable return [p03-text-0018]" descr="Native editable Unicode text; authored line breaks retained."/>
            <p:cNvSpPr txBox="1"/>
            <p:nvPr/>
          </p:nvSpPr>
          <p:spPr>
            <a:xfrm>
              <a:off x="6426200"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Cable return</a:t>
              </a:r>
              <a:endParaRPr lang="en-US" sz="1400" b="0" i="0" kern="0" spc="0" dirty="0">
                <a:solidFill>
                  <a:srgbClr val="032D60"/>
                </a:solidFill>
                <a:latin typeface="Salesforce Sans"/>
                <a:ea typeface="Salesforce Sans"/>
                <a:cs typeface="Salesforce Sans"/>
              </a:endParaRPr>
            </a:p>
          </p:txBody>
        </p:sp>
        <p:sp>
          <p:nvSpPr>
            <p:cNvPr id="1016" name="03 · span: Requested [p03-text-0019]" descr="Native editable Unicode text; authored line breaks retained."/>
            <p:cNvSpPr txBox="1"/>
            <p:nvPr/>
          </p:nvSpPr>
          <p:spPr>
            <a:xfrm>
              <a:off x="8187267"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7" name="03 · status: Pending [p03-text-0020]" descr="Native editable Unicode text; authored line breaks retained."/>
            <p:cNvSpPr txBox="1"/>
            <p:nvPr/>
          </p:nvSpPr>
          <p:spPr>
            <a:xfrm>
              <a:off x="9948333" y="3099413"/>
              <a:ext cx="1595967" cy="234293"/>
            </a:xfrm>
            <a:prstGeom prst="rect">
              <a:avLst/>
            </a:prstGeom>
            <a:noFill/>
            <a:ln>
              <a:noFill/>
            </a:ln>
          </p:spPr>
          <p:txBody>
            <a:bodyPr wrap="none" lIns="0" rIns="0" tIns="0" bIns="0" anchor="t" anchorCtr="0" vertOverflow="overflow" horzOverflow="overflow" spcFirstLastPara="0">
              <a:noAutofit/>
            </a:bodyPr>
            <a:lstStyle/>
            <a:p>
              <a:pPr marL="969865" marR="0" indent="0"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sp>
        <p:nvSpPr>
          <p:cNvPr id="1018" name="03 · case-text-3: What must survive every transition? [p03-text-0021]" descr="Native editable Unicode text; authored line breaks retained."/>
          <p:cNvSpPr txBox="1"/>
          <p:nvPr/>
        </p:nvSpPr>
        <p:spPr>
          <a:xfrm>
            <a:off x="6426200" y="3868643"/>
            <a:ext cx="51181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What must survive</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every transition?</a:t>
            </a:r>
            <a:endParaRPr lang="en-US" sz="1900" b="0" i="0" kern="0" spc="-10" dirty="0">
              <a:solidFill>
                <a:srgbClr val="032D60">
                  <a:alpha val="86000"/>
                </a:srgbClr>
              </a:solidFill>
              <a:latin typeface="Salesforce Sans"/>
              <a:ea typeface="Salesforce Sans"/>
              <a:cs typeface="Salesforce Sans"/>
            </a:endParaRPr>
          </a:p>
        </p:txBody>
      </p:sp>
      <p:grpSp>
        <p:nvGrpSpPr>
          <p:cNvPr id="1026" name="03 · source-line: Agent Graph / guided determinism"/>
          <p:cNvGrpSpPr/>
          <p:nvPr/>
        </p:nvGrpSpPr>
        <p:grpSpPr>
          <a:xfrm>
            <a:off x="558800" y="6037898"/>
            <a:ext cx="11087100" cy="284456"/>
            <a:chOff x="558800" y="6037898"/>
            <a:chExt cx="11087100" cy="284456"/>
          </a:xfrm>
        </p:grpSpPr>
        <p:sp>
          <p:nvSpPr>
            <p:cNvPr id="1019" name="03 · source-line · top border [p0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03 · span: Agent Graph / guided determinism [p03-text-0022]"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21" name="03 · span: Constructed service example [p03-text-0023]" descr="Native editable Unicode text; authored line breaks retained."/>
            <p:cNvSpPr txBox="1"/>
            <p:nvPr/>
          </p:nvSpPr>
          <p:spPr>
            <a:xfrm>
              <a:off x="10015866" y="6153126"/>
              <a:ext cx="16300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service example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Give each responsibility an owner">
    <p:bg>
      <p:bgPr>
        <a:solidFill>
          <a:srgbClr val="FFFFFF"/>
        </a:solidFill>
      </p:bgPr>
    </p:bg>
    <p:spTree>
      <p:nvGrpSpPr>
        <p:cNvPr id="1" name=""/>
        <p:cNvGrpSpPr/>
        <p:nvPr/>
      </p:nvGrpSpPr>
      <p:grpSpPr>
        <a:xfrm>
          <a:off x="0" y="0"/>
          <a:ext cx="0" cy="0"/>
          <a:chOff x="0" y="0"/>
          <a:chExt cx="0" cy="0"/>
        </a:xfrm>
      </p:grpSpPr>
      <p:sp>
        <p:nvSpPr>
          <p:cNvPr id="1000" name="04 · slide light · surface [p04-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1" name="04 · chrome-min: DISAGGREGATED INTELLIGENCE"/>
          <p:cNvGrpSpPr/>
          <p:nvPr/>
        </p:nvGrpSpPr>
        <p:grpSpPr>
          <a:xfrm>
            <a:off x="558800" y="356053"/>
            <a:ext cx="11087100" cy="187325"/>
            <a:chOff x="558800" y="356053"/>
            <a:chExt cx="11087100" cy="187325"/>
          </a:xfrm>
        </p:grpSpPr>
        <p:sp>
          <p:nvSpPr>
            <p:cNvPr id="1001" name="04 · l: DISAGGREGATED INTELLIGENCE [p0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4 · r: 04 / 36 [p0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04 / 36</a:t>
              </a:r>
              <a:endParaRPr lang="en-US" sz="950" b="1" i="0" kern="0" spc="65" dirty="0">
                <a:solidFill>
                  <a:srgbClr val="022AC0"/>
                </a:solidFill>
                <a:latin typeface="Salesforce Sans"/>
                <a:ea typeface="Salesforce Sans"/>
                <a:cs typeface="Salesforce Sans"/>
              </a:endParaRPr>
            </a:p>
          </p:txBody>
        </p:sp>
      </p:grpSp>
      <p:grpSp>
        <p:nvGrpSpPr>
          <p:cNvPr id="1052" name="04 · deck-head: 01 / ARCHITECTURE"/>
          <p:cNvGrpSpPr/>
          <p:nvPr/>
        </p:nvGrpSpPr>
        <p:grpSpPr>
          <a:xfrm>
            <a:off x="558800" y="775901"/>
            <a:ext cx="11087100" cy="871263"/>
            <a:chOff x="558800" y="775901"/>
            <a:chExt cx="11087100" cy="871263"/>
          </a:xfrm>
        </p:grpSpPr>
        <p:sp>
          <p:nvSpPr>
            <p:cNvPr id="1003" name="04 · ownership-eyebrow: 01 / ARCHITECTURE [p0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ARCHITECTURE</a:t>
              </a:r>
              <a:endParaRPr lang="en-US" sz="1050" b="1" i="0" kern="0" spc="68" dirty="0">
                <a:solidFill>
                  <a:srgbClr val="022AC0"/>
                </a:solidFill>
                <a:latin typeface="Salesforce Sans"/>
                <a:ea typeface="Salesforce Sans"/>
                <a:cs typeface="Salesforce Sans"/>
              </a:endParaRPr>
            </a:p>
          </p:txBody>
        </p:sp>
        <p:sp>
          <p:nvSpPr>
            <p:cNvPr id="1004" name="04 · ownership-title: Give each responsibility an owner [p0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each responsibility an owner</a:t>
              </a:r>
              <a:endParaRPr lang="en-US" sz="3600" b="1" i="0" kern="0" spc="-95" dirty="0">
                <a:solidFill>
                  <a:srgbClr val="022AC0"/>
                </a:solidFill>
                <a:latin typeface="Manrope"/>
                <a:ea typeface="Manrope"/>
                <a:cs typeface="Manrope"/>
              </a:endParaRPr>
            </a:p>
          </p:txBody>
        </p:sp>
      </p:grpSp>
      <p:grpSp>
        <p:nvGrpSpPr>
          <p:cNvPr id="1005" name="04 · svg · drawing [p04-e0008]"/>
          <p:cNvGrpSpPr/>
          <p:nvPr/>
        </p:nvGrpSpPr>
        <p:grpSpPr>
          <a:xfrm>
            <a:off x="1749298" y="2446126"/>
            <a:ext cx="8651875" cy="1793187"/>
            <a:chOff x="1749298" y="2446126"/>
            <a:chExt cx="8651875" cy="1793187"/>
          </a:xfrm>
        </p:grpSpPr>
        <p:grpSp>
          <p:nvGrpSpPr>
            <p:cNvPr id="1006" name="path · 1 + arrowhead"/>
            <p:cNvGrpSpPr/>
            <p:nvPr/>
          </p:nvGrpSpPr>
          <p:grpSpPr>
            <a:xfrm>
              <a:off x="6026785" y="2446126"/>
              <a:ext cx="138430" cy="504878"/>
              <a:chOff x="6026785" y="2446126"/>
              <a:chExt cx="138430" cy="504878"/>
            </a:xfrm>
          </p:grpSpPr>
          <p:sp>
            <p:nvSpPr>
              <p:cNvPr id="1007" name="path · 1"/>
              <p:cNvSpPr/>
              <p:nvPr/>
            </p:nvSpPr>
            <p:spPr>
              <a:xfrm>
                <a:off x="6096000" y="2446126"/>
                <a:ext cx="1" cy="487468"/>
              </a:xfrm>
              <a:custGeom>
                <a:avLst/>
                <a:gdLst/>
                <a:ahLst/>
                <a:cxnLst/>
                <a:rect l="0" t="0" r="r" b="b"/>
                <a:pathLst>
                  <a:path w="1" h="487468" fill="none" stroke="1" extrusionOk="0">
                    <a:moveTo>
                      <a:pt x="0" y="0"/>
                    </a:moveTo>
                    <a:lnTo>
                      <a:pt x="0" y="487468"/>
                    </a:lnTo>
                  </a:path>
                </a:pathLst>
              </a:custGeom>
              <a:noFill/>
              <a:ln w="15875" cap="flat" cmpd="sng" algn="ctr">
                <a:solidFill>
                  <a:srgbClr val="789B8E"/>
                </a:solidFill>
                <a:prstDash val="solid"/>
                <a:miter lim="400000"/>
                <a:headEnd type="none" w="med" len="med"/>
                <a:tailEnd type="none" w="med" len="med"/>
              </a:ln>
            </p:spPr>
          </p:sp>
          <p:grpSp>
            <p:nvGrpSpPr>
              <p:cNvPr id="1008" name="arr2 end"/>
              <p:cNvGrpSpPr/>
              <p:nvPr/>
            </p:nvGrpSpPr>
            <p:grpSpPr>
              <a:xfrm>
                <a:off x="6026785" y="2811727"/>
                <a:ext cx="138430" cy="139277"/>
                <a:chOff x="6026785" y="2811727"/>
                <a:chExt cx="138430" cy="139277"/>
              </a:xfrm>
            </p:grpSpPr>
            <p:sp>
              <p:nvSpPr>
                <p:cNvPr id="1009" name="path · 2"/>
                <p:cNvSpPr/>
                <p:nvPr/>
              </p:nvSpPr>
              <p:spPr>
                <a:xfrm>
                  <a:off x="6026785" y="2811727"/>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0" name="path · 3 + arrowhead"/>
            <p:cNvGrpSpPr/>
            <p:nvPr/>
          </p:nvGrpSpPr>
          <p:grpSpPr>
            <a:xfrm>
              <a:off x="1749298" y="3560339"/>
              <a:ext cx="4346702" cy="678974"/>
              <a:chOff x="1749298" y="3560339"/>
              <a:chExt cx="4346702" cy="678974"/>
            </a:xfrm>
          </p:grpSpPr>
          <p:sp>
            <p:nvSpPr>
              <p:cNvPr id="1011" name="path · 3"/>
              <p:cNvSpPr/>
              <p:nvPr/>
            </p:nvSpPr>
            <p:spPr>
              <a:xfrm>
                <a:off x="1818513" y="3560339"/>
                <a:ext cx="4277487" cy="661564"/>
              </a:xfrm>
              <a:custGeom>
                <a:avLst/>
                <a:gdLst/>
                <a:ahLst/>
                <a:cxnLst/>
                <a:rect l="0" t="0" r="r" b="b"/>
                <a:pathLst>
                  <a:path w="4277487" h="661564" fill="none" stroke="1" extrusionOk="0">
                    <a:moveTo>
                      <a:pt x="4277487" y="0"/>
                    </a:moveTo>
                    <a:lnTo>
                      <a:pt x="4277487" y="383011"/>
                    </a:lnTo>
                    <a:lnTo>
                      <a:pt x="0" y="383011"/>
                    </a:lnTo>
                    <a:lnTo>
                      <a:pt x="0" y="661564"/>
                    </a:lnTo>
                  </a:path>
                </a:pathLst>
              </a:custGeom>
              <a:noFill/>
              <a:ln w="15875" cap="flat" cmpd="sng" algn="ctr">
                <a:solidFill>
                  <a:srgbClr val="789B8E"/>
                </a:solidFill>
                <a:prstDash val="solid"/>
                <a:miter lim="400000"/>
                <a:headEnd type="none" w="med" len="med"/>
                <a:tailEnd type="none" w="med" len="med"/>
              </a:ln>
            </p:spPr>
          </p:sp>
          <p:grpSp>
            <p:nvGrpSpPr>
              <p:cNvPr id="1012" name="arr2 end"/>
              <p:cNvGrpSpPr/>
              <p:nvPr/>
            </p:nvGrpSpPr>
            <p:grpSpPr>
              <a:xfrm>
                <a:off x="1749298" y="4100036"/>
                <a:ext cx="138430" cy="139277"/>
                <a:chOff x="1749298" y="4100036"/>
                <a:chExt cx="138430" cy="139277"/>
              </a:xfrm>
            </p:grpSpPr>
            <p:sp>
              <p:nvSpPr>
                <p:cNvPr id="1013" name="path · 4"/>
                <p:cNvSpPr/>
                <p:nvPr/>
              </p:nvSpPr>
              <p:spPr>
                <a:xfrm>
                  <a:off x="174929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4" name="path · 5 + arrowhead"/>
            <p:cNvGrpSpPr/>
            <p:nvPr/>
          </p:nvGrpSpPr>
          <p:grpSpPr>
            <a:xfrm>
              <a:off x="4587113" y="3943350"/>
              <a:ext cx="1508887" cy="295963"/>
              <a:chOff x="4587113" y="3943350"/>
              <a:chExt cx="1508887" cy="295963"/>
            </a:xfrm>
          </p:grpSpPr>
          <p:sp>
            <p:nvSpPr>
              <p:cNvPr id="1015" name="path · 5"/>
              <p:cNvSpPr/>
              <p:nvPr/>
            </p:nvSpPr>
            <p:spPr>
              <a:xfrm>
                <a:off x="4656328" y="3943350"/>
                <a:ext cx="1439672" cy="278553"/>
              </a:xfrm>
              <a:custGeom>
                <a:avLst/>
                <a:gdLst/>
                <a:ahLst/>
                <a:cxnLst/>
                <a:rect l="0" t="0" r="r" b="b"/>
                <a:pathLst>
                  <a:path w="1439672" h="278553" fill="none" stroke="1" extrusionOk="0">
                    <a:moveTo>
                      <a:pt x="1439672" y="0"/>
                    </a:moveTo>
                    <a:lnTo>
                      <a:pt x="0" y="0"/>
                    </a:lnTo>
                    <a:lnTo>
                      <a:pt x="0" y="278553"/>
                    </a:lnTo>
                  </a:path>
                </a:pathLst>
              </a:custGeom>
              <a:noFill/>
              <a:ln w="15875" cap="flat" cmpd="sng" algn="ctr">
                <a:solidFill>
                  <a:srgbClr val="789B8E"/>
                </a:solidFill>
                <a:prstDash val="solid"/>
                <a:miter lim="400000"/>
                <a:headEnd type="none" w="med" len="med"/>
                <a:tailEnd type="none" w="med" len="med"/>
              </a:ln>
            </p:spPr>
          </p:sp>
          <p:grpSp>
            <p:nvGrpSpPr>
              <p:cNvPr id="1016" name="arr2 end"/>
              <p:cNvGrpSpPr/>
              <p:nvPr/>
            </p:nvGrpSpPr>
            <p:grpSpPr>
              <a:xfrm>
                <a:off x="4587113" y="4100036"/>
                <a:ext cx="138430" cy="139277"/>
                <a:chOff x="4587113" y="4100036"/>
                <a:chExt cx="138430" cy="139277"/>
              </a:xfrm>
            </p:grpSpPr>
            <p:sp>
              <p:nvSpPr>
                <p:cNvPr id="1017" name="path · 6"/>
                <p:cNvSpPr/>
                <p:nvPr/>
              </p:nvSpPr>
              <p:spPr>
                <a:xfrm>
                  <a:off x="458711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8" name="path · 7 + arrowhead"/>
            <p:cNvGrpSpPr/>
            <p:nvPr/>
          </p:nvGrpSpPr>
          <p:grpSpPr>
            <a:xfrm>
              <a:off x="6096000" y="3943350"/>
              <a:ext cx="1467358" cy="295963"/>
              <a:chOff x="6096000" y="3943350"/>
              <a:chExt cx="1467358" cy="295963"/>
            </a:xfrm>
          </p:grpSpPr>
          <p:sp>
            <p:nvSpPr>
              <p:cNvPr id="1019" name="path · 7"/>
              <p:cNvSpPr/>
              <p:nvPr/>
            </p:nvSpPr>
            <p:spPr>
              <a:xfrm>
                <a:off x="6096000" y="3943350"/>
                <a:ext cx="1398143" cy="278553"/>
              </a:xfrm>
              <a:custGeom>
                <a:avLst/>
                <a:gdLst/>
                <a:ahLst/>
                <a:cxnLst/>
                <a:rect l="0" t="0" r="r" b="b"/>
                <a:pathLst>
                  <a:path w="1398143" h="278553" fill="none" stroke="1" extrusionOk="0">
                    <a:moveTo>
                      <a:pt x="0" y="0"/>
                    </a:moveTo>
                    <a:lnTo>
                      <a:pt x="1398143" y="0"/>
                    </a:lnTo>
                    <a:lnTo>
                      <a:pt x="1398143" y="278553"/>
                    </a:lnTo>
                  </a:path>
                </a:pathLst>
              </a:custGeom>
              <a:noFill/>
              <a:ln w="15875" cap="flat" cmpd="sng" algn="ctr">
                <a:solidFill>
                  <a:srgbClr val="789B8E"/>
                </a:solidFill>
                <a:prstDash val="solid"/>
                <a:miter lim="400000"/>
                <a:headEnd type="none" w="med" len="med"/>
                <a:tailEnd type="none" w="med" len="med"/>
              </a:ln>
            </p:spPr>
          </p:sp>
          <p:grpSp>
            <p:nvGrpSpPr>
              <p:cNvPr id="1020" name="arr2 end"/>
              <p:cNvGrpSpPr/>
              <p:nvPr/>
            </p:nvGrpSpPr>
            <p:grpSpPr>
              <a:xfrm>
                <a:off x="7424928" y="4100036"/>
                <a:ext cx="138430" cy="139277"/>
                <a:chOff x="7424928" y="4100036"/>
                <a:chExt cx="138430" cy="139277"/>
              </a:xfrm>
            </p:grpSpPr>
            <p:sp>
              <p:nvSpPr>
                <p:cNvPr id="1021" name="path · 8"/>
                <p:cNvSpPr/>
                <p:nvPr/>
              </p:nvSpPr>
              <p:spPr>
                <a:xfrm>
                  <a:off x="742492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22" name="path · 9 + arrowhead"/>
            <p:cNvGrpSpPr/>
            <p:nvPr/>
          </p:nvGrpSpPr>
          <p:grpSpPr>
            <a:xfrm>
              <a:off x="6096000" y="3943350"/>
              <a:ext cx="4305173" cy="295963"/>
              <a:chOff x="6096000" y="3943350"/>
              <a:chExt cx="4305173" cy="295963"/>
            </a:xfrm>
          </p:grpSpPr>
          <p:sp>
            <p:nvSpPr>
              <p:cNvPr id="1023" name="path · 9"/>
              <p:cNvSpPr/>
              <p:nvPr/>
            </p:nvSpPr>
            <p:spPr>
              <a:xfrm>
                <a:off x="6096000" y="3943350"/>
                <a:ext cx="4235958" cy="278553"/>
              </a:xfrm>
              <a:custGeom>
                <a:avLst/>
                <a:gdLst/>
                <a:ahLst/>
                <a:cxnLst/>
                <a:rect l="0" t="0" r="r" b="b"/>
                <a:pathLst>
                  <a:path w="4235958" h="278553" fill="none" stroke="1" extrusionOk="0">
                    <a:moveTo>
                      <a:pt x="0" y="0"/>
                    </a:moveTo>
                    <a:lnTo>
                      <a:pt x="4235958" y="0"/>
                    </a:lnTo>
                    <a:lnTo>
                      <a:pt x="4235958" y="278553"/>
                    </a:lnTo>
                  </a:path>
                </a:pathLst>
              </a:custGeom>
              <a:noFill/>
              <a:ln w="15875" cap="flat" cmpd="sng" algn="ctr">
                <a:solidFill>
                  <a:srgbClr val="789B8E"/>
                </a:solidFill>
                <a:prstDash val="solid"/>
                <a:miter lim="400000"/>
                <a:headEnd type="none" w="med" len="med"/>
                <a:tailEnd type="none" w="med" len="med"/>
              </a:ln>
            </p:spPr>
          </p:sp>
          <p:grpSp>
            <p:nvGrpSpPr>
              <p:cNvPr id="1024" name="arr2 end"/>
              <p:cNvGrpSpPr/>
              <p:nvPr/>
            </p:nvGrpSpPr>
            <p:grpSpPr>
              <a:xfrm>
                <a:off x="10262743" y="4100036"/>
                <a:ext cx="138430" cy="139277"/>
                <a:chOff x="10262743" y="4100036"/>
                <a:chExt cx="138430" cy="139277"/>
              </a:xfrm>
            </p:grpSpPr>
            <p:sp>
              <p:nvSpPr>
                <p:cNvPr id="1025" name="path · 10"/>
                <p:cNvSpPr/>
                <p:nvPr/>
              </p:nvSpPr>
              <p:spPr>
                <a:xfrm>
                  <a:off x="1026274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grpSp>
        <p:nvGrpSpPr>
          <p:cNvPr id="1053" name="04 · node sand: AgentScript"/>
          <p:cNvGrpSpPr/>
          <p:nvPr/>
        </p:nvGrpSpPr>
        <p:grpSpPr>
          <a:xfrm>
            <a:off x="1597025" y="1854200"/>
            <a:ext cx="8997950" cy="591940"/>
            <a:chOff x="1597025" y="1854200"/>
            <a:chExt cx="8997950" cy="591940"/>
          </a:xfrm>
        </p:grpSpPr>
        <p:sp>
          <p:nvSpPr>
            <p:cNvPr id="1026" name="04 · node sand · surface [p04-e0009]"/>
            <p:cNvSpPr/>
            <p:nvPr/>
          </p:nvSpPr>
          <p:spPr>
            <a:xfrm>
              <a:off x="1597025" y="1854200"/>
              <a:ext cx="8997950" cy="591940"/>
            </a:xfrm>
            <a:prstGeom prst="roundRect">
              <a:avLst>
                <a:gd name="adj" fmla="val 23600"/>
              </a:avLst>
            </a:prstGeom>
            <a:solidFill>
              <a:srgbClr val="FBF0CF"/>
            </a:solidFill>
            <a:ln>
              <a:noFill/>
            </a:ln>
          </p:spPr>
        </p:sp>
        <p:sp>
          <p:nvSpPr>
            <p:cNvPr id="1027" name="04 · strong: AgentScript [p04-text-0015]" descr="Native editable Unicode text; authored line breaks retained."/>
            <p:cNvSpPr txBox="1"/>
            <p:nvPr/>
          </p:nvSpPr>
          <p:spPr>
            <a:xfrm>
              <a:off x="1774825" y="1899733"/>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AgentScript</a:t>
              </a:r>
              <a:endParaRPr lang="en-US" sz="1450" b="1" i="0" kern="0" spc="0" dirty="0">
                <a:solidFill>
                  <a:srgbClr val="032D60"/>
                </a:solidFill>
                <a:latin typeface="Salesforce Sans"/>
                <a:ea typeface="Salesforce Sans"/>
                <a:cs typeface="Salesforce Sans"/>
              </a:endParaRPr>
            </a:p>
          </p:txBody>
        </p:sp>
        <p:sp>
          <p:nvSpPr>
            <p:cNvPr id="1028" name="04 · small: Authors sequencing, action availability, and bound inputs [p04-text-0016]" descr="Native editable Unicode text; authored line breaks retained."/>
            <p:cNvSpPr txBox="1"/>
            <p:nvPr/>
          </p:nvSpPr>
          <p:spPr>
            <a:xfrm>
              <a:off x="1774825" y="2211053"/>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Authors sequencing, action availability, and bound inputs</a:t>
              </a:r>
              <a:endParaRPr lang="en-US" sz="1100" b="0" i="0" kern="0" spc="0" dirty="0">
                <a:solidFill>
                  <a:srgbClr val="032D60"/>
                </a:solidFill>
                <a:latin typeface="Salesforce Sans"/>
                <a:ea typeface="Salesforce Sans"/>
                <a:cs typeface="Salesforce Sans"/>
              </a:endParaRPr>
            </a:p>
          </p:txBody>
        </p:sp>
      </p:grpSp>
      <p:grpSp>
        <p:nvGrpSpPr>
          <p:cNvPr id="1054" name="04 · node mint: Agent Graph"/>
          <p:cNvGrpSpPr/>
          <p:nvPr/>
        </p:nvGrpSpPr>
        <p:grpSpPr>
          <a:xfrm>
            <a:off x="1597025" y="2968427"/>
            <a:ext cx="8997950" cy="591940"/>
            <a:chOff x="1597025" y="2968427"/>
            <a:chExt cx="8997950" cy="591940"/>
          </a:xfrm>
        </p:grpSpPr>
        <p:sp>
          <p:nvSpPr>
            <p:cNvPr id="1029" name="04 · node mint · surface [p04-e0012]"/>
            <p:cNvSpPr/>
            <p:nvPr/>
          </p:nvSpPr>
          <p:spPr>
            <a:xfrm>
              <a:off x="1597025" y="2968427"/>
              <a:ext cx="8997950" cy="591940"/>
            </a:xfrm>
            <a:prstGeom prst="roundRect">
              <a:avLst>
                <a:gd name="adj" fmla="val 23600"/>
              </a:avLst>
            </a:prstGeom>
            <a:solidFill>
              <a:srgbClr val="DDF3ED"/>
            </a:solidFill>
            <a:ln>
              <a:noFill/>
            </a:ln>
          </p:spPr>
        </p:sp>
        <p:sp>
          <p:nvSpPr>
            <p:cNvPr id="1030" name="04 · strong: Agent Graph [p04-text-0017]" descr="Native editable Unicode text; authored line breaks retained."/>
            <p:cNvSpPr txBox="1"/>
            <p:nvPr/>
          </p:nvSpPr>
          <p:spPr>
            <a:xfrm>
              <a:off x="1774825" y="3013960"/>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 Graph</a:t>
              </a:r>
              <a:endParaRPr lang="en-US" sz="1450" b="1" i="0" kern="0" spc="0" dirty="0">
                <a:solidFill>
                  <a:srgbClr val="032D60"/>
                </a:solidFill>
                <a:latin typeface="Salesforce Sans"/>
                <a:ea typeface="Salesforce Sans"/>
                <a:cs typeface="Salesforce Sans"/>
              </a:endParaRPr>
            </a:p>
          </p:txBody>
        </p:sp>
        <p:sp>
          <p:nvSpPr>
            <p:cNvPr id="1031" name="04 · small: Executes the workflow and retains task state [p04-text-0018]" descr="Native editable Unicode text; authored line breaks retained."/>
            <p:cNvSpPr txBox="1"/>
            <p:nvPr/>
          </p:nvSpPr>
          <p:spPr>
            <a:xfrm>
              <a:off x="1774825" y="3325281"/>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Executes the workflow and retains task state</a:t>
              </a:r>
              <a:endParaRPr lang="en-US" sz="1100" b="0" i="0" kern="0" spc="0" dirty="0">
                <a:solidFill>
                  <a:srgbClr val="032D60"/>
                </a:solidFill>
                <a:latin typeface="Salesforce Sans"/>
                <a:ea typeface="Salesforce Sans"/>
                <a:cs typeface="Salesforce Sans"/>
              </a:endParaRPr>
            </a:p>
          </p:txBody>
        </p:sp>
      </p:grpSp>
      <p:grpSp>
        <p:nvGrpSpPr>
          <p:cNvPr id="1055" name="04 · node mint: INTERPRET"/>
          <p:cNvGrpSpPr/>
          <p:nvPr/>
        </p:nvGrpSpPr>
        <p:grpSpPr>
          <a:xfrm>
            <a:off x="558800" y="4256722"/>
            <a:ext cx="2526292" cy="1253490"/>
            <a:chOff x="558800" y="4256722"/>
            <a:chExt cx="2526292" cy="1253490"/>
          </a:xfrm>
        </p:grpSpPr>
        <p:sp>
          <p:nvSpPr>
            <p:cNvPr id="1032" name="04 · node mint · surface [p04-e0015]"/>
            <p:cNvSpPr/>
            <p:nvPr/>
          </p:nvSpPr>
          <p:spPr>
            <a:xfrm>
              <a:off x="558800" y="4256722"/>
              <a:ext cx="2526292" cy="1253490"/>
            </a:xfrm>
            <a:prstGeom prst="roundRect">
              <a:avLst>
                <a:gd name="adj" fmla="val 11145"/>
              </a:avLst>
            </a:prstGeom>
            <a:solidFill>
              <a:srgbClr val="DDF3ED"/>
            </a:solidFill>
            <a:ln>
              <a:noFill/>
            </a:ln>
          </p:spPr>
        </p:sp>
        <p:sp>
          <p:nvSpPr>
            <p:cNvPr id="1033" name="04 · mini: INTERPRET [p04-text-0019]" descr="Native editable Unicode text; authored line breaks retained."/>
            <p:cNvSpPr txBox="1"/>
            <p:nvPr/>
          </p:nvSpPr>
          <p:spPr>
            <a:xfrm>
              <a:off x="73660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INTERPRET</a:t>
              </a:r>
              <a:endParaRPr lang="en-US" sz="950" b="0" i="0" kern="0" spc="50" dirty="0">
                <a:solidFill>
                  <a:srgbClr val="022AC0"/>
                </a:solidFill>
                <a:latin typeface="IBM Plex Mono"/>
                <a:ea typeface="IBM Plex Mono"/>
                <a:cs typeface="IBM Plex Mono"/>
              </a:endParaRPr>
            </a:p>
          </p:txBody>
        </p:sp>
        <p:sp>
          <p:nvSpPr>
            <p:cNvPr id="1034" name="04 · strong: koa-action [p04-text-0020]" descr="Native editable Unicode text; authored line breaks retained."/>
            <p:cNvSpPr txBox="1"/>
            <p:nvPr/>
          </p:nvSpPr>
          <p:spPr>
            <a:xfrm>
              <a:off x="73660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koa-action</a:t>
              </a:r>
              <a:endParaRPr lang="en-US" sz="1450" b="1" i="0" kern="0" spc="0" dirty="0">
                <a:solidFill>
                  <a:srgbClr val="032D60"/>
                </a:solidFill>
                <a:latin typeface="Salesforce Sans"/>
                <a:ea typeface="Salesforce Sans"/>
                <a:cs typeface="Salesforce Sans"/>
              </a:endParaRPr>
            </a:p>
          </p:txBody>
        </p:sp>
        <p:sp>
          <p:nvSpPr>
            <p:cNvPr id="1035" name="04 · small: System One: bounded decisions [p04-text-0021]" descr="Native editable Unicode text; authored line breaks retained."/>
            <p:cNvSpPr txBox="1"/>
            <p:nvPr/>
          </p:nvSpPr>
          <p:spPr>
            <a:xfrm>
              <a:off x="73660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System One: bounded decisions</a:t>
              </a:r>
              <a:endParaRPr lang="en-US" sz="1100" b="0" i="0" kern="0" spc="0" dirty="0">
                <a:solidFill>
                  <a:srgbClr val="032D60"/>
                </a:solidFill>
                <a:latin typeface="Salesforce Sans"/>
                <a:ea typeface="Salesforce Sans"/>
                <a:cs typeface="Salesforce Sans"/>
              </a:endParaRPr>
            </a:p>
          </p:txBody>
        </p:sp>
      </p:grpSp>
      <p:grpSp>
        <p:nvGrpSpPr>
          <p:cNvPr id="1056" name="04 · node lilac: REASON"/>
          <p:cNvGrpSpPr/>
          <p:nvPr/>
        </p:nvGrpSpPr>
        <p:grpSpPr>
          <a:xfrm>
            <a:off x="3396615" y="4256722"/>
            <a:ext cx="2526292" cy="1253490"/>
            <a:chOff x="3396615" y="4256722"/>
            <a:chExt cx="2526292" cy="1253490"/>
          </a:xfrm>
        </p:grpSpPr>
        <p:sp>
          <p:nvSpPr>
            <p:cNvPr id="1036" name="04 · node lilac · surface [p04-e0019]"/>
            <p:cNvSpPr/>
            <p:nvPr/>
          </p:nvSpPr>
          <p:spPr>
            <a:xfrm>
              <a:off x="3396615" y="4256722"/>
              <a:ext cx="2526292" cy="1253490"/>
            </a:xfrm>
            <a:prstGeom prst="roundRect">
              <a:avLst>
                <a:gd name="adj" fmla="val 11145"/>
              </a:avLst>
            </a:prstGeom>
            <a:solidFill>
              <a:srgbClr val="EAE6FA"/>
            </a:solidFill>
            <a:ln>
              <a:noFill/>
            </a:ln>
          </p:spPr>
        </p:sp>
        <p:sp>
          <p:nvSpPr>
            <p:cNvPr id="1037" name="04 · mini: REASON [p04-text-0022]" descr="Native editable Unicode text; authored line breaks retained."/>
            <p:cNvSpPr txBox="1"/>
            <p:nvPr/>
          </p:nvSpPr>
          <p:spPr>
            <a:xfrm>
              <a:off x="357441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REASON</a:t>
              </a:r>
              <a:endParaRPr lang="en-US" sz="950" b="0" i="0" kern="0" spc="50" dirty="0">
                <a:solidFill>
                  <a:srgbClr val="022AC0"/>
                </a:solidFill>
                <a:latin typeface="IBM Plex Mono"/>
                <a:ea typeface="IBM Plex Mono"/>
                <a:cs typeface="IBM Plex Mono"/>
              </a:endParaRPr>
            </a:p>
          </p:txBody>
        </p:sp>
        <p:sp>
          <p:nvSpPr>
            <p:cNvPr id="1038" name="04 · strong: Frontier model [p04-text-0023]" descr="Native editable Unicode text; authored line breaks retained."/>
            <p:cNvSpPr txBox="1"/>
            <p:nvPr/>
          </p:nvSpPr>
          <p:spPr>
            <a:xfrm>
              <a:off x="357441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Frontier model</a:t>
              </a:r>
              <a:endParaRPr lang="en-US" sz="1450" b="1" i="0" kern="0" spc="0" dirty="0">
                <a:solidFill>
                  <a:srgbClr val="032D60"/>
                </a:solidFill>
                <a:latin typeface="Salesforce Sans"/>
                <a:ea typeface="Salesforce Sans"/>
                <a:cs typeface="Salesforce Sans"/>
              </a:endParaRPr>
            </a:p>
          </p:txBody>
        </p:sp>
        <p:sp>
          <p:nvSpPr>
            <p:cNvPr id="1039" name="04 · small: Residual interpretation after a defined gate [p04-text-0024]" descr="Native editable Unicode text; authored line breaks retained."/>
            <p:cNvSpPr txBox="1"/>
            <p:nvPr/>
          </p:nvSpPr>
          <p:spPr>
            <a:xfrm>
              <a:off x="357441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Residual interpretation</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after a defined gate</a:t>
              </a:r>
              <a:endParaRPr lang="en-US" sz="1100" b="0" i="0" kern="0" spc="0" dirty="0">
                <a:solidFill>
                  <a:srgbClr val="032D60"/>
                </a:solidFill>
                <a:latin typeface="Salesforce Sans"/>
                <a:ea typeface="Salesforce Sans"/>
                <a:cs typeface="Salesforce Sans"/>
              </a:endParaRPr>
            </a:p>
          </p:txBody>
        </p:sp>
      </p:grpSp>
      <p:grpSp>
        <p:nvGrpSpPr>
          <p:cNvPr id="1057" name="04 · node blue: ACT"/>
          <p:cNvGrpSpPr/>
          <p:nvPr/>
        </p:nvGrpSpPr>
        <p:grpSpPr>
          <a:xfrm>
            <a:off x="6234430" y="4256722"/>
            <a:ext cx="2526292" cy="1253490"/>
            <a:chOff x="6234430" y="4256722"/>
            <a:chExt cx="2526292" cy="1253490"/>
          </a:xfrm>
        </p:grpSpPr>
        <p:sp>
          <p:nvSpPr>
            <p:cNvPr id="1040" name="04 · node blue · surface [p04-e0024]"/>
            <p:cNvSpPr/>
            <p:nvPr/>
          </p:nvSpPr>
          <p:spPr>
            <a:xfrm>
              <a:off x="6234430" y="4256722"/>
              <a:ext cx="2526292" cy="1253490"/>
            </a:xfrm>
            <a:prstGeom prst="roundRect">
              <a:avLst>
                <a:gd name="adj" fmla="val 11145"/>
              </a:avLst>
            </a:prstGeom>
            <a:solidFill>
              <a:srgbClr val="DCEEFE"/>
            </a:solidFill>
            <a:ln>
              <a:noFill/>
            </a:ln>
          </p:spPr>
        </p:sp>
        <p:sp>
          <p:nvSpPr>
            <p:cNvPr id="1041" name="04 · mini: ACT [p04-text-0025]" descr="Native editable Unicode text; authored line breaks retained."/>
            <p:cNvSpPr txBox="1"/>
            <p:nvPr/>
          </p:nvSpPr>
          <p:spPr>
            <a:xfrm>
              <a:off x="641223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ACT</a:t>
              </a:r>
              <a:endParaRPr lang="en-US" sz="950" b="0" i="0" kern="0" spc="50" dirty="0">
                <a:solidFill>
                  <a:srgbClr val="022AC0"/>
                </a:solidFill>
                <a:latin typeface="IBM Plex Mono"/>
                <a:ea typeface="IBM Plex Mono"/>
                <a:cs typeface="IBM Plex Mono"/>
              </a:endParaRPr>
            </a:p>
          </p:txBody>
        </p:sp>
        <p:sp>
          <p:nvSpPr>
            <p:cNvPr id="1042" name="04 · strong: Backend services [p04-text-0026]" descr="Native editable Unicode text; authored line breaks retained."/>
            <p:cNvSpPr txBox="1"/>
            <p:nvPr/>
          </p:nvSpPr>
          <p:spPr>
            <a:xfrm>
              <a:off x="641223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Backend services</a:t>
              </a:r>
              <a:endParaRPr lang="en-US" sz="1450" b="1" i="0" kern="0" spc="0" dirty="0">
                <a:solidFill>
                  <a:srgbClr val="032D60"/>
                </a:solidFill>
                <a:latin typeface="Salesforce Sans"/>
                <a:ea typeface="Salesforce Sans"/>
                <a:cs typeface="Salesforce Sans"/>
              </a:endParaRPr>
            </a:p>
          </p:txBody>
        </p:sp>
        <p:sp>
          <p:nvSpPr>
            <p:cNvPr id="1043" name="04 · small: Authoritative facts + permissions [p04-text-0027]" descr="Native editable Unicode text; authored line breaks retained."/>
            <p:cNvSpPr txBox="1"/>
            <p:nvPr/>
          </p:nvSpPr>
          <p:spPr>
            <a:xfrm>
              <a:off x="641223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Authoritative facts + permissions</a:t>
              </a:r>
              <a:endParaRPr lang="en-US" sz="1100" b="0" i="0" kern="0" spc="0" dirty="0">
                <a:solidFill>
                  <a:srgbClr val="032D60"/>
                </a:solidFill>
                <a:latin typeface="Salesforce Sans"/>
                <a:ea typeface="Salesforce Sans"/>
                <a:cs typeface="Salesforce Sans"/>
              </a:endParaRPr>
            </a:p>
          </p:txBody>
        </p:sp>
      </p:grpSp>
      <p:grpSp>
        <p:nvGrpSpPr>
          <p:cNvPr id="1058" name="04 · node peach: REVIEW"/>
          <p:cNvGrpSpPr/>
          <p:nvPr/>
        </p:nvGrpSpPr>
        <p:grpSpPr>
          <a:xfrm>
            <a:off x="9072245" y="4256722"/>
            <a:ext cx="2526292" cy="1253490"/>
            <a:chOff x="9072245" y="4256722"/>
            <a:chExt cx="2526292" cy="1253490"/>
          </a:xfrm>
        </p:grpSpPr>
        <p:sp>
          <p:nvSpPr>
            <p:cNvPr id="1044" name="04 · node peach · surface [p04-e0028]"/>
            <p:cNvSpPr/>
            <p:nvPr/>
          </p:nvSpPr>
          <p:spPr>
            <a:xfrm>
              <a:off x="9072245" y="4256722"/>
              <a:ext cx="2526292" cy="1253490"/>
            </a:xfrm>
            <a:prstGeom prst="roundRect">
              <a:avLst>
                <a:gd name="adj" fmla="val 11145"/>
              </a:avLst>
            </a:prstGeom>
            <a:solidFill>
              <a:srgbClr val="FBE5DF"/>
            </a:solidFill>
            <a:ln>
              <a:noFill/>
            </a:ln>
          </p:spPr>
        </p:sp>
        <p:sp>
          <p:nvSpPr>
            <p:cNvPr id="1045" name="04 · mini: REVIEW [p04-text-0028]" descr="Native editable Unicode text; authored line breaks retained."/>
            <p:cNvSpPr txBox="1"/>
            <p:nvPr/>
          </p:nvSpPr>
          <p:spPr>
            <a:xfrm>
              <a:off x="925004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REVIEW</a:t>
              </a:r>
              <a:endParaRPr lang="en-US" sz="950" b="0" i="0" kern="0" spc="50" dirty="0">
                <a:solidFill>
                  <a:srgbClr val="022AC0"/>
                </a:solidFill>
                <a:latin typeface="IBM Plex Mono"/>
                <a:ea typeface="IBM Plex Mono"/>
                <a:cs typeface="IBM Plex Mono"/>
              </a:endParaRPr>
            </a:p>
          </p:txBody>
        </p:sp>
        <p:sp>
          <p:nvSpPr>
            <p:cNvPr id="1046" name="04 · strong: Human path [p04-text-0029]" descr="Native editable Unicode text; authored line breaks retained."/>
            <p:cNvSpPr txBox="1"/>
            <p:nvPr/>
          </p:nvSpPr>
          <p:spPr>
            <a:xfrm>
              <a:off x="925004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Human path</a:t>
              </a:r>
              <a:endParaRPr lang="en-US" sz="1450" b="1" i="0" kern="0" spc="0" dirty="0">
                <a:solidFill>
                  <a:srgbClr val="032D60"/>
                </a:solidFill>
                <a:latin typeface="Salesforce Sans"/>
                <a:ea typeface="Salesforce Sans"/>
                <a:cs typeface="Salesforce Sans"/>
              </a:endParaRPr>
            </a:p>
          </p:txBody>
        </p:sp>
        <p:sp>
          <p:nvSpPr>
            <p:cNvPr id="1047" name="04 · small: When policy or ambiguity requires it [p04-text-0030]" descr="Native editable Unicode text; authored line breaks retained."/>
            <p:cNvSpPr txBox="1"/>
            <p:nvPr/>
          </p:nvSpPr>
          <p:spPr>
            <a:xfrm>
              <a:off x="925004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When policy or ambiguity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requires it</a:t>
              </a:r>
              <a:endParaRPr lang="en-US" sz="1100" b="0" i="0" kern="0" spc="0" dirty="0">
                <a:solidFill>
                  <a:srgbClr val="032D60"/>
                </a:solidFill>
                <a:latin typeface="Salesforce Sans"/>
                <a:ea typeface="Salesforce Sans"/>
                <a:cs typeface="Salesforce Sans"/>
              </a:endParaRPr>
            </a:p>
          </p:txBody>
        </p:sp>
      </p:grpSp>
      <p:grpSp>
        <p:nvGrpSpPr>
          <p:cNvPr id="1059" name="04 · source-line: Agent Graph / guided determinism · AgentScript control plane"/>
          <p:cNvGrpSpPr/>
          <p:nvPr/>
        </p:nvGrpSpPr>
        <p:grpSpPr>
          <a:xfrm>
            <a:off x="558800" y="6037898"/>
            <a:ext cx="11087100" cy="284456"/>
            <a:chOff x="558800" y="6037898"/>
            <a:chExt cx="11087100" cy="284456"/>
          </a:xfrm>
        </p:grpSpPr>
        <p:sp>
          <p:nvSpPr>
            <p:cNvPr id="1048" name="04 · source-line · top border [p04-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9" name="04 · span: Agent Graph / guided determinism · AgentScript control plane [p04-text-0031]"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50" name="04 · span: Proposed composition; no native adapter asserted [p04-text-0032]" descr="Native editable Unicode text; authored line breaks retained."/>
            <p:cNvSpPr txBox="1"/>
            <p:nvPr/>
          </p:nvSpPr>
          <p:spPr>
            <a:xfrm>
              <a:off x="8819704" y="6153126"/>
              <a:ext cx="2826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composition; no native adapter asserted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rocess knowledge becomes topology">
    <p:bg>
      <p:bgPr>
        <a:solidFill>
          <a:srgbClr val="FFFFFF"/>
        </a:solidFill>
      </p:bgPr>
    </p:bg>
    <p:spTree>
      <p:nvGrpSpPr>
        <p:cNvPr id="1" name=""/>
        <p:cNvGrpSpPr/>
        <p:nvPr/>
      </p:nvGrpSpPr>
      <p:grpSpPr>
        <a:xfrm>
          <a:off x="0" y="0"/>
          <a:ext cx="0" cy="0"/>
          <a:chOff x="0" y="0"/>
          <a:chExt cx="0" cy="0"/>
        </a:xfrm>
      </p:grpSpPr>
      <p:sp>
        <p:nvSpPr>
          <p:cNvPr id="1000" name="05 · slide hero light · surface [p05-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38" name="05 · chrome-min: DISAGGREGATED INTELLIGENCE"/>
          <p:cNvGrpSpPr/>
          <p:nvPr/>
        </p:nvGrpSpPr>
        <p:grpSpPr>
          <a:xfrm>
            <a:off x="558800" y="356053"/>
            <a:ext cx="11087100" cy="187325"/>
            <a:chOff x="558800" y="356053"/>
            <a:chExt cx="11087100" cy="187325"/>
          </a:xfrm>
        </p:grpSpPr>
        <p:sp>
          <p:nvSpPr>
            <p:cNvPr id="1001" name="05 · l: DISAGGREGATED INTELLIGENCE [p05-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5 · r: 05 / 36 [p05-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05 / 36</a:t>
              </a:r>
              <a:endParaRPr lang="en-US" sz="950" b="1" i="0" kern="0" spc="65" dirty="0">
                <a:solidFill>
                  <a:srgbClr val="022AC0"/>
                </a:solidFill>
                <a:latin typeface="Salesforce Sans"/>
                <a:ea typeface="Salesforce Sans"/>
                <a:cs typeface="Salesforce Sans"/>
              </a:endParaRPr>
            </a:p>
          </p:txBody>
        </p:sp>
      </p:grpSp>
      <p:grpSp>
        <p:nvGrpSpPr>
          <p:cNvPr id="1039" name="05 · deck-head: 02 / ENCODE THE SEQUENCE"/>
          <p:cNvGrpSpPr/>
          <p:nvPr/>
        </p:nvGrpSpPr>
        <p:grpSpPr>
          <a:xfrm>
            <a:off x="558800" y="775901"/>
            <a:ext cx="11087100" cy="871263"/>
            <a:chOff x="558800" y="775901"/>
            <a:chExt cx="11087100" cy="871263"/>
          </a:xfrm>
        </p:grpSpPr>
        <p:sp>
          <p:nvSpPr>
            <p:cNvPr id="1003" name="05 · topology-eyebrow: 02 / ENCODE THE SEQUENCE [p05-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ENCODE THE SEQUENCE</a:t>
              </a:r>
              <a:endParaRPr lang="en-US" sz="1050" b="1" i="0" kern="0" spc="68" dirty="0">
                <a:solidFill>
                  <a:srgbClr val="022AC0"/>
                </a:solidFill>
                <a:latin typeface="Salesforce Sans"/>
                <a:ea typeface="Salesforce Sans"/>
                <a:cs typeface="Salesforce Sans"/>
              </a:endParaRPr>
            </a:p>
          </p:txBody>
        </p:sp>
        <p:sp>
          <p:nvSpPr>
            <p:cNvPr id="1004" name="05 · topology-title: Process knowledge becomes topology [p05-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Process knowledge becomes topology</a:t>
              </a:r>
              <a:endParaRPr lang="en-US" sz="3600" b="1" i="0" kern="0" spc="-95" dirty="0">
                <a:solidFill>
                  <a:srgbClr val="022AC0"/>
                </a:solidFill>
                <a:latin typeface="Manrope"/>
                <a:ea typeface="Manrope"/>
                <a:cs typeface="Manrope"/>
              </a:endParaRPr>
            </a:p>
          </p:txBody>
        </p:sp>
      </p:grpSp>
      <p:grpSp>
        <p:nvGrpSpPr>
          <p:cNvPr id="1040" name="05 · quote: Before an exchange, verify identity and match the purchase. Check exchange "/>
          <p:cNvGrpSpPr/>
          <p:nvPr/>
        </p:nvGrpSpPr>
        <p:grpSpPr>
          <a:xfrm>
            <a:off x="558800" y="2200910"/>
            <a:ext cx="5232400" cy="1905000"/>
            <a:chOff x="558800" y="2200910"/>
            <a:chExt cx="5232400" cy="1905000"/>
          </a:xfrm>
        </p:grpSpPr>
        <p:sp>
          <p:nvSpPr>
            <p:cNvPr id="1005" name="05 · quote · surface [p05-e0008]"/>
            <p:cNvSpPr/>
            <p:nvPr/>
          </p:nvSpPr>
          <p:spPr>
            <a:xfrm>
              <a:off x="558800" y="2200910"/>
              <a:ext cx="5232400" cy="1905000"/>
            </a:xfrm>
            <a:prstGeom prst="roundRect">
              <a:avLst>
                <a:gd name="adj" fmla="val 7333"/>
              </a:avLst>
            </a:prstGeom>
            <a:solidFill>
              <a:srgbClr val="FFFFFF"/>
            </a:solidFill>
            <a:ln>
              <a:noFill/>
            </a:ln>
          </p:spPr>
        </p:sp>
        <p:sp>
          <p:nvSpPr>
            <p:cNvPr id="1006" name="05 · quote: Before an exchange, verify identity and match the purchase. Check exchange rul [p05-text-0014]" descr="Native editable Unicode text; authored line breaks retained."/>
            <p:cNvSpPr txBox="1"/>
            <p:nvPr/>
          </p:nvSpPr>
          <p:spPr>
            <a:xfrm>
              <a:off x="863600" y="2482394"/>
              <a:ext cx="4635500" cy="134838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Before an exchange, verify identity and</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match the purchase. Check exchange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rules and stock. Preserve the cable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return.</a:t>
              </a:r>
              <a:endParaRPr lang="en-US" sz="2100" b="0" i="0" kern="0" spc="-50" dirty="0">
                <a:solidFill>
                  <a:srgbClr val="022AC0"/>
                </a:solidFill>
                <a:latin typeface="Salesforce Sans"/>
                <a:ea typeface="Salesforce Sans"/>
                <a:cs typeface="Salesforce Sans"/>
              </a:endParaRPr>
            </a:p>
          </p:txBody>
        </p:sp>
      </p:grpSp>
      <p:sp>
        <p:nvSpPr>
          <p:cNvPr id="1007" name="05 · topology-text-2: Definitions and evidence still belong in node context. [p05-text-0015]" descr="Native editable Unicode text; authored line breaks retained."/>
          <p:cNvSpPr txBox="1"/>
          <p:nvPr/>
        </p:nvSpPr>
        <p:spPr>
          <a:xfrm>
            <a:off x="558800" y="4309746"/>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Definitions and evidence still belong in node context.</a:t>
            </a:r>
            <a:endParaRPr lang="en-US" sz="1250" b="0" i="0" kern="0" spc="0" dirty="0">
              <a:solidFill>
                <a:srgbClr val="032D60"/>
              </a:solidFill>
              <a:latin typeface="Salesforce Sans"/>
              <a:ea typeface="Salesforce Sans"/>
              <a:cs typeface="Salesforce Sans"/>
            </a:endParaRPr>
          </a:p>
        </p:txBody>
      </p:sp>
      <p:sp>
        <p:nvSpPr>
          <p:cNvPr id="1008" name="05 · topology-text-1: A PROCESS BURIED IN INSTRUCTIONS [p05-text-0016]" descr="Native editable Unicode text; authored line breaks retained."/>
          <p:cNvSpPr txBox="1"/>
          <p:nvPr/>
        </p:nvSpPr>
        <p:spPr>
          <a:xfrm>
            <a:off x="558800" y="1943545"/>
            <a:ext cx="52451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50" dirty="0">
                <a:solidFill>
                  <a:srgbClr val="022AC0">
                    <a:alpha val="85000"/>
                  </a:srgbClr>
                </a:solidFill>
                <a:latin typeface="Salesforce Sans"/>
                <a:ea typeface="Salesforce Sans"/>
                <a:cs typeface="Salesforce Sans"/>
              </a:rPr>
              <a:t>A PROCESS BURIED IN INSTRUCTIONS</a:t>
            </a:r>
            <a:endParaRPr lang="en-US" sz="1500" b="0" i="0" kern="0" spc="50" dirty="0">
              <a:solidFill>
                <a:srgbClr val="022AC0">
                  <a:alpha val="85000"/>
                </a:srgbClr>
              </a:solidFill>
              <a:latin typeface="Salesforce Sans"/>
              <a:ea typeface="Salesforce Sans"/>
              <a:cs typeface="Salesforce Sans"/>
            </a:endParaRPr>
          </a:p>
        </p:txBody>
      </p:sp>
      <p:grpSp>
        <p:nvGrpSpPr>
          <p:cNvPr id="1009" name="05 · svg · drawing [p05-e0015]"/>
          <p:cNvGrpSpPr/>
          <p:nvPr/>
        </p:nvGrpSpPr>
        <p:grpSpPr>
          <a:xfrm>
            <a:off x="7855712" y="2658192"/>
            <a:ext cx="2722880" cy="2199917"/>
            <a:chOff x="7855712" y="2658192"/>
            <a:chExt cx="2722880" cy="2199917"/>
          </a:xfrm>
        </p:grpSpPr>
        <p:grpSp>
          <p:nvGrpSpPr>
            <p:cNvPr id="1010" name="path · 1 + arrowhead"/>
            <p:cNvGrpSpPr/>
            <p:nvPr/>
          </p:nvGrpSpPr>
          <p:grpSpPr>
            <a:xfrm>
              <a:off x="7855712" y="2658192"/>
              <a:ext cx="136144" cy="711251"/>
              <a:chOff x="7855712" y="2658192"/>
              <a:chExt cx="136144" cy="711251"/>
            </a:xfrm>
          </p:grpSpPr>
          <p:sp>
            <p:nvSpPr>
              <p:cNvPr id="1011" name="path · 1"/>
              <p:cNvSpPr/>
              <p:nvPr/>
            </p:nvSpPr>
            <p:spPr>
              <a:xfrm>
                <a:off x="7923784" y="2658192"/>
                <a:ext cx="1" cy="694710"/>
              </a:xfrm>
              <a:custGeom>
                <a:avLst/>
                <a:gdLst/>
                <a:ahLst/>
                <a:cxnLst/>
                <a:rect l="0" t="0" r="r" b="b"/>
                <a:pathLst>
                  <a:path w="1" h="694710" fill="none" stroke="1" extrusionOk="0">
                    <a:moveTo>
                      <a:pt x="0" y="0"/>
                    </a:moveTo>
                    <a:lnTo>
                      <a:pt x="0" y="694710"/>
                    </a:lnTo>
                  </a:path>
                </a:pathLst>
              </a:custGeom>
              <a:noFill/>
              <a:ln w="15875" cap="flat" cmpd="sng" algn="ctr">
                <a:solidFill>
                  <a:srgbClr val="789B8E"/>
                </a:solidFill>
                <a:prstDash val="solid"/>
                <a:miter lim="400000"/>
                <a:headEnd type="none" w="med" len="med"/>
                <a:tailEnd type="none" w="med" len="med"/>
              </a:ln>
            </p:spPr>
          </p:sp>
          <p:grpSp>
            <p:nvGrpSpPr>
              <p:cNvPr id="1012" name="v2arr41 end"/>
              <p:cNvGrpSpPr/>
              <p:nvPr/>
            </p:nvGrpSpPr>
            <p:grpSpPr>
              <a:xfrm>
                <a:off x="7855712" y="3237117"/>
                <a:ext cx="136144" cy="132326"/>
                <a:chOff x="7855712" y="3237117"/>
                <a:chExt cx="136144" cy="132326"/>
              </a:xfrm>
            </p:grpSpPr>
            <p:sp>
              <p:nvSpPr>
                <p:cNvPr id="1013" name="path · 2"/>
                <p:cNvSpPr/>
                <p:nvPr/>
              </p:nvSpPr>
              <p:spPr>
                <a:xfrm>
                  <a:off x="7855712" y="3237117"/>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4" name="path · 3 + arrowhead"/>
            <p:cNvGrpSpPr/>
            <p:nvPr/>
          </p:nvGrpSpPr>
          <p:grpSpPr>
            <a:xfrm>
              <a:off x="10442448" y="2658192"/>
              <a:ext cx="136144" cy="909740"/>
              <a:chOff x="10442448" y="2658192"/>
              <a:chExt cx="136144" cy="909740"/>
            </a:xfrm>
          </p:grpSpPr>
          <p:sp>
            <p:nvSpPr>
              <p:cNvPr id="1015" name="path · 3"/>
              <p:cNvSpPr/>
              <p:nvPr/>
            </p:nvSpPr>
            <p:spPr>
              <a:xfrm>
                <a:off x="10510520" y="2658192"/>
                <a:ext cx="1" cy="893199"/>
              </a:xfrm>
              <a:custGeom>
                <a:avLst/>
                <a:gdLst/>
                <a:ahLst/>
                <a:cxnLst/>
                <a:rect l="0" t="0" r="r" b="b"/>
                <a:pathLst>
                  <a:path w="1" h="893199" fill="none" stroke="1" extrusionOk="0">
                    <a:moveTo>
                      <a:pt x="0" y="0"/>
                    </a:moveTo>
                    <a:lnTo>
                      <a:pt x="0" y="893199"/>
                    </a:lnTo>
                  </a:path>
                </a:pathLst>
              </a:custGeom>
              <a:noFill/>
              <a:ln w="15875" cap="flat" cmpd="sng" algn="ctr">
                <a:solidFill>
                  <a:srgbClr val="789B8E"/>
                </a:solidFill>
                <a:prstDash val="solid"/>
                <a:miter lim="400000"/>
                <a:headEnd type="none" w="med" len="med"/>
                <a:tailEnd type="none" w="med" len="med"/>
              </a:ln>
            </p:spPr>
          </p:sp>
          <p:grpSp>
            <p:nvGrpSpPr>
              <p:cNvPr id="1016" name="v2arr41 end"/>
              <p:cNvGrpSpPr/>
              <p:nvPr/>
            </p:nvGrpSpPr>
            <p:grpSpPr>
              <a:xfrm>
                <a:off x="10442448" y="3435606"/>
                <a:ext cx="136144" cy="132326"/>
                <a:chOff x="10442448" y="3435606"/>
                <a:chExt cx="136144" cy="132326"/>
              </a:xfrm>
            </p:grpSpPr>
            <p:sp>
              <p:nvSpPr>
                <p:cNvPr id="1017" name="path · 4"/>
                <p:cNvSpPr/>
                <p:nvPr/>
              </p:nvSpPr>
              <p:spPr>
                <a:xfrm>
                  <a:off x="10442448" y="3435606"/>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8" name="path · 5 + arrowhead"/>
            <p:cNvGrpSpPr/>
            <p:nvPr/>
          </p:nvGrpSpPr>
          <p:grpSpPr>
            <a:xfrm>
              <a:off x="7855712" y="4179939"/>
              <a:ext cx="136144" cy="678170"/>
              <a:chOff x="7855712" y="4179939"/>
              <a:chExt cx="136144" cy="678170"/>
            </a:xfrm>
          </p:grpSpPr>
          <p:sp>
            <p:nvSpPr>
              <p:cNvPr id="1019" name="path · 5"/>
              <p:cNvSpPr/>
              <p:nvPr/>
            </p:nvSpPr>
            <p:spPr>
              <a:xfrm>
                <a:off x="7923784" y="4179939"/>
                <a:ext cx="1" cy="661629"/>
              </a:xfrm>
              <a:custGeom>
                <a:avLst/>
                <a:gdLst/>
                <a:ahLst/>
                <a:cxnLst/>
                <a:rect l="0" t="0" r="r" b="b"/>
                <a:pathLst>
                  <a:path w="1" h="661629" fill="none" stroke="1" extrusionOk="0">
                    <a:moveTo>
                      <a:pt x="0" y="0"/>
                    </a:moveTo>
                    <a:lnTo>
                      <a:pt x="0" y="661629"/>
                    </a:lnTo>
                  </a:path>
                </a:pathLst>
              </a:custGeom>
              <a:noFill/>
              <a:ln w="15875" cap="flat" cmpd="sng" algn="ctr">
                <a:solidFill>
                  <a:srgbClr val="789B8E"/>
                </a:solidFill>
                <a:prstDash val="solid"/>
                <a:miter lim="400000"/>
                <a:headEnd type="none" w="med" len="med"/>
                <a:tailEnd type="none" w="med" len="med"/>
              </a:ln>
            </p:spPr>
          </p:sp>
          <p:grpSp>
            <p:nvGrpSpPr>
              <p:cNvPr id="1020" name="v2arr41 end"/>
              <p:cNvGrpSpPr/>
              <p:nvPr/>
            </p:nvGrpSpPr>
            <p:grpSpPr>
              <a:xfrm>
                <a:off x="7855712" y="4725783"/>
                <a:ext cx="136144" cy="132326"/>
                <a:chOff x="7855712" y="4725783"/>
                <a:chExt cx="136144" cy="132326"/>
              </a:xfrm>
            </p:grpSpPr>
            <p:sp>
              <p:nvSpPr>
                <p:cNvPr id="1021" name="path · 6"/>
                <p:cNvSpPr/>
                <p:nvPr/>
              </p:nvSpPr>
              <p:spPr>
                <a:xfrm>
                  <a:off x="7855712" y="4725783"/>
                  <a:ext cx="136144" cy="132326"/>
                </a:xfrm>
                <a:custGeom>
                  <a:avLst/>
                  <a:gdLst/>
                  <a:ahLst/>
                  <a:cxnLst/>
                  <a:rect l="0" t="0" r="r" b="b"/>
                  <a:pathLst>
                    <a:path w="136144" h="132326" fill="norm" stroke="0" extrusionOk="0">
                      <a:moveTo>
                        <a:pt x="136144" y="0"/>
                      </a:moveTo>
                      <a:lnTo>
                        <a:pt x="68072" y="132325"/>
                      </a:lnTo>
                      <a:lnTo>
                        <a:pt x="0" y="0"/>
                      </a:lnTo>
                      <a:close/>
                    </a:path>
                  </a:pathLst>
                </a:custGeom>
                <a:solidFill>
                  <a:srgbClr val="789B8E"/>
                </a:solidFill>
                <a:ln>
                  <a:noFill/>
                </a:ln>
              </p:spPr>
            </p:sp>
          </p:grpSp>
        </p:grpSp>
      </p:grpSp>
      <p:grpSp>
        <p:nvGrpSpPr>
          <p:cNvPr id="1041" name="05 · node blue: Verify identity"/>
          <p:cNvGrpSpPr/>
          <p:nvPr/>
        </p:nvGrpSpPr>
        <p:grpSpPr>
          <a:xfrm>
            <a:off x="6766577" y="1930400"/>
            <a:ext cx="4424697" cy="727795"/>
            <a:chOff x="6766577" y="1930400"/>
            <a:chExt cx="4424697" cy="727795"/>
          </a:xfrm>
        </p:grpSpPr>
        <p:sp>
          <p:nvSpPr>
            <p:cNvPr id="1022" name="05 · node blue · surface [p05-e0016]"/>
            <p:cNvSpPr/>
            <p:nvPr/>
          </p:nvSpPr>
          <p:spPr>
            <a:xfrm>
              <a:off x="6766577" y="1930400"/>
              <a:ext cx="4424697" cy="727795"/>
            </a:xfrm>
            <a:prstGeom prst="roundRect">
              <a:avLst>
                <a:gd name="adj" fmla="val 19195"/>
              </a:avLst>
            </a:prstGeom>
            <a:solidFill>
              <a:srgbClr val="DCEEFE"/>
            </a:solidFill>
            <a:ln>
              <a:noFill/>
            </a:ln>
          </p:spPr>
        </p:sp>
        <p:sp>
          <p:nvSpPr>
            <p:cNvPr id="1023" name="05 · strong: Verify identity [p05-text-0017]" descr="Native editable Unicode text; authored line breaks retained."/>
            <p:cNvSpPr txBox="1"/>
            <p:nvPr/>
          </p:nvSpPr>
          <p:spPr>
            <a:xfrm>
              <a:off x="6944377" y="2176258"/>
              <a:ext cx="4081797"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2" name="05 · node mint: Match the owned purchase"/>
          <p:cNvGrpSpPr/>
          <p:nvPr/>
        </p:nvGrpSpPr>
        <p:grpSpPr>
          <a:xfrm>
            <a:off x="6426200" y="3385989"/>
            <a:ext cx="2995185" cy="793961"/>
            <a:chOff x="6426200" y="3385989"/>
            <a:chExt cx="2995185" cy="793961"/>
          </a:xfrm>
        </p:grpSpPr>
        <p:sp>
          <p:nvSpPr>
            <p:cNvPr id="1024" name="05 · node mint · surface [p05-e0018]"/>
            <p:cNvSpPr/>
            <p:nvPr/>
          </p:nvSpPr>
          <p:spPr>
            <a:xfrm>
              <a:off x="6426200" y="3385989"/>
              <a:ext cx="2995185" cy="793961"/>
            </a:xfrm>
            <a:prstGeom prst="roundRect">
              <a:avLst>
                <a:gd name="adj" fmla="val 17595"/>
              </a:avLst>
            </a:prstGeom>
            <a:solidFill>
              <a:srgbClr val="DDF3ED"/>
            </a:solidFill>
            <a:ln>
              <a:noFill/>
            </a:ln>
          </p:spPr>
        </p:sp>
        <p:sp>
          <p:nvSpPr>
            <p:cNvPr id="1025" name="05 · strong: Match the owned purchase [p05-text-0018]" descr="Native editable Unicode text; authored line breaks retained."/>
            <p:cNvSpPr txBox="1"/>
            <p:nvPr/>
          </p:nvSpPr>
          <p:spPr>
            <a:xfrm>
              <a:off x="6604000" y="3664931"/>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the owned purchase</a:t>
              </a:r>
              <a:endParaRPr lang="en-US" sz="1450" b="1" i="0" kern="0" spc="0" dirty="0">
                <a:solidFill>
                  <a:srgbClr val="032D60"/>
                </a:solidFill>
                <a:latin typeface="Salesforce Sans"/>
                <a:ea typeface="Salesforce Sans"/>
                <a:cs typeface="Salesforce Sans"/>
              </a:endParaRPr>
            </a:p>
          </p:txBody>
        </p:sp>
      </p:grpSp>
      <p:grpSp>
        <p:nvGrpSpPr>
          <p:cNvPr id="1043" name="05 · node lilac: Route the customer’s tasks"/>
          <p:cNvGrpSpPr/>
          <p:nvPr/>
        </p:nvGrpSpPr>
        <p:grpSpPr>
          <a:xfrm>
            <a:off x="6426200" y="4874641"/>
            <a:ext cx="2995185" cy="793961"/>
            <a:chOff x="6426200" y="4874641"/>
            <a:chExt cx="2995185" cy="793961"/>
          </a:xfrm>
        </p:grpSpPr>
        <p:sp>
          <p:nvSpPr>
            <p:cNvPr id="1026" name="05 · node lilac · surface [p05-e0020]"/>
            <p:cNvSpPr/>
            <p:nvPr/>
          </p:nvSpPr>
          <p:spPr>
            <a:xfrm>
              <a:off x="6426200" y="4874641"/>
              <a:ext cx="2995185" cy="793961"/>
            </a:xfrm>
            <a:prstGeom prst="roundRect">
              <a:avLst>
                <a:gd name="adj" fmla="val 17595"/>
              </a:avLst>
            </a:prstGeom>
            <a:solidFill>
              <a:srgbClr val="EAE6FA"/>
            </a:solidFill>
            <a:ln>
              <a:noFill/>
            </a:ln>
          </p:spPr>
        </p:sp>
        <p:sp>
          <p:nvSpPr>
            <p:cNvPr id="1027" name="05 · strong: Route the customer’s tasks [p05-text-0019]" descr="Native editable Unicode text; authored line breaks retained."/>
            <p:cNvSpPr txBox="1"/>
            <p:nvPr/>
          </p:nvSpPr>
          <p:spPr>
            <a:xfrm>
              <a:off x="6604000" y="5153583"/>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Route the customer’s tasks</a:t>
              </a:r>
              <a:endParaRPr lang="en-US" sz="1450" b="1" i="0" kern="0" spc="0" dirty="0">
                <a:solidFill>
                  <a:srgbClr val="032D60"/>
                </a:solidFill>
                <a:latin typeface="Salesforce Sans"/>
                <a:ea typeface="Salesforce Sans"/>
                <a:cs typeface="Salesforce Sans"/>
              </a:endParaRPr>
            </a:p>
          </p:txBody>
        </p:sp>
      </p:grpSp>
      <p:grpSp>
        <p:nvGrpSpPr>
          <p:cNvPr id="1044" name="05 · node peach: Stop or recover"/>
          <p:cNvGrpSpPr/>
          <p:nvPr/>
        </p:nvGrpSpPr>
        <p:grpSpPr>
          <a:xfrm>
            <a:off x="9761711" y="3584490"/>
            <a:ext cx="1735836" cy="1455589"/>
            <a:chOff x="9761711" y="3584490"/>
            <a:chExt cx="1735836" cy="1455589"/>
          </a:xfrm>
        </p:grpSpPr>
        <p:sp>
          <p:nvSpPr>
            <p:cNvPr id="1028" name="05 · node peach · surface [p05-e0022]"/>
            <p:cNvSpPr/>
            <p:nvPr/>
          </p:nvSpPr>
          <p:spPr>
            <a:xfrm>
              <a:off x="9761711" y="3584490"/>
              <a:ext cx="1735836" cy="1455589"/>
            </a:xfrm>
            <a:prstGeom prst="roundRect">
              <a:avLst>
                <a:gd name="adj" fmla="val 9597"/>
              </a:avLst>
            </a:prstGeom>
            <a:solidFill>
              <a:srgbClr val="FBE5DF"/>
            </a:solidFill>
            <a:ln>
              <a:noFill/>
            </a:ln>
          </p:spPr>
        </p:sp>
        <p:sp>
          <p:nvSpPr>
            <p:cNvPr id="1029" name="05 · strong: Stop or recover [p05-text-0020]" descr="Native editable Unicode text; authored line breaks retained."/>
            <p:cNvSpPr txBox="1"/>
            <p:nvPr/>
          </p:nvSpPr>
          <p:spPr>
            <a:xfrm>
              <a:off x="9939511" y="3967550"/>
              <a:ext cx="1392936"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Stop or recover</a:t>
              </a:r>
              <a:endParaRPr lang="en-US" sz="1450" b="1" i="0" kern="0" spc="0" dirty="0">
                <a:solidFill>
                  <a:srgbClr val="032D60"/>
                </a:solidFill>
                <a:latin typeface="Salesforce Sans"/>
                <a:ea typeface="Salesforce Sans"/>
                <a:cs typeface="Salesforce Sans"/>
              </a:endParaRPr>
            </a:p>
          </p:txBody>
        </p:sp>
        <p:sp>
          <p:nvSpPr>
            <p:cNvPr id="1030" name="05 · small: Follow the identity service result [p05-text-0021]" descr="Native editable Unicode text; authored line breaks retained."/>
            <p:cNvSpPr txBox="1"/>
            <p:nvPr/>
          </p:nvSpPr>
          <p:spPr>
            <a:xfrm>
              <a:off x="9939511" y="4278870"/>
              <a:ext cx="1392936"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Follow the identity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service result</a:t>
              </a:r>
              <a:endParaRPr lang="en-US" sz="1100" b="0" i="0" kern="0" spc="0" dirty="0">
                <a:solidFill>
                  <a:srgbClr val="032D60"/>
                </a:solidFill>
                <a:latin typeface="Salesforce Sans"/>
                <a:ea typeface="Salesforce Sans"/>
                <a:cs typeface="Salesforce Sans"/>
              </a:endParaRPr>
            </a:p>
          </p:txBody>
        </p:sp>
      </p:grpSp>
      <p:sp>
        <p:nvSpPr>
          <p:cNvPr id="1031" name="05 · node label: verified [p05-text-0022]" descr="Native editable Unicode text; authored line breaks retained."/>
          <p:cNvSpPr txBox="1"/>
          <p:nvPr/>
        </p:nvSpPr>
        <p:spPr>
          <a:xfrm>
            <a:off x="6834632" y="2890552"/>
            <a:ext cx="2259076"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verified</a:t>
            </a:r>
            <a:endParaRPr lang="en-US" sz="1250" b="0" i="0" kern="0" spc="0" dirty="0">
              <a:solidFill>
                <a:srgbClr val="032D60"/>
              </a:solidFill>
              <a:latin typeface="Salesforce Sans"/>
              <a:ea typeface="Salesforce Sans"/>
              <a:cs typeface="Salesforce Sans"/>
            </a:endParaRPr>
          </a:p>
        </p:txBody>
      </p:sp>
      <p:grpSp>
        <p:nvGrpSpPr>
          <p:cNvPr id="1045" name="05 · node label: denied or"/>
          <p:cNvGrpSpPr/>
          <p:nvPr/>
        </p:nvGrpSpPr>
        <p:grpSpPr>
          <a:xfrm>
            <a:off x="9523493" y="2776274"/>
            <a:ext cx="1986805" cy="597216"/>
            <a:chOff x="9523493" y="2776274"/>
            <a:chExt cx="1986805" cy="597216"/>
          </a:xfrm>
        </p:grpSpPr>
        <p:sp>
          <p:nvSpPr>
            <p:cNvPr id="1032" name="05 · node label: denied or [p05-text-0023]" descr="Native editable Unicode text; authored line breaks retained."/>
            <p:cNvSpPr txBox="1"/>
            <p:nvPr/>
          </p:nvSpPr>
          <p:spPr>
            <a:xfrm>
              <a:off x="9523493" y="277627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denied or</a:t>
              </a:r>
              <a:endParaRPr lang="en-US" sz="1250" b="0" i="0" kern="0" spc="0" dirty="0">
                <a:solidFill>
                  <a:srgbClr val="032D60"/>
                </a:solidFill>
                <a:latin typeface="Salesforce Sans"/>
                <a:ea typeface="Salesforce Sans"/>
                <a:cs typeface="Salesforce Sans"/>
              </a:endParaRPr>
            </a:p>
          </p:txBody>
        </p:sp>
        <p:sp>
          <p:nvSpPr>
            <p:cNvPr id="1033" name="05 · node label: unavailable [p05-text-0024]" descr="Native editable Unicode text; authored line breaks retained."/>
            <p:cNvSpPr txBox="1"/>
            <p:nvPr/>
          </p:nvSpPr>
          <p:spPr>
            <a:xfrm>
              <a:off x="9523493" y="316362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unavailable</a:t>
              </a:r>
              <a:endParaRPr lang="en-US" sz="1250" b="0" i="0" kern="0" spc="0" dirty="0">
                <a:solidFill>
                  <a:srgbClr val="032D60"/>
                </a:solidFill>
                <a:latin typeface="Salesforce Sans"/>
                <a:ea typeface="Salesforce Sans"/>
                <a:cs typeface="Salesforce Sans"/>
              </a:endParaRPr>
            </a:p>
          </p:txBody>
        </p:sp>
      </p:grpSp>
      <p:sp>
        <p:nvSpPr>
          <p:cNvPr id="1034" name="05 · node label: facts available [p05-text-0025]" descr="Native editable Unicode text; authored line breaks retained."/>
          <p:cNvSpPr txBox="1"/>
          <p:nvPr/>
        </p:nvSpPr>
        <p:spPr>
          <a:xfrm>
            <a:off x="6834632" y="4408986"/>
            <a:ext cx="246329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facts available</a:t>
            </a:r>
            <a:endParaRPr lang="en-US" sz="1250" b="0" i="0" kern="0" spc="0" dirty="0">
              <a:solidFill>
                <a:srgbClr val="032D60"/>
              </a:solidFill>
              <a:latin typeface="Salesforce Sans"/>
              <a:ea typeface="Salesforce Sans"/>
              <a:cs typeface="Salesforce Sans"/>
            </a:endParaRPr>
          </a:p>
        </p:txBody>
      </p:sp>
      <p:grpSp>
        <p:nvGrpSpPr>
          <p:cNvPr id="1046" name="05 · source-line: Jev + LangGraph · Agent Graph / guided determinism"/>
          <p:cNvGrpSpPr/>
          <p:nvPr/>
        </p:nvGrpSpPr>
        <p:grpSpPr>
          <a:xfrm>
            <a:off x="558800" y="6037898"/>
            <a:ext cx="11087100" cy="284456"/>
            <a:chOff x="558800" y="6037898"/>
            <a:chExt cx="11087100" cy="284456"/>
          </a:xfrm>
        </p:grpSpPr>
        <p:sp>
          <p:nvSpPr>
            <p:cNvPr id="1035" name="05 · source-line · top border [p05-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6" name="05 · span: Jev + LangGraph · Agent Graph / guided determinism [p05-text-0026]" descr="Native editable Unicode text; authored line breaks retained."/>
            <p:cNvSpPr txBox="1"/>
            <p:nvPr/>
          </p:nvSpPr>
          <p:spPr>
            <a:xfrm>
              <a:off x="558800" y="6153126"/>
              <a:ext cx="30036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37" name="05 · span: Architectural pattern [p05-text-0027]" descr="Native editable Unicode text; authored line breaks retained."/>
            <p:cNvSpPr txBox="1"/>
            <p:nvPr/>
          </p:nvSpPr>
          <p:spPr>
            <a:xfrm>
              <a:off x="10475317" y="6153126"/>
              <a:ext cx="1170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tart with identity and an owned purchase">
    <p:bg>
      <p:bgPr>
        <a:solidFill>
          <a:srgbClr val="FFFFFF"/>
        </a:solidFill>
      </p:bgPr>
    </p:bg>
    <p:spTree>
      <p:nvGrpSpPr>
        <p:cNvPr id="1" name=""/>
        <p:cNvGrpSpPr/>
        <p:nvPr/>
      </p:nvGrpSpPr>
      <p:grpSpPr>
        <a:xfrm>
          <a:off x="0" y="0"/>
          <a:ext cx="0" cy="0"/>
          <a:chOff x="0" y="0"/>
          <a:chExt cx="0" cy="0"/>
        </a:xfrm>
      </p:grpSpPr>
      <p:sp>
        <p:nvSpPr>
          <p:cNvPr id="1000" name="06 · slide light · surface [p0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52" name="06 · chrome-min: DISAGGREGATED INTELLIGENCE"/>
          <p:cNvGrpSpPr/>
          <p:nvPr/>
        </p:nvGrpSpPr>
        <p:grpSpPr>
          <a:xfrm>
            <a:off x="558800" y="356053"/>
            <a:ext cx="11087100" cy="187325"/>
            <a:chOff x="558800" y="356053"/>
            <a:chExt cx="11087100" cy="187325"/>
          </a:xfrm>
        </p:grpSpPr>
        <p:sp>
          <p:nvSpPr>
            <p:cNvPr id="1001" name="06 · l: DISAGGREGATED INTELLIGENCE [p0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6 · r: 06 / 36 [p0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06 / 36</a:t>
              </a:r>
              <a:endParaRPr lang="en-US" sz="950" b="1" i="0" kern="0" spc="65" dirty="0">
                <a:solidFill>
                  <a:srgbClr val="022AC0"/>
                </a:solidFill>
                <a:latin typeface="Salesforce Sans"/>
                <a:ea typeface="Salesforce Sans"/>
                <a:cs typeface="Salesforce Sans"/>
              </a:endParaRPr>
            </a:p>
          </p:txBody>
        </p:sp>
      </p:grpSp>
      <p:grpSp>
        <p:nvGrpSpPr>
          <p:cNvPr id="1253" name="06 · deck-head: STEP 01 / ONE RETURN, TWO ALLOCATIONS · A"/>
          <p:cNvGrpSpPr/>
          <p:nvPr/>
        </p:nvGrpSpPr>
        <p:grpSpPr>
          <a:xfrm>
            <a:off x="558800" y="775901"/>
            <a:ext cx="11087100" cy="871263"/>
            <a:chOff x="558800" y="775901"/>
            <a:chExt cx="11087100" cy="871263"/>
          </a:xfrm>
        </p:grpSpPr>
        <p:sp>
          <p:nvSpPr>
            <p:cNvPr id="1003" name="06 · returns-access-eyebrow: STEP 01 / ONE RETURN, TWO ALLOCATIONS · A [p0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A</a:t>
              </a:r>
              <a:endParaRPr lang="en-US" sz="1050" b="1" i="0" kern="0" spc="68" dirty="0">
                <a:solidFill>
                  <a:srgbClr val="022AC0"/>
                </a:solidFill>
                <a:latin typeface="Salesforce Sans"/>
                <a:ea typeface="Salesforce Sans"/>
                <a:cs typeface="Salesforce Sans"/>
              </a:endParaRPr>
            </a:p>
          </p:txBody>
        </p:sp>
        <p:sp>
          <p:nvSpPr>
            <p:cNvPr id="1004" name="06 · returns-access-title: Start with identity and an owned purchase [p0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identity and an owned purchase</a:t>
              </a:r>
              <a:endParaRPr lang="en-US" sz="3600" b="1" i="0" kern="0" spc="-95" dirty="0">
                <a:solidFill>
                  <a:srgbClr val="022AC0"/>
                </a:solidFill>
                <a:latin typeface="Manrope"/>
                <a:ea typeface="Manrope"/>
                <a:cs typeface="Manrope"/>
              </a:endParaRPr>
            </a:p>
          </p:txBody>
        </p:sp>
      </p:grpSp>
      <p:grpSp>
        <p:nvGrpSpPr>
          <p:cNvPr id="1005" name="06 · img · drawing [p0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same-safeguards-first-line · 3"/>
            <p:cNvGrpSpPr/>
            <p:nvPr/>
          </p:nvGrpSpPr>
          <p:grpSpPr>
            <a:xfrm>
              <a:off x="930275" y="1924050"/>
              <a:ext cx="425450" cy="165100"/>
              <a:chOff x="930275" y="1924050"/>
              <a:chExt cx="425450" cy="165100"/>
            </a:xfrm>
          </p:grpSpPr>
          <p:sp>
            <p:nvSpPr>
              <p:cNvPr id="1008" name="text · 2"/>
              <p:cNvSpPr txBox="1"/>
              <p:nvPr/>
            </p:nvSpPr>
            <p:spPr>
              <a:xfrm>
                <a:off x="928687" y="1924050"/>
                <a:ext cx="4286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Same</a:t>
                </a:r>
                <a:endParaRPr lang="en-US" sz="1250"/>
              </a:p>
            </p:txBody>
          </p:sp>
        </p:grpSp>
        <p:grpSp>
          <p:nvGrpSpPr>
            <p:cNvPr id="1009" name="same-safeguards-second-line · 5"/>
            <p:cNvGrpSpPr/>
            <p:nvPr/>
          </p:nvGrpSpPr>
          <p:grpSpPr>
            <a:xfrm>
              <a:off x="720725" y="2159000"/>
              <a:ext cx="844550" cy="165100"/>
              <a:chOff x="720725" y="2159000"/>
              <a:chExt cx="844550" cy="165100"/>
            </a:xfrm>
          </p:grpSpPr>
          <p:sp>
            <p:nvSpPr>
              <p:cNvPr id="1010" name="text · 4"/>
              <p:cNvSpPr txBox="1"/>
              <p:nvPr/>
            </p:nvSpPr>
            <p:spPr>
              <a:xfrm>
                <a:off x="719137" y="2159000"/>
                <a:ext cx="8477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safeguards</a:t>
                </a:r>
                <a:endParaRPr lang="en-US" sz="1250"/>
              </a:p>
            </p:txBody>
          </p:sp>
        </p:grpSp>
        <p:grpSp>
          <p:nvGrpSpPr>
            <p:cNvPr id="1011" name="identity-heading · 7"/>
            <p:cNvGrpSpPr/>
            <p:nvPr/>
          </p:nvGrpSpPr>
          <p:grpSpPr>
            <a:xfrm>
              <a:off x="1990725" y="1962150"/>
              <a:ext cx="1416050" cy="215900"/>
              <a:chOff x="1990725" y="1962150"/>
              <a:chExt cx="1416050" cy="215900"/>
            </a:xfrm>
          </p:grpSpPr>
          <p:sp>
            <p:nvSpPr>
              <p:cNvPr id="1012" name="text · 6"/>
              <p:cNvSpPr txBox="1"/>
              <p:nvPr/>
            </p:nvSpPr>
            <p:spPr>
              <a:xfrm>
                <a:off x="1989137" y="1962150"/>
                <a:ext cx="14192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Check identity</a:t>
                </a:r>
                <a:endParaRPr lang="en-US" sz="1650"/>
              </a:p>
            </p:txBody>
          </p:sp>
        </p:grpSp>
        <p:grpSp>
          <p:nvGrpSpPr>
            <p:cNvPr id="1013" name="purchase-heading · 9"/>
            <p:cNvGrpSpPr/>
            <p:nvPr/>
          </p:nvGrpSpPr>
          <p:grpSpPr>
            <a:xfrm>
              <a:off x="4540250" y="1962150"/>
              <a:ext cx="1574800" cy="215900"/>
              <a:chOff x="4540250" y="1962150"/>
              <a:chExt cx="1574800" cy="215900"/>
            </a:xfrm>
          </p:grpSpPr>
          <p:sp>
            <p:nvSpPr>
              <p:cNvPr id="1014" name="text · 8"/>
              <p:cNvSpPr txBox="1"/>
              <p:nvPr/>
            </p:nvSpPr>
            <p:spPr>
              <a:xfrm>
                <a:off x="4538662" y="1962150"/>
                <a:ext cx="157797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Match purchase</a:t>
                </a:r>
                <a:endParaRPr lang="en-US" sz="1650"/>
              </a:p>
            </p:txBody>
          </p:sp>
        </p:grpSp>
        <p:grpSp>
          <p:nvGrpSpPr>
            <p:cNvPr id="1015" name="customer-to-identity · 12"/>
            <p:cNvGrpSpPr/>
            <p:nvPr/>
          </p:nvGrpSpPr>
          <p:grpSpPr>
            <a:xfrm>
              <a:off x="1682750" y="2832100"/>
              <a:ext cx="374650" cy="50800"/>
              <a:chOff x="1682750" y="2832100"/>
              <a:chExt cx="374650" cy="50800"/>
            </a:xfrm>
          </p:grpSpPr>
          <p:grpSp>
            <p:nvGrpSpPr>
              <p:cNvPr id="1016" name="path · 10 + arrowhead"/>
              <p:cNvGrpSpPr/>
              <p:nvPr/>
            </p:nvGrpSpPr>
            <p:grpSpPr>
              <a:xfrm>
                <a:off x="1682750" y="2832100"/>
                <a:ext cx="374650" cy="50800"/>
                <a:chOff x="1682750" y="2832100"/>
                <a:chExt cx="374650" cy="50800"/>
              </a:xfrm>
            </p:grpSpPr>
            <p:sp>
              <p:nvSpPr>
                <p:cNvPr id="1017" name="path · 10"/>
                <p:cNvSpPr/>
                <p:nvPr/>
              </p:nvSpPr>
              <p:spPr>
                <a:xfrm>
                  <a:off x="1682750" y="2857500"/>
                  <a:ext cx="374650" cy="1"/>
                </a:xfrm>
                <a:custGeom>
                  <a:avLst/>
                  <a:gdLst/>
                  <a:ahLst/>
                  <a:cxnLst/>
                  <a:rect l="0" t="0" r="r" b="b"/>
                  <a:pathLst>
                    <a:path w="374650" h="1" fill="none" stroke="1" extrusionOk="0">
                      <a:moveTo>
                        <a:pt x="0" y="0"/>
                      </a:moveTo>
                      <a:lnTo>
                        <a:pt x="374650" y="0"/>
                      </a:lnTo>
                    </a:path>
                  </a:pathLst>
                </a:custGeom>
                <a:noFill/>
                <a:ln w="24130" cap="rnd" cmpd="sng" algn="ctr">
                  <a:solidFill>
                    <a:srgbClr val="355F72"/>
                  </a:solidFill>
                  <a:prstDash val="solid"/>
                  <a:round/>
                  <a:headEnd type="none" w="med" len="med"/>
                  <a:tailEnd type="none" w="med" len="med"/>
                </a:ln>
              </p:spPr>
            </p:sp>
            <p:grpSp>
              <p:nvGrpSpPr>
                <p:cNvPr id="1018" name="arrow-blue_ink end"/>
                <p:cNvGrpSpPr/>
                <p:nvPr/>
              </p:nvGrpSpPr>
              <p:grpSpPr>
                <a:xfrm>
                  <a:off x="2009775" y="2832100"/>
                  <a:ext cx="47625" cy="50800"/>
                  <a:chOff x="2009775" y="2832100"/>
                  <a:chExt cx="47625" cy="50800"/>
                </a:xfrm>
              </p:grpSpPr>
              <p:sp>
                <p:nvSpPr>
                  <p:cNvPr id="1019" name="path · 11"/>
                  <p:cNvSpPr/>
                  <p:nvPr/>
                </p:nvSpPr>
                <p:spPr>
                  <a:xfrm>
                    <a:off x="20097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20" name="identity-verified · 16"/>
            <p:cNvGrpSpPr/>
            <p:nvPr/>
          </p:nvGrpSpPr>
          <p:grpSpPr>
            <a:xfrm>
              <a:off x="3378200" y="2832100"/>
              <a:ext cx="1257300" cy="50800"/>
              <a:chOff x="3378200" y="2832100"/>
              <a:chExt cx="1257300" cy="50800"/>
            </a:xfrm>
          </p:grpSpPr>
          <p:sp>
            <p:nvSpPr>
              <p:cNvPr id="1021" name="path · 13"/>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107950" cap="rnd" cmpd="sng" algn="ctr">
                <a:solidFill>
                  <a:srgbClr val="D7EBE1">
                    <a:alpha val="60000"/>
                  </a:srgbClr>
                </a:solidFill>
                <a:prstDash val="solid"/>
                <a:round/>
                <a:headEnd type="none" w="med" len="med"/>
                <a:tailEnd type="none" w="med" len="med"/>
              </a:ln>
            </p:spPr>
          </p:sp>
          <p:grpSp>
            <p:nvGrpSpPr>
              <p:cNvPr id="1022" name="path · 14 + arrowhead"/>
              <p:cNvGrpSpPr/>
              <p:nvPr/>
            </p:nvGrpSpPr>
            <p:grpSpPr>
              <a:xfrm>
                <a:off x="3378200" y="2832100"/>
                <a:ext cx="1257300" cy="50800"/>
                <a:chOff x="3378200" y="2832100"/>
                <a:chExt cx="1257300" cy="50800"/>
              </a:xfrm>
            </p:grpSpPr>
            <p:sp>
              <p:nvSpPr>
                <p:cNvPr id="1023" name="path · 14"/>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26670" cap="rnd" cmpd="sng" algn="ctr">
                  <a:solidFill>
                    <a:srgbClr val="2E6653"/>
                  </a:solidFill>
                  <a:prstDash val="solid"/>
                  <a:round/>
                  <a:headEnd type="none" w="med" len="med"/>
                  <a:tailEnd type="none" w="med" len="med"/>
                </a:ln>
              </p:spPr>
            </p:sp>
            <p:grpSp>
              <p:nvGrpSpPr>
                <p:cNvPr id="1024" name="arrow-green end"/>
                <p:cNvGrpSpPr/>
                <p:nvPr/>
              </p:nvGrpSpPr>
              <p:grpSpPr>
                <a:xfrm>
                  <a:off x="4587875" y="2832100"/>
                  <a:ext cx="47625" cy="50800"/>
                  <a:chOff x="4587875" y="2832100"/>
                  <a:chExt cx="47625" cy="50800"/>
                </a:xfrm>
              </p:grpSpPr>
              <p:sp>
                <p:nvSpPr>
                  <p:cNvPr id="1025" name="path · 15"/>
                  <p:cNvSpPr/>
                  <p:nvPr/>
                </p:nvSpPr>
                <p:spPr>
                  <a:xfrm>
                    <a:off x="45878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6" name="purchase-matched · 20"/>
            <p:cNvGrpSpPr/>
            <p:nvPr/>
          </p:nvGrpSpPr>
          <p:grpSpPr>
            <a:xfrm>
              <a:off x="6032500" y="2832100"/>
              <a:ext cx="717550" cy="50800"/>
              <a:chOff x="6032500" y="2832100"/>
              <a:chExt cx="717550" cy="50800"/>
            </a:xfrm>
          </p:grpSpPr>
          <p:sp>
            <p:nvSpPr>
              <p:cNvPr id="1027" name="path · 17"/>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107950" cap="rnd" cmpd="sng" algn="ctr">
                <a:solidFill>
                  <a:srgbClr val="D7EBE1">
                    <a:alpha val="60000"/>
                  </a:srgbClr>
                </a:solidFill>
                <a:prstDash val="solid"/>
                <a:round/>
                <a:headEnd type="none" w="med" len="med"/>
                <a:tailEnd type="none" w="med" len="med"/>
              </a:ln>
            </p:spPr>
          </p:sp>
          <p:grpSp>
            <p:nvGrpSpPr>
              <p:cNvPr id="1028" name="path · 18 + arrowhead"/>
              <p:cNvGrpSpPr/>
              <p:nvPr/>
            </p:nvGrpSpPr>
            <p:grpSpPr>
              <a:xfrm>
                <a:off x="6032500" y="2832100"/>
                <a:ext cx="717550" cy="50800"/>
                <a:chOff x="6032500" y="2832100"/>
                <a:chExt cx="717550" cy="50800"/>
              </a:xfrm>
            </p:grpSpPr>
            <p:sp>
              <p:nvSpPr>
                <p:cNvPr id="1029" name="path · 18"/>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26670" cap="rnd" cmpd="sng" algn="ctr">
                  <a:solidFill>
                    <a:srgbClr val="2E6653"/>
                  </a:solidFill>
                  <a:prstDash val="solid"/>
                  <a:round/>
                  <a:headEnd type="none" w="med" len="med"/>
                  <a:tailEnd type="none" w="med" len="med"/>
                </a:ln>
              </p:spPr>
            </p:sp>
            <p:grpSp>
              <p:nvGrpSpPr>
                <p:cNvPr id="1030" name="arrow-green end"/>
                <p:cNvGrpSpPr/>
                <p:nvPr/>
              </p:nvGrpSpPr>
              <p:grpSpPr>
                <a:xfrm>
                  <a:off x="6702425" y="2832100"/>
                  <a:ext cx="47625" cy="50800"/>
                  <a:chOff x="6702425" y="2832100"/>
                  <a:chExt cx="47625" cy="50800"/>
                </a:xfrm>
              </p:grpSpPr>
              <p:sp>
                <p:nvSpPr>
                  <p:cNvPr id="1031" name="path · 19"/>
                  <p:cNvSpPr/>
                  <p:nvPr/>
                </p:nvSpPr>
                <p:spPr>
                  <a:xfrm>
                    <a:off x="670242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2" name="verified-label · 22"/>
            <p:cNvGrpSpPr/>
            <p:nvPr/>
          </p:nvGrpSpPr>
          <p:grpSpPr>
            <a:xfrm>
              <a:off x="3670300" y="2514600"/>
              <a:ext cx="647700" cy="184150"/>
              <a:chOff x="3670300" y="2514600"/>
              <a:chExt cx="647700" cy="184150"/>
            </a:xfrm>
          </p:grpSpPr>
          <p:sp>
            <p:nvSpPr>
              <p:cNvPr id="1033" name="text · 21"/>
              <p:cNvSpPr txBox="1"/>
              <p:nvPr/>
            </p:nvSpPr>
            <p:spPr>
              <a:xfrm>
                <a:off x="3668712" y="2514600"/>
                <a:ext cx="6508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Verified</a:t>
                </a:r>
                <a:endParaRPr lang="en-US" sz="1400"/>
              </a:p>
            </p:txBody>
          </p:sp>
        </p:grpSp>
        <p:grpSp>
          <p:nvGrpSpPr>
            <p:cNvPr id="1034" name="matched-label · 24"/>
            <p:cNvGrpSpPr/>
            <p:nvPr/>
          </p:nvGrpSpPr>
          <p:grpSpPr>
            <a:xfrm>
              <a:off x="6026150" y="2514600"/>
              <a:ext cx="723900" cy="184150"/>
              <a:chOff x="6026150" y="2514600"/>
              <a:chExt cx="723900" cy="184150"/>
            </a:xfrm>
          </p:grpSpPr>
          <p:sp>
            <p:nvSpPr>
              <p:cNvPr id="1035" name="text · 23"/>
              <p:cNvSpPr txBox="1"/>
              <p:nvPr/>
            </p:nvSpPr>
            <p:spPr>
              <a:xfrm>
                <a:off x="6024562" y="2514600"/>
                <a:ext cx="7270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Matched</a:t>
                </a:r>
                <a:endParaRPr lang="en-US" sz="1400"/>
              </a:p>
            </p:txBody>
          </p:sp>
        </p:grpSp>
        <p:grpSp>
          <p:nvGrpSpPr>
            <p:cNvPr id="1036" name="identity-denied-stop · 27"/>
            <p:cNvGrpSpPr/>
            <p:nvPr/>
          </p:nvGrpSpPr>
          <p:grpSpPr>
            <a:xfrm>
              <a:off x="1612900" y="3219450"/>
              <a:ext cx="552450" cy="1371600"/>
              <a:chOff x="1612900" y="3219450"/>
              <a:chExt cx="552450" cy="1371600"/>
            </a:xfrm>
          </p:grpSpPr>
          <p:grpSp>
            <p:nvGrpSpPr>
              <p:cNvPr id="1037" name="path · 25 + arrowhead"/>
              <p:cNvGrpSpPr/>
              <p:nvPr/>
            </p:nvGrpSpPr>
            <p:grpSpPr>
              <a:xfrm>
                <a:off x="1612900" y="3219450"/>
                <a:ext cx="552450" cy="1371600"/>
                <a:chOff x="1612900" y="3219450"/>
                <a:chExt cx="552450" cy="1371600"/>
              </a:xfrm>
            </p:grpSpPr>
            <p:sp>
              <p:nvSpPr>
                <p:cNvPr id="1038" name="path · 25"/>
                <p:cNvSpPr/>
                <p:nvPr/>
              </p:nvSpPr>
              <p:spPr>
                <a:xfrm>
                  <a:off x="1612900" y="3219450"/>
                  <a:ext cx="552450" cy="1346200"/>
                </a:xfrm>
                <a:custGeom>
                  <a:avLst/>
                  <a:gdLst/>
                  <a:ahLst/>
                  <a:cxnLst/>
                  <a:rect l="0" t="0" r="r" b="b"/>
                  <a:pathLst>
                    <a:path w="552450" h="1346200" fill="none" stroke="1" extrusionOk="0">
                      <a:moveTo>
                        <a:pt x="552450" y="0"/>
                      </a:moveTo>
                      <a:lnTo>
                        <a:pt x="209550" y="0"/>
                      </a:lnTo>
                      <a:lnTo>
                        <a:pt x="209550" y="1346200"/>
                      </a:lnTo>
                      <a:lnTo>
                        <a:pt x="0" y="1346200"/>
                      </a:lnTo>
                    </a:path>
                  </a:pathLst>
                </a:custGeom>
                <a:noFill/>
                <a:ln w="22860" cap="rnd" cmpd="sng" algn="ctr">
                  <a:solidFill>
                    <a:srgbClr val="81533E"/>
                  </a:solidFill>
                  <a:prstDash val="solid"/>
                  <a:round/>
                  <a:headEnd type="none" w="med" len="med"/>
                  <a:tailEnd type="none" w="med" len="med"/>
                </a:ln>
              </p:spPr>
            </p:sp>
            <p:grpSp>
              <p:nvGrpSpPr>
                <p:cNvPr id="1039" name="arrow-rust end"/>
                <p:cNvGrpSpPr/>
                <p:nvPr/>
              </p:nvGrpSpPr>
              <p:grpSpPr>
                <a:xfrm>
                  <a:off x="1612900" y="4540250"/>
                  <a:ext cx="47625" cy="50800"/>
                  <a:chOff x="1612900" y="4540250"/>
                  <a:chExt cx="47625" cy="50800"/>
                </a:xfrm>
              </p:grpSpPr>
              <p:sp>
                <p:nvSpPr>
                  <p:cNvPr id="1040" name="path · 26"/>
                  <p:cNvSpPr/>
                  <p:nvPr/>
                </p:nvSpPr>
                <p:spPr>
                  <a:xfrm>
                    <a:off x="1612900" y="45402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81533E"/>
                    </a:solidFill>
                    <a:prstDash val="solid"/>
                    <a:round/>
                    <a:headEnd type="none" w="med" len="med"/>
                    <a:tailEnd type="none" w="med" len="med"/>
                  </a:ln>
                </p:spPr>
              </p:sp>
            </p:grpSp>
          </p:grpSp>
        </p:grpSp>
        <p:grpSp>
          <p:nvGrpSpPr>
            <p:cNvPr id="1041" name="identity-needs-signin · 30"/>
            <p:cNvGrpSpPr/>
            <p:nvPr/>
          </p:nvGrpSpPr>
          <p:grpSpPr>
            <a:xfrm>
              <a:off x="2673350" y="3390900"/>
              <a:ext cx="50800" cy="863600"/>
              <a:chOff x="2673350" y="3390900"/>
              <a:chExt cx="50800" cy="863600"/>
            </a:xfrm>
          </p:grpSpPr>
          <p:grpSp>
            <p:nvGrpSpPr>
              <p:cNvPr id="1042" name="path · 28 + arrowhead"/>
              <p:cNvGrpSpPr/>
              <p:nvPr/>
            </p:nvGrpSpPr>
            <p:grpSpPr>
              <a:xfrm>
                <a:off x="2673350" y="3390900"/>
                <a:ext cx="50800" cy="863600"/>
                <a:chOff x="2673350" y="3390900"/>
                <a:chExt cx="50800" cy="863600"/>
              </a:xfrm>
            </p:grpSpPr>
            <p:sp>
              <p:nvSpPr>
                <p:cNvPr id="1043" name="path · 28"/>
                <p:cNvSpPr/>
                <p:nvPr/>
              </p:nvSpPr>
              <p:spPr>
                <a:xfrm>
                  <a:off x="2698750" y="339090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44" name="arrow-ochre end"/>
                <p:cNvGrpSpPr/>
                <p:nvPr/>
              </p:nvGrpSpPr>
              <p:grpSpPr>
                <a:xfrm>
                  <a:off x="2673350" y="4206875"/>
                  <a:ext cx="50800" cy="47625"/>
                  <a:chOff x="2673350" y="4206875"/>
                  <a:chExt cx="50800" cy="47625"/>
                </a:xfrm>
              </p:grpSpPr>
              <p:sp>
                <p:nvSpPr>
                  <p:cNvPr id="1045" name="path · 29"/>
                  <p:cNvSpPr/>
                  <p:nvPr/>
                </p:nvSpPr>
                <p:spPr>
                  <a:xfrm>
                    <a:off x="2673350" y="42068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46" name="signin-recheck-identity · 33"/>
            <p:cNvGrpSpPr/>
            <p:nvPr/>
          </p:nvGrpSpPr>
          <p:grpSpPr>
            <a:xfrm>
              <a:off x="3371850" y="3219450"/>
              <a:ext cx="527050" cy="1587500"/>
              <a:chOff x="3371850" y="3219450"/>
              <a:chExt cx="527050" cy="1587500"/>
            </a:xfrm>
          </p:grpSpPr>
          <p:grpSp>
            <p:nvGrpSpPr>
              <p:cNvPr id="1047" name="path · 31 + arrowhead"/>
              <p:cNvGrpSpPr/>
              <p:nvPr/>
            </p:nvGrpSpPr>
            <p:grpSpPr>
              <a:xfrm>
                <a:off x="3371850" y="3219450"/>
                <a:ext cx="527050" cy="1587500"/>
                <a:chOff x="3371850" y="3219450"/>
                <a:chExt cx="527050" cy="1587500"/>
              </a:xfrm>
            </p:grpSpPr>
            <p:sp>
              <p:nvSpPr>
                <p:cNvPr id="1048" name="path · 31"/>
                <p:cNvSpPr/>
                <p:nvPr/>
              </p:nvSpPr>
              <p:spPr>
                <a:xfrm>
                  <a:off x="3371850" y="3244850"/>
                  <a:ext cx="527050" cy="1562100"/>
                </a:xfrm>
                <a:custGeom>
                  <a:avLst/>
                  <a:gdLst/>
                  <a:ahLst/>
                  <a:cxnLst/>
                  <a:rect l="0" t="0" r="r" b="b"/>
                  <a:pathLst>
                    <a:path w="527050" h="1562100" fill="none" stroke="1" extrusionOk="0">
                      <a:moveTo>
                        <a:pt x="0" y="1562100"/>
                      </a:moveTo>
                      <a:lnTo>
                        <a:pt x="527050" y="1562100"/>
                      </a:lnTo>
                      <a:lnTo>
                        <a:pt x="527050" y="0"/>
                      </a:lnTo>
                      <a:lnTo>
                        <a:pt x="0" y="0"/>
                      </a:lnTo>
                    </a:path>
                  </a:pathLst>
                </a:custGeom>
                <a:noFill/>
                <a:ln w="20955" cap="rnd" cmpd="sng" algn="ctr">
                  <a:solidFill>
                    <a:srgbClr val="355F72"/>
                  </a:solidFill>
                  <a:prstDash val="solid"/>
                  <a:round/>
                  <a:headEnd type="none" w="med" len="med"/>
                  <a:tailEnd type="none" w="med" len="med"/>
                </a:ln>
              </p:spPr>
            </p:sp>
            <p:grpSp>
              <p:nvGrpSpPr>
                <p:cNvPr id="1049" name="arrow-blue_ink end"/>
                <p:cNvGrpSpPr/>
                <p:nvPr/>
              </p:nvGrpSpPr>
              <p:grpSpPr>
                <a:xfrm>
                  <a:off x="3371850" y="3219450"/>
                  <a:ext cx="47625" cy="50800"/>
                  <a:chOff x="3371850" y="3219450"/>
                  <a:chExt cx="47625" cy="50800"/>
                </a:xfrm>
              </p:grpSpPr>
              <p:sp>
                <p:nvSpPr>
                  <p:cNvPr id="1050" name="path · 32"/>
                  <p:cNvSpPr/>
                  <p:nvPr/>
                </p:nvSpPr>
                <p:spPr>
                  <a:xfrm>
                    <a:off x="3371850" y="32194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51" name="denied-label · 35"/>
            <p:cNvGrpSpPr/>
            <p:nvPr/>
          </p:nvGrpSpPr>
          <p:grpSpPr>
            <a:xfrm>
              <a:off x="1085850" y="3822700"/>
              <a:ext cx="596900" cy="184150"/>
              <a:chOff x="1085850" y="3822700"/>
              <a:chExt cx="596900" cy="184150"/>
            </a:xfrm>
          </p:grpSpPr>
          <p:sp>
            <p:nvSpPr>
              <p:cNvPr id="1052" name="text · 34"/>
              <p:cNvSpPr txBox="1"/>
              <p:nvPr/>
            </p:nvSpPr>
            <p:spPr>
              <a:xfrm>
                <a:off x="1084262" y="3822700"/>
                <a:ext cx="600075" cy="212598"/>
              </a:xfrm>
              <a:prstGeom prst="rect">
                <a:avLst/>
              </a:prstGeom>
              <a:noFill/>
              <a:ln>
                <a:noFill/>
              </a:ln>
            </p:spPr>
            <p:txBody>
              <a:bodyPr wrap="none" lIns="0" tIns="0" rIns="0" bIns="0" anchor="t" anchorCtr="0" vertOverflow="overflow" horzOverflow="overflow">
                <a:noAutofit/>
              </a:bodyPr>
              <a:lstStyle/>
              <a:p>
                <a:pPr algn="r" marL="0" marR="0" indent="0" fontAlgn="base">
                  <a:lnSpc>
                    <a:spcPts val="1450"/>
                  </a:lnSpc>
                  <a:spcBef>
                    <a:spcPts val="0"/>
                  </a:spcBef>
                  <a:spcAft>
                    <a:spcPts val="0"/>
                  </a:spcAft>
                </a:pPr>
                <a:r>
                  <a:rPr lang="en-US" sz="1400" b="1" i="0" kern="0" spc="0" dirty="0">
                    <a:solidFill>
                      <a:srgbClr val="81533E"/>
                    </a:solidFill>
                    <a:latin typeface="Manrope"/>
                    <a:ea typeface="Manrope"/>
                    <a:cs typeface="Manrope"/>
                  </a:rPr>
                  <a:t>Denied</a:t>
                </a:r>
                <a:endParaRPr lang="en-US" sz="1400"/>
              </a:p>
            </p:txBody>
          </p:sp>
        </p:grpSp>
        <p:grpSp>
          <p:nvGrpSpPr>
            <p:cNvPr id="1053" name="no-login-label · 37"/>
            <p:cNvGrpSpPr/>
            <p:nvPr/>
          </p:nvGrpSpPr>
          <p:grpSpPr>
            <a:xfrm>
              <a:off x="2819400" y="3765550"/>
              <a:ext cx="711200" cy="184150"/>
              <a:chOff x="2819400" y="3765550"/>
              <a:chExt cx="711200" cy="184150"/>
            </a:xfrm>
          </p:grpSpPr>
          <p:sp>
            <p:nvSpPr>
              <p:cNvPr id="1054" name="text · 36"/>
              <p:cNvSpPr txBox="1"/>
              <p:nvPr/>
            </p:nvSpPr>
            <p:spPr>
              <a:xfrm>
                <a:off x="2817812" y="3765550"/>
                <a:ext cx="7143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No login</a:t>
                </a:r>
                <a:endParaRPr lang="en-US" sz="1400"/>
              </a:p>
            </p:txBody>
          </p:sp>
        </p:grpSp>
        <p:grpSp>
          <p:nvGrpSpPr>
            <p:cNvPr id="1055" name="identity-recheck-label · 39"/>
            <p:cNvGrpSpPr/>
            <p:nvPr/>
          </p:nvGrpSpPr>
          <p:grpSpPr>
            <a:xfrm>
              <a:off x="4013200" y="4083050"/>
              <a:ext cx="698500" cy="177800"/>
              <a:chOff x="4013200" y="4083050"/>
              <a:chExt cx="698500" cy="177800"/>
            </a:xfrm>
          </p:grpSpPr>
          <p:sp>
            <p:nvSpPr>
              <p:cNvPr id="1056" name="text · 38"/>
              <p:cNvSpPr txBox="1"/>
              <p:nvPr/>
            </p:nvSpPr>
            <p:spPr>
              <a:xfrm>
                <a:off x="4011612" y="40830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57" name="purchase-needs-verification · 42"/>
            <p:cNvGrpSpPr/>
            <p:nvPr/>
          </p:nvGrpSpPr>
          <p:grpSpPr>
            <a:xfrm>
              <a:off x="5308600" y="3409950"/>
              <a:ext cx="50800" cy="863600"/>
              <a:chOff x="5308600" y="3409950"/>
              <a:chExt cx="50800" cy="863600"/>
            </a:xfrm>
          </p:grpSpPr>
          <p:grpSp>
            <p:nvGrpSpPr>
              <p:cNvPr id="1058" name="path · 40 + arrowhead"/>
              <p:cNvGrpSpPr/>
              <p:nvPr/>
            </p:nvGrpSpPr>
            <p:grpSpPr>
              <a:xfrm>
                <a:off x="5308600" y="3409950"/>
                <a:ext cx="50800" cy="863600"/>
                <a:chOff x="5308600" y="3409950"/>
                <a:chExt cx="50800" cy="863600"/>
              </a:xfrm>
            </p:grpSpPr>
            <p:sp>
              <p:nvSpPr>
                <p:cNvPr id="1059" name="path · 40"/>
                <p:cNvSpPr/>
                <p:nvPr/>
              </p:nvSpPr>
              <p:spPr>
                <a:xfrm>
                  <a:off x="5334000" y="340995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60" name="arrow-ochre end"/>
                <p:cNvGrpSpPr/>
                <p:nvPr/>
              </p:nvGrpSpPr>
              <p:grpSpPr>
                <a:xfrm>
                  <a:off x="5308600" y="4225925"/>
                  <a:ext cx="50800" cy="47625"/>
                  <a:chOff x="5308600" y="4225925"/>
                  <a:chExt cx="50800" cy="47625"/>
                </a:xfrm>
              </p:grpSpPr>
              <p:sp>
                <p:nvSpPr>
                  <p:cNvPr id="1061" name="path · 41"/>
                  <p:cNvSpPr/>
                  <p:nvPr/>
                </p:nvSpPr>
                <p:spPr>
                  <a:xfrm>
                    <a:off x="5308600" y="42259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2" name="verification-recheck-purchase · 45"/>
            <p:cNvGrpSpPr/>
            <p:nvPr/>
          </p:nvGrpSpPr>
          <p:grpSpPr>
            <a:xfrm>
              <a:off x="5981700" y="3251200"/>
              <a:ext cx="749300" cy="1631950"/>
              <a:chOff x="5981700" y="3251200"/>
              <a:chExt cx="749300" cy="1631950"/>
            </a:xfrm>
          </p:grpSpPr>
          <p:grpSp>
            <p:nvGrpSpPr>
              <p:cNvPr id="1063" name="path · 43 + arrowhead"/>
              <p:cNvGrpSpPr/>
              <p:nvPr/>
            </p:nvGrpSpPr>
            <p:grpSpPr>
              <a:xfrm>
                <a:off x="5981700" y="3251200"/>
                <a:ext cx="749300" cy="1631950"/>
                <a:chOff x="5981700" y="3251200"/>
                <a:chExt cx="749300" cy="1631950"/>
              </a:xfrm>
            </p:grpSpPr>
            <p:sp>
              <p:nvSpPr>
                <p:cNvPr id="1064" name="path · 43"/>
                <p:cNvSpPr/>
                <p:nvPr/>
              </p:nvSpPr>
              <p:spPr>
                <a:xfrm>
                  <a:off x="5981700" y="3276600"/>
                  <a:ext cx="749300" cy="1606550"/>
                </a:xfrm>
                <a:custGeom>
                  <a:avLst/>
                  <a:gdLst/>
                  <a:ahLst/>
                  <a:cxnLst/>
                  <a:rect l="0" t="0" r="r" b="b"/>
                  <a:pathLst>
                    <a:path w="749300" h="1606550" fill="none" stroke="1" extrusionOk="0">
                      <a:moveTo>
                        <a:pt x="0" y="1606550"/>
                      </a:moveTo>
                      <a:lnTo>
                        <a:pt x="749300" y="1606550"/>
                      </a:lnTo>
                      <a:lnTo>
                        <a:pt x="749300" y="0"/>
                      </a:lnTo>
                      <a:lnTo>
                        <a:pt x="44450" y="0"/>
                      </a:lnTo>
                    </a:path>
                  </a:pathLst>
                </a:custGeom>
                <a:noFill/>
                <a:ln w="20955" cap="rnd" cmpd="sng" algn="ctr">
                  <a:solidFill>
                    <a:srgbClr val="355F72"/>
                  </a:solidFill>
                  <a:prstDash val="solid"/>
                  <a:round/>
                  <a:headEnd type="none" w="med" len="med"/>
                  <a:tailEnd type="none" w="med" len="med"/>
                </a:ln>
              </p:spPr>
            </p:sp>
            <p:grpSp>
              <p:nvGrpSpPr>
                <p:cNvPr id="1065" name="arrow-blue_ink end"/>
                <p:cNvGrpSpPr/>
                <p:nvPr/>
              </p:nvGrpSpPr>
              <p:grpSpPr>
                <a:xfrm>
                  <a:off x="6026150" y="3251200"/>
                  <a:ext cx="47625" cy="50800"/>
                  <a:chOff x="6026150" y="3251200"/>
                  <a:chExt cx="47625" cy="50800"/>
                </a:xfrm>
              </p:grpSpPr>
              <p:sp>
                <p:nvSpPr>
                  <p:cNvPr id="1066" name="path · 44"/>
                  <p:cNvSpPr/>
                  <p:nvPr/>
                </p:nvSpPr>
                <p:spPr>
                  <a:xfrm>
                    <a:off x="6026150" y="325120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67" name="purchase-missing-label · 47"/>
            <p:cNvGrpSpPr/>
            <p:nvPr/>
          </p:nvGrpSpPr>
          <p:grpSpPr>
            <a:xfrm>
              <a:off x="5461000" y="3689350"/>
              <a:ext cx="736600" cy="177800"/>
              <a:chOff x="5461000" y="3689350"/>
              <a:chExt cx="736600" cy="177800"/>
            </a:xfrm>
          </p:grpSpPr>
          <p:sp>
            <p:nvSpPr>
              <p:cNvPr id="1068" name="text · 46"/>
              <p:cNvSpPr txBox="1"/>
              <p:nvPr/>
            </p:nvSpPr>
            <p:spPr>
              <a:xfrm>
                <a:off x="5459412" y="3689350"/>
                <a:ext cx="7397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Missing /</a:t>
                </a:r>
                <a:endParaRPr lang="en-US" sz="1350"/>
              </a:p>
            </p:txBody>
          </p:sp>
        </p:grpSp>
        <p:grpSp>
          <p:nvGrpSpPr>
            <p:cNvPr id="1069" name="purchase-mismatch-label · 49"/>
            <p:cNvGrpSpPr/>
            <p:nvPr/>
          </p:nvGrpSpPr>
          <p:grpSpPr>
            <a:xfrm>
              <a:off x="5461000" y="3943350"/>
              <a:ext cx="800100" cy="177800"/>
              <a:chOff x="5461000" y="3943350"/>
              <a:chExt cx="800100" cy="177800"/>
            </a:xfrm>
          </p:grpSpPr>
          <p:sp>
            <p:nvSpPr>
              <p:cNvPr id="1070" name="text · 48"/>
              <p:cNvSpPr txBox="1"/>
              <p:nvPr/>
            </p:nvSpPr>
            <p:spPr>
              <a:xfrm>
                <a:off x="5459412" y="3943350"/>
                <a:ext cx="803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mismatch</a:t>
                </a:r>
                <a:endParaRPr lang="en-US" sz="1350"/>
              </a:p>
            </p:txBody>
          </p:sp>
        </p:grpSp>
        <p:grpSp>
          <p:nvGrpSpPr>
            <p:cNvPr id="1071" name="purchase-recheck-label · 51"/>
            <p:cNvGrpSpPr/>
            <p:nvPr/>
          </p:nvGrpSpPr>
          <p:grpSpPr>
            <a:xfrm>
              <a:off x="6851650" y="4235450"/>
              <a:ext cx="698500" cy="177800"/>
              <a:chOff x="6851650" y="4235450"/>
              <a:chExt cx="698500" cy="177800"/>
            </a:xfrm>
          </p:grpSpPr>
          <p:sp>
            <p:nvSpPr>
              <p:cNvPr id="1072" name="text · 50"/>
              <p:cNvSpPr txBox="1"/>
              <p:nvPr/>
            </p:nvSpPr>
            <p:spPr>
              <a:xfrm>
                <a:off x="6850062" y="42354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73" name="customer · 66"/>
            <p:cNvGrpSpPr/>
            <p:nvPr/>
          </p:nvGrpSpPr>
          <p:grpSpPr>
            <a:xfrm>
              <a:off x="791704" y="2403404"/>
              <a:ext cx="731097" cy="847407"/>
              <a:chOff x="791704" y="2403404"/>
              <a:chExt cx="731097" cy="847407"/>
            </a:xfrm>
          </p:grpSpPr>
          <p:sp>
            <p:nvSpPr>
              <p:cNvPr id="1074" name="ellipse · 52"/>
              <p:cNvSpPr/>
              <p:nvPr/>
            </p:nvSpPr>
            <p:spPr>
              <a:xfrm>
                <a:off x="791704" y="3184349"/>
                <a:ext cx="731097" cy="66463"/>
              </a:xfrm>
              <a:prstGeom prst="ellipse">
                <a:avLst/>
              </a:prstGeom>
              <a:solidFill>
                <a:srgbClr val="E2EEF3"/>
              </a:solidFill>
              <a:ln>
                <a:noFill/>
              </a:ln>
            </p:spPr>
          </p:sp>
          <p:sp>
            <p:nvSpPr>
              <p:cNvPr id="1075" name="path · 53"/>
              <p:cNvSpPr/>
              <p:nvPr/>
            </p:nvSpPr>
            <p:spPr>
              <a:xfrm>
                <a:off x="957862" y="29628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076" name="path · 54"/>
              <p:cNvSpPr/>
              <p:nvPr/>
            </p:nvSpPr>
            <p:spPr>
              <a:xfrm>
                <a:off x="902476" y="31898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077" name="path · 55"/>
              <p:cNvSpPr/>
              <p:nvPr/>
            </p:nvSpPr>
            <p:spPr>
              <a:xfrm>
                <a:off x="935708" y="26692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078" name="path · 56"/>
              <p:cNvSpPr/>
              <p:nvPr/>
            </p:nvSpPr>
            <p:spPr>
              <a:xfrm>
                <a:off x="902476" y="27135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079" name="circle · 57"/>
              <p:cNvSpPr/>
              <p:nvPr/>
            </p:nvSpPr>
            <p:spPr>
              <a:xfrm>
                <a:off x="996632" y="24366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0" name="path · 58"/>
              <p:cNvSpPr/>
              <p:nvPr/>
            </p:nvSpPr>
            <p:spPr>
              <a:xfrm>
                <a:off x="974478" y="24034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081" name="path · 59"/>
              <p:cNvSpPr/>
              <p:nvPr/>
            </p:nvSpPr>
            <p:spPr>
              <a:xfrm>
                <a:off x="1107405" y="25474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082" name="path · 60"/>
              <p:cNvSpPr/>
              <p:nvPr/>
            </p:nvSpPr>
            <p:spPr>
              <a:xfrm>
                <a:off x="1112943" y="26194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083" name="path · 61"/>
              <p:cNvSpPr/>
              <p:nvPr/>
            </p:nvSpPr>
            <p:spPr>
              <a:xfrm>
                <a:off x="952324" y="27911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084" name="path · 62"/>
              <p:cNvSpPr/>
              <p:nvPr/>
            </p:nvSpPr>
            <p:spPr>
              <a:xfrm>
                <a:off x="952324" y="28908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085" name="path · 63"/>
              <p:cNvSpPr/>
              <p:nvPr/>
            </p:nvSpPr>
            <p:spPr>
              <a:xfrm>
                <a:off x="1035403" y="28464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086" name="circle · 64"/>
              <p:cNvSpPr/>
              <p:nvPr/>
            </p:nvSpPr>
            <p:spPr>
              <a:xfrm>
                <a:off x="941246" y="28908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7" name="circle · 65"/>
              <p:cNvSpPr/>
              <p:nvPr/>
            </p:nvSpPr>
            <p:spPr>
              <a:xfrm>
                <a:off x="1334488" y="29129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088" name="auth · 75"/>
            <p:cNvGrpSpPr/>
            <p:nvPr/>
          </p:nvGrpSpPr>
          <p:grpSpPr>
            <a:xfrm>
              <a:off x="2188528" y="2432050"/>
              <a:ext cx="1026795" cy="893445"/>
              <a:chOff x="2188528" y="2432050"/>
              <a:chExt cx="1026795" cy="893445"/>
            </a:xfrm>
          </p:grpSpPr>
          <p:sp>
            <p:nvSpPr>
              <p:cNvPr id="1089" name="rect · 67"/>
              <p:cNvSpPr/>
              <p:nvPr/>
            </p:nvSpPr>
            <p:spPr>
              <a:xfrm>
                <a:off x="2188528" y="2432050"/>
                <a:ext cx="913448" cy="746760"/>
              </a:xfrm>
              <a:prstGeom prst="roundRect">
                <a:avLst>
                  <a:gd name="adj" fmla="val 11607"/>
                </a:avLst>
              </a:prstGeom>
              <a:solidFill>
                <a:srgbClr val="FFFFFF"/>
              </a:solidFill>
              <a:ln w="14669" cap="rnd" cmpd="sng" algn="ctr">
                <a:solidFill>
                  <a:srgbClr val="243E42"/>
                </a:solidFill>
                <a:prstDash val="solid"/>
                <a:round/>
                <a:headEnd type="none" w="med" len="med"/>
                <a:tailEnd type="none" w="med" len="med"/>
              </a:ln>
            </p:spPr>
          </p:sp>
          <p:sp>
            <p:nvSpPr>
              <p:cNvPr id="1090" name="path · 68"/>
              <p:cNvSpPr/>
              <p:nvPr/>
            </p:nvSpPr>
            <p:spPr>
              <a:xfrm>
                <a:off x="2188528" y="2432050"/>
                <a:ext cx="913448" cy="166688"/>
              </a:xfrm>
              <a:custGeom>
                <a:avLst/>
                <a:gdLst/>
                <a:ahLst/>
                <a:cxnLst/>
                <a:rect l="0" t="0" r="r" b="b"/>
                <a:pathLst>
                  <a:path w="913448" h="166688" fill="norm" stroke="1" extrusionOk="0">
                    <a:moveTo>
                      <a:pt x="86677" y="0"/>
                    </a:moveTo>
                    <a:lnTo>
                      <a:pt x="826770" y="0"/>
                    </a:lnTo>
                    <a:quadBezTo>
                      <a:pt x="913447" y="0"/>
                      <a:pt x="913447" y="86678"/>
                    </a:quadBezTo>
                    <a:lnTo>
                      <a:pt x="913447" y="166688"/>
                    </a:lnTo>
                    <a:lnTo>
                      <a:pt x="0" y="166688"/>
                    </a:lnTo>
                    <a:lnTo>
                      <a:pt x="0" y="86678"/>
                    </a:lnTo>
                    <a:quadBezTo>
                      <a:pt x="0" y="0"/>
                      <a:pt x="86677" y="0"/>
                    </a:quadBezTo>
                  </a:path>
                </a:pathLst>
              </a:custGeom>
              <a:solidFill>
                <a:srgbClr val="E2EEF3"/>
              </a:solidFill>
              <a:ln w="14669" cap="rnd" cmpd="sng" algn="ctr">
                <a:solidFill>
                  <a:srgbClr val="243E42"/>
                </a:solidFill>
                <a:prstDash val="solid"/>
                <a:round/>
                <a:headEnd type="none" w="med" len="med"/>
                <a:tailEnd type="none" w="med" len="med"/>
              </a:ln>
            </p:spPr>
          </p:sp>
          <p:sp>
            <p:nvSpPr>
              <p:cNvPr id="1091" name="circle · 69"/>
              <p:cNvSpPr/>
              <p:nvPr/>
            </p:nvSpPr>
            <p:spPr>
              <a:xfrm>
                <a:off x="2361882" y="2718752"/>
                <a:ext cx="160020" cy="160020"/>
              </a:xfrm>
              <a:prstGeom prst="ellipse">
                <a:avLst/>
              </a:prstGeom>
              <a:solidFill>
                <a:srgbClr val="F4DFD3"/>
              </a:solidFill>
              <a:ln w="14669" cap="rnd" cmpd="sng" algn="ctr">
                <a:solidFill>
                  <a:srgbClr val="243E42"/>
                </a:solidFill>
                <a:prstDash val="solid"/>
                <a:round/>
                <a:headEnd type="none" w="med" len="med"/>
                <a:tailEnd type="none" w="med" len="med"/>
              </a:ln>
            </p:spPr>
          </p:sp>
          <p:sp>
            <p:nvSpPr>
              <p:cNvPr id="1092" name="path · 70"/>
              <p:cNvSpPr/>
              <p:nvPr/>
            </p:nvSpPr>
            <p:spPr>
              <a:xfrm>
                <a:off x="2308542" y="2838768"/>
                <a:ext cx="266700" cy="193357"/>
              </a:xfrm>
              <a:custGeom>
                <a:avLst/>
                <a:gdLst/>
                <a:ahLst/>
                <a:cxnLst/>
                <a:rect l="0" t="0" r="r" b="b"/>
                <a:pathLst>
                  <a:path w="266700" h="193357" fill="norm" stroke="1" extrusionOk="0">
                    <a:moveTo>
                      <a:pt x="0" y="193357"/>
                    </a:moveTo>
                    <a:lnTo>
                      <a:pt x="0" y="133350"/>
                    </a:lnTo>
                    <a:quadBezTo>
                      <a:pt x="0" y="0"/>
                      <a:pt x="133350" y="0"/>
                    </a:quadBezTo>
                    <a:quadBezTo>
                      <a:pt x="266700" y="0"/>
                      <a:pt x="266700" y="133350"/>
                    </a:quadBezTo>
                    <a:lnTo>
                      <a:pt x="266700" y="193357"/>
                    </a:lnTo>
                  </a:path>
                </a:pathLst>
              </a:custGeom>
              <a:solidFill>
                <a:srgbClr val="E2EEF3"/>
              </a:solidFill>
              <a:ln w="14669" cap="rnd" cmpd="sng" algn="ctr">
                <a:solidFill>
                  <a:srgbClr val="243E42"/>
                </a:solidFill>
                <a:prstDash val="solid"/>
                <a:round/>
                <a:headEnd type="none" w="med" len="med"/>
                <a:tailEnd type="none" w="med" len="med"/>
              </a:ln>
            </p:spPr>
          </p:sp>
          <p:sp>
            <p:nvSpPr>
              <p:cNvPr id="1093" name="path · 71"/>
              <p:cNvSpPr/>
              <p:nvPr/>
            </p:nvSpPr>
            <p:spPr>
              <a:xfrm>
                <a:off x="2295208" y="2725420"/>
                <a:ext cx="666750" cy="373380"/>
              </a:xfrm>
              <a:custGeom>
                <a:avLst/>
                <a:gdLst/>
                <a:ahLst/>
                <a:cxnLst/>
                <a:rect l="0" t="0" r="r" b="b"/>
                <a:pathLst>
                  <a:path w="666750" h="373380" fill="none" stroke="1" extrusionOk="0">
                    <a:moveTo>
                      <a:pt x="386714" y="0"/>
                    </a:moveTo>
                    <a:lnTo>
                      <a:pt x="666750" y="0"/>
                    </a:lnTo>
                    <a:moveTo>
                      <a:pt x="386714" y="106680"/>
                    </a:moveTo>
                    <a:lnTo>
                      <a:pt x="566737" y="106680"/>
                    </a:lnTo>
                    <a:moveTo>
                      <a:pt x="0" y="373380"/>
                    </a:moveTo>
                    <a:lnTo>
                      <a:pt x="320040" y="373380"/>
                    </a:lnTo>
                  </a:path>
                </a:pathLst>
              </a:custGeom>
              <a:noFill/>
              <a:ln w="26670" cap="rnd" cmpd="sng" algn="ctr">
                <a:solidFill>
                  <a:srgbClr val="243E42"/>
                </a:solidFill>
                <a:prstDash val="solid"/>
                <a:round/>
                <a:headEnd type="none" w="med" len="med"/>
                <a:tailEnd type="none" w="med" len="med"/>
              </a:ln>
            </p:spPr>
          </p:sp>
          <p:sp>
            <p:nvSpPr>
              <p:cNvPr id="1094" name="path · 72"/>
              <p:cNvSpPr/>
              <p:nvPr/>
            </p:nvSpPr>
            <p:spPr>
              <a:xfrm>
                <a:off x="2775268" y="2825432"/>
                <a:ext cx="440055" cy="500063"/>
              </a:xfrm>
              <a:custGeom>
                <a:avLst/>
                <a:gdLst/>
                <a:ahLst/>
                <a:cxnLst/>
                <a:rect l="0" t="0" r="r" b="b"/>
                <a:pathLst>
                  <a:path w="440055" h="500063" fill="norm" stroke="1" extrusionOk="0">
                    <a:moveTo>
                      <a:pt x="220027" y="0"/>
                    </a:moveTo>
                    <a:lnTo>
                      <a:pt x="440054" y="80010"/>
                    </a:lnTo>
                    <a:lnTo>
                      <a:pt x="440054" y="246698"/>
                    </a:lnTo>
                    <a:quadBezTo>
                      <a:pt x="440054" y="400051"/>
                      <a:pt x="220027" y="500063"/>
                    </a:quadBezTo>
                    <a:quadBezTo>
                      <a:pt x="0" y="400051"/>
                      <a:pt x="0" y="246698"/>
                    </a:quadBezTo>
                    <a:lnTo>
                      <a:pt x="0" y="80010"/>
                    </a:lnTo>
                    <a:close/>
                  </a:path>
                </a:pathLst>
              </a:custGeom>
              <a:solidFill>
                <a:srgbClr val="E2EEF3"/>
              </a:solidFill>
              <a:ln w="14669" cap="rnd" cmpd="sng" algn="ctr">
                <a:solidFill>
                  <a:srgbClr val="243E42"/>
                </a:solidFill>
                <a:prstDash val="solid"/>
                <a:round/>
                <a:headEnd type="none" w="med" len="med"/>
                <a:tailEnd type="none" w="med" len="med"/>
              </a:ln>
            </p:spPr>
          </p:sp>
          <p:sp>
            <p:nvSpPr>
              <p:cNvPr id="1095" name="circle · 73"/>
              <p:cNvSpPr/>
              <p:nvPr/>
            </p:nvSpPr>
            <p:spPr>
              <a:xfrm>
                <a:off x="2941955" y="2972118"/>
                <a:ext cx="106680" cy="106680"/>
              </a:xfrm>
              <a:prstGeom prst="ellipse">
                <a:avLst/>
              </a:prstGeom>
              <a:solidFill>
                <a:srgbClr val="FFFFFF"/>
              </a:solidFill>
              <a:ln w="14669" cap="rnd" cmpd="sng" algn="ctr">
                <a:solidFill>
                  <a:srgbClr val="243E42"/>
                </a:solidFill>
                <a:prstDash val="solid"/>
                <a:round/>
                <a:headEnd type="none" w="med" len="med"/>
                <a:tailEnd type="none" w="med" len="med"/>
              </a:ln>
            </p:spPr>
          </p:sp>
          <p:sp>
            <p:nvSpPr>
              <p:cNvPr id="1096" name="path · 74"/>
              <p:cNvSpPr/>
              <p:nvPr/>
            </p:nvSpPr>
            <p:spPr>
              <a:xfrm>
                <a:off x="2995295" y="3072130"/>
                <a:ext cx="1" cy="106680"/>
              </a:xfrm>
              <a:custGeom>
                <a:avLst/>
                <a:gdLst/>
                <a:ahLst/>
                <a:cxnLst/>
                <a:rect l="0" t="0" r="r" b="b"/>
                <a:pathLst>
                  <a:path w="1" h="106680" fill="none" stroke="1" extrusionOk="0">
                    <a:moveTo>
                      <a:pt x="0" y="0"/>
                    </a:moveTo>
                    <a:lnTo>
                      <a:pt x="0" y="106680"/>
                    </a:lnTo>
                  </a:path>
                </a:pathLst>
              </a:custGeom>
              <a:noFill/>
              <a:ln w="33338" cap="rnd" cmpd="sng" algn="ctr">
                <a:solidFill>
                  <a:srgbClr val="243E42"/>
                </a:solidFill>
                <a:prstDash val="solid"/>
                <a:round/>
                <a:headEnd type="none" w="med" len="med"/>
                <a:tailEnd type="none" w="med" len="med"/>
              </a:ln>
            </p:spPr>
          </p:sp>
        </p:grpSp>
        <p:grpSp>
          <p:nvGrpSpPr>
            <p:cNvPr id="1097" name="receipt · 86"/>
            <p:cNvGrpSpPr/>
            <p:nvPr/>
          </p:nvGrpSpPr>
          <p:grpSpPr>
            <a:xfrm>
              <a:off x="4907703" y="2328349"/>
              <a:ext cx="914400" cy="966031"/>
              <a:chOff x="4907703" y="2328349"/>
              <a:chExt cx="914400" cy="966031"/>
            </a:xfrm>
          </p:grpSpPr>
          <p:grpSp>
            <p:nvGrpSpPr>
              <p:cNvPr id="1098" name="g · 78"/>
              <p:cNvGrpSpPr/>
              <p:nvPr/>
            </p:nvGrpSpPr>
            <p:grpSpPr>
              <a:xfrm>
                <a:off x="4913662" y="2328349"/>
                <a:ext cx="846153" cy="936238"/>
                <a:chOff x="4913662" y="2328349"/>
                <a:chExt cx="846153" cy="936238"/>
              </a:xfrm>
            </p:grpSpPr>
            <p:sp>
              <p:nvSpPr>
                <p:cNvPr id="1099" name="path · 76"/>
                <p:cNvSpPr/>
                <p:nvPr/>
              </p:nvSpPr>
              <p:spPr>
                <a:xfrm>
                  <a:off x="4913662" y="2328349"/>
                  <a:ext cx="846153" cy="936238"/>
                </a:xfrm>
                <a:custGeom>
                  <a:avLst/>
                  <a:gdLst/>
                  <a:ahLst/>
                  <a:cxnLst/>
                  <a:rect l="0" t="0" r="r" b="b"/>
                  <a:pathLst>
                    <a:path w="846153" h="936238" fill="norm" stroke="1" extrusionOk="0">
                      <a:moveTo>
                        <a:pt x="0" y="113375"/>
                      </a:moveTo>
                      <a:lnTo>
                        <a:pt x="715824" y="0"/>
                      </a:lnTo>
                      <a:lnTo>
                        <a:pt x="846152" y="822863"/>
                      </a:lnTo>
                      <a:lnTo>
                        <a:pt x="772896" y="793319"/>
                      </a:lnTo>
                      <a:lnTo>
                        <a:pt x="705664" y="845114"/>
                      </a:lnTo>
                      <a:lnTo>
                        <a:pt x="625717" y="816630"/>
                      </a:lnTo>
                      <a:lnTo>
                        <a:pt x="558485" y="868425"/>
                      </a:lnTo>
                      <a:lnTo>
                        <a:pt x="478538" y="839940"/>
                      </a:lnTo>
                      <a:lnTo>
                        <a:pt x="411306" y="891735"/>
                      </a:lnTo>
                      <a:lnTo>
                        <a:pt x="331359" y="863251"/>
                      </a:lnTo>
                      <a:lnTo>
                        <a:pt x="264127" y="915046"/>
                      </a:lnTo>
                      <a:lnTo>
                        <a:pt x="190871" y="885502"/>
                      </a:lnTo>
                      <a:lnTo>
                        <a:pt x="130329" y="936238"/>
                      </a:lnTo>
                      <a:close/>
                    </a:path>
                  </a:pathLst>
                </a:custGeom>
                <a:solidFill>
                  <a:srgbClr val="E2EEF3"/>
                </a:solidFill>
                <a:ln w="14901" cap="rnd" cmpd="sng" algn="ctr">
                  <a:solidFill>
                    <a:srgbClr val="243E42"/>
                  </a:solidFill>
                  <a:prstDash val="solid"/>
                  <a:round/>
                  <a:headEnd type="none" w="med" len="med"/>
                  <a:tailEnd type="none" w="med" len="med"/>
                </a:ln>
              </p:spPr>
            </p:sp>
            <p:sp>
              <p:nvSpPr>
                <p:cNvPr id="1100" name="path · 77"/>
                <p:cNvSpPr/>
                <p:nvPr/>
              </p:nvSpPr>
              <p:spPr>
                <a:xfrm>
                  <a:off x="5050702" y="2511553"/>
                  <a:ext cx="374637" cy="146306"/>
                </a:xfrm>
                <a:custGeom>
                  <a:avLst/>
                  <a:gdLst/>
                  <a:ahLst/>
                  <a:cxnLst/>
                  <a:rect l="0" t="0" r="r" b="b"/>
                  <a:pathLst>
                    <a:path w="374637" h="146306" fill="none" stroke="1" extrusionOk="0">
                      <a:moveTo>
                        <a:pt x="0" y="59337"/>
                      </a:moveTo>
                      <a:lnTo>
                        <a:pt x="374637" y="0"/>
                      </a:lnTo>
                      <a:moveTo>
                        <a:pt x="13774" y="146306"/>
                      </a:moveTo>
                      <a:lnTo>
                        <a:pt x="294752" y="101804"/>
                      </a:lnTo>
                    </a:path>
                  </a:pathLst>
                </a:custGeom>
                <a:noFill/>
                <a:ln w="27093" cap="rnd" cmpd="sng" algn="ctr">
                  <a:solidFill>
                    <a:srgbClr val="243E42"/>
                  </a:solidFill>
                  <a:prstDash val="solid"/>
                  <a:round/>
                  <a:headEnd type="none" w="med" len="med"/>
                  <a:tailEnd type="none" w="med" len="med"/>
                </a:ln>
              </p:spPr>
            </p:sp>
          </p:grpSp>
          <p:sp>
            <p:nvSpPr>
              <p:cNvPr id="1101" name="path · 79"/>
              <p:cNvSpPr/>
              <p:nvPr/>
            </p:nvSpPr>
            <p:spPr>
              <a:xfrm>
                <a:off x="4907703" y="2461260"/>
                <a:ext cx="711200" cy="833120"/>
              </a:xfrm>
              <a:custGeom>
                <a:avLst/>
                <a:gdLst/>
                <a:ahLst/>
                <a:cxnLst/>
                <a:rect l="0" t="0" r="r" b="b"/>
                <a:pathLst>
                  <a:path w="711200" h="833120" fill="norm" stroke="1" extrusionOk="0">
                    <a:moveTo>
                      <a:pt x="0" y="0"/>
                    </a:moveTo>
                    <a:lnTo>
                      <a:pt x="711200" y="0"/>
                    </a:lnTo>
                    <a:lnTo>
                      <a:pt x="711200" y="833120"/>
                    </a:lnTo>
                    <a:lnTo>
                      <a:pt x="643467" y="792480"/>
                    </a:lnTo>
                    <a:lnTo>
                      <a:pt x="568960" y="833120"/>
                    </a:lnTo>
                    <a:lnTo>
                      <a:pt x="494454" y="792480"/>
                    </a:lnTo>
                    <a:lnTo>
                      <a:pt x="419947" y="833120"/>
                    </a:lnTo>
                    <a:lnTo>
                      <a:pt x="345440" y="792480"/>
                    </a:lnTo>
                    <a:lnTo>
                      <a:pt x="270934" y="833120"/>
                    </a:lnTo>
                    <a:lnTo>
                      <a:pt x="196427" y="792480"/>
                    </a:lnTo>
                    <a:lnTo>
                      <a:pt x="128694" y="833120"/>
                    </a:lnTo>
                    <a:lnTo>
                      <a:pt x="67734" y="792480"/>
                    </a:lnTo>
                    <a:lnTo>
                      <a:pt x="0" y="833120"/>
                    </a:lnTo>
                    <a:close/>
                  </a:path>
                </a:pathLst>
              </a:custGeom>
              <a:solidFill>
                <a:srgbClr val="FFFFFF"/>
              </a:solidFill>
              <a:ln w="14901" cap="rnd" cmpd="sng" algn="ctr">
                <a:solidFill>
                  <a:srgbClr val="243E42"/>
                </a:solidFill>
                <a:prstDash val="solid"/>
                <a:round/>
                <a:headEnd type="none" w="med" len="med"/>
                <a:tailEnd type="none" w="med" len="med"/>
              </a:ln>
            </p:spPr>
          </p:sp>
          <p:sp>
            <p:nvSpPr>
              <p:cNvPr id="1102" name="path · 80"/>
              <p:cNvSpPr/>
              <p:nvPr/>
            </p:nvSpPr>
            <p:spPr>
              <a:xfrm>
                <a:off x="5009303" y="2562860"/>
                <a:ext cx="487680" cy="541867"/>
              </a:xfrm>
              <a:custGeom>
                <a:avLst/>
                <a:gdLst/>
                <a:ahLst/>
                <a:cxnLst/>
                <a:rect l="0" t="0" r="r" b="b"/>
                <a:pathLst>
                  <a:path w="487680" h="541867" fill="none" stroke="1" extrusionOk="0">
                    <a:moveTo>
                      <a:pt x="0" y="0"/>
                    </a:moveTo>
                    <a:lnTo>
                      <a:pt x="311574" y="0"/>
                    </a:lnTo>
                    <a:moveTo>
                      <a:pt x="0" y="74507"/>
                    </a:moveTo>
                    <a:lnTo>
                      <a:pt x="433494" y="74507"/>
                    </a:lnTo>
                    <a:moveTo>
                      <a:pt x="13547" y="541867"/>
                    </a:moveTo>
                    <a:lnTo>
                      <a:pt x="176107" y="541867"/>
                    </a:lnTo>
                    <a:moveTo>
                      <a:pt x="270934" y="541867"/>
                    </a:moveTo>
                    <a:lnTo>
                      <a:pt x="487680" y="541867"/>
                    </a:lnTo>
                  </a:path>
                </a:pathLst>
              </a:custGeom>
              <a:noFill/>
              <a:ln w="27093" cap="rnd" cmpd="sng" algn="ctr">
                <a:solidFill>
                  <a:srgbClr val="243E42"/>
                </a:solidFill>
                <a:prstDash val="solid"/>
                <a:round/>
                <a:headEnd type="none" w="med" len="med"/>
                <a:tailEnd type="none" w="med" len="med"/>
              </a:ln>
            </p:spPr>
          </p:sp>
          <p:sp>
            <p:nvSpPr>
              <p:cNvPr id="1103" name="path · 81"/>
              <p:cNvSpPr/>
              <p:nvPr/>
            </p:nvSpPr>
            <p:spPr>
              <a:xfrm>
                <a:off x="5104130" y="2650913"/>
                <a:ext cx="338667" cy="250613"/>
              </a:xfrm>
              <a:custGeom>
                <a:avLst/>
                <a:gdLst/>
                <a:ahLst/>
                <a:cxnLst/>
                <a:rect l="0" t="0" r="r" b="b"/>
                <a:pathLst>
                  <a:path w="338667" h="250613" fill="none" stroke="1" extrusionOk="0">
                    <a:moveTo>
                      <a:pt x="0" y="250614"/>
                    </a:moveTo>
                    <a:lnTo>
                      <a:pt x="0" y="169334"/>
                    </a:lnTo>
                    <a:cubicBezTo>
                      <a:pt x="0" y="75813"/>
                      <a:pt x="75813" y="0"/>
                      <a:pt x="169333" y="0"/>
                    </a:cubicBezTo>
                    <a:cubicBezTo>
                      <a:pt x="262854" y="0"/>
                      <a:pt x="338667" y="75813"/>
                      <a:pt x="338667" y="169334"/>
                    </a:cubicBezTo>
                    <a:lnTo>
                      <a:pt x="338667" y="250614"/>
                    </a:lnTo>
                  </a:path>
                </a:pathLst>
              </a:custGeom>
              <a:noFill/>
              <a:ln w="40640" cap="rnd" cmpd="sng" algn="ctr">
                <a:solidFill>
                  <a:srgbClr val="665180"/>
                </a:solidFill>
                <a:prstDash val="solid"/>
                <a:round/>
                <a:headEnd type="none" w="med" len="med"/>
                <a:tailEnd type="none" w="med" len="med"/>
              </a:ln>
            </p:spPr>
          </p:sp>
          <p:sp>
            <p:nvSpPr>
              <p:cNvPr id="1104" name="rect · 82"/>
              <p:cNvSpPr/>
              <p:nvPr/>
            </p:nvSpPr>
            <p:spPr>
              <a:xfrm>
                <a:off x="506349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5" name="rect · 83"/>
              <p:cNvSpPr/>
              <p:nvPr/>
            </p:nvSpPr>
            <p:spPr>
              <a:xfrm>
                <a:off x="538861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6" name="circle · 84"/>
              <p:cNvSpPr/>
              <p:nvPr/>
            </p:nvSpPr>
            <p:spPr>
              <a:xfrm>
                <a:off x="5469890" y="2874433"/>
                <a:ext cx="352213" cy="352213"/>
              </a:xfrm>
              <a:prstGeom prst="ellipse">
                <a:avLst/>
              </a:prstGeom>
              <a:solidFill>
                <a:srgbClr val="D7EBE1"/>
              </a:solidFill>
              <a:ln w="14901" cap="rnd" cmpd="sng" algn="ctr">
                <a:solidFill>
                  <a:srgbClr val="243E42"/>
                </a:solidFill>
                <a:prstDash val="solid"/>
                <a:round/>
                <a:headEnd type="none" w="med" len="med"/>
                <a:tailEnd type="none" w="med" len="med"/>
              </a:ln>
            </p:spPr>
          </p:sp>
          <p:sp>
            <p:nvSpPr>
              <p:cNvPr id="1107" name="path · 85"/>
              <p:cNvSpPr/>
              <p:nvPr/>
            </p:nvSpPr>
            <p:spPr>
              <a:xfrm>
                <a:off x="5551170" y="2969260"/>
                <a:ext cx="189653" cy="149013"/>
              </a:xfrm>
              <a:custGeom>
                <a:avLst/>
                <a:gdLst/>
                <a:ahLst/>
                <a:cxnLst/>
                <a:rect l="0" t="0" r="r" b="b"/>
                <a:pathLst>
                  <a:path w="189653" h="149013" fill="none" stroke="1" extrusionOk="0">
                    <a:moveTo>
                      <a:pt x="0" y="81280"/>
                    </a:moveTo>
                    <a:lnTo>
                      <a:pt x="67733" y="149013"/>
                    </a:lnTo>
                    <a:lnTo>
                      <a:pt x="189653" y="0"/>
                    </a:lnTo>
                  </a:path>
                </a:pathLst>
              </a:custGeom>
              <a:noFill/>
              <a:ln w="33867" cap="rnd" cmpd="sng" algn="ctr">
                <a:solidFill>
                  <a:srgbClr val="2E6653"/>
                </a:solidFill>
                <a:prstDash val="solid"/>
                <a:round/>
                <a:headEnd type="none" w="med" len="med"/>
                <a:tailEnd type="none" w="med" len="med"/>
              </a:ln>
            </p:spPr>
          </p:sp>
        </p:grpSp>
        <p:grpSp>
          <p:nvGrpSpPr>
            <p:cNvPr id="1108" name="locked · 93"/>
            <p:cNvGrpSpPr/>
            <p:nvPr/>
          </p:nvGrpSpPr>
          <p:grpSpPr>
            <a:xfrm>
              <a:off x="820208" y="4377972"/>
              <a:ext cx="721254" cy="721254"/>
              <a:chOff x="820208" y="4377972"/>
              <a:chExt cx="721254" cy="721254"/>
            </a:xfrm>
          </p:grpSpPr>
          <p:sp>
            <p:nvSpPr>
              <p:cNvPr id="1109" name="path · 87"/>
              <p:cNvSpPr/>
              <p:nvPr/>
            </p:nvSpPr>
            <p:spPr>
              <a:xfrm>
                <a:off x="917399" y="4377972"/>
                <a:ext cx="398992" cy="322262"/>
              </a:xfrm>
              <a:custGeom>
                <a:avLst/>
                <a:gdLst/>
                <a:ahLst/>
                <a:cxnLst/>
                <a:rect l="0" t="0" r="r" b="b"/>
                <a:pathLst>
                  <a:path w="398992" h="322262" fill="none" stroke="1" extrusionOk="0">
                    <a:moveTo>
                      <a:pt x="0" y="322263"/>
                    </a:moveTo>
                    <a:lnTo>
                      <a:pt x="0" y="199496"/>
                    </a:lnTo>
                    <a:cubicBezTo>
                      <a:pt x="0" y="89318"/>
                      <a:pt x="89317" y="0"/>
                      <a:pt x="199495" y="0"/>
                    </a:cubicBezTo>
                    <a:cubicBezTo>
                      <a:pt x="309674" y="0"/>
                      <a:pt x="398991" y="89318"/>
                      <a:pt x="398991" y="199496"/>
                    </a:cubicBezTo>
                    <a:lnTo>
                      <a:pt x="398991" y="322263"/>
                    </a:lnTo>
                  </a:path>
                </a:pathLst>
              </a:custGeom>
              <a:noFill/>
              <a:ln w="56268" cap="rnd" cmpd="sng" algn="ctr">
                <a:solidFill>
                  <a:srgbClr val="243E42"/>
                </a:solidFill>
                <a:prstDash val="solid"/>
                <a:round/>
                <a:headEnd type="none" w="med" len="med"/>
                <a:tailEnd type="none" w="med" len="med"/>
              </a:ln>
            </p:spPr>
          </p:sp>
          <p:sp>
            <p:nvSpPr>
              <p:cNvPr id="1110" name="rect · 88"/>
              <p:cNvSpPr/>
              <p:nvPr/>
            </p:nvSpPr>
            <p:spPr>
              <a:xfrm>
                <a:off x="820208" y="4674658"/>
                <a:ext cx="603603" cy="424568"/>
              </a:xfrm>
              <a:prstGeom prst="roundRect">
                <a:avLst>
                  <a:gd name="adj" fmla="val 19277"/>
                </a:avLst>
              </a:prstGeom>
              <a:solidFill>
                <a:srgbClr val="F4DFD3"/>
              </a:solidFill>
              <a:ln w="11254" cap="rnd" cmpd="sng" algn="ctr">
                <a:solidFill>
                  <a:srgbClr val="243E42"/>
                </a:solidFill>
                <a:prstDash val="solid"/>
                <a:round/>
                <a:headEnd type="none" w="med" len="med"/>
                <a:tailEnd type="none" w="med" len="med"/>
              </a:ln>
            </p:spPr>
          </p:sp>
          <p:sp>
            <p:nvSpPr>
              <p:cNvPr id="1111" name="circle · 89"/>
              <p:cNvSpPr/>
              <p:nvPr/>
            </p:nvSpPr>
            <p:spPr>
              <a:xfrm>
                <a:off x="1065742" y="4792310"/>
                <a:ext cx="102306" cy="102306"/>
              </a:xfrm>
              <a:prstGeom prst="ellipse">
                <a:avLst/>
              </a:prstGeom>
              <a:solidFill>
                <a:srgbClr val="FFFFFF"/>
              </a:solidFill>
              <a:ln w="11254" cap="rnd" cmpd="sng" algn="ctr">
                <a:solidFill>
                  <a:srgbClr val="243E42"/>
                </a:solidFill>
                <a:prstDash val="solid"/>
                <a:round/>
                <a:headEnd type="none" w="med" len="med"/>
                <a:tailEnd type="none" w="med" len="med"/>
              </a:ln>
            </p:spPr>
          </p:sp>
          <p:sp>
            <p:nvSpPr>
              <p:cNvPr id="1112" name="path · 90"/>
              <p:cNvSpPr/>
              <p:nvPr/>
            </p:nvSpPr>
            <p:spPr>
              <a:xfrm>
                <a:off x="1116894" y="4894615"/>
                <a:ext cx="1" cy="92075"/>
              </a:xfrm>
              <a:custGeom>
                <a:avLst/>
                <a:gdLst/>
                <a:ahLst/>
                <a:cxnLst/>
                <a:rect l="0" t="0" r="r" b="b"/>
                <a:pathLst>
                  <a:path w="1" h="92075" fill="none" stroke="1" extrusionOk="0">
                    <a:moveTo>
                      <a:pt x="0" y="0"/>
                    </a:moveTo>
                    <a:lnTo>
                      <a:pt x="0" y="92075"/>
                    </a:lnTo>
                  </a:path>
                </a:pathLst>
              </a:custGeom>
              <a:noFill/>
              <a:ln w="30692" cap="rnd" cmpd="sng" algn="ctr">
                <a:solidFill>
                  <a:srgbClr val="243E42"/>
                </a:solidFill>
                <a:prstDash val="solid"/>
                <a:round/>
                <a:headEnd type="none" w="med" len="med"/>
                <a:tailEnd type="none" w="med" len="med"/>
              </a:ln>
            </p:spPr>
          </p:sp>
          <p:sp>
            <p:nvSpPr>
              <p:cNvPr id="1113" name="circle · 91"/>
              <p:cNvSpPr/>
              <p:nvPr/>
            </p:nvSpPr>
            <p:spPr>
              <a:xfrm>
                <a:off x="1275468" y="4817886"/>
                <a:ext cx="265994" cy="265994"/>
              </a:xfrm>
              <a:prstGeom prst="ellipse">
                <a:avLst/>
              </a:prstGeom>
              <a:solidFill>
                <a:srgbClr val="FFFFFF"/>
              </a:solidFill>
              <a:ln w="15346" cap="rnd" cmpd="sng" algn="ctr">
                <a:solidFill>
                  <a:srgbClr val="81533E"/>
                </a:solidFill>
                <a:prstDash val="solid"/>
                <a:round/>
                <a:headEnd type="none" w="med" len="med"/>
                <a:tailEnd type="none" w="med" len="med"/>
              </a:ln>
            </p:spPr>
          </p:sp>
          <p:sp>
            <p:nvSpPr>
              <p:cNvPr id="1114" name="path · 92"/>
              <p:cNvSpPr/>
              <p:nvPr/>
            </p:nvSpPr>
            <p:spPr>
              <a:xfrm>
                <a:off x="1341967" y="4889500"/>
                <a:ext cx="127882" cy="127882"/>
              </a:xfrm>
              <a:custGeom>
                <a:avLst/>
                <a:gdLst/>
                <a:ahLst/>
                <a:cxnLst/>
                <a:rect l="0" t="0" r="r" b="b"/>
                <a:pathLst>
                  <a:path w="127882" h="127882" fill="none" stroke="1" extrusionOk="0">
                    <a:moveTo>
                      <a:pt x="0" y="0"/>
                    </a:moveTo>
                    <a:lnTo>
                      <a:pt x="127882" y="127882"/>
                    </a:lnTo>
                    <a:moveTo>
                      <a:pt x="127882" y="0"/>
                    </a:moveTo>
                    <a:lnTo>
                      <a:pt x="0" y="127882"/>
                    </a:lnTo>
                  </a:path>
                </a:pathLst>
              </a:custGeom>
              <a:noFill/>
              <a:ln w="25576" cap="rnd" cmpd="sng" algn="ctr">
                <a:solidFill>
                  <a:srgbClr val="81533E"/>
                </a:solidFill>
                <a:prstDash val="solid"/>
                <a:round/>
                <a:headEnd type="none" w="med" len="med"/>
                <a:tailEnd type="none" w="med" len="med"/>
              </a:ln>
            </p:spPr>
          </p:sp>
        </p:grpSp>
        <p:grpSp>
          <p:nvGrpSpPr>
            <p:cNvPr id="1115" name="signin · 104"/>
            <p:cNvGrpSpPr/>
            <p:nvPr/>
          </p:nvGrpSpPr>
          <p:grpSpPr>
            <a:xfrm>
              <a:off x="2224617" y="4409899"/>
              <a:ext cx="1011590" cy="770114"/>
              <a:chOff x="2224617" y="4409899"/>
              <a:chExt cx="1011590" cy="770114"/>
            </a:xfrm>
          </p:grpSpPr>
          <p:sp>
            <p:nvSpPr>
              <p:cNvPr id="1116" name="rect · 94"/>
              <p:cNvSpPr/>
              <p:nvPr/>
            </p:nvSpPr>
            <p:spPr>
              <a:xfrm>
                <a:off x="2368197" y="4409899"/>
                <a:ext cx="868010" cy="770114"/>
              </a:xfrm>
              <a:prstGeom prst="roundRect">
                <a:avLst>
                  <a:gd name="adj" fmla="val 11017"/>
                </a:avLst>
              </a:prstGeom>
              <a:solidFill>
                <a:srgbClr val="FFFFFF"/>
              </a:solidFill>
              <a:ln w="14358" cap="rnd" cmpd="sng" algn="ctr">
                <a:solidFill>
                  <a:srgbClr val="243E42"/>
                </a:solidFill>
                <a:prstDash val="solid"/>
                <a:round/>
                <a:headEnd type="none" w="med" len="med"/>
                <a:tailEnd type="none" w="med" len="med"/>
              </a:ln>
            </p:spPr>
          </p:sp>
          <p:sp>
            <p:nvSpPr>
              <p:cNvPr id="1117" name="path · 95"/>
              <p:cNvSpPr/>
              <p:nvPr/>
            </p:nvSpPr>
            <p:spPr>
              <a:xfrm>
                <a:off x="2368197" y="4409899"/>
                <a:ext cx="868010" cy="176212"/>
              </a:xfrm>
              <a:custGeom>
                <a:avLst/>
                <a:gdLst/>
                <a:ahLst/>
                <a:cxnLst/>
                <a:rect l="0" t="0" r="r" b="b"/>
                <a:pathLst>
                  <a:path w="868010" h="176212" fill="norm" stroke="1" extrusionOk="0">
                    <a:moveTo>
                      <a:pt x="84843" y="0"/>
                    </a:moveTo>
                    <a:lnTo>
                      <a:pt x="783167" y="0"/>
                    </a:lnTo>
                    <a:quadBezTo>
                      <a:pt x="868010" y="0"/>
                      <a:pt x="868010" y="84843"/>
                    </a:quadBezTo>
                    <a:lnTo>
                      <a:pt x="868010" y="176212"/>
                    </a:lnTo>
                    <a:lnTo>
                      <a:pt x="0" y="176212"/>
                    </a:lnTo>
                    <a:lnTo>
                      <a:pt x="0" y="84843"/>
                    </a:lnTo>
                    <a:quadBezTo>
                      <a:pt x="0" y="0"/>
                      <a:pt x="84843" y="0"/>
                    </a:quadBezTo>
                    <a:close/>
                  </a:path>
                </a:pathLst>
              </a:custGeom>
              <a:solidFill>
                <a:srgbClr val="E2EEF3"/>
              </a:solidFill>
              <a:ln w="14358" cap="rnd" cmpd="sng" algn="ctr">
                <a:solidFill>
                  <a:srgbClr val="243E42"/>
                </a:solidFill>
                <a:prstDash val="solid"/>
                <a:round/>
                <a:headEnd type="none" w="med" len="med"/>
                <a:tailEnd type="none" w="med" len="med"/>
              </a:ln>
            </p:spPr>
          </p:sp>
          <p:sp>
            <p:nvSpPr>
              <p:cNvPr id="1118" name="circle · 96"/>
              <p:cNvSpPr/>
              <p:nvPr/>
            </p:nvSpPr>
            <p:spPr>
              <a:xfrm>
                <a:off x="2439988" y="4481689"/>
                <a:ext cx="39158" cy="39158"/>
              </a:xfrm>
              <a:prstGeom prst="ellipse">
                <a:avLst/>
              </a:prstGeom>
              <a:solidFill>
                <a:srgbClr val="243E42"/>
              </a:solidFill>
              <a:ln>
                <a:noFill/>
              </a:ln>
            </p:spPr>
          </p:sp>
          <p:sp>
            <p:nvSpPr>
              <p:cNvPr id="1119" name="circle · 97"/>
              <p:cNvSpPr/>
              <p:nvPr/>
            </p:nvSpPr>
            <p:spPr>
              <a:xfrm>
                <a:off x="2524831" y="4481689"/>
                <a:ext cx="39158" cy="39158"/>
              </a:xfrm>
              <a:prstGeom prst="ellipse">
                <a:avLst/>
              </a:prstGeom>
              <a:solidFill>
                <a:srgbClr val="243E42"/>
              </a:solidFill>
              <a:ln>
                <a:noFill/>
              </a:ln>
            </p:spPr>
          </p:sp>
          <p:sp>
            <p:nvSpPr>
              <p:cNvPr id="1120" name="path · 98"/>
              <p:cNvSpPr/>
              <p:nvPr/>
            </p:nvSpPr>
            <p:spPr>
              <a:xfrm>
                <a:off x="2746728" y="4586111"/>
                <a:ext cx="208844" cy="169686"/>
              </a:xfrm>
              <a:custGeom>
                <a:avLst/>
                <a:gdLst/>
                <a:ahLst/>
                <a:cxnLst/>
                <a:rect l="0" t="0" r="r" b="b"/>
                <a:pathLst>
                  <a:path w="208844" h="169686" fill="none" stroke="1" extrusionOk="0">
                    <a:moveTo>
                      <a:pt x="0" y="169686"/>
                    </a:moveTo>
                    <a:lnTo>
                      <a:pt x="0" y="104422"/>
                    </a:lnTo>
                    <a:cubicBezTo>
                      <a:pt x="0" y="46752"/>
                      <a:pt x="46751" y="0"/>
                      <a:pt x="104422" y="0"/>
                    </a:cubicBezTo>
                    <a:cubicBezTo>
                      <a:pt x="162093" y="0"/>
                      <a:pt x="208844" y="46752"/>
                      <a:pt x="208844" y="104422"/>
                    </a:cubicBezTo>
                    <a:lnTo>
                      <a:pt x="208844" y="169686"/>
                    </a:lnTo>
                  </a:path>
                </a:pathLst>
              </a:custGeom>
              <a:noFill/>
              <a:ln w="32632" cap="rnd" cmpd="sng" algn="ctr">
                <a:solidFill>
                  <a:srgbClr val="243E42"/>
                </a:solidFill>
                <a:prstDash val="solid"/>
                <a:round/>
                <a:headEnd type="none" w="med" len="med"/>
                <a:tailEnd type="none" w="med" len="med"/>
              </a:ln>
            </p:spPr>
          </p:sp>
          <p:sp>
            <p:nvSpPr>
              <p:cNvPr id="1121" name="rect · 99"/>
              <p:cNvSpPr/>
              <p:nvPr/>
            </p:nvSpPr>
            <p:spPr>
              <a:xfrm>
                <a:off x="2701043" y="4749271"/>
                <a:ext cx="300214" cy="241476"/>
              </a:xfrm>
              <a:prstGeom prst="roundRect">
                <a:avLst>
                  <a:gd name="adj" fmla="val 18919"/>
                </a:avLst>
              </a:prstGeom>
              <a:solidFill>
                <a:srgbClr val="F6EAC8"/>
              </a:solidFill>
              <a:ln w="14358" cap="rnd" cmpd="sng" algn="ctr">
                <a:solidFill>
                  <a:srgbClr val="243E42"/>
                </a:solidFill>
                <a:prstDash val="solid"/>
                <a:round/>
                <a:headEnd type="none" w="med" len="med"/>
                <a:tailEnd type="none" w="med" len="med"/>
              </a:ln>
            </p:spPr>
          </p:sp>
          <p:sp>
            <p:nvSpPr>
              <p:cNvPr id="1122" name="circle · 100"/>
              <p:cNvSpPr/>
              <p:nvPr/>
            </p:nvSpPr>
            <p:spPr>
              <a:xfrm>
                <a:off x="2825044" y="4821061"/>
                <a:ext cx="52211" cy="52211"/>
              </a:xfrm>
              <a:prstGeom prst="ellipse">
                <a:avLst/>
              </a:prstGeom>
              <a:solidFill>
                <a:srgbClr val="7A6025"/>
              </a:solidFill>
              <a:ln>
                <a:noFill/>
              </a:ln>
            </p:spPr>
          </p:sp>
          <p:sp>
            <p:nvSpPr>
              <p:cNvPr id="1123" name="path · 101"/>
              <p:cNvSpPr/>
              <p:nvPr/>
            </p:nvSpPr>
            <p:spPr>
              <a:xfrm>
                <a:off x="2851150" y="4860219"/>
                <a:ext cx="1" cy="58738"/>
              </a:xfrm>
              <a:custGeom>
                <a:avLst/>
                <a:gdLst/>
                <a:ahLst/>
                <a:cxnLst/>
                <a:rect l="0" t="0" r="r" b="b"/>
                <a:pathLst>
                  <a:path w="1" h="58738" fill="none" stroke="1" extrusionOk="0">
                    <a:moveTo>
                      <a:pt x="0" y="0"/>
                    </a:moveTo>
                    <a:lnTo>
                      <a:pt x="0" y="58738"/>
                    </a:lnTo>
                  </a:path>
                </a:pathLst>
              </a:custGeom>
              <a:noFill/>
              <a:ln w="19579" cap="rnd" cmpd="sng" algn="ctr">
                <a:solidFill>
                  <a:srgbClr val="7A6025"/>
                </a:solidFill>
                <a:prstDash val="solid"/>
                <a:round/>
                <a:headEnd type="none" w="med" len="med"/>
                <a:tailEnd type="none" w="med" len="med"/>
              </a:ln>
            </p:spPr>
          </p:sp>
          <p:sp>
            <p:nvSpPr>
              <p:cNvPr id="1124" name="path · 102"/>
              <p:cNvSpPr/>
              <p:nvPr/>
            </p:nvSpPr>
            <p:spPr>
              <a:xfrm>
                <a:off x="2224617" y="4925483"/>
                <a:ext cx="417689" cy="221897"/>
              </a:xfrm>
              <a:custGeom>
                <a:avLst/>
                <a:gdLst/>
                <a:ahLst/>
                <a:cxnLst/>
                <a:rect l="0" t="0" r="r" b="b"/>
                <a:pathLst>
                  <a:path w="417689" h="221897" fill="none" stroke="1" extrusionOk="0">
                    <a:moveTo>
                      <a:pt x="0" y="110949"/>
                    </a:moveTo>
                    <a:lnTo>
                      <a:pt x="411162" y="110949"/>
                    </a:lnTo>
                    <a:moveTo>
                      <a:pt x="306740" y="0"/>
                    </a:moveTo>
                    <a:lnTo>
                      <a:pt x="417689" y="110949"/>
                    </a:lnTo>
                    <a:lnTo>
                      <a:pt x="306740" y="221898"/>
                    </a:lnTo>
                  </a:path>
                </a:pathLst>
              </a:custGeom>
              <a:noFill/>
              <a:ln w="45685" cap="rnd" cmpd="sng" algn="ctr">
                <a:solidFill>
                  <a:srgbClr val="2E6653"/>
                </a:solidFill>
                <a:prstDash val="solid"/>
                <a:round/>
                <a:headEnd type="none" w="med" len="med"/>
                <a:tailEnd type="none" w="med" len="med"/>
              </a:ln>
            </p:spPr>
          </p:sp>
          <p:sp>
            <p:nvSpPr>
              <p:cNvPr id="1125" name="path · 103"/>
              <p:cNvSpPr/>
              <p:nvPr/>
            </p:nvSpPr>
            <p:spPr>
              <a:xfrm>
                <a:off x="2740201" y="5075590"/>
                <a:ext cx="274108" cy="1"/>
              </a:xfrm>
              <a:custGeom>
                <a:avLst/>
                <a:gdLst/>
                <a:ahLst/>
                <a:cxnLst/>
                <a:rect l="0" t="0" r="r" b="b"/>
                <a:pathLst>
                  <a:path w="274108" h="1" fill="none" stroke="1" extrusionOk="0">
                    <a:moveTo>
                      <a:pt x="0" y="0"/>
                    </a:moveTo>
                    <a:lnTo>
                      <a:pt x="274109" y="0"/>
                    </a:lnTo>
                  </a:path>
                </a:pathLst>
              </a:custGeom>
              <a:noFill/>
              <a:ln w="26106" cap="rnd" cmpd="sng" algn="ctr">
                <a:solidFill>
                  <a:srgbClr val="2E6653"/>
                </a:solidFill>
                <a:prstDash val="solid"/>
                <a:round/>
                <a:headEnd type="none" w="med" len="med"/>
                <a:tailEnd type="none" w="med" len="med"/>
              </a:ln>
            </p:spPr>
          </p:sp>
        </p:grpSp>
        <p:grpSp>
          <p:nvGrpSpPr>
            <p:cNvPr id="1126" name="review · 116"/>
            <p:cNvGrpSpPr/>
            <p:nvPr/>
          </p:nvGrpSpPr>
          <p:grpSpPr>
            <a:xfrm>
              <a:off x="4867557" y="4561840"/>
              <a:ext cx="1035720" cy="765246"/>
              <a:chOff x="4867557" y="4561840"/>
              <a:chExt cx="1035720" cy="765246"/>
            </a:xfrm>
          </p:grpSpPr>
          <p:sp>
            <p:nvSpPr>
              <p:cNvPr id="1127" name="path · 105"/>
              <p:cNvSpPr/>
              <p:nvPr/>
            </p:nvSpPr>
            <p:spPr>
              <a:xfrm>
                <a:off x="4867557" y="4931269"/>
                <a:ext cx="481577" cy="395817"/>
              </a:xfrm>
              <a:custGeom>
                <a:avLst/>
                <a:gdLst/>
                <a:ahLst/>
                <a:cxnLst/>
                <a:rect l="0" t="0" r="r" b="b"/>
                <a:pathLst>
                  <a:path w="481577" h="395817" fill="norm" stroke="1" extrusionOk="0">
                    <a:moveTo>
                      <a:pt x="0" y="395817"/>
                    </a:moveTo>
                    <a:lnTo>
                      <a:pt x="0" y="204505"/>
                    </a:lnTo>
                    <a:quadBezTo>
                      <a:pt x="6597" y="0"/>
                      <a:pt x="224296" y="0"/>
                    </a:quadBezTo>
                    <a:quadBezTo>
                      <a:pt x="441995" y="0"/>
                      <a:pt x="481577" y="204505"/>
                    </a:quadBezTo>
                    <a:lnTo>
                      <a:pt x="481577" y="395817"/>
                    </a:lnTo>
                    <a:close/>
                  </a:path>
                </a:pathLst>
              </a:custGeom>
              <a:solidFill>
                <a:srgbClr val="E2EEF3"/>
              </a:solidFill>
              <a:ln w="14513" cap="rnd" cmpd="sng" algn="ctr">
                <a:solidFill>
                  <a:srgbClr val="243E42"/>
                </a:solidFill>
                <a:prstDash val="solid"/>
                <a:round/>
                <a:headEnd type="none" w="med" len="med"/>
                <a:tailEnd type="none" w="med" len="med"/>
              </a:ln>
            </p:spPr>
          </p:sp>
          <p:sp>
            <p:nvSpPr>
              <p:cNvPr id="1128" name="circle · 106"/>
              <p:cNvSpPr/>
              <p:nvPr/>
            </p:nvSpPr>
            <p:spPr>
              <a:xfrm>
                <a:off x="4933527" y="4621212"/>
                <a:ext cx="316653" cy="316653"/>
              </a:xfrm>
              <a:prstGeom prst="ellipse">
                <a:avLst/>
              </a:prstGeom>
              <a:solidFill>
                <a:srgbClr val="F4DFD3"/>
              </a:solidFill>
              <a:ln w="14513" cap="rnd" cmpd="sng" algn="ctr">
                <a:solidFill>
                  <a:srgbClr val="243E42"/>
                </a:solidFill>
                <a:prstDash val="solid"/>
                <a:round/>
                <a:headEnd type="none" w="med" len="med"/>
                <a:tailEnd type="none" w="med" len="med"/>
              </a:ln>
            </p:spPr>
          </p:sp>
          <p:sp>
            <p:nvSpPr>
              <p:cNvPr id="1129" name="path · 107"/>
              <p:cNvSpPr/>
              <p:nvPr/>
            </p:nvSpPr>
            <p:spPr>
              <a:xfrm>
                <a:off x="4920333" y="4575034"/>
                <a:ext cx="343041" cy="191311"/>
              </a:xfrm>
              <a:custGeom>
                <a:avLst/>
                <a:gdLst/>
                <a:ahLst/>
                <a:cxnLst/>
                <a:rect l="0" t="0" r="r" b="b"/>
                <a:pathLst>
                  <a:path w="343041" h="191311" fill="norm" stroke="1" extrusionOk="0">
                    <a:moveTo>
                      <a:pt x="26388" y="184714"/>
                    </a:moveTo>
                    <a:quadBezTo>
                      <a:pt x="0" y="6597"/>
                      <a:pt x="191311" y="0"/>
                    </a:quadBezTo>
                    <a:quadBezTo>
                      <a:pt x="343041" y="26388"/>
                      <a:pt x="329847" y="191311"/>
                    </a:quadBezTo>
                    <a:lnTo>
                      <a:pt x="230893" y="118745"/>
                    </a:lnTo>
                    <a:quadBezTo>
                      <a:pt x="151729" y="184714"/>
                      <a:pt x="26388" y="184714"/>
                    </a:quadBezTo>
                    <a:close/>
                  </a:path>
                </a:pathLst>
              </a:custGeom>
              <a:solidFill>
                <a:srgbClr val="243E42"/>
              </a:solidFill>
              <a:ln w="14513" cap="rnd" cmpd="sng" algn="ctr">
                <a:solidFill>
                  <a:srgbClr val="243E42"/>
                </a:solidFill>
                <a:prstDash val="solid"/>
                <a:round/>
                <a:headEnd type="none" w="med" len="med"/>
                <a:tailEnd type="none" w="med" len="med"/>
              </a:ln>
            </p:spPr>
          </p:sp>
          <p:sp>
            <p:nvSpPr>
              <p:cNvPr id="1130" name="path · 108"/>
              <p:cNvSpPr/>
              <p:nvPr/>
            </p:nvSpPr>
            <p:spPr>
              <a:xfrm>
                <a:off x="5052272" y="4786136"/>
                <a:ext cx="158327" cy="105551"/>
              </a:xfrm>
              <a:custGeom>
                <a:avLst/>
                <a:gdLst/>
                <a:ahLst/>
                <a:cxnLst/>
                <a:rect l="0" t="0" r="r" b="b"/>
                <a:pathLst>
                  <a:path w="158327" h="105551" fill="none" stroke="1" extrusionOk="0">
                    <a:moveTo>
                      <a:pt x="0" y="0"/>
                    </a:moveTo>
                    <a:lnTo>
                      <a:pt x="65969" y="0"/>
                    </a:lnTo>
                    <a:moveTo>
                      <a:pt x="92357" y="0"/>
                    </a:moveTo>
                    <a:lnTo>
                      <a:pt x="158326" y="0"/>
                    </a:lnTo>
                    <a:moveTo>
                      <a:pt x="26387" y="85760"/>
                    </a:moveTo>
                    <a:quadBezTo>
                      <a:pt x="72566" y="105551"/>
                      <a:pt x="105551" y="79163"/>
                    </a:quadBezTo>
                  </a:path>
                </a:pathLst>
              </a:custGeom>
              <a:noFill/>
              <a:ln w="14513" cap="rnd" cmpd="sng" algn="ctr">
                <a:solidFill>
                  <a:srgbClr val="243E42"/>
                </a:solidFill>
                <a:prstDash val="solid"/>
                <a:round/>
                <a:headEnd type="none" w="med" len="med"/>
                <a:tailEnd type="none" w="med" len="med"/>
              </a:ln>
            </p:spPr>
          </p:sp>
          <p:sp>
            <p:nvSpPr>
              <p:cNvPr id="1131" name="circle · 109"/>
              <p:cNvSpPr/>
              <p:nvPr/>
            </p:nvSpPr>
            <p:spPr>
              <a:xfrm>
                <a:off x="5025884"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2" name="circle · 110"/>
              <p:cNvSpPr/>
              <p:nvPr/>
            </p:nvSpPr>
            <p:spPr>
              <a:xfrm>
                <a:off x="5138032"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3" name="path · 111"/>
              <p:cNvSpPr/>
              <p:nvPr/>
            </p:nvSpPr>
            <p:spPr>
              <a:xfrm>
                <a:off x="5349134" y="4561840"/>
                <a:ext cx="435398" cy="639904"/>
              </a:xfrm>
              <a:custGeom>
                <a:avLst/>
                <a:gdLst/>
                <a:ahLst/>
                <a:cxnLst/>
                <a:rect l="0" t="0" r="r" b="b"/>
                <a:pathLst>
                  <a:path w="435398" h="639904" fill="norm" stroke="1" extrusionOk="0">
                    <a:moveTo>
                      <a:pt x="0" y="0"/>
                    </a:moveTo>
                    <a:lnTo>
                      <a:pt x="303460" y="0"/>
                    </a:lnTo>
                    <a:lnTo>
                      <a:pt x="435398" y="131939"/>
                    </a:lnTo>
                    <a:lnTo>
                      <a:pt x="435398" y="639904"/>
                    </a:lnTo>
                    <a:lnTo>
                      <a:pt x="0" y="639904"/>
                    </a:lnTo>
                    <a:close/>
                  </a:path>
                </a:pathLst>
              </a:custGeom>
              <a:solidFill>
                <a:srgbClr val="FFFFFF"/>
              </a:solidFill>
              <a:ln w="14513" cap="rnd" cmpd="sng" algn="ctr">
                <a:solidFill>
                  <a:srgbClr val="243E42"/>
                </a:solidFill>
                <a:prstDash val="solid"/>
                <a:round/>
                <a:headEnd type="none" w="med" len="med"/>
                <a:tailEnd type="none" w="med" len="med"/>
              </a:ln>
            </p:spPr>
          </p:sp>
          <p:sp>
            <p:nvSpPr>
              <p:cNvPr id="1134" name="path · 112"/>
              <p:cNvSpPr/>
              <p:nvPr/>
            </p:nvSpPr>
            <p:spPr>
              <a:xfrm>
                <a:off x="5428298" y="4561840"/>
                <a:ext cx="356235" cy="395817"/>
              </a:xfrm>
              <a:custGeom>
                <a:avLst/>
                <a:gdLst/>
                <a:ahLst/>
                <a:cxnLst/>
                <a:rect l="0" t="0" r="r" b="b"/>
                <a:pathLst>
                  <a:path w="356235" h="395817" fill="none" stroke="1" extrusionOk="0">
                    <a:moveTo>
                      <a:pt x="224296" y="0"/>
                    </a:moveTo>
                    <a:lnTo>
                      <a:pt x="224296" y="131939"/>
                    </a:lnTo>
                    <a:lnTo>
                      <a:pt x="356234" y="131939"/>
                    </a:lnTo>
                    <a:moveTo>
                      <a:pt x="0" y="230893"/>
                    </a:moveTo>
                    <a:lnTo>
                      <a:pt x="237490" y="230893"/>
                    </a:lnTo>
                    <a:moveTo>
                      <a:pt x="0" y="310056"/>
                    </a:moveTo>
                    <a:lnTo>
                      <a:pt x="151729" y="310056"/>
                    </a:lnTo>
                    <a:moveTo>
                      <a:pt x="0" y="395817"/>
                    </a:moveTo>
                    <a:lnTo>
                      <a:pt x="178117" y="395817"/>
                    </a:lnTo>
                  </a:path>
                </a:pathLst>
              </a:custGeom>
              <a:noFill/>
              <a:ln w="14513" cap="rnd" cmpd="sng" algn="ctr">
                <a:solidFill>
                  <a:srgbClr val="243E42"/>
                </a:solidFill>
                <a:prstDash val="solid"/>
                <a:round/>
                <a:headEnd type="none" w="med" len="med"/>
                <a:tailEnd type="none" w="med" len="med"/>
              </a:ln>
            </p:spPr>
          </p:sp>
          <p:sp>
            <p:nvSpPr>
              <p:cNvPr id="1135" name="circle · 113"/>
              <p:cNvSpPr/>
              <p:nvPr/>
            </p:nvSpPr>
            <p:spPr>
              <a:xfrm>
                <a:off x="5474476" y="4838912"/>
                <a:ext cx="329847" cy="329847"/>
              </a:xfrm>
              <a:prstGeom prst="ellipse">
                <a:avLst/>
              </a:prstGeom>
              <a:solidFill>
                <a:srgbClr val="F6EAC8">
                  <a:alpha val="75000"/>
                </a:srgbClr>
              </a:solidFill>
              <a:ln w="26388" cap="rnd" cmpd="sng" algn="ctr">
                <a:solidFill>
                  <a:srgbClr val="7A6025"/>
                </a:solidFill>
                <a:prstDash val="solid"/>
                <a:round/>
                <a:headEnd type="none" w="med" len="med"/>
                <a:tailEnd type="none" w="med" len="med"/>
              </a:ln>
            </p:spPr>
          </p:sp>
          <p:sp>
            <p:nvSpPr>
              <p:cNvPr id="1136" name="path · 114"/>
              <p:cNvSpPr/>
              <p:nvPr/>
            </p:nvSpPr>
            <p:spPr>
              <a:xfrm>
                <a:off x="5751548" y="5129177"/>
                <a:ext cx="151730" cy="164924"/>
              </a:xfrm>
              <a:custGeom>
                <a:avLst/>
                <a:gdLst/>
                <a:ahLst/>
                <a:cxnLst/>
                <a:rect l="0" t="0" r="r" b="b"/>
                <a:pathLst>
                  <a:path w="151730" h="164924" fill="none" stroke="1" extrusionOk="0">
                    <a:moveTo>
                      <a:pt x="0" y="0"/>
                    </a:moveTo>
                    <a:lnTo>
                      <a:pt x="151730" y="164924"/>
                    </a:lnTo>
                  </a:path>
                </a:pathLst>
              </a:custGeom>
              <a:noFill/>
              <a:ln w="65969" cap="rnd" cmpd="sng" algn="ctr">
                <a:solidFill>
                  <a:srgbClr val="7A6025"/>
                </a:solidFill>
                <a:prstDash val="solid"/>
                <a:round/>
                <a:headEnd type="none" w="med" len="med"/>
                <a:tailEnd type="none" w="med" len="med"/>
              </a:ln>
            </p:spPr>
          </p:sp>
          <p:sp>
            <p:nvSpPr>
              <p:cNvPr id="1137" name="path · 115"/>
              <p:cNvSpPr/>
              <p:nvPr/>
            </p:nvSpPr>
            <p:spPr>
              <a:xfrm>
                <a:off x="5560236" y="4924672"/>
                <a:ext cx="158327" cy="125342"/>
              </a:xfrm>
              <a:custGeom>
                <a:avLst/>
                <a:gdLst/>
                <a:ahLst/>
                <a:cxnLst/>
                <a:rect l="0" t="0" r="r" b="b"/>
                <a:pathLst>
                  <a:path w="158327" h="125342" fill="none" stroke="1" extrusionOk="0">
                    <a:moveTo>
                      <a:pt x="0" y="72566"/>
                    </a:moveTo>
                    <a:lnTo>
                      <a:pt x="52776" y="125342"/>
                    </a:lnTo>
                    <a:lnTo>
                      <a:pt x="158327" y="0"/>
                    </a:lnTo>
                  </a:path>
                </a:pathLst>
              </a:custGeom>
              <a:noFill/>
              <a:ln w="26388" cap="rnd" cmpd="sng" algn="ctr">
                <a:solidFill>
                  <a:srgbClr val="2E6653"/>
                </a:solidFill>
                <a:prstDash val="solid"/>
                <a:round/>
                <a:headEnd type="none" w="med" len="med"/>
                <a:tailEnd type="none" w="med" len="med"/>
              </a:ln>
            </p:spPr>
          </p:sp>
        </p:grpSp>
        <p:grpSp>
          <p:nvGrpSpPr>
            <p:cNvPr id="1138" name="customer-label · 118"/>
            <p:cNvGrpSpPr/>
            <p:nvPr/>
          </p:nvGrpSpPr>
          <p:grpSpPr>
            <a:xfrm>
              <a:off x="711200" y="3397250"/>
              <a:ext cx="863600" cy="190500"/>
              <a:chOff x="711200" y="3397250"/>
              <a:chExt cx="863600" cy="190500"/>
            </a:xfrm>
          </p:grpSpPr>
          <p:sp>
            <p:nvSpPr>
              <p:cNvPr id="1139" name="text · 117"/>
              <p:cNvSpPr txBox="1"/>
              <p:nvPr/>
            </p:nvSpPr>
            <p:spPr>
              <a:xfrm>
                <a:off x="709612" y="3397250"/>
                <a:ext cx="8667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Customer</a:t>
                </a:r>
                <a:endParaRPr lang="en-US" sz="1450"/>
              </a:p>
            </p:txBody>
          </p:sp>
        </p:grpSp>
        <p:grpSp>
          <p:nvGrpSpPr>
            <p:cNvPr id="1140" name="stop-label · 120"/>
            <p:cNvGrpSpPr/>
            <p:nvPr/>
          </p:nvGrpSpPr>
          <p:grpSpPr>
            <a:xfrm>
              <a:off x="914400" y="5454650"/>
              <a:ext cx="419100" cy="196850"/>
              <a:chOff x="914400" y="5454650"/>
              <a:chExt cx="419100" cy="196850"/>
            </a:xfrm>
          </p:grpSpPr>
          <p:sp>
            <p:nvSpPr>
              <p:cNvPr id="1141" name="text · 119"/>
              <p:cNvSpPr txBox="1"/>
              <p:nvPr/>
            </p:nvSpPr>
            <p:spPr>
              <a:xfrm>
                <a:off x="912812" y="545465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Stop</a:t>
                </a:r>
                <a:endParaRPr lang="en-US" sz="1500"/>
              </a:p>
            </p:txBody>
          </p:sp>
        </p:grpSp>
        <p:grpSp>
          <p:nvGrpSpPr>
            <p:cNvPr id="1142" name="signin-label · 122"/>
            <p:cNvGrpSpPr/>
            <p:nvPr/>
          </p:nvGrpSpPr>
          <p:grpSpPr>
            <a:xfrm>
              <a:off x="2419350" y="5454650"/>
              <a:ext cx="622300" cy="196850"/>
              <a:chOff x="2419350" y="5454650"/>
              <a:chExt cx="622300" cy="196850"/>
            </a:xfrm>
          </p:grpSpPr>
          <p:sp>
            <p:nvSpPr>
              <p:cNvPr id="1143" name="text · 121"/>
              <p:cNvSpPr txBox="1"/>
              <p:nvPr/>
            </p:nvSpPr>
            <p:spPr>
              <a:xfrm>
                <a:off x="2417762" y="545465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144" name="purchase-verification-label · 124"/>
            <p:cNvGrpSpPr/>
            <p:nvPr/>
          </p:nvGrpSpPr>
          <p:grpSpPr>
            <a:xfrm>
              <a:off x="4660900" y="5454650"/>
              <a:ext cx="1422400" cy="196850"/>
              <a:chOff x="4660900" y="5454650"/>
              <a:chExt cx="1422400" cy="196850"/>
            </a:xfrm>
          </p:grpSpPr>
          <p:sp>
            <p:nvSpPr>
              <p:cNvPr id="1145" name="text · 123"/>
              <p:cNvSpPr txBox="1"/>
              <p:nvPr/>
            </p:nvSpPr>
            <p:spPr>
              <a:xfrm>
                <a:off x="4659312" y="5454650"/>
                <a:ext cx="1425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Verify purchase</a:t>
                </a:r>
                <a:endParaRPr lang="en-US" sz="1500"/>
              </a:p>
            </p:txBody>
          </p:sp>
        </p:grpSp>
        <p:grpSp>
          <p:nvGrpSpPr>
            <p:cNvPr id="1146" name="continue-to-picture-b · 127"/>
            <p:cNvGrpSpPr/>
            <p:nvPr/>
          </p:nvGrpSpPr>
          <p:grpSpPr>
            <a:xfrm>
              <a:off x="6775450" y="2673350"/>
              <a:ext cx="368300" cy="368300"/>
              <a:chOff x="6775450" y="2673350"/>
              <a:chExt cx="368300" cy="368300"/>
            </a:xfrm>
          </p:grpSpPr>
          <p:sp>
            <p:nvSpPr>
              <p:cNvPr id="1147" name="circle · 125"/>
              <p:cNvSpPr/>
              <p:nvPr/>
            </p:nvSpPr>
            <p:spPr>
              <a:xfrm>
                <a:off x="6775450" y="2673350"/>
                <a:ext cx="368300" cy="368300"/>
              </a:xfrm>
              <a:prstGeom prst="ellipse">
                <a:avLst/>
              </a:prstGeom>
              <a:solidFill>
                <a:srgbClr val="D7EBE1"/>
              </a:solidFill>
              <a:ln w="11430" cap="flat" cmpd="sng" algn="ctr">
                <a:solidFill>
                  <a:srgbClr val="2E6653"/>
                </a:solidFill>
                <a:prstDash val="solid"/>
                <a:miter lim="400000"/>
                <a:headEnd type="none" w="med" len="med"/>
                <a:tailEnd type="none" w="med" len="med"/>
              </a:ln>
            </p:spPr>
          </p:sp>
          <p:sp>
            <p:nvSpPr>
              <p:cNvPr id="1148" name="text · 126"/>
              <p:cNvSpPr txBox="1"/>
              <p:nvPr/>
            </p:nvSpPr>
            <p:spPr>
              <a:xfrm>
                <a:off x="6884987" y="2768600"/>
                <a:ext cx="1492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B</a:t>
                </a:r>
                <a:endParaRPr lang="en-US" sz="1600"/>
              </a:p>
            </p:txBody>
          </p:sp>
        </p:grpSp>
        <p:grpSp>
          <p:nvGrpSpPr>
            <p:cNvPr id="1149" name="continue-request-label · 129"/>
            <p:cNvGrpSpPr/>
            <p:nvPr/>
          </p:nvGrpSpPr>
          <p:grpSpPr>
            <a:xfrm>
              <a:off x="6340475" y="2051050"/>
              <a:ext cx="1238250" cy="171450"/>
              <a:chOff x="6340475" y="2051050"/>
              <a:chExt cx="1238250" cy="171450"/>
            </a:xfrm>
          </p:grpSpPr>
          <p:sp>
            <p:nvSpPr>
              <p:cNvPr id="1150" name="text · 128"/>
              <p:cNvSpPr txBox="1"/>
              <p:nvPr/>
            </p:nvSpPr>
            <p:spPr>
              <a:xfrm>
                <a:off x="6338887" y="2051050"/>
                <a:ext cx="12414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Choose request</a:t>
                </a:r>
                <a:endParaRPr lang="en-US" sz="1300"/>
              </a:p>
            </p:txBody>
          </p:sp>
        </p:grpSp>
        <p:grpSp>
          <p:nvGrpSpPr>
            <p:cNvPr id="1151" name="continue-route-label · 131"/>
            <p:cNvGrpSpPr/>
            <p:nvPr/>
          </p:nvGrpSpPr>
          <p:grpSpPr>
            <a:xfrm>
              <a:off x="6753225" y="2286000"/>
              <a:ext cx="412750" cy="171450"/>
              <a:chOff x="6753225" y="2286000"/>
              <a:chExt cx="412750" cy="171450"/>
            </a:xfrm>
          </p:grpSpPr>
          <p:sp>
            <p:nvSpPr>
              <p:cNvPr id="1152" name="text · 130"/>
              <p:cNvSpPr txBox="1"/>
              <p:nvPr/>
            </p:nvSpPr>
            <p:spPr>
              <a:xfrm>
                <a:off x="6751637" y="2286000"/>
                <a:ext cx="4159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route</a:t>
                </a:r>
                <a:endParaRPr lang="en-US" sz="1300"/>
              </a:p>
            </p:txBody>
          </p:sp>
        </p:grpSp>
        <p:grpSp>
          <p:nvGrpSpPr>
            <p:cNvPr id="1153" name="comparison-divider · 134"/>
            <p:cNvGrpSpPr/>
            <p:nvPr/>
          </p:nvGrpSpPr>
          <p:grpSpPr>
            <a:xfrm>
              <a:off x="7772400" y="1962150"/>
              <a:ext cx="3740150" cy="3746500"/>
              <a:chOff x="7772400" y="1962150"/>
              <a:chExt cx="3740150" cy="3746500"/>
            </a:xfrm>
          </p:grpSpPr>
          <p:sp>
            <p:nvSpPr>
              <p:cNvPr id="1154" name="path · 132"/>
              <p:cNvSpPr/>
              <p:nvPr/>
            </p:nvSpPr>
            <p:spPr>
              <a:xfrm>
                <a:off x="7772400" y="1962150"/>
                <a:ext cx="1" cy="3746500"/>
              </a:xfrm>
              <a:custGeom>
                <a:avLst/>
                <a:gdLst/>
                <a:ahLst/>
                <a:cxnLst/>
                <a:rect l="0" t="0" r="r" b="b"/>
                <a:pathLst>
                  <a:path w="1" h="3746500" fill="none" stroke="1" extrusionOk="0">
                    <a:moveTo>
                      <a:pt x="0" y="0"/>
                    </a:moveTo>
                    <a:lnTo>
                      <a:pt x="0" y="3746500"/>
                    </a:lnTo>
                  </a:path>
                </a:pathLst>
              </a:custGeom>
              <a:noFill/>
              <a:ln w="10160" cap="rnd" cmpd="sng" algn="ctr">
                <a:solidFill>
                  <a:srgbClr val="D5DFD9"/>
                </a:solidFill>
                <a:prstDash val="solid"/>
                <a:round/>
                <a:headEnd type="none" w="med" len="med"/>
                <a:tailEnd type="none" w="med" len="med"/>
              </a:ln>
            </p:spPr>
          </p:sp>
          <p:sp>
            <p:nvSpPr>
              <p:cNvPr id="1155" name="path · 133"/>
              <p:cNvSpPr/>
              <p:nvPr/>
            </p:nvSpPr>
            <p:spPr>
              <a:xfrm>
                <a:off x="7924800" y="3854450"/>
                <a:ext cx="3587750" cy="1"/>
              </a:xfrm>
              <a:custGeom>
                <a:avLst/>
                <a:gdLst/>
                <a:ahLst/>
                <a:cxnLst/>
                <a:rect l="0" t="0" r="r" b="b"/>
                <a:pathLst>
                  <a:path w="3587750" h="1" fill="none" stroke="1" extrusionOk="0">
                    <a:moveTo>
                      <a:pt x="0" y="0"/>
                    </a:moveTo>
                    <a:lnTo>
                      <a:pt x="3587750" y="0"/>
                    </a:lnTo>
                  </a:path>
                </a:pathLst>
              </a:custGeom>
              <a:noFill/>
              <a:ln w="8890" cap="rnd" cmpd="sng" algn="ctr">
                <a:solidFill>
                  <a:srgbClr val="D5DFD9"/>
                </a:solidFill>
                <a:prstDash val="solid"/>
                <a:round/>
                <a:headEnd type="none" w="med" len="med"/>
                <a:tailEnd type="none" w="med" len="med"/>
              </a:ln>
            </p:spPr>
          </p:sp>
        </p:grpSp>
        <p:grpSp>
          <p:nvGrpSpPr>
            <p:cNvPr id="1156" name="wrapper-heading · 136"/>
            <p:cNvGrpSpPr/>
            <p:nvPr/>
          </p:nvGrpSpPr>
          <p:grpSpPr>
            <a:xfrm>
              <a:off x="7912100" y="1968500"/>
              <a:ext cx="2038350" cy="215900"/>
              <a:chOff x="7912100" y="1968500"/>
              <a:chExt cx="2038350" cy="215900"/>
            </a:xfrm>
          </p:grpSpPr>
          <p:sp>
            <p:nvSpPr>
              <p:cNvPr id="1157" name="text · 135"/>
              <p:cNvSpPr txBox="1"/>
              <p:nvPr/>
            </p:nvSpPr>
            <p:spPr>
              <a:xfrm>
                <a:off x="7910512" y="1968500"/>
                <a:ext cx="2041525" cy="249428"/>
              </a:xfrm>
              <a:prstGeom prst="rect">
                <a:avLst/>
              </a:prstGeom>
              <a:noFill/>
              <a:ln>
                <a:noFill/>
              </a:ln>
            </p:spPr>
            <p:txBody>
              <a:bodyPr wrap="none" lIns="0" tIns="0" rIns="0" bIns="0" anchor="t" anchorCtr="0" vertOverflow="overflow" horzOverflow="overflow">
                <a:noAutofit/>
              </a:bodyPr>
              <a:lstStyle/>
              <a:p>
                <a:pPr algn="l" marL="0" marR="0" indent="0" fontAlgn="base">
                  <a:lnSpc>
                    <a:spcPts val="1700"/>
                  </a:lnSpc>
                  <a:spcBef>
                    <a:spcPts val="0"/>
                  </a:spcBef>
                  <a:spcAft>
                    <a:spcPts val="0"/>
                  </a:spcAft>
                </a:pPr>
                <a:r>
                  <a:rPr lang="en-US" sz="1650" b="1" i="0" kern="0" spc="0" dirty="0">
                    <a:solidFill>
                      <a:srgbClr val="665180"/>
                    </a:solidFill>
                    <a:latin typeface="Manrope"/>
                    <a:ea typeface="Manrope"/>
                    <a:cs typeface="Manrope"/>
                  </a:rPr>
                  <a:t>Wrapper intelligence</a:t>
                </a:r>
                <a:endParaRPr lang="en-US" sz="1650"/>
              </a:p>
            </p:txBody>
          </p:sp>
        </p:grpSp>
        <p:grpSp>
          <p:nvGrpSpPr>
            <p:cNvPr id="1158" name="frontier · 148"/>
            <p:cNvGrpSpPr/>
            <p:nvPr/>
          </p:nvGrpSpPr>
          <p:grpSpPr>
            <a:xfrm>
              <a:off x="7917639" y="2504369"/>
              <a:ext cx="884273" cy="751099"/>
              <a:chOff x="7917639" y="2504369"/>
              <a:chExt cx="884273" cy="751099"/>
            </a:xfrm>
          </p:grpSpPr>
          <p:sp>
            <p:nvSpPr>
              <p:cNvPr id="1159" name="path · 137"/>
              <p:cNvSpPr/>
              <p:nvPr/>
            </p:nvSpPr>
            <p:spPr>
              <a:xfrm>
                <a:off x="79176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60" name="rect · 138"/>
              <p:cNvSpPr/>
              <p:nvPr/>
            </p:nvSpPr>
            <p:spPr>
              <a:xfrm>
                <a:off x="80028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61" name="rect · 139"/>
              <p:cNvSpPr/>
              <p:nvPr/>
            </p:nvSpPr>
            <p:spPr>
              <a:xfrm>
                <a:off x="80667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62" name="path · 140"/>
              <p:cNvSpPr/>
              <p:nvPr/>
            </p:nvSpPr>
            <p:spPr>
              <a:xfrm>
                <a:off x="81413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63" name="g · 147"/>
              <p:cNvGrpSpPr/>
              <p:nvPr/>
            </p:nvGrpSpPr>
            <p:grpSpPr>
              <a:xfrm>
                <a:off x="8104082" y="2685486"/>
                <a:ext cx="506060" cy="362232"/>
                <a:chOff x="8104082" y="2685486"/>
                <a:chExt cx="506060" cy="362232"/>
              </a:xfrm>
            </p:grpSpPr>
            <p:sp>
              <p:nvSpPr>
                <p:cNvPr id="1164" name="circle · 141"/>
                <p:cNvSpPr/>
                <p:nvPr/>
              </p:nvSpPr>
              <p:spPr>
                <a:xfrm>
                  <a:off x="81040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5" name="circle · 142"/>
                <p:cNvSpPr/>
                <p:nvPr/>
              </p:nvSpPr>
              <p:spPr>
                <a:xfrm>
                  <a:off x="82638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6" name="circle · 143"/>
                <p:cNvSpPr/>
                <p:nvPr/>
              </p:nvSpPr>
              <p:spPr>
                <a:xfrm>
                  <a:off x="84183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7" name="circle · 144"/>
                <p:cNvSpPr/>
                <p:nvPr/>
              </p:nvSpPr>
              <p:spPr>
                <a:xfrm>
                  <a:off x="85355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8" name="circle · 145"/>
                <p:cNvSpPr/>
                <p:nvPr/>
              </p:nvSpPr>
              <p:spPr>
                <a:xfrm>
                  <a:off x="83331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9" name="circle · 146"/>
                <p:cNvSpPr/>
                <p:nvPr/>
              </p:nvSpPr>
              <p:spPr>
                <a:xfrm>
                  <a:off x="81946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70" name="wrapper-call-1 · 151"/>
            <p:cNvGrpSpPr/>
            <p:nvPr/>
          </p:nvGrpSpPr>
          <p:grpSpPr>
            <a:xfrm>
              <a:off x="8883650" y="2876550"/>
              <a:ext cx="203200" cy="50800"/>
              <a:chOff x="8883650" y="2876550"/>
              <a:chExt cx="203200" cy="50800"/>
            </a:xfrm>
          </p:grpSpPr>
          <p:grpSp>
            <p:nvGrpSpPr>
              <p:cNvPr id="1171" name="path · 149 + arrowhead"/>
              <p:cNvGrpSpPr/>
              <p:nvPr/>
            </p:nvGrpSpPr>
            <p:grpSpPr>
              <a:xfrm>
                <a:off x="8883650" y="2876550"/>
                <a:ext cx="203200" cy="50800"/>
                <a:chOff x="8883650" y="2876550"/>
                <a:chExt cx="203200" cy="50800"/>
              </a:xfrm>
            </p:grpSpPr>
            <p:sp>
              <p:nvSpPr>
                <p:cNvPr id="1172" name="path · 149"/>
                <p:cNvSpPr/>
                <p:nvPr/>
              </p:nvSpPr>
              <p:spPr>
                <a:xfrm>
                  <a:off x="88836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73" name="arrow-plum end"/>
                <p:cNvGrpSpPr/>
                <p:nvPr/>
              </p:nvGrpSpPr>
              <p:grpSpPr>
                <a:xfrm>
                  <a:off x="9039225" y="2876550"/>
                  <a:ext cx="47625" cy="50800"/>
                  <a:chOff x="9039225" y="2876550"/>
                  <a:chExt cx="47625" cy="50800"/>
                </a:xfrm>
              </p:grpSpPr>
              <p:sp>
                <p:nvSpPr>
                  <p:cNvPr id="1174" name="path · 150"/>
                  <p:cNvSpPr/>
                  <p:nvPr/>
                </p:nvSpPr>
                <p:spPr>
                  <a:xfrm>
                    <a:off x="90392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75" name="frontier · 163"/>
            <p:cNvGrpSpPr/>
            <p:nvPr/>
          </p:nvGrpSpPr>
          <p:grpSpPr>
            <a:xfrm>
              <a:off x="9174939" y="2504369"/>
              <a:ext cx="884273" cy="751099"/>
              <a:chOff x="9174939" y="2504369"/>
              <a:chExt cx="884273" cy="751099"/>
            </a:xfrm>
          </p:grpSpPr>
          <p:sp>
            <p:nvSpPr>
              <p:cNvPr id="1176" name="path · 152"/>
              <p:cNvSpPr/>
              <p:nvPr/>
            </p:nvSpPr>
            <p:spPr>
              <a:xfrm>
                <a:off x="91749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77" name="rect · 153"/>
              <p:cNvSpPr/>
              <p:nvPr/>
            </p:nvSpPr>
            <p:spPr>
              <a:xfrm>
                <a:off x="92601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78" name="rect · 154"/>
              <p:cNvSpPr/>
              <p:nvPr/>
            </p:nvSpPr>
            <p:spPr>
              <a:xfrm>
                <a:off x="93240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79" name="path · 155"/>
              <p:cNvSpPr/>
              <p:nvPr/>
            </p:nvSpPr>
            <p:spPr>
              <a:xfrm>
                <a:off x="93986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80" name="g · 162"/>
              <p:cNvGrpSpPr/>
              <p:nvPr/>
            </p:nvGrpSpPr>
            <p:grpSpPr>
              <a:xfrm>
                <a:off x="9361382" y="2685486"/>
                <a:ext cx="506060" cy="362232"/>
                <a:chOff x="9361382" y="2685486"/>
                <a:chExt cx="506060" cy="362232"/>
              </a:xfrm>
            </p:grpSpPr>
            <p:sp>
              <p:nvSpPr>
                <p:cNvPr id="1181" name="circle · 156"/>
                <p:cNvSpPr/>
                <p:nvPr/>
              </p:nvSpPr>
              <p:spPr>
                <a:xfrm>
                  <a:off x="93613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2" name="circle · 157"/>
                <p:cNvSpPr/>
                <p:nvPr/>
              </p:nvSpPr>
              <p:spPr>
                <a:xfrm>
                  <a:off x="95211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3" name="circle · 158"/>
                <p:cNvSpPr/>
                <p:nvPr/>
              </p:nvSpPr>
              <p:spPr>
                <a:xfrm>
                  <a:off x="96756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4" name="circle · 159"/>
                <p:cNvSpPr/>
                <p:nvPr/>
              </p:nvSpPr>
              <p:spPr>
                <a:xfrm>
                  <a:off x="97928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5" name="circle · 160"/>
                <p:cNvSpPr/>
                <p:nvPr/>
              </p:nvSpPr>
              <p:spPr>
                <a:xfrm>
                  <a:off x="95904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6" name="circle · 161"/>
                <p:cNvSpPr/>
                <p:nvPr/>
              </p:nvSpPr>
              <p:spPr>
                <a:xfrm>
                  <a:off x="94519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87" name="wrapper-call-2 · 166"/>
            <p:cNvGrpSpPr/>
            <p:nvPr/>
          </p:nvGrpSpPr>
          <p:grpSpPr>
            <a:xfrm>
              <a:off x="10140950" y="2876550"/>
              <a:ext cx="203200" cy="50800"/>
              <a:chOff x="10140950" y="2876550"/>
              <a:chExt cx="203200" cy="50800"/>
            </a:xfrm>
          </p:grpSpPr>
          <p:grpSp>
            <p:nvGrpSpPr>
              <p:cNvPr id="1188" name="path · 164 + arrowhead"/>
              <p:cNvGrpSpPr/>
              <p:nvPr/>
            </p:nvGrpSpPr>
            <p:grpSpPr>
              <a:xfrm>
                <a:off x="10140950" y="2876550"/>
                <a:ext cx="203200" cy="50800"/>
                <a:chOff x="10140950" y="2876550"/>
                <a:chExt cx="203200" cy="50800"/>
              </a:xfrm>
            </p:grpSpPr>
            <p:sp>
              <p:nvSpPr>
                <p:cNvPr id="1189" name="path · 164"/>
                <p:cNvSpPr/>
                <p:nvPr/>
              </p:nvSpPr>
              <p:spPr>
                <a:xfrm>
                  <a:off x="101409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90" name="arrow-plum end"/>
                <p:cNvGrpSpPr/>
                <p:nvPr/>
              </p:nvGrpSpPr>
              <p:grpSpPr>
                <a:xfrm>
                  <a:off x="10296525" y="2876550"/>
                  <a:ext cx="47625" cy="50800"/>
                  <a:chOff x="10296525" y="2876550"/>
                  <a:chExt cx="47625" cy="50800"/>
                </a:xfrm>
              </p:grpSpPr>
              <p:sp>
                <p:nvSpPr>
                  <p:cNvPr id="1191" name="path · 165"/>
                  <p:cNvSpPr/>
                  <p:nvPr/>
                </p:nvSpPr>
                <p:spPr>
                  <a:xfrm>
                    <a:off x="102965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92" name="frontier · 178"/>
            <p:cNvGrpSpPr/>
            <p:nvPr/>
          </p:nvGrpSpPr>
          <p:grpSpPr>
            <a:xfrm>
              <a:off x="10432239" y="2504369"/>
              <a:ext cx="884273" cy="751099"/>
              <a:chOff x="10432239" y="2504369"/>
              <a:chExt cx="884273" cy="751099"/>
            </a:xfrm>
          </p:grpSpPr>
          <p:sp>
            <p:nvSpPr>
              <p:cNvPr id="1193" name="path · 167"/>
              <p:cNvSpPr/>
              <p:nvPr/>
            </p:nvSpPr>
            <p:spPr>
              <a:xfrm>
                <a:off x="104322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94" name="rect · 168"/>
              <p:cNvSpPr/>
              <p:nvPr/>
            </p:nvSpPr>
            <p:spPr>
              <a:xfrm>
                <a:off x="105174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95" name="rect · 169"/>
              <p:cNvSpPr/>
              <p:nvPr/>
            </p:nvSpPr>
            <p:spPr>
              <a:xfrm>
                <a:off x="105813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96" name="path · 170"/>
              <p:cNvSpPr/>
              <p:nvPr/>
            </p:nvSpPr>
            <p:spPr>
              <a:xfrm>
                <a:off x="106559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97" name="g · 177"/>
              <p:cNvGrpSpPr/>
              <p:nvPr/>
            </p:nvGrpSpPr>
            <p:grpSpPr>
              <a:xfrm>
                <a:off x="10618682" y="2685486"/>
                <a:ext cx="506060" cy="362232"/>
                <a:chOff x="10618682" y="2685486"/>
                <a:chExt cx="506060" cy="362232"/>
              </a:xfrm>
            </p:grpSpPr>
            <p:sp>
              <p:nvSpPr>
                <p:cNvPr id="1198" name="circle · 171"/>
                <p:cNvSpPr/>
                <p:nvPr/>
              </p:nvSpPr>
              <p:spPr>
                <a:xfrm>
                  <a:off x="106186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99" name="circle · 172"/>
                <p:cNvSpPr/>
                <p:nvPr/>
              </p:nvSpPr>
              <p:spPr>
                <a:xfrm>
                  <a:off x="107784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0" name="circle · 173"/>
                <p:cNvSpPr/>
                <p:nvPr/>
              </p:nvSpPr>
              <p:spPr>
                <a:xfrm>
                  <a:off x="109329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1" name="circle · 174"/>
                <p:cNvSpPr/>
                <p:nvPr/>
              </p:nvSpPr>
              <p:spPr>
                <a:xfrm>
                  <a:off x="110501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2" name="circle · 175"/>
                <p:cNvSpPr/>
                <p:nvPr/>
              </p:nvSpPr>
              <p:spPr>
                <a:xfrm>
                  <a:off x="108477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3" name="circle · 176"/>
                <p:cNvSpPr/>
                <p:nvPr/>
              </p:nvSpPr>
              <p:spPr>
                <a:xfrm>
                  <a:off x="107092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204" name="wrapper-caption · 180"/>
            <p:cNvGrpSpPr/>
            <p:nvPr/>
          </p:nvGrpSpPr>
          <p:grpSpPr>
            <a:xfrm>
              <a:off x="8861425" y="3479800"/>
              <a:ext cx="1720850" cy="196850"/>
              <a:chOff x="8861425" y="3479800"/>
              <a:chExt cx="1720850" cy="196850"/>
            </a:xfrm>
          </p:grpSpPr>
          <p:sp>
            <p:nvSpPr>
              <p:cNvPr id="1205" name="text · 179"/>
              <p:cNvSpPr txBox="1"/>
              <p:nvPr/>
            </p:nvSpPr>
            <p:spPr>
              <a:xfrm>
                <a:off x="8859837" y="3479800"/>
                <a:ext cx="17240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665180"/>
                    </a:solidFill>
                    <a:latin typeface="Manrope"/>
                    <a:ea typeface="Manrope"/>
                    <a:cs typeface="Manrope"/>
                  </a:rPr>
                  <a:t>Frontier every step</a:t>
                </a:r>
                <a:endParaRPr lang="en-US" sz="1500"/>
              </a:p>
            </p:txBody>
          </p:sp>
        </p:grpSp>
        <p:grpSp>
          <p:nvGrpSpPr>
            <p:cNvPr id="1206" name="disaggregated-heading · 182"/>
            <p:cNvGrpSpPr/>
            <p:nvPr/>
          </p:nvGrpSpPr>
          <p:grpSpPr>
            <a:xfrm>
              <a:off x="7912100" y="3917950"/>
              <a:ext cx="1504950" cy="222250"/>
              <a:chOff x="7912100" y="3917950"/>
              <a:chExt cx="1504950" cy="222250"/>
            </a:xfrm>
          </p:grpSpPr>
          <p:sp>
            <p:nvSpPr>
              <p:cNvPr id="1207" name="text · 181"/>
              <p:cNvSpPr txBox="1"/>
              <p:nvPr/>
            </p:nvSpPr>
            <p:spPr>
              <a:xfrm>
                <a:off x="7910512" y="3917950"/>
                <a:ext cx="1508125" cy="256794"/>
              </a:xfrm>
              <a:prstGeom prst="rect">
                <a:avLst/>
              </a:prstGeom>
              <a:noFill/>
              <a:ln>
                <a:noFill/>
              </a:ln>
            </p:spPr>
            <p:txBody>
              <a:bodyPr wrap="none" lIns="0" tIns="0" rIns="0" bIns="0" anchor="t" anchorCtr="0" vertOverflow="overflow" horzOverflow="overflow">
                <a:noAutofit/>
              </a:bodyPr>
              <a:lstStyle/>
              <a:p>
                <a:pPr algn="l" marL="0" marR="0" indent="0" fontAlgn="base">
                  <a:lnSpc>
                    <a:spcPts val="1750"/>
                  </a:lnSpc>
                  <a:spcBef>
                    <a:spcPts val="0"/>
                  </a:spcBef>
                  <a:spcAft>
                    <a:spcPts val="0"/>
                  </a:spcAft>
                </a:pPr>
                <a:r>
                  <a:rPr lang="en-US" sz="1700" b="1" i="0" kern="0" spc="0" dirty="0">
                    <a:solidFill>
                      <a:srgbClr val="2E6653"/>
                    </a:solidFill>
                    <a:latin typeface="Manrope"/>
                    <a:ea typeface="Manrope"/>
                    <a:cs typeface="Manrope"/>
                  </a:rPr>
                  <a:t>Disaggregated</a:t>
                </a:r>
                <a:endParaRPr lang="en-US" sz="1700"/>
              </a:p>
            </p:txBody>
          </p:sp>
        </p:grpSp>
        <p:grpSp>
          <p:nvGrpSpPr>
            <p:cNvPr id="1208" name="system-one-label · 184"/>
            <p:cNvGrpSpPr/>
            <p:nvPr/>
          </p:nvGrpSpPr>
          <p:grpSpPr>
            <a:xfrm>
              <a:off x="9163050" y="4216400"/>
              <a:ext cx="990600" cy="177800"/>
              <a:chOff x="9163050" y="4216400"/>
              <a:chExt cx="990600" cy="177800"/>
            </a:xfrm>
          </p:grpSpPr>
          <p:sp>
            <p:nvSpPr>
              <p:cNvPr id="1209" name="text · 183"/>
              <p:cNvSpPr txBox="1"/>
              <p:nvPr/>
            </p:nvSpPr>
            <p:spPr>
              <a:xfrm>
                <a:off x="9161462" y="4216400"/>
                <a:ext cx="9937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System One</a:t>
                </a:r>
                <a:endParaRPr lang="en-US" sz="1350"/>
              </a:p>
            </p:txBody>
          </p:sp>
        </p:grpSp>
        <p:grpSp>
          <p:nvGrpSpPr>
            <p:cNvPr id="1210" name="auth · 193"/>
            <p:cNvGrpSpPr/>
            <p:nvPr/>
          </p:nvGrpSpPr>
          <p:grpSpPr>
            <a:xfrm>
              <a:off x="8012642" y="4455583"/>
              <a:ext cx="814917" cy="709083"/>
              <a:chOff x="8012642" y="4455583"/>
              <a:chExt cx="814917" cy="709083"/>
            </a:xfrm>
          </p:grpSpPr>
          <p:sp>
            <p:nvSpPr>
              <p:cNvPr id="1211" name="rect · 185"/>
              <p:cNvSpPr/>
              <p:nvPr/>
            </p:nvSpPr>
            <p:spPr>
              <a:xfrm>
                <a:off x="8012642" y="4455583"/>
                <a:ext cx="724958" cy="592667"/>
              </a:xfrm>
              <a:prstGeom prst="roundRect">
                <a:avLst>
                  <a:gd name="adj" fmla="val 11607"/>
                </a:avLst>
              </a:prstGeom>
              <a:solidFill>
                <a:srgbClr val="FFFFFF"/>
              </a:solidFill>
              <a:ln w="11642" cap="rnd" cmpd="sng" algn="ctr">
                <a:solidFill>
                  <a:srgbClr val="243E42"/>
                </a:solidFill>
                <a:prstDash val="solid"/>
                <a:round/>
                <a:headEnd type="none" w="med" len="med"/>
                <a:tailEnd type="none" w="med" len="med"/>
              </a:ln>
            </p:spPr>
          </p:sp>
          <p:sp>
            <p:nvSpPr>
              <p:cNvPr id="1212" name="path · 186"/>
              <p:cNvSpPr/>
              <p:nvPr/>
            </p:nvSpPr>
            <p:spPr>
              <a:xfrm>
                <a:off x="8012642" y="4455583"/>
                <a:ext cx="724958" cy="132292"/>
              </a:xfrm>
              <a:custGeom>
                <a:avLst/>
                <a:gdLst/>
                <a:ahLst/>
                <a:cxnLst/>
                <a:rect l="0" t="0" r="r" b="b"/>
                <a:pathLst>
                  <a:path w="724958" h="132292" fill="norm" stroke="1" extrusionOk="0">
                    <a:moveTo>
                      <a:pt x="68791" y="0"/>
                    </a:moveTo>
                    <a:lnTo>
                      <a:pt x="656166" y="0"/>
                    </a:lnTo>
                    <a:quadBezTo>
                      <a:pt x="724958" y="0"/>
                      <a:pt x="724958" y="68792"/>
                    </a:quadBezTo>
                    <a:lnTo>
                      <a:pt x="724958" y="132292"/>
                    </a:lnTo>
                    <a:lnTo>
                      <a:pt x="0" y="132292"/>
                    </a:lnTo>
                    <a:lnTo>
                      <a:pt x="0" y="68792"/>
                    </a:lnTo>
                    <a:quadBezTo>
                      <a:pt x="0" y="0"/>
                      <a:pt x="68791" y="0"/>
                    </a:quadBezTo>
                  </a:path>
                </a:pathLst>
              </a:custGeom>
              <a:solidFill>
                <a:srgbClr val="E2EEF3"/>
              </a:solidFill>
              <a:ln w="11642" cap="rnd" cmpd="sng" algn="ctr">
                <a:solidFill>
                  <a:srgbClr val="243E42"/>
                </a:solidFill>
                <a:prstDash val="solid"/>
                <a:round/>
                <a:headEnd type="none" w="med" len="med"/>
                <a:tailEnd type="none" w="med" len="med"/>
              </a:ln>
            </p:spPr>
          </p:sp>
          <p:sp>
            <p:nvSpPr>
              <p:cNvPr id="1213" name="circle · 187"/>
              <p:cNvSpPr/>
              <p:nvPr/>
            </p:nvSpPr>
            <p:spPr>
              <a:xfrm>
                <a:off x="8150225" y="4683125"/>
                <a:ext cx="127000" cy="127000"/>
              </a:xfrm>
              <a:prstGeom prst="ellipse">
                <a:avLst/>
              </a:prstGeom>
              <a:solidFill>
                <a:srgbClr val="F4DFD3"/>
              </a:solidFill>
              <a:ln w="11642" cap="rnd" cmpd="sng" algn="ctr">
                <a:solidFill>
                  <a:srgbClr val="243E42"/>
                </a:solidFill>
                <a:prstDash val="solid"/>
                <a:round/>
                <a:headEnd type="none" w="med" len="med"/>
                <a:tailEnd type="none" w="med" len="med"/>
              </a:ln>
            </p:spPr>
          </p:sp>
          <p:sp>
            <p:nvSpPr>
              <p:cNvPr id="1214" name="path · 188"/>
              <p:cNvSpPr/>
              <p:nvPr/>
            </p:nvSpPr>
            <p:spPr>
              <a:xfrm>
                <a:off x="8107892" y="4778375"/>
                <a:ext cx="211667" cy="153458"/>
              </a:xfrm>
              <a:custGeom>
                <a:avLst/>
                <a:gdLst/>
                <a:ahLst/>
                <a:cxnLst/>
                <a:rect l="0" t="0" r="r" b="b"/>
                <a:pathLst>
                  <a:path w="211667" h="153458" fill="norm" stroke="1" extrusionOk="0">
                    <a:moveTo>
                      <a:pt x="0" y="153458"/>
                    </a:moveTo>
                    <a:lnTo>
                      <a:pt x="0" y="105833"/>
                    </a:lnTo>
                    <a:quadBezTo>
                      <a:pt x="0" y="0"/>
                      <a:pt x="105833" y="0"/>
                    </a:quadBezTo>
                    <a:quadBezTo>
                      <a:pt x="211666" y="0"/>
                      <a:pt x="211666" y="105833"/>
                    </a:quadBezTo>
                    <a:lnTo>
                      <a:pt x="211666" y="153458"/>
                    </a:lnTo>
                  </a:path>
                </a:pathLst>
              </a:custGeom>
              <a:solidFill>
                <a:srgbClr val="E2EEF3"/>
              </a:solidFill>
              <a:ln w="11642" cap="rnd" cmpd="sng" algn="ctr">
                <a:solidFill>
                  <a:srgbClr val="243E42"/>
                </a:solidFill>
                <a:prstDash val="solid"/>
                <a:round/>
                <a:headEnd type="none" w="med" len="med"/>
                <a:tailEnd type="none" w="med" len="med"/>
              </a:ln>
            </p:spPr>
          </p:sp>
          <p:sp>
            <p:nvSpPr>
              <p:cNvPr id="1215" name="path · 189"/>
              <p:cNvSpPr/>
              <p:nvPr/>
            </p:nvSpPr>
            <p:spPr>
              <a:xfrm>
                <a:off x="8097308" y="4688417"/>
                <a:ext cx="529167" cy="296333"/>
              </a:xfrm>
              <a:custGeom>
                <a:avLst/>
                <a:gdLst/>
                <a:ahLst/>
                <a:cxnLst/>
                <a:rect l="0" t="0" r="r" b="b"/>
                <a:pathLst>
                  <a:path w="529167" h="296333" fill="none" stroke="1" extrusionOk="0">
                    <a:moveTo>
                      <a:pt x="306917" y="0"/>
                    </a:moveTo>
                    <a:lnTo>
                      <a:pt x="529167" y="0"/>
                    </a:lnTo>
                    <a:moveTo>
                      <a:pt x="306917" y="84666"/>
                    </a:moveTo>
                    <a:lnTo>
                      <a:pt x="449792" y="84666"/>
                    </a:lnTo>
                    <a:moveTo>
                      <a:pt x="0" y="296333"/>
                    </a:moveTo>
                    <a:lnTo>
                      <a:pt x="254000" y="296333"/>
                    </a:lnTo>
                  </a:path>
                </a:pathLst>
              </a:custGeom>
              <a:noFill/>
              <a:ln w="21167" cap="rnd" cmpd="sng" algn="ctr">
                <a:solidFill>
                  <a:srgbClr val="243E42"/>
                </a:solidFill>
                <a:prstDash val="solid"/>
                <a:round/>
                <a:headEnd type="none" w="med" len="med"/>
                <a:tailEnd type="none" w="med" len="med"/>
              </a:ln>
            </p:spPr>
          </p:sp>
          <p:sp>
            <p:nvSpPr>
              <p:cNvPr id="1216" name="path · 190"/>
              <p:cNvSpPr/>
              <p:nvPr/>
            </p:nvSpPr>
            <p:spPr>
              <a:xfrm>
                <a:off x="8478308" y="4767792"/>
                <a:ext cx="349250" cy="396875"/>
              </a:xfrm>
              <a:custGeom>
                <a:avLst/>
                <a:gdLst/>
                <a:ahLst/>
                <a:cxnLst/>
                <a:rect l="0" t="0" r="r" b="b"/>
                <a:pathLst>
                  <a:path w="349250" h="396875" fill="norm" stroke="1" extrusionOk="0">
                    <a:moveTo>
                      <a:pt x="174625" y="0"/>
                    </a:moveTo>
                    <a:lnTo>
                      <a:pt x="349250" y="63500"/>
                    </a:lnTo>
                    <a:lnTo>
                      <a:pt x="349250" y="195791"/>
                    </a:lnTo>
                    <a:quadBezTo>
                      <a:pt x="349250" y="317500"/>
                      <a:pt x="174625" y="396875"/>
                    </a:quadBezTo>
                    <a:quadBezTo>
                      <a:pt x="0" y="317500"/>
                      <a:pt x="0" y="195791"/>
                    </a:quadBezTo>
                    <a:lnTo>
                      <a:pt x="0" y="63500"/>
                    </a:lnTo>
                    <a:close/>
                  </a:path>
                </a:pathLst>
              </a:custGeom>
              <a:solidFill>
                <a:srgbClr val="E2EEF3"/>
              </a:solidFill>
              <a:ln w="11642" cap="rnd" cmpd="sng" algn="ctr">
                <a:solidFill>
                  <a:srgbClr val="243E42"/>
                </a:solidFill>
                <a:prstDash val="solid"/>
                <a:round/>
                <a:headEnd type="none" w="med" len="med"/>
                <a:tailEnd type="none" w="med" len="med"/>
              </a:ln>
            </p:spPr>
          </p:sp>
          <p:sp>
            <p:nvSpPr>
              <p:cNvPr id="1217" name="circle · 191"/>
              <p:cNvSpPr/>
              <p:nvPr/>
            </p:nvSpPr>
            <p:spPr>
              <a:xfrm>
                <a:off x="8610600" y="4884208"/>
                <a:ext cx="84667" cy="84667"/>
              </a:xfrm>
              <a:prstGeom prst="ellipse">
                <a:avLst/>
              </a:prstGeom>
              <a:solidFill>
                <a:srgbClr val="FFFFFF"/>
              </a:solidFill>
              <a:ln w="11642" cap="rnd" cmpd="sng" algn="ctr">
                <a:solidFill>
                  <a:srgbClr val="243E42"/>
                </a:solidFill>
                <a:prstDash val="solid"/>
                <a:round/>
                <a:headEnd type="none" w="med" len="med"/>
                <a:tailEnd type="none" w="med" len="med"/>
              </a:ln>
            </p:spPr>
          </p:sp>
          <p:sp>
            <p:nvSpPr>
              <p:cNvPr id="1218" name="path · 192"/>
              <p:cNvSpPr/>
              <p:nvPr/>
            </p:nvSpPr>
            <p:spPr>
              <a:xfrm>
                <a:off x="8652933" y="4963583"/>
                <a:ext cx="1" cy="84667"/>
              </a:xfrm>
              <a:custGeom>
                <a:avLst/>
                <a:gdLst/>
                <a:ahLst/>
                <a:cxnLst/>
                <a:rect l="0" t="0" r="r" b="b"/>
                <a:pathLst>
                  <a:path w="1" h="84667" fill="none" stroke="1" extrusionOk="0">
                    <a:moveTo>
                      <a:pt x="0" y="0"/>
                    </a:moveTo>
                    <a:lnTo>
                      <a:pt x="0" y="84667"/>
                    </a:lnTo>
                  </a:path>
                </a:pathLst>
              </a:custGeom>
              <a:noFill/>
              <a:ln w="26458" cap="rnd" cmpd="sng" algn="ctr">
                <a:solidFill>
                  <a:srgbClr val="243E42"/>
                </a:solidFill>
                <a:prstDash val="solid"/>
                <a:round/>
                <a:headEnd type="none" w="med" len="med"/>
                <a:tailEnd type="none" w="med" len="med"/>
              </a:ln>
            </p:spPr>
          </p:sp>
        </p:grpSp>
        <p:grpSp>
          <p:nvGrpSpPr>
            <p:cNvPr id="1219" name="system-one · 200"/>
            <p:cNvGrpSpPr/>
            <p:nvPr/>
          </p:nvGrpSpPr>
          <p:grpSpPr>
            <a:xfrm>
              <a:off x="9309100" y="4439708"/>
              <a:ext cx="703792" cy="666750"/>
              <a:chOff x="9309100" y="4439708"/>
              <a:chExt cx="703792" cy="666750"/>
            </a:xfrm>
          </p:grpSpPr>
          <p:sp>
            <p:nvSpPr>
              <p:cNvPr id="1220" name="path · 194"/>
              <p:cNvSpPr/>
              <p:nvPr/>
            </p:nvSpPr>
            <p:spPr>
              <a:xfrm>
                <a:off x="9309100" y="4439708"/>
                <a:ext cx="703792" cy="666750"/>
              </a:xfrm>
              <a:custGeom>
                <a:avLst/>
                <a:gdLst/>
                <a:ahLst/>
                <a:cxnLst/>
                <a:rect l="0" t="0" r="r" b="b"/>
                <a:pathLst>
                  <a:path w="703792" h="666750" fill="none" stroke="1" extrusionOk="0">
                    <a:moveTo>
                      <a:pt x="201083" y="0"/>
                    </a:moveTo>
                    <a:lnTo>
                      <a:pt x="201083" y="116417"/>
                    </a:lnTo>
                    <a:moveTo>
                      <a:pt x="338667" y="0"/>
                    </a:moveTo>
                    <a:lnTo>
                      <a:pt x="338667" y="116417"/>
                    </a:lnTo>
                    <a:moveTo>
                      <a:pt x="481542" y="0"/>
                    </a:moveTo>
                    <a:lnTo>
                      <a:pt x="481542" y="116417"/>
                    </a:lnTo>
                    <a:moveTo>
                      <a:pt x="201083" y="550334"/>
                    </a:moveTo>
                    <a:lnTo>
                      <a:pt x="201083" y="666750"/>
                    </a:lnTo>
                    <a:moveTo>
                      <a:pt x="338667" y="550334"/>
                    </a:moveTo>
                    <a:lnTo>
                      <a:pt x="338667" y="666750"/>
                    </a:lnTo>
                    <a:moveTo>
                      <a:pt x="481542" y="550334"/>
                    </a:moveTo>
                    <a:lnTo>
                      <a:pt x="481542" y="666750"/>
                    </a:lnTo>
                    <a:moveTo>
                      <a:pt x="0" y="216959"/>
                    </a:moveTo>
                    <a:lnTo>
                      <a:pt x="116417" y="216959"/>
                    </a:lnTo>
                    <a:moveTo>
                      <a:pt x="0" y="418042"/>
                    </a:moveTo>
                    <a:lnTo>
                      <a:pt x="116417" y="418042"/>
                    </a:lnTo>
                    <a:moveTo>
                      <a:pt x="587375" y="216959"/>
                    </a:moveTo>
                    <a:lnTo>
                      <a:pt x="703792" y="216959"/>
                    </a:lnTo>
                    <a:moveTo>
                      <a:pt x="587375" y="418042"/>
                    </a:moveTo>
                    <a:lnTo>
                      <a:pt x="703792" y="418042"/>
                    </a:lnTo>
                  </a:path>
                </a:pathLst>
              </a:custGeom>
              <a:noFill/>
              <a:ln w="26458" cap="rnd" cmpd="sng" algn="ctr">
                <a:solidFill>
                  <a:srgbClr val="2E6653"/>
                </a:solidFill>
                <a:prstDash val="solid"/>
                <a:round/>
                <a:headEnd type="none" w="med" len="med"/>
                <a:tailEnd type="none" w="med" len="med"/>
              </a:ln>
            </p:spPr>
          </p:sp>
          <p:sp>
            <p:nvSpPr>
              <p:cNvPr id="1221" name="rect · 195"/>
              <p:cNvSpPr/>
              <p:nvPr/>
            </p:nvSpPr>
            <p:spPr>
              <a:xfrm>
                <a:off x="9404350" y="4529667"/>
                <a:ext cx="508000" cy="486833"/>
              </a:xfrm>
              <a:prstGeom prst="roundRect">
                <a:avLst>
                  <a:gd name="adj" fmla="val 22826"/>
                </a:avLst>
              </a:prstGeom>
              <a:solidFill>
                <a:srgbClr val="D7EBE1"/>
              </a:solidFill>
              <a:ln w="15875" cap="rnd" cmpd="sng" algn="ctr">
                <a:solidFill>
                  <a:srgbClr val="2E6653"/>
                </a:solidFill>
                <a:prstDash val="solid"/>
                <a:round/>
                <a:headEnd type="none" w="med" len="med"/>
                <a:tailEnd type="none" w="med" len="med"/>
              </a:ln>
            </p:spPr>
          </p:sp>
          <p:sp>
            <p:nvSpPr>
              <p:cNvPr id="1222" name="path · 196"/>
              <p:cNvSpPr/>
              <p:nvPr/>
            </p:nvSpPr>
            <p:spPr>
              <a:xfrm>
                <a:off x="9520767" y="4656667"/>
                <a:ext cx="259292" cy="232833"/>
              </a:xfrm>
              <a:custGeom>
                <a:avLst/>
                <a:gdLst/>
                <a:ahLst/>
                <a:cxnLst/>
                <a:rect l="0" t="0" r="r" b="b"/>
                <a:pathLst>
                  <a:path w="259292" h="232833" fill="none" stroke="1" extrusionOk="0">
                    <a:moveTo>
                      <a:pt x="0" y="116416"/>
                    </a:moveTo>
                    <a:lnTo>
                      <a:pt x="116416" y="116416"/>
                    </a:lnTo>
                    <a:moveTo>
                      <a:pt x="116416" y="116416"/>
                    </a:moveTo>
                    <a:lnTo>
                      <a:pt x="116416" y="0"/>
                    </a:lnTo>
                    <a:lnTo>
                      <a:pt x="259291" y="0"/>
                    </a:lnTo>
                    <a:moveTo>
                      <a:pt x="116416" y="116416"/>
                    </a:moveTo>
                    <a:lnTo>
                      <a:pt x="116416" y="232833"/>
                    </a:lnTo>
                    <a:lnTo>
                      <a:pt x="259291" y="232833"/>
                    </a:lnTo>
                  </a:path>
                </a:pathLst>
              </a:custGeom>
              <a:noFill/>
              <a:ln w="21167" cap="rnd" cmpd="sng" algn="ctr">
                <a:solidFill>
                  <a:srgbClr val="2E6653"/>
                </a:solidFill>
                <a:prstDash val="solid"/>
                <a:round/>
                <a:headEnd type="none" w="med" len="med"/>
                <a:tailEnd type="none" w="med" len="med"/>
              </a:ln>
            </p:spPr>
          </p:sp>
          <p:sp>
            <p:nvSpPr>
              <p:cNvPr id="1223" name="circle · 197"/>
              <p:cNvSpPr/>
              <p:nvPr/>
            </p:nvSpPr>
            <p:spPr>
              <a:xfrm>
                <a:off x="9473142" y="4741333"/>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4" name="circle · 198"/>
              <p:cNvSpPr/>
              <p:nvPr/>
            </p:nvSpPr>
            <p:spPr>
              <a:xfrm>
                <a:off x="9764183" y="4624917"/>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5" name="circle · 199"/>
              <p:cNvSpPr/>
              <p:nvPr/>
            </p:nvSpPr>
            <p:spPr>
              <a:xfrm>
                <a:off x="9764183" y="4857750"/>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grpSp>
        <p:grpSp>
          <p:nvGrpSpPr>
            <p:cNvPr id="1226" name="policy · 207"/>
            <p:cNvGrpSpPr/>
            <p:nvPr/>
          </p:nvGrpSpPr>
          <p:grpSpPr>
            <a:xfrm>
              <a:off x="10568517" y="4397375"/>
              <a:ext cx="756708" cy="756708"/>
              <a:chOff x="10568517" y="4397375"/>
              <a:chExt cx="756708" cy="756708"/>
            </a:xfrm>
          </p:grpSpPr>
          <p:sp>
            <p:nvSpPr>
              <p:cNvPr id="1227" name="rect · 201"/>
              <p:cNvSpPr/>
              <p:nvPr/>
            </p:nvSpPr>
            <p:spPr>
              <a:xfrm>
                <a:off x="10568517" y="4434417"/>
                <a:ext cx="603250" cy="698500"/>
              </a:xfrm>
              <a:prstGeom prst="roundRect">
                <a:avLst>
                  <a:gd name="adj" fmla="val 11404"/>
                </a:avLst>
              </a:prstGeom>
              <a:solidFill>
                <a:srgbClr val="E2EEF3"/>
              </a:solidFill>
              <a:ln w="11642" cap="rnd" cmpd="sng" algn="ctr">
                <a:solidFill>
                  <a:srgbClr val="243E42"/>
                </a:solidFill>
                <a:prstDash val="solid"/>
                <a:round/>
                <a:headEnd type="none" w="med" len="med"/>
                <a:tailEnd type="none" w="med" len="med"/>
              </a:ln>
            </p:spPr>
          </p:sp>
          <p:sp>
            <p:nvSpPr>
              <p:cNvPr id="1228" name="rect · 202"/>
              <p:cNvSpPr/>
              <p:nvPr/>
            </p:nvSpPr>
            <p:spPr>
              <a:xfrm>
                <a:off x="10632017" y="4503208"/>
                <a:ext cx="481542" cy="555625"/>
              </a:xfrm>
              <a:prstGeom prst="roundRect">
                <a:avLst>
                  <a:gd name="adj" fmla="val 6593"/>
                </a:avLst>
              </a:prstGeom>
              <a:solidFill>
                <a:srgbClr val="FFFFFF"/>
              </a:solidFill>
              <a:ln w="11642" cap="rnd" cmpd="sng" algn="ctr">
                <a:solidFill>
                  <a:srgbClr val="243E42"/>
                </a:solidFill>
                <a:prstDash val="solid"/>
                <a:round/>
                <a:headEnd type="none" w="med" len="med"/>
                <a:tailEnd type="none" w="med" len="med"/>
              </a:ln>
            </p:spPr>
          </p:sp>
          <p:sp>
            <p:nvSpPr>
              <p:cNvPr id="1229" name="path · 203"/>
              <p:cNvSpPr/>
              <p:nvPr/>
            </p:nvSpPr>
            <p:spPr>
              <a:xfrm>
                <a:off x="10764308" y="4397375"/>
                <a:ext cx="206375" cy="116417"/>
              </a:xfrm>
              <a:custGeom>
                <a:avLst/>
                <a:gdLst/>
                <a:ahLst/>
                <a:cxnLst/>
                <a:rect l="0" t="0" r="r" b="b"/>
                <a:pathLst>
                  <a:path w="206375" h="116417" fill="norm" stroke="1" extrusionOk="0">
                    <a:moveTo>
                      <a:pt x="0" y="0"/>
                    </a:moveTo>
                    <a:lnTo>
                      <a:pt x="206375" y="0"/>
                    </a:lnTo>
                    <a:lnTo>
                      <a:pt x="206375" y="116417"/>
                    </a:lnTo>
                    <a:lnTo>
                      <a:pt x="0" y="116417"/>
                    </a:lnTo>
                    <a:close/>
                  </a:path>
                </a:pathLst>
              </a:custGeom>
              <a:solidFill>
                <a:srgbClr val="D7EBE1"/>
              </a:solidFill>
              <a:ln w="11642" cap="rnd" cmpd="sng" algn="ctr">
                <a:solidFill>
                  <a:srgbClr val="243E42"/>
                </a:solidFill>
                <a:prstDash val="solid"/>
                <a:round/>
                <a:headEnd type="none" w="med" len="med"/>
                <a:tailEnd type="none" w="med" len="med"/>
              </a:ln>
            </p:spPr>
          </p:sp>
          <p:sp>
            <p:nvSpPr>
              <p:cNvPr id="1230" name="path · 204"/>
              <p:cNvSpPr/>
              <p:nvPr/>
            </p:nvSpPr>
            <p:spPr>
              <a:xfrm>
                <a:off x="10679642" y="4614333"/>
                <a:ext cx="338667" cy="402167"/>
              </a:xfrm>
              <a:custGeom>
                <a:avLst/>
                <a:gdLst/>
                <a:ahLst/>
                <a:cxnLst/>
                <a:rect l="0" t="0" r="r" b="b"/>
                <a:pathLst>
                  <a:path w="338667" h="402167" fill="none" stroke="1" extrusionOk="0">
                    <a:moveTo>
                      <a:pt x="0" y="37042"/>
                    </a:moveTo>
                    <a:lnTo>
                      <a:pt x="37041" y="74084"/>
                    </a:lnTo>
                    <a:lnTo>
                      <a:pt x="95250" y="0"/>
                    </a:lnTo>
                    <a:moveTo>
                      <a:pt x="0" y="201084"/>
                    </a:moveTo>
                    <a:lnTo>
                      <a:pt x="37041" y="238125"/>
                    </a:lnTo>
                    <a:lnTo>
                      <a:pt x="95250" y="164042"/>
                    </a:lnTo>
                    <a:moveTo>
                      <a:pt x="0" y="365125"/>
                    </a:moveTo>
                    <a:lnTo>
                      <a:pt x="37041" y="402167"/>
                    </a:lnTo>
                    <a:lnTo>
                      <a:pt x="95250" y="328084"/>
                    </a:lnTo>
                    <a:moveTo>
                      <a:pt x="164041" y="42334"/>
                    </a:moveTo>
                    <a:lnTo>
                      <a:pt x="338666" y="42334"/>
                    </a:lnTo>
                    <a:moveTo>
                      <a:pt x="164041" y="201084"/>
                    </a:moveTo>
                    <a:lnTo>
                      <a:pt x="338666" y="201084"/>
                    </a:lnTo>
                    <a:moveTo>
                      <a:pt x="164041" y="359834"/>
                    </a:moveTo>
                    <a:lnTo>
                      <a:pt x="269875" y="359834"/>
                    </a:lnTo>
                  </a:path>
                </a:pathLst>
              </a:custGeom>
              <a:noFill/>
              <a:ln w="21167" cap="rnd" cmpd="sng" algn="ctr">
                <a:solidFill>
                  <a:srgbClr val="2E6653"/>
                </a:solidFill>
                <a:prstDash val="solid"/>
                <a:round/>
                <a:headEnd type="none" w="med" len="med"/>
                <a:tailEnd type="none" w="med" len="med"/>
              </a:ln>
            </p:spPr>
          </p:sp>
          <p:sp>
            <p:nvSpPr>
              <p:cNvPr id="1231" name="circle · 205"/>
              <p:cNvSpPr/>
              <p:nvPr/>
            </p:nvSpPr>
            <p:spPr>
              <a:xfrm>
                <a:off x="11028892" y="4857750"/>
                <a:ext cx="296333" cy="296333"/>
              </a:xfrm>
              <a:prstGeom prst="ellipse">
                <a:avLst/>
              </a:prstGeom>
              <a:solidFill>
                <a:srgbClr val="F6EAC8"/>
              </a:solidFill>
              <a:ln w="11642" cap="rnd" cmpd="sng" algn="ctr">
                <a:solidFill>
                  <a:srgbClr val="243E42"/>
                </a:solidFill>
                <a:prstDash val="solid"/>
                <a:round/>
                <a:headEnd type="none" w="med" len="med"/>
                <a:tailEnd type="none" w="med" len="med"/>
              </a:ln>
            </p:spPr>
          </p:sp>
          <p:sp>
            <p:nvSpPr>
              <p:cNvPr id="1232" name="path · 206"/>
              <p:cNvSpPr/>
              <p:nvPr/>
            </p:nvSpPr>
            <p:spPr>
              <a:xfrm>
                <a:off x="11087100" y="4910667"/>
                <a:ext cx="179917" cy="174625"/>
              </a:xfrm>
              <a:custGeom>
                <a:avLst/>
                <a:gdLst/>
                <a:ahLst/>
                <a:cxnLst/>
                <a:rect l="0" t="0" r="r" b="b"/>
                <a:pathLst>
                  <a:path w="179917" h="174625" fill="norm" stroke="1" extrusionOk="0">
                    <a:moveTo>
                      <a:pt x="89958" y="0"/>
                    </a:moveTo>
                    <a:lnTo>
                      <a:pt x="116417" y="58208"/>
                    </a:lnTo>
                    <a:lnTo>
                      <a:pt x="179917" y="68791"/>
                    </a:lnTo>
                    <a:lnTo>
                      <a:pt x="132292" y="111125"/>
                    </a:lnTo>
                    <a:lnTo>
                      <a:pt x="142875" y="174625"/>
                    </a:lnTo>
                    <a:lnTo>
                      <a:pt x="89958" y="142875"/>
                    </a:lnTo>
                    <a:lnTo>
                      <a:pt x="31750" y="174625"/>
                    </a:lnTo>
                    <a:lnTo>
                      <a:pt x="47625" y="111125"/>
                    </a:lnTo>
                    <a:lnTo>
                      <a:pt x="0" y="68791"/>
                    </a:lnTo>
                    <a:lnTo>
                      <a:pt x="63500" y="58208"/>
                    </a:lnTo>
                    <a:close/>
                  </a:path>
                </a:pathLst>
              </a:custGeom>
              <a:solidFill>
                <a:srgbClr val="FFFFFF"/>
              </a:solidFill>
              <a:ln w="11642" cap="rnd" cmpd="sng" algn="ctr">
                <a:solidFill>
                  <a:srgbClr val="7A6025"/>
                </a:solidFill>
                <a:prstDash val="solid"/>
                <a:round/>
                <a:headEnd type="none" w="med" len="med"/>
                <a:tailEnd type="none" w="med" len="med"/>
              </a:ln>
            </p:spPr>
          </p:sp>
        </p:grpSp>
        <p:grpSp>
          <p:nvGrpSpPr>
            <p:cNvPr id="1233" name="graph-service-to-system-one · 211"/>
            <p:cNvGrpSpPr/>
            <p:nvPr/>
          </p:nvGrpSpPr>
          <p:grpSpPr>
            <a:xfrm>
              <a:off x="8947150" y="4768850"/>
              <a:ext cx="190500" cy="50800"/>
              <a:chOff x="8947150" y="4768850"/>
              <a:chExt cx="190500" cy="50800"/>
            </a:xfrm>
          </p:grpSpPr>
          <p:sp>
            <p:nvSpPr>
              <p:cNvPr id="1234" name="path · 208"/>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35" name="path · 209 + arrowhead"/>
              <p:cNvGrpSpPr/>
              <p:nvPr/>
            </p:nvGrpSpPr>
            <p:grpSpPr>
              <a:xfrm>
                <a:off x="8947150" y="4768850"/>
                <a:ext cx="190500" cy="50800"/>
                <a:chOff x="8947150" y="4768850"/>
                <a:chExt cx="190500" cy="50800"/>
              </a:xfrm>
            </p:grpSpPr>
            <p:sp>
              <p:nvSpPr>
                <p:cNvPr id="1236" name="path · 209"/>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37" name="arrow-green end"/>
                <p:cNvGrpSpPr/>
                <p:nvPr/>
              </p:nvGrpSpPr>
              <p:grpSpPr>
                <a:xfrm>
                  <a:off x="9090025" y="4768850"/>
                  <a:ext cx="47625" cy="50800"/>
                  <a:chOff x="9090025" y="4768850"/>
                  <a:chExt cx="47625" cy="50800"/>
                </a:xfrm>
              </p:grpSpPr>
              <p:sp>
                <p:nvSpPr>
                  <p:cNvPr id="1238" name="path · 210"/>
                  <p:cNvSpPr/>
                  <p:nvPr/>
                </p:nvSpPr>
                <p:spPr>
                  <a:xfrm>
                    <a:off x="909002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39" name="graph-system-one-to-service · 215"/>
            <p:cNvGrpSpPr/>
            <p:nvPr/>
          </p:nvGrpSpPr>
          <p:grpSpPr>
            <a:xfrm>
              <a:off x="10185400" y="4768850"/>
              <a:ext cx="190500" cy="50800"/>
              <a:chOff x="10185400" y="4768850"/>
              <a:chExt cx="190500" cy="50800"/>
            </a:xfrm>
          </p:grpSpPr>
          <p:sp>
            <p:nvSpPr>
              <p:cNvPr id="1240" name="path · 212"/>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41" name="path · 213 + arrowhead"/>
              <p:cNvGrpSpPr/>
              <p:nvPr/>
            </p:nvGrpSpPr>
            <p:grpSpPr>
              <a:xfrm>
                <a:off x="10185400" y="4768850"/>
                <a:ext cx="190500" cy="50800"/>
                <a:chOff x="10185400" y="4768850"/>
                <a:chExt cx="190500" cy="50800"/>
              </a:xfrm>
            </p:grpSpPr>
            <p:sp>
              <p:nvSpPr>
                <p:cNvPr id="1242" name="path · 213"/>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43" name="arrow-green end"/>
                <p:cNvGrpSpPr/>
                <p:nvPr/>
              </p:nvGrpSpPr>
              <p:grpSpPr>
                <a:xfrm>
                  <a:off x="10328275" y="4768850"/>
                  <a:ext cx="47625" cy="50800"/>
                  <a:chOff x="10328275" y="4768850"/>
                  <a:chExt cx="47625" cy="50800"/>
                </a:xfrm>
              </p:grpSpPr>
              <p:sp>
                <p:nvSpPr>
                  <p:cNvPr id="1244" name="path · 214"/>
                  <p:cNvSpPr/>
                  <p:nvPr/>
                </p:nvSpPr>
                <p:spPr>
                  <a:xfrm>
                    <a:off x="1032827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45" name="graph-caption · 217"/>
            <p:cNvGrpSpPr/>
            <p:nvPr/>
          </p:nvGrpSpPr>
          <p:grpSpPr>
            <a:xfrm>
              <a:off x="8769350" y="5314950"/>
              <a:ext cx="1905000" cy="184150"/>
              <a:chOff x="8769350" y="5314950"/>
              <a:chExt cx="1905000" cy="184150"/>
            </a:xfrm>
          </p:grpSpPr>
          <p:sp>
            <p:nvSpPr>
              <p:cNvPr id="1246" name="text · 216"/>
              <p:cNvSpPr txBox="1"/>
              <p:nvPr/>
            </p:nvSpPr>
            <p:spPr>
              <a:xfrm>
                <a:off x="8767762" y="5314950"/>
                <a:ext cx="19081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Agent Graph executes</a:t>
                </a:r>
                <a:endParaRPr lang="en-US" sz="1400"/>
              </a:p>
            </p:txBody>
          </p:sp>
        </p:grpSp>
        <p:grpSp>
          <p:nvGrpSpPr>
            <p:cNvPr id="1247" name="script-caption · 219"/>
            <p:cNvGrpSpPr/>
            <p:nvPr/>
          </p:nvGrpSpPr>
          <p:grpSpPr>
            <a:xfrm>
              <a:off x="8931275" y="5600700"/>
              <a:ext cx="1581150" cy="171450"/>
              <a:chOff x="8931275" y="5600700"/>
              <a:chExt cx="1581150" cy="171450"/>
            </a:xfrm>
          </p:grpSpPr>
          <p:sp>
            <p:nvSpPr>
              <p:cNvPr id="1248" name="text · 218"/>
              <p:cNvSpPr txBox="1"/>
              <p:nvPr/>
            </p:nvSpPr>
            <p:spPr>
              <a:xfrm>
                <a:off x="8929687" y="5600700"/>
                <a:ext cx="15843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AgentScript authors</a:t>
                </a:r>
                <a:endParaRPr lang="en-US" sz="1300"/>
              </a:p>
            </p:txBody>
          </p:sp>
        </p:grpSp>
      </p:grpSp>
      <p:grpSp>
        <p:nvGrpSpPr>
          <p:cNvPr id="1254" name="06 · source-line: Reliable enterprise agents · AgentScript control plane · Jev + LangGraph · "/>
          <p:cNvGrpSpPr/>
          <p:nvPr/>
        </p:nvGrpSpPr>
        <p:grpSpPr>
          <a:xfrm>
            <a:off x="558800" y="6037898"/>
            <a:ext cx="11087100" cy="284456"/>
            <a:chOff x="558800" y="6037898"/>
            <a:chExt cx="11087100" cy="284456"/>
          </a:xfrm>
        </p:grpSpPr>
        <p:sp>
          <p:nvSpPr>
            <p:cNvPr id="1249" name="06 · source-line · top border [p0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50" name="06 · span: Reliable enterprise agents · AgentScript control plane · Jev + LangGraph · Acc [p06-text-0009]" descr="Native editable Unicode text; authored line breaks retained."/>
            <p:cNvSpPr txBox="1"/>
            <p:nvPr/>
          </p:nvSpPr>
          <p:spPr>
            <a:xfrm>
              <a:off x="558800" y="6153126"/>
              <a:ext cx="545931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Access and allocation · A</a:t>
              </a:r>
              <a:endParaRPr lang="en-US" sz="950" b="0" i="0" kern="0" spc="0" dirty="0" u="sng">
                <a:solidFill>
                  <a:srgbClr val="315A7A"/>
                </a:solidFill>
                <a:latin typeface="Salesforce Sans"/>
                <a:ea typeface="Salesforce Sans"/>
                <a:cs typeface="Salesforce Sans"/>
              </a:endParaRPr>
            </a:p>
          </p:txBody>
        </p:sp>
        <p:sp>
          <p:nvSpPr>
            <p:cNvPr id="1251" name="06 · span: Proposed design · same service safeguards [p06-text-0010]" descr="Native editable Unicode text; authored line breaks retained."/>
            <p:cNvSpPr txBox="1"/>
            <p:nvPr/>
          </p:nvSpPr>
          <p:spPr>
            <a:xfrm>
              <a:off x="9255503" y="6153126"/>
              <a:ext cx="239039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design · same service safeguards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ive familiar requests a direct service route">
    <p:bg>
      <p:bgPr>
        <a:solidFill>
          <a:srgbClr val="FFFFFF"/>
        </a:solidFill>
      </p:bgPr>
    </p:bg>
    <p:spTree>
      <p:nvGrpSpPr>
        <p:cNvPr id="1" name=""/>
        <p:cNvGrpSpPr/>
        <p:nvPr/>
      </p:nvGrpSpPr>
      <p:grpSpPr>
        <a:xfrm>
          <a:off x="0" y="0"/>
          <a:ext cx="0" cy="0"/>
          <a:chOff x="0" y="0"/>
          <a:chExt cx="0" cy="0"/>
        </a:xfrm>
      </p:grpSpPr>
      <p:sp>
        <p:nvSpPr>
          <p:cNvPr id="1000" name="07 · slide light · surface [p0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04" name="07 · chrome-min: DISAGGREGATED INTELLIGENCE"/>
          <p:cNvGrpSpPr/>
          <p:nvPr/>
        </p:nvGrpSpPr>
        <p:grpSpPr>
          <a:xfrm>
            <a:off x="558800" y="356053"/>
            <a:ext cx="11087100" cy="187325"/>
            <a:chOff x="558800" y="356053"/>
            <a:chExt cx="11087100" cy="187325"/>
          </a:xfrm>
        </p:grpSpPr>
        <p:sp>
          <p:nvSpPr>
            <p:cNvPr id="1001" name="07 · l: DISAGGREGATED INTELLIGENCE [p07-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7 · r: 07 / 36 [p07-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07 / 36</a:t>
              </a:r>
              <a:endParaRPr lang="en-US" sz="950" b="1" i="0" kern="0" spc="65" dirty="0">
                <a:solidFill>
                  <a:srgbClr val="022AC0"/>
                </a:solidFill>
                <a:latin typeface="Salesforce Sans"/>
                <a:ea typeface="Salesforce Sans"/>
                <a:cs typeface="Salesforce Sans"/>
              </a:endParaRPr>
            </a:p>
          </p:txBody>
        </p:sp>
      </p:grpSp>
      <p:grpSp>
        <p:nvGrpSpPr>
          <p:cNvPr id="1205" name="07 · deck-head: STEP 01 / ONE RETURN, TWO ALLOCATIONS · B"/>
          <p:cNvGrpSpPr/>
          <p:nvPr/>
        </p:nvGrpSpPr>
        <p:grpSpPr>
          <a:xfrm>
            <a:off x="558800" y="775901"/>
            <a:ext cx="11087100" cy="871263"/>
            <a:chOff x="558800" y="775901"/>
            <a:chExt cx="11087100" cy="871263"/>
          </a:xfrm>
        </p:grpSpPr>
        <p:sp>
          <p:nvSpPr>
            <p:cNvPr id="1003" name="07 · returns-routing-eyebrow: STEP 01 / ONE RETURN, TWO ALLOCATIONS · B [p07-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B</a:t>
              </a:r>
              <a:endParaRPr lang="en-US" sz="1050" b="1" i="0" kern="0" spc="68" dirty="0">
                <a:solidFill>
                  <a:srgbClr val="022AC0"/>
                </a:solidFill>
                <a:latin typeface="Salesforce Sans"/>
                <a:ea typeface="Salesforce Sans"/>
                <a:cs typeface="Salesforce Sans"/>
              </a:endParaRPr>
            </a:p>
          </p:txBody>
        </p:sp>
        <p:sp>
          <p:nvSpPr>
            <p:cNvPr id="1004" name="07 · returns-routing-title: Give familiar requests a direct service route [p07-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familiar requests a direct service route</a:t>
              </a:r>
              <a:endParaRPr lang="en-US" sz="3600" b="1" i="0" kern="0" spc="-95" dirty="0">
                <a:solidFill>
                  <a:srgbClr val="022AC0"/>
                </a:solidFill>
                <a:latin typeface="Manrope"/>
                <a:ea typeface="Manrope"/>
                <a:cs typeface="Manrope"/>
              </a:endParaRPr>
            </a:p>
          </p:txBody>
        </p:sp>
      </p:grpSp>
      <p:grpSp>
        <p:nvGrpSpPr>
          <p:cNvPr id="1005" name="07 · img · drawing [p07-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B · 4"/>
            <p:cNvGrpSpPr/>
            <p:nvPr/>
          </p:nvGrpSpPr>
          <p:grpSpPr>
            <a:xfrm>
              <a:off x="622300" y="1917700"/>
              <a:ext cx="279400" cy="279400"/>
              <a:chOff x="622300" y="1917700"/>
              <a:chExt cx="279400" cy="279400"/>
            </a:xfrm>
          </p:grpSpPr>
          <p:sp>
            <p:nvSpPr>
              <p:cNvPr id="1008" name="circle · 2"/>
              <p:cNvSpPr/>
              <p:nvPr/>
            </p:nvSpPr>
            <p:spPr>
              <a:xfrm>
                <a:off x="622300" y="1917700"/>
                <a:ext cx="279400" cy="279400"/>
              </a:xfrm>
              <a:prstGeom prst="ellipse">
                <a:avLst/>
              </a:prstGeom>
              <a:solidFill>
                <a:srgbClr val="E2EEF3"/>
              </a:solidFill>
              <a:ln w="12700" cap="flat" cmpd="sng" algn="ctr">
                <a:solidFill>
                  <a:srgbClr val="355F72"/>
                </a:solidFill>
                <a:prstDash val="solid"/>
                <a:miter lim="400000"/>
                <a:headEnd type="none" w="med" len="med"/>
                <a:tailEnd type="none" w="med" len="med"/>
              </a:ln>
            </p:spPr>
          </p:sp>
          <p:sp>
            <p:nvSpPr>
              <p:cNvPr id="1009" name="text · 3"/>
              <p:cNvSpPr txBox="1"/>
              <p:nvPr/>
            </p:nvSpPr>
            <p:spPr>
              <a:xfrm>
                <a:off x="693737" y="19685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B</a:t>
                </a:r>
                <a:endParaRPr lang="en-US" sz="1450"/>
              </a:p>
            </p:txBody>
          </p:sp>
        </p:grpSp>
        <p:sp>
          <p:nvSpPr>
            <p:cNvPr id="1010" name="text · 5"/>
            <p:cNvSpPr txBox="1"/>
            <p:nvPr/>
          </p:nvSpPr>
          <p:spPr>
            <a:xfrm>
              <a:off x="995362" y="1987550"/>
              <a:ext cx="14255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purchase</a:t>
              </a:r>
              <a:endParaRPr lang="en-US" sz="1350"/>
            </a:p>
          </p:txBody>
        </p:sp>
        <p:sp>
          <p:nvSpPr>
            <p:cNvPr id="1011" name="text · 6"/>
            <p:cNvSpPr txBox="1"/>
            <p:nvPr/>
          </p:nvSpPr>
          <p:spPr>
            <a:xfrm>
              <a:off x="1144587" y="2393950"/>
              <a:ext cx="12033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2E6653"/>
                  </a:solidFill>
                  <a:latin typeface="Manrope"/>
                  <a:ea typeface="Manrope"/>
                  <a:cs typeface="Manrope"/>
                </a:rPr>
                <a:t>System One</a:t>
              </a:r>
              <a:endParaRPr lang="en-US" sz="1650"/>
            </a:p>
          </p:txBody>
        </p:sp>
        <p:sp>
          <p:nvSpPr>
            <p:cNvPr id="1012" name="text · 7"/>
            <p:cNvSpPr txBox="1"/>
            <p:nvPr/>
          </p:nvSpPr>
          <p:spPr>
            <a:xfrm>
              <a:off x="1100137" y="2673350"/>
              <a:ext cx="12922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0" i="0" kern="0" spc="0" dirty="0">
                  <a:solidFill>
                    <a:srgbClr val="2E6653"/>
                  </a:solidFill>
                  <a:latin typeface="Manrope"/>
                  <a:ea typeface="Manrope"/>
                  <a:cs typeface="Manrope"/>
                </a:rPr>
                <a:t>koa-action / Jev</a:t>
              </a:r>
              <a:endParaRPr lang="en-US" sz="1350"/>
            </a:p>
          </p:txBody>
        </p:sp>
        <p:grpSp>
          <p:nvGrpSpPr>
            <p:cNvPr id="1013" name="system-one · 14"/>
            <p:cNvGrpSpPr/>
            <p:nvPr/>
          </p:nvGrpSpPr>
          <p:grpSpPr>
            <a:xfrm>
              <a:off x="1237827" y="3051140"/>
              <a:ext cx="1018152" cy="964565"/>
              <a:chOff x="1237827" y="3051140"/>
              <a:chExt cx="1018152" cy="964565"/>
            </a:xfrm>
          </p:grpSpPr>
          <p:sp>
            <p:nvSpPr>
              <p:cNvPr id="1014" name="path · 8"/>
              <p:cNvSpPr/>
              <p:nvPr/>
            </p:nvSpPr>
            <p:spPr>
              <a:xfrm>
                <a:off x="1237827" y="3051140"/>
                <a:ext cx="1018152" cy="964565"/>
              </a:xfrm>
              <a:custGeom>
                <a:avLst/>
                <a:gdLst/>
                <a:ahLst/>
                <a:cxnLst/>
                <a:rect l="0" t="0" r="r" b="b"/>
                <a:pathLst>
                  <a:path w="1018152" h="964565" fill="none" stroke="1" extrusionOk="0">
                    <a:moveTo>
                      <a:pt x="290900" y="0"/>
                    </a:moveTo>
                    <a:lnTo>
                      <a:pt x="290900" y="168416"/>
                    </a:lnTo>
                    <a:moveTo>
                      <a:pt x="489937" y="0"/>
                    </a:moveTo>
                    <a:lnTo>
                      <a:pt x="489937" y="168416"/>
                    </a:lnTo>
                    <a:moveTo>
                      <a:pt x="696630" y="0"/>
                    </a:moveTo>
                    <a:lnTo>
                      <a:pt x="696630" y="168416"/>
                    </a:lnTo>
                    <a:moveTo>
                      <a:pt x="290900" y="796149"/>
                    </a:moveTo>
                    <a:lnTo>
                      <a:pt x="290900" y="964565"/>
                    </a:lnTo>
                    <a:moveTo>
                      <a:pt x="489937" y="796149"/>
                    </a:moveTo>
                    <a:lnTo>
                      <a:pt x="489937" y="964565"/>
                    </a:lnTo>
                    <a:moveTo>
                      <a:pt x="696630" y="796149"/>
                    </a:moveTo>
                    <a:lnTo>
                      <a:pt x="696630" y="964565"/>
                    </a:lnTo>
                    <a:moveTo>
                      <a:pt x="0" y="313866"/>
                    </a:moveTo>
                    <a:lnTo>
                      <a:pt x="168416" y="313866"/>
                    </a:lnTo>
                    <a:moveTo>
                      <a:pt x="0" y="604767"/>
                    </a:moveTo>
                    <a:lnTo>
                      <a:pt x="168416" y="604767"/>
                    </a:lnTo>
                    <a:moveTo>
                      <a:pt x="849735" y="313866"/>
                    </a:moveTo>
                    <a:lnTo>
                      <a:pt x="1018152" y="313866"/>
                    </a:lnTo>
                    <a:moveTo>
                      <a:pt x="849735" y="604767"/>
                    </a:moveTo>
                    <a:lnTo>
                      <a:pt x="1018152" y="604767"/>
                    </a:lnTo>
                  </a:path>
                </a:pathLst>
              </a:custGeom>
              <a:noFill/>
              <a:ln w="38276" cap="rnd" cmpd="sng" algn="ctr">
                <a:solidFill>
                  <a:srgbClr val="2E6653"/>
                </a:solidFill>
                <a:prstDash val="solid"/>
                <a:round/>
                <a:headEnd type="none" w="med" len="med"/>
                <a:tailEnd type="none" w="med" len="med"/>
              </a:ln>
            </p:spPr>
          </p:sp>
          <p:sp>
            <p:nvSpPr>
              <p:cNvPr id="1015" name="rect · 9"/>
              <p:cNvSpPr/>
              <p:nvPr/>
            </p:nvSpPr>
            <p:spPr>
              <a:xfrm>
                <a:off x="1375622" y="3181279"/>
                <a:ext cx="734907" cy="704286"/>
              </a:xfrm>
              <a:prstGeom prst="roundRect">
                <a:avLst>
                  <a:gd name="adj" fmla="val 22826"/>
                </a:avLst>
              </a:prstGeom>
              <a:solidFill>
                <a:srgbClr val="D7EBE1"/>
              </a:solidFill>
              <a:ln w="22966" cap="rnd" cmpd="sng" algn="ctr">
                <a:solidFill>
                  <a:srgbClr val="2E6653"/>
                </a:solidFill>
                <a:prstDash val="solid"/>
                <a:round/>
                <a:headEnd type="none" w="med" len="med"/>
                <a:tailEnd type="none" w="med" len="med"/>
              </a:ln>
            </p:spPr>
          </p:sp>
          <p:sp>
            <p:nvSpPr>
              <p:cNvPr id="1016" name="path · 10"/>
              <p:cNvSpPr/>
              <p:nvPr/>
            </p:nvSpPr>
            <p:spPr>
              <a:xfrm>
                <a:off x="1544038" y="3365006"/>
                <a:ext cx="375109" cy="336832"/>
              </a:xfrm>
              <a:custGeom>
                <a:avLst/>
                <a:gdLst/>
                <a:ahLst/>
                <a:cxnLst/>
                <a:rect l="0" t="0" r="r" b="b"/>
                <a:pathLst>
                  <a:path w="375109" h="336832" fill="none" stroke="1" extrusionOk="0">
                    <a:moveTo>
                      <a:pt x="0" y="168416"/>
                    </a:moveTo>
                    <a:lnTo>
                      <a:pt x="168416" y="168416"/>
                    </a:lnTo>
                    <a:moveTo>
                      <a:pt x="168416" y="168416"/>
                    </a:moveTo>
                    <a:lnTo>
                      <a:pt x="168416" y="0"/>
                    </a:lnTo>
                    <a:lnTo>
                      <a:pt x="375108" y="0"/>
                    </a:lnTo>
                    <a:moveTo>
                      <a:pt x="168416" y="168416"/>
                    </a:moveTo>
                    <a:lnTo>
                      <a:pt x="168416" y="336832"/>
                    </a:lnTo>
                    <a:lnTo>
                      <a:pt x="375108" y="336832"/>
                    </a:lnTo>
                  </a:path>
                </a:pathLst>
              </a:custGeom>
              <a:noFill/>
              <a:ln w="30621" cap="rnd" cmpd="sng" algn="ctr">
                <a:solidFill>
                  <a:srgbClr val="2E6653"/>
                </a:solidFill>
                <a:prstDash val="solid"/>
                <a:round/>
                <a:headEnd type="none" w="med" len="med"/>
                <a:tailEnd type="none" w="med" len="med"/>
              </a:ln>
            </p:spPr>
          </p:sp>
          <p:sp>
            <p:nvSpPr>
              <p:cNvPr id="1017" name="circle · 11"/>
              <p:cNvSpPr/>
              <p:nvPr/>
            </p:nvSpPr>
            <p:spPr>
              <a:xfrm>
                <a:off x="1475140" y="3487491"/>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8" name="circle · 12"/>
              <p:cNvSpPr/>
              <p:nvPr/>
            </p:nvSpPr>
            <p:spPr>
              <a:xfrm>
                <a:off x="1896181" y="3319074"/>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9" name="circle · 13"/>
              <p:cNvSpPr/>
              <p:nvPr/>
            </p:nvSpPr>
            <p:spPr>
              <a:xfrm>
                <a:off x="1896181" y="3655907"/>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grpSp>
        <p:grpSp>
          <p:nvGrpSpPr>
            <p:cNvPr id="1020" name="request-route · 17"/>
            <p:cNvGrpSpPr/>
            <p:nvPr/>
          </p:nvGrpSpPr>
          <p:grpSpPr>
            <a:xfrm>
              <a:off x="2266950" y="2451100"/>
              <a:ext cx="1022350" cy="1079500"/>
              <a:chOff x="2266950" y="2451100"/>
              <a:chExt cx="1022350" cy="1079500"/>
            </a:xfrm>
          </p:grpSpPr>
          <p:grpSp>
            <p:nvGrpSpPr>
              <p:cNvPr id="1021" name="path · 15 + arrowhead"/>
              <p:cNvGrpSpPr/>
              <p:nvPr/>
            </p:nvGrpSpPr>
            <p:grpSpPr>
              <a:xfrm>
                <a:off x="2266950" y="2451100"/>
                <a:ext cx="1022350" cy="1079500"/>
                <a:chOff x="2266950" y="2451100"/>
                <a:chExt cx="1022350" cy="1079500"/>
              </a:xfrm>
            </p:grpSpPr>
            <p:sp>
              <p:nvSpPr>
                <p:cNvPr id="1022" name="path · 15"/>
                <p:cNvSpPr/>
                <p:nvPr/>
              </p:nvSpPr>
              <p:spPr>
                <a:xfrm>
                  <a:off x="2266950" y="2476500"/>
                  <a:ext cx="1022350" cy="1054100"/>
                </a:xfrm>
                <a:custGeom>
                  <a:avLst/>
                  <a:gdLst/>
                  <a:ahLst/>
                  <a:cxnLst/>
                  <a:rect l="0" t="0" r="r" b="b"/>
                  <a:pathLst>
                    <a:path w="1022350" h="1054100" fill="none" stroke="1" extrusionOk="0">
                      <a:moveTo>
                        <a:pt x="0" y="1054100"/>
                      </a:moveTo>
                      <a:lnTo>
                        <a:pt x="520700" y="1054100"/>
                      </a:lnTo>
                      <a:lnTo>
                        <a:pt x="520700" y="0"/>
                      </a:lnTo>
                      <a:lnTo>
                        <a:pt x="1022350" y="0"/>
                      </a:lnTo>
                    </a:path>
                  </a:pathLst>
                </a:custGeom>
                <a:noFill/>
                <a:ln w="25400" cap="rnd" cmpd="sng" algn="ctr">
                  <a:solidFill>
                    <a:srgbClr val="2E6653"/>
                  </a:solidFill>
                  <a:prstDash val="solid"/>
                  <a:round/>
                  <a:headEnd type="none" w="med" len="med"/>
                  <a:tailEnd type="none" w="med" len="med"/>
                </a:ln>
              </p:spPr>
            </p:sp>
            <p:grpSp>
              <p:nvGrpSpPr>
                <p:cNvPr id="1023" name="arrow-green end"/>
                <p:cNvGrpSpPr/>
                <p:nvPr/>
              </p:nvGrpSpPr>
              <p:grpSpPr>
                <a:xfrm>
                  <a:off x="3241675" y="2451100"/>
                  <a:ext cx="47625" cy="50800"/>
                  <a:chOff x="3241675" y="2451100"/>
                  <a:chExt cx="47625" cy="50800"/>
                </a:xfrm>
              </p:grpSpPr>
              <p:sp>
                <p:nvSpPr>
                  <p:cNvPr id="1024" name="path · 16"/>
                  <p:cNvSpPr/>
                  <p:nvPr/>
                </p:nvSpPr>
                <p:spPr>
                  <a:xfrm>
                    <a:off x="3241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5" name="request-route · 20"/>
            <p:cNvGrpSpPr/>
            <p:nvPr/>
          </p:nvGrpSpPr>
          <p:grpSpPr>
            <a:xfrm>
              <a:off x="2787650" y="3530600"/>
              <a:ext cx="501650" cy="82550"/>
              <a:chOff x="2787650" y="3530600"/>
              <a:chExt cx="501650" cy="82550"/>
            </a:xfrm>
          </p:grpSpPr>
          <p:grpSp>
            <p:nvGrpSpPr>
              <p:cNvPr id="1026" name="path · 18 + arrowhead"/>
              <p:cNvGrpSpPr/>
              <p:nvPr/>
            </p:nvGrpSpPr>
            <p:grpSpPr>
              <a:xfrm>
                <a:off x="2787650" y="3530600"/>
                <a:ext cx="501650" cy="82550"/>
                <a:chOff x="2787650" y="3530600"/>
                <a:chExt cx="501650" cy="82550"/>
              </a:xfrm>
            </p:grpSpPr>
            <p:sp>
              <p:nvSpPr>
                <p:cNvPr id="1027" name="path · 18"/>
                <p:cNvSpPr/>
                <p:nvPr/>
              </p:nvSpPr>
              <p:spPr>
                <a:xfrm>
                  <a:off x="2787650" y="3530600"/>
                  <a:ext cx="501650" cy="57150"/>
                </a:xfrm>
                <a:custGeom>
                  <a:avLst/>
                  <a:gdLst/>
                  <a:ahLst/>
                  <a:cxnLst/>
                  <a:rect l="0" t="0" r="r" b="b"/>
                  <a:pathLst>
                    <a:path w="501650" h="57150" fill="none" stroke="1" extrusionOk="0">
                      <a:moveTo>
                        <a:pt x="0" y="0"/>
                      </a:moveTo>
                      <a:lnTo>
                        <a:pt x="0" y="57150"/>
                      </a:lnTo>
                      <a:lnTo>
                        <a:pt x="501650" y="5715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3241675" y="3562350"/>
                  <a:ext cx="47625" cy="50800"/>
                  <a:chOff x="3241675" y="3562350"/>
                  <a:chExt cx="47625" cy="50800"/>
                </a:xfrm>
              </p:grpSpPr>
              <p:sp>
                <p:nvSpPr>
                  <p:cNvPr id="1029" name="path · 19"/>
                  <p:cNvSpPr/>
                  <p:nvPr/>
                </p:nvSpPr>
                <p:spPr>
                  <a:xfrm>
                    <a:off x="3241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0" name="request-route · 23"/>
            <p:cNvGrpSpPr/>
            <p:nvPr/>
          </p:nvGrpSpPr>
          <p:grpSpPr>
            <a:xfrm>
              <a:off x="2787650" y="3587750"/>
              <a:ext cx="501650" cy="1136650"/>
              <a:chOff x="2787650" y="3587750"/>
              <a:chExt cx="501650" cy="1136650"/>
            </a:xfrm>
          </p:grpSpPr>
          <p:grpSp>
            <p:nvGrpSpPr>
              <p:cNvPr id="1031" name="path · 21 + arrowhead"/>
              <p:cNvGrpSpPr/>
              <p:nvPr/>
            </p:nvGrpSpPr>
            <p:grpSpPr>
              <a:xfrm>
                <a:off x="2787650" y="3587750"/>
                <a:ext cx="501650" cy="1136650"/>
                <a:chOff x="2787650" y="3587750"/>
                <a:chExt cx="501650" cy="1136650"/>
              </a:xfrm>
            </p:grpSpPr>
            <p:sp>
              <p:nvSpPr>
                <p:cNvPr id="1032" name="path · 21"/>
                <p:cNvSpPr/>
                <p:nvPr/>
              </p:nvSpPr>
              <p:spPr>
                <a:xfrm>
                  <a:off x="2787650" y="3587750"/>
                  <a:ext cx="501650" cy="1111250"/>
                </a:xfrm>
                <a:custGeom>
                  <a:avLst/>
                  <a:gdLst/>
                  <a:ahLst/>
                  <a:cxnLst/>
                  <a:rect l="0" t="0" r="r" b="b"/>
                  <a:pathLst>
                    <a:path w="501650" h="1111250" fill="none" stroke="1" extrusionOk="0">
                      <a:moveTo>
                        <a:pt x="0" y="0"/>
                      </a:moveTo>
                      <a:lnTo>
                        <a:pt x="0" y="1111250"/>
                      </a:lnTo>
                      <a:lnTo>
                        <a:pt x="501650" y="1111250"/>
                      </a:lnTo>
                    </a:path>
                  </a:pathLst>
                </a:custGeom>
                <a:noFill/>
                <a:ln w="25400" cap="rnd" cmpd="sng" algn="ctr">
                  <a:solidFill>
                    <a:srgbClr val="2E6653"/>
                  </a:solidFill>
                  <a:prstDash val="solid"/>
                  <a:round/>
                  <a:headEnd type="none" w="med" len="med"/>
                  <a:tailEnd type="none" w="med" len="med"/>
                </a:ln>
              </p:spPr>
            </p:sp>
            <p:grpSp>
              <p:nvGrpSpPr>
                <p:cNvPr id="1033" name="arrow-green end"/>
                <p:cNvGrpSpPr/>
                <p:nvPr/>
              </p:nvGrpSpPr>
              <p:grpSpPr>
                <a:xfrm>
                  <a:off x="3241675" y="4673600"/>
                  <a:ext cx="47625" cy="50800"/>
                  <a:chOff x="3241675" y="4673600"/>
                  <a:chExt cx="47625" cy="50800"/>
                </a:xfrm>
              </p:grpSpPr>
              <p:sp>
                <p:nvSpPr>
                  <p:cNvPr id="1034" name="path · 22"/>
                  <p:cNvSpPr/>
                  <p:nvPr/>
                </p:nvSpPr>
                <p:spPr>
                  <a:xfrm>
                    <a:off x="3241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35" name="circle · 24"/>
            <p:cNvSpPr/>
            <p:nvPr/>
          </p:nvSpPr>
          <p:spPr>
            <a:xfrm>
              <a:off x="2755900" y="3498850"/>
              <a:ext cx="63500" cy="63500"/>
            </a:xfrm>
            <a:prstGeom prst="ellipse">
              <a:avLst/>
            </a:prstGeom>
            <a:solidFill>
              <a:srgbClr val="2E6653"/>
            </a:solidFill>
            <a:ln>
              <a:noFill/>
            </a:ln>
          </p:spPr>
        </p:sp>
        <p:sp>
          <p:nvSpPr>
            <p:cNvPr id="1036" name="path · 25"/>
            <p:cNvSpPr/>
            <p:nvPr/>
          </p:nvSpPr>
          <p:spPr>
            <a:xfrm>
              <a:off x="3302000" y="306070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sp>
          <p:nvSpPr>
            <p:cNvPr id="1037" name="path · 26"/>
            <p:cNvSpPr/>
            <p:nvPr/>
          </p:nvSpPr>
          <p:spPr>
            <a:xfrm>
              <a:off x="3302000" y="417195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grpSp>
          <p:nvGrpSpPr>
            <p:cNvPr id="1038" name="whole-kit · 35"/>
            <p:cNvGrpSpPr/>
            <p:nvPr/>
          </p:nvGrpSpPr>
          <p:grpSpPr>
            <a:xfrm>
              <a:off x="3383915" y="2097617"/>
              <a:ext cx="871220" cy="694902"/>
              <a:chOff x="3383915" y="2097617"/>
              <a:chExt cx="871220" cy="694902"/>
            </a:xfrm>
          </p:grpSpPr>
          <p:sp>
            <p:nvSpPr>
              <p:cNvPr id="1039" name="path · 27"/>
              <p:cNvSpPr/>
              <p:nvPr/>
            </p:nvSpPr>
            <p:spPr>
              <a:xfrm>
                <a:off x="3430588" y="2273935"/>
                <a:ext cx="767503" cy="285221"/>
              </a:xfrm>
              <a:custGeom>
                <a:avLst/>
                <a:gdLst/>
                <a:ahLst/>
                <a:cxnLst/>
                <a:rect l="0" t="0" r="r" b="b"/>
                <a:pathLst>
                  <a:path w="767503" h="285221" fill="norm" stroke="1" extrusionOk="0">
                    <a:moveTo>
                      <a:pt x="0" y="114088"/>
                    </a:moveTo>
                    <a:lnTo>
                      <a:pt x="352636" y="0"/>
                    </a:lnTo>
                    <a:lnTo>
                      <a:pt x="767503" y="160761"/>
                    </a:lnTo>
                    <a:lnTo>
                      <a:pt x="414866" y="285221"/>
                    </a:lnTo>
                    <a:close/>
                  </a:path>
                </a:pathLst>
              </a:custGeom>
              <a:solidFill>
                <a:srgbClr val="F6EAC8"/>
              </a:solidFill>
              <a:ln w="11409" cap="rnd" cmpd="sng" algn="ctr">
                <a:solidFill>
                  <a:srgbClr val="243E42"/>
                </a:solidFill>
                <a:prstDash val="solid"/>
                <a:round/>
                <a:headEnd type="none" w="med" len="med"/>
                <a:tailEnd type="none" w="med" len="med"/>
              </a:ln>
            </p:spPr>
          </p:sp>
          <p:sp>
            <p:nvSpPr>
              <p:cNvPr id="1040" name="path · 28"/>
              <p:cNvSpPr/>
              <p:nvPr/>
            </p:nvSpPr>
            <p:spPr>
              <a:xfrm>
                <a:off x="3430588" y="2388023"/>
                <a:ext cx="767503" cy="404495"/>
              </a:xfrm>
              <a:custGeom>
                <a:avLst/>
                <a:gdLst/>
                <a:ahLst/>
                <a:cxnLst/>
                <a:rect l="0" t="0" r="r" b="b"/>
                <a:pathLst>
                  <a:path w="767503" h="404495" fill="norm" stroke="1" extrusionOk="0">
                    <a:moveTo>
                      <a:pt x="0" y="0"/>
                    </a:moveTo>
                    <a:lnTo>
                      <a:pt x="414866" y="171133"/>
                    </a:lnTo>
                    <a:lnTo>
                      <a:pt x="414866" y="404495"/>
                    </a:lnTo>
                    <a:lnTo>
                      <a:pt x="0" y="238549"/>
                    </a:lnTo>
                    <a:close/>
                    <a:moveTo>
                      <a:pt x="414866" y="171133"/>
                    </a:moveTo>
                    <a:lnTo>
                      <a:pt x="767503" y="46673"/>
                    </a:lnTo>
                    <a:lnTo>
                      <a:pt x="767503" y="274849"/>
                    </a:lnTo>
                    <a:lnTo>
                      <a:pt x="414866" y="404495"/>
                    </a:lnTo>
                    <a:close/>
                  </a:path>
                </a:pathLst>
              </a:custGeom>
              <a:solidFill>
                <a:srgbClr val="F6EAC8"/>
              </a:solidFill>
              <a:ln w="11409" cap="rnd" cmpd="sng" algn="ctr">
                <a:solidFill>
                  <a:srgbClr val="243E42"/>
                </a:solidFill>
                <a:prstDash val="solid"/>
                <a:round/>
                <a:headEnd type="none" w="med" len="med"/>
                <a:tailEnd type="none" w="med" len="med"/>
              </a:ln>
            </p:spPr>
          </p:sp>
          <p:sp>
            <p:nvSpPr>
              <p:cNvPr id="1041" name="path · 29"/>
              <p:cNvSpPr/>
              <p:nvPr/>
            </p:nvSpPr>
            <p:spPr>
              <a:xfrm>
                <a:off x="3383915" y="2159847"/>
                <a:ext cx="871220" cy="274849"/>
              </a:xfrm>
              <a:custGeom>
                <a:avLst/>
                <a:gdLst/>
                <a:ahLst/>
                <a:cxnLst/>
                <a:rect l="0" t="0" r="r" b="b"/>
                <a:pathLst>
                  <a:path w="871220" h="274849" fill="norm" stroke="1" extrusionOk="0">
                    <a:moveTo>
                      <a:pt x="46673" y="228176"/>
                    </a:moveTo>
                    <a:lnTo>
                      <a:pt x="0" y="114088"/>
                    </a:lnTo>
                    <a:lnTo>
                      <a:pt x="352637" y="0"/>
                    </a:lnTo>
                    <a:lnTo>
                      <a:pt x="399309" y="114088"/>
                    </a:lnTo>
                    <a:moveTo>
                      <a:pt x="814176" y="274849"/>
                    </a:moveTo>
                    <a:lnTo>
                      <a:pt x="871220" y="150389"/>
                    </a:lnTo>
                    <a:lnTo>
                      <a:pt x="456353" y="0"/>
                    </a:lnTo>
                    <a:lnTo>
                      <a:pt x="399309" y="114088"/>
                    </a:lnTo>
                  </a:path>
                </a:pathLst>
              </a:custGeom>
              <a:solidFill>
                <a:srgbClr val="FFFFFF"/>
              </a:solidFill>
              <a:ln w="11409" cap="rnd" cmpd="sng" algn="ctr">
                <a:solidFill>
                  <a:srgbClr val="243E42"/>
                </a:solidFill>
                <a:prstDash val="solid"/>
                <a:round/>
                <a:headEnd type="none" w="med" len="med"/>
                <a:tailEnd type="none" w="med" len="med"/>
              </a:ln>
            </p:spPr>
          </p:sp>
          <p:sp>
            <p:nvSpPr>
              <p:cNvPr id="1042" name="path · 30"/>
              <p:cNvSpPr/>
              <p:nvPr/>
            </p:nvSpPr>
            <p:spPr>
              <a:xfrm>
                <a:off x="3596534" y="2097617"/>
                <a:ext cx="280035" cy="264478"/>
              </a:xfrm>
              <a:custGeom>
                <a:avLst/>
                <a:gdLst/>
                <a:ahLst/>
                <a:cxnLst/>
                <a:rect l="0" t="0" r="r" b="b"/>
                <a:pathLst>
                  <a:path w="280035" h="264478" fill="none" stroke="1" extrusionOk="0">
                    <a:moveTo>
                      <a:pt x="0" y="264477"/>
                    </a:moveTo>
                    <a:lnTo>
                      <a:pt x="0" y="140017"/>
                    </a:lnTo>
                    <a:cubicBezTo>
                      <a:pt x="0" y="62688"/>
                      <a:pt x="62688" y="0"/>
                      <a:pt x="140018" y="0"/>
                    </a:cubicBezTo>
                    <a:cubicBezTo>
                      <a:pt x="217347" y="0"/>
                      <a:pt x="280035" y="62688"/>
                      <a:pt x="280035" y="140017"/>
                    </a:cubicBezTo>
                    <a:lnTo>
                      <a:pt x="280035" y="264477"/>
                    </a:lnTo>
                  </a:path>
                </a:pathLst>
              </a:custGeom>
              <a:noFill/>
              <a:ln w="31115" cap="rnd" cmpd="sng" algn="ctr">
                <a:solidFill>
                  <a:srgbClr val="665180"/>
                </a:solidFill>
                <a:prstDash val="solid"/>
                <a:round/>
                <a:headEnd type="none" w="med" len="med"/>
                <a:tailEnd type="none" w="med" len="med"/>
              </a:ln>
            </p:spPr>
          </p:sp>
          <p:sp>
            <p:nvSpPr>
              <p:cNvPr id="1043" name="rect · 31"/>
              <p:cNvSpPr/>
              <p:nvPr/>
            </p:nvSpPr>
            <p:spPr>
              <a:xfrm>
                <a:off x="3560233"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4" name="rect · 32"/>
              <p:cNvSpPr/>
              <p:nvPr/>
            </p:nvSpPr>
            <p:spPr>
              <a:xfrm>
                <a:off x="3840268"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5" name="path · 33"/>
              <p:cNvSpPr/>
              <p:nvPr/>
            </p:nvSpPr>
            <p:spPr>
              <a:xfrm>
                <a:off x="3943985" y="2242820"/>
                <a:ext cx="176318" cy="207433"/>
              </a:xfrm>
              <a:custGeom>
                <a:avLst/>
                <a:gdLst/>
                <a:ahLst/>
                <a:cxnLst/>
                <a:rect l="0" t="0" r="r" b="b"/>
                <a:pathLst>
                  <a:path w="176318" h="207433" fill="none" stroke="1" extrusionOk="0">
                    <a:moveTo>
                      <a:pt x="0" y="88159"/>
                    </a:moveTo>
                    <a:quadBezTo>
                      <a:pt x="176318" y="0"/>
                      <a:pt x="140017" y="134832"/>
                    </a:quadBezTo>
                    <a:quadBezTo>
                      <a:pt x="114088" y="207433"/>
                      <a:pt x="25929" y="176318"/>
                    </a:quadBezTo>
                  </a:path>
                </a:pathLst>
              </a:custGeom>
              <a:noFill/>
              <a:ln w="20743" cap="rnd" cmpd="sng" algn="ctr">
                <a:solidFill>
                  <a:srgbClr val="2E6653"/>
                </a:solidFill>
                <a:prstDash val="solid"/>
                <a:round/>
                <a:headEnd type="none" w="med" len="med"/>
                <a:tailEnd type="none" w="med" len="med"/>
              </a:ln>
            </p:spPr>
          </p:sp>
          <p:sp>
            <p:nvSpPr>
              <p:cNvPr id="1046" name="path · 34"/>
              <p:cNvSpPr/>
              <p:nvPr/>
            </p:nvSpPr>
            <p:spPr>
              <a:xfrm>
                <a:off x="3933613" y="2305050"/>
                <a:ext cx="67416" cy="67416"/>
              </a:xfrm>
              <a:custGeom>
                <a:avLst/>
                <a:gdLst/>
                <a:ahLst/>
                <a:cxnLst/>
                <a:rect l="0" t="0" r="r" b="b"/>
                <a:pathLst>
                  <a:path w="67416" h="67416" fill="norm" stroke="1" extrusionOk="0">
                    <a:moveTo>
                      <a:pt x="0" y="25929"/>
                    </a:moveTo>
                    <a:lnTo>
                      <a:pt x="41487" y="0"/>
                    </a:lnTo>
                    <a:lnTo>
                      <a:pt x="67416" y="41487"/>
                    </a:lnTo>
                    <a:lnTo>
                      <a:pt x="25929" y="67416"/>
                    </a:lnTo>
                    <a:close/>
                  </a:path>
                </a:pathLst>
              </a:custGeom>
              <a:solidFill>
                <a:srgbClr val="D7EBE1"/>
              </a:solidFill>
              <a:ln w="11409" cap="rnd" cmpd="sng" algn="ctr">
                <a:solidFill>
                  <a:srgbClr val="243E42"/>
                </a:solidFill>
                <a:prstDash val="solid"/>
                <a:round/>
                <a:headEnd type="none" w="med" len="med"/>
                <a:tailEnd type="none" w="med" len="med"/>
              </a:ln>
            </p:spPr>
          </p:sp>
        </p:grpSp>
        <p:sp>
          <p:nvSpPr>
            <p:cNvPr id="1047" name="text · 36"/>
            <p:cNvSpPr txBox="1"/>
            <p:nvPr/>
          </p:nvSpPr>
          <p:spPr>
            <a:xfrm>
              <a:off x="4443412" y="2165350"/>
              <a:ext cx="16287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Whole-item return</a:t>
              </a:r>
              <a:endParaRPr lang="en-US" sz="1500"/>
            </a:p>
          </p:txBody>
        </p:sp>
        <p:sp>
          <p:nvSpPr>
            <p:cNvPr id="1048" name="text · 37"/>
            <p:cNvSpPr txBox="1"/>
            <p:nvPr/>
          </p:nvSpPr>
          <p:spPr>
            <a:xfrm>
              <a:off x="4443412" y="2444750"/>
              <a:ext cx="10826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“Return the kit”</a:t>
              </a:r>
              <a:endParaRPr lang="en-US" sz="1300"/>
            </a:p>
          </p:txBody>
        </p:sp>
        <p:grpSp>
          <p:nvGrpSpPr>
            <p:cNvPr id="1049" name="request-route · 40"/>
            <p:cNvGrpSpPr/>
            <p:nvPr/>
          </p:nvGrpSpPr>
          <p:grpSpPr>
            <a:xfrm>
              <a:off x="6261100" y="2451100"/>
              <a:ext cx="330200" cy="50800"/>
              <a:chOff x="6261100" y="2451100"/>
              <a:chExt cx="330200" cy="50800"/>
            </a:xfrm>
          </p:grpSpPr>
          <p:grpSp>
            <p:nvGrpSpPr>
              <p:cNvPr id="1050" name="path · 38 + arrowhead"/>
              <p:cNvGrpSpPr/>
              <p:nvPr/>
            </p:nvGrpSpPr>
            <p:grpSpPr>
              <a:xfrm>
                <a:off x="6261100" y="2451100"/>
                <a:ext cx="330200" cy="50800"/>
                <a:chOff x="6261100" y="2451100"/>
                <a:chExt cx="330200" cy="50800"/>
              </a:xfrm>
            </p:grpSpPr>
            <p:sp>
              <p:nvSpPr>
                <p:cNvPr id="1051" name="path · 38"/>
                <p:cNvSpPr/>
                <p:nvPr/>
              </p:nvSpPr>
              <p:spPr>
                <a:xfrm>
                  <a:off x="6261100" y="24765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52" name="arrow-blue_ink end"/>
                <p:cNvGrpSpPr/>
                <p:nvPr/>
              </p:nvGrpSpPr>
              <p:grpSpPr>
                <a:xfrm>
                  <a:off x="6543675" y="2451100"/>
                  <a:ext cx="47625" cy="50800"/>
                  <a:chOff x="6543675" y="2451100"/>
                  <a:chExt cx="47625" cy="50800"/>
                </a:xfrm>
              </p:grpSpPr>
              <p:sp>
                <p:nvSpPr>
                  <p:cNvPr id="1053" name="path · 39"/>
                  <p:cNvSpPr/>
                  <p:nvPr/>
                </p:nvSpPr>
                <p:spPr>
                  <a:xfrm>
                    <a:off x="6543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54" name="policy · 47"/>
            <p:cNvGrpSpPr/>
            <p:nvPr/>
          </p:nvGrpSpPr>
          <p:grpSpPr>
            <a:xfrm>
              <a:off x="6798451" y="2025332"/>
              <a:ext cx="701216" cy="701216"/>
              <a:chOff x="6798451" y="2025332"/>
              <a:chExt cx="701216" cy="701216"/>
            </a:xfrm>
          </p:grpSpPr>
          <p:sp>
            <p:nvSpPr>
              <p:cNvPr id="1055" name="rect · 41"/>
              <p:cNvSpPr/>
              <p:nvPr/>
            </p:nvSpPr>
            <p:spPr>
              <a:xfrm>
                <a:off x="6798451" y="2059658"/>
                <a:ext cx="559012" cy="647277"/>
              </a:xfrm>
              <a:prstGeom prst="roundRect">
                <a:avLst>
                  <a:gd name="adj" fmla="val 11404"/>
                </a:avLst>
              </a:prstGeom>
              <a:solidFill>
                <a:srgbClr val="E2EEF3"/>
              </a:solidFill>
              <a:ln w="10788" cap="rnd" cmpd="sng" algn="ctr">
                <a:solidFill>
                  <a:srgbClr val="243E42"/>
                </a:solidFill>
                <a:prstDash val="solid"/>
                <a:round/>
                <a:headEnd type="none" w="med" len="med"/>
                <a:tailEnd type="none" w="med" len="med"/>
              </a:ln>
            </p:spPr>
          </p:sp>
          <p:sp>
            <p:nvSpPr>
              <p:cNvPr id="1056" name="rect · 42"/>
              <p:cNvSpPr/>
              <p:nvPr/>
            </p:nvSpPr>
            <p:spPr>
              <a:xfrm>
                <a:off x="6857294" y="2123405"/>
                <a:ext cx="446229" cy="514879"/>
              </a:xfrm>
              <a:prstGeom prst="roundRect">
                <a:avLst>
                  <a:gd name="adj" fmla="val 6593"/>
                </a:avLst>
              </a:prstGeom>
              <a:solidFill>
                <a:srgbClr val="FFFFFF"/>
              </a:solidFill>
              <a:ln w="10788" cap="rnd" cmpd="sng" algn="ctr">
                <a:solidFill>
                  <a:srgbClr val="243E42"/>
                </a:solidFill>
                <a:prstDash val="solid"/>
                <a:round/>
                <a:headEnd type="none" w="med" len="med"/>
                <a:tailEnd type="none" w="med" len="med"/>
              </a:ln>
            </p:spPr>
          </p:sp>
          <p:sp>
            <p:nvSpPr>
              <p:cNvPr id="1057" name="path · 43"/>
              <p:cNvSpPr/>
              <p:nvPr/>
            </p:nvSpPr>
            <p:spPr>
              <a:xfrm>
                <a:off x="6979885" y="2025332"/>
                <a:ext cx="191241" cy="107879"/>
              </a:xfrm>
              <a:custGeom>
                <a:avLst/>
                <a:gdLst/>
                <a:ahLst/>
                <a:cxnLst/>
                <a:rect l="0" t="0" r="r" b="b"/>
                <a:pathLst>
                  <a:path w="191241" h="107879" fill="norm" stroke="1" extrusionOk="0">
                    <a:moveTo>
                      <a:pt x="0" y="0"/>
                    </a:moveTo>
                    <a:lnTo>
                      <a:pt x="191241" y="0"/>
                    </a:lnTo>
                    <a:lnTo>
                      <a:pt x="191241" y="107880"/>
                    </a:lnTo>
                    <a:lnTo>
                      <a:pt x="0" y="107880"/>
                    </a:lnTo>
                    <a:close/>
                  </a:path>
                </a:pathLst>
              </a:custGeom>
              <a:solidFill>
                <a:srgbClr val="D7EBE1"/>
              </a:solidFill>
              <a:ln w="10788" cap="rnd" cmpd="sng" algn="ctr">
                <a:solidFill>
                  <a:srgbClr val="243E42"/>
                </a:solidFill>
                <a:prstDash val="solid"/>
                <a:round/>
                <a:headEnd type="none" w="med" len="med"/>
                <a:tailEnd type="none" w="med" len="med"/>
              </a:ln>
            </p:spPr>
          </p:sp>
          <p:sp>
            <p:nvSpPr>
              <p:cNvPr id="1058" name="path · 44"/>
              <p:cNvSpPr/>
              <p:nvPr/>
            </p:nvSpPr>
            <p:spPr>
              <a:xfrm>
                <a:off x="6901427" y="2226381"/>
                <a:ext cx="313831" cy="372674"/>
              </a:xfrm>
              <a:custGeom>
                <a:avLst/>
                <a:gdLst/>
                <a:ahLst/>
                <a:cxnLst/>
                <a:rect l="0" t="0" r="r" b="b"/>
                <a:pathLst>
                  <a:path w="313831" h="372674" fill="none" stroke="1" extrusionOk="0">
                    <a:moveTo>
                      <a:pt x="0" y="34325"/>
                    </a:moveTo>
                    <a:lnTo>
                      <a:pt x="34325" y="68650"/>
                    </a:lnTo>
                    <a:lnTo>
                      <a:pt x="88265" y="0"/>
                    </a:lnTo>
                    <a:moveTo>
                      <a:pt x="0" y="186337"/>
                    </a:moveTo>
                    <a:lnTo>
                      <a:pt x="34325" y="220662"/>
                    </a:lnTo>
                    <a:lnTo>
                      <a:pt x="88265" y="152011"/>
                    </a:lnTo>
                    <a:moveTo>
                      <a:pt x="0" y="338349"/>
                    </a:moveTo>
                    <a:lnTo>
                      <a:pt x="34325" y="372674"/>
                    </a:lnTo>
                    <a:lnTo>
                      <a:pt x="88265" y="304023"/>
                    </a:lnTo>
                    <a:moveTo>
                      <a:pt x="152012" y="39228"/>
                    </a:moveTo>
                    <a:lnTo>
                      <a:pt x="313831" y="39228"/>
                    </a:lnTo>
                    <a:moveTo>
                      <a:pt x="152012" y="186337"/>
                    </a:moveTo>
                    <a:lnTo>
                      <a:pt x="313831" y="186337"/>
                    </a:lnTo>
                    <a:moveTo>
                      <a:pt x="152012" y="333445"/>
                    </a:moveTo>
                    <a:lnTo>
                      <a:pt x="250084" y="333445"/>
                    </a:lnTo>
                  </a:path>
                </a:pathLst>
              </a:custGeom>
              <a:noFill/>
              <a:ln w="19614" cap="rnd" cmpd="sng" algn="ctr">
                <a:solidFill>
                  <a:srgbClr val="2E6653"/>
                </a:solidFill>
                <a:prstDash val="solid"/>
                <a:round/>
                <a:headEnd type="none" w="med" len="med"/>
                <a:tailEnd type="none" w="med" len="med"/>
              </a:ln>
            </p:spPr>
          </p:sp>
          <p:sp>
            <p:nvSpPr>
              <p:cNvPr id="1059" name="circle · 45"/>
              <p:cNvSpPr/>
              <p:nvPr/>
            </p:nvSpPr>
            <p:spPr>
              <a:xfrm>
                <a:off x="7225065" y="2451947"/>
                <a:ext cx="274602" cy="274602"/>
              </a:xfrm>
              <a:prstGeom prst="ellipse">
                <a:avLst/>
              </a:prstGeom>
              <a:solidFill>
                <a:srgbClr val="F6EAC8"/>
              </a:solidFill>
              <a:ln w="10788" cap="rnd" cmpd="sng" algn="ctr">
                <a:solidFill>
                  <a:srgbClr val="243E42"/>
                </a:solidFill>
                <a:prstDash val="solid"/>
                <a:round/>
                <a:headEnd type="none" w="med" len="med"/>
                <a:tailEnd type="none" w="med" len="med"/>
              </a:ln>
            </p:spPr>
          </p:sp>
          <p:sp>
            <p:nvSpPr>
              <p:cNvPr id="1060" name="path · 46"/>
              <p:cNvSpPr/>
              <p:nvPr/>
            </p:nvSpPr>
            <p:spPr>
              <a:xfrm>
                <a:off x="7279005" y="2500983"/>
                <a:ext cx="166723" cy="161819"/>
              </a:xfrm>
              <a:custGeom>
                <a:avLst/>
                <a:gdLst/>
                <a:ahLst/>
                <a:cxnLst/>
                <a:rect l="0" t="0" r="r" b="b"/>
                <a:pathLst>
                  <a:path w="166723" h="161819" fill="norm" stroke="1" extrusionOk="0">
                    <a:moveTo>
                      <a:pt x="83361" y="0"/>
                    </a:moveTo>
                    <a:lnTo>
                      <a:pt x="107879" y="53939"/>
                    </a:lnTo>
                    <a:lnTo>
                      <a:pt x="166723" y="63747"/>
                    </a:lnTo>
                    <a:lnTo>
                      <a:pt x="122590" y="102976"/>
                    </a:lnTo>
                    <a:lnTo>
                      <a:pt x="132398" y="161819"/>
                    </a:lnTo>
                    <a:lnTo>
                      <a:pt x="83361" y="132397"/>
                    </a:lnTo>
                    <a:lnTo>
                      <a:pt x="29422" y="161819"/>
                    </a:lnTo>
                    <a:lnTo>
                      <a:pt x="44133" y="102976"/>
                    </a:lnTo>
                    <a:lnTo>
                      <a:pt x="0" y="63747"/>
                    </a:lnTo>
                    <a:lnTo>
                      <a:pt x="58843" y="53939"/>
                    </a:lnTo>
                    <a:close/>
                  </a:path>
                </a:pathLst>
              </a:custGeom>
              <a:solidFill>
                <a:srgbClr val="FFFFFF"/>
              </a:solidFill>
              <a:ln w="10788" cap="rnd" cmpd="sng" algn="ctr">
                <a:solidFill>
                  <a:srgbClr val="7A6025"/>
                </a:solidFill>
                <a:prstDash val="solid"/>
                <a:round/>
                <a:headEnd type="none" w="med" len="med"/>
                <a:tailEnd type="none" w="med" len="med"/>
              </a:ln>
            </p:spPr>
          </p:sp>
        </p:grpSp>
        <p:sp>
          <p:nvSpPr>
            <p:cNvPr id="1061" name="text · 48"/>
            <p:cNvSpPr txBox="1"/>
            <p:nvPr/>
          </p:nvSpPr>
          <p:spPr>
            <a:xfrm>
              <a:off x="6615112" y="2819400"/>
              <a:ext cx="9683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Return rules</a:t>
              </a:r>
              <a:endParaRPr lang="en-US" sz="1300"/>
            </a:p>
          </p:txBody>
        </p:sp>
        <p:grpSp>
          <p:nvGrpSpPr>
            <p:cNvPr id="1062" name="request-route · 51"/>
            <p:cNvGrpSpPr/>
            <p:nvPr/>
          </p:nvGrpSpPr>
          <p:grpSpPr>
            <a:xfrm>
              <a:off x="7569200" y="2451100"/>
              <a:ext cx="673100" cy="50800"/>
              <a:chOff x="7569200" y="2451100"/>
              <a:chExt cx="673100" cy="50800"/>
            </a:xfrm>
          </p:grpSpPr>
          <p:grpSp>
            <p:nvGrpSpPr>
              <p:cNvPr id="1063" name="path · 49 + arrowhead"/>
              <p:cNvGrpSpPr/>
              <p:nvPr/>
            </p:nvGrpSpPr>
            <p:grpSpPr>
              <a:xfrm>
                <a:off x="7569200" y="2451100"/>
                <a:ext cx="673100" cy="50800"/>
                <a:chOff x="7569200" y="2451100"/>
                <a:chExt cx="673100" cy="50800"/>
              </a:xfrm>
            </p:grpSpPr>
            <p:sp>
              <p:nvSpPr>
                <p:cNvPr id="1064" name="path · 49"/>
                <p:cNvSpPr/>
                <p:nvPr/>
              </p:nvSpPr>
              <p:spPr>
                <a:xfrm>
                  <a:off x="7569200" y="24765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65" name="arrow-green end"/>
                <p:cNvGrpSpPr/>
                <p:nvPr/>
              </p:nvGrpSpPr>
              <p:grpSpPr>
                <a:xfrm>
                  <a:off x="8194675" y="2451100"/>
                  <a:ext cx="47625" cy="50800"/>
                  <a:chOff x="8194675" y="2451100"/>
                  <a:chExt cx="47625" cy="50800"/>
                </a:xfrm>
              </p:grpSpPr>
              <p:sp>
                <p:nvSpPr>
                  <p:cNvPr id="1066" name="path · 50"/>
                  <p:cNvSpPr/>
                  <p:nvPr/>
                </p:nvSpPr>
                <p:spPr>
                  <a:xfrm>
                    <a:off x="8194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67" name="exchange · 57"/>
            <p:cNvGrpSpPr/>
            <p:nvPr/>
          </p:nvGrpSpPr>
          <p:grpSpPr>
            <a:xfrm>
              <a:off x="3446145" y="3110336"/>
              <a:ext cx="746760" cy="819362"/>
              <a:chOff x="3446145" y="3110336"/>
              <a:chExt cx="746760" cy="819362"/>
            </a:xfrm>
          </p:grpSpPr>
          <p:sp>
            <p:nvSpPr>
              <p:cNvPr id="1068" name="path · 52"/>
              <p:cNvSpPr/>
              <p:nvPr/>
            </p:nvSpPr>
            <p:spPr>
              <a:xfrm>
                <a:off x="3523933" y="3110336"/>
                <a:ext cx="414867" cy="165947"/>
              </a:xfrm>
              <a:custGeom>
                <a:avLst/>
                <a:gdLst/>
                <a:ahLst/>
                <a:cxnLst/>
                <a:rect l="0" t="0" r="r" b="b"/>
                <a:pathLst>
                  <a:path w="414867" h="165947" fill="none" stroke="1" extrusionOk="0">
                    <a:moveTo>
                      <a:pt x="0" y="165947"/>
                    </a:moveTo>
                    <a:quadBezTo>
                      <a:pt x="88159" y="46672"/>
                      <a:pt x="233362" y="46672"/>
                    </a:quadBezTo>
                    <a:lnTo>
                      <a:pt x="409680" y="46672"/>
                    </a:lnTo>
                    <a:moveTo>
                      <a:pt x="347450" y="0"/>
                    </a:moveTo>
                    <a:lnTo>
                      <a:pt x="414866" y="46672"/>
                    </a:lnTo>
                    <a:lnTo>
                      <a:pt x="347450" y="98531"/>
                    </a:lnTo>
                  </a:path>
                </a:pathLst>
              </a:custGeom>
              <a:noFill/>
              <a:ln w="25929" cap="rnd" cmpd="sng" algn="ctr">
                <a:solidFill>
                  <a:srgbClr val="2E6653"/>
                </a:solidFill>
                <a:prstDash val="solid"/>
                <a:round/>
                <a:headEnd type="none" w="med" len="med"/>
                <a:tailEnd type="none" w="med" len="med"/>
              </a:ln>
            </p:spPr>
          </p:sp>
          <p:sp>
            <p:nvSpPr>
              <p:cNvPr id="1069" name="path · 53"/>
              <p:cNvSpPr/>
              <p:nvPr/>
            </p:nvSpPr>
            <p:spPr>
              <a:xfrm>
                <a:off x="3446145" y="3364442"/>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8E0F3"/>
              </a:solidFill>
              <a:ln w="11409" cap="rnd" cmpd="sng" algn="ctr">
                <a:solidFill>
                  <a:srgbClr val="243E42"/>
                </a:solidFill>
                <a:prstDash val="solid"/>
                <a:round/>
                <a:headEnd type="none" w="med" len="med"/>
                <a:tailEnd type="none" w="med" len="med"/>
              </a:ln>
            </p:spPr>
          </p:sp>
          <p:sp>
            <p:nvSpPr>
              <p:cNvPr id="1070" name="path · 54"/>
              <p:cNvSpPr/>
              <p:nvPr/>
            </p:nvSpPr>
            <p:spPr>
              <a:xfrm>
                <a:off x="3824711" y="3385185"/>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2EEF3"/>
              </a:solidFill>
              <a:ln w="11409" cap="rnd" cmpd="sng" algn="ctr">
                <a:solidFill>
                  <a:srgbClr val="243E42"/>
                </a:solidFill>
                <a:prstDash val="solid"/>
                <a:round/>
                <a:headEnd type="none" w="med" len="med"/>
                <a:tailEnd type="none" w="med" len="med"/>
              </a:ln>
            </p:spPr>
          </p:sp>
          <p:sp>
            <p:nvSpPr>
              <p:cNvPr id="1071" name="path · 55"/>
              <p:cNvSpPr/>
              <p:nvPr/>
            </p:nvSpPr>
            <p:spPr>
              <a:xfrm>
                <a:off x="3508375" y="3390371"/>
                <a:ext cx="606742" cy="233363"/>
              </a:xfrm>
              <a:custGeom>
                <a:avLst/>
                <a:gdLst/>
                <a:ahLst/>
                <a:cxnLst/>
                <a:rect l="0" t="0" r="r" b="b"/>
                <a:pathLst>
                  <a:path w="606742" h="233363" fill="norm" stroke="1" extrusionOk="0">
                    <a:moveTo>
                      <a:pt x="62230" y="0"/>
                    </a:moveTo>
                    <a:lnTo>
                      <a:pt x="233363" y="93345"/>
                    </a:lnTo>
                    <a:lnTo>
                      <a:pt x="233363" y="191876"/>
                    </a:lnTo>
                    <a:lnTo>
                      <a:pt x="171133" y="217805"/>
                    </a:lnTo>
                    <a:lnTo>
                      <a:pt x="171133" y="114088"/>
                    </a:lnTo>
                    <a:lnTo>
                      <a:pt x="0" y="31115"/>
                    </a:lnTo>
                    <a:moveTo>
                      <a:pt x="440796" y="20743"/>
                    </a:moveTo>
                    <a:lnTo>
                      <a:pt x="606742" y="108902"/>
                    </a:lnTo>
                    <a:lnTo>
                      <a:pt x="606742" y="207433"/>
                    </a:lnTo>
                    <a:lnTo>
                      <a:pt x="544513" y="233362"/>
                    </a:lnTo>
                    <a:lnTo>
                      <a:pt x="544513" y="134831"/>
                    </a:lnTo>
                    <a:lnTo>
                      <a:pt x="373380" y="51858"/>
                    </a:lnTo>
                  </a:path>
                </a:pathLst>
              </a:custGeom>
              <a:solidFill>
                <a:srgbClr val="FFFFFF"/>
              </a:solidFill>
              <a:ln w="11409" cap="rnd" cmpd="sng" algn="ctr">
                <a:solidFill>
                  <a:srgbClr val="243E42"/>
                </a:solidFill>
                <a:prstDash val="solid"/>
                <a:round/>
                <a:headEnd type="none" w="med" len="med"/>
                <a:tailEnd type="none" w="med" len="med"/>
              </a:ln>
            </p:spPr>
          </p:sp>
          <p:sp>
            <p:nvSpPr>
              <p:cNvPr id="1072" name="path · 56"/>
              <p:cNvSpPr/>
              <p:nvPr/>
            </p:nvSpPr>
            <p:spPr>
              <a:xfrm>
                <a:off x="3736552" y="3800052"/>
                <a:ext cx="383752" cy="129646"/>
              </a:xfrm>
              <a:custGeom>
                <a:avLst/>
                <a:gdLst/>
                <a:ahLst/>
                <a:cxnLst/>
                <a:rect l="0" t="0" r="r" b="b"/>
                <a:pathLst>
                  <a:path w="383752" h="129646" fill="none" stroke="1" extrusionOk="0">
                    <a:moveTo>
                      <a:pt x="383751" y="0"/>
                    </a:moveTo>
                    <a:quadBezTo>
                      <a:pt x="295592" y="82973"/>
                      <a:pt x="181504" y="82973"/>
                    </a:quadBezTo>
                    <a:lnTo>
                      <a:pt x="5186" y="82973"/>
                    </a:lnTo>
                    <a:moveTo>
                      <a:pt x="67415" y="31115"/>
                    </a:moveTo>
                    <a:lnTo>
                      <a:pt x="0" y="82973"/>
                    </a:lnTo>
                    <a:lnTo>
                      <a:pt x="67415" y="129646"/>
                    </a:lnTo>
                  </a:path>
                </a:pathLst>
              </a:custGeom>
              <a:noFill/>
              <a:ln w="25929" cap="rnd" cmpd="sng" algn="ctr">
                <a:solidFill>
                  <a:srgbClr val="2E6653"/>
                </a:solidFill>
                <a:prstDash val="solid"/>
                <a:round/>
                <a:headEnd type="none" w="med" len="med"/>
                <a:tailEnd type="none" w="med" len="med"/>
              </a:ln>
            </p:spPr>
          </p:sp>
        </p:grpSp>
        <p:sp>
          <p:nvSpPr>
            <p:cNvPr id="1073" name="text · 58"/>
            <p:cNvSpPr txBox="1"/>
            <p:nvPr/>
          </p:nvSpPr>
          <p:spPr>
            <a:xfrm>
              <a:off x="4443412" y="3276600"/>
              <a:ext cx="904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sp>
          <p:nvSpPr>
            <p:cNvPr id="1074" name="text · 59"/>
            <p:cNvSpPr txBox="1"/>
            <p:nvPr/>
          </p:nvSpPr>
          <p:spPr>
            <a:xfrm>
              <a:off x="4443412" y="3556000"/>
              <a:ext cx="11080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“Swap for blue”</a:t>
              </a:r>
              <a:endParaRPr lang="en-US" sz="1300"/>
            </a:p>
          </p:txBody>
        </p:sp>
        <p:grpSp>
          <p:nvGrpSpPr>
            <p:cNvPr id="1075" name="request-route · 62"/>
            <p:cNvGrpSpPr/>
            <p:nvPr/>
          </p:nvGrpSpPr>
          <p:grpSpPr>
            <a:xfrm>
              <a:off x="6261100" y="3562350"/>
              <a:ext cx="330200" cy="50800"/>
              <a:chOff x="6261100" y="3562350"/>
              <a:chExt cx="330200" cy="50800"/>
            </a:xfrm>
          </p:grpSpPr>
          <p:grpSp>
            <p:nvGrpSpPr>
              <p:cNvPr id="1076" name="path · 60 + arrowhead"/>
              <p:cNvGrpSpPr/>
              <p:nvPr/>
            </p:nvGrpSpPr>
            <p:grpSpPr>
              <a:xfrm>
                <a:off x="6261100" y="3562350"/>
                <a:ext cx="330200" cy="50800"/>
                <a:chOff x="6261100" y="3562350"/>
                <a:chExt cx="330200" cy="50800"/>
              </a:xfrm>
            </p:grpSpPr>
            <p:sp>
              <p:nvSpPr>
                <p:cNvPr id="1077" name="path · 60"/>
                <p:cNvSpPr/>
                <p:nvPr/>
              </p:nvSpPr>
              <p:spPr>
                <a:xfrm>
                  <a:off x="6261100" y="358775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78" name="arrow-blue_ink end"/>
                <p:cNvGrpSpPr/>
                <p:nvPr/>
              </p:nvGrpSpPr>
              <p:grpSpPr>
                <a:xfrm>
                  <a:off x="6543675" y="3562350"/>
                  <a:ext cx="47625" cy="50800"/>
                  <a:chOff x="6543675" y="3562350"/>
                  <a:chExt cx="47625" cy="50800"/>
                </a:xfrm>
              </p:grpSpPr>
              <p:sp>
                <p:nvSpPr>
                  <p:cNvPr id="1079" name="path · 61"/>
                  <p:cNvSpPr/>
                  <p:nvPr/>
                </p:nvSpPr>
                <p:spPr>
                  <a:xfrm>
                    <a:off x="6543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80" name="inventory · 69"/>
            <p:cNvGrpSpPr/>
            <p:nvPr/>
          </p:nvGrpSpPr>
          <p:grpSpPr>
            <a:xfrm>
              <a:off x="6749415" y="3190522"/>
              <a:ext cx="706120" cy="637469"/>
              <a:chOff x="6749415" y="3190522"/>
              <a:chExt cx="706120" cy="637469"/>
            </a:xfrm>
          </p:grpSpPr>
          <p:sp>
            <p:nvSpPr>
              <p:cNvPr id="1081" name="path · 63"/>
              <p:cNvSpPr/>
              <p:nvPr/>
            </p:nvSpPr>
            <p:spPr>
              <a:xfrm>
                <a:off x="6749415" y="3190522"/>
                <a:ext cx="706120" cy="637469"/>
              </a:xfrm>
              <a:custGeom>
                <a:avLst/>
                <a:gdLst/>
                <a:ahLst/>
                <a:cxnLst/>
                <a:rect l="0" t="0" r="r" b="b"/>
                <a:pathLst>
                  <a:path w="706120" h="637469" fill="none" stroke="1" extrusionOk="0">
                    <a:moveTo>
                      <a:pt x="0" y="0"/>
                    </a:moveTo>
                    <a:lnTo>
                      <a:pt x="0" y="637470"/>
                    </a:lnTo>
                    <a:moveTo>
                      <a:pt x="706120" y="0"/>
                    </a:moveTo>
                    <a:lnTo>
                      <a:pt x="706120" y="637470"/>
                    </a:lnTo>
                    <a:moveTo>
                      <a:pt x="0" y="264795"/>
                    </a:moveTo>
                    <a:lnTo>
                      <a:pt x="706120" y="264795"/>
                    </a:lnTo>
                    <a:moveTo>
                      <a:pt x="0" y="568819"/>
                    </a:moveTo>
                    <a:lnTo>
                      <a:pt x="706120" y="568819"/>
                    </a:lnTo>
                  </a:path>
                </a:pathLst>
              </a:custGeom>
              <a:noFill/>
              <a:ln w="24518" cap="rnd" cmpd="sng" algn="ctr">
                <a:solidFill>
                  <a:srgbClr val="243E42"/>
                </a:solidFill>
                <a:prstDash val="solid"/>
                <a:round/>
                <a:headEnd type="none" w="med" len="med"/>
                <a:tailEnd type="none" w="med" len="med"/>
              </a:ln>
            </p:spPr>
          </p:sp>
          <p:sp>
            <p:nvSpPr>
              <p:cNvPr id="1082" name="path · 64"/>
              <p:cNvSpPr/>
              <p:nvPr/>
            </p:nvSpPr>
            <p:spPr>
              <a:xfrm>
                <a:off x="6818066" y="3239558"/>
                <a:ext cx="554108" cy="210855"/>
              </a:xfrm>
              <a:custGeom>
                <a:avLst/>
                <a:gdLst/>
                <a:ahLst/>
                <a:cxnLst/>
                <a:rect l="0" t="0" r="r" b="b"/>
                <a:pathLst>
                  <a:path w="554108" h="210855" fill="norm" stroke="1" extrusionOk="0">
                    <a:moveTo>
                      <a:pt x="0" y="0"/>
                    </a:moveTo>
                    <a:lnTo>
                      <a:pt x="210855" y="0"/>
                    </a:lnTo>
                    <a:lnTo>
                      <a:pt x="210855" y="210856"/>
                    </a:lnTo>
                    <a:lnTo>
                      <a:pt x="0" y="210856"/>
                    </a:lnTo>
                    <a:close/>
                    <a:moveTo>
                      <a:pt x="304023" y="0"/>
                    </a:moveTo>
                    <a:lnTo>
                      <a:pt x="554108" y="0"/>
                    </a:lnTo>
                    <a:lnTo>
                      <a:pt x="554108" y="210856"/>
                    </a:lnTo>
                    <a:lnTo>
                      <a:pt x="304023" y="210856"/>
                    </a:lnTo>
                    <a:close/>
                  </a:path>
                </a:pathLst>
              </a:custGeom>
              <a:solidFill>
                <a:srgbClr val="E2EEF3"/>
              </a:solidFill>
              <a:ln w="10788" cap="rnd" cmpd="sng" algn="ctr">
                <a:solidFill>
                  <a:srgbClr val="243E42"/>
                </a:solidFill>
                <a:prstDash val="solid"/>
                <a:round/>
                <a:headEnd type="none" w="med" len="med"/>
                <a:tailEnd type="none" w="med" len="med"/>
              </a:ln>
            </p:spPr>
          </p:sp>
          <p:sp>
            <p:nvSpPr>
              <p:cNvPr id="1083" name="path · 65"/>
              <p:cNvSpPr/>
              <p:nvPr/>
            </p:nvSpPr>
            <p:spPr>
              <a:xfrm>
                <a:off x="6896523" y="3239558"/>
                <a:ext cx="377578" cy="63747"/>
              </a:xfrm>
              <a:custGeom>
                <a:avLst/>
                <a:gdLst/>
                <a:ahLst/>
                <a:cxnLst/>
                <a:rect l="0" t="0" r="r" b="b"/>
                <a:pathLst>
                  <a:path w="377578" h="63747" fill="norm" stroke="1" extrusionOk="0">
                    <a:moveTo>
                      <a:pt x="0" y="0"/>
                    </a:moveTo>
                    <a:lnTo>
                      <a:pt x="0" y="63747"/>
                    </a:lnTo>
                    <a:lnTo>
                      <a:pt x="58844" y="63747"/>
                    </a:lnTo>
                    <a:lnTo>
                      <a:pt x="58844" y="0"/>
                    </a:lnTo>
                    <a:moveTo>
                      <a:pt x="313831" y="0"/>
                    </a:moveTo>
                    <a:lnTo>
                      <a:pt x="313831" y="63747"/>
                    </a:lnTo>
                    <a:lnTo>
                      <a:pt x="377578" y="63747"/>
                    </a:lnTo>
                    <a:lnTo>
                      <a:pt x="377578" y="0"/>
                    </a:lnTo>
                  </a:path>
                </a:pathLst>
              </a:custGeom>
              <a:solidFill>
                <a:srgbClr val="FFFFFF"/>
              </a:solidFill>
              <a:ln w="10788" cap="rnd" cmpd="sng" algn="ctr">
                <a:solidFill>
                  <a:srgbClr val="243E42"/>
                </a:solidFill>
                <a:prstDash val="solid"/>
                <a:round/>
                <a:headEnd type="none" w="med" len="med"/>
                <a:tailEnd type="none" w="med" len="med"/>
              </a:ln>
            </p:spPr>
          </p:sp>
          <p:sp>
            <p:nvSpPr>
              <p:cNvPr id="1084" name="path · 66"/>
              <p:cNvSpPr/>
              <p:nvPr/>
            </p:nvSpPr>
            <p:spPr>
              <a:xfrm>
                <a:off x="6818066" y="3538679"/>
                <a:ext cx="554108" cy="215759"/>
              </a:xfrm>
              <a:custGeom>
                <a:avLst/>
                <a:gdLst/>
                <a:ahLst/>
                <a:cxnLst/>
                <a:rect l="0" t="0" r="r" b="b"/>
                <a:pathLst>
                  <a:path w="554108" h="215759" fill="norm" stroke="1" extrusionOk="0">
                    <a:moveTo>
                      <a:pt x="0" y="0"/>
                    </a:moveTo>
                    <a:lnTo>
                      <a:pt x="269698" y="0"/>
                    </a:lnTo>
                    <a:lnTo>
                      <a:pt x="269698" y="215759"/>
                    </a:lnTo>
                    <a:lnTo>
                      <a:pt x="0" y="215759"/>
                    </a:lnTo>
                    <a:close/>
                    <a:moveTo>
                      <a:pt x="357963" y="0"/>
                    </a:moveTo>
                    <a:lnTo>
                      <a:pt x="554108" y="0"/>
                    </a:lnTo>
                    <a:lnTo>
                      <a:pt x="554108" y="215759"/>
                    </a:lnTo>
                    <a:lnTo>
                      <a:pt x="357963" y="215759"/>
                    </a:lnTo>
                    <a:close/>
                  </a:path>
                </a:pathLst>
              </a:custGeom>
              <a:solidFill>
                <a:srgbClr val="F6EAC8"/>
              </a:solidFill>
              <a:ln w="10788" cap="rnd" cmpd="sng" algn="ctr">
                <a:solidFill>
                  <a:srgbClr val="243E42"/>
                </a:solidFill>
                <a:prstDash val="solid"/>
                <a:round/>
                <a:headEnd type="none" w="med" len="med"/>
                <a:tailEnd type="none" w="med" len="med"/>
              </a:ln>
            </p:spPr>
          </p:sp>
          <p:sp>
            <p:nvSpPr>
              <p:cNvPr id="1085" name="path · 67"/>
              <p:cNvSpPr/>
              <p:nvPr/>
            </p:nvSpPr>
            <p:spPr>
              <a:xfrm>
                <a:off x="6916138" y="3538679"/>
                <a:ext cx="387385" cy="73554"/>
              </a:xfrm>
              <a:custGeom>
                <a:avLst/>
                <a:gdLst/>
                <a:ahLst/>
                <a:cxnLst/>
                <a:rect l="0" t="0" r="r" b="b"/>
                <a:pathLst>
                  <a:path w="387385" h="73554" fill="norm" stroke="1" extrusionOk="0">
                    <a:moveTo>
                      <a:pt x="0" y="0"/>
                    </a:moveTo>
                    <a:lnTo>
                      <a:pt x="0" y="73554"/>
                    </a:lnTo>
                    <a:lnTo>
                      <a:pt x="63747" y="73554"/>
                    </a:lnTo>
                    <a:lnTo>
                      <a:pt x="63747" y="0"/>
                    </a:lnTo>
                    <a:moveTo>
                      <a:pt x="323638" y="0"/>
                    </a:moveTo>
                    <a:lnTo>
                      <a:pt x="323638" y="73554"/>
                    </a:lnTo>
                    <a:lnTo>
                      <a:pt x="387385" y="73554"/>
                    </a:lnTo>
                    <a:lnTo>
                      <a:pt x="387385" y="0"/>
                    </a:lnTo>
                  </a:path>
                </a:pathLst>
              </a:custGeom>
              <a:solidFill>
                <a:srgbClr val="FFFFFF"/>
              </a:solidFill>
              <a:ln w="10788" cap="rnd" cmpd="sng" algn="ctr">
                <a:solidFill>
                  <a:srgbClr val="243E42"/>
                </a:solidFill>
                <a:prstDash val="solid"/>
                <a:round/>
                <a:headEnd type="none" w="med" len="med"/>
                <a:tailEnd type="none" w="med" len="med"/>
              </a:ln>
            </p:spPr>
          </p:sp>
          <p:sp>
            <p:nvSpPr>
              <p:cNvPr id="1086" name="path · 68"/>
              <p:cNvSpPr/>
              <p:nvPr/>
            </p:nvSpPr>
            <p:spPr>
              <a:xfrm>
                <a:off x="6842584" y="3690691"/>
                <a:ext cx="460939" cy="1"/>
              </a:xfrm>
              <a:custGeom>
                <a:avLst/>
                <a:gdLst/>
                <a:ahLst/>
                <a:cxnLst/>
                <a:rect l="0" t="0" r="r" b="b"/>
                <a:pathLst>
                  <a:path w="460939" h="1" fill="none" stroke="1" extrusionOk="0">
                    <a:moveTo>
                      <a:pt x="0" y="0"/>
                    </a:moveTo>
                    <a:lnTo>
                      <a:pt x="156915" y="0"/>
                    </a:lnTo>
                    <a:moveTo>
                      <a:pt x="343252" y="0"/>
                    </a:moveTo>
                    <a:lnTo>
                      <a:pt x="460939" y="0"/>
                    </a:lnTo>
                  </a:path>
                </a:pathLst>
              </a:custGeom>
              <a:noFill/>
              <a:ln w="14711" cap="rnd" cmpd="sng" algn="ctr">
                <a:solidFill>
                  <a:srgbClr val="243E42"/>
                </a:solidFill>
                <a:prstDash val="solid"/>
                <a:round/>
                <a:headEnd type="none" w="med" len="med"/>
                <a:tailEnd type="none" w="med" len="med"/>
              </a:ln>
            </p:spPr>
          </p:sp>
        </p:grpSp>
        <p:sp>
          <p:nvSpPr>
            <p:cNvPr id="1087" name="text · 70"/>
            <p:cNvSpPr txBox="1"/>
            <p:nvPr/>
          </p:nvSpPr>
          <p:spPr>
            <a:xfrm>
              <a:off x="6570662" y="3930650"/>
              <a:ext cx="10572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Rules + stock</a:t>
              </a:r>
              <a:endParaRPr lang="en-US" sz="1300"/>
            </a:p>
          </p:txBody>
        </p:sp>
        <p:grpSp>
          <p:nvGrpSpPr>
            <p:cNvPr id="1088" name="request-route · 73"/>
            <p:cNvGrpSpPr/>
            <p:nvPr/>
          </p:nvGrpSpPr>
          <p:grpSpPr>
            <a:xfrm>
              <a:off x="7569200" y="3562350"/>
              <a:ext cx="673100" cy="50800"/>
              <a:chOff x="7569200" y="3562350"/>
              <a:chExt cx="673100" cy="50800"/>
            </a:xfrm>
          </p:grpSpPr>
          <p:grpSp>
            <p:nvGrpSpPr>
              <p:cNvPr id="1089" name="path · 71 + arrowhead"/>
              <p:cNvGrpSpPr/>
              <p:nvPr/>
            </p:nvGrpSpPr>
            <p:grpSpPr>
              <a:xfrm>
                <a:off x="7569200" y="3562350"/>
                <a:ext cx="673100" cy="50800"/>
                <a:chOff x="7569200" y="3562350"/>
                <a:chExt cx="673100" cy="50800"/>
              </a:xfrm>
            </p:grpSpPr>
            <p:sp>
              <p:nvSpPr>
                <p:cNvPr id="1090" name="path · 71"/>
                <p:cNvSpPr/>
                <p:nvPr/>
              </p:nvSpPr>
              <p:spPr>
                <a:xfrm>
                  <a:off x="7569200" y="358775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91" name="arrow-green end"/>
                <p:cNvGrpSpPr/>
                <p:nvPr/>
              </p:nvGrpSpPr>
              <p:grpSpPr>
                <a:xfrm>
                  <a:off x="8194675" y="3562350"/>
                  <a:ext cx="47625" cy="50800"/>
                  <a:chOff x="8194675" y="3562350"/>
                  <a:chExt cx="47625" cy="50800"/>
                </a:xfrm>
              </p:grpSpPr>
              <p:sp>
                <p:nvSpPr>
                  <p:cNvPr id="1092" name="path · 72"/>
                  <p:cNvSpPr/>
                  <p:nvPr/>
                </p:nvSpPr>
                <p:spPr>
                  <a:xfrm>
                    <a:off x="8194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93" name="kit-part · 81"/>
            <p:cNvGrpSpPr/>
            <p:nvPr/>
          </p:nvGrpSpPr>
          <p:grpSpPr>
            <a:xfrm>
              <a:off x="3440959" y="4309745"/>
              <a:ext cx="798618" cy="726017"/>
              <a:chOff x="3440959" y="4309745"/>
              <a:chExt cx="798618" cy="726017"/>
            </a:xfrm>
          </p:grpSpPr>
          <p:sp>
            <p:nvSpPr>
              <p:cNvPr id="1094" name="path · 74"/>
              <p:cNvSpPr/>
              <p:nvPr/>
            </p:nvSpPr>
            <p:spPr>
              <a:xfrm>
                <a:off x="3440959" y="4309745"/>
                <a:ext cx="539327" cy="528955"/>
              </a:xfrm>
              <a:custGeom>
                <a:avLst/>
                <a:gdLst/>
                <a:ahLst/>
                <a:cxnLst/>
                <a:rect l="0" t="0" r="r" b="b"/>
                <a:pathLst>
                  <a:path w="539327" h="528955" fill="norm" stroke="1" extrusionOk="0">
                    <a:moveTo>
                      <a:pt x="0" y="0"/>
                    </a:moveTo>
                    <a:lnTo>
                      <a:pt x="539327" y="0"/>
                    </a:lnTo>
                    <a:lnTo>
                      <a:pt x="539327" y="528955"/>
                    </a:lnTo>
                    <a:lnTo>
                      <a:pt x="0" y="528955"/>
                    </a:lnTo>
                    <a:close/>
                  </a:path>
                </a:pathLst>
              </a:custGeom>
              <a:solidFill>
                <a:srgbClr val="E2EEF3"/>
              </a:solidFill>
              <a:ln w="11409" cap="rnd" cmpd="sng" algn="ctr">
                <a:solidFill>
                  <a:srgbClr val="243E42"/>
                </a:solidFill>
                <a:custDash>
                  <a:ds d="272727" sp="272727"/>
                </a:custDash>
                <a:round/>
                <a:headEnd type="none" w="med" len="med"/>
                <a:tailEnd type="none" w="med" len="med"/>
              </a:ln>
            </p:spPr>
          </p:sp>
          <p:sp>
            <p:nvSpPr>
              <p:cNvPr id="1095" name="path · 75"/>
              <p:cNvSpPr/>
              <p:nvPr/>
            </p:nvSpPr>
            <p:spPr>
              <a:xfrm>
                <a:off x="3549862" y="4351232"/>
                <a:ext cx="280035" cy="238548"/>
              </a:xfrm>
              <a:custGeom>
                <a:avLst/>
                <a:gdLst/>
                <a:ahLst/>
                <a:cxnLst/>
                <a:rect l="0" t="0" r="r" b="b"/>
                <a:pathLst>
                  <a:path w="280035" h="238548" fill="none" stroke="1" extrusionOk="0">
                    <a:moveTo>
                      <a:pt x="0" y="238548"/>
                    </a:moveTo>
                    <a:lnTo>
                      <a:pt x="0" y="140017"/>
                    </a:lnTo>
                    <a:cubicBezTo>
                      <a:pt x="0" y="62688"/>
                      <a:pt x="62688" y="0"/>
                      <a:pt x="140017" y="0"/>
                    </a:cubicBezTo>
                    <a:cubicBezTo>
                      <a:pt x="217347" y="0"/>
                      <a:pt x="280035" y="62688"/>
                      <a:pt x="280035" y="140017"/>
                    </a:cubicBezTo>
                    <a:lnTo>
                      <a:pt x="280035" y="238548"/>
                    </a:lnTo>
                  </a:path>
                </a:pathLst>
              </a:custGeom>
              <a:noFill/>
              <a:ln w="31115" cap="rnd" cmpd="sng" algn="ctr">
                <a:solidFill>
                  <a:srgbClr val="665180"/>
                </a:solidFill>
                <a:prstDash val="solid"/>
                <a:round/>
                <a:headEnd type="none" w="med" len="med"/>
                <a:tailEnd type="none" w="med" len="med"/>
              </a:ln>
            </p:spPr>
          </p:sp>
          <p:sp>
            <p:nvSpPr>
              <p:cNvPr id="1096" name="rect · 76"/>
              <p:cNvSpPr/>
              <p:nvPr/>
            </p:nvSpPr>
            <p:spPr>
              <a:xfrm>
                <a:off x="3508375"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7" name="rect · 77"/>
              <p:cNvSpPr/>
              <p:nvPr/>
            </p:nvSpPr>
            <p:spPr>
              <a:xfrm>
                <a:off x="3788410"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8" name="circle · 78"/>
              <p:cNvSpPr/>
              <p:nvPr/>
            </p:nvSpPr>
            <p:spPr>
              <a:xfrm>
                <a:off x="3752109" y="4548293"/>
                <a:ext cx="487468" cy="487468"/>
              </a:xfrm>
              <a:prstGeom prst="ellipse">
                <a:avLst/>
              </a:prstGeom>
              <a:solidFill>
                <a:srgbClr val="D7EBE1"/>
              </a:solidFill>
              <a:ln w="15558" cap="rnd" cmpd="sng" algn="ctr">
                <a:solidFill>
                  <a:srgbClr val="2E6653"/>
                </a:solidFill>
                <a:prstDash val="solid"/>
                <a:round/>
                <a:headEnd type="none" w="med" len="med"/>
                <a:tailEnd type="none" w="med" len="med"/>
              </a:ln>
            </p:spPr>
          </p:sp>
          <p:sp>
            <p:nvSpPr>
              <p:cNvPr id="1099" name="path · 79"/>
              <p:cNvSpPr/>
              <p:nvPr/>
            </p:nvSpPr>
            <p:spPr>
              <a:xfrm>
                <a:off x="3850640" y="4569037"/>
                <a:ext cx="357823" cy="373380"/>
              </a:xfrm>
              <a:custGeom>
                <a:avLst/>
                <a:gdLst/>
                <a:ahLst/>
                <a:cxnLst/>
                <a:rect l="0" t="0" r="r" b="b"/>
                <a:pathLst>
                  <a:path w="357823" h="373380" fill="none" stroke="1" extrusionOk="0">
                    <a:moveTo>
                      <a:pt x="41487" y="186690"/>
                    </a:moveTo>
                    <a:cubicBezTo>
                      <a:pt x="181504" y="0"/>
                      <a:pt x="357822" y="264477"/>
                      <a:pt x="160761" y="326707"/>
                    </a:cubicBezTo>
                    <a:cubicBezTo>
                      <a:pt x="5186" y="373380"/>
                      <a:pt x="0" y="259291"/>
                      <a:pt x="103717" y="238548"/>
                    </a:cubicBezTo>
                  </a:path>
                </a:pathLst>
              </a:custGeom>
              <a:noFill/>
              <a:ln w="25929" cap="rnd" cmpd="sng" algn="ctr">
                <a:solidFill>
                  <a:srgbClr val="2E6653"/>
                </a:solidFill>
                <a:prstDash val="solid"/>
                <a:round/>
                <a:headEnd type="none" w="med" len="med"/>
                <a:tailEnd type="none" w="med" len="med"/>
              </a:ln>
            </p:spPr>
          </p:sp>
          <p:sp>
            <p:nvSpPr>
              <p:cNvPr id="1100" name="path · 80"/>
              <p:cNvSpPr/>
              <p:nvPr/>
            </p:nvSpPr>
            <p:spPr>
              <a:xfrm>
                <a:off x="3829897" y="4740169"/>
                <a:ext cx="197062" cy="98531"/>
              </a:xfrm>
              <a:custGeom>
                <a:avLst/>
                <a:gdLst/>
                <a:ahLst/>
                <a:cxnLst/>
                <a:rect l="0" t="0" r="r" b="b"/>
                <a:pathLst>
                  <a:path w="197062" h="98531" fill="norm" stroke="1" extrusionOk="0">
                    <a:moveTo>
                      <a:pt x="36301" y="0"/>
                    </a:moveTo>
                    <a:lnTo>
                      <a:pt x="93345" y="36301"/>
                    </a:lnTo>
                    <a:lnTo>
                      <a:pt x="57044" y="98531"/>
                    </a:lnTo>
                    <a:lnTo>
                      <a:pt x="0" y="62230"/>
                    </a:lnTo>
                    <a:close/>
                    <a:moveTo>
                      <a:pt x="129645" y="41487"/>
                    </a:moveTo>
                    <a:lnTo>
                      <a:pt x="197061" y="41487"/>
                    </a:lnTo>
                    <a:lnTo>
                      <a:pt x="197061" y="88159"/>
                    </a:lnTo>
                    <a:lnTo>
                      <a:pt x="129645" y="88159"/>
                    </a:lnTo>
                    <a:close/>
                  </a:path>
                </a:pathLst>
              </a:custGeom>
              <a:solidFill>
                <a:srgbClr val="FFFFFF"/>
              </a:solidFill>
              <a:ln w="11409" cap="rnd" cmpd="sng" algn="ctr">
                <a:solidFill>
                  <a:srgbClr val="2E6653"/>
                </a:solidFill>
                <a:prstDash val="solid"/>
                <a:round/>
                <a:headEnd type="none" w="med" len="med"/>
                <a:tailEnd type="none" w="med" len="med"/>
              </a:ln>
            </p:spPr>
          </p:sp>
        </p:grpSp>
        <p:sp>
          <p:nvSpPr>
            <p:cNvPr id="1101" name="text · 82"/>
            <p:cNvSpPr txBox="1"/>
            <p:nvPr/>
          </p:nvSpPr>
          <p:spPr>
            <a:xfrm>
              <a:off x="4443412" y="4387850"/>
              <a:ext cx="1285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Kit-part return</a:t>
              </a:r>
              <a:endParaRPr lang="en-US" sz="1500"/>
            </a:p>
          </p:txBody>
        </p:sp>
        <p:sp>
          <p:nvSpPr>
            <p:cNvPr id="1102" name="text · 83"/>
            <p:cNvSpPr txBox="1"/>
            <p:nvPr/>
          </p:nvSpPr>
          <p:spPr>
            <a:xfrm>
              <a:off x="4443412" y="4667250"/>
              <a:ext cx="115252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“Only the cable”</a:t>
              </a:r>
              <a:endParaRPr lang="en-US" sz="1300"/>
            </a:p>
          </p:txBody>
        </p:sp>
        <p:grpSp>
          <p:nvGrpSpPr>
            <p:cNvPr id="1103" name="request-route · 86"/>
            <p:cNvGrpSpPr/>
            <p:nvPr/>
          </p:nvGrpSpPr>
          <p:grpSpPr>
            <a:xfrm>
              <a:off x="6261100" y="4673600"/>
              <a:ext cx="330200" cy="50800"/>
              <a:chOff x="6261100" y="4673600"/>
              <a:chExt cx="330200" cy="50800"/>
            </a:xfrm>
          </p:grpSpPr>
          <p:grpSp>
            <p:nvGrpSpPr>
              <p:cNvPr id="1104" name="path · 84 + arrowhead"/>
              <p:cNvGrpSpPr/>
              <p:nvPr/>
            </p:nvGrpSpPr>
            <p:grpSpPr>
              <a:xfrm>
                <a:off x="6261100" y="4673600"/>
                <a:ext cx="330200" cy="50800"/>
                <a:chOff x="6261100" y="4673600"/>
                <a:chExt cx="330200" cy="50800"/>
              </a:xfrm>
            </p:grpSpPr>
            <p:sp>
              <p:nvSpPr>
                <p:cNvPr id="1105" name="path · 84"/>
                <p:cNvSpPr/>
                <p:nvPr/>
              </p:nvSpPr>
              <p:spPr>
                <a:xfrm>
                  <a:off x="6261100" y="46990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106" name="arrow-blue_ink end"/>
                <p:cNvGrpSpPr/>
                <p:nvPr/>
              </p:nvGrpSpPr>
              <p:grpSpPr>
                <a:xfrm>
                  <a:off x="6543675" y="4673600"/>
                  <a:ext cx="47625" cy="50800"/>
                  <a:chOff x="6543675" y="4673600"/>
                  <a:chExt cx="47625" cy="50800"/>
                </a:xfrm>
              </p:grpSpPr>
              <p:sp>
                <p:nvSpPr>
                  <p:cNvPr id="1107" name="path · 85"/>
                  <p:cNvSpPr/>
                  <p:nvPr/>
                </p:nvSpPr>
                <p:spPr>
                  <a:xfrm>
                    <a:off x="6543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08" name="kit-rules · 97"/>
            <p:cNvGrpSpPr/>
            <p:nvPr/>
          </p:nvGrpSpPr>
          <p:grpSpPr>
            <a:xfrm>
              <a:off x="6788644" y="4267447"/>
              <a:ext cx="696313" cy="671795"/>
              <a:chOff x="6788644" y="4267447"/>
              <a:chExt cx="696313" cy="671795"/>
            </a:xfrm>
          </p:grpSpPr>
          <p:sp>
            <p:nvSpPr>
              <p:cNvPr id="1109" name="path · 87"/>
              <p:cNvSpPr/>
              <p:nvPr/>
            </p:nvSpPr>
            <p:spPr>
              <a:xfrm>
                <a:off x="6788644" y="4267447"/>
                <a:ext cx="544301" cy="671795"/>
              </a:xfrm>
              <a:custGeom>
                <a:avLst/>
                <a:gdLst/>
                <a:ahLst/>
                <a:cxnLst/>
                <a:rect l="0" t="0" r="r" b="b"/>
                <a:pathLst>
                  <a:path w="544301" h="671795" fill="norm" stroke="1" extrusionOk="0">
                    <a:moveTo>
                      <a:pt x="0" y="0"/>
                    </a:moveTo>
                    <a:lnTo>
                      <a:pt x="544301" y="0"/>
                    </a:lnTo>
                    <a:lnTo>
                      <a:pt x="544301" y="671795"/>
                    </a:lnTo>
                    <a:lnTo>
                      <a:pt x="0" y="671795"/>
                    </a:lnTo>
                    <a:close/>
                  </a:path>
                </a:pathLst>
              </a:custGeom>
              <a:solidFill>
                <a:srgbClr val="FFFFFF"/>
              </a:solidFill>
              <a:ln w="10788" cap="rnd" cmpd="sng" algn="ctr">
                <a:solidFill>
                  <a:srgbClr val="243E42"/>
                </a:solidFill>
                <a:prstDash val="solid"/>
                <a:round/>
                <a:headEnd type="none" w="med" len="med"/>
                <a:tailEnd type="none" w="med" len="med"/>
              </a:ln>
            </p:spPr>
          </p:sp>
          <p:sp>
            <p:nvSpPr>
              <p:cNvPr id="1110" name="path · 88"/>
              <p:cNvSpPr/>
              <p:nvPr/>
            </p:nvSpPr>
            <p:spPr>
              <a:xfrm>
                <a:off x="6867102" y="4365519"/>
                <a:ext cx="372674" cy="68651"/>
              </a:xfrm>
              <a:custGeom>
                <a:avLst/>
                <a:gdLst/>
                <a:ahLst/>
                <a:cxnLst/>
                <a:rect l="0" t="0" r="r" b="b"/>
                <a:pathLst>
                  <a:path w="372674" h="68651" fill="none" stroke="1" extrusionOk="0">
                    <a:moveTo>
                      <a:pt x="0" y="0"/>
                    </a:moveTo>
                    <a:lnTo>
                      <a:pt x="372674" y="0"/>
                    </a:lnTo>
                    <a:moveTo>
                      <a:pt x="0" y="68651"/>
                    </a:moveTo>
                    <a:lnTo>
                      <a:pt x="254987" y="68651"/>
                    </a:lnTo>
                  </a:path>
                </a:pathLst>
              </a:custGeom>
              <a:noFill/>
              <a:ln w="19614" cap="rnd" cmpd="sng" algn="ctr">
                <a:solidFill>
                  <a:srgbClr val="243E42"/>
                </a:solidFill>
                <a:prstDash val="solid"/>
                <a:round/>
                <a:headEnd type="none" w="med" len="med"/>
                <a:tailEnd type="none" w="med" len="med"/>
              </a:ln>
            </p:spPr>
          </p:sp>
          <p:sp>
            <p:nvSpPr>
              <p:cNvPr id="1111" name="path · 89"/>
              <p:cNvSpPr/>
              <p:nvPr/>
            </p:nvSpPr>
            <p:spPr>
              <a:xfrm>
                <a:off x="6876909" y="4537146"/>
                <a:ext cx="284409" cy="240277"/>
              </a:xfrm>
              <a:custGeom>
                <a:avLst/>
                <a:gdLst/>
                <a:ahLst/>
                <a:cxnLst/>
                <a:rect l="0" t="0" r="r" b="b"/>
                <a:pathLst>
                  <a:path w="284409" h="240277" fill="norm" stroke="1" extrusionOk="0">
                    <a:moveTo>
                      <a:pt x="0" y="0"/>
                    </a:moveTo>
                    <a:lnTo>
                      <a:pt x="284409" y="0"/>
                    </a:lnTo>
                    <a:lnTo>
                      <a:pt x="284409" y="240276"/>
                    </a:lnTo>
                    <a:lnTo>
                      <a:pt x="0" y="240276"/>
                    </a:lnTo>
                    <a:close/>
                  </a:path>
                </a:pathLst>
              </a:custGeom>
              <a:solidFill>
                <a:srgbClr val="E2EEF3"/>
              </a:solidFill>
              <a:ln w="10788" cap="rnd" cmpd="sng" algn="ctr">
                <a:solidFill>
                  <a:srgbClr val="243E42"/>
                </a:solidFill>
                <a:custDash>
                  <a:ds d="227273" sp="227273"/>
                </a:custDash>
                <a:round/>
                <a:headEnd type="none" w="med" len="med"/>
                <a:tailEnd type="none" w="med" len="med"/>
              </a:ln>
            </p:spPr>
          </p:sp>
          <p:sp>
            <p:nvSpPr>
              <p:cNvPr id="1112" name="path · 90"/>
              <p:cNvSpPr/>
              <p:nvPr/>
            </p:nvSpPr>
            <p:spPr>
              <a:xfrm>
                <a:off x="6925945" y="4556760"/>
                <a:ext cx="127494" cy="137301"/>
              </a:xfrm>
              <a:custGeom>
                <a:avLst/>
                <a:gdLst/>
                <a:ahLst/>
                <a:cxnLst/>
                <a:rect l="0" t="0" r="r" b="b"/>
                <a:pathLst>
                  <a:path w="127494" h="137301" fill="none" stroke="1" extrusionOk="0">
                    <a:moveTo>
                      <a:pt x="0" y="137301"/>
                    </a:moveTo>
                    <a:lnTo>
                      <a:pt x="0" y="63747"/>
                    </a:lnTo>
                    <a:cubicBezTo>
                      <a:pt x="0" y="28540"/>
                      <a:pt x="28540" y="0"/>
                      <a:pt x="63747" y="0"/>
                    </a:cubicBezTo>
                    <a:cubicBezTo>
                      <a:pt x="98953" y="0"/>
                      <a:pt x="127494" y="28540"/>
                      <a:pt x="127494" y="63747"/>
                    </a:cubicBezTo>
                    <a:lnTo>
                      <a:pt x="127494" y="137301"/>
                    </a:lnTo>
                  </a:path>
                </a:pathLst>
              </a:custGeom>
              <a:noFill/>
              <a:ln w="19614" cap="rnd" cmpd="sng" algn="ctr">
                <a:solidFill>
                  <a:srgbClr val="665180"/>
                </a:solidFill>
                <a:prstDash val="solid"/>
                <a:round/>
                <a:headEnd type="none" w="med" len="med"/>
                <a:tailEnd type="none" w="med" len="med"/>
              </a:ln>
            </p:spPr>
          </p:sp>
          <p:sp>
            <p:nvSpPr>
              <p:cNvPr id="1113" name="rect · 91"/>
              <p:cNvSpPr/>
              <p:nvPr/>
            </p:nvSpPr>
            <p:spPr>
              <a:xfrm>
                <a:off x="6906331"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4" name="rect · 92"/>
              <p:cNvSpPr/>
              <p:nvPr/>
            </p:nvSpPr>
            <p:spPr>
              <a:xfrm>
                <a:off x="7033824"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5" name="circle · 93"/>
              <p:cNvSpPr/>
              <p:nvPr/>
            </p:nvSpPr>
            <p:spPr>
              <a:xfrm>
                <a:off x="7200547" y="4615603"/>
                <a:ext cx="284409" cy="284409"/>
              </a:xfrm>
              <a:prstGeom prst="ellipse">
                <a:avLst/>
              </a:prstGeom>
              <a:solidFill>
                <a:srgbClr val="D7EBE1"/>
              </a:solidFill>
              <a:ln w="10788" cap="rnd" cmpd="sng" algn="ctr">
                <a:solidFill>
                  <a:srgbClr val="2E6653"/>
                </a:solidFill>
                <a:prstDash val="solid"/>
                <a:round/>
                <a:headEnd type="none" w="med" len="med"/>
                <a:tailEnd type="none" w="med" len="med"/>
              </a:ln>
            </p:spPr>
          </p:sp>
          <p:sp>
            <p:nvSpPr>
              <p:cNvPr id="1116" name="path · 94"/>
              <p:cNvSpPr/>
              <p:nvPr/>
            </p:nvSpPr>
            <p:spPr>
              <a:xfrm>
                <a:off x="7274101" y="4615603"/>
                <a:ext cx="147108" cy="230470"/>
              </a:xfrm>
              <a:custGeom>
                <a:avLst/>
                <a:gdLst/>
                <a:ahLst/>
                <a:cxnLst/>
                <a:rect l="0" t="0" r="r" b="b"/>
                <a:pathLst>
                  <a:path w="147108" h="230470" fill="none" stroke="1" extrusionOk="0">
                    <a:moveTo>
                      <a:pt x="0" y="117687"/>
                    </a:moveTo>
                    <a:quadBezTo>
                      <a:pt x="127494" y="0"/>
                      <a:pt x="147109" y="132398"/>
                    </a:quadBezTo>
                    <a:quadBezTo>
                      <a:pt x="147109" y="230470"/>
                      <a:pt x="19615" y="191241"/>
                    </a:quadBezTo>
                  </a:path>
                </a:pathLst>
              </a:custGeom>
              <a:noFill/>
              <a:ln w="19614" cap="rnd" cmpd="sng" algn="ctr">
                <a:solidFill>
                  <a:srgbClr val="2E6653"/>
                </a:solidFill>
                <a:prstDash val="solid"/>
                <a:round/>
                <a:headEnd type="none" w="med" len="med"/>
                <a:tailEnd type="none" w="med" len="med"/>
              </a:ln>
            </p:spPr>
          </p:sp>
          <p:sp>
            <p:nvSpPr>
              <p:cNvPr id="1117" name="path · 95"/>
              <p:cNvSpPr/>
              <p:nvPr/>
            </p:nvSpPr>
            <p:spPr>
              <a:xfrm>
                <a:off x="7254487" y="4733290"/>
                <a:ext cx="78458" cy="127494"/>
              </a:xfrm>
              <a:custGeom>
                <a:avLst/>
                <a:gdLst/>
                <a:ahLst/>
                <a:cxnLst/>
                <a:rect l="0" t="0" r="r" b="b"/>
                <a:pathLst>
                  <a:path w="78458" h="127494" fill="norm" stroke="1" extrusionOk="0">
                    <a:moveTo>
                      <a:pt x="0" y="0"/>
                    </a:moveTo>
                    <a:lnTo>
                      <a:pt x="49036" y="0"/>
                    </a:lnTo>
                    <a:lnTo>
                      <a:pt x="49036" y="44132"/>
                    </a:lnTo>
                    <a:lnTo>
                      <a:pt x="0" y="44132"/>
                    </a:lnTo>
                    <a:close/>
                    <a:moveTo>
                      <a:pt x="29422" y="88265"/>
                    </a:moveTo>
                    <a:lnTo>
                      <a:pt x="78458" y="88265"/>
                    </a:lnTo>
                    <a:lnTo>
                      <a:pt x="78458" y="127494"/>
                    </a:lnTo>
                    <a:lnTo>
                      <a:pt x="29422" y="127494"/>
                    </a:lnTo>
                    <a:close/>
                  </a:path>
                </a:pathLst>
              </a:custGeom>
              <a:solidFill>
                <a:srgbClr val="FFFFFF"/>
              </a:solidFill>
              <a:ln w="10788" cap="rnd" cmpd="sng" algn="ctr">
                <a:solidFill>
                  <a:srgbClr val="243E42"/>
                </a:solidFill>
                <a:prstDash val="solid"/>
                <a:round/>
                <a:headEnd type="none" w="med" len="med"/>
                <a:tailEnd type="none" w="med" len="med"/>
              </a:ln>
            </p:spPr>
          </p:sp>
          <p:sp>
            <p:nvSpPr>
              <p:cNvPr id="1118" name="path · 96"/>
              <p:cNvSpPr/>
              <p:nvPr/>
            </p:nvSpPr>
            <p:spPr>
              <a:xfrm>
                <a:off x="6872005" y="4846073"/>
                <a:ext cx="299120" cy="1"/>
              </a:xfrm>
              <a:custGeom>
                <a:avLst/>
                <a:gdLst/>
                <a:ahLst/>
                <a:cxnLst/>
                <a:rect l="0" t="0" r="r" b="b"/>
                <a:pathLst>
                  <a:path w="299120" h="1" fill="none" stroke="1" extrusionOk="0">
                    <a:moveTo>
                      <a:pt x="0" y="0"/>
                    </a:moveTo>
                    <a:lnTo>
                      <a:pt x="299121" y="0"/>
                    </a:lnTo>
                  </a:path>
                </a:pathLst>
              </a:custGeom>
              <a:noFill/>
              <a:ln w="19614" cap="rnd" cmpd="sng" algn="ctr">
                <a:solidFill>
                  <a:srgbClr val="243E42"/>
                </a:solidFill>
                <a:prstDash val="solid"/>
                <a:round/>
                <a:headEnd type="none" w="med" len="med"/>
                <a:tailEnd type="none" w="med" len="med"/>
              </a:ln>
            </p:spPr>
          </p:sp>
        </p:grpSp>
        <p:sp>
          <p:nvSpPr>
            <p:cNvPr id="1119" name="text · 98"/>
            <p:cNvSpPr txBox="1"/>
            <p:nvPr/>
          </p:nvSpPr>
          <p:spPr>
            <a:xfrm>
              <a:off x="6586537" y="5041900"/>
              <a:ext cx="10255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Kit-part rules</a:t>
              </a:r>
              <a:endParaRPr lang="en-US" sz="1300"/>
            </a:p>
          </p:txBody>
        </p:sp>
        <p:grpSp>
          <p:nvGrpSpPr>
            <p:cNvPr id="1120" name="request-route · 101"/>
            <p:cNvGrpSpPr/>
            <p:nvPr/>
          </p:nvGrpSpPr>
          <p:grpSpPr>
            <a:xfrm>
              <a:off x="7569200" y="4673600"/>
              <a:ext cx="673100" cy="50800"/>
              <a:chOff x="7569200" y="4673600"/>
              <a:chExt cx="673100" cy="50800"/>
            </a:xfrm>
          </p:grpSpPr>
          <p:grpSp>
            <p:nvGrpSpPr>
              <p:cNvPr id="1121" name="path · 99 + arrowhead"/>
              <p:cNvGrpSpPr/>
              <p:nvPr/>
            </p:nvGrpSpPr>
            <p:grpSpPr>
              <a:xfrm>
                <a:off x="7569200" y="4673600"/>
                <a:ext cx="673100" cy="50800"/>
                <a:chOff x="7569200" y="4673600"/>
                <a:chExt cx="673100" cy="50800"/>
              </a:xfrm>
            </p:grpSpPr>
            <p:sp>
              <p:nvSpPr>
                <p:cNvPr id="1122" name="path · 99"/>
                <p:cNvSpPr/>
                <p:nvPr/>
              </p:nvSpPr>
              <p:spPr>
                <a:xfrm>
                  <a:off x="7569200" y="46990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123" name="arrow-green end"/>
                <p:cNvGrpSpPr/>
                <p:nvPr/>
              </p:nvGrpSpPr>
              <p:grpSpPr>
                <a:xfrm>
                  <a:off x="8194675" y="4673600"/>
                  <a:ext cx="47625" cy="50800"/>
                  <a:chOff x="8194675" y="4673600"/>
                  <a:chExt cx="47625" cy="50800"/>
                </a:xfrm>
              </p:grpSpPr>
              <p:sp>
                <p:nvSpPr>
                  <p:cNvPr id="1124" name="path · 100"/>
                  <p:cNvSpPr/>
                  <p:nvPr/>
                </p:nvSpPr>
                <p:spPr>
                  <a:xfrm>
                    <a:off x="8194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125" name="request-route · 103"/>
            <p:cNvGrpSpPr/>
            <p:nvPr/>
          </p:nvGrpSpPr>
          <p:grpSpPr>
            <a:xfrm>
              <a:off x="8242300" y="2476500"/>
              <a:ext cx="1" cy="2222500"/>
              <a:chOff x="8242300" y="2476500"/>
              <a:chExt cx="1" cy="2222500"/>
            </a:xfrm>
          </p:grpSpPr>
          <p:sp>
            <p:nvSpPr>
              <p:cNvPr id="1126" name="path · 102"/>
              <p:cNvSpPr/>
              <p:nvPr/>
            </p:nvSpPr>
            <p:spPr>
              <a:xfrm>
                <a:off x="8242300" y="2476500"/>
                <a:ext cx="1" cy="2222500"/>
              </a:xfrm>
              <a:custGeom>
                <a:avLst/>
                <a:gdLst/>
                <a:ahLst/>
                <a:cxnLst/>
                <a:rect l="0" t="0" r="r" b="b"/>
                <a:pathLst>
                  <a:path w="1" h="2222500" fill="none" stroke="1" extrusionOk="0">
                    <a:moveTo>
                      <a:pt x="0" y="0"/>
                    </a:moveTo>
                    <a:lnTo>
                      <a:pt x="0" y="2222500"/>
                    </a:lnTo>
                  </a:path>
                </a:pathLst>
              </a:custGeom>
              <a:noFill/>
              <a:ln w="22225" cap="rnd" cmpd="sng" algn="ctr">
                <a:solidFill>
                  <a:srgbClr val="2E6653"/>
                </a:solidFill>
                <a:prstDash val="solid"/>
                <a:round/>
                <a:headEnd type="none" w="med" len="med"/>
                <a:tailEnd type="none" w="med" len="med"/>
              </a:ln>
            </p:spPr>
          </p:sp>
        </p:grpSp>
        <p:sp>
          <p:nvSpPr>
            <p:cNvPr id="1127" name="circle · 104"/>
            <p:cNvSpPr/>
            <p:nvPr/>
          </p:nvSpPr>
          <p:spPr>
            <a:xfrm>
              <a:off x="8210550" y="3556000"/>
              <a:ext cx="63500" cy="63500"/>
            </a:xfrm>
            <a:prstGeom prst="ellipse">
              <a:avLst/>
            </a:prstGeom>
            <a:solidFill>
              <a:srgbClr val="2E6653"/>
            </a:solidFill>
            <a:ln>
              <a:noFill/>
            </a:ln>
          </p:spPr>
        </p:sp>
        <p:sp>
          <p:nvSpPr>
            <p:cNvPr id="1128" name="text · 105"/>
            <p:cNvSpPr txBox="1"/>
            <p:nvPr/>
          </p:nvSpPr>
          <p:spPr>
            <a:xfrm>
              <a:off x="7646987" y="2120900"/>
              <a:ext cx="11652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Eligible quotes</a:t>
              </a:r>
              <a:endParaRPr lang="en-US" sz="1300"/>
            </a:p>
          </p:txBody>
        </p:sp>
        <p:grpSp>
          <p:nvGrpSpPr>
            <p:cNvPr id="1129" name="request-route · 108"/>
            <p:cNvGrpSpPr/>
            <p:nvPr/>
          </p:nvGrpSpPr>
          <p:grpSpPr>
            <a:xfrm>
              <a:off x="8242300" y="3562350"/>
              <a:ext cx="698500" cy="50800"/>
              <a:chOff x="8242300" y="3562350"/>
              <a:chExt cx="698500" cy="50800"/>
            </a:xfrm>
          </p:grpSpPr>
          <p:grpSp>
            <p:nvGrpSpPr>
              <p:cNvPr id="1130" name="path · 106 + arrowhead"/>
              <p:cNvGrpSpPr/>
              <p:nvPr/>
            </p:nvGrpSpPr>
            <p:grpSpPr>
              <a:xfrm>
                <a:off x="8242300" y="3562350"/>
                <a:ext cx="698500" cy="50800"/>
                <a:chOff x="8242300" y="3562350"/>
                <a:chExt cx="698500" cy="50800"/>
              </a:xfrm>
            </p:grpSpPr>
            <p:sp>
              <p:nvSpPr>
                <p:cNvPr id="1131" name="path · 106"/>
                <p:cNvSpPr/>
                <p:nvPr/>
              </p:nvSpPr>
              <p:spPr>
                <a:xfrm>
                  <a:off x="8242300" y="3587750"/>
                  <a:ext cx="698500" cy="1"/>
                </a:xfrm>
                <a:custGeom>
                  <a:avLst/>
                  <a:gdLst/>
                  <a:ahLst/>
                  <a:cxnLst/>
                  <a:rect l="0" t="0" r="r" b="b"/>
                  <a:pathLst>
                    <a:path w="698500" h="1" fill="none" stroke="1" extrusionOk="0">
                      <a:moveTo>
                        <a:pt x="0" y="0"/>
                      </a:moveTo>
                      <a:lnTo>
                        <a:pt x="698500" y="0"/>
                      </a:lnTo>
                    </a:path>
                  </a:pathLst>
                </a:custGeom>
                <a:noFill/>
                <a:ln w="25400" cap="rnd" cmpd="sng" algn="ctr">
                  <a:solidFill>
                    <a:srgbClr val="2E6653"/>
                  </a:solidFill>
                  <a:prstDash val="solid"/>
                  <a:round/>
                  <a:headEnd type="none" w="med" len="med"/>
                  <a:tailEnd type="none" w="med" len="med"/>
                </a:ln>
              </p:spPr>
            </p:sp>
            <p:grpSp>
              <p:nvGrpSpPr>
                <p:cNvPr id="1132" name="arrow-green end"/>
                <p:cNvGrpSpPr/>
                <p:nvPr/>
              </p:nvGrpSpPr>
              <p:grpSpPr>
                <a:xfrm>
                  <a:off x="8893175" y="3562350"/>
                  <a:ext cx="47625" cy="50800"/>
                  <a:chOff x="8893175" y="3562350"/>
                  <a:chExt cx="47625" cy="50800"/>
                </a:xfrm>
              </p:grpSpPr>
              <p:sp>
                <p:nvSpPr>
                  <p:cNvPr id="1133" name="path · 107"/>
                  <p:cNvSpPr/>
                  <p:nvPr/>
                </p:nvSpPr>
                <p:spPr>
                  <a:xfrm>
                    <a:off x="88931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34" name="text · 109"/>
            <p:cNvSpPr txBox="1"/>
            <p:nvPr/>
          </p:nvSpPr>
          <p:spPr>
            <a:xfrm>
              <a:off x="9034462" y="2933700"/>
              <a:ext cx="18446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For each selected task</a:t>
              </a:r>
              <a:endParaRPr lang="en-US" sz="1350"/>
            </a:p>
          </p:txBody>
        </p:sp>
        <p:grpSp>
          <p:nvGrpSpPr>
            <p:cNvPr id="1135" name="customer · 124"/>
            <p:cNvGrpSpPr/>
            <p:nvPr/>
          </p:nvGrpSpPr>
          <p:grpSpPr>
            <a:xfrm>
              <a:off x="9081064" y="3208302"/>
              <a:ext cx="679873" cy="788035"/>
              <a:chOff x="9081064" y="3208302"/>
              <a:chExt cx="679873" cy="788035"/>
            </a:xfrm>
          </p:grpSpPr>
          <p:sp>
            <p:nvSpPr>
              <p:cNvPr id="1136" name="ellipse · 110"/>
              <p:cNvSpPr/>
              <p:nvPr/>
            </p:nvSpPr>
            <p:spPr>
              <a:xfrm>
                <a:off x="9081064" y="3934531"/>
                <a:ext cx="679873" cy="61807"/>
              </a:xfrm>
              <a:prstGeom prst="ellipse">
                <a:avLst/>
              </a:prstGeom>
              <a:solidFill>
                <a:srgbClr val="E2EEF3"/>
              </a:solidFill>
              <a:ln>
                <a:noFill/>
              </a:ln>
            </p:spPr>
          </p:sp>
          <p:sp>
            <p:nvSpPr>
              <p:cNvPr id="1137" name="path · 111"/>
              <p:cNvSpPr/>
              <p:nvPr/>
            </p:nvSpPr>
            <p:spPr>
              <a:xfrm>
                <a:off x="9235581" y="3728508"/>
                <a:ext cx="401743" cy="206022"/>
              </a:xfrm>
              <a:custGeom>
                <a:avLst/>
                <a:gdLst/>
                <a:ahLst/>
                <a:cxnLst/>
                <a:rect l="0" t="0" r="r" b="b"/>
                <a:pathLst>
                  <a:path w="401743" h="206022" fill="norm" stroke="1" extrusionOk="0">
                    <a:moveTo>
                      <a:pt x="20602" y="41205"/>
                    </a:moveTo>
                    <a:lnTo>
                      <a:pt x="0" y="206023"/>
                    </a:lnTo>
                    <a:lnTo>
                      <a:pt x="113312" y="206023"/>
                    </a:lnTo>
                    <a:lnTo>
                      <a:pt x="149366" y="51506"/>
                    </a:lnTo>
                    <a:moveTo>
                      <a:pt x="262678" y="41205"/>
                    </a:moveTo>
                    <a:lnTo>
                      <a:pt x="298732" y="206023"/>
                    </a:lnTo>
                    <a:lnTo>
                      <a:pt x="401743" y="206023"/>
                    </a:lnTo>
                    <a:lnTo>
                      <a:pt x="319335" y="0"/>
                    </a:lnTo>
                  </a:path>
                </a:pathLst>
              </a:custGeom>
              <a:solidFill>
                <a:srgbClr val="243E42"/>
              </a:solidFill>
              <a:ln w="11331" cap="rnd" cmpd="sng" algn="ctr">
                <a:solidFill>
                  <a:srgbClr val="243E42"/>
                </a:solidFill>
                <a:prstDash val="solid"/>
                <a:round/>
                <a:headEnd type="none" w="med" len="med"/>
                <a:tailEnd type="none" w="med" len="med"/>
              </a:ln>
            </p:spPr>
          </p:sp>
          <p:sp>
            <p:nvSpPr>
              <p:cNvPr id="1138" name="path · 112"/>
              <p:cNvSpPr/>
              <p:nvPr/>
            </p:nvSpPr>
            <p:spPr>
              <a:xfrm>
                <a:off x="9184076" y="3939681"/>
                <a:ext cx="509905" cy="36054"/>
              </a:xfrm>
              <a:custGeom>
                <a:avLst/>
                <a:gdLst/>
                <a:ahLst/>
                <a:cxnLst/>
                <a:rect l="0" t="0" r="r" b="b"/>
                <a:pathLst>
                  <a:path w="509905" h="36054" fill="norm" stroke="1" extrusionOk="0">
                    <a:moveTo>
                      <a:pt x="36053" y="0"/>
                    </a:moveTo>
                    <a:lnTo>
                      <a:pt x="169968" y="0"/>
                    </a:lnTo>
                    <a:lnTo>
                      <a:pt x="169968" y="36054"/>
                    </a:lnTo>
                    <a:lnTo>
                      <a:pt x="0" y="36054"/>
                    </a:lnTo>
                    <a:cubicBezTo>
                      <a:pt x="0" y="15452"/>
                      <a:pt x="15451" y="5151"/>
                      <a:pt x="36053" y="0"/>
                    </a:cubicBezTo>
                    <a:moveTo>
                      <a:pt x="345087" y="0"/>
                    </a:moveTo>
                    <a:lnTo>
                      <a:pt x="468700" y="0"/>
                    </a:lnTo>
                    <a:lnTo>
                      <a:pt x="509905" y="36054"/>
                    </a:lnTo>
                    <a:lnTo>
                      <a:pt x="345087" y="36054"/>
                    </a:lnTo>
                    <a:close/>
                  </a:path>
                </a:pathLst>
              </a:custGeom>
              <a:solidFill>
                <a:srgbClr val="FFFFFF"/>
              </a:solidFill>
              <a:ln w="11331" cap="rnd" cmpd="sng" algn="ctr">
                <a:solidFill>
                  <a:srgbClr val="243E42"/>
                </a:solidFill>
                <a:prstDash val="solid"/>
                <a:round/>
                <a:headEnd type="none" w="med" len="med"/>
                <a:tailEnd type="none" w="med" len="med"/>
              </a:ln>
            </p:spPr>
          </p:sp>
          <p:sp>
            <p:nvSpPr>
              <p:cNvPr id="1139" name="path · 113"/>
              <p:cNvSpPr/>
              <p:nvPr/>
            </p:nvSpPr>
            <p:spPr>
              <a:xfrm>
                <a:off x="9214979" y="3455529"/>
                <a:ext cx="375991" cy="355388"/>
              </a:xfrm>
              <a:custGeom>
                <a:avLst/>
                <a:gdLst/>
                <a:ahLst/>
                <a:cxnLst/>
                <a:rect l="0" t="0" r="r" b="b"/>
                <a:pathLst>
                  <a:path w="375991" h="355388" fill="norm" stroke="1" extrusionOk="0">
                    <a:moveTo>
                      <a:pt x="0" y="92710"/>
                    </a:moveTo>
                    <a:quadBezTo>
                      <a:pt x="30903" y="5150"/>
                      <a:pt x="149366" y="0"/>
                    </a:quadBezTo>
                    <a:lnTo>
                      <a:pt x="231775" y="0"/>
                    </a:lnTo>
                    <a:quadBezTo>
                      <a:pt x="350238" y="10301"/>
                      <a:pt x="375990" y="118463"/>
                    </a:quadBezTo>
                    <a:lnTo>
                      <a:pt x="329635" y="355388"/>
                    </a:lnTo>
                    <a:lnTo>
                      <a:pt x="51505" y="355388"/>
                    </a:lnTo>
                    <a:close/>
                  </a:path>
                </a:pathLst>
              </a:custGeom>
              <a:solidFill>
                <a:srgbClr val="E2EEF3"/>
              </a:solidFill>
              <a:ln w="11331" cap="rnd" cmpd="sng" algn="ctr">
                <a:solidFill>
                  <a:srgbClr val="243E42"/>
                </a:solidFill>
                <a:prstDash val="solid"/>
                <a:round/>
                <a:headEnd type="none" w="med" len="med"/>
                <a:tailEnd type="none" w="med" len="med"/>
              </a:ln>
            </p:spPr>
          </p:sp>
          <p:sp>
            <p:nvSpPr>
              <p:cNvPr id="1140" name="path · 114"/>
              <p:cNvSpPr/>
              <p:nvPr/>
            </p:nvSpPr>
            <p:spPr>
              <a:xfrm>
                <a:off x="9184076" y="3496733"/>
                <a:ext cx="453249" cy="226624"/>
              </a:xfrm>
              <a:custGeom>
                <a:avLst/>
                <a:gdLst/>
                <a:ahLst/>
                <a:cxnLst/>
                <a:rect l="0" t="0" r="r" b="b"/>
                <a:pathLst>
                  <a:path w="453249" h="226624" fill="none" stroke="1" extrusionOk="0">
                    <a:moveTo>
                      <a:pt x="87559" y="10301"/>
                    </a:moveTo>
                    <a:lnTo>
                      <a:pt x="0" y="108162"/>
                    </a:lnTo>
                    <a:lnTo>
                      <a:pt x="77258" y="211173"/>
                    </a:lnTo>
                    <a:moveTo>
                      <a:pt x="339936" y="0"/>
                    </a:moveTo>
                    <a:lnTo>
                      <a:pt x="453248" y="113313"/>
                    </a:lnTo>
                    <a:lnTo>
                      <a:pt x="412044" y="226625"/>
                    </a:lnTo>
                  </a:path>
                </a:pathLst>
              </a:custGeom>
              <a:noFill/>
              <a:ln w="46355" cap="rnd" cmpd="sng" algn="ctr">
                <a:solidFill>
                  <a:srgbClr val="E2EEF3"/>
                </a:solidFill>
                <a:prstDash val="solid"/>
                <a:round/>
                <a:headEnd type="none" w="med" len="med"/>
                <a:tailEnd type="none" w="med" len="med"/>
              </a:ln>
            </p:spPr>
          </p:sp>
          <p:sp>
            <p:nvSpPr>
              <p:cNvPr id="1141" name="circle · 115"/>
              <p:cNvSpPr/>
              <p:nvPr/>
            </p:nvSpPr>
            <p:spPr>
              <a:xfrm>
                <a:off x="9271635" y="3239206"/>
                <a:ext cx="236926" cy="236926"/>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2" name="path · 116"/>
              <p:cNvSpPr/>
              <p:nvPr/>
            </p:nvSpPr>
            <p:spPr>
              <a:xfrm>
                <a:off x="9251033" y="3208302"/>
                <a:ext cx="278130" cy="144216"/>
              </a:xfrm>
              <a:custGeom>
                <a:avLst/>
                <a:gdLst/>
                <a:ahLst/>
                <a:cxnLst/>
                <a:rect l="0" t="0" r="r" b="b"/>
                <a:pathLst>
                  <a:path w="278130" h="144216" fill="norm" stroke="1" extrusionOk="0">
                    <a:moveTo>
                      <a:pt x="25753" y="133915"/>
                    </a:moveTo>
                    <a:quadBezTo>
                      <a:pt x="0" y="10301"/>
                      <a:pt x="133914" y="5151"/>
                    </a:quadBezTo>
                    <a:quadBezTo>
                      <a:pt x="278130" y="0"/>
                      <a:pt x="267829" y="144216"/>
                    </a:quadBezTo>
                    <a:lnTo>
                      <a:pt x="216323" y="113312"/>
                    </a:lnTo>
                    <a:lnTo>
                      <a:pt x="200871" y="51506"/>
                    </a:lnTo>
                    <a:quadBezTo>
                      <a:pt x="133914" y="108162"/>
                      <a:pt x="25753" y="103011"/>
                    </a:quadBezTo>
                    <a:close/>
                  </a:path>
                </a:pathLst>
              </a:custGeom>
              <a:solidFill>
                <a:srgbClr val="243E42"/>
              </a:solidFill>
              <a:ln w="11331" cap="rnd" cmpd="sng" algn="ctr">
                <a:solidFill>
                  <a:srgbClr val="243E42"/>
                </a:solidFill>
                <a:prstDash val="solid"/>
                <a:round/>
                <a:headEnd type="none" w="med" len="med"/>
                <a:tailEnd type="none" w="med" len="med"/>
              </a:ln>
            </p:spPr>
          </p:sp>
          <p:sp>
            <p:nvSpPr>
              <p:cNvPr id="1143" name="path · 117"/>
              <p:cNvSpPr/>
              <p:nvPr/>
            </p:nvSpPr>
            <p:spPr>
              <a:xfrm>
                <a:off x="9374646" y="3342217"/>
                <a:ext cx="77258" cy="36054"/>
              </a:xfrm>
              <a:custGeom>
                <a:avLst/>
                <a:gdLst/>
                <a:ahLst/>
                <a:cxnLst/>
                <a:rect l="0" t="0" r="r" b="b"/>
                <a:pathLst>
                  <a:path w="77258" h="36054" fill="none" stroke="1" extrusionOk="0">
                    <a:moveTo>
                      <a:pt x="0" y="0"/>
                    </a:moveTo>
                    <a:lnTo>
                      <a:pt x="0" y="36054"/>
                    </a:lnTo>
                    <a:moveTo>
                      <a:pt x="77258" y="0"/>
                    </a:moveTo>
                    <a:lnTo>
                      <a:pt x="77258" y="36054"/>
                    </a:lnTo>
                  </a:path>
                </a:pathLst>
              </a:custGeom>
              <a:noFill/>
              <a:ln w="13391" cap="rnd" cmpd="sng" algn="ctr">
                <a:solidFill>
                  <a:srgbClr val="243E42"/>
                </a:solidFill>
                <a:prstDash val="solid"/>
                <a:round/>
                <a:headEnd type="none" w="med" len="med"/>
                <a:tailEnd type="none" w="med" len="med"/>
              </a:ln>
            </p:spPr>
          </p:sp>
          <p:sp>
            <p:nvSpPr>
              <p:cNvPr id="1144" name="path · 118"/>
              <p:cNvSpPr/>
              <p:nvPr/>
            </p:nvSpPr>
            <p:spPr>
              <a:xfrm>
                <a:off x="9379797" y="3409174"/>
                <a:ext cx="56656" cy="25753"/>
              </a:xfrm>
              <a:custGeom>
                <a:avLst/>
                <a:gdLst/>
                <a:ahLst/>
                <a:cxnLst/>
                <a:rect l="0" t="0" r="r" b="b"/>
                <a:pathLst>
                  <a:path w="56656" h="25753" fill="none" stroke="1" extrusionOk="0">
                    <a:moveTo>
                      <a:pt x="0" y="5150"/>
                    </a:moveTo>
                    <a:quadBezTo>
                      <a:pt x="30903" y="25753"/>
                      <a:pt x="56656" y="0"/>
                    </a:quadBezTo>
                  </a:path>
                </a:pathLst>
              </a:custGeom>
              <a:noFill/>
              <a:ln w="11331" cap="rnd" cmpd="sng" algn="ctr">
                <a:solidFill>
                  <a:srgbClr val="243E42"/>
                </a:solidFill>
                <a:prstDash val="solid"/>
                <a:round/>
                <a:headEnd type="none" w="med" len="med"/>
                <a:tailEnd type="none" w="med" len="med"/>
              </a:ln>
            </p:spPr>
          </p:sp>
          <p:sp>
            <p:nvSpPr>
              <p:cNvPr id="1145" name="path · 119"/>
              <p:cNvSpPr/>
              <p:nvPr/>
            </p:nvSpPr>
            <p:spPr>
              <a:xfrm>
                <a:off x="9230431" y="3568841"/>
                <a:ext cx="453249" cy="200872"/>
              </a:xfrm>
              <a:custGeom>
                <a:avLst/>
                <a:gdLst/>
                <a:ahLst/>
                <a:cxnLst/>
                <a:rect l="0" t="0" r="r" b="b"/>
                <a:pathLst>
                  <a:path w="453249" h="200872" fill="norm" stroke="1" extrusionOk="0">
                    <a:moveTo>
                      <a:pt x="0" y="92710"/>
                    </a:moveTo>
                    <a:lnTo>
                      <a:pt x="278130" y="0"/>
                    </a:lnTo>
                    <a:lnTo>
                      <a:pt x="453248" y="97861"/>
                    </a:lnTo>
                    <a:lnTo>
                      <a:pt x="175118" y="200872"/>
                    </a:lnTo>
                    <a:close/>
                  </a:path>
                </a:pathLst>
              </a:custGeom>
              <a:solidFill>
                <a:srgbClr val="F6EAC8"/>
              </a:solidFill>
              <a:ln w="11331" cap="rnd" cmpd="sng" algn="ctr">
                <a:solidFill>
                  <a:srgbClr val="243E42"/>
                </a:solidFill>
                <a:prstDash val="solid"/>
                <a:round/>
                <a:headEnd type="none" w="med" len="med"/>
                <a:tailEnd type="none" w="med" len="med"/>
              </a:ln>
            </p:spPr>
          </p:sp>
          <p:sp>
            <p:nvSpPr>
              <p:cNvPr id="1146" name="path · 120"/>
              <p:cNvSpPr/>
              <p:nvPr/>
            </p:nvSpPr>
            <p:spPr>
              <a:xfrm>
                <a:off x="9230431" y="3661551"/>
                <a:ext cx="453249" cy="283281"/>
              </a:xfrm>
              <a:custGeom>
                <a:avLst/>
                <a:gdLst/>
                <a:ahLst/>
                <a:cxnLst/>
                <a:rect l="0" t="0" r="r" b="b"/>
                <a:pathLst>
                  <a:path w="453249" h="283281" fill="norm" stroke="1" extrusionOk="0">
                    <a:moveTo>
                      <a:pt x="0" y="0"/>
                    </a:moveTo>
                    <a:lnTo>
                      <a:pt x="175118" y="108162"/>
                    </a:lnTo>
                    <a:lnTo>
                      <a:pt x="175118" y="283281"/>
                    </a:lnTo>
                    <a:lnTo>
                      <a:pt x="0" y="180270"/>
                    </a:lnTo>
                    <a:close/>
                    <a:moveTo>
                      <a:pt x="175118" y="108162"/>
                    </a:moveTo>
                    <a:lnTo>
                      <a:pt x="453248" y="5151"/>
                    </a:lnTo>
                    <a:lnTo>
                      <a:pt x="453248" y="185420"/>
                    </a:lnTo>
                    <a:lnTo>
                      <a:pt x="175118" y="283281"/>
                    </a:lnTo>
                    <a:close/>
                  </a:path>
                </a:pathLst>
              </a:custGeom>
              <a:solidFill>
                <a:srgbClr val="F6EAC8"/>
              </a:solidFill>
              <a:ln w="11331" cap="rnd" cmpd="sng" algn="ctr">
                <a:solidFill>
                  <a:srgbClr val="243E42"/>
                </a:solidFill>
                <a:prstDash val="solid"/>
                <a:round/>
                <a:headEnd type="none" w="med" len="med"/>
                <a:tailEnd type="none" w="med" len="med"/>
              </a:ln>
            </p:spPr>
          </p:sp>
          <p:sp>
            <p:nvSpPr>
              <p:cNvPr id="1147" name="path · 121"/>
              <p:cNvSpPr/>
              <p:nvPr/>
            </p:nvSpPr>
            <p:spPr>
              <a:xfrm>
                <a:off x="9307689" y="3620347"/>
                <a:ext cx="236926" cy="206022"/>
              </a:xfrm>
              <a:custGeom>
                <a:avLst/>
                <a:gdLst/>
                <a:ahLst/>
                <a:cxnLst/>
                <a:rect l="0" t="0" r="r" b="b"/>
                <a:pathLst>
                  <a:path w="236926" h="206022" fill="norm" stroke="1" extrusionOk="0">
                    <a:moveTo>
                      <a:pt x="51505" y="0"/>
                    </a:moveTo>
                    <a:lnTo>
                      <a:pt x="236925" y="103011"/>
                    </a:lnTo>
                    <a:lnTo>
                      <a:pt x="236925" y="185420"/>
                    </a:lnTo>
                    <a:lnTo>
                      <a:pt x="185420" y="206022"/>
                    </a:lnTo>
                    <a:lnTo>
                      <a:pt x="185420" y="123613"/>
                    </a:lnTo>
                    <a:lnTo>
                      <a:pt x="0" y="20602"/>
                    </a:lnTo>
                  </a:path>
                </a:pathLst>
              </a:custGeom>
              <a:solidFill>
                <a:srgbClr val="FFFFFF"/>
              </a:solidFill>
              <a:ln w="11331" cap="rnd" cmpd="sng" algn="ctr">
                <a:solidFill>
                  <a:srgbClr val="243E42"/>
                </a:solidFill>
                <a:prstDash val="solid"/>
                <a:round/>
                <a:headEnd type="none" w="med" len="med"/>
                <a:tailEnd type="none" w="med" len="med"/>
              </a:ln>
            </p:spPr>
          </p:sp>
          <p:sp>
            <p:nvSpPr>
              <p:cNvPr id="1148" name="circle · 122"/>
              <p:cNvSpPr/>
              <p:nvPr/>
            </p:nvSpPr>
            <p:spPr>
              <a:xfrm>
                <a:off x="9220129" y="3661551"/>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9" name="circle · 123"/>
              <p:cNvSpPr/>
              <p:nvPr/>
            </p:nvSpPr>
            <p:spPr>
              <a:xfrm>
                <a:off x="9585819" y="3682153"/>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grpSp>
        <p:grpSp>
          <p:nvGrpSpPr>
            <p:cNvPr id="1150" name="confirm-terms · 127"/>
            <p:cNvGrpSpPr/>
            <p:nvPr/>
          </p:nvGrpSpPr>
          <p:grpSpPr>
            <a:xfrm>
              <a:off x="9652000" y="3321050"/>
              <a:ext cx="292100" cy="292100"/>
              <a:chOff x="9652000" y="3321050"/>
              <a:chExt cx="292100" cy="292100"/>
            </a:xfrm>
          </p:grpSpPr>
          <p:sp>
            <p:nvSpPr>
              <p:cNvPr id="1151" name="circle · 125"/>
              <p:cNvSpPr/>
              <p:nvPr/>
            </p:nvSpPr>
            <p:spPr>
              <a:xfrm>
                <a:off x="9652000" y="3321050"/>
                <a:ext cx="292100" cy="2921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2" name="path · 126"/>
              <p:cNvSpPr/>
              <p:nvPr/>
            </p:nvSpPr>
            <p:spPr>
              <a:xfrm>
                <a:off x="9728200" y="3403600"/>
                <a:ext cx="146050" cy="114300"/>
              </a:xfrm>
              <a:custGeom>
                <a:avLst/>
                <a:gdLst/>
                <a:ahLst/>
                <a:cxnLst/>
                <a:rect l="0" t="0" r="r" b="b"/>
                <a:pathLst>
                  <a:path w="146050" h="114300" fill="none" stroke="1" extrusionOk="0">
                    <a:moveTo>
                      <a:pt x="0" y="63500"/>
                    </a:moveTo>
                    <a:lnTo>
                      <a:pt x="50800" y="114300"/>
                    </a:lnTo>
                    <a:lnTo>
                      <a:pt x="146050" y="0"/>
                    </a:lnTo>
                  </a:path>
                </a:pathLst>
              </a:custGeom>
              <a:noFill/>
              <a:ln w="25400" cap="rnd" cmpd="sng" algn="ctr">
                <a:solidFill>
                  <a:srgbClr val="2E6653"/>
                </a:solidFill>
                <a:prstDash val="solid"/>
                <a:round/>
                <a:headEnd type="none" w="med" len="med"/>
                <a:tailEnd type="none" w="med" len="med"/>
              </a:ln>
            </p:spPr>
          </p:sp>
        </p:grpSp>
        <p:sp>
          <p:nvSpPr>
            <p:cNvPr id="1153" name="text · 128"/>
            <p:cNvSpPr txBox="1"/>
            <p:nvPr/>
          </p:nvSpPr>
          <p:spPr>
            <a:xfrm>
              <a:off x="8802687" y="4178300"/>
              <a:ext cx="12668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Confirm terms</a:t>
              </a:r>
              <a:endParaRPr lang="en-US" sz="1450"/>
            </a:p>
          </p:txBody>
        </p:sp>
        <p:grpSp>
          <p:nvGrpSpPr>
            <p:cNvPr id="1154" name="request-route · 131"/>
            <p:cNvGrpSpPr/>
            <p:nvPr/>
          </p:nvGrpSpPr>
          <p:grpSpPr>
            <a:xfrm>
              <a:off x="9969500" y="3625850"/>
              <a:ext cx="457200" cy="50800"/>
              <a:chOff x="9969500" y="3625850"/>
              <a:chExt cx="457200" cy="50800"/>
            </a:xfrm>
          </p:grpSpPr>
          <p:grpSp>
            <p:nvGrpSpPr>
              <p:cNvPr id="1155" name="path · 129 + arrowhead"/>
              <p:cNvGrpSpPr/>
              <p:nvPr/>
            </p:nvGrpSpPr>
            <p:grpSpPr>
              <a:xfrm>
                <a:off x="9969500" y="3625850"/>
                <a:ext cx="457200" cy="50800"/>
                <a:chOff x="9969500" y="3625850"/>
                <a:chExt cx="457200" cy="50800"/>
              </a:xfrm>
            </p:grpSpPr>
            <p:sp>
              <p:nvSpPr>
                <p:cNvPr id="1156" name="path · 129"/>
                <p:cNvSpPr/>
                <p:nvPr/>
              </p:nvSpPr>
              <p:spPr>
                <a:xfrm>
                  <a:off x="9969500" y="365125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157" name="arrow-blue_ink end"/>
                <p:cNvGrpSpPr/>
                <p:nvPr/>
              </p:nvGrpSpPr>
              <p:grpSpPr>
                <a:xfrm>
                  <a:off x="10379075" y="3625850"/>
                  <a:ext cx="47625" cy="50800"/>
                  <a:chOff x="10379075" y="3625850"/>
                  <a:chExt cx="47625" cy="50800"/>
                </a:xfrm>
              </p:grpSpPr>
              <p:sp>
                <p:nvSpPr>
                  <p:cNvPr id="1158" name="path · 130"/>
                  <p:cNvSpPr/>
                  <p:nvPr/>
                </p:nvSpPr>
                <p:spPr>
                  <a:xfrm>
                    <a:off x="10379075" y="3625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59" name="commit · 138"/>
            <p:cNvGrpSpPr/>
            <p:nvPr/>
          </p:nvGrpSpPr>
          <p:grpSpPr>
            <a:xfrm>
              <a:off x="10550454" y="3270673"/>
              <a:ext cx="761753" cy="756426"/>
              <a:chOff x="10550454" y="3270673"/>
              <a:chExt cx="761753" cy="756426"/>
            </a:xfrm>
          </p:grpSpPr>
          <p:sp>
            <p:nvSpPr>
              <p:cNvPr id="1160" name="path · 132"/>
              <p:cNvSpPr/>
              <p:nvPr/>
            </p:nvSpPr>
            <p:spPr>
              <a:xfrm>
                <a:off x="10550454" y="3270673"/>
                <a:ext cx="628579" cy="735118"/>
              </a:xfrm>
              <a:custGeom>
                <a:avLst/>
                <a:gdLst/>
                <a:ahLst/>
                <a:cxnLst/>
                <a:rect l="0" t="0" r="r" b="b"/>
                <a:pathLst>
                  <a:path w="628579" h="735118" fill="norm" stroke="1" extrusionOk="0">
                    <a:moveTo>
                      <a:pt x="0" y="0"/>
                    </a:moveTo>
                    <a:lnTo>
                      <a:pt x="484752" y="0"/>
                    </a:lnTo>
                    <a:lnTo>
                      <a:pt x="628580" y="143828"/>
                    </a:lnTo>
                    <a:lnTo>
                      <a:pt x="628580" y="735119"/>
                    </a:lnTo>
                    <a:lnTo>
                      <a:pt x="0" y="735119"/>
                    </a:lnTo>
                    <a:close/>
                  </a:path>
                </a:pathLst>
              </a:custGeom>
              <a:solidFill>
                <a:srgbClr val="FFFFFF"/>
              </a:solidFill>
              <a:ln w="11719" cap="rnd" cmpd="sng" algn="ctr">
                <a:solidFill>
                  <a:srgbClr val="243E42"/>
                </a:solidFill>
                <a:prstDash val="solid"/>
                <a:round/>
                <a:headEnd type="none" w="med" len="med"/>
                <a:tailEnd type="none" w="med" len="med"/>
              </a:ln>
            </p:spPr>
          </p:sp>
          <p:sp>
            <p:nvSpPr>
              <p:cNvPr id="1161" name="path · 133"/>
              <p:cNvSpPr/>
              <p:nvPr/>
            </p:nvSpPr>
            <p:spPr>
              <a:xfrm>
                <a:off x="11035206" y="3270673"/>
                <a:ext cx="143828" cy="143828"/>
              </a:xfrm>
              <a:custGeom>
                <a:avLst/>
                <a:gdLst/>
                <a:ahLst/>
                <a:cxnLst/>
                <a:rect l="0" t="0" r="r" b="b"/>
                <a:pathLst>
                  <a:path w="143828" h="143828" fill="norm" stroke="1" extrusionOk="0">
                    <a:moveTo>
                      <a:pt x="0" y="0"/>
                    </a:moveTo>
                    <a:lnTo>
                      <a:pt x="0" y="143828"/>
                    </a:lnTo>
                    <a:lnTo>
                      <a:pt x="143828" y="143828"/>
                    </a:lnTo>
                  </a:path>
                </a:pathLst>
              </a:custGeom>
              <a:solidFill>
                <a:srgbClr val="E2EEF3"/>
              </a:solidFill>
              <a:ln w="11719" cap="rnd" cmpd="sng" algn="ctr">
                <a:solidFill>
                  <a:srgbClr val="243E42"/>
                </a:solidFill>
                <a:prstDash val="solid"/>
                <a:round/>
                <a:headEnd type="none" w="med" len="med"/>
                <a:tailEnd type="none" w="med" len="med"/>
              </a:ln>
            </p:spPr>
          </p:sp>
          <p:sp>
            <p:nvSpPr>
              <p:cNvPr id="1162" name="path · 134"/>
              <p:cNvSpPr/>
              <p:nvPr/>
            </p:nvSpPr>
            <p:spPr>
              <a:xfrm>
                <a:off x="10635686" y="3483751"/>
                <a:ext cx="415502" cy="170462"/>
              </a:xfrm>
              <a:custGeom>
                <a:avLst/>
                <a:gdLst/>
                <a:ahLst/>
                <a:cxnLst/>
                <a:rect l="0" t="0" r="r" b="b"/>
                <a:pathLst>
                  <a:path w="415502" h="170462" fill="none" stroke="1" extrusionOk="0">
                    <a:moveTo>
                      <a:pt x="0" y="0"/>
                    </a:moveTo>
                    <a:lnTo>
                      <a:pt x="415501" y="0"/>
                    </a:lnTo>
                    <a:moveTo>
                      <a:pt x="0" y="85231"/>
                    </a:moveTo>
                    <a:lnTo>
                      <a:pt x="314289" y="85231"/>
                    </a:lnTo>
                    <a:moveTo>
                      <a:pt x="0" y="170462"/>
                    </a:moveTo>
                    <a:lnTo>
                      <a:pt x="250366" y="170462"/>
                    </a:lnTo>
                  </a:path>
                </a:pathLst>
              </a:custGeom>
              <a:noFill/>
              <a:ln w="21308" cap="rnd" cmpd="sng" algn="ctr">
                <a:solidFill>
                  <a:srgbClr val="355F72"/>
                </a:solidFill>
                <a:prstDash val="solid"/>
                <a:round/>
                <a:headEnd type="none" w="med" len="med"/>
                <a:tailEnd type="none" w="med" len="med"/>
              </a:ln>
            </p:spPr>
          </p:sp>
          <p:sp>
            <p:nvSpPr>
              <p:cNvPr id="1163" name="path · 135"/>
              <p:cNvSpPr/>
              <p:nvPr/>
            </p:nvSpPr>
            <p:spPr>
              <a:xfrm>
                <a:off x="10635686" y="3798041"/>
                <a:ext cx="245039" cy="117193"/>
              </a:xfrm>
              <a:custGeom>
                <a:avLst/>
                <a:gdLst/>
                <a:ahLst/>
                <a:cxnLst/>
                <a:rect l="0" t="0" r="r" b="b"/>
                <a:pathLst>
                  <a:path w="245039" h="117193" fill="none" stroke="1" extrusionOk="0">
                    <a:moveTo>
                      <a:pt x="0" y="0"/>
                    </a:moveTo>
                    <a:lnTo>
                      <a:pt x="0" y="117193"/>
                    </a:lnTo>
                    <a:moveTo>
                      <a:pt x="31961" y="0"/>
                    </a:moveTo>
                    <a:lnTo>
                      <a:pt x="31961" y="117193"/>
                    </a:lnTo>
                    <a:moveTo>
                      <a:pt x="69250" y="0"/>
                    </a:moveTo>
                    <a:lnTo>
                      <a:pt x="69250" y="117193"/>
                    </a:lnTo>
                    <a:moveTo>
                      <a:pt x="122519" y="0"/>
                    </a:moveTo>
                    <a:lnTo>
                      <a:pt x="122519" y="117193"/>
                    </a:lnTo>
                    <a:moveTo>
                      <a:pt x="159808" y="0"/>
                    </a:moveTo>
                    <a:lnTo>
                      <a:pt x="159808" y="117193"/>
                    </a:lnTo>
                    <a:moveTo>
                      <a:pt x="191770" y="0"/>
                    </a:moveTo>
                    <a:lnTo>
                      <a:pt x="191770" y="117193"/>
                    </a:lnTo>
                    <a:moveTo>
                      <a:pt x="245039" y="0"/>
                    </a:moveTo>
                    <a:lnTo>
                      <a:pt x="245039" y="117193"/>
                    </a:lnTo>
                  </a:path>
                </a:pathLst>
              </a:custGeom>
              <a:noFill/>
              <a:ln w="15981" cap="rnd" cmpd="sng" algn="ctr">
                <a:solidFill>
                  <a:srgbClr val="243E42"/>
                </a:solidFill>
                <a:prstDash val="solid"/>
                <a:round/>
                <a:headEnd type="none" w="med" len="med"/>
                <a:tailEnd type="none" w="med" len="med"/>
              </a:ln>
            </p:spPr>
          </p:sp>
          <p:sp>
            <p:nvSpPr>
              <p:cNvPr id="1164" name="path · 136"/>
              <p:cNvSpPr/>
              <p:nvPr/>
            </p:nvSpPr>
            <p:spPr>
              <a:xfrm>
                <a:off x="10971283" y="3622252"/>
                <a:ext cx="340924" cy="404848"/>
              </a:xfrm>
              <a:custGeom>
                <a:avLst/>
                <a:gdLst/>
                <a:ahLst/>
                <a:cxnLst/>
                <a:rect l="0" t="0" r="r" b="b"/>
                <a:pathLst>
                  <a:path w="340924" h="404848" fill="norm" stroke="1" extrusionOk="0">
                    <a:moveTo>
                      <a:pt x="170462" y="0"/>
                    </a:moveTo>
                    <a:lnTo>
                      <a:pt x="340925" y="58596"/>
                    </a:lnTo>
                    <a:lnTo>
                      <a:pt x="340925" y="197097"/>
                    </a:lnTo>
                    <a:quadBezTo>
                      <a:pt x="340925" y="314289"/>
                      <a:pt x="170462" y="404847"/>
                    </a:quadBezTo>
                    <a:quadBezTo>
                      <a:pt x="0" y="314289"/>
                      <a:pt x="0" y="197097"/>
                    </a:quadBezTo>
                    <a:lnTo>
                      <a:pt x="0" y="58596"/>
                    </a:lnTo>
                    <a:close/>
                  </a:path>
                </a:pathLst>
              </a:custGeom>
              <a:solidFill>
                <a:srgbClr val="D7EBE1"/>
              </a:solidFill>
              <a:ln w="11719" cap="rnd" cmpd="sng" algn="ctr">
                <a:solidFill>
                  <a:srgbClr val="2E6653"/>
                </a:solidFill>
                <a:prstDash val="solid"/>
                <a:round/>
                <a:headEnd type="none" w="med" len="med"/>
                <a:tailEnd type="none" w="med" len="med"/>
              </a:ln>
            </p:spPr>
          </p:sp>
          <p:sp>
            <p:nvSpPr>
              <p:cNvPr id="1165" name="path · 137"/>
              <p:cNvSpPr/>
              <p:nvPr/>
            </p:nvSpPr>
            <p:spPr>
              <a:xfrm>
                <a:off x="11051187" y="3728791"/>
                <a:ext cx="181116" cy="138501"/>
              </a:xfrm>
              <a:custGeom>
                <a:avLst/>
                <a:gdLst/>
                <a:ahLst/>
                <a:cxnLst/>
                <a:rect l="0" t="0" r="r" b="b"/>
                <a:pathLst>
                  <a:path w="181116" h="138501" fill="none" stroke="1" extrusionOk="0">
                    <a:moveTo>
                      <a:pt x="0" y="79904"/>
                    </a:moveTo>
                    <a:lnTo>
                      <a:pt x="58597" y="138500"/>
                    </a:lnTo>
                    <a:lnTo>
                      <a:pt x="181116" y="0"/>
                    </a:lnTo>
                  </a:path>
                </a:pathLst>
              </a:custGeom>
              <a:noFill/>
              <a:ln w="26635" cap="rnd" cmpd="sng" algn="ctr">
                <a:solidFill>
                  <a:srgbClr val="2E6653"/>
                </a:solidFill>
                <a:prstDash val="solid"/>
                <a:round/>
                <a:headEnd type="none" w="med" len="med"/>
                <a:tailEnd type="none" w="med" len="med"/>
              </a:ln>
            </p:spPr>
          </p:sp>
        </p:grpSp>
        <p:sp>
          <p:nvSpPr>
            <p:cNvPr id="1166" name="text · 139"/>
            <p:cNvSpPr txBox="1"/>
            <p:nvPr/>
          </p:nvSpPr>
          <p:spPr>
            <a:xfrm>
              <a:off x="10307637" y="4178300"/>
              <a:ext cx="1203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Service result</a:t>
              </a:r>
              <a:endParaRPr lang="en-US" sz="1450"/>
            </a:p>
          </p:txBody>
        </p:sp>
        <p:grpSp>
          <p:nvGrpSpPr>
            <p:cNvPr id="1167" name="request-route · 142"/>
            <p:cNvGrpSpPr/>
            <p:nvPr/>
          </p:nvGrpSpPr>
          <p:grpSpPr>
            <a:xfrm>
              <a:off x="1733550" y="4019550"/>
              <a:ext cx="666750" cy="1066800"/>
              <a:chOff x="1733550" y="4019550"/>
              <a:chExt cx="666750" cy="1066800"/>
            </a:xfrm>
          </p:grpSpPr>
          <p:grpSp>
            <p:nvGrpSpPr>
              <p:cNvPr id="1168" name="path · 140 + arrowhead"/>
              <p:cNvGrpSpPr/>
              <p:nvPr/>
            </p:nvGrpSpPr>
            <p:grpSpPr>
              <a:xfrm>
                <a:off x="1733550" y="4019550"/>
                <a:ext cx="666750" cy="1066800"/>
                <a:chOff x="1733550" y="4019550"/>
                <a:chExt cx="666750" cy="1066800"/>
              </a:xfrm>
            </p:grpSpPr>
            <p:sp>
              <p:nvSpPr>
                <p:cNvPr id="1169" name="path · 140"/>
                <p:cNvSpPr/>
                <p:nvPr/>
              </p:nvSpPr>
              <p:spPr>
                <a:xfrm>
                  <a:off x="1733550" y="4019550"/>
                  <a:ext cx="666750" cy="1041400"/>
                </a:xfrm>
                <a:custGeom>
                  <a:avLst/>
                  <a:gdLst/>
                  <a:ahLst/>
                  <a:cxnLst/>
                  <a:rect l="0" t="0" r="r" b="b"/>
                  <a:pathLst>
                    <a:path w="666750" h="1041400" fill="none" stroke="1" extrusionOk="0">
                      <a:moveTo>
                        <a:pt x="0" y="0"/>
                      </a:moveTo>
                      <a:lnTo>
                        <a:pt x="0" y="1041400"/>
                      </a:lnTo>
                      <a:lnTo>
                        <a:pt x="666750" y="1041400"/>
                      </a:lnTo>
                    </a:path>
                  </a:pathLst>
                </a:custGeom>
                <a:noFill/>
                <a:ln w="22225" cap="rnd" cmpd="sng" algn="ctr">
                  <a:solidFill>
                    <a:srgbClr val="7A6025"/>
                  </a:solidFill>
                  <a:custDash>
                    <a:ds d="228571" sp="257143"/>
                  </a:custDash>
                  <a:round/>
                  <a:headEnd type="none" w="med" len="med"/>
                  <a:tailEnd type="none" w="med" len="med"/>
                </a:ln>
              </p:spPr>
            </p:sp>
            <p:grpSp>
              <p:nvGrpSpPr>
                <p:cNvPr id="1170" name="arrow-ochre end"/>
                <p:cNvGrpSpPr/>
                <p:nvPr/>
              </p:nvGrpSpPr>
              <p:grpSpPr>
                <a:xfrm>
                  <a:off x="2352675" y="5035550"/>
                  <a:ext cx="47625" cy="50800"/>
                  <a:chOff x="2352675" y="5035550"/>
                  <a:chExt cx="47625" cy="50800"/>
                </a:xfrm>
              </p:grpSpPr>
              <p:sp>
                <p:nvSpPr>
                  <p:cNvPr id="1171" name="path · 141"/>
                  <p:cNvSpPr/>
                  <p:nvPr/>
                </p:nvSpPr>
                <p:spPr>
                  <a:xfrm>
                    <a:off x="2352675" y="5035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172" name="text · 143"/>
            <p:cNvSpPr txBox="1"/>
            <p:nvPr/>
          </p:nvSpPr>
          <p:spPr>
            <a:xfrm>
              <a:off x="1874837" y="4318000"/>
              <a:ext cx="771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Unclear?</a:t>
              </a:r>
              <a:endParaRPr lang="en-US" sz="1400"/>
            </a:p>
          </p:txBody>
        </p:sp>
        <p:grpSp>
          <p:nvGrpSpPr>
            <p:cNvPr id="1173" name="clarify · 153"/>
            <p:cNvGrpSpPr/>
            <p:nvPr/>
          </p:nvGrpSpPr>
          <p:grpSpPr>
            <a:xfrm>
              <a:off x="2494492" y="4778516"/>
              <a:ext cx="632742" cy="566138"/>
              <a:chOff x="2494492" y="4778516"/>
              <a:chExt cx="632742" cy="566138"/>
            </a:xfrm>
          </p:grpSpPr>
          <p:sp>
            <p:nvSpPr>
              <p:cNvPr id="1174" name="path · 144"/>
              <p:cNvSpPr/>
              <p:nvPr/>
            </p:nvSpPr>
            <p:spPr>
              <a:xfrm>
                <a:off x="2690142" y="4778516"/>
                <a:ext cx="437092" cy="370487"/>
              </a:xfrm>
              <a:custGeom>
                <a:avLst/>
                <a:gdLst/>
                <a:ahLst/>
                <a:cxnLst/>
                <a:rect l="0" t="0" r="r" b="b"/>
                <a:pathLst>
                  <a:path w="437092" h="370487" fill="norm" stroke="1" extrusionOk="0">
                    <a:moveTo>
                      <a:pt x="83256" y="0"/>
                    </a:moveTo>
                    <a:lnTo>
                      <a:pt x="349674" y="0"/>
                    </a:lnTo>
                    <a:quadBezTo>
                      <a:pt x="437092" y="0"/>
                      <a:pt x="437092" y="87418"/>
                    </a:quadBezTo>
                    <a:lnTo>
                      <a:pt x="437092" y="212302"/>
                    </a:lnTo>
                    <a:quadBezTo>
                      <a:pt x="437092" y="295557"/>
                      <a:pt x="349674" y="295557"/>
                    </a:quadBezTo>
                    <a:lnTo>
                      <a:pt x="203976" y="295557"/>
                    </a:lnTo>
                    <a:lnTo>
                      <a:pt x="108232" y="370487"/>
                    </a:lnTo>
                    <a:lnTo>
                      <a:pt x="108232" y="295557"/>
                    </a:lnTo>
                    <a:lnTo>
                      <a:pt x="83256" y="295557"/>
                    </a:lnTo>
                    <a:quadBezTo>
                      <a:pt x="0" y="295557"/>
                      <a:pt x="0" y="212302"/>
                    </a:quadBezTo>
                    <a:lnTo>
                      <a:pt x="0" y="87418"/>
                    </a:lnTo>
                    <a:quadBezTo>
                      <a:pt x="0" y="0"/>
                      <a:pt x="83256" y="0"/>
                    </a:quadBezTo>
                  </a:path>
                </a:pathLst>
              </a:custGeom>
              <a:solidFill>
                <a:srgbClr val="F6EAC8"/>
              </a:solidFill>
              <a:ln w="9158" cap="rnd" cmpd="sng" algn="ctr">
                <a:solidFill>
                  <a:srgbClr val="243E42"/>
                </a:solidFill>
                <a:prstDash val="solid"/>
                <a:round/>
                <a:headEnd type="none" w="med" len="med"/>
                <a:tailEnd type="none" w="med" len="med"/>
              </a:ln>
            </p:spPr>
          </p:sp>
          <p:sp>
            <p:nvSpPr>
              <p:cNvPr id="1175" name="path · 145"/>
              <p:cNvSpPr/>
              <p:nvPr/>
            </p:nvSpPr>
            <p:spPr>
              <a:xfrm>
                <a:off x="2860816" y="4803493"/>
                <a:ext cx="116558" cy="154023"/>
              </a:xfrm>
              <a:custGeom>
                <a:avLst/>
                <a:gdLst/>
                <a:ahLst/>
                <a:cxnLst/>
                <a:rect l="0" t="0" r="r" b="b"/>
                <a:pathLst>
                  <a:path w="116558" h="154023" fill="none" stroke="1" extrusionOk="0">
                    <a:moveTo>
                      <a:pt x="0" y="70767"/>
                    </a:moveTo>
                    <a:cubicBezTo>
                      <a:pt x="0" y="0"/>
                      <a:pt x="116558" y="0"/>
                      <a:pt x="116558" y="70767"/>
                    </a:cubicBezTo>
                    <a:cubicBezTo>
                      <a:pt x="116558" y="112395"/>
                      <a:pt x="45791" y="99906"/>
                      <a:pt x="45791" y="154023"/>
                    </a:cubicBezTo>
                  </a:path>
                </a:pathLst>
              </a:custGeom>
              <a:noFill/>
              <a:ln w="16651" cap="rnd" cmpd="sng" algn="ctr">
                <a:solidFill>
                  <a:srgbClr val="7A6025"/>
                </a:solidFill>
                <a:prstDash val="solid"/>
                <a:round/>
                <a:headEnd type="none" w="med" len="med"/>
                <a:tailEnd type="none" w="med" len="med"/>
              </a:ln>
            </p:spPr>
          </p:sp>
          <p:sp>
            <p:nvSpPr>
              <p:cNvPr id="1176" name="circle · 146"/>
              <p:cNvSpPr/>
              <p:nvPr/>
            </p:nvSpPr>
            <p:spPr>
              <a:xfrm>
                <a:off x="2896200" y="4997062"/>
                <a:ext cx="20814" cy="20814"/>
              </a:xfrm>
              <a:prstGeom prst="ellipse">
                <a:avLst/>
              </a:prstGeom>
              <a:solidFill>
                <a:srgbClr val="7A6025"/>
              </a:solidFill>
              <a:ln>
                <a:noFill/>
              </a:ln>
            </p:spPr>
          </p:sp>
          <p:sp>
            <p:nvSpPr>
              <p:cNvPr id="1177" name="path · 147"/>
              <p:cNvSpPr/>
              <p:nvPr/>
            </p:nvSpPr>
            <p:spPr>
              <a:xfrm>
                <a:off x="2494492" y="5074073"/>
                <a:ext cx="299720" cy="270581"/>
              </a:xfrm>
              <a:custGeom>
                <a:avLst/>
                <a:gdLst/>
                <a:ahLst/>
                <a:cxnLst/>
                <a:rect l="0" t="0" r="r" b="b"/>
                <a:pathLst>
                  <a:path w="299720" h="270581" fill="norm" stroke="1" extrusionOk="0">
                    <a:moveTo>
                      <a:pt x="0" y="270581"/>
                    </a:moveTo>
                    <a:lnTo>
                      <a:pt x="0" y="145698"/>
                    </a:lnTo>
                    <a:quadBezTo>
                      <a:pt x="8325" y="0"/>
                      <a:pt x="145697" y="0"/>
                    </a:quadBezTo>
                    <a:quadBezTo>
                      <a:pt x="283069" y="0"/>
                      <a:pt x="299720" y="145698"/>
                    </a:quadBezTo>
                    <a:lnTo>
                      <a:pt x="299720" y="270581"/>
                    </a:lnTo>
                    <a:close/>
                  </a:path>
                </a:pathLst>
              </a:custGeom>
              <a:solidFill>
                <a:srgbClr val="E2EEF3"/>
              </a:solidFill>
              <a:ln w="9158" cap="rnd" cmpd="sng" algn="ctr">
                <a:solidFill>
                  <a:srgbClr val="243E42"/>
                </a:solidFill>
                <a:prstDash val="solid"/>
                <a:round/>
                <a:headEnd type="none" w="med" len="med"/>
                <a:tailEnd type="none" w="med" len="med"/>
              </a:ln>
            </p:spPr>
          </p:sp>
          <p:sp>
            <p:nvSpPr>
              <p:cNvPr id="1178" name="circle · 148"/>
              <p:cNvSpPr/>
              <p:nvPr/>
            </p:nvSpPr>
            <p:spPr>
              <a:xfrm>
                <a:off x="2540282" y="4907562"/>
                <a:ext cx="191488" cy="191488"/>
              </a:xfrm>
              <a:prstGeom prst="ellipse">
                <a:avLst/>
              </a:prstGeom>
              <a:solidFill>
                <a:srgbClr val="F4DFD3"/>
              </a:solidFill>
              <a:ln w="9158" cap="rnd" cmpd="sng" algn="ctr">
                <a:solidFill>
                  <a:srgbClr val="243E42"/>
                </a:solidFill>
                <a:prstDash val="solid"/>
                <a:round/>
                <a:headEnd type="none" w="med" len="med"/>
                <a:tailEnd type="none" w="med" len="med"/>
              </a:ln>
            </p:spPr>
          </p:sp>
          <p:sp>
            <p:nvSpPr>
              <p:cNvPr id="1179" name="path · 149"/>
              <p:cNvSpPr/>
              <p:nvPr/>
            </p:nvSpPr>
            <p:spPr>
              <a:xfrm>
                <a:off x="2523631" y="4878423"/>
                <a:ext cx="212302" cy="112395"/>
              </a:xfrm>
              <a:custGeom>
                <a:avLst/>
                <a:gdLst/>
                <a:ahLst/>
                <a:cxnLst/>
                <a:rect l="0" t="0" r="r" b="b"/>
                <a:pathLst>
                  <a:path w="212302" h="112395" fill="norm" stroke="1" extrusionOk="0">
                    <a:moveTo>
                      <a:pt x="20814" y="112395"/>
                    </a:moveTo>
                    <a:quadBezTo>
                      <a:pt x="0" y="4163"/>
                      <a:pt x="120721" y="0"/>
                    </a:quadBezTo>
                    <a:quadBezTo>
                      <a:pt x="212302" y="8325"/>
                      <a:pt x="212302" y="99906"/>
                    </a:quadBezTo>
                    <a:lnTo>
                      <a:pt x="137372" y="58279"/>
                    </a:lnTo>
                    <a:quadBezTo>
                      <a:pt x="99907" y="108232"/>
                      <a:pt x="20814" y="112395"/>
                    </a:quadBezTo>
                    <a:close/>
                  </a:path>
                </a:pathLst>
              </a:custGeom>
              <a:solidFill>
                <a:srgbClr val="243E42"/>
              </a:solidFill>
              <a:ln w="9158" cap="rnd" cmpd="sng" algn="ctr">
                <a:solidFill>
                  <a:srgbClr val="243E42"/>
                </a:solidFill>
                <a:prstDash val="solid"/>
                <a:round/>
                <a:headEnd type="none" w="med" len="med"/>
                <a:tailEnd type="none" w="med" len="med"/>
              </a:ln>
            </p:spPr>
          </p:sp>
          <p:sp>
            <p:nvSpPr>
              <p:cNvPr id="1180" name="path · 150"/>
              <p:cNvSpPr/>
              <p:nvPr/>
            </p:nvSpPr>
            <p:spPr>
              <a:xfrm>
                <a:off x="2619375" y="5003306"/>
                <a:ext cx="54116" cy="70767"/>
              </a:xfrm>
              <a:custGeom>
                <a:avLst/>
                <a:gdLst/>
                <a:ahLst/>
                <a:cxnLst/>
                <a:rect l="0" t="0" r="r" b="b"/>
                <a:pathLst>
                  <a:path w="54116" h="70767" fill="none" stroke="1" extrusionOk="0">
                    <a:moveTo>
                      <a:pt x="4163" y="0"/>
                    </a:moveTo>
                    <a:lnTo>
                      <a:pt x="4163" y="20814"/>
                    </a:lnTo>
                    <a:moveTo>
                      <a:pt x="54116" y="0"/>
                    </a:moveTo>
                    <a:lnTo>
                      <a:pt x="54116" y="20814"/>
                    </a:lnTo>
                    <a:moveTo>
                      <a:pt x="0" y="54116"/>
                    </a:moveTo>
                    <a:quadBezTo>
                      <a:pt x="29139" y="70767"/>
                      <a:pt x="54116" y="49953"/>
                    </a:quadBezTo>
                  </a:path>
                </a:pathLst>
              </a:custGeom>
              <a:noFill/>
              <a:ln w="9158" cap="rnd" cmpd="sng" algn="ctr">
                <a:solidFill>
                  <a:srgbClr val="243E42"/>
                </a:solidFill>
                <a:prstDash val="solid"/>
                <a:round/>
                <a:headEnd type="none" w="med" len="med"/>
                <a:tailEnd type="none" w="med" len="med"/>
              </a:ln>
            </p:spPr>
          </p:sp>
          <p:sp>
            <p:nvSpPr>
              <p:cNvPr id="1181" name="path · 151"/>
              <p:cNvSpPr/>
              <p:nvPr/>
            </p:nvSpPr>
            <p:spPr>
              <a:xfrm>
                <a:off x="2777561" y="5178143"/>
                <a:ext cx="141534" cy="149860"/>
              </a:xfrm>
              <a:custGeom>
                <a:avLst/>
                <a:gdLst/>
                <a:ahLst/>
                <a:cxnLst/>
                <a:rect l="0" t="0" r="r" b="b"/>
                <a:pathLst>
                  <a:path w="141534" h="149860" fill="norm" stroke="1" extrusionOk="0">
                    <a:moveTo>
                      <a:pt x="0" y="54116"/>
                    </a:moveTo>
                    <a:lnTo>
                      <a:pt x="91581" y="0"/>
                    </a:lnTo>
                    <a:lnTo>
                      <a:pt x="141534" y="95744"/>
                    </a:lnTo>
                    <a:lnTo>
                      <a:pt x="41627" y="149860"/>
                    </a:lnTo>
                    <a:close/>
                  </a:path>
                </a:pathLst>
              </a:custGeom>
              <a:solidFill>
                <a:srgbClr val="FFFFFF"/>
              </a:solidFill>
              <a:ln w="9158" cap="rnd" cmpd="sng" algn="ctr">
                <a:solidFill>
                  <a:srgbClr val="243E42"/>
                </a:solidFill>
                <a:prstDash val="solid"/>
                <a:round/>
                <a:headEnd type="none" w="med" len="med"/>
                <a:tailEnd type="none" w="med" len="med"/>
              </a:ln>
            </p:spPr>
          </p:sp>
          <p:sp>
            <p:nvSpPr>
              <p:cNvPr id="1182" name="path · 152"/>
              <p:cNvSpPr/>
              <p:nvPr/>
            </p:nvSpPr>
            <p:spPr>
              <a:xfrm>
                <a:off x="2719282" y="5211445"/>
                <a:ext cx="54116" cy="95744"/>
              </a:xfrm>
              <a:custGeom>
                <a:avLst/>
                <a:gdLst/>
                <a:ahLst/>
                <a:cxnLst/>
                <a:rect l="0" t="0" r="r" b="b"/>
                <a:pathLst>
                  <a:path w="54116" h="95744" fill="none" stroke="1" extrusionOk="0">
                    <a:moveTo>
                      <a:pt x="54116" y="95744"/>
                    </a:moveTo>
                    <a:lnTo>
                      <a:pt x="0" y="0"/>
                    </a:lnTo>
                  </a:path>
                </a:pathLst>
              </a:custGeom>
              <a:noFill/>
              <a:ln w="45791" cap="rnd" cmpd="sng" algn="ctr">
                <a:solidFill>
                  <a:srgbClr val="E2EEF3"/>
                </a:solidFill>
                <a:prstDash val="solid"/>
                <a:round/>
                <a:headEnd type="none" w="med" len="med"/>
                <a:tailEnd type="none" w="med" len="med"/>
              </a:ln>
            </p:spPr>
          </p:sp>
        </p:grpSp>
        <p:sp>
          <p:nvSpPr>
            <p:cNvPr id="1183" name="text · 154"/>
            <p:cNvSpPr txBox="1"/>
            <p:nvPr/>
          </p:nvSpPr>
          <p:spPr>
            <a:xfrm>
              <a:off x="2506662" y="5499100"/>
              <a:ext cx="600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7A6025"/>
                  </a:solidFill>
                  <a:latin typeface="Manrope"/>
                  <a:ea typeface="Manrope"/>
                  <a:cs typeface="Manrope"/>
                </a:rPr>
                <a:t>Clarify</a:t>
              </a:r>
              <a:endParaRPr lang="en-US" sz="1500"/>
            </a:p>
          </p:txBody>
        </p:sp>
        <p:grpSp>
          <p:nvGrpSpPr>
            <p:cNvPr id="1184" name="request-route · 157"/>
            <p:cNvGrpSpPr/>
            <p:nvPr/>
          </p:nvGrpSpPr>
          <p:grpSpPr>
            <a:xfrm>
              <a:off x="3232150" y="5073650"/>
              <a:ext cx="577850" cy="260350"/>
              <a:chOff x="3232150" y="5073650"/>
              <a:chExt cx="577850" cy="260350"/>
            </a:xfrm>
          </p:grpSpPr>
          <p:grpSp>
            <p:nvGrpSpPr>
              <p:cNvPr id="1185" name="path · 155 + arrowhead"/>
              <p:cNvGrpSpPr/>
              <p:nvPr/>
            </p:nvGrpSpPr>
            <p:grpSpPr>
              <a:xfrm>
                <a:off x="3232150" y="5073650"/>
                <a:ext cx="577850" cy="260350"/>
                <a:chOff x="3232150" y="5073650"/>
                <a:chExt cx="577850" cy="260350"/>
              </a:xfrm>
            </p:grpSpPr>
            <p:sp>
              <p:nvSpPr>
                <p:cNvPr id="1186" name="path · 155"/>
                <p:cNvSpPr/>
                <p:nvPr/>
              </p:nvSpPr>
              <p:spPr>
                <a:xfrm>
                  <a:off x="3232150" y="5073650"/>
                  <a:ext cx="577850" cy="234950"/>
                </a:xfrm>
                <a:custGeom>
                  <a:avLst/>
                  <a:gdLst/>
                  <a:ahLst/>
                  <a:cxnLst/>
                  <a:rect l="0" t="0" r="r" b="b"/>
                  <a:pathLst>
                    <a:path w="577850" h="234950" fill="none" stroke="1" extrusionOk="0">
                      <a:moveTo>
                        <a:pt x="0" y="0"/>
                      </a:moveTo>
                      <a:lnTo>
                        <a:pt x="336550" y="0"/>
                      </a:lnTo>
                      <a:lnTo>
                        <a:pt x="336550" y="234950"/>
                      </a:lnTo>
                      <a:lnTo>
                        <a:pt x="577850" y="234950"/>
                      </a:lnTo>
                    </a:path>
                  </a:pathLst>
                </a:custGeom>
                <a:noFill/>
                <a:ln w="19050" cap="rnd" cmpd="sng" algn="ctr">
                  <a:solidFill>
                    <a:srgbClr val="7A6025"/>
                  </a:solidFill>
                  <a:custDash>
                    <a:ds d="266667" sp="300000"/>
                  </a:custDash>
                  <a:round/>
                  <a:headEnd type="none" w="med" len="med"/>
                  <a:tailEnd type="none" w="med" len="med"/>
                </a:ln>
              </p:spPr>
            </p:sp>
            <p:grpSp>
              <p:nvGrpSpPr>
                <p:cNvPr id="1187" name="arrow-ochre end"/>
                <p:cNvGrpSpPr/>
                <p:nvPr/>
              </p:nvGrpSpPr>
              <p:grpSpPr>
                <a:xfrm>
                  <a:off x="3762375" y="5283200"/>
                  <a:ext cx="47625" cy="50800"/>
                  <a:chOff x="3762375" y="5283200"/>
                  <a:chExt cx="47625" cy="50800"/>
                </a:xfrm>
              </p:grpSpPr>
              <p:sp>
                <p:nvSpPr>
                  <p:cNvPr id="1188" name="path · 156"/>
                  <p:cNvSpPr/>
                  <p:nvPr/>
                </p:nvSpPr>
                <p:spPr>
                  <a:xfrm>
                    <a:off x="3762375" y="5283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189" name="continuation-C · 160"/>
            <p:cNvGrpSpPr/>
            <p:nvPr/>
          </p:nvGrpSpPr>
          <p:grpSpPr>
            <a:xfrm>
              <a:off x="3841750" y="5168900"/>
              <a:ext cx="279400" cy="279400"/>
              <a:chOff x="3841750" y="5168900"/>
              <a:chExt cx="279400" cy="279400"/>
            </a:xfrm>
          </p:grpSpPr>
          <p:sp>
            <p:nvSpPr>
              <p:cNvPr id="1190" name="circle · 158"/>
              <p:cNvSpPr/>
              <p:nvPr/>
            </p:nvSpPr>
            <p:spPr>
              <a:xfrm>
                <a:off x="3841750" y="516890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191" name="text · 159"/>
              <p:cNvSpPr txBox="1"/>
              <p:nvPr/>
            </p:nvSpPr>
            <p:spPr>
              <a:xfrm>
                <a:off x="3913187" y="52197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192" name="text · 161"/>
            <p:cNvSpPr txBox="1"/>
            <p:nvPr/>
          </p:nvSpPr>
          <p:spPr>
            <a:xfrm>
              <a:off x="4281487" y="5518150"/>
              <a:ext cx="987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7A6025"/>
                  </a:solidFill>
                  <a:latin typeface="Manrope"/>
                  <a:ea typeface="Manrope"/>
                  <a:cs typeface="Manrope"/>
                </a:rPr>
                <a:t>If unresolved</a:t>
              </a:r>
              <a:endParaRPr lang="en-US" sz="1250"/>
            </a:p>
          </p:txBody>
        </p:sp>
        <p:sp>
          <p:nvSpPr>
            <p:cNvPr id="1193" name="text · 162"/>
            <p:cNvSpPr txBox="1"/>
            <p:nvPr/>
          </p:nvSpPr>
          <p:spPr>
            <a:xfrm>
              <a:off x="4227512" y="5238750"/>
              <a:ext cx="13366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Reasoning gate</a:t>
              </a:r>
              <a:endParaRPr lang="en-US" sz="1400"/>
            </a:p>
          </p:txBody>
        </p:sp>
        <p:grpSp>
          <p:nvGrpSpPr>
            <p:cNvPr id="1194" name="request-route · 165"/>
            <p:cNvGrpSpPr/>
            <p:nvPr/>
          </p:nvGrpSpPr>
          <p:grpSpPr>
            <a:xfrm>
              <a:off x="825500" y="3505200"/>
              <a:ext cx="1733550" cy="1936750"/>
              <a:chOff x="825500" y="3505200"/>
              <a:chExt cx="1733550" cy="1936750"/>
            </a:xfrm>
          </p:grpSpPr>
          <p:grpSp>
            <p:nvGrpSpPr>
              <p:cNvPr id="1195" name="path · 163 + arrowhead"/>
              <p:cNvGrpSpPr/>
              <p:nvPr/>
            </p:nvGrpSpPr>
            <p:grpSpPr>
              <a:xfrm>
                <a:off x="825500" y="3505200"/>
                <a:ext cx="1733550" cy="1936750"/>
                <a:chOff x="825500" y="3505200"/>
                <a:chExt cx="1733550" cy="1936750"/>
              </a:xfrm>
            </p:grpSpPr>
            <p:sp>
              <p:nvSpPr>
                <p:cNvPr id="1196" name="path · 163"/>
                <p:cNvSpPr/>
                <p:nvPr/>
              </p:nvSpPr>
              <p:spPr>
                <a:xfrm>
                  <a:off x="825500" y="3530600"/>
                  <a:ext cx="1733550" cy="1911350"/>
                </a:xfrm>
                <a:custGeom>
                  <a:avLst/>
                  <a:gdLst/>
                  <a:ahLst/>
                  <a:cxnLst/>
                  <a:rect l="0" t="0" r="r" b="b"/>
                  <a:pathLst>
                    <a:path w="1733550" h="1911350" fill="none" stroke="1" extrusionOk="0">
                      <a:moveTo>
                        <a:pt x="1733550" y="1828800"/>
                      </a:moveTo>
                      <a:lnTo>
                        <a:pt x="1733550" y="1911350"/>
                      </a:lnTo>
                      <a:lnTo>
                        <a:pt x="0" y="1911350"/>
                      </a:lnTo>
                      <a:lnTo>
                        <a:pt x="0" y="0"/>
                      </a:lnTo>
                      <a:lnTo>
                        <a:pt x="336550" y="0"/>
                      </a:lnTo>
                    </a:path>
                  </a:pathLst>
                </a:custGeom>
                <a:noFill/>
                <a:ln w="19050" cap="rnd" cmpd="sng" algn="ctr">
                  <a:solidFill>
                    <a:srgbClr val="2E6653"/>
                  </a:solidFill>
                  <a:prstDash val="solid"/>
                  <a:round/>
                  <a:headEnd type="none" w="med" len="med"/>
                  <a:tailEnd type="none" w="med" len="med"/>
                </a:ln>
              </p:spPr>
            </p:sp>
            <p:grpSp>
              <p:nvGrpSpPr>
                <p:cNvPr id="1197" name="arrow-green end"/>
                <p:cNvGrpSpPr/>
                <p:nvPr/>
              </p:nvGrpSpPr>
              <p:grpSpPr>
                <a:xfrm>
                  <a:off x="1114425" y="3505200"/>
                  <a:ext cx="47625" cy="50800"/>
                  <a:chOff x="1114425" y="3505200"/>
                  <a:chExt cx="47625" cy="50800"/>
                </a:xfrm>
              </p:grpSpPr>
              <p:sp>
                <p:nvSpPr>
                  <p:cNvPr id="1198" name="path · 164"/>
                  <p:cNvSpPr/>
                  <p:nvPr/>
                </p:nvSpPr>
                <p:spPr>
                  <a:xfrm>
                    <a:off x="1114425" y="3505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99" name="text · 166"/>
            <p:cNvSpPr txBox="1"/>
            <p:nvPr/>
          </p:nvSpPr>
          <p:spPr>
            <a:xfrm>
              <a:off x="1141412" y="5518150"/>
              <a:ext cx="7397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Reassess</a:t>
              </a:r>
              <a:endParaRPr lang="en-US" sz="1250"/>
            </a:p>
          </p:txBody>
        </p:sp>
        <p:sp>
          <p:nvSpPr>
            <p:cNvPr id="1200" name="text · 167"/>
            <p:cNvSpPr txBox="1"/>
            <p:nvPr/>
          </p:nvSpPr>
          <p:spPr>
            <a:xfrm>
              <a:off x="6615112" y="5441950"/>
              <a:ext cx="30892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Keep every task and its conditions.</a:t>
              </a:r>
              <a:endParaRPr lang="en-US" sz="1450"/>
            </a:p>
          </p:txBody>
        </p:sp>
      </p:grpSp>
      <p:grpSp>
        <p:nvGrpSpPr>
          <p:cNvPr id="1206" name="07 · source-line: Agent Graph / guided determinism · AgentScript control plane · Intent routi"/>
          <p:cNvGrpSpPr/>
          <p:nvPr/>
        </p:nvGrpSpPr>
        <p:grpSpPr>
          <a:xfrm>
            <a:off x="558800" y="6037898"/>
            <a:ext cx="11087100" cy="284456"/>
            <a:chOff x="558800" y="6037898"/>
            <a:chExt cx="11087100" cy="284456"/>
          </a:xfrm>
        </p:grpSpPr>
        <p:sp>
          <p:nvSpPr>
            <p:cNvPr id="1201" name="07 · source-line · top border [p07-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02" name="07 · span: Agent Graph / guided determinism · AgentScript control plane · Intent routing  [p07-text-0009]" descr="Native editable Unicode text; authored line breaks retained."/>
            <p:cNvSpPr txBox="1"/>
            <p:nvPr/>
          </p:nvSpPr>
          <p:spPr>
            <a:xfrm>
              <a:off x="558800" y="6153126"/>
              <a:ext cx="59912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Bounded request routes · B</a:t>
              </a:r>
              <a:endParaRPr lang="en-US" sz="950" b="0" i="0" kern="0" spc="0" dirty="0" u="sng">
                <a:solidFill>
                  <a:srgbClr val="315A7A"/>
                </a:solidFill>
                <a:latin typeface="Salesforce Sans"/>
                <a:ea typeface="Salesforce Sans"/>
                <a:cs typeface="Salesforce Sans"/>
              </a:endParaRPr>
            </a:p>
          </p:txBody>
        </p:sp>
        <p:sp>
          <p:nvSpPr>
            <p:cNvPr id="1203" name="07 · span: Illustrated supported combinations · independent handler policies [p07-text-0010]" descr="Native editable Unicode text; authored line breaks retained."/>
            <p:cNvSpPr txBox="1"/>
            <p:nvPr/>
          </p:nvSpPr>
          <p:spPr>
            <a:xfrm>
              <a:off x="7920738" y="6153126"/>
              <a:ext cx="37251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Illustrated supported combinations · independent handler policies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serve frontier reasoning for unresolved meaning">
    <p:bg>
      <p:bgPr>
        <a:solidFill>
          <a:srgbClr val="FFFFFF"/>
        </a:solidFill>
      </p:bgPr>
    </p:bg>
    <p:spTree>
      <p:nvGrpSpPr>
        <p:cNvPr id="1" name=""/>
        <p:cNvGrpSpPr/>
        <p:nvPr/>
      </p:nvGrpSpPr>
      <p:grpSpPr>
        <a:xfrm>
          <a:off x="0" y="0"/>
          <a:ext cx="0" cy="0"/>
          <a:chOff x="0" y="0"/>
          <a:chExt cx="0" cy="0"/>
        </a:xfrm>
      </p:grpSpPr>
      <p:sp>
        <p:nvSpPr>
          <p:cNvPr id="1000" name="08 · slide dark · surface [p0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1" name="08 · chrome-min: DISAGGREGATED INTELLIGENCE"/>
          <p:cNvGrpSpPr/>
          <p:nvPr/>
        </p:nvGrpSpPr>
        <p:grpSpPr>
          <a:xfrm>
            <a:off x="558800" y="356053"/>
            <a:ext cx="11087100" cy="187325"/>
            <a:chOff x="558800" y="356053"/>
            <a:chExt cx="11087100" cy="187325"/>
          </a:xfrm>
        </p:grpSpPr>
        <p:sp>
          <p:nvSpPr>
            <p:cNvPr id="1001" name="08 · l: DISAGGREGATED INTELLIGENCE [p0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8 · r: 08 / 36 [p0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08 / 36</a:t>
              </a:r>
              <a:endParaRPr lang="en-US" sz="950" b="1" i="0" kern="0" spc="65" dirty="0">
                <a:solidFill>
                  <a:srgbClr val="022AC0"/>
                </a:solidFill>
                <a:latin typeface="Salesforce Sans"/>
                <a:ea typeface="Salesforce Sans"/>
                <a:cs typeface="Salesforce Sans"/>
              </a:endParaRPr>
            </a:p>
          </p:txBody>
        </p:sp>
      </p:grpSp>
      <p:grpSp>
        <p:nvGrpSpPr>
          <p:cNvPr id="1182" name="08 · deck-head: STEP 01 / THE INTERPRETATION EXCEPTION · C"/>
          <p:cNvGrpSpPr/>
          <p:nvPr/>
        </p:nvGrpSpPr>
        <p:grpSpPr>
          <a:xfrm>
            <a:off x="558800" y="775901"/>
            <a:ext cx="11087100" cy="871263"/>
            <a:chOff x="558800" y="775901"/>
            <a:chExt cx="11087100" cy="871263"/>
          </a:xfrm>
        </p:grpSpPr>
        <p:sp>
          <p:nvSpPr>
            <p:cNvPr id="1003" name="08 · returns-fallback-eyebrow: STEP 01 / THE INTERPRETATION EXCEPTION · C [p0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THE INTERPRETATION EXCEPTION · C</a:t>
              </a:r>
              <a:endParaRPr lang="en-US" sz="1050" b="1" i="0" kern="0" spc="68" dirty="0">
                <a:solidFill>
                  <a:srgbClr val="022AC0"/>
                </a:solidFill>
                <a:latin typeface="Salesforce Sans"/>
                <a:ea typeface="Salesforce Sans"/>
                <a:cs typeface="Salesforce Sans"/>
              </a:endParaRPr>
            </a:p>
          </p:txBody>
        </p:sp>
        <p:sp>
          <p:nvSpPr>
            <p:cNvPr id="1004" name="08 · returns-fallback-title: Reserve frontier reasoning for unresolved meaning [p0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Reserve frontier reasoning for unresolved meaning</a:t>
              </a:r>
              <a:endParaRPr lang="en-US" sz="3600" b="1" i="0" kern="0" spc="-95" dirty="0">
                <a:solidFill>
                  <a:srgbClr val="022AC0"/>
                </a:solidFill>
                <a:latin typeface="Manrope"/>
                <a:ea typeface="Manrope"/>
                <a:cs typeface="Manrope"/>
              </a:endParaRPr>
            </a:p>
          </p:txBody>
        </p:sp>
      </p:grpSp>
      <p:grpSp>
        <p:nvGrpSpPr>
          <p:cNvPr id="1005" name="08 · img · drawing [p08-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C · 4"/>
            <p:cNvGrpSpPr/>
            <p:nvPr/>
          </p:nvGrpSpPr>
          <p:grpSpPr>
            <a:xfrm>
              <a:off x="609600" y="1911350"/>
              <a:ext cx="279400" cy="279400"/>
              <a:chOff x="609600" y="1911350"/>
              <a:chExt cx="279400" cy="279400"/>
            </a:xfrm>
          </p:grpSpPr>
          <p:sp>
            <p:nvSpPr>
              <p:cNvPr id="1008" name="circle · 2"/>
              <p:cNvSpPr/>
              <p:nvPr/>
            </p:nvSpPr>
            <p:spPr>
              <a:xfrm>
                <a:off x="609600" y="191135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009" name="text · 3"/>
              <p:cNvSpPr txBox="1"/>
              <p:nvPr/>
            </p:nvSpPr>
            <p:spPr>
              <a:xfrm>
                <a:off x="681037" y="196215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010" name="text · 5"/>
            <p:cNvSpPr txBox="1"/>
            <p:nvPr/>
          </p:nvSpPr>
          <p:spPr>
            <a:xfrm>
              <a:off x="969962" y="1987550"/>
              <a:ext cx="2200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access + purchase</a:t>
              </a:r>
              <a:endParaRPr lang="en-US" sz="1350"/>
            </a:p>
          </p:txBody>
        </p:sp>
        <p:grpSp>
          <p:nvGrpSpPr>
            <p:cNvPr id="1011" name="request-route · 8"/>
            <p:cNvGrpSpPr/>
            <p:nvPr/>
          </p:nvGrpSpPr>
          <p:grpSpPr>
            <a:xfrm>
              <a:off x="1397000" y="4375150"/>
              <a:ext cx="5346700" cy="654050"/>
              <a:chOff x="1397000" y="4375150"/>
              <a:chExt cx="5346700" cy="654050"/>
            </a:xfrm>
          </p:grpSpPr>
          <p:grpSp>
            <p:nvGrpSpPr>
              <p:cNvPr id="1012" name="path · 6 + arrowhead"/>
              <p:cNvGrpSpPr/>
              <p:nvPr/>
            </p:nvGrpSpPr>
            <p:grpSpPr>
              <a:xfrm>
                <a:off x="1397000" y="4375150"/>
                <a:ext cx="5346700" cy="654050"/>
                <a:chOff x="1397000" y="4375150"/>
                <a:chExt cx="5346700" cy="654050"/>
              </a:xfrm>
            </p:grpSpPr>
            <p:sp>
              <p:nvSpPr>
                <p:cNvPr id="1013" name="path · 6"/>
                <p:cNvSpPr/>
                <p:nvPr/>
              </p:nvSpPr>
              <p:spPr>
                <a:xfrm>
                  <a:off x="1397000" y="4375150"/>
                  <a:ext cx="5346700" cy="628650"/>
                </a:xfrm>
                <a:custGeom>
                  <a:avLst/>
                  <a:gdLst/>
                  <a:ahLst/>
                  <a:cxnLst/>
                  <a:rect l="0" t="0" r="r" b="b"/>
                  <a:pathLst>
                    <a:path w="5346700" h="628650" fill="none" stroke="1" extrusionOk="0">
                      <a:moveTo>
                        <a:pt x="0" y="0"/>
                      </a:moveTo>
                      <a:lnTo>
                        <a:pt x="0" y="628650"/>
                      </a:lnTo>
                      <a:lnTo>
                        <a:pt x="5346700" y="628650"/>
                      </a:lnTo>
                    </a:path>
                  </a:pathLst>
                </a:custGeom>
                <a:noFill/>
                <a:ln w="28575" cap="rnd" cmpd="sng" algn="ctr">
                  <a:solidFill>
                    <a:srgbClr val="2E6653"/>
                  </a:solidFill>
                  <a:prstDash val="solid"/>
                  <a:round/>
                  <a:headEnd type="none" w="med" len="med"/>
                  <a:tailEnd type="none" w="med" len="med"/>
                </a:ln>
              </p:spPr>
            </p:sp>
            <p:grpSp>
              <p:nvGrpSpPr>
                <p:cNvPr id="1014" name="arrow-green end"/>
                <p:cNvGrpSpPr/>
                <p:nvPr/>
              </p:nvGrpSpPr>
              <p:grpSpPr>
                <a:xfrm>
                  <a:off x="6696075" y="4978400"/>
                  <a:ext cx="47625" cy="50800"/>
                  <a:chOff x="6696075" y="4978400"/>
                  <a:chExt cx="47625" cy="50800"/>
                </a:xfrm>
              </p:grpSpPr>
              <p:sp>
                <p:nvSpPr>
                  <p:cNvPr id="1015" name="path · 7"/>
                  <p:cNvSpPr/>
                  <p:nvPr/>
                </p:nvSpPr>
                <p:spPr>
                  <a:xfrm>
                    <a:off x="6696075" y="49784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16" name="text · 9"/>
            <p:cNvSpPr txBox="1"/>
            <p:nvPr/>
          </p:nvSpPr>
          <p:spPr>
            <a:xfrm>
              <a:off x="2906712" y="4749800"/>
              <a:ext cx="12731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Clear meaning</a:t>
              </a:r>
              <a:endParaRPr lang="en-US" sz="1450"/>
            </a:p>
          </p:txBody>
        </p:sp>
        <p:grpSp>
          <p:nvGrpSpPr>
            <p:cNvPr id="1017" name="request-route · 12"/>
            <p:cNvGrpSpPr/>
            <p:nvPr/>
          </p:nvGrpSpPr>
          <p:grpSpPr>
            <a:xfrm>
              <a:off x="1943100" y="3054350"/>
              <a:ext cx="577850" cy="806450"/>
              <a:chOff x="1943100" y="3054350"/>
              <a:chExt cx="577850" cy="806450"/>
            </a:xfrm>
          </p:grpSpPr>
          <p:grpSp>
            <p:nvGrpSpPr>
              <p:cNvPr id="1018" name="path · 10 + arrowhead"/>
              <p:cNvGrpSpPr/>
              <p:nvPr/>
            </p:nvGrpSpPr>
            <p:grpSpPr>
              <a:xfrm>
                <a:off x="1943100" y="3054350"/>
                <a:ext cx="577850" cy="806450"/>
                <a:chOff x="1943100" y="3054350"/>
                <a:chExt cx="577850" cy="806450"/>
              </a:xfrm>
            </p:grpSpPr>
            <p:sp>
              <p:nvSpPr>
                <p:cNvPr id="1019" name="path · 10"/>
                <p:cNvSpPr/>
                <p:nvPr/>
              </p:nvSpPr>
              <p:spPr>
                <a:xfrm>
                  <a:off x="1943100" y="3079750"/>
                  <a:ext cx="577850" cy="781050"/>
                </a:xfrm>
                <a:custGeom>
                  <a:avLst/>
                  <a:gdLst/>
                  <a:ahLst/>
                  <a:cxnLst/>
                  <a:rect l="0" t="0" r="r" b="b"/>
                  <a:pathLst>
                    <a:path w="577850" h="781050" fill="none" stroke="1" extrusionOk="0">
                      <a:moveTo>
                        <a:pt x="0" y="781050"/>
                      </a:moveTo>
                      <a:lnTo>
                        <a:pt x="330200" y="781050"/>
                      </a:lnTo>
                      <a:lnTo>
                        <a:pt x="330200" y="0"/>
                      </a:lnTo>
                      <a:lnTo>
                        <a:pt x="577850" y="0"/>
                      </a:lnTo>
                    </a:path>
                  </a:pathLst>
                </a:custGeom>
                <a:noFill/>
                <a:ln w="22225" cap="rnd" cmpd="sng" algn="ctr">
                  <a:solidFill>
                    <a:srgbClr val="7A6025"/>
                  </a:solidFill>
                  <a:custDash>
                    <a:ds d="228571" sp="257143"/>
                  </a:custDash>
                  <a:round/>
                  <a:headEnd type="none" w="med" len="med"/>
                  <a:tailEnd type="none" w="med" len="med"/>
                </a:ln>
              </p:spPr>
            </p:sp>
            <p:grpSp>
              <p:nvGrpSpPr>
                <p:cNvPr id="1020" name="arrow-ochre end"/>
                <p:cNvGrpSpPr/>
                <p:nvPr/>
              </p:nvGrpSpPr>
              <p:grpSpPr>
                <a:xfrm>
                  <a:off x="2473325" y="3054350"/>
                  <a:ext cx="47625" cy="50800"/>
                  <a:chOff x="2473325" y="3054350"/>
                  <a:chExt cx="47625" cy="50800"/>
                </a:xfrm>
              </p:grpSpPr>
              <p:sp>
                <p:nvSpPr>
                  <p:cNvPr id="1021" name="path · 11"/>
                  <p:cNvSpPr/>
                  <p:nvPr/>
                </p:nvSpPr>
                <p:spPr>
                  <a:xfrm>
                    <a:off x="2473325" y="3054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22" name="text · 13"/>
            <p:cNvSpPr txBox="1"/>
            <p:nvPr/>
          </p:nvSpPr>
          <p:spPr>
            <a:xfrm>
              <a:off x="1754187" y="2743200"/>
              <a:ext cx="733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Unclear?</a:t>
              </a:r>
              <a:endParaRPr lang="en-US" sz="1350"/>
            </a:p>
          </p:txBody>
        </p:sp>
        <p:grpSp>
          <p:nvGrpSpPr>
            <p:cNvPr id="1023" name="request-route · 16"/>
            <p:cNvGrpSpPr/>
            <p:nvPr/>
          </p:nvGrpSpPr>
          <p:grpSpPr>
            <a:xfrm>
              <a:off x="3702050" y="3048000"/>
              <a:ext cx="508000" cy="50800"/>
              <a:chOff x="3702050" y="3048000"/>
              <a:chExt cx="508000" cy="50800"/>
            </a:xfrm>
          </p:grpSpPr>
          <p:grpSp>
            <p:nvGrpSpPr>
              <p:cNvPr id="1024" name="path · 14 + arrowhead"/>
              <p:cNvGrpSpPr/>
              <p:nvPr/>
            </p:nvGrpSpPr>
            <p:grpSpPr>
              <a:xfrm>
                <a:off x="3702050" y="3048000"/>
                <a:ext cx="508000" cy="50800"/>
                <a:chOff x="3702050" y="3048000"/>
                <a:chExt cx="508000" cy="50800"/>
              </a:xfrm>
            </p:grpSpPr>
            <p:sp>
              <p:nvSpPr>
                <p:cNvPr id="1025" name="path · 14"/>
                <p:cNvSpPr/>
                <p:nvPr/>
              </p:nvSpPr>
              <p:spPr>
                <a:xfrm>
                  <a:off x="3702050" y="3073400"/>
                  <a:ext cx="508000" cy="1"/>
                </a:xfrm>
                <a:custGeom>
                  <a:avLst/>
                  <a:gdLst/>
                  <a:ahLst/>
                  <a:cxnLst/>
                  <a:rect l="0" t="0" r="r" b="b"/>
                  <a:pathLst>
                    <a:path w="508000" h="1" fill="none" stroke="1" extrusionOk="0">
                      <a:moveTo>
                        <a:pt x="0" y="0"/>
                      </a:moveTo>
                      <a:lnTo>
                        <a:pt x="508000" y="0"/>
                      </a:lnTo>
                    </a:path>
                  </a:pathLst>
                </a:custGeom>
                <a:noFill/>
                <a:ln w="22225" cap="rnd" cmpd="sng" algn="ctr">
                  <a:solidFill>
                    <a:srgbClr val="7A6025"/>
                  </a:solidFill>
                  <a:custDash>
                    <a:ds d="228571" sp="257143"/>
                  </a:custDash>
                  <a:round/>
                  <a:headEnd type="none" w="med" len="med"/>
                  <a:tailEnd type="none" w="med" len="med"/>
                </a:ln>
              </p:spPr>
            </p:sp>
            <p:grpSp>
              <p:nvGrpSpPr>
                <p:cNvPr id="1026" name="arrow-ochre end"/>
                <p:cNvGrpSpPr/>
                <p:nvPr/>
              </p:nvGrpSpPr>
              <p:grpSpPr>
                <a:xfrm>
                  <a:off x="4162425" y="3048000"/>
                  <a:ext cx="47625" cy="50800"/>
                  <a:chOff x="4162425" y="3048000"/>
                  <a:chExt cx="47625" cy="50800"/>
                </a:xfrm>
              </p:grpSpPr>
              <p:sp>
                <p:nvSpPr>
                  <p:cNvPr id="1027" name="path · 15"/>
                  <p:cNvSpPr/>
                  <p:nvPr/>
                </p:nvSpPr>
                <p:spPr>
                  <a:xfrm>
                    <a:off x="41624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28" name="request-route · 19"/>
            <p:cNvGrpSpPr/>
            <p:nvPr/>
          </p:nvGrpSpPr>
          <p:grpSpPr>
            <a:xfrm>
              <a:off x="5283200" y="3048000"/>
              <a:ext cx="679450" cy="50800"/>
              <a:chOff x="5283200" y="3048000"/>
              <a:chExt cx="679450" cy="50800"/>
            </a:xfrm>
          </p:grpSpPr>
          <p:grpSp>
            <p:nvGrpSpPr>
              <p:cNvPr id="1029" name="path · 17 + arrowhead"/>
              <p:cNvGrpSpPr/>
              <p:nvPr/>
            </p:nvGrpSpPr>
            <p:grpSpPr>
              <a:xfrm>
                <a:off x="5283200" y="3048000"/>
                <a:ext cx="679450" cy="50800"/>
                <a:chOff x="5283200" y="3048000"/>
                <a:chExt cx="679450" cy="50800"/>
              </a:xfrm>
            </p:grpSpPr>
            <p:sp>
              <p:nvSpPr>
                <p:cNvPr id="1030" name="path · 17"/>
                <p:cNvSpPr/>
                <p:nvPr/>
              </p:nvSpPr>
              <p:spPr>
                <a:xfrm>
                  <a:off x="5283200" y="3073400"/>
                  <a:ext cx="679450" cy="1"/>
                </a:xfrm>
                <a:custGeom>
                  <a:avLst/>
                  <a:gdLst/>
                  <a:ahLst/>
                  <a:cxnLst/>
                  <a:rect l="0" t="0" r="r" b="b"/>
                  <a:pathLst>
                    <a:path w="679450" h="1" fill="none" stroke="1" extrusionOk="0">
                      <a:moveTo>
                        <a:pt x="0" y="0"/>
                      </a:moveTo>
                      <a:lnTo>
                        <a:pt x="679450" y="0"/>
                      </a:lnTo>
                    </a:path>
                  </a:pathLst>
                </a:custGeom>
                <a:noFill/>
                <a:ln w="22225" cap="rnd" cmpd="sng" algn="ctr">
                  <a:solidFill>
                    <a:srgbClr val="7A6025"/>
                  </a:solidFill>
                  <a:custDash>
                    <a:ds d="228571" sp="257143"/>
                  </a:custDash>
                  <a:round/>
                  <a:headEnd type="none" w="med" len="med"/>
                  <a:tailEnd type="none" w="med" len="med"/>
                </a:ln>
              </p:spPr>
            </p:sp>
            <p:grpSp>
              <p:nvGrpSpPr>
                <p:cNvPr id="1031" name="arrow-ochre end"/>
                <p:cNvGrpSpPr/>
                <p:nvPr/>
              </p:nvGrpSpPr>
              <p:grpSpPr>
                <a:xfrm>
                  <a:off x="5915025" y="3048000"/>
                  <a:ext cx="47625" cy="50800"/>
                  <a:chOff x="5915025" y="3048000"/>
                  <a:chExt cx="47625" cy="50800"/>
                </a:xfrm>
              </p:grpSpPr>
              <p:sp>
                <p:nvSpPr>
                  <p:cNvPr id="1032" name="path · 18"/>
                  <p:cNvSpPr/>
                  <p:nvPr/>
                </p:nvSpPr>
                <p:spPr>
                  <a:xfrm>
                    <a:off x="59150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33" name="text · 20"/>
            <p:cNvSpPr txBox="1"/>
            <p:nvPr/>
          </p:nvSpPr>
          <p:spPr>
            <a:xfrm>
              <a:off x="5399087" y="2800350"/>
              <a:ext cx="479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Ready</a:t>
              </a:r>
              <a:endParaRPr lang="en-US" sz="1250"/>
            </a:p>
          </p:txBody>
        </p:sp>
        <p:grpSp>
          <p:nvGrpSpPr>
            <p:cNvPr id="1034" name="request-route · 23"/>
            <p:cNvGrpSpPr/>
            <p:nvPr/>
          </p:nvGrpSpPr>
          <p:grpSpPr>
            <a:xfrm>
              <a:off x="7423150" y="3009900"/>
              <a:ext cx="1054100" cy="50800"/>
              <a:chOff x="7423150" y="3009900"/>
              <a:chExt cx="1054100" cy="50800"/>
            </a:xfrm>
          </p:grpSpPr>
          <p:grpSp>
            <p:nvGrpSpPr>
              <p:cNvPr id="1035" name="path · 21 + arrowhead"/>
              <p:cNvGrpSpPr/>
              <p:nvPr/>
            </p:nvGrpSpPr>
            <p:grpSpPr>
              <a:xfrm>
                <a:off x="7423150" y="3009900"/>
                <a:ext cx="1054100" cy="50800"/>
                <a:chOff x="7423150" y="3009900"/>
                <a:chExt cx="1054100" cy="50800"/>
              </a:xfrm>
            </p:grpSpPr>
            <p:sp>
              <p:nvSpPr>
                <p:cNvPr id="1036" name="path · 21"/>
                <p:cNvSpPr/>
                <p:nvPr/>
              </p:nvSpPr>
              <p:spPr>
                <a:xfrm>
                  <a:off x="7423150" y="3035300"/>
                  <a:ext cx="1054100" cy="1"/>
                </a:xfrm>
                <a:custGeom>
                  <a:avLst/>
                  <a:gdLst/>
                  <a:ahLst/>
                  <a:cxnLst/>
                  <a:rect l="0" t="0" r="r" b="b"/>
                  <a:pathLst>
                    <a:path w="1054100" h="1" fill="none" stroke="1" extrusionOk="0">
                      <a:moveTo>
                        <a:pt x="0" y="0"/>
                      </a:moveTo>
                      <a:lnTo>
                        <a:pt x="1054100" y="0"/>
                      </a:lnTo>
                    </a:path>
                  </a:pathLst>
                </a:custGeom>
                <a:noFill/>
                <a:ln w="22225" cap="rnd" cmpd="sng" algn="ctr">
                  <a:solidFill>
                    <a:srgbClr val="665180"/>
                  </a:solidFill>
                  <a:custDash>
                    <a:ds d="228571" sp="257143"/>
                  </a:custDash>
                  <a:round/>
                  <a:headEnd type="none" w="med" len="med"/>
                  <a:tailEnd type="none" w="med" len="med"/>
                </a:ln>
              </p:spPr>
            </p:sp>
            <p:grpSp>
              <p:nvGrpSpPr>
                <p:cNvPr id="1037" name="arrow-plum end"/>
                <p:cNvGrpSpPr/>
                <p:nvPr/>
              </p:nvGrpSpPr>
              <p:grpSpPr>
                <a:xfrm>
                  <a:off x="8429625" y="3009900"/>
                  <a:ext cx="47625" cy="50800"/>
                  <a:chOff x="8429625" y="3009900"/>
                  <a:chExt cx="47625" cy="50800"/>
                </a:xfrm>
              </p:grpSpPr>
              <p:sp>
                <p:nvSpPr>
                  <p:cNvPr id="1038" name="path · 22"/>
                  <p:cNvSpPr/>
                  <p:nvPr/>
                </p:nvSpPr>
                <p:spPr>
                  <a:xfrm>
                    <a:off x="8429625" y="30099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sp>
          <p:nvSpPr>
            <p:cNvPr id="1039" name="text · 24"/>
            <p:cNvSpPr txBox="1"/>
            <p:nvPr/>
          </p:nvSpPr>
          <p:spPr>
            <a:xfrm>
              <a:off x="7605712" y="2755900"/>
              <a:ext cx="7016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0" i="0" kern="0" spc="0" dirty="0">
                  <a:solidFill>
                    <a:srgbClr val="665180"/>
                  </a:solidFill>
                  <a:latin typeface="Manrope"/>
                  <a:ea typeface="Manrope"/>
                  <a:cs typeface="Manrope"/>
                </a:rPr>
                <a:t>Proposal</a:t>
              </a:r>
              <a:endParaRPr lang="en-US" sz="1300"/>
            </a:p>
          </p:txBody>
        </p:sp>
        <p:grpSp>
          <p:nvGrpSpPr>
            <p:cNvPr id="1040" name="request-route · 26"/>
            <p:cNvGrpSpPr/>
            <p:nvPr/>
          </p:nvGrpSpPr>
          <p:grpSpPr>
            <a:xfrm>
              <a:off x="2679700" y="3549650"/>
              <a:ext cx="3962400" cy="1454150"/>
              <a:chOff x="2679700" y="3549650"/>
              <a:chExt cx="3962400" cy="1454150"/>
            </a:xfrm>
          </p:grpSpPr>
          <p:sp>
            <p:nvSpPr>
              <p:cNvPr id="1041" name="path · 25"/>
              <p:cNvSpPr/>
              <p:nvPr/>
            </p:nvSpPr>
            <p:spPr>
              <a:xfrm>
                <a:off x="2679700" y="3549650"/>
                <a:ext cx="3962400" cy="1454150"/>
              </a:xfrm>
              <a:custGeom>
                <a:avLst/>
                <a:gdLst/>
                <a:ahLst/>
                <a:cxnLst/>
                <a:rect l="0" t="0" r="r" b="b"/>
                <a:pathLst>
                  <a:path w="3962400" h="1454150" fill="none" stroke="1" extrusionOk="0">
                    <a:moveTo>
                      <a:pt x="0" y="0"/>
                    </a:moveTo>
                    <a:lnTo>
                      <a:pt x="0" y="1003300"/>
                    </a:lnTo>
                    <a:lnTo>
                      <a:pt x="3962400" y="1003300"/>
                    </a:lnTo>
                    <a:lnTo>
                      <a:pt x="3962400" y="1454150"/>
                    </a:lnTo>
                  </a:path>
                </a:pathLst>
              </a:custGeom>
              <a:noFill/>
              <a:ln w="22225" cap="rnd" cmpd="sng" algn="ctr">
                <a:solidFill>
                  <a:srgbClr val="2E6653"/>
                </a:solidFill>
                <a:prstDash val="solid"/>
                <a:round/>
                <a:headEnd type="none" w="med" len="med"/>
                <a:tailEnd type="none" w="med" len="med"/>
              </a:ln>
            </p:spPr>
          </p:sp>
        </p:grpSp>
        <p:sp>
          <p:nvSpPr>
            <p:cNvPr id="1042" name="circle · 27"/>
            <p:cNvSpPr/>
            <p:nvPr/>
          </p:nvSpPr>
          <p:spPr>
            <a:xfrm>
              <a:off x="6610350" y="4972050"/>
              <a:ext cx="63500" cy="63500"/>
            </a:xfrm>
            <a:prstGeom prst="ellipse">
              <a:avLst/>
            </a:prstGeom>
            <a:solidFill>
              <a:srgbClr val="2E6653"/>
            </a:solidFill>
            <a:ln>
              <a:noFill/>
            </a:ln>
          </p:spPr>
        </p:sp>
        <p:sp>
          <p:nvSpPr>
            <p:cNvPr id="1043" name="text · 28"/>
            <p:cNvSpPr txBox="1"/>
            <p:nvPr/>
          </p:nvSpPr>
          <p:spPr>
            <a:xfrm>
              <a:off x="5513387" y="4292600"/>
              <a:ext cx="758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Resolved</a:t>
              </a:r>
              <a:endParaRPr lang="en-US" sz="1350"/>
            </a:p>
          </p:txBody>
        </p:sp>
        <p:grpSp>
          <p:nvGrpSpPr>
            <p:cNvPr id="1044" name="request-route · 31"/>
            <p:cNvGrpSpPr/>
            <p:nvPr/>
          </p:nvGrpSpPr>
          <p:grpSpPr>
            <a:xfrm>
              <a:off x="7296150" y="3594100"/>
              <a:ext cx="1263650" cy="850900"/>
              <a:chOff x="7296150" y="3594100"/>
              <a:chExt cx="1263650" cy="850900"/>
            </a:xfrm>
          </p:grpSpPr>
          <p:grpSp>
            <p:nvGrpSpPr>
              <p:cNvPr id="1045" name="path · 29 + arrowhead"/>
              <p:cNvGrpSpPr/>
              <p:nvPr/>
            </p:nvGrpSpPr>
            <p:grpSpPr>
              <a:xfrm>
                <a:off x="7296150" y="3594100"/>
                <a:ext cx="1263650" cy="850900"/>
                <a:chOff x="7296150" y="3594100"/>
                <a:chExt cx="1263650" cy="850900"/>
              </a:xfrm>
            </p:grpSpPr>
            <p:sp>
              <p:nvSpPr>
                <p:cNvPr id="1046" name="path · 29"/>
                <p:cNvSpPr/>
                <p:nvPr/>
              </p:nvSpPr>
              <p:spPr>
                <a:xfrm>
                  <a:off x="7321550" y="3594100"/>
                  <a:ext cx="1238250" cy="850900"/>
                </a:xfrm>
                <a:custGeom>
                  <a:avLst/>
                  <a:gdLst/>
                  <a:ahLst/>
                  <a:cxnLst/>
                  <a:rect l="0" t="0" r="r" b="b"/>
                  <a:pathLst>
                    <a:path w="1238250" h="850900" fill="none" stroke="1" extrusionOk="0">
                      <a:moveTo>
                        <a:pt x="1238250" y="0"/>
                      </a:moveTo>
                      <a:lnTo>
                        <a:pt x="996950" y="0"/>
                      </a:lnTo>
                      <a:lnTo>
                        <a:pt x="996950" y="501650"/>
                      </a:lnTo>
                      <a:lnTo>
                        <a:pt x="0" y="501650"/>
                      </a:lnTo>
                      <a:lnTo>
                        <a:pt x="0" y="850900"/>
                      </a:lnTo>
                    </a:path>
                  </a:pathLst>
                </a:custGeom>
                <a:noFill/>
                <a:ln w="22225" cap="rnd" cmpd="sng" algn="ctr">
                  <a:solidFill>
                    <a:srgbClr val="2E6653"/>
                  </a:solidFill>
                  <a:prstDash val="solid"/>
                  <a:round/>
                  <a:headEnd type="none" w="med" len="med"/>
                  <a:tailEnd type="none" w="med" len="med"/>
                </a:ln>
              </p:spPr>
            </p:sp>
            <p:grpSp>
              <p:nvGrpSpPr>
                <p:cNvPr id="1047" name="arrow-green end"/>
                <p:cNvGrpSpPr/>
                <p:nvPr/>
              </p:nvGrpSpPr>
              <p:grpSpPr>
                <a:xfrm>
                  <a:off x="7296150" y="4397375"/>
                  <a:ext cx="50800" cy="47625"/>
                  <a:chOff x="7296150" y="4397375"/>
                  <a:chExt cx="50800" cy="47625"/>
                </a:xfrm>
              </p:grpSpPr>
              <p:sp>
                <p:nvSpPr>
                  <p:cNvPr id="1048" name="path · 30"/>
                  <p:cNvSpPr/>
                  <p:nvPr/>
                </p:nvSpPr>
                <p:spPr>
                  <a:xfrm>
                    <a:off x="7296150" y="43973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2E6653"/>
                    </a:solidFill>
                    <a:prstDash val="solid"/>
                    <a:round/>
                    <a:headEnd type="none" w="med" len="med"/>
                    <a:tailEnd type="none" w="med" len="med"/>
                  </a:ln>
                </p:spPr>
              </p:sp>
            </p:grpSp>
          </p:grpSp>
        </p:grpSp>
        <p:sp>
          <p:nvSpPr>
            <p:cNvPr id="1049" name="text · 32"/>
            <p:cNvSpPr txBox="1"/>
            <p:nvPr/>
          </p:nvSpPr>
          <p:spPr>
            <a:xfrm>
              <a:off x="7389812" y="3854450"/>
              <a:ext cx="7524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Validated</a:t>
              </a:r>
              <a:endParaRPr lang="en-US" sz="1350"/>
            </a:p>
          </p:txBody>
        </p:sp>
        <p:grpSp>
          <p:nvGrpSpPr>
            <p:cNvPr id="1050" name="request-route · 35"/>
            <p:cNvGrpSpPr/>
            <p:nvPr/>
          </p:nvGrpSpPr>
          <p:grpSpPr>
            <a:xfrm>
              <a:off x="9829800" y="3213100"/>
              <a:ext cx="495300" cy="50800"/>
              <a:chOff x="9829800" y="3213100"/>
              <a:chExt cx="495300" cy="50800"/>
            </a:xfrm>
          </p:grpSpPr>
          <p:grpSp>
            <p:nvGrpSpPr>
              <p:cNvPr id="1051" name="path · 33 + arrowhead"/>
              <p:cNvGrpSpPr/>
              <p:nvPr/>
            </p:nvGrpSpPr>
            <p:grpSpPr>
              <a:xfrm>
                <a:off x="9829800" y="3213100"/>
                <a:ext cx="495300" cy="50800"/>
                <a:chOff x="9829800" y="3213100"/>
                <a:chExt cx="495300" cy="50800"/>
              </a:xfrm>
            </p:grpSpPr>
            <p:sp>
              <p:nvSpPr>
                <p:cNvPr id="1052" name="path · 33"/>
                <p:cNvSpPr/>
                <p:nvPr/>
              </p:nvSpPr>
              <p:spPr>
                <a:xfrm>
                  <a:off x="9829800" y="3238500"/>
                  <a:ext cx="495300" cy="1"/>
                </a:xfrm>
                <a:custGeom>
                  <a:avLst/>
                  <a:gdLst/>
                  <a:ahLst/>
                  <a:cxnLst/>
                  <a:rect l="0" t="0" r="r" b="b"/>
                  <a:pathLst>
                    <a:path w="495300" h="1" fill="none" stroke="1" extrusionOk="0">
                      <a:moveTo>
                        <a:pt x="0" y="0"/>
                      </a:moveTo>
                      <a:lnTo>
                        <a:pt x="495300" y="0"/>
                      </a:lnTo>
                    </a:path>
                  </a:pathLst>
                </a:custGeom>
                <a:noFill/>
                <a:ln w="19050" cap="rnd" cmpd="sng" algn="ctr">
                  <a:solidFill>
                    <a:srgbClr val="7A6025"/>
                  </a:solidFill>
                  <a:prstDash val="solid"/>
                  <a:round/>
                  <a:headEnd type="none" w="med" len="med"/>
                  <a:tailEnd type="none" w="med" len="med"/>
                </a:ln>
              </p:spPr>
            </p:sp>
            <p:grpSp>
              <p:nvGrpSpPr>
                <p:cNvPr id="1053" name="arrow-ochre end"/>
                <p:cNvGrpSpPr/>
                <p:nvPr/>
              </p:nvGrpSpPr>
              <p:grpSpPr>
                <a:xfrm>
                  <a:off x="10277475" y="3213100"/>
                  <a:ext cx="47625" cy="50800"/>
                  <a:chOff x="10277475" y="3213100"/>
                  <a:chExt cx="47625" cy="50800"/>
                </a:xfrm>
              </p:grpSpPr>
              <p:sp>
                <p:nvSpPr>
                  <p:cNvPr id="1054" name="path · 34"/>
                  <p:cNvSpPr/>
                  <p:nvPr/>
                </p:nvSpPr>
                <p:spPr>
                  <a:xfrm>
                    <a:off x="10277475" y="3213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55" name="request-route · 38"/>
            <p:cNvGrpSpPr/>
            <p:nvPr/>
          </p:nvGrpSpPr>
          <p:grpSpPr>
            <a:xfrm>
              <a:off x="4337050" y="3524250"/>
              <a:ext cx="419100" cy="520700"/>
              <a:chOff x="4337050" y="3524250"/>
              <a:chExt cx="419100" cy="520700"/>
            </a:xfrm>
          </p:grpSpPr>
          <p:grpSp>
            <p:nvGrpSpPr>
              <p:cNvPr id="1056" name="path · 36 + arrowhead"/>
              <p:cNvGrpSpPr/>
              <p:nvPr/>
            </p:nvGrpSpPr>
            <p:grpSpPr>
              <a:xfrm>
                <a:off x="4337050" y="3524250"/>
                <a:ext cx="419100" cy="520700"/>
                <a:chOff x="4337050" y="3524250"/>
                <a:chExt cx="419100" cy="520700"/>
              </a:xfrm>
            </p:grpSpPr>
            <p:sp>
              <p:nvSpPr>
                <p:cNvPr id="1057" name="path · 36"/>
                <p:cNvSpPr/>
                <p:nvPr/>
              </p:nvSpPr>
              <p:spPr>
                <a:xfrm>
                  <a:off x="4362450" y="3524250"/>
                  <a:ext cx="393700" cy="520700"/>
                </a:xfrm>
                <a:custGeom>
                  <a:avLst/>
                  <a:gdLst/>
                  <a:ahLst/>
                  <a:cxnLst/>
                  <a:rect l="0" t="0" r="r" b="b"/>
                  <a:pathLst>
                    <a:path w="393700" h="520700" fill="none" stroke="1" extrusionOk="0">
                      <a:moveTo>
                        <a:pt x="393700" y="0"/>
                      </a:moveTo>
                      <a:lnTo>
                        <a:pt x="393700" y="393700"/>
                      </a:lnTo>
                      <a:lnTo>
                        <a:pt x="0" y="393700"/>
                      </a:lnTo>
                      <a:lnTo>
                        <a:pt x="0" y="520700"/>
                      </a:lnTo>
                    </a:path>
                  </a:pathLst>
                </a:custGeom>
                <a:noFill/>
                <a:ln w="15875" cap="rnd" cmpd="sng" algn="ctr">
                  <a:solidFill>
                    <a:srgbClr val="81533E"/>
                  </a:solidFill>
                  <a:prstDash val="solid"/>
                  <a:round/>
                  <a:headEnd type="none" w="med" len="med"/>
                  <a:tailEnd type="none" w="med" len="med"/>
                </a:ln>
              </p:spPr>
            </p:sp>
            <p:grpSp>
              <p:nvGrpSpPr>
                <p:cNvPr id="1058" name="arrow-rust end"/>
                <p:cNvGrpSpPr/>
                <p:nvPr/>
              </p:nvGrpSpPr>
              <p:grpSpPr>
                <a:xfrm>
                  <a:off x="4337050" y="3997325"/>
                  <a:ext cx="50800" cy="47625"/>
                  <a:chOff x="4337050" y="3997325"/>
                  <a:chExt cx="50800" cy="47625"/>
                </a:xfrm>
              </p:grpSpPr>
              <p:sp>
                <p:nvSpPr>
                  <p:cNvPr id="1059" name="path · 37"/>
                  <p:cNvSpPr/>
                  <p:nvPr/>
                </p:nvSpPr>
                <p:spPr>
                  <a:xfrm>
                    <a:off x="433705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81533E"/>
                    </a:solidFill>
                    <a:prstDash val="solid"/>
                    <a:round/>
                    <a:headEnd type="none" w="med" len="med"/>
                    <a:tailEnd type="none" w="med" len="med"/>
                  </a:ln>
                </p:spPr>
              </p:sp>
            </p:grpSp>
          </p:grpSp>
        </p:grpSp>
        <p:grpSp>
          <p:nvGrpSpPr>
            <p:cNvPr id="1060" name="request-route · 41"/>
            <p:cNvGrpSpPr/>
            <p:nvPr/>
          </p:nvGrpSpPr>
          <p:grpSpPr>
            <a:xfrm>
              <a:off x="4756150" y="3917950"/>
              <a:ext cx="400050" cy="127000"/>
              <a:chOff x="4756150" y="3917950"/>
              <a:chExt cx="400050" cy="127000"/>
            </a:xfrm>
          </p:grpSpPr>
          <p:grpSp>
            <p:nvGrpSpPr>
              <p:cNvPr id="1061" name="path · 39 + arrowhead"/>
              <p:cNvGrpSpPr/>
              <p:nvPr/>
            </p:nvGrpSpPr>
            <p:grpSpPr>
              <a:xfrm>
                <a:off x="4756150" y="3917950"/>
                <a:ext cx="400050" cy="127000"/>
                <a:chOff x="4756150" y="3917950"/>
                <a:chExt cx="400050" cy="127000"/>
              </a:xfrm>
            </p:grpSpPr>
            <p:sp>
              <p:nvSpPr>
                <p:cNvPr id="1062" name="path · 39"/>
                <p:cNvSpPr/>
                <p:nvPr/>
              </p:nvSpPr>
              <p:spPr>
                <a:xfrm>
                  <a:off x="4756150" y="3917950"/>
                  <a:ext cx="374650" cy="127000"/>
                </a:xfrm>
                <a:custGeom>
                  <a:avLst/>
                  <a:gdLst/>
                  <a:ahLst/>
                  <a:cxnLst/>
                  <a:rect l="0" t="0" r="r" b="b"/>
                  <a:pathLst>
                    <a:path w="374650" h="127000" fill="none" stroke="1" extrusionOk="0">
                      <a:moveTo>
                        <a:pt x="0" y="0"/>
                      </a:moveTo>
                      <a:lnTo>
                        <a:pt x="374650" y="0"/>
                      </a:lnTo>
                      <a:lnTo>
                        <a:pt x="374650" y="127000"/>
                      </a:lnTo>
                    </a:path>
                  </a:pathLst>
                </a:custGeom>
                <a:noFill/>
                <a:ln w="15875" cap="rnd" cmpd="sng" algn="ctr">
                  <a:solidFill>
                    <a:srgbClr val="7A6025"/>
                  </a:solidFill>
                  <a:prstDash val="solid"/>
                  <a:round/>
                  <a:headEnd type="none" w="med" len="med"/>
                  <a:tailEnd type="none" w="med" len="med"/>
                </a:ln>
              </p:spPr>
            </p:sp>
            <p:grpSp>
              <p:nvGrpSpPr>
                <p:cNvPr id="1063" name="arrow-ochre end"/>
                <p:cNvGrpSpPr/>
                <p:nvPr/>
              </p:nvGrpSpPr>
              <p:grpSpPr>
                <a:xfrm>
                  <a:off x="5105400" y="3997325"/>
                  <a:ext cx="50800" cy="47625"/>
                  <a:chOff x="5105400" y="3997325"/>
                  <a:chExt cx="50800" cy="47625"/>
                </a:xfrm>
              </p:grpSpPr>
              <p:sp>
                <p:nvSpPr>
                  <p:cNvPr id="1064" name="path · 40"/>
                  <p:cNvSpPr/>
                  <p:nvPr/>
                </p:nvSpPr>
                <p:spPr>
                  <a:xfrm>
                    <a:off x="510540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5" name="system-one · 48"/>
            <p:cNvGrpSpPr/>
            <p:nvPr/>
          </p:nvGrpSpPr>
          <p:grpSpPr>
            <a:xfrm>
              <a:off x="964353" y="3519946"/>
              <a:ext cx="910237" cy="862330"/>
              <a:chOff x="964353" y="3519946"/>
              <a:chExt cx="910237" cy="862330"/>
            </a:xfrm>
          </p:grpSpPr>
          <p:sp>
            <p:nvSpPr>
              <p:cNvPr id="1066" name="path · 42"/>
              <p:cNvSpPr/>
              <p:nvPr/>
            </p:nvSpPr>
            <p:spPr>
              <a:xfrm>
                <a:off x="964353" y="351994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67" name="rect · 43"/>
              <p:cNvSpPr/>
              <p:nvPr/>
            </p:nvSpPr>
            <p:spPr>
              <a:xfrm>
                <a:off x="1087543" y="363629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68" name="path · 44"/>
              <p:cNvSpPr/>
              <p:nvPr/>
            </p:nvSpPr>
            <p:spPr>
              <a:xfrm>
                <a:off x="1238109" y="380054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69" name="circle · 45"/>
              <p:cNvSpPr/>
              <p:nvPr/>
            </p:nvSpPr>
            <p:spPr>
              <a:xfrm>
                <a:off x="1176514" y="391004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0" name="circle · 46"/>
              <p:cNvSpPr/>
              <p:nvPr/>
            </p:nvSpPr>
            <p:spPr>
              <a:xfrm>
                <a:off x="1552928" y="375948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1" name="circle · 47"/>
              <p:cNvSpPr/>
              <p:nvPr/>
            </p:nvSpPr>
            <p:spPr>
              <a:xfrm>
                <a:off x="1552928" y="406061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sp>
          <p:nvSpPr>
            <p:cNvPr id="1072" name="text · 49"/>
            <p:cNvSpPr txBox="1"/>
            <p:nvPr/>
          </p:nvSpPr>
          <p:spPr>
            <a:xfrm>
              <a:off x="887412" y="3181350"/>
              <a:ext cx="10699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System One</a:t>
              </a:r>
              <a:endParaRPr lang="en-US" sz="1450"/>
            </a:p>
          </p:txBody>
        </p:sp>
        <p:grpSp>
          <p:nvGrpSpPr>
            <p:cNvPr id="1073" name="clarify · 59"/>
            <p:cNvGrpSpPr/>
            <p:nvPr/>
          </p:nvGrpSpPr>
          <p:grpSpPr>
            <a:xfrm>
              <a:off x="2629958" y="2565471"/>
              <a:ext cx="1040271" cy="930769"/>
              <a:chOff x="2629958" y="2565471"/>
              <a:chExt cx="1040271" cy="930769"/>
            </a:xfrm>
          </p:grpSpPr>
          <p:sp>
            <p:nvSpPr>
              <p:cNvPr id="1074" name="path · 50"/>
              <p:cNvSpPr/>
              <p:nvPr/>
            </p:nvSpPr>
            <p:spPr>
              <a:xfrm>
                <a:off x="2951621" y="2565471"/>
                <a:ext cx="718608" cy="609106"/>
              </a:xfrm>
              <a:custGeom>
                <a:avLst/>
                <a:gdLst/>
                <a:ahLst/>
                <a:cxnLst/>
                <a:rect l="0" t="0" r="r" b="b"/>
                <a:pathLst>
                  <a:path w="718608" h="609106" fill="norm" stroke="1" extrusionOk="0">
                    <a:moveTo>
                      <a:pt x="136878" y="0"/>
                    </a:moveTo>
                    <a:lnTo>
                      <a:pt x="574887" y="0"/>
                    </a:lnTo>
                    <a:quadBezTo>
                      <a:pt x="718608" y="0"/>
                      <a:pt x="718608" y="143721"/>
                    </a:quadBezTo>
                    <a:lnTo>
                      <a:pt x="718608" y="349038"/>
                    </a:lnTo>
                    <a:quadBezTo>
                      <a:pt x="718608" y="485916"/>
                      <a:pt x="574887" y="485916"/>
                    </a:quadBezTo>
                    <a:lnTo>
                      <a:pt x="335351" y="485916"/>
                    </a:lnTo>
                    <a:lnTo>
                      <a:pt x="177941" y="609106"/>
                    </a:lnTo>
                    <a:lnTo>
                      <a:pt x="177941" y="485916"/>
                    </a:lnTo>
                    <a:lnTo>
                      <a:pt x="136878" y="485916"/>
                    </a:lnTo>
                    <a:quadBezTo>
                      <a:pt x="0" y="485916"/>
                      <a:pt x="0" y="349038"/>
                    </a:quadBezTo>
                    <a:lnTo>
                      <a:pt x="0" y="143721"/>
                    </a:lnTo>
                    <a:quadBezTo>
                      <a:pt x="0" y="0"/>
                      <a:pt x="136878" y="0"/>
                    </a:quadBezTo>
                  </a:path>
                </a:pathLst>
              </a:custGeom>
              <a:solidFill>
                <a:srgbClr val="F6EAC8"/>
              </a:solidFill>
              <a:ln w="15057" cap="rnd" cmpd="sng" algn="ctr">
                <a:solidFill>
                  <a:srgbClr val="243E42"/>
                </a:solidFill>
                <a:prstDash val="solid"/>
                <a:round/>
                <a:headEnd type="none" w="med" len="med"/>
                <a:tailEnd type="none" w="med" len="med"/>
              </a:ln>
            </p:spPr>
          </p:sp>
          <p:sp>
            <p:nvSpPr>
              <p:cNvPr id="1075" name="path · 51"/>
              <p:cNvSpPr/>
              <p:nvPr/>
            </p:nvSpPr>
            <p:spPr>
              <a:xfrm>
                <a:off x="3232221" y="2606534"/>
                <a:ext cx="191629" cy="253224"/>
              </a:xfrm>
              <a:custGeom>
                <a:avLst/>
                <a:gdLst/>
                <a:ahLst/>
                <a:cxnLst/>
                <a:rect l="0" t="0" r="r" b="b"/>
                <a:pathLst>
                  <a:path w="191629" h="253224" fill="none" stroke="1" extrusionOk="0">
                    <a:moveTo>
                      <a:pt x="0" y="116346"/>
                    </a:moveTo>
                    <a:cubicBezTo>
                      <a:pt x="0" y="0"/>
                      <a:pt x="191628" y="0"/>
                      <a:pt x="191628" y="116346"/>
                    </a:cubicBezTo>
                    <a:cubicBezTo>
                      <a:pt x="191628" y="184785"/>
                      <a:pt x="75282" y="164253"/>
                      <a:pt x="75282" y="253224"/>
                    </a:cubicBezTo>
                  </a:path>
                </a:pathLst>
              </a:custGeom>
              <a:noFill/>
              <a:ln w="27376" cap="rnd" cmpd="sng" algn="ctr">
                <a:solidFill>
                  <a:srgbClr val="7A6025"/>
                </a:solidFill>
                <a:prstDash val="solid"/>
                <a:round/>
                <a:headEnd type="none" w="med" len="med"/>
                <a:tailEnd type="none" w="med" len="med"/>
              </a:ln>
            </p:spPr>
          </p:sp>
          <p:sp>
            <p:nvSpPr>
              <p:cNvPr id="1076" name="circle · 52"/>
              <p:cNvSpPr/>
              <p:nvPr/>
            </p:nvSpPr>
            <p:spPr>
              <a:xfrm>
                <a:off x="3290394" y="2924775"/>
                <a:ext cx="34219" cy="34219"/>
              </a:xfrm>
              <a:prstGeom prst="ellipse">
                <a:avLst/>
              </a:prstGeom>
              <a:solidFill>
                <a:srgbClr val="7A6025"/>
              </a:solidFill>
              <a:ln>
                <a:noFill/>
              </a:ln>
            </p:spPr>
          </p:sp>
          <p:sp>
            <p:nvSpPr>
              <p:cNvPr id="1077" name="path · 53"/>
              <p:cNvSpPr/>
              <p:nvPr/>
            </p:nvSpPr>
            <p:spPr>
              <a:xfrm>
                <a:off x="2629958" y="3051387"/>
                <a:ext cx="492760" cy="444853"/>
              </a:xfrm>
              <a:custGeom>
                <a:avLst/>
                <a:gdLst/>
                <a:ahLst/>
                <a:cxnLst/>
                <a:rect l="0" t="0" r="r" b="b"/>
                <a:pathLst>
                  <a:path w="492760" h="444853" fill="norm" stroke="1" extrusionOk="0">
                    <a:moveTo>
                      <a:pt x="0" y="444852"/>
                    </a:moveTo>
                    <a:lnTo>
                      <a:pt x="0" y="239536"/>
                    </a:lnTo>
                    <a:quadBezTo>
                      <a:pt x="13688" y="0"/>
                      <a:pt x="239536" y="0"/>
                    </a:quadBezTo>
                    <a:quadBezTo>
                      <a:pt x="465385" y="0"/>
                      <a:pt x="492760" y="239536"/>
                    </a:quadBezTo>
                    <a:lnTo>
                      <a:pt x="492760" y="444852"/>
                    </a:lnTo>
                    <a:close/>
                  </a:path>
                </a:pathLst>
              </a:custGeom>
              <a:solidFill>
                <a:srgbClr val="E2EEF3"/>
              </a:solidFill>
              <a:ln w="15057" cap="rnd" cmpd="sng" algn="ctr">
                <a:solidFill>
                  <a:srgbClr val="243E42"/>
                </a:solidFill>
                <a:prstDash val="solid"/>
                <a:round/>
                <a:headEnd type="none" w="med" len="med"/>
                <a:tailEnd type="none" w="med" len="med"/>
              </a:ln>
            </p:spPr>
          </p:sp>
          <p:sp>
            <p:nvSpPr>
              <p:cNvPr id="1078" name="circle · 54"/>
              <p:cNvSpPr/>
              <p:nvPr/>
            </p:nvSpPr>
            <p:spPr>
              <a:xfrm>
                <a:off x="2705241" y="2777631"/>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79" name="path · 55"/>
              <p:cNvSpPr/>
              <p:nvPr/>
            </p:nvSpPr>
            <p:spPr>
              <a:xfrm>
                <a:off x="2677866" y="2729724"/>
                <a:ext cx="349038" cy="184785"/>
              </a:xfrm>
              <a:custGeom>
                <a:avLst/>
                <a:gdLst/>
                <a:ahLst/>
                <a:cxnLst/>
                <a:rect l="0" t="0" r="r" b="b"/>
                <a:pathLst>
                  <a:path w="349038" h="184785" fill="norm" stroke="1" extrusionOk="0">
                    <a:moveTo>
                      <a:pt x="34219" y="184785"/>
                    </a:moveTo>
                    <a:quadBezTo>
                      <a:pt x="0" y="6844"/>
                      <a:pt x="198472" y="0"/>
                    </a:quadBezTo>
                    <a:quadBezTo>
                      <a:pt x="349038" y="13688"/>
                      <a:pt x="349038" y="164253"/>
                    </a:quadBezTo>
                    <a:lnTo>
                      <a:pt x="225848" y="95814"/>
                    </a:lnTo>
                    <a:quadBezTo>
                      <a:pt x="164253" y="177941"/>
                      <a:pt x="34219" y="184785"/>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80" name="path · 56"/>
              <p:cNvSpPr/>
              <p:nvPr/>
            </p:nvSpPr>
            <p:spPr>
              <a:xfrm>
                <a:off x="2835275" y="2935041"/>
                <a:ext cx="88971" cy="116346"/>
              </a:xfrm>
              <a:custGeom>
                <a:avLst/>
                <a:gdLst/>
                <a:ahLst/>
                <a:cxnLst/>
                <a:rect l="0" t="0" r="r" b="b"/>
                <a:pathLst>
                  <a:path w="88971" h="116346" fill="none" stroke="1" extrusionOk="0">
                    <a:moveTo>
                      <a:pt x="6844" y="0"/>
                    </a:moveTo>
                    <a:lnTo>
                      <a:pt x="6844" y="34219"/>
                    </a:lnTo>
                    <a:moveTo>
                      <a:pt x="88971" y="0"/>
                    </a:moveTo>
                    <a:lnTo>
                      <a:pt x="88971" y="34219"/>
                    </a:lnTo>
                    <a:moveTo>
                      <a:pt x="0" y="88970"/>
                    </a:moveTo>
                    <a:quadBezTo>
                      <a:pt x="47907" y="116346"/>
                      <a:pt x="88971" y="82126"/>
                    </a:quadBezTo>
                  </a:path>
                </a:pathLst>
              </a:custGeom>
              <a:noFill/>
              <a:ln w="15057" cap="rnd" cmpd="sng" algn="ctr">
                <a:solidFill>
                  <a:srgbClr val="243E42"/>
                </a:solidFill>
                <a:prstDash val="solid"/>
                <a:round/>
                <a:headEnd type="none" w="med" len="med"/>
                <a:tailEnd type="none" w="med" len="med"/>
              </a:ln>
            </p:spPr>
          </p:sp>
          <p:sp>
            <p:nvSpPr>
              <p:cNvPr id="1081" name="path · 57"/>
              <p:cNvSpPr/>
              <p:nvPr/>
            </p:nvSpPr>
            <p:spPr>
              <a:xfrm>
                <a:off x="3095343" y="3222484"/>
                <a:ext cx="232692" cy="246380"/>
              </a:xfrm>
              <a:custGeom>
                <a:avLst/>
                <a:gdLst/>
                <a:ahLst/>
                <a:cxnLst/>
                <a:rect l="0" t="0" r="r" b="b"/>
                <a:pathLst>
                  <a:path w="232692" h="246380" fill="norm" stroke="1" extrusionOk="0">
                    <a:moveTo>
                      <a:pt x="0" y="88970"/>
                    </a:moveTo>
                    <a:lnTo>
                      <a:pt x="150565" y="0"/>
                    </a:lnTo>
                    <a:lnTo>
                      <a:pt x="232692" y="157409"/>
                    </a:lnTo>
                    <a:lnTo>
                      <a:pt x="68439" y="246380"/>
                    </a:lnTo>
                    <a:close/>
                  </a:path>
                </a:pathLst>
              </a:custGeom>
              <a:solidFill>
                <a:srgbClr val="FFFFFF"/>
              </a:solidFill>
              <a:ln w="15057" cap="rnd" cmpd="sng" algn="ctr">
                <a:solidFill>
                  <a:srgbClr val="243E42"/>
                </a:solidFill>
                <a:prstDash val="solid"/>
                <a:round/>
                <a:headEnd type="none" w="med" len="med"/>
                <a:tailEnd type="none" w="med" len="med"/>
              </a:ln>
            </p:spPr>
          </p:sp>
          <p:sp>
            <p:nvSpPr>
              <p:cNvPr id="1082" name="path · 58"/>
              <p:cNvSpPr/>
              <p:nvPr/>
            </p:nvSpPr>
            <p:spPr>
              <a:xfrm>
                <a:off x="2999528" y="3277235"/>
                <a:ext cx="88971" cy="157409"/>
              </a:xfrm>
              <a:custGeom>
                <a:avLst/>
                <a:gdLst/>
                <a:ahLst/>
                <a:cxnLst/>
                <a:rect l="0" t="0" r="r" b="b"/>
                <a:pathLst>
                  <a:path w="88971" h="157409" fill="none" stroke="1" extrusionOk="0">
                    <a:moveTo>
                      <a:pt x="88971" y="157409"/>
                    </a:moveTo>
                    <a:lnTo>
                      <a:pt x="0" y="0"/>
                    </a:lnTo>
                  </a:path>
                </a:pathLst>
              </a:custGeom>
              <a:noFill/>
              <a:ln w="75283" cap="rnd" cmpd="sng" algn="ctr">
                <a:solidFill>
                  <a:srgbClr val="E2EEF3"/>
                </a:solidFill>
                <a:prstDash val="solid"/>
                <a:round/>
                <a:headEnd type="none" w="med" len="med"/>
                <a:tailEnd type="none" w="med" len="med"/>
              </a:ln>
            </p:spPr>
          </p:sp>
        </p:grpSp>
        <p:sp>
          <p:nvSpPr>
            <p:cNvPr id="1083" name="text · 60"/>
            <p:cNvSpPr txBox="1"/>
            <p:nvPr/>
          </p:nvSpPr>
          <p:spPr>
            <a:xfrm>
              <a:off x="2824162" y="3619500"/>
              <a:ext cx="638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Clarify</a:t>
              </a:r>
              <a:endParaRPr lang="en-US" sz="1600"/>
            </a:p>
          </p:txBody>
        </p:sp>
        <p:grpSp>
          <p:nvGrpSpPr>
            <p:cNvPr id="1084" name="policy · 67"/>
            <p:cNvGrpSpPr/>
            <p:nvPr/>
          </p:nvGrpSpPr>
          <p:grpSpPr>
            <a:xfrm>
              <a:off x="4369788" y="2565718"/>
              <a:ext cx="913095" cy="913095"/>
              <a:chOff x="4369788" y="2565718"/>
              <a:chExt cx="913095" cy="913095"/>
            </a:xfrm>
          </p:grpSpPr>
          <p:sp>
            <p:nvSpPr>
              <p:cNvPr id="1085" name="rect · 61"/>
              <p:cNvSpPr/>
              <p:nvPr/>
            </p:nvSpPr>
            <p:spPr>
              <a:xfrm>
                <a:off x="4369788" y="2610414"/>
                <a:ext cx="727922" cy="842857"/>
              </a:xfrm>
              <a:prstGeom prst="roundRect">
                <a:avLst>
                  <a:gd name="adj" fmla="val 11404"/>
                </a:avLst>
              </a:prstGeom>
              <a:solidFill>
                <a:srgbClr val="E2EEF3"/>
              </a:solidFill>
              <a:ln w="14048" cap="rnd" cmpd="sng" algn="ctr">
                <a:solidFill>
                  <a:srgbClr val="243E42"/>
                </a:solidFill>
                <a:prstDash val="solid"/>
                <a:round/>
                <a:headEnd type="none" w="med" len="med"/>
                <a:tailEnd type="none" w="med" len="med"/>
              </a:ln>
            </p:spPr>
          </p:sp>
          <p:sp>
            <p:nvSpPr>
              <p:cNvPr id="1086" name="rect · 62"/>
              <p:cNvSpPr/>
              <p:nvPr/>
            </p:nvSpPr>
            <p:spPr>
              <a:xfrm>
                <a:off x="4446411" y="2693423"/>
                <a:ext cx="581060" cy="670454"/>
              </a:xfrm>
              <a:prstGeom prst="roundRect">
                <a:avLst>
                  <a:gd name="adj" fmla="val 6593"/>
                </a:avLst>
              </a:prstGeom>
              <a:solidFill>
                <a:srgbClr val="FFFFFF"/>
              </a:solidFill>
              <a:ln w="14048" cap="rnd" cmpd="sng" algn="ctr">
                <a:solidFill>
                  <a:srgbClr val="243E42"/>
                </a:solidFill>
                <a:prstDash val="solid"/>
                <a:round/>
                <a:headEnd type="none" w="med" len="med"/>
                <a:tailEnd type="none" w="med" len="med"/>
              </a:ln>
            </p:spPr>
          </p:sp>
          <p:sp>
            <p:nvSpPr>
              <p:cNvPr id="1087" name="path · 63"/>
              <p:cNvSpPr/>
              <p:nvPr/>
            </p:nvSpPr>
            <p:spPr>
              <a:xfrm>
                <a:off x="4606043" y="2565718"/>
                <a:ext cx="249026" cy="140476"/>
              </a:xfrm>
              <a:custGeom>
                <a:avLst/>
                <a:gdLst/>
                <a:ahLst/>
                <a:cxnLst/>
                <a:rect l="0" t="0" r="r" b="b"/>
                <a:pathLst>
                  <a:path w="249026" h="140476" fill="norm" stroke="1" extrusionOk="0">
                    <a:moveTo>
                      <a:pt x="0" y="0"/>
                    </a:moveTo>
                    <a:lnTo>
                      <a:pt x="249026" y="0"/>
                    </a:lnTo>
                    <a:lnTo>
                      <a:pt x="249026" y="140476"/>
                    </a:lnTo>
                    <a:lnTo>
                      <a:pt x="0" y="140476"/>
                    </a:lnTo>
                    <a:close/>
                  </a:path>
                </a:pathLst>
              </a:custGeom>
              <a:solidFill>
                <a:srgbClr val="D7EBE1"/>
              </a:solidFill>
              <a:ln w="14048" cap="rnd" cmpd="sng" algn="ctr">
                <a:solidFill>
                  <a:srgbClr val="243E42"/>
                </a:solidFill>
                <a:prstDash val="solid"/>
                <a:round/>
                <a:headEnd type="none" w="med" len="med"/>
                <a:tailEnd type="none" w="med" len="med"/>
              </a:ln>
            </p:spPr>
          </p:sp>
          <p:sp>
            <p:nvSpPr>
              <p:cNvPr id="1088" name="path · 64"/>
              <p:cNvSpPr/>
              <p:nvPr/>
            </p:nvSpPr>
            <p:spPr>
              <a:xfrm>
                <a:off x="4503879" y="2827514"/>
                <a:ext cx="408658" cy="485281"/>
              </a:xfrm>
              <a:custGeom>
                <a:avLst/>
                <a:gdLst/>
                <a:ahLst/>
                <a:cxnLst/>
                <a:rect l="0" t="0" r="r" b="b"/>
                <a:pathLst>
                  <a:path w="408658" h="485281" fill="none" stroke="1" extrusionOk="0">
                    <a:moveTo>
                      <a:pt x="0" y="44697"/>
                    </a:moveTo>
                    <a:lnTo>
                      <a:pt x="44697" y="89394"/>
                    </a:lnTo>
                    <a:lnTo>
                      <a:pt x="114935" y="0"/>
                    </a:lnTo>
                    <a:moveTo>
                      <a:pt x="0" y="242640"/>
                    </a:moveTo>
                    <a:lnTo>
                      <a:pt x="44697" y="287337"/>
                    </a:lnTo>
                    <a:lnTo>
                      <a:pt x="114935" y="197944"/>
                    </a:lnTo>
                    <a:moveTo>
                      <a:pt x="0" y="440584"/>
                    </a:moveTo>
                    <a:lnTo>
                      <a:pt x="44697" y="485281"/>
                    </a:lnTo>
                    <a:lnTo>
                      <a:pt x="114935" y="395887"/>
                    </a:lnTo>
                    <a:moveTo>
                      <a:pt x="197943" y="51082"/>
                    </a:moveTo>
                    <a:lnTo>
                      <a:pt x="408657" y="51082"/>
                    </a:lnTo>
                    <a:moveTo>
                      <a:pt x="197943" y="242640"/>
                    </a:moveTo>
                    <a:lnTo>
                      <a:pt x="408657" y="242640"/>
                    </a:lnTo>
                    <a:moveTo>
                      <a:pt x="197943" y="434199"/>
                    </a:moveTo>
                    <a:lnTo>
                      <a:pt x="325649" y="434199"/>
                    </a:lnTo>
                  </a:path>
                </a:pathLst>
              </a:custGeom>
              <a:noFill/>
              <a:ln w="25541" cap="rnd" cmpd="sng" algn="ctr">
                <a:solidFill>
                  <a:srgbClr val="2E6653"/>
                </a:solidFill>
                <a:prstDash val="solid"/>
                <a:round/>
                <a:headEnd type="none" w="med" len="med"/>
                <a:tailEnd type="none" w="med" len="med"/>
              </a:ln>
            </p:spPr>
          </p:sp>
          <p:sp>
            <p:nvSpPr>
              <p:cNvPr id="1089" name="circle · 65"/>
              <p:cNvSpPr/>
              <p:nvPr/>
            </p:nvSpPr>
            <p:spPr>
              <a:xfrm>
                <a:off x="4925307" y="3121237"/>
                <a:ext cx="357576" cy="357576"/>
              </a:xfrm>
              <a:prstGeom prst="ellipse">
                <a:avLst/>
              </a:prstGeom>
              <a:solidFill>
                <a:srgbClr val="F6EAC8"/>
              </a:solidFill>
              <a:ln w="14048" cap="rnd" cmpd="sng" algn="ctr">
                <a:solidFill>
                  <a:srgbClr val="243E42"/>
                </a:solidFill>
                <a:prstDash val="solid"/>
                <a:round/>
                <a:headEnd type="none" w="med" len="med"/>
                <a:tailEnd type="none" w="med" len="med"/>
              </a:ln>
            </p:spPr>
          </p:sp>
          <p:sp>
            <p:nvSpPr>
              <p:cNvPr id="1090" name="path · 66"/>
              <p:cNvSpPr/>
              <p:nvPr/>
            </p:nvSpPr>
            <p:spPr>
              <a:xfrm>
                <a:off x="4995545" y="3185089"/>
                <a:ext cx="217099" cy="210714"/>
              </a:xfrm>
              <a:custGeom>
                <a:avLst/>
                <a:gdLst/>
                <a:ahLst/>
                <a:cxnLst/>
                <a:rect l="0" t="0" r="r" b="b"/>
                <a:pathLst>
                  <a:path w="217099" h="210714" fill="norm" stroke="1" extrusionOk="0">
                    <a:moveTo>
                      <a:pt x="108550" y="0"/>
                    </a:moveTo>
                    <a:lnTo>
                      <a:pt x="140476" y="70239"/>
                    </a:lnTo>
                    <a:lnTo>
                      <a:pt x="217099" y="83009"/>
                    </a:lnTo>
                    <a:lnTo>
                      <a:pt x="159632" y="134091"/>
                    </a:lnTo>
                    <a:lnTo>
                      <a:pt x="172403" y="210715"/>
                    </a:lnTo>
                    <a:lnTo>
                      <a:pt x="108550" y="172403"/>
                    </a:lnTo>
                    <a:lnTo>
                      <a:pt x="38312" y="210715"/>
                    </a:lnTo>
                    <a:lnTo>
                      <a:pt x="57467" y="134091"/>
                    </a:lnTo>
                    <a:lnTo>
                      <a:pt x="0" y="83009"/>
                    </a:lnTo>
                    <a:lnTo>
                      <a:pt x="76623" y="70239"/>
                    </a:lnTo>
                    <a:close/>
                  </a:path>
                </a:pathLst>
              </a:custGeom>
              <a:solidFill>
                <a:srgbClr val="FFFFFF"/>
              </a:solidFill>
              <a:ln w="14048" cap="rnd" cmpd="sng" algn="ctr">
                <a:solidFill>
                  <a:srgbClr val="7A6025"/>
                </a:solidFill>
                <a:prstDash val="solid"/>
                <a:round/>
                <a:headEnd type="none" w="med" len="med"/>
                <a:tailEnd type="none" w="med" len="med"/>
              </a:ln>
            </p:spPr>
          </p:sp>
        </p:grpSp>
        <p:sp>
          <p:nvSpPr>
            <p:cNvPr id="1091" name="text · 68"/>
            <p:cNvSpPr txBox="1"/>
            <p:nvPr/>
          </p:nvSpPr>
          <p:spPr>
            <a:xfrm>
              <a:off x="4068762" y="2235200"/>
              <a:ext cx="1374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355F72"/>
                  </a:solidFill>
                  <a:latin typeface="Manrope"/>
                  <a:ea typeface="Manrope"/>
                  <a:cs typeface="Manrope"/>
                </a:rPr>
                <a:t>Facts + checks</a:t>
              </a:r>
              <a:endParaRPr lang="en-US" sz="1500"/>
            </a:p>
          </p:txBody>
        </p:sp>
        <p:grpSp>
          <p:nvGrpSpPr>
            <p:cNvPr id="1092" name="frontier · 80"/>
            <p:cNvGrpSpPr/>
            <p:nvPr/>
          </p:nvGrpSpPr>
          <p:grpSpPr>
            <a:xfrm>
              <a:off x="6028020" y="2433814"/>
              <a:ext cx="1399611" cy="1188826"/>
              <a:chOff x="6028020" y="2433814"/>
              <a:chExt cx="1399611" cy="1188826"/>
            </a:xfrm>
          </p:grpSpPr>
          <p:sp>
            <p:nvSpPr>
              <p:cNvPr id="1093" name="path · 69"/>
              <p:cNvSpPr/>
              <p:nvPr/>
            </p:nvSpPr>
            <p:spPr>
              <a:xfrm>
                <a:off x="6028020" y="2433814"/>
                <a:ext cx="1399611" cy="1188826"/>
              </a:xfrm>
              <a:custGeom>
                <a:avLst/>
                <a:gdLst/>
                <a:ahLst/>
                <a:cxnLst/>
                <a:rect l="0" t="0" r="r" b="b"/>
                <a:pathLst>
                  <a:path w="1399611" h="1188826" fill="none" stroke="1" extrusionOk="0">
                    <a:moveTo>
                      <a:pt x="286667" y="0"/>
                    </a:moveTo>
                    <a:lnTo>
                      <a:pt x="286667" y="177059"/>
                    </a:lnTo>
                    <a:moveTo>
                      <a:pt x="497452" y="0"/>
                    </a:moveTo>
                    <a:lnTo>
                      <a:pt x="497452" y="177059"/>
                    </a:lnTo>
                    <a:moveTo>
                      <a:pt x="716668" y="0"/>
                    </a:moveTo>
                    <a:lnTo>
                      <a:pt x="716668" y="177059"/>
                    </a:lnTo>
                    <a:moveTo>
                      <a:pt x="935884" y="0"/>
                    </a:moveTo>
                    <a:lnTo>
                      <a:pt x="935884" y="177059"/>
                    </a:lnTo>
                    <a:moveTo>
                      <a:pt x="1146669" y="0"/>
                    </a:moveTo>
                    <a:lnTo>
                      <a:pt x="1146669" y="177059"/>
                    </a:lnTo>
                    <a:moveTo>
                      <a:pt x="286667" y="1011767"/>
                    </a:moveTo>
                    <a:lnTo>
                      <a:pt x="286667" y="1188826"/>
                    </a:lnTo>
                    <a:moveTo>
                      <a:pt x="497452" y="1011767"/>
                    </a:moveTo>
                    <a:lnTo>
                      <a:pt x="497452" y="1188826"/>
                    </a:lnTo>
                    <a:moveTo>
                      <a:pt x="716668" y="1011767"/>
                    </a:moveTo>
                    <a:lnTo>
                      <a:pt x="716668" y="1188826"/>
                    </a:lnTo>
                    <a:moveTo>
                      <a:pt x="935884" y="1011767"/>
                    </a:moveTo>
                    <a:lnTo>
                      <a:pt x="935884" y="1188826"/>
                    </a:lnTo>
                    <a:moveTo>
                      <a:pt x="1146669" y="1011767"/>
                    </a:moveTo>
                    <a:lnTo>
                      <a:pt x="1146669" y="1188826"/>
                    </a:lnTo>
                    <a:moveTo>
                      <a:pt x="0" y="362550"/>
                    </a:moveTo>
                    <a:lnTo>
                      <a:pt x="168628" y="362550"/>
                    </a:lnTo>
                    <a:moveTo>
                      <a:pt x="0" y="581766"/>
                    </a:moveTo>
                    <a:lnTo>
                      <a:pt x="168628" y="581766"/>
                    </a:lnTo>
                    <a:moveTo>
                      <a:pt x="0" y="809413"/>
                    </a:moveTo>
                    <a:lnTo>
                      <a:pt x="168628" y="809413"/>
                    </a:lnTo>
                    <a:moveTo>
                      <a:pt x="1239414" y="362550"/>
                    </a:moveTo>
                    <a:lnTo>
                      <a:pt x="1399610" y="362550"/>
                    </a:lnTo>
                    <a:moveTo>
                      <a:pt x="1239414" y="581766"/>
                    </a:moveTo>
                    <a:lnTo>
                      <a:pt x="1399610" y="581766"/>
                    </a:lnTo>
                    <a:moveTo>
                      <a:pt x="1239414" y="809413"/>
                    </a:moveTo>
                    <a:lnTo>
                      <a:pt x="1399610" y="809413"/>
                    </a:lnTo>
                  </a:path>
                </a:pathLst>
              </a:custGeom>
              <a:noFill/>
              <a:ln w="42157" cap="rnd" cmpd="sng" algn="ctr">
                <a:solidFill>
                  <a:srgbClr val="665180"/>
                </a:solidFill>
                <a:prstDash val="solid"/>
                <a:round/>
                <a:headEnd type="none" w="med" len="med"/>
                <a:tailEnd type="none" w="med" len="med"/>
              </a:ln>
            </p:spPr>
          </p:sp>
          <p:sp>
            <p:nvSpPr>
              <p:cNvPr id="1094" name="rect · 70"/>
              <p:cNvSpPr/>
              <p:nvPr/>
            </p:nvSpPr>
            <p:spPr>
              <a:xfrm>
                <a:off x="6162922" y="2560285"/>
                <a:ext cx="1129806" cy="927453"/>
              </a:xfrm>
              <a:prstGeom prst="roundRect">
                <a:avLst>
                  <a:gd name="adj" fmla="val 21818"/>
                </a:avLst>
              </a:prstGeom>
              <a:solidFill>
                <a:srgbClr val="E8E0F3"/>
              </a:solidFill>
              <a:ln w="25294" cap="rnd" cmpd="sng" algn="ctr">
                <a:solidFill>
                  <a:srgbClr val="665180"/>
                </a:solidFill>
                <a:prstDash val="solid"/>
                <a:round/>
                <a:headEnd type="none" w="med" len="med"/>
                <a:tailEnd type="none" w="med" len="med"/>
              </a:ln>
            </p:spPr>
          </p:sp>
          <p:sp>
            <p:nvSpPr>
              <p:cNvPr id="1095" name="rect · 71"/>
              <p:cNvSpPr/>
              <p:nvPr/>
            </p:nvSpPr>
            <p:spPr>
              <a:xfrm>
                <a:off x="6264099" y="2661461"/>
                <a:ext cx="927453" cy="725099"/>
              </a:xfrm>
              <a:prstGeom prst="roundRect">
                <a:avLst>
                  <a:gd name="adj" fmla="val 18605"/>
                </a:avLst>
              </a:prstGeom>
              <a:solidFill>
                <a:srgbClr val="FFFFFF"/>
              </a:solidFill>
              <a:ln w="18549" cap="rnd" cmpd="sng" algn="ctr">
                <a:solidFill>
                  <a:srgbClr val="665180"/>
                </a:solidFill>
                <a:prstDash val="solid"/>
                <a:round/>
                <a:headEnd type="none" w="med" len="med"/>
                <a:tailEnd type="none" w="med" len="med"/>
              </a:ln>
            </p:spPr>
          </p:sp>
          <p:sp>
            <p:nvSpPr>
              <p:cNvPr id="1096" name="path · 72"/>
              <p:cNvSpPr/>
              <p:nvPr/>
            </p:nvSpPr>
            <p:spPr>
              <a:xfrm>
                <a:off x="6382138" y="2779501"/>
                <a:ext cx="682942" cy="455295"/>
              </a:xfrm>
              <a:custGeom>
                <a:avLst/>
                <a:gdLst/>
                <a:ahLst/>
                <a:cxnLst/>
                <a:rect l="0" t="0" r="r" b="b"/>
                <a:pathLst>
                  <a:path w="682942" h="455295" fill="none" stroke="1" extrusionOk="0">
                    <a:moveTo>
                      <a:pt x="0" y="101177"/>
                    </a:moveTo>
                    <a:lnTo>
                      <a:pt x="252942" y="0"/>
                    </a:lnTo>
                    <a:lnTo>
                      <a:pt x="497452" y="84314"/>
                    </a:lnTo>
                    <a:lnTo>
                      <a:pt x="682943" y="337255"/>
                    </a:lnTo>
                    <a:lnTo>
                      <a:pt x="362550" y="455295"/>
                    </a:lnTo>
                    <a:lnTo>
                      <a:pt x="143334" y="303530"/>
                    </a:lnTo>
                    <a:lnTo>
                      <a:pt x="0" y="101177"/>
                    </a:lnTo>
                    <a:moveTo>
                      <a:pt x="252942" y="0"/>
                    </a:moveTo>
                    <a:lnTo>
                      <a:pt x="362550" y="455295"/>
                    </a:lnTo>
                    <a:moveTo>
                      <a:pt x="497452" y="84314"/>
                    </a:moveTo>
                    <a:lnTo>
                      <a:pt x="143334" y="303530"/>
                    </a:lnTo>
                    <a:moveTo>
                      <a:pt x="682943" y="337255"/>
                    </a:moveTo>
                    <a:lnTo>
                      <a:pt x="0" y="101177"/>
                    </a:lnTo>
                  </a:path>
                </a:pathLst>
              </a:custGeom>
              <a:noFill/>
              <a:ln w="19392" cap="rnd" cmpd="sng" algn="ctr">
                <a:solidFill>
                  <a:srgbClr val="665180"/>
                </a:solidFill>
                <a:prstDash val="solid"/>
                <a:round/>
                <a:headEnd type="none" w="med" len="med"/>
                <a:tailEnd type="none" w="med" len="med"/>
              </a:ln>
            </p:spPr>
          </p:sp>
          <p:grpSp>
            <p:nvGrpSpPr>
              <p:cNvPr id="1097" name="g · 79"/>
              <p:cNvGrpSpPr/>
              <p:nvPr/>
            </p:nvGrpSpPr>
            <p:grpSpPr>
              <a:xfrm>
                <a:off x="6323118" y="2720481"/>
                <a:ext cx="800982" cy="573334"/>
                <a:chOff x="6323118" y="2720481"/>
                <a:chExt cx="800982" cy="573334"/>
              </a:xfrm>
            </p:grpSpPr>
            <p:sp>
              <p:nvSpPr>
                <p:cNvPr id="1098" name="circle · 73"/>
                <p:cNvSpPr/>
                <p:nvPr/>
              </p:nvSpPr>
              <p:spPr>
                <a:xfrm>
                  <a:off x="6323118" y="2821658"/>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099" name="circle · 74"/>
                <p:cNvSpPr/>
                <p:nvPr/>
              </p:nvSpPr>
              <p:spPr>
                <a:xfrm>
                  <a:off x="6576060" y="272048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0" name="circle · 75"/>
                <p:cNvSpPr/>
                <p:nvPr/>
              </p:nvSpPr>
              <p:spPr>
                <a:xfrm>
                  <a:off x="6820570" y="2804795"/>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1" name="circle · 76"/>
                <p:cNvSpPr/>
                <p:nvPr/>
              </p:nvSpPr>
              <p:spPr>
                <a:xfrm>
                  <a:off x="7006061" y="3057737"/>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2" name="circle · 77"/>
                <p:cNvSpPr/>
                <p:nvPr/>
              </p:nvSpPr>
              <p:spPr>
                <a:xfrm>
                  <a:off x="6685668" y="3175776"/>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3" name="circle · 78"/>
                <p:cNvSpPr/>
                <p:nvPr/>
              </p:nvSpPr>
              <p:spPr>
                <a:xfrm>
                  <a:off x="6466452" y="302401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grpSp>
        </p:grpSp>
        <p:sp>
          <p:nvSpPr>
            <p:cNvPr id="1104" name="text · 81"/>
            <p:cNvSpPr txBox="1"/>
            <p:nvPr/>
          </p:nvSpPr>
          <p:spPr>
            <a:xfrm>
              <a:off x="5849937" y="2044700"/>
              <a:ext cx="1749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665180"/>
                  </a:solidFill>
                  <a:latin typeface="Manrope"/>
                  <a:ea typeface="Manrope"/>
                  <a:cs typeface="Manrope"/>
                </a:rPr>
                <a:t>Meaning unresolved?</a:t>
              </a:r>
              <a:endParaRPr lang="en-US" sz="1350"/>
            </a:p>
          </p:txBody>
        </p:sp>
        <p:sp>
          <p:nvSpPr>
            <p:cNvPr id="1105" name="text · 82"/>
            <p:cNvSpPr txBox="1"/>
            <p:nvPr/>
          </p:nvSpPr>
          <p:spPr>
            <a:xfrm>
              <a:off x="6094412" y="3714750"/>
              <a:ext cx="1260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Frontier LLM</a:t>
              </a:r>
              <a:endParaRPr lang="en-US" sz="1600"/>
            </a:p>
          </p:txBody>
        </p:sp>
        <p:grpSp>
          <p:nvGrpSpPr>
            <p:cNvPr id="1106" name="review · 94"/>
            <p:cNvGrpSpPr/>
            <p:nvPr/>
          </p:nvGrpSpPr>
          <p:grpSpPr>
            <a:xfrm>
              <a:off x="8564386" y="2705100"/>
              <a:ext cx="1190801" cy="879828"/>
              <a:chOff x="8564386" y="2705100"/>
              <a:chExt cx="1190801" cy="879828"/>
            </a:xfrm>
          </p:grpSpPr>
          <p:sp>
            <p:nvSpPr>
              <p:cNvPr id="1107" name="path · 83"/>
              <p:cNvSpPr/>
              <p:nvPr/>
            </p:nvSpPr>
            <p:spPr>
              <a:xfrm>
                <a:off x="8564386" y="3129844"/>
                <a:ext cx="553685" cy="455083"/>
              </a:xfrm>
              <a:custGeom>
                <a:avLst/>
                <a:gdLst/>
                <a:ahLst/>
                <a:cxnLst/>
                <a:rect l="0" t="0" r="r" b="b"/>
                <a:pathLst>
                  <a:path w="553685" h="455083" fill="norm" stroke="1" extrusionOk="0">
                    <a:moveTo>
                      <a:pt x="0" y="455084"/>
                    </a:moveTo>
                    <a:lnTo>
                      <a:pt x="0" y="235127"/>
                    </a:lnTo>
                    <a:quadBezTo>
                      <a:pt x="7585" y="0"/>
                      <a:pt x="257881" y="0"/>
                    </a:quadBezTo>
                    <a:quadBezTo>
                      <a:pt x="508176" y="0"/>
                      <a:pt x="553685" y="235127"/>
                    </a:quadBezTo>
                    <a:lnTo>
                      <a:pt x="553685" y="455084"/>
                    </a:lnTo>
                    <a:close/>
                  </a:path>
                </a:pathLst>
              </a:custGeom>
              <a:solidFill>
                <a:srgbClr val="E2EEF3"/>
              </a:solidFill>
              <a:ln w="16686" cap="rnd" cmpd="sng" algn="ctr">
                <a:solidFill>
                  <a:srgbClr val="243E42"/>
                </a:solidFill>
                <a:prstDash val="solid"/>
                <a:round/>
                <a:headEnd type="none" w="med" len="med"/>
                <a:tailEnd type="none" w="med" len="med"/>
              </a:ln>
            </p:spPr>
          </p:sp>
          <p:sp>
            <p:nvSpPr>
              <p:cNvPr id="1108" name="circle · 84"/>
              <p:cNvSpPr/>
              <p:nvPr/>
            </p:nvSpPr>
            <p:spPr>
              <a:xfrm>
                <a:off x="8640233" y="2773362"/>
                <a:ext cx="364067" cy="364067"/>
              </a:xfrm>
              <a:prstGeom prst="ellipse">
                <a:avLst/>
              </a:prstGeom>
              <a:solidFill>
                <a:srgbClr val="F4DFD3"/>
              </a:solidFill>
              <a:ln w="16686" cap="rnd" cmpd="sng" algn="ctr">
                <a:solidFill>
                  <a:srgbClr val="243E42"/>
                </a:solidFill>
                <a:prstDash val="solid"/>
                <a:round/>
                <a:headEnd type="none" w="med" len="med"/>
                <a:tailEnd type="none" w="med" len="med"/>
              </a:ln>
            </p:spPr>
          </p:sp>
          <p:sp>
            <p:nvSpPr>
              <p:cNvPr id="1109" name="path · 85"/>
              <p:cNvSpPr/>
              <p:nvPr/>
            </p:nvSpPr>
            <p:spPr>
              <a:xfrm>
                <a:off x="8625064" y="2720269"/>
                <a:ext cx="394406" cy="219957"/>
              </a:xfrm>
              <a:custGeom>
                <a:avLst/>
                <a:gdLst/>
                <a:ahLst/>
                <a:cxnLst/>
                <a:rect l="0" t="0" r="r" b="b"/>
                <a:pathLst>
                  <a:path w="394406" h="219957" fill="norm" stroke="1" extrusionOk="0">
                    <a:moveTo>
                      <a:pt x="30339" y="212373"/>
                    </a:moveTo>
                    <a:quadBezTo>
                      <a:pt x="0" y="7585"/>
                      <a:pt x="219957" y="0"/>
                    </a:quadBezTo>
                    <a:quadBezTo>
                      <a:pt x="394405" y="30339"/>
                      <a:pt x="379236" y="219957"/>
                    </a:quadBezTo>
                    <a:lnTo>
                      <a:pt x="265465" y="136525"/>
                    </a:lnTo>
                    <a:quadBezTo>
                      <a:pt x="174448" y="212373"/>
                      <a:pt x="30339" y="212373"/>
                    </a:quadBezTo>
                    <a:close/>
                  </a:path>
                </a:pathLst>
              </a:custGeom>
              <a:solidFill>
                <a:srgbClr val="243E42"/>
              </a:solidFill>
              <a:ln w="16686" cap="rnd" cmpd="sng" algn="ctr">
                <a:solidFill>
                  <a:srgbClr val="243E42"/>
                </a:solidFill>
                <a:prstDash val="solid"/>
                <a:round/>
                <a:headEnd type="none" w="med" len="med"/>
                <a:tailEnd type="none" w="med" len="med"/>
              </a:ln>
            </p:spPr>
          </p:sp>
          <p:sp>
            <p:nvSpPr>
              <p:cNvPr id="1110" name="path · 86"/>
              <p:cNvSpPr/>
              <p:nvPr/>
            </p:nvSpPr>
            <p:spPr>
              <a:xfrm>
                <a:off x="8776758" y="2962981"/>
                <a:ext cx="182033" cy="121356"/>
              </a:xfrm>
              <a:custGeom>
                <a:avLst/>
                <a:gdLst/>
                <a:ahLst/>
                <a:cxnLst/>
                <a:rect l="0" t="0" r="r" b="b"/>
                <a:pathLst>
                  <a:path w="182033" h="121356" fill="none" stroke="1" extrusionOk="0">
                    <a:moveTo>
                      <a:pt x="0" y="0"/>
                    </a:moveTo>
                    <a:lnTo>
                      <a:pt x="75848" y="0"/>
                    </a:lnTo>
                    <a:moveTo>
                      <a:pt x="106186" y="0"/>
                    </a:moveTo>
                    <a:lnTo>
                      <a:pt x="182034" y="0"/>
                    </a:lnTo>
                    <a:moveTo>
                      <a:pt x="30339" y="98601"/>
                    </a:moveTo>
                    <a:quadBezTo>
                      <a:pt x="83432" y="121355"/>
                      <a:pt x="121356" y="91016"/>
                    </a:quadBezTo>
                  </a:path>
                </a:pathLst>
              </a:custGeom>
              <a:noFill/>
              <a:ln w="16686" cap="rnd" cmpd="sng" algn="ctr">
                <a:solidFill>
                  <a:srgbClr val="243E42"/>
                </a:solidFill>
                <a:prstDash val="solid"/>
                <a:round/>
                <a:headEnd type="none" w="med" len="med"/>
                <a:tailEnd type="none" w="med" len="med"/>
              </a:ln>
            </p:spPr>
          </p:sp>
          <p:sp>
            <p:nvSpPr>
              <p:cNvPr id="1111" name="circle · 87"/>
              <p:cNvSpPr/>
              <p:nvPr/>
            </p:nvSpPr>
            <p:spPr>
              <a:xfrm>
                <a:off x="8746419"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2" name="circle · 88"/>
              <p:cNvSpPr/>
              <p:nvPr/>
            </p:nvSpPr>
            <p:spPr>
              <a:xfrm>
                <a:off x="8875360"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3" name="path · 89"/>
              <p:cNvSpPr/>
              <p:nvPr/>
            </p:nvSpPr>
            <p:spPr>
              <a:xfrm>
                <a:off x="9118071" y="2705100"/>
                <a:ext cx="500592" cy="735718"/>
              </a:xfrm>
              <a:custGeom>
                <a:avLst/>
                <a:gdLst/>
                <a:ahLst/>
                <a:cxnLst/>
                <a:rect l="0" t="0" r="r" b="b"/>
                <a:pathLst>
                  <a:path w="500592" h="735718" fill="norm" stroke="1" extrusionOk="0">
                    <a:moveTo>
                      <a:pt x="0" y="0"/>
                    </a:moveTo>
                    <a:lnTo>
                      <a:pt x="348897" y="0"/>
                    </a:lnTo>
                    <a:lnTo>
                      <a:pt x="500591" y="151694"/>
                    </a:lnTo>
                    <a:lnTo>
                      <a:pt x="500591" y="735718"/>
                    </a:lnTo>
                    <a:lnTo>
                      <a:pt x="0" y="735718"/>
                    </a:lnTo>
                    <a:close/>
                  </a:path>
                </a:pathLst>
              </a:custGeom>
              <a:solidFill>
                <a:srgbClr val="FFFFFF"/>
              </a:solidFill>
              <a:ln w="16686" cap="rnd" cmpd="sng" algn="ctr">
                <a:solidFill>
                  <a:srgbClr val="243E42"/>
                </a:solidFill>
                <a:prstDash val="solid"/>
                <a:round/>
                <a:headEnd type="none" w="med" len="med"/>
                <a:tailEnd type="none" w="med" len="med"/>
              </a:ln>
            </p:spPr>
          </p:sp>
          <p:sp>
            <p:nvSpPr>
              <p:cNvPr id="1114" name="path · 90"/>
              <p:cNvSpPr/>
              <p:nvPr/>
            </p:nvSpPr>
            <p:spPr>
              <a:xfrm>
                <a:off x="9209088" y="2705100"/>
                <a:ext cx="409575" cy="455083"/>
              </a:xfrm>
              <a:custGeom>
                <a:avLst/>
                <a:gdLst/>
                <a:ahLst/>
                <a:cxnLst/>
                <a:rect l="0" t="0" r="r" b="b"/>
                <a:pathLst>
                  <a:path w="409575" h="455083" fill="none" stroke="1" extrusionOk="0">
                    <a:moveTo>
                      <a:pt x="257880" y="0"/>
                    </a:moveTo>
                    <a:lnTo>
                      <a:pt x="257880" y="151694"/>
                    </a:lnTo>
                    <a:lnTo>
                      <a:pt x="409574" y="151694"/>
                    </a:lnTo>
                    <a:moveTo>
                      <a:pt x="0" y="265465"/>
                    </a:moveTo>
                    <a:lnTo>
                      <a:pt x="273050" y="265465"/>
                    </a:lnTo>
                    <a:moveTo>
                      <a:pt x="0" y="356482"/>
                    </a:moveTo>
                    <a:lnTo>
                      <a:pt x="174448" y="356482"/>
                    </a:lnTo>
                    <a:moveTo>
                      <a:pt x="0" y="455083"/>
                    </a:moveTo>
                    <a:lnTo>
                      <a:pt x="204787" y="455083"/>
                    </a:lnTo>
                  </a:path>
                </a:pathLst>
              </a:custGeom>
              <a:noFill/>
              <a:ln w="16686" cap="rnd" cmpd="sng" algn="ctr">
                <a:solidFill>
                  <a:srgbClr val="243E42"/>
                </a:solidFill>
                <a:prstDash val="solid"/>
                <a:round/>
                <a:headEnd type="none" w="med" len="med"/>
                <a:tailEnd type="none" w="med" len="med"/>
              </a:ln>
            </p:spPr>
          </p:sp>
          <p:sp>
            <p:nvSpPr>
              <p:cNvPr id="1115" name="circle · 91"/>
              <p:cNvSpPr/>
              <p:nvPr/>
            </p:nvSpPr>
            <p:spPr>
              <a:xfrm>
                <a:off x="9262181" y="3023658"/>
                <a:ext cx="379236" cy="379236"/>
              </a:xfrm>
              <a:prstGeom prst="ellipse">
                <a:avLst/>
              </a:prstGeom>
              <a:solidFill>
                <a:srgbClr val="F6EAC8">
                  <a:alpha val="75000"/>
                </a:srgbClr>
              </a:solidFill>
              <a:ln w="30339" cap="rnd" cmpd="sng" algn="ctr">
                <a:solidFill>
                  <a:srgbClr val="7A6025"/>
                </a:solidFill>
                <a:prstDash val="solid"/>
                <a:round/>
                <a:headEnd type="none" w="med" len="med"/>
                <a:tailEnd type="none" w="med" len="med"/>
              </a:ln>
            </p:spPr>
          </p:sp>
          <p:sp>
            <p:nvSpPr>
              <p:cNvPr id="1116" name="path · 92"/>
              <p:cNvSpPr/>
              <p:nvPr/>
            </p:nvSpPr>
            <p:spPr>
              <a:xfrm>
                <a:off x="9580739" y="3357386"/>
                <a:ext cx="174449" cy="189618"/>
              </a:xfrm>
              <a:custGeom>
                <a:avLst/>
                <a:gdLst/>
                <a:ahLst/>
                <a:cxnLst/>
                <a:rect l="0" t="0" r="r" b="b"/>
                <a:pathLst>
                  <a:path w="174449" h="189618" fill="none" stroke="1" extrusionOk="0">
                    <a:moveTo>
                      <a:pt x="0" y="0"/>
                    </a:moveTo>
                    <a:lnTo>
                      <a:pt x="174449" y="189618"/>
                    </a:lnTo>
                  </a:path>
                </a:pathLst>
              </a:custGeom>
              <a:noFill/>
              <a:ln w="75847" cap="rnd" cmpd="sng" algn="ctr">
                <a:solidFill>
                  <a:srgbClr val="7A6025"/>
                </a:solidFill>
                <a:prstDash val="solid"/>
                <a:round/>
                <a:headEnd type="none" w="med" len="med"/>
                <a:tailEnd type="none" w="med" len="med"/>
              </a:ln>
            </p:spPr>
          </p:sp>
          <p:sp>
            <p:nvSpPr>
              <p:cNvPr id="1117" name="path · 93"/>
              <p:cNvSpPr/>
              <p:nvPr/>
            </p:nvSpPr>
            <p:spPr>
              <a:xfrm>
                <a:off x="9360782" y="3122260"/>
                <a:ext cx="182033" cy="144110"/>
              </a:xfrm>
              <a:custGeom>
                <a:avLst/>
                <a:gdLst/>
                <a:ahLst/>
                <a:cxnLst/>
                <a:rect l="0" t="0" r="r" b="b"/>
                <a:pathLst>
                  <a:path w="182033" h="144110" fill="none" stroke="1" extrusionOk="0">
                    <a:moveTo>
                      <a:pt x="0" y="83432"/>
                    </a:moveTo>
                    <a:lnTo>
                      <a:pt x="60678" y="144109"/>
                    </a:lnTo>
                    <a:lnTo>
                      <a:pt x="182033" y="0"/>
                    </a:lnTo>
                  </a:path>
                </a:pathLst>
              </a:custGeom>
              <a:noFill/>
              <a:ln w="30339" cap="rnd" cmpd="sng" algn="ctr">
                <a:solidFill>
                  <a:srgbClr val="2E6653"/>
                </a:solidFill>
                <a:prstDash val="solid"/>
                <a:round/>
                <a:headEnd type="none" w="med" len="med"/>
                <a:tailEnd type="none" w="med" len="med"/>
              </a:ln>
            </p:spPr>
          </p:sp>
        </p:grpSp>
        <p:sp>
          <p:nvSpPr>
            <p:cNvPr id="1118" name="text · 95"/>
            <p:cNvSpPr txBox="1"/>
            <p:nvPr/>
          </p:nvSpPr>
          <p:spPr>
            <a:xfrm>
              <a:off x="8437562" y="3721100"/>
              <a:ext cx="1387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Human review</a:t>
              </a:r>
              <a:endParaRPr lang="en-US" sz="1600"/>
            </a:p>
          </p:txBody>
        </p:sp>
        <p:grpSp>
          <p:nvGrpSpPr>
            <p:cNvPr id="1119" name="hold · 99"/>
            <p:cNvGrpSpPr/>
            <p:nvPr/>
          </p:nvGrpSpPr>
          <p:grpSpPr>
            <a:xfrm>
              <a:off x="10405533" y="3105856"/>
              <a:ext cx="270933" cy="270933"/>
              <a:chOff x="10405533" y="3105856"/>
              <a:chExt cx="270933" cy="270933"/>
            </a:xfrm>
          </p:grpSpPr>
          <p:sp>
            <p:nvSpPr>
              <p:cNvPr id="1120" name="circle · 96"/>
              <p:cNvSpPr/>
              <p:nvPr/>
            </p:nvSpPr>
            <p:spPr>
              <a:xfrm>
                <a:off x="10405533" y="3105856"/>
                <a:ext cx="270933" cy="270933"/>
              </a:xfrm>
              <a:prstGeom prst="ellipse">
                <a:avLst/>
              </a:prstGeom>
              <a:solidFill>
                <a:srgbClr val="F6EAC8"/>
              </a:solidFill>
              <a:ln w="6773" cap="rnd" cmpd="sng" algn="ctr">
                <a:solidFill>
                  <a:srgbClr val="7A6025"/>
                </a:solidFill>
                <a:prstDash val="solid"/>
                <a:round/>
                <a:headEnd type="none" w="med" len="med"/>
                <a:tailEnd type="none" w="med" len="med"/>
              </a:ln>
            </p:spPr>
          </p:sp>
          <p:sp>
            <p:nvSpPr>
              <p:cNvPr id="1121" name="rect · 97"/>
              <p:cNvSpPr/>
              <p:nvPr/>
            </p:nvSpPr>
            <p:spPr>
              <a:xfrm>
                <a:off x="10482298" y="3169073"/>
                <a:ext cx="40640" cy="146756"/>
              </a:xfrm>
              <a:prstGeom prst="roundRect">
                <a:avLst>
                  <a:gd name="adj" fmla="val 22222"/>
                </a:avLst>
              </a:prstGeom>
              <a:solidFill>
                <a:srgbClr val="7A6025"/>
              </a:solidFill>
              <a:ln>
                <a:noFill/>
              </a:ln>
            </p:spPr>
          </p:sp>
          <p:sp>
            <p:nvSpPr>
              <p:cNvPr id="1122" name="rect · 98"/>
              <p:cNvSpPr/>
              <p:nvPr/>
            </p:nvSpPr>
            <p:spPr>
              <a:xfrm>
                <a:off x="10561320" y="3169073"/>
                <a:ext cx="40640" cy="146756"/>
              </a:xfrm>
              <a:prstGeom prst="roundRect">
                <a:avLst>
                  <a:gd name="adj" fmla="val 22222"/>
                </a:avLst>
              </a:prstGeom>
              <a:solidFill>
                <a:srgbClr val="7A6025"/>
              </a:solidFill>
              <a:ln>
                <a:noFill/>
              </a:ln>
            </p:spPr>
          </p:sp>
        </p:grpSp>
        <p:sp>
          <p:nvSpPr>
            <p:cNvPr id="1123" name="text · 100"/>
            <p:cNvSpPr txBox="1"/>
            <p:nvPr/>
          </p:nvSpPr>
          <p:spPr>
            <a:xfrm>
              <a:off x="10352087" y="3530600"/>
              <a:ext cx="377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Hold</a:t>
              </a:r>
              <a:endParaRPr lang="en-US" sz="1350"/>
            </a:p>
          </p:txBody>
        </p:sp>
        <p:grpSp>
          <p:nvGrpSpPr>
            <p:cNvPr id="1124" name="stop · 103"/>
            <p:cNvGrpSpPr/>
            <p:nvPr/>
          </p:nvGrpSpPr>
          <p:grpSpPr>
            <a:xfrm>
              <a:off x="4226560" y="4064423"/>
              <a:ext cx="263419" cy="261408"/>
              <a:chOff x="4226560" y="4064423"/>
              <a:chExt cx="263419" cy="261408"/>
            </a:xfrm>
          </p:grpSpPr>
          <p:sp>
            <p:nvSpPr>
              <p:cNvPr id="1125" name="path · 101"/>
              <p:cNvSpPr/>
              <p:nvPr/>
            </p:nvSpPr>
            <p:spPr>
              <a:xfrm>
                <a:off x="4226560" y="4064423"/>
                <a:ext cx="263419" cy="261408"/>
              </a:xfrm>
              <a:custGeom>
                <a:avLst/>
                <a:gdLst/>
                <a:ahLst/>
                <a:cxnLst/>
                <a:rect l="0" t="0" r="r" b="b"/>
                <a:pathLst>
                  <a:path w="263419" h="261408" fill="norm" stroke="1" extrusionOk="0">
                    <a:moveTo>
                      <a:pt x="76412" y="0"/>
                    </a:moveTo>
                    <a:lnTo>
                      <a:pt x="0" y="76412"/>
                    </a:lnTo>
                    <a:lnTo>
                      <a:pt x="0" y="184997"/>
                    </a:lnTo>
                    <a:lnTo>
                      <a:pt x="76412" y="261409"/>
                    </a:lnTo>
                    <a:lnTo>
                      <a:pt x="187008" y="261409"/>
                    </a:lnTo>
                    <a:lnTo>
                      <a:pt x="263419" y="184997"/>
                    </a:lnTo>
                    <a:lnTo>
                      <a:pt x="263419" y="76412"/>
                    </a:lnTo>
                    <a:lnTo>
                      <a:pt x="187008" y="0"/>
                    </a:lnTo>
                    <a:close/>
                  </a:path>
                </a:pathLst>
              </a:custGeom>
              <a:solidFill>
                <a:srgbClr val="F4DFD3"/>
              </a:solidFill>
              <a:ln w="6032" cap="rnd" cmpd="sng" algn="ctr">
                <a:solidFill>
                  <a:srgbClr val="81533E"/>
                </a:solidFill>
                <a:prstDash val="solid"/>
                <a:round/>
                <a:headEnd type="none" w="med" len="med"/>
                <a:tailEnd type="none" w="med" len="med"/>
              </a:ln>
            </p:spPr>
          </p:sp>
          <p:sp>
            <p:nvSpPr>
              <p:cNvPr id="1126" name="path · 102"/>
              <p:cNvSpPr/>
              <p:nvPr/>
            </p:nvSpPr>
            <p:spPr>
              <a:xfrm>
                <a:off x="4304982" y="4140835"/>
                <a:ext cx="108585" cy="108585"/>
              </a:xfrm>
              <a:custGeom>
                <a:avLst/>
                <a:gdLst/>
                <a:ahLst/>
                <a:cxnLst/>
                <a:rect l="0" t="0" r="r" b="b"/>
                <a:pathLst>
                  <a:path w="108585" h="108585" fill="none" stroke="1" extrusionOk="0">
                    <a:moveTo>
                      <a:pt x="0" y="0"/>
                    </a:moveTo>
                    <a:lnTo>
                      <a:pt x="108586" y="108585"/>
                    </a:lnTo>
                    <a:moveTo>
                      <a:pt x="108586" y="0"/>
                    </a:moveTo>
                    <a:lnTo>
                      <a:pt x="0" y="108585"/>
                    </a:lnTo>
                  </a:path>
                </a:pathLst>
              </a:custGeom>
              <a:noFill/>
              <a:ln w="20108" cap="rnd" cmpd="sng" algn="ctr">
                <a:solidFill>
                  <a:srgbClr val="81533E"/>
                </a:solidFill>
                <a:prstDash val="solid"/>
                <a:round/>
                <a:headEnd type="none" w="med" len="med"/>
                <a:tailEnd type="none" w="med" len="med"/>
              </a:ln>
            </p:spPr>
          </p:sp>
        </p:grpSp>
        <p:grpSp>
          <p:nvGrpSpPr>
            <p:cNvPr id="1127" name="hold · 107"/>
            <p:cNvGrpSpPr/>
            <p:nvPr/>
          </p:nvGrpSpPr>
          <p:grpSpPr>
            <a:xfrm>
              <a:off x="5006975" y="4072467"/>
              <a:ext cx="241300" cy="241300"/>
              <a:chOff x="5006975" y="4072467"/>
              <a:chExt cx="241300" cy="241300"/>
            </a:xfrm>
          </p:grpSpPr>
          <p:sp>
            <p:nvSpPr>
              <p:cNvPr id="1128" name="circle · 104"/>
              <p:cNvSpPr/>
              <p:nvPr/>
            </p:nvSpPr>
            <p:spPr>
              <a:xfrm>
                <a:off x="5006975" y="4072467"/>
                <a:ext cx="241300" cy="241300"/>
              </a:xfrm>
              <a:prstGeom prst="ellipse">
                <a:avLst/>
              </a:prstGeom>
              <a:solidFill>
                <a:srgbClr val="F6EAC8"/>
              </a:solidFill>
              <a:ln w="6032" cap="rnd" cmpd="sng" algn="ctr">
                <a:solidFill>
                  <a:srgbClr val="7A6025"/>
                </a:solidFill>
                <a:prstDash val="solid"/>
                <a:round/>
                <a:headEnd type="none" w="med" len="med"/>
                <a:tailEnd type="none" w="med" len="med"/>
              </a:ln>
            </p:spPr>
          </p:sp>
          <p:sp>
            <p:nvSpPr>
              <p:cNvPr id="1129" name="rect · 105"/>
              <p:cNvSpPr/>
              <p:nvPr/>
            </p:nvSpPr>
            <p:spPr>
              <a:xfrm>
                <a:off x="5075343" y="4128770"/>
                <a:ext cx="36195" cy="130704"/>
              </a:xfrm>
              <a:prstGeom prst="roundRect">
                <a:avLst>
                  <a:gd name="adj" fmla="val 22222"/>
                </a:avLst>
              </a:prstGeom>
              <a:solidFill>
                <a:srgbClr val="7A6025"/>
              </a:solidFill>
              <a:ln>
                <a:noFill/>
              </a:ln>
            </p:spPr>
          </p:sp>
          <p:sp>
            <p:nvSpPr>
              <p:cNvPr id="1130" name="rect · 106"/>
              <p:cNvSpPr/>
              <p:nvPr/>
            </p:nvSpPr>
            <p:spPr>
              <a:xfrm>
                <a:off x="5145722" y="4128770"/>
                <a:ext cx="36195" cy="130704"/>
              </a:xfrm>
              <a:prstGeom prst="roundRect">
                <a:avLst>
                  <a:gd name="adj" fmla="val 22222"/>
                </a:avLst>
              </a:prstGeom>
              <a:solidFill>
                <a:srgbClr val="7A6025"/>
              </a:solidFill>
              <a:ln>
                <a:noFill/>
              </a:ln>
            </p:spPr>
          </p:sp>
        </p:grpSp>
        <p:sp>
          <p:nvSpPr>
            <p:cNvPr id="1131" name="text · 108"/>
            <p:cNvSpPr txBox="1"/>
            <p:nvPr/>
          </p:nvSpPr>
          <p:spPr>
            <a:xfrm>
              <a:off x="4078287" y="4343400"/>
              <a:ext cx="5683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81533E"/>
                  </a:solidFill>
                  <a:latin typeface="Manrope"/>
                  <a:ea typeface="Manrope"/>
                  <a:cs typeface="Manrope"/>
                </a:rPr>
                <a:t>Decline</a:t>
              </a:r>
              <a:endParaRPr lang="en-US" sz="1250"/>
            </a:p>
          </p:txBody>
        </p:sp>
        <p:sp>
          <p:nvSpPr>
            <p:cNvPr id="1132" name="text · 109"/>
            <p:cNvSpPr txBox="1"/>
            <p:nvPr/>
          </p:nvSpPr>
          <p:spPr>
            <a:xfrm>
              <a:off x="4948237" y="4343400"/>
              <a:ext cx="352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7A6025"/>
                  </a:solidFill>
                  <a:latin typeface="Manrope"/>
                  <a:ea typeface="Manrope"/>
                  <a:cs typeface="Manrope"/>
                </a:rPr>
                <a:t>Hold</a:t>
              </a:r>
              <a:endParaRPr lang="en-US" sz="1250"/>
            </a:p>
          </p:txBody>
        </p:sp>
        <p:grpSp>
          <p:nvGrpSpPr>
            <p:cNvPr id="1133" name="tasks · 115"/>
            <p:cNvGrpSpPr/>
            <p:nvPr/>
          </p:nvGrpSpPr>
          <p:grpSpPr>
            <a:xfrm>
              <a:off x="6922982" y="4494107"/>
              <a:ext cx="883920" cy="834813"/>
              <a:chOff x="6922982" y="4494107"/>
              <a:chExt cx="883920" cy="834813"/>
            </a:xfrm>
          </p:grpSpPr>
          <p:sp>
            <p:nvSpPr>
              <p:cNvPr id="1134" name="rect · 110"/>
              <p:cNvSpPr/>
              <p:nvPr/>
            </p:nvSpPr>
            <p:spPr>
              <a:xfrm>
                <a:off x="7002780" y="4549352"/>
                <a:ext cx="669078" cy="779568"/>
              </a:xfrm>
              <a:prstGeom prst="roundRect">
                <a:avLst>
                  <a:gd name="adj" fmla="val 9174"/>
                </a:avLst>
              </a:prstGeom>
              <a:solidFill>
                <a:srgbClr val="E2EEF3"/>
              </a:solidFill>
              <a:ln w="13504" cap="rnd" cmpd="sng" algn="ctr">
                <a:solidFill>
                  <a:srgbClr val="243E42"/>
                </a:solidFill>
                <a:prstDash val="solid"/>
                <a:round/>
                <a:headEnd type="none" w="med" len="med"/>
                <a:tailEnd type="none" w="med" len="med"/>
              </a:ln>
            </p:spPr>
          </p:sp>
          <p:sp>
            <p:nvSpPr>
              <p:cNvPr id="1135" name="rect · 111"/>
              <p:cNvSpPr/>
              <p:nvPr/>
            </p:nvSpPr>
            <p:spPr>
              <a:xfrm>
                <a:off x="6922982" y="4494107"/>
                <a:ext cx="669078" cy="779568"/>
              </a:xfrm>
              <a:prstGeom prst="roundRect">
                <a:avLst>
                  <a:gd name="adj" fmla="val 9174"/>
                </a:avLst>
              </a:prstGeom>
              <a:solidFill>
                <a:srgbClr val="FFFFFF"/>
              </a:solidFill>
              <a:ln w="13504" cap="rnd" cmpd="sng" algn="ctr">
                <a:solidFill>
                  <a:srgbClr val="243E42"/>
                </a:solidFill>
                <a:prstDash val="solid"/>
                <a:round/>
                <a:headEnd type="none" w="med" len="med"/>
                <a:tailEnd type="none" w="med" len="med"/>
              </a:ln>
            </p:spPr>
          </p:sp>
          <p:sp>
            <p:nvSpPr>
              <p:cNvPr id="1136" name="path · 112"/>
              <p:cNvSpPr/>
              <p:nvPr/>
            </p:nvSpPr>
            <p:spPr>
              <a:xfrm>
                <a:off x="7039610" y="4659842"/>
                <a:ext cx="92075" cy="558588"/>
              </a:xfrm>
              <a:custGeom>
                <a:avLst/>
                <a:gdLst/>
                <a:ahLst/>
                <a:cxnLst/>
                <a:rect l="0" t="0" r="r" b="b"/>
                <a:pathLst>
                  <a:path w="92075" h="558588" fill="norm" stroke="1" extrusionOk="0">
                    <a:moveTo>
                      <a:pt x="0" y="0"/>
                    </a:moveTo>
                    <a:lnTo>
                      <a:pt x="92075" y="0"/>
                    </a:lnTo>
                    <a:lnTo>
                      <a:pt x="92075" y="92075"/>
                    </a:lnTo>
                    <a:lnTo>
                      <a:pt x="0" y="92075"/>
                    </a:lnTo>
                    <a:close/>
                    <a:moveTo>
                      <a:pt x="0" y="233256"/>
                    </a:moveTo>
                    <a:lnTo>
                      <a:pt x="92075" y="233256"/>
                    </a:lnTo>
                    <a:lnTo>
                      <a:pt x="92075" y="325331"/>
                    </a:lnTo>
                    <a:lnTo>
                      <a:pt x="0" y="325331"/>
                    </a:lnTo>
                    <a:close/>
                    <a:moveTo>
                      <a:pt x="0" y="466513"/>
                    </a:moveTo>
                    <a:lnTo>
                      <a:pt x="92075" y="466513"/>
                    </a:lnTo>
                    <a:lnTo>
                      <a:pt x="92075" y="558588"/>
                    </a:lnTo>
                    <a:lnTo>
                      <a:pt x="0" y="558588"/>
                    </a:lnTo>
                    <a:close/>
                  </a:path>
                </a:pathLst>
              </a:custGeom>
              <a:solidFill>
                <a:srgbClr val="D7EBE1"/>
              </a:solidFill>
              <a:ln w="13504" cap="rnd" cmpd="sng" algn="ctr">
                <a:solidFill>
                  <a:srgbClr val="243E42"/>
                </a:solidFill>
                <a:prstDash val="solid"/>
                <a:round/>
                <a:headEnd type="none" w="med" len="med"/>
                <a:tailEnd type="none" w="med" len="med"/>
              </a:ln>
            </p:spPr>
          </p:sp>
          <p:sp>
            <p:nvSpPr>
              <p:cNvPr id="1137" name="path · 113"/>
              <p:cNvSpPr/>
              <p:nvPr/>
            </p:nvSpPr>
            <p:spPr>
              <a:xfrm>
                <a:off x="7223760" y="4696672"/>
                <a:ext cx="263948" cy="466513"/>
              </a:xfrm>
              <a:custGeom>
                <a:avLst/>
                <a:gdLst/>
                <a:ahLst/>
                <a:cxnLst/>
                <a:rect l="0" t="0" r="r" b="b"/>
                <a:pathLst>
                  <a:path w="263948" h="466513" fill="none" stroke="1" extrusionOk="0">
                    <a:moveTo>
                      <a:pt x="0" y="0"/>
                    </a:moveTo>
                    <a:lnTo>
                      <a:pt x="263948" y="0"/>
                    </a:lnTo>
                    <a:moveTo>
                      <a:pt x="0" y="233256"/>
                    </a:moveTo>
                    <a:lnTo>
                      <a:pt x="263948" y="233256"/>
                    </a:lnTo>
                    <a:moveTo>
                      <a:pt x="0" y="466513"/>
                    </a:moveTo>
                    <a:lnTo>
                      <a:pt x="178012" y="466513"/>
                    </a:lnTo>
                  </a:path>
                </a:pathLst>
              </a:custGeom>
              <a:noFill/>
              <a:ln w="24553" cap="rnd" cmpd="sng" algn="ctr">
                <a:solidFill>
                  <a:srgbClr val="243E42"/>
                </a:solidFill>
                <a:prstDash val="solid"/>
                <a:round/>
                <a:headEnd type="none" w="med" len="med"/>
                <a:tailEnd type="none" w="med" len="med"/>
              </a:ln>
            </p:spPr>
          </p:sp>
          <p:sp>
            <p:nvSpPr>
              <p:cNvPr id="1138" name="path · 114"/>
              <p:cNvSpPr/>
              <p:nvPr/>
            </p:nvSpPr>
            <p:spPr>
              <a:xfrm>
                <a:off x="7659582" y="4745778"/>
                <a:ext cx="147320" cy="356023"/>
              </a:xfrm>
              <a:custGeom>
                <a:avLst/>
                <a:gdLst/>
                <a:ahLst/>
                <a:cxnLst/>
                <a:rect l="0" t="0" r="r" b="b"/>
                <a:pathLst>
                  <a:path w="147320" h="356023" fill="none" stroke="1" extrusionOk="0">
                    <a:moveTo>
                      <a:pt x="0" y="0"/>
                    </a:moveTo>
                    <a:lnTo>
                      <a:pt x="147320" y="0"/>
                    </a:lnTo>
                    <a:lnTo>
                      <a:pt x="147320" y="306917"/>
                    </a:lnTo>
                    <a:lnTo>
                      <a:pt x="49106" y="306917"/>
                    </a:lnTo>
                    <a:moveTo>
                      <a:pt x="79798" y="257810"/>
                    </a:moveTo>
                    <a:lnTo>
                      <a:pt x="24553" y="306917"/>
                    </a:lnTo>
                    <a:lnTo>
                      <a:pt x="79798" y="356024"/>
                    </a:lnTo>
                  </a:path>
                </a:pathLst>
              </a:custGeom>
              <a:noFill/>
              <a:ln w="24553" cap="rnd" cmpd="sng" algn="ctr">
                <a:solidFill>
                  <a:srgbClr val="2E6653"/>
                </a:solidFill>
                <a:prstDash val="solid"/>
                <a:round/>
                <a:headEnd type="none" w="med" len="med"/>
                <a:tailEnd type="none" w="med" len="med"/>
              </a:ln>
            </p:spPr>
          </p:sp>
        </p:grpSp>
        <p:sp>
          <p:nvSpPr>
            <p:cNvPr id="1139" name="text · 116"/>
            <p:cNvSpPr txBox="1"/>
            <p:nvPr/>
          </p:nvSpPr>
          <p:spPr>
            <a:xfrm>
              <a:off x="6700837" y="5486400"/>
              <a:ext cx="125412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Route + rules</a:t>
              </a:r>
              <a:endParaRPr lang="en-US" sz="1550"/>
            </a:p>
          </p:txBody>
        </p:sp>
        <p:grpSp>
          <p:nvGrpSpPr>
            <p:cNvPr id="1140" name="request-route · 119"/>
            <p:cNvGrpSpPr/>
            <p:nvPr/>
          </p:nvGrpSpPr>
          <p:grpSpPr>
            <a:xfrm>
              <a:off x="7905750" y="4972050"/>
              <a:ext cx="685800" cy="50800"/>
              <a:chOff x="7905750" y="4972050"/>
              <a:chExt cx="685800" cy="50800"/>
            </a:xfrm>
          </p:grpSpPr>
          <p:grpSp>
            <p:nvGrpSpPr>
              <p:cNvPr id="1141" name="path · 117 + arrowhead"/>
              <p:cNvGrpSpPr/>
              <p:nvPr/>
            </p:nvGrpSpPr>
            <p:grpSpPr>
              <a:xfrm>
                <a:off x="7905750" y="4972050"/>
                <a:ext cx="685800" cy="50800"/>
                <a:chOff x="7905750" y="4972050"/>
                <a:chExt cx="685800" cy="50800"/>
              </a:xfrm>
            </p:grpSpPr>
            <p:sp>
              <p:nvSpPr>
                <p:cNvPr id="1142" name="path · 117"/>
                <p:cNvSpPr/>
                <p:nvPr/>
              </p:nvSpPr>
              <p:spPr>
                <a:xfrm>
                  <a:off x="7905750" y="4997450"/>
                  <a:ext cx="685800" cy="1"/>
                </a:xfrm>
                <a:custGeom>
                  <a:avLst/>
                  <a:gdLst/>
                  <a:ahLst/>
                  <a:cxnLst/>
                  <a:rect l="0" t="0" r="r" b="b"/>
                  <a:pathLst>
                    <a:path w="685800" h="1" fill="none" stroke="1" extrusionOk="0">
                      <a:moveTo>
                        <a:pt x="0" y="0"/>
                      </a:moveTo>
                      <a:lnTo>
                        <a:pt x="685800" y="0"/>
                      </a:lnTo>
                    </a:path>
                  </a:pathLst>
                </a:custGeom>
                <a:noFill/>
                <a:ln w="22225" cap="rnd" cmpd="sng" algn="ctr">
                  <a:solidFill>
                    <a:srgbClr val="355F72"/>
                  </a:solidFill>
                  <a:prstDash val="solid"/>
                  <a:round/>
                  <a:headEnd type="none" w="med" len="med"/>
                  <a:tailEnd type="none" w="med" len="med"/>
                </a:ln>
              </p:spPr>
            </p:sp>
            <p:grpSp>
              <p:nvGrpSpPr>
                <p:cNvPr id="1143" name="arrow-blue_ink end"/>
                <p:cNvGrpSpPr/>
                <p:nvPr/>
              </p:nvGrpSpPr>
              <p:grpSpPr>
                <a:xfrm>
                  <a:off x="8543925" y="4972050"/>
                  <a:ext cx="47625" cy="50800"/>
                  <a:chOff x="8543925" y="4972050"/>
                  <a:chExt cx="47625" cy="50800"/>
                </a:xfrm>
              </p:grpSpPr>
              <p:sp>
                <p:nvSpPr>
                  <p:cNvPr id="1144" name="path · 118"/>
                  <p:cNvSpPr/>
                  <p:nvPr/>
                </p:nvSpPr>
                <p:spPr>
                  <a:xfrm>
                    <a:off x="854392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sp>
          <p:nvSpPr>
            <p:cNvPr id="1145" name="text · 120"/>
            <p:cNvSpPr txBox="1"/>
            <p:nvPr/>
          </p:nvSpPr>
          <p:spPr>
            <a:xfrm>
              <a:off x="7977187" y="4673600"/>
              <a:ext cx="555625" cy="18313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250"/>
                </a:lnSpc>
                <a:spcBef>
                  <a:spcPts val="0"/>
                </a:spcBef>
                <a:spcAft>
                  <a:spcPts val="0"/>
                </a:spcAft>
              </a:pPr>
              <a:r>
                <a:rPr lang="en-US" sz="1200" b="1" i="0" kern="0" spc="0" dirty="0">
                  <a:solidFill>
                    <a:srgbClr val="2E6653"/>
                  </a:solidFill>
                  <a:latin typeface="Manrope"/>
                  <a:ea typeface="Manrope"/>
                  <a:cs typeface="Manrope"/>
                </a:rPr>
                <a:t>Eligible</a:t>
              </a:r>
              <a:endParaRPr lang="en-US" sz="1200"/>
            </a:p>
          </p:txBody>
        </p:sp>
        <p:grpSp>
          <p:nvGrpSpPr>
            <p:cNvPr id="1146" name="customer · 135"/>
            <p:cNvGrpSpPr/>
            <p:nvPr/>
          </p:nvGrpSpPr>
          <p:grpSpPr>
            <a:xfrm>
              <a:off x="8754604" y="4524304"/>
              <a:ext cx="731097" cy="847407"/>
              <a:chOff x="8754604" y="4524304"/>
              <a:chExt cx="731097" cy="847407"/>
            </a:xfrm>
          </p:grpSpPr>
          <p:sp>
            <p:nvSpPr>
              <p:cNvPr id="1147" name="ellipse · 121"/>
              <p:cNvSpPr/>
              <p:nvPr/>
            </p:nvSpPr>
            <p:spPr>
              <a:xfrm>
                <a:off x="8754604" y="5305249"/>
                <a:ext cx="731097" cy="66463"/>
              </a:xfrm>
              <a:prstGeom prst="ellipse">
                <a:avLst/>
              </a:prstGeom>
              <a:solidFill>
                <a:srgbClr val="E2EEF3"/>
              </a:solidFill>
              <a:ln>
                <a:noFill/>
              </a:ln>
            </p:spPr>
          </p:sp>
          <p:sp>
            <p:nvSpPr>
              <p:cNvPr id="1148" name="path · 122"/>
              <p:cNvSpPr/>
              <p:nvPr/>
            </p:nvSpPr>
            <p:spPr>
              <a:xfrm>
                <a:off x="8920762" y="50837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149" name="path · 123"/>
              <p:cNvSpPr/>
              <p:nvPr/>
            </p:nvSpPr>
            <p:spPr>
              <a:xfrm>
                <a:off x="8865376" y="53107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150" name="path · 124"/>
              <p:cNvSpPr/>
              <p:nvPr/>
            </p:nvSpPr>
            <p:spPr>
              <a:xfrm>
                <a:off x="8898608" y="47901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151" name="path · 125"/>
              <p:cNvSpPr/>
              <p:nvPr/>
            </p:nvSpPr>
            <p:spPr>
              <a:xfrm>
                <a:off x="8865376" y="48344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152" name="circle · 126"/>
              <p:cNvSpPr/>
              <p:nvPr/>
            </p:nvSpPr>
            <p:spPr>
              <a:xfrm>
                <a:off x="8959532" y="45575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53" name="path · 127"/>
              <p:cNvSpPr/>
              <p:nvPr/>
            </p:nvSpPr>
            <p:spPr>
              <a:xfrm>
                <a:off x="8937378" y="45243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154" name="path · 128"/>
              <p:cNvSpPr/>
              <p:nvPr/>
            </p:nvSpPr>
            <p:spPr>
              <a:xfrm>
                <a:off x="9070305" y="46683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155" name="path · 129"/>
              <p:cNvSpPr/>
              <p:nvPr/>
            </p:nvSpPr>
            <p:spPr>
              <a:xfrm>
                <a:off x="9075843" y="47403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156" name="path · 130"/>
              <p:cNvSpPr/>
              <p:nvPr/>
            </p:nvSpPr>
            <p:spPr>
              <a:xfrm>
                <a:off x="8915224" y="49120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157" name="path · 131"/>
              <p:cNvSpPr/>
              <p:nvPr/>
            </p:nvSpPr>
            <p:spPr>
              <a:xfrm>
                <a:off x="8915224" y="50117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158" name="path · 132"/>
              <p:cNvSpPr/>
              <p:nvPr/>
            </p:nvSpPr>
            <p:spPr>
              <a:xfrm>
                <a:off x="8998303" y="49673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159" name="circle · 133"/>
              <p:cNvSpPr/>
              <p:nvPr/>
            </p:nvSpPr>
            <p:spPr>
              <a:xfrm>
                <a:off x="8904146" y="50117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60" name="circle · 134"/>
              <p:cNvSpPr/>
              <p:nvPr/>
            </p:nvSpPr>
            <p:spPr>
              <a:xfrm>
                <a:off x="9297388" y="50338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161" name="confirmed-terms · 138"/>
            <p:cNvGrpSpPr/>
            <p:nvPr/>
          </p:nvGrpSpPr>
          <p:grpSpPr>
            <a:xfrm>
              <a:off x="9328150" y="4667250"/>
              <a:ext cx="279400" cy="279400"/>
              <a:chOff x="9328150" y="4667250"/>
              <a:chExt cx="279400" cy="279400"/>
            </a:xfrm>
          </p:grpSpPr>
          <p:sp>
            <p:nvSpPr>
              <p:cNvPr id="1162" name="circle · 136"/>
              <p:cNvSpPr/>
              <p:nvPr/>
            </p:nvSpPr>
            <p:spPr>
              <a:xfrm>
                <a:off x="9328150" y="4667250"/>
                <a:ext cx="279400" cy="2794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63" name="path · 137"/>
              <p:cNvSpPr/>
              <p:nvPr/>
            </p:nvSpPr>
            <p:spPr>
              <a:xfrm>
                <a:off x="9398000" y="4737100"/>
                <a:ext cx="139700" cy="120650"/>
              </a:xfrm>
              <a:custGeom>
                <a:avLst/>
                <a:gdLst/>
                <a:ahLst/>
                <a:cxnLst/>
                <a:rect l="0" t="0" r="r" b="b"/>
                <a:pathLst>
                  <a:path w="139700" h="120650" fill="none" stroke="1" extrusionOk="0">
                    <a:moveTo>
                      <a:pt x="0" y="69850"/>
                    </a:moveTo>
                    <a:lnTo>
                      <a:pt x="50800" y="120650"/>
                    </a:lnTo>
                    <a:lnTo>
                      <a:pt x="139700" y="0"/>
                    </a:lnTo>
                  </a:path>
                </a:pathLst>
              </a:custGeom>
              <a:noFill/>
              <a:ln w="25400" cap="rnd" cmpd="sng" algn="ctr">
                <a:solidFill>
                  <a:srgbClr val="2E6653"/>
                </a:solidFill>
                <a:prstDash val="solid"/>
                <a:round/>
                <a:headEnd type="none" w="med" len="med"/>
                <a:tailEnd type="none" w="med" len="med"/>
              </a:ln>
            </p:spPr>
          </p:sp>
        </p:grpSp>
        <p:sp>
          <p:nvSpPr>
            <p:cNvPr id="1164" name="text · 139"/>
            <p:cNvSpPr txBox="1"/>
            <p:nvPr/>
          </p:nvSpPr>
          <p:spPr>
            <a:xfrm>
              <a:off x="8475662" y="5486400"/>
              <a:ext cx="1311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Confirm terms</a:t>
              </a:r>
              <a:endParaRPr lang="en-US" sz="1500"/>
            </a:p>
          </p:txBody>
        </p:sp>
        <p:grpSp>
          <p:nvGrpSpPr>
            <p:cNvPr id="1165" name="request-route · 142"/>
            <p:cNvGrpSpPr/>
            <p:nvPr/>
          </p:nvGrpSpPr>
          <p:grpSpPr>
            <a:xfrm>
              <a:off x="9626600" y="4972050"/>
              <a:ext cx="520700" cy="50800"/>
              <a:chOff x="9626600" y="4972050"/>
              <a:chExt cx="520700" cy="50800"/>
            </a:xfrm>
          </p:grpSpPr>
          <p:grpSp>
            <p:nvGrpSpPr>
              <p:cNvPr id="1166" name="path · 140 + arrowhead"/>
              <p:cNvGrpSpPr/>
              <p:nvPr/>
            </p:nvGrpSpPr>
            <p:grpSpPr>
              <a:xfrm>
                <a:off x="9626600" y="4972050"/>
                <a:ext cx="520700" cy="50800"/>
                <a:chOff x="9626600" y="4972050"/>
                <a:chExt cx="520700" cy="50800"/>
              </a:xfrm>
            </p:grpSpPr>
            <p:sp>
              <p:nvSpPr>
                <p:cNvPr id="1167" name="path · 140"/>
                <p:cNvSpPr/>
                <p:nvPr/>
              </p:nvSpPr>
              <p:spPr>
                <a:xfrm>
                  <a:off x="9626600" y="4997450"/>
                  <a:ext cx="520700" cy="1"/>
                </a:xfrm>
                <a:custGeom>
                  <a:avLst/>
                  <a:gdLst/>
                  <a:ahLst/>
                  <a:cxnLst/>
                  <a:rect l="0" t="0" r="r" b="b"/>
                  <a:pathLst>
                    <a:path w="520700" h="1" fill="none" stroke="1" extrusionOk="0">
                      <a:moveTo>
                        <a:pt x="0" y="0"/>
                      </a:moveTo>
                      <a:lnTo>
                        <a:pt x="520700" y="0"/>
                      </a:lnTo>
                    </a:path>
                  </a:pathLst>
                </a:custGeom>
                <a:noFill/>
                <a:ln w="22225" cap="rnd" cmpd="sng" algn="ctr">
                  <a:solidFill>
                    <a:srgbClr val="355F72"/>
                  </a:solidFill>
                  <a:prstDash val="solid"/>
                  <a:round/>
                  <a:headEnd type="none" w="med" len="med"/>
                  <a:tailEnd type="none" w="med" len="med"/>
                </a:ln>
              </p:spPr>
            </p:sp>
            <p:grpSp>
              <p:nvGrpSpPr>
                <p:cNvPr id="1168" name="arrow-blue_ink end"/>
                <p:cNvGrpSpPr/>
                <p:nvPr/>
              </p:nvGrpSpPr>
              <p:grpSpPr>
                <a:xfrm>
                  <a:off x="10099675" y="4972050"/>
                  <a:ext cx="47625" cy="50800"/>
                  <a:chOff x="10099675" y="4972050"/>
                  <a:chExt cx="47625" cy="50800"/>
                </a:xfrm>
              </p:grpSpPr>
              <p:sp>
                <p:nvSpPr>
                  <p:cNvPr id="1169" name="path · 141"/>
                  <p:cNvSpPr/>
                  <p:nvPr/>
                </p:nvSpPr>
                <p:spPr>
                  <a:xfrm>
                    <a:off x="1009967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70" name="commit · 149"/>
            <p:cNvGrpSpPr/>
            <p:nvPr/>
          </p:nvGrpSpPr>
          <p:grpSpPr>
            <a:xfrm>
              <a:off x="10284178" y="4474633"/>
              <a:ext cx="958497" cy="951794"/>
              <a:chOff x="10284178" y="4474633"/>
              <a:chExt cx="958497" cy="951794"/>
            </a:xfrm>
          </p:grpSpPr>
          <p:sp>
            <p:nvSpPr>
              <p:cNvPr id="1171" name="path · 143"/>
              <p:cNvSpPr/>
              <p:nvPr/>
            </p:nvSpPr>
            <p:spPr>
              <a:xfrm>
                <a:off x="10284178" y="4474633"/>
                <a:ext cx="790928" cy="924983"/>
              </a:xfrm>
              <a:custGeom>
                <a:avLst/>
                <a:gdLst/>
                <a:ahLst/>
                <a:cxnLst/>
                <a:rect l="0" t="0" r="r" b="b"/>
                <a:pathLst>
                  <a:path w="790928" h="924983" fill="norm" stroke="1" extrusionOk="0">
                    <a:moveTo>
                      <a:pt x="0" y="0"/>
                    </a:moveTo>
                    <a:lnTo>
                      <a:pt x="609953" y="0"/>
                    </a:lnTo>
                    <a:lnTo>
                      <a:pt x="790928" y="180975"/>
                    </a:lnTo>
                    <a:lnTo>
                      <a:pt x="790928" y="924984"/>
                    </a:lnTo>
                    <a:lnTo>
                      <a:pt x="0" y="924984"/>
                    </a:lnTo>
                    <a:close/>
                  </a:path>
                </a:pathLst>
              </a:custGeom>
              <a:solidFill>
                <a:srgbClr val="FFFFFF"/>
              </a:solidFill>
              <a:ln w="14746" cap="rnd" cmpd="sng" algn="ctr">
                <a:solidFill>
                  <a:srgbClr val="243E42"/>
                </a:solidFill>
                <a:prstDash val="solid"/>
                <a:round/>
                <a:headEnd type="none" w="med" len="med"/>
                <a:tailEnd type="none" w="med" len="med"/>
              </a:ln>
            </p:spPr>
          </p:sp>
          <p:sp>
            <p:nvSpPr>
              <p:cNvPr id="1172" name="path · 144"/>
              <p:cNvSpPr/>
              <p:nvPr/>
            </p:nvSpPr>
            <p:spPr>
              <a:xfrm>
                <a:off x="10894131" y="4474633"/>
                <a:ext cx="180975" cy="180975"/>
              </a:xfrm>
              <a:custGeom>
                <a:avLst/>
                <a:gdLst/>
                <a:ahLst/>
                <a:cxnLst/>
                <a:rect l="0" t="0" r="r" b="b"/>
                <a:pathLst>
                  <a:path w="180975" h="180975" fill="norm" stroke="1" extrusionOk="0">
                    <a:moveTo>
                      <a:pt x="0" y="0"/>
                    </a:moveTo>
                    <a:lnTo>
                      <a:pt x="0" y="180975"/>
                    </a:lnTo>
                    <a:lnTo>
                      <a:pt x="180975" y="180975"/>
                    </a:lnTo>
                  </a:path>
                </a:pathLst>
              </a:custGeom>
              <a:solidFill>
                <a:srgbClr val="E2EEF3"/>
              </a:solidFill>
              <a:ln w="14746" cap="rnd" cmpd="sng" algn="ctr">
                <a:solidFill>
                  <a:srgbClr val="243E42"/>
                </a:solidFill>
                <a:prstDash val="solid"/>
                <a:round/>
                <a:headEnd type="none" w="med" len="med"/>
                <a:tailEnd type="none" w="med" len="med"/>
              </a:ln>
            </p:spPr>
          </p:sp>
          <p:sp>
            <p:nvSpPr>
              <p:cNvPr id="1173" name="path · 145"/>
              <p:cNvSpPr/>
              <p:nvPr/>
            </p:nvSpPr>
            <p:spPr>
              <a:xfrm>
                <a:off x="10391422" y="4742744"/>
                <a:ext cx="522817" cy="214489"/>
              </a:xfrm>
              <a:custGeom>
                <a:avLst/>
                <a:gdLst/>
                <a:ahLst/>
                <a:cxnLst/>
                <a:rect l="0" t="0" r="r" b="b"/>
                <a:pathLst>
                  <a:path w="522817" h="214489" fill="none" stroke="1" extrusionOk="0">
                    <a:moveTo>
                      <a:pt x="0" y="0"/>
                    </a:moveTo>
                    <a:lnTo>
                      <a:pt x="522817" y="0"/>
                    </a:lnTo>
                    <a:moveTo>
                      <a:pt x="0" y="107245"/>
                    </a:moveTo>
                    <a:lnTo>
                      <a:pt x="395464" y="107245"/>
                    </a:lnTo>
                    <a:moveTo>
                      <a:pt x="0" y="214489"/>
                    </a:moveTo>
                    <a:lnTo>
                      <a:pt x="315031" y="214489"/>
                    </a:lnTo>
                  </a:path>
                </a:pathLst>
              </a:custGeom>
              <a:noFill/>
              <a:ln w="26811" cap="rnd" cmpd="sng" algn="ctr">
                <a:solidFill>
                  <a:srgbClr val="355F72"/>
                </a:solidFill>
                <a:prstDash val="solid"/>
                <a:round/>
                <a:headEnd type="none" w="med" len="med"/>
                <a:tailEnd type="none" w="med" len="med"/>
              </a:ln>
            </p:spPr>
          </p:sp>
          <p:sp>
            <p:nvSpPr>
              <p:cNvPr id="1174" name="path · 146"/>
              <p:cNvSpPr/>
              <p:nvPr/>
            </p:nvSpPr>
            <p:spPr>
              <a:xfrm>
                <a:off x="10391422" y="5138208"/>
                <a:ext cx="308328" cy="147461"/>
              </a:xfrm>
              <a:custGeom>
                <a:avLst/>
                <a:gdLst/>
                <a:ahLst/>
                <a:cxnLst/>
                <a:rect l="0" t="0" r="r" b="b"/>
                <a:pathLst>
                  <a:path w="308328" h="147461" fill="none" stroke="1" extrusionOk="0">
                    <a:moveTo>
                      <a:pt x="0" y="0"/>
                    </a:moveTo>
                    <a:lnTo>
                      <a:pt x="0" y="147461"/>
                    </a:lnTo>
                    <a:moveTo>
                      <a:pt x="40217" y="0"/>
                    </a:moveTo>
                    <a:lnTo>
                      <a:pt x="40217" y="147461"/>
                    </a:lnTo>
                    <a:moveTo>
                      <a:pt x="87136" y="0"/>
                    </a:moveTo>
                    <a:lnTo>
                      <a:pt x="87136" y="147461"/>
                    </a:lnTo>
                    <a:moveTo>
                      <a:pt x="154164" y="0"/>
                    </a:moveTo>
                    <a:lnTo>
                      <a:pt x="154164" y="147461"/>
                    </a:lnTo>
                    <a:moveTo>
                      <a:pt x="201084" y="0"/>
                    </a:moveTo>
                    <a:lnTo>
                      <a:pt x="201084" y="147461"/>
                    </a:lnTo>
                    <a:moveTo>
                      <a:pt x="241300" y="0"/>
                    </a:moveTo>
                    <a:lnTo>
                      <a:pt x="241300" y="147461"/>
                    </a:lnTo>
                    <a:moveTo>
                      <a:pt x="308328" y="0"/>
                    </a:moveTo>
                    <a:lnTo>
                      <a:pt x="308328" y="147461"/>
                    </a:lnTo>
                  </a:path>
                </a:pathLst>
              </a:custGeom>
              <a:noFill/>
              <a:ln w="20108" cap="rnd" cmpd="sng" algn="ctr">
                <a:solidFill>
                  <a:srgbClr val="243E42"/>
                </a:solidFill>
                <a:prstDash val="solid"/>
                <a:round/>
                <a:headEnd type="none" w="med" len="med"/>
                <a:tailEnd type="none" w="med" len="med"/>
              </a:ln>
            </p:spPr>
          </p:sp>
          <p:sp>
            <p:nvSpPr>
              <p:cNvPr id="1175" name="path · 147"/>
              <p:cNvSpPr/>
              <p:nvPr/>
            </p:nvSpPr>
            <p:spPr>
              <a:xfrm>
                <a:off x="10813697" y="4917017"/>
                <a:ext cx="428978" cy="509411"/>
              </a:xfrm>
              <a:custGeom>
                <a:avLst/>
                <a:gdLst/>
                <a:ahLst/>
                <a:cxnLst/>
                <a:rect l="0" t="0" r="r" b="b"/>
                <a:pathLst>
                  <a:path w="428978" h="509411" fill="norm" stroke="1" extrusionOk="0">
                    <a:moveTo>
                      <a:pt x="214489" y="0"/>
                    </a:moveTo>
                    <a:lnTo>
                      <a:pt x="428978" y="73730"/>
                    </a:lnTo>
                    <a:lnTo>
                      <a:pt x="428978" y="248002"/>
                    </a:lnTo>
                    <a:quadBezTo>
                      <a:pt x="428978" y="395464"/>
                      <a:pt x="214489" y="509411"/>
                    </a:quadBezTo>
                    <a:quadBezTo>
                      <a:pt x="0" y="395464"/>
                      <a:pt x="0" y="248002"/>
                    </a:quadBezTo>
                    <a:lnTo>
                      <a:pt x="0" y="73730"/>
                    </a:lnTo>
                    <a:close/>
                  </a:path>
                </a:pathLst>
              </a:custGeom>
              <a:solidFill>
                <a:srgbClr val="D7EBE1"/>
              </a:solidFill>
              <a:ln w="14746" cap="rnd" cmpd="sng" algn="ctr">
                <a:solidFill>
                  <a:srgbClr val="2E6653"/>
                </a:solidFill>
                <a:prstDash val="solid"/>
                <a:round/>
                <a:headEnd type="none" w="med" len="med"/>
                <a:tailEnd type="none" w="med" len="med"/>
              </a:ln>
            </p:spPr>
          </p:sp>
          <p:sp>
            <p:nvSpPr>
              <p:cNvPr id="1176" name="path · 148"/>
              <p:cNvSpPr/>
              <p:nvPr/>
            </p:nvSpPr>
            <p:spPr>
              <a:xfrm>
                <a:off x="10914239" y="5051072"/>
                <a:ext cx="227894" cy="174272"/>
              </a:xfrm>
              <a:custGeom>
                <a:avLst/>
                <a:gdLst/>
                <a:ahLst/>
                <a:cxnLst/>
                <a:rect l="0" t="0" r="r" b="b"/>
                <a:pathLst>
                  <a:path w="227894" h="174272" fill="none" stroke="1" extrusionOk="0">
                    <a:moveTo>
                      <a:pt x="0" y="100542"/>
                    </a:moveTo>
                    <a:lnTo>
                      <a:pt x="73730" y="174272"/>
                    </a:lnTo>
                    <a:lnTo>
                      <a:pt x="227894" y="0"/>
                    </a:lnTo>
                  </a:path>
                </a:pathLst>
              </a:custGeom>
              <a:noFill/>
              <a:ln w="33514" cap="rnd" cmpd="sng" algn="ctr">
                <a:solidFill>
                  <a:srgbClr val="2E6653"/>
                </a:solidFill>
                <a:prstDash val="solid"/>
                <a:round/>
                <a:headEnd type="none" w="med" len="med"/>
                <a:tailEnd type="none" w="med" len="med"/>
              </a:ln>
            </p:spPr>
          </p:sp>
        </p:grpSp>
        <p:sp>
          <p:nvSpPr>
            <p:cNvPr id="1177" name="text · 150"/>
            <p:cNvSpPr txBox="1"/>
            <p:nvPr/>
          </p:nvSpPr>
          <p:spPr>
            <a:xfrm>
              <a:off x="10069512" y="54864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E6653"/>
                  </a:solidFill>
                  <a:latin typeface="Manrope"/>
                  <a:ea typeface="Manrope"/>
                  <a:cs typeface="Manrope"/>
                </a:rPr>
                <a:t>Service result</a:t>
              </a:r>
              <a:endParaRPr lang="en-US" sz="1500"/>
            </a:p>
          </p:txBody>
        </p:sp>
      </p:grpSp>
      <p:grpSp>
        <p:nvGrpSpPr>
          <p:cNvPr id="1183" name="08 · source-line: Intent routing · AgentScript control plane · Reasoning gate · C"/>
          <p:cNvGrpSpPr/>
          <p:nvPr/>
        </p:nvGrpSpPr>
        <p:grpSpPr>
          <a:xfrm>
            <a:off x="558800" y="6037898"/>
            <a:ext cx="11087100" cy="284456"/>
            <a:chOff x="558800" y="6037898"/>
            <a:chExt cx="11087100" cy="284456"/>
          </a:xfrm>
        </p:grpSpPr>
        <p:sp>
          <p:nvSpPr>
            <p:cNvPr id="1178" name="08 · source-line · top border [p08-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79" name="08 · span: Intent routing · AgentScript control plane · Reasoning gate · C [p08-text-0009]" descr="Native editable Unicode text; authored line breaks retained."/>
            <p:cNvSpPr txBox="1"/>
            <p:nvPr/>
          </p:nvSpPr>
          <p:spPr>
            <a:xfrm>
              <a:off x="558800" y="6153126"/>
              <a:ext cx="34314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Reasoning gate · C</a:t>
              </a:r>
              <a:endParaRPr lang="en-US" sz="950" b="0" i="0" kern="0" spc="0" dirty="0" u="sng">
                <a:solidFill>
                  <a:srgbClr val="315A7A"/>
                </a:solidFill>
                <a:latin typeface="Salesforce Sans"/>
                <a:ea typeface="Salesforce Sans"/>
                <a:cs typeface="Salesforce Sans"/>
              </a:endParaRPr>
            </a:p>
          </p:txBody>
        </p:sp>
        <p:sp>
          <p:nvSpPr>
            <p:cNvPr id="1180" name="08 · span: Scoped interpretation · facts and authority remain with services [p08-text-0010]" descr="Native editable Unicode text; authored line breaks retained."/>
            <p:cNvSpPr txBox="1"/>
            <p:nvPr/>
          </p:nvSpPr>
          <p:spPr>
            <a:xfrm>
              <a:off x="8101124" y="6153126"/>
              <a:ext cx="354477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Scoped interpretation · facts and authority remain with services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9.xml><?xml version="1.0" encoding="utf-8"?>
<p:sld xmlns:a="http://schemas.openxmlformats.org/drawingml/2006/main" xmlns:p="http://schemas.openxmlformats.org/presentationml/2006/main">
  <p:cSld name="Whole-item returns follow their own policy">
    <p:bg>
      <p:bgPr>
        <a:solidFill>
          <a:srgbClr val="FFFFFF"/>
        </a:solidFill>
      </p:bgPr>
    </p:bg>
    <p:spTree>
      <p:nvGrpSpPr>
        <p:cNvPr id="1" name=""/>
        <p:cNvGrpSpPr/>
        <p:nvPr/>
      </p:nvGrpSpPr>
      <p:grpSpPr>
        <a:xfrm>
          <a:off x="0" y="0"/>
          <a:ext cx="0" cy="0"/>
          <a:chOff x="0" y="0"/>
          <a:chExt cx="0" cy="0"/>
        </a:xfrm>
      </p:grpSpPr>
      <p:sp>
        <p:nvSpPr>
          <p:cNvPr id="1000" name="09 · slide light · surface [p0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6" name="09 · chrome-min: DISAGGREGATED INTELLIGENCE"/>
          <p:cNvGrpSpPr/>
          <p:nvPr/>
        </p:nvGrpSpPr>
        <p:grpSpPr>
          <a:xfrm>
            <a:off x="558800" y="356053"/>
            <a:ext cx="11087100" cy="187325"/>
            <a:chOff x="558800" y="356053"/>
            <a:chExt cx="11087100" cy="187325"/>
          </a:xfrm>
        </p:grpSpPr>
        <p:sp>
          <p:nvSpPr>
            <p:cNvPr id="1001" name="09 · l: DISAGGREGATED INTELLIGENCE [p09-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9 · r: 09 / 36 [p09-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09 / 36</a:t>
              </a:r>
              <a:endParaRPr lang="en-US" sz="950" b="1" i="0" kern="0" spc="65" dirty="0">
                <a:solidFill>
                  <a:srgbClr val="022AC0"/>
                </a:solidFill>
                <a:latin typeface="Salesforce Sans"/>
                <a:ea typeface="Salesforce Sans"/>
                <a:cs typeface="Salesforce Sans"/>
              </a:endParaRPr>
            </a:p>
          </p:txBody>
        </p:sp>
      </p:grpSp>
      <p:grpSp>
        <p:nvGrpSpPr>
          <p:cNvPr id="1187" name="09 · deck-head: 02 / AN EXPLICIT MERCHANT POLICY"/>
          <p:cNvGrpSpPr/>
          <p:nvPr/>
        </p:nvGrpSpPr>
        <p:grpSpPr>
          <a:xfrm>
            <a:off x="558800" y="775901"/>
            <a:ext cx="11087100" cy="871263"/>
            <a:chOff x="558800" y="775901"/>
            <a:chExt cx="11087100" cy="871263"/>
          </a:xfrm>
        </p:grpSpPr>
        <p:sp>
          <p:nvSpPr>
            <p:cNvPr id="1003" name="09 · returns-policy-eyebrow: 02 / AN EXPLICIT MERCHANT POLICY [p09-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AN EXPLICIT MERCHANT POLICY</a:t>
              </a:r>
              <a:endParaRPr lang="en-US" sz="1050" b="1" i="0" kern="0" spc="68" dirty="0">
                <a:solidFill>
                  <a:srgbClr val="022AC0"/>
                </a:solidFill>
                <a:latin typeface="Salesforce Sans"/>
                <a:ea typeface="Salesforce Sans"/>
                <a:cs typeface="Salesforce Sans"/>
              </a:endParaRPr>
            </a:p>
          </p:txBody>
        </p:sp>
        <p:sp>
          <p:nvSpPr>
            <p:cNvPr id="1004" name="09 · returns-policy-title: Whole-item returns follow their own policy [p09-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Whole-item returns follow their own policy</a:t>
              </a:r>
              <a:endParaRPr lang="en-US" sz="3600" b="1" i="0" kern="0" spc="-95" dirty="0">
                <a:solidFill>
                  <a:srgbClr val="022AC0"/>
                </a:solidFill>
                <a:latin typeface="Manrope"/>
                <a:ea typeface="Manrope"/>
                <a:cs typeface="Manrope"/>
              </a:endParaRPr>
            </a:p>
          </p:txBody>
        </p:sp>
      </p:grpSp>
      <p:grpSp>
        <p:nvGrpSpPr>
          <p:cNvPr id="1005" name="09 · img · drawing [p09-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g · 165"/>
            <p:cNvGrpSpPr/>
            <p:nvPr/>
          </p:nvGrpSpPr>
          <p:grpSpPr>
            <a:xfrm>
              <a:off x="698500" y="2063750"/>
              <a:ext cx="10671175" cy="3562350"/>
              <a:chOff x="698500" y="2063750"/>
              <a:chExt cx="10671175" cy="3562350"/>
            </a:xfrm>
          </p:grpSpPr>
          <p:grpSp>
            <p:nvGrpSpPr>
              <p:cNvPr id="1008" name="g · 158"/>
              <p:cNvGrpSpPr/>
              <p:nvPr/>
            </p:nvGrpSpPr>
            <p:grpSpPr>
              <a:xfrm>
                <a:off x="729721" y="2063750"/>
                <a:ext cx="10639954" cy="3562350"/>
                <a:chOff x="729721" y="2063750"/>
                <a:chExt cx="10639954" cy="3562350"/>
              </a:xfrm>
            </p:grpSpPr>
            <p:grpSp>
              <p:nvGrpSpPr>
                <p:cNvPr id="1009" name="path · 2 + arrowhead"/>
                <p:cNvGrpSpPr/>
                <p:nvPr/>
              </p:nvGrpSpPr>
              <p:grpSpPr>
                <a:xfrm>
                  <a:off x="2641600" y="2806700"/>
                  <a:ext cx="787400" cy="914400"/>
                  <a:chOff x="2641600" y="2806700"/>
                  <a:chExt cx="787400" cy="914400"/>
                </a:xfrm>
              </p:grpSpPr>
              <p:sp>
                <p:nvSpPr>
                  <p:cNvPr id="1010" name="path · 2"/>
                  <p:cNvSpPr/>
                  <p:nvPr/>
                </p:nvSpPr>
                <p:spPr>
                  <a:xfrm>
                    <a:off x="2641600" y="2832100"/>
                    <a:ext cx="787400" cy="889000"/>
                  </a:xfrm>
                  <a:custGeom>
                    <a:avLst/>
                    <a:gdLst/>
                    <a:ahLst/>
                    <a:cxnLst/>
                    <a:rect l="0" t="0" r="r" b="b"/>
                    <a:pathLst>
                      <a:path w="787400" h="889000" fill="none" stroke="1" extrusionOk="0">
                        <a:moveTo>
                          <a:pt x="0" y="889000"/>
                        </a:moveTo>
                        <a:lnTo>
                          <a:pt x="349250" y="889000"/>
                        </a:lnTo>
                        <a:lnTo>
                          <a:pt x="349250" y="0"/>
                        </a:lnTo>
                        <a:lnTo>
                          <a:pt x="787400" y="0"/>
                        </a:lnTo>
                      </a:path>
                    </a:pathLst>
                  </a:custGeom>
                  <a:noFill/>
                  <a:ln w="25400" cap="rnd" cmpd="sng" algn="ctr">
                    <a:solidFill>
                      <a:srgbClr val="355F72"/>
                    </a:solidFill>
                    <a:prstDash val="solid"/>
                    <a:round/>
                    <a:headEnd type="none" w="med" len="med"/>
                    <a:tailEnd type="none" w="med" len="med"/>
                  </a:ln>
                </p:spPr>
              </p:sp>
              <p:grpSp>
                <p:nvGrpSpPr>
                  <p:cNvPr id="1011" name="arrow-blue_ink end"/>
                  <p:cNvGrpSpPr/>
                  <p:nvPr/>
                </p:nvGrpSpPr>
                <p:grpSpPr>
                  <a:xfrm>
                    <a:off x="3381375" y="2806700"/>
                    <a:ext cx="47625" cy="50800"/>
                    <a:chOff x="3381375" y="2806700"/>
                    <a:chExt cx="47625" cy="50800"/>
                  </a:xfrm>
                </p:grpSpPr>
                <p:sp>
                  <p:nvSpPr>
                    <p:cNvPr id="1012" name="path · 3"/>
                    <p:cNvSpPr/>
                    <p:nvPr/>
                  </p:nvSpPr>
                  <p:spPr>
                    <a:xfrm>
                      <a:off x="3381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13" name="path · 4 + arrowhead"/>
                <p:cNvGrpSpPr/>
                <p:nvPr/>
              </p:nvGrpSpPr>
              <p:grpSpPr>
                <a:xfrm>
                  <a:off x="2990850" y="3721100"/>
                  <a:ext cx="438150" cy="1041400"/>
                  <a:chOff x="2990850" y="3721100"/>
                  <a:chExt cx="438150" cy="1041400"/>
                </a:xfrm>
              </p:grpSpPr>
              <p:sp>
                <p:nvSpPr>
                  <p:cNvPr id="1014" name="path · 4"/>
                  <p:cNvSpPr/>
                  <p:nvPr/>
                </p:nvSpPr>
                <p:spPr>
                  <a:xfrm>
                    <a:off x="2990850" y="3721100"/>
                    <a:ext cx="438150" cy="1016000"/>
                  </a:xfrm>
                  <a:custGeom>
                    <a:avLst/>
                    <a:gdLst/>
                    <a:ahLst/>
                    <a:cxnLst/>
                    <a:rect l="0" t="0" r="r" b="b"/>
                    <a:pathLst>
                      <a:path w="438150" h="1016000" fill="none" stroke="1" extrusionOk="0">
                        <a:moveTo>
                          <a:pt x="0" y="0"/>
                        </a:moveTo>
                        <a:lnTo>
                          <a:pt x="0" y="1016000"/>
                        </a:lnTo>
                        <a:lnTo>
                          <a:pt x="438150" y="1016000"/>
                        </a:lnTo>
                      </a:path>
                    </a:pathLst>
                  </a:custGeom>
                  <a:noFill/>
                  <a:ln w="25400" cap="rnd" cmpd="sng" algn="ctr">
                    <a:solidFill>
                      <a:srgbClr val="355F72"/>
                    </a:solidFill>
                    <a:prstDash val="solid"/>
                    <a:round/>
                    <a:headEnd type="none" w="med" len="med"/>
                    <a:tailEnd type="none" w="med" len="med"/>
                  </a:ln>
                </p:spPr>
              </p:sp>
              <p:grpSp>
                <p:nvGrpSpPr>
                  <p:cNvPr id="1015" name="arrow-blue_ink end"/>
                  <p:cNvGrpSpPr/>
                  <p:nvPr/>
                </p:nvGrpSpPr>
                <p:grpSpPr>
                  <a:xfrm>
                    <a:off x="3381375" y="4711700"/>
                    <a:ext cx="47625" cy="50800"/>
                    <a:chOff x="3381375" y="4711700"/>
                    <a:chExt cx="47625" cy="50800"/>
                  </a:xfrm>
                </p:grpSpPr>
                <p:sp>
                  <p:nvSpPr>
                    <p:cNvPr id="1016" name="path · 5"/>
                    <p:cNvSpPr/>
                    <p:nvPr/>
                  </p:nvSpPr>
                  <p:spPr>
                    <a:xfrm>
                      <a:off x="3381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sp>
              <p:nvSpPr>
                <p:cNvPr id="1017" name="circle · 6"/>
                <p:cNvSpPr/>
                <p:nvPr/>
              </p:nvSpPr>
              <p:spPr>
                <a:xfrm>
                  <a:off x="2952750" y="3683000"/>
                  <a:ext cx="76200" cy="76200"/>
                </a:xfrm>
                <a:prstGeom prst="ellipse">
                  <a:avLst/>
                </a:prstGeom>
                <a:solidFill>
                  <a:srgbClr val="355F72"/>
                </a:solidFill>
                <a:ln>
                  <a:noFill/>
                </a:ln>
              </p:spPr>
            </p:sp>
            <p:grpSp>
              <p:nvGrpSpPr>
                <p:cNvPr id="1018" name="path · 7 + arrowhead"/>
                <p:cNvGrpSpPr/>
                <p:nvPr/>
              </p:nvGrpSpPr>
              <p:grpSpPr>
                <a:xfrm>
                  <a:off x="5073650" y="2806700"/>
                  <a:ext cx="641350" cy="50800"/>
                  <a:chOff x="5073650" y="2806700"/>
                  <a:chExt cx="641350" cy="50800"/>
                </a:xfrm>
              </p:grpSpPr>
              <p:sp>
                <p:nvSpPr>
                  <p:cNvPr id="1019" name="path · 7"/>
                  <p:cNvSpPr/>
                  <p:nvPr/>
                </p:nvSpPr>
                <p:spPr>
                  <a:xfrm>
                    <a:off x="5073650" y="2832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0" name="arrow-green end"/>
                  <p:cNvGrpSpPr/>
                  <p:nvPr/>
                </p:nvGrpSpPr>
                <p:grpSpPr>
                  <a:xfrm>
                    <a:off x="5667375" y="2806700"/>
                    <a:ext cx="47625" cy="50800"/>
                    <a:chOff x="5667375" y="2806700"/>
                    <a:chExt cx="47625" cy="50800"/>
                  </a:xfrm>
                </p:grpSpPr>
                <p:sp>
                  <p:nvSpPr>
                    <p:cNvPr id="1021" name="path · 8"/>
                    <p:cNvSpPr/>
                    <p:nvPr/>
                  </p:nvSpPr>
                  <p:spPr>
                    <a:xfrm>
                      <a:off x="5667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2" name="path · 9 + arrowhead"/>
                <p:cNvGrpSpPr/>
                <p:nvPr/>
              </p:nvGrpSpPr>
              <p:grpSpPr>
                <a:xfrm>
                  <a:off x="5073650" y="4711700"/>
                  <a:ext cx="641350" cy="50800"/>
                  <a:chOff x="5073650" y="4711700"/>
                  <a:chExt cx="641350" cy="50800"/>
                </a:xfrm>
              </p:grpSpPr>
              <p:sp>
                <p:nvSpPr>
                  <p:cNvPr id="1023" name="path · 9"/>
                  <p:cNvSpPr/>
                  <p:nvPr/>
                </p:nvSpPr>
                <p:spPr>
                  <a:xfrm>
                    <a:off x="5073650" y="4737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4" name="arrow-green end"/>
                  <p:cNvGrpSpPr/>
                  <p:nvPr/>
                </p:nvGrpSpPr>
                <p:grpSpPr>
                  <a:xfrm>
                    <a:off x="5667375" y="4711700"/>
                    <a:ext cx="47625" cy="50800"/>
                    <a:chOff x="5667375" y="4711700"/>
                    <a:chExt cx="47625" cy="50800"/>
                  </a:xfrm>
                </p:grpSpPr>
                <p:sp>
                  <p:nvSpPr>
                    <p:cNvPr id="1025" name="path · 10"/>
                    <p:cNvSpPr/>
                    <p:nvPr/>
                  </p:nvSpPr>
                  <p:spPr>
                    <a:xfrm>
                      <a:off x="5667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6" name="path · 11 + arrowhead"/>
                <p:cNvGrpSpPr/>
                <p:nvPr/>
              </p:nvGrpSpPr>
              <p:grpSpPr>
                <a:xfrm>
                  <a:off x="7226300" y="2832100"/>
                  <a:ext cx="901700" cy="914400"/>
                  <a:chOff x="7226300" y="2832100"/>
                  <a:chExt cx="901700" cy="914400"/>
                </a:xfrm>
              </p:grpSpPr>
              <p:sp>
                <p:nvSpPr>
                  <p:cNvPr id="1027" name="path · 11"/>
                  <p:cNvSpPr/>
                  <p:nvPr/>
                </p:nvSpPr>
                <p:spPr>
                  <a:xfrm>
                    <a:off x="7226300" y="2832100"/>
                    <a:ext cx="901700" cy="889000"/>
                  </a:xfrm>
                  <a:custGeom>
                    <a:avLst/>
                    <a:gdLst/>
                    <a:ahLst/>
                    <a:cxnLst/>
                    <a:rect l="0" t="0" r="r" b="b"/>
                    <a:pathLst>
                      <a:path w="901700" h="889000" fill="none" stroke="1" extrusionOk="0">
                        <a:moveTo>
                          <a:pt x="0" y="0"/>
                        </a:moveTo>
                        <a:lnTo>
                          <a:pt x="495300" y="0"/>
                        </a:lnTo>
                        <a:lnTo>
                          <a:pt x="495300" y="889000"/>
                        </a:lnTo>
                        <a:lnTo>
                          <a:pt x="901700" y="88900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8080375" y="3695700"/>
                    <a:ext cx="47625" cy="50800"/>
                    <a:chOff x="8080375" y="3695700"/>
                    <a:chExt cx="47625" cy="50800"/>
                  </a:xfrm>
                </p:grpSpPr>
                <p:sp>
                  <p:nvSpPr>
                    <p:cNvPr id="1029" name="path · 12"/>
                    <p:cNvSpPr/>
                    <p:nvPr/>
                  </p:nvSpPr>
                  <p:spPr>
                    <a:xfrm>
                      <a:off x="808037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sp>
              <p:nvSpPr>
                <p:cNvPr id="1030" name="path · 13"/>
                <p:cNvSpPr/>
                <p:nvPr/>
              </p:nvSpPr>
              <p:spPr>
                <a:xfrm>
                  <a:off x="7226300" y="3721100"/>
                  <a:ext cx="495300" cy="1016000"/>
                </a:xfrm>
                <a:custGeom>
                  <a:avLst/>
                  <a:gdLst/>
                  <a:ahLst/>
                  <a:cxnLst/>
                  <a:rect l="0" t="0" r="r" b="b"/>
                  <a:pathLst>
                    <a:path w="495300" h="1016000" fill="none" stroke="1" extrusionOk="0">
                      <a:moveTo>
                        <a:pt x="0" y="1016000"/>
                      </a:moveTo>
                      <a:lnTo>
                        <a:pt x="495300" y="1016000"/>
                      </a:lnTo>
                      <a:lnTo>
                        <a:pt x="495300" y="0"/>
                      </a:lnTo>
                    </a:path>
                  </a:pathLst>
                </a:custGeom>
                <a:noFill/>
                <a:ln w="25400" cap="rnd" cmpd="sng" algn="ctr">
                  <a:solidFill>
                    <a:srgbClr val="2E6653"/>
                  </a:solidFill>
                  <a:prstDash val="solid"/>
                  <a:round/>
                  <a:headEnd type="none" w="med" len="med"/>
                  <a:tailEnd type="none" w="med" len="med"/>
                </a:ln>
              </p:spPr>
            </p:sp>
            <p:sp>
              <p:nvSpPr>
                <p:cNvPr id="1031" name="circle · 14"/>
                <p:cNvSpPr/>
                <p:nvPr/>
              </p:nvSpPr>
              <p:spPr>
                <a:xfrm>
                  <a:off x="7683500" y="3683000"/>
                  <a:ext cx="76200" cy="76200"/>
                </a:xfrm>
                <a:prstGeom prst="ellipse">
                  <a:avLst/>
                </a:prstGeom>
                <a:solidFill>
                  <a:srgbClr val="2E6653"/>
                </a:solidFill>
                <a:ln>
                  <a:noFill/>
                </a:ln>
              </p:spPr>
            </p:sp>
            <p:grpSp>
              <p:nvGrpSpPr>
                <p:cNvPr id="1032" name="path · 15 + arrowhead"/>
                <p:cNvGrpSpPr/>
                <p:nvPr/>
              </p:nvGrpSpPr>
              <p:grpSpPr>
                <a:xfrm>
                  <a:off x="9201150" y="3695700"/>
                  <a:ext cx="457200" cy="50800"/>
                  <a:chOff x="9201150" y="3695700"/>
                  <a:chExt cx="457200" cy="50800"/>
                </a:xfrm>
              </p:grpSpPr>
              <p:sp>
                <p:nvSpPr>
                  <p:cNvPr id="1033" name="path · 15"/>
                  <p:cNvSpPr/>
                  <p:nvPr/>
                </p:nvSpPr>
                <p:spPr>
                  <a:xfrm>
                    <a:off x="9201150" y="372110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034" name="arrow-blue_ink end"/>
                  <p:cNvGrpSpPr/>
                  <p:nvPr/>
                </p:nvGrpSpPr>
                <p:grpSpPr>
                  <a:xfrm>
                    <a:off x="9610725" y="3695700"/>
                    <a:ext cx="47625" cy="50800"/>
                    <a:chOff x="9610725" y="3695700"/>
                    <a:chExt cx="47625" cy="50800"/>
                  </a:xfrm>
                </p:grpSpPr>
                <p:sp>
                  <p:nvSpPr>
                    <p:cNvPr id="1035" name="path · 16"/>
                    <p:cNvSpPr/>
                    <p:nvPr/>
                  </p:nvSpPr>
                  <p:spPr>
                    <a:xfrm>
                      <a:off x="961072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36" name="identity · 26"/>
                <p:cNvGrpSpPr/>
                <p:nvPr/>
              </p:nvGrpSpPr>
              <p:grpSpPr>
                <a:xfrm>
                  <a:off x="729721" y="3234267"/>
                  <a:ext cx="896408" cy="774171"/>
                  <a:chOff x="729721" y="3234267"/>
                  <a:chExt cx="896408" cy="774171"/>
                </a:xfrm>
              </p:grpSpPr>
              <p:sp>
                <p:nvSpPr>
                  <p:cNvPr id="1037" name="path · 17"/>
                  <p:cNvSpPr/>
                  <p:nvPr/>
                </p:nvSpPr>
                <p:spPr>
                  <a:xfrm>
                    <a:off x="782108" y="3269192"/>
                    <a:ext cx="779992" cy="587904"/>
                  </a:xfrm>
                  <a:custGeom>
                    <a:avLst/>
                    <a:gdLst/>
                    <a:ahLst/>
                    <a:cxnLst/>
                    <a:rect l="0" t="0" r="r" b="b"/>
                    <a:pathLst>
                      <a:path w="779992" h="587904" fill="norm" stroke="0" extrusionOk="0">
                        <a:moveTo>
                          <a:pt x="0" y="0"/>
                        </a:moveTo>
                        <a:lnTo>
                          <a:pt x="721784" y="0"/>
                        </a:lnTo>
                        <a:cubicBezTo>
                          <a:pt x="753931" y="0"/>
                          <a:pt x="779992" y="26060"/>
                          <a:pt x="779992" y="58208"/>
                        </a:cubicBezTo>
                        <a:lnTo>
                          <a:pt x="779992" y="587904"/>
                        </a:lnTo>
                        <a:lnTo>
                          <a:pt x="0" y="587904"/>
                        </a:lnTo>
                        <a:close/>
                      </a:path>
                    </a:pathLst>
                  </a:custGeom>
                  <a:solidFill>
                    <a:srgbClr val="E2EEF3"/>
                  </a:solidFill>
                  <a:ln>
                    <a:noFill/>
                  </a:ln>
                </p:spPr>
              </p:sp>
              <p:sp>
                <p:nvSpPr>
                  <p:cNvPr id="1038" name="rect · 18"/>
                  <p:cNvSpPr/>
                  <p:nvPr/>
                </p:nvSpPr>
                <p:spPr>
                  <a:xfrm>
                    <a:off x="729721" y="3234267"/>
                    <a:ext cx="809096" cy="651933"/>
                  </a:xfrm>
                  <a:prstGeom prst="roundRect">
                    <a:avLst>
                      <a:gd name="adj" fmla="val 11607"/>
                    </a:avLst>
                  </a:prstGeom>
                  <a:solidFill>
                    <a:srgbClr val="FFFFFF"/>
                  </a:solidFill>
                  <a:ln w="12806" cap="rnd" cmpd="sng" algn="ctr">
                    <a:solidFill>
                      <a:srgbClr val="243E42"/>
                    </a:solidFill>
                    <a:prstDash val="solid"/>
                    <a:round/>
                    <a:headEnd type="none" w="med" len="med"/>
                    <a:tailEnd type="none" w="med" len="med"/>
                  </a:ln>
                </p:spPr>
              </p:sp>
              <p:sp>
                <p:nvSpPr>
                  <p:cNvPr id="1039" name="path · 19"/>
                  <p:cNvSpPr/>
                  <p:nvPr/>
                </p:nvSpPr>
                <p:spPr>
                  <a:xfrm>
                    <a:off x="729721" y="3234267"/>
                    <a:ext cx="809096" cy="145521"/>
                  </a:xfrm>
                  <a:custGeom>
                    <a:avLst/>
                    <a:gdLst/>
                    <a:ahLst/>
                    <a:cxnLst/>
                    <a:rect l="0" t="0" r="r" b="b"/>
                    <a:pathLst>
                      <a:path w="809096" h="145521" fill="norm" stroke="1" extrusionOk="0">
                        <a:moveTo>
                          <a:pt x="75671" y="0"/>
                        </a:moveTo>
                        <a:lnTo>
                          <a:pt x="733425" y="0"/>
                        </a:lnTo>
                        <a:quadBezTo>
                          <a:pt x="809096" y="0"/>
                          <a:pt x="809096" y="75671"/>
                        </a:quadBezTo>
                        <a:lnTo>
                          <a:pt x="809096" y="145521"/>
                        </a:lnTo>
                        <a:lnTo>
                          <a:pt x="0" y="145521"/>
                        </a:lnTo>
                        <a:lnTo>
                          <a:pt x="0" y="75671"/>
                        </a:lnTo>
                        <a:quadBezTo>
                          <a:pt x="0" y="0"/>
                          <a:pt x="75671" y="0"/>
                        </a:quadBezTo>
                      </a:path>
                    </a:pathLst>
                  </a:custGeom>
                  <a:solidFill>
                    <a:srgbClr val="E2EEF3"/>
                  </a:solidFill>
                  <a:ln w="12806" cap="rnd" cmpd="sng" algn="ctr">
                    <a:solidFill>
                      <a:srgbClr val="243E42"/>
                    </a:solidFill>
                    <a:prstDash val="solid"/>
                    <a:round/>
                    <a:headEnd type="none" w="med" len="med"/>
                    <a:tailEnd type="none" w="med" len="med"/>
                  </a:ln>
                </p:spPr>
              </p:sp>
              <p:sp>
                <p:nvSpPr>
                  <p:cNvPr id="1040" name="circle · 20"/>
                  <p:cNvSpPr/>
                  <p:nvPr/>
                </p:nvSpPr>
                <p:spPr>
                  <a:xfrm>
                    <a:off x="828675" y="3455458"/>
                    <a:ext cx="256117" cy="256117"/>
                  </a:xfrm>
                  <a:prstGeom prst="ellipse">
                    <a:avLst/>
                  </a:prstGeom>
                  <a:solidFill>
                    <a:srgbClr val="D7EBE1"/>
                  </a:solidFill>
                  <a:ln>
                    <a:noFill/>
                  </a:ln>
                </p:spPr>
              </p:sp>
              <p:sp>
                <p:nvSpPr>
                  <p:cNvPr id="1041" name="circle · 21"/>
                  <p:cNvSpPr/>
                  <p:nvPr/>
                </p:nvSpPr>
                <p:spPr>
                  <a:xfrm>
                    <a:off x="904346" y="3484562"/>
                    <a:ext cx="104775" cy="104775"/>
                  </a:xfrm>
                  <a:prstGeom prst="ellipse">
                    <a:avLst/>
                  </a:prstGeom>
                  <a:solidFill>
                    <a:srgbClr val="F4DFD3"/>
                  </a:solidFill>
                  <a:ln w="12806" cap="rnd" cmpd="sng" algn="ctr">
                    <a:solidFill>
                      <a:srgbClr val="243E42"/>
                    </a:solidFill>
                    <a:prstDash val="solid"/>
                    <a:round/>
                    <a:headEnd type="none" w="med" len="med"/>
                    <a:tailEnd type="none" w="med" len="med"/>
                  </a:ln>
                </p:spPr>
              </p:sp>
              <p:sp>
                <p:nvSpPr>
                  <p:cNvPr id="1042" name="path · 22"/>
                  <p:cNvSpPr/>
                  <p:nvPr/>
                </p:nvSpPr>
                <p:spPr>
                  <a:xfrm>
                    <a:off x="857779" y="3560233"/>
                    <a:ext cx="197908" cy="122238"/>
                  </a:xfrm>
                  <a:custGeom>
                    <a:avLst/>
                    <a:gdLst/>
                    <a:ahLst/>
                    <a:cxnLst/>
                    <a:rect l="0" t="0" r="r" b="b"/>
                    <a:pathLst>
                      <a:path w="197908" h="122238" fill="norm" stroke="1" extrusionOk="0">
                        <a:moveTo>
                          <a:pt x="0" y="122238"/>
                        </a:moveTo>
                        <a:quadBezTo>
                          <a:pt x="0" y="0"/>
                          <a:pt x="98954" y="0"/>
                        </a:quadBezTo>
                        <a:quadBezTo>
                          <a:pt x="197909" y="0"/>
                          <a:pt x="197909" y="122238"/>
                        </a:quadBezTo>
                      </a:path>
                    </a:pathLst>
                  </a:custGeom>
                  <a:solidFill>
                    <a:srgbClr val="E2EEF3"/>
                  </a:solidFill>
                  <a:ln w="12806" cap="rnd" cmpd="sng" algn="ctr">
                    <a:solidFill>
                      <a:srgbClr val="243E42"/>
                    </a:solidFill>
                    <a:prstDash val="solid"/>
                    <a:round/>
                    <a:headEnd type="none" w="med" len="med"/>
                    <a:tailEnd type="none" w="med" len="med"/>
                  </a:ln>
                </p:spPr>
              </p:sp>
              <p:sp>
                <p:nvSpPr>
                  <p:cNvPr id="1043" name="path · 23"/>
                  <p:cNvSpPr/>
                  <p:nvPr/>
                </p:nvSpPr>
                <p:spPr>
                  <a:xfrm>
                    <a:off x="822854" y="3478742"/>
                    <a:ext cx="587904" cy="320146"/>
                  </a:xfrm>
                  <a:custGeom>
                    <a:avLst/>
                    <a:gdLst/>
                    <a:ahLst/>
                    <a:cxnLst/>
                    <a:rect l="0" t="0" r="r" b="b"/>
                    <a:pathLst>
                      <a:path w="587904" h="320146" fill="none" stroke="1" extrusionOk="0">
                        <a:moveTo>
                          <a:pt x="355071" y="0"/>
                        </a:moveTo>
                        <a:lnTo>
                          <a:pt x="587904" y="0"/>
                        </a:lnTo>
                        <a:moveTo>
                          <a:pt x="355071" y="93133"/>
                        </a:moveTo>
                        <a:lnTo>
                          <a:pt x="512234" y="93133"/>
                        </a:lnTo>
                        <a:moveTo>
                          <a:pt x="355071" y="192087"/>
                        </a:moveTo>
                        <a:lnTo>
                          <a:pt x="558800" y="192087"/>
                        </a:lnTo>
                        <a:moveTo>
                          <a:pt x="0" y="320146"/>
                        </a:moveTo>
                        <a:lnTo>
                          <a:pt x="320146" y="320146"/>
                        </a:lnTo>
                      </a:path>
                    </a:pathLst>
                  </a:custGeom>
                  <a:noFill/>
                  <a:ln w="23283" cap="rnd" cmpd="sng" algn="ctr">
                    <a:solidFill>
                      <a:srgbClr val="243E42"/>
                    </a:solidFill>
                    <a:prstDash val="solid"/>
                    <a:round/>
                    <a:headEnd type="none" w="med" len="med"/>
                    <a:tailEnd type="none" w="med" len="med"/>
                  </a:ln>
                </p:spPr>
              </p:sp>
              <p:sp>
                <p:nvSpPr>
                  <p:cNvPr id="1044" name="path · 24"/>
                  <p:cNvSpPr/>
                  <p:nvPr/>
                </p:nvSpPr>
                <p:spPr>
                  <a:xfrm>
                    <a:off x="1241954" y="3583517"/>
                    <a:ext cx="384175" cy="424921"/>
                  </a:xfrm>
                  <a:custGeom>
                    <a:avLst/>
                    <a:gdLst/>
                    <a:ahLst/>
                    <a:cxnLst/>
                    <a:rect l="0" t="0" r="r" b="b"/>
                    <a:pathLst>
                      <a:path w="384175" h="424921" fill="norm" stroke="1" extrusionOk="0">
                        <a:moveTo>
                          <a:pt x="192088" y="0"/>
                        </a:moveTo>
                        <a:lnTo>
                          <a:pt x="384175" y="69850"/>
                        </a:lnTo>
                        <a:lnTo>
                          <a:pt x="384175" y="197908"/>
                        </a:lnTo>
                        <a:quadBezTo>
                          <a:pt x="384175" y="337608"/>
                          <a:pt x="192088" y="424921"/>
                        </a:quadBezTo>
                        <a:quadBezTo>
                          <a:pt x="0" y="337608"/>
                          <a:pt x="0" y="197908"/>
                        </a:quadBezTo>
                        <a:lnTo>
                          <a:pt x="0" y="69850"/>
                        </a:lnTo>
                        <a:close/>
                      </a:path>
                    </a:pathLst>
                  </a:custGeom>
                  <a:solidFill>
                    <a:srgbClr val="D7EBE1"/>
                  </a:solidFill>
                  <a:ln w="12806" cap="rnd" cmpd="sng" algn="ctr">
                    <a:solidFill>
                      <a:srgbClr val="243E42"/>
                    </a:solidFill>
                    <a:prstDash val="solid"/>
                    <a:round/>
                    <a:headEnd type="none" w="med" len="med"/>
                    <a:tailEnd type="none" w="med" len="med"/>
                  </a:ln>
                </p:spPr>
              </p:sp>
              <p:sp>
                <p:nvSpPr>
                  <p:cNvPr id="1045" name="path · 25"/>
                  <p:cNvSpPr/>
                  <p:nvPr/>
                </p:nvSpPr>
                <p:spPr>
                  <a:xfrm>
                    <a:off x="1340908" y="3699933"/>
                    <a:ext cx="186267" cy="145521"/>
                  </a:xfrm>
                  <a:custGeom>
                    <a:avLst/>
                    <a:gdLst/>
                    <a:ahLst/>
                    <a:cxnLst/>
                    <a:rect l="0" t="0" r="r" b="b"/>
                    <a:pathLst>
                      <a:path w="186267" h="145521" fill="none" stroke="1" extrusionOk="0">
                        <a:moveTo>
                          <a:pt x="0" y="81492"/>
                        </a:moveTo>
                        <a:lnTo>
                          <a:pt x="64030" y="145521"/>
                        </a:lnTo>
                        <a:lnTo>
                          <a:pt x="186267" y="0"/>
                        </a:lnTo>
                      </a:path>
                    </a:pathLst>
                  </a:custGeom>
                  <a:noFill/>
                  <a:ln w="29104" cap="rnd" cmpd="sng" algn="ctr">
                    <a:solidFill>
                      <a:srgbClr val="2E6653"/>
                    </a:solidFill>
                    <a:prstDash val="solid"/>
                    <a:round/>
                    <a:headEnd type="none" w="med" len="med"/>
                    <a:tailEnd type="none" w="med" len="med"/>
                  </a:ln>
                </p:spPr>
              </p:sp>
            </p:grpSp>
            <p:grpSp>
              <p:nvGrpSpPr>
                <p:cNvPr id="1046" name="receipt · 37"/>
                <p:cNvGrpSpPr/>
                <p:nvPr/>
              </p:nvGrpSpPr>
              <p:grpSpPr>
                <a:xfrm>
                  <a:off x="1655233" y="3080428"/>
                  <a:ext cx="1000125" cy="1056597"/>
                  <a:chOff x="1655233" y="3080428"/>
                  <a:chExt cx="1000125" cy="1056597"/>
                </a:xfrm>
              </p:grpSpPr>
              <p:grpSp>
                <p:nvGrpSpPr>
                  <p:cNvPr id="1047" name="g · 29"/>
                  <p:cNvGrpSpPr/>
                  <p:nvPr/>
                </p:nvGrpSpPr>
                <p:grpSpPr>
                  <a:xfrm>
                    <a:off x="1661751" y="3080428"/>
                    <a:ext cx="925479" cy="1024011"/>
                    <a:chOff x="1661751" y="3080428"/>
                    <a:chExt cx="925479" cy="1024011"/>
                  </a:xfrm>
                </p:grpSpPr>
                <p:sp>
                  <p:nvSpPr>
                    <p:cNvPr id="1048" name="path · 27"/>
                    <p:cNvSpPr/>
                    <p:nvPr/>
                  </p:nvSpPr>
                  <p:spPr>
                    <a:xfrm>
                      <a:off x="1661751" y="3080428"/>
                      <a:ext cx="925479" cy="1024011"/>
                    </a:xfrm>
                    <a:custGeom>
                      <a:avLst/>
                      <a:gdLst/>
                      <a:ahLst/>
                      <a:cxnLst/>
                      <a:rect l="0" t="0" r="r" b="b"/>
                      <a:pathLst>
                        <a:path w="925479" h="1024011" fill="norm" stroke="1" extrusionOk="0">
                          <a:moveTo>
                            <a:pt x="0" y="124004"/>
                          </a:moveTo>
                          <a:lnTo>
                            <a:pt x="782932" y="0"/>
                          </a:lnTo>
                          <a:lnTo>
                            <a:pt x="925479" y="900006"/>
                          </a:lnTo>
                          <a:lnTo>
                            <a:pt x="845354" y="867693"/>
                          </a:lnTo>
                          <a:lnTo>
                            <a:pt x="771819" y="924344"/>
                          </a:lnTo>
                          <a:lnTo>
                            <a:pt x="684377" y="893189"/>
                          </a:lnTo>
                          <a:lnTo>
                            <a:pt x="610842" y="949840"/>
                          </a:lnTo>
                          <a:lnTo>
                            <a:pt x="523401" y="918685"/>
                          </a:lnTo>
                          <a:lnTo>
                            <a:pt x="449866" y="975336"/>
                          </a:lnTo>
                          <a:lnTo>
                            <a:pt x="362424" y="944182"/>
                          </a:lnTo>
                          <a:lnTo>
                            <a:pt x="288889" y="1000832"/>
                          </a:lnTo>
                          <a:lnTo>
                            <a:pt x="208764" y="968519"/>
                          </a:lnTo>
                          <a:lnTo>
                            <a:pt x="142547" y="1024011"/>
                          </a:lnTo>
                          <a:close/>
                        </a:path>
                      </a:pathLst>
                    </a:custGeom>
                    <a:solidFill>
                      <a:srgbClr val="E2EEF3"/>
                    </a:solidFill>
                    <a:ln w="16298" cap="rnd" cmpd="sng" algn="ctr">
                      <a:solidFill>
                        <a:srgbClr val="243E42"/>
                      </a:solidFill>
                      <a:prstDash val="solid"/>
                      <a:round/>
                      <a:headEnd type="none" w="med" len="med"/>
                      <a:tailEnd type="none" w="med" len="med"/>
                    </a:ln>
                  </p:spPr>
                </p:sp>
                <p:sp>
                  <p:nvSpPr>
                    <p:cNvPr id="1049" name="path · 28"/>
                    <p:cNvSpPr/>
                    <p:nvPr/>
                  </p:nvSpPr>
                  <p:spPr>
                    <a:xfrm>
                      <a:off x="1811638" y="3280808"/>
                      <a:ext cx="409759" cy="160022"/>
                    </a:xfrm>
                    <a:custGeom>
                      <a:avLst/>
                      <a:gdLst/>
                      <a:ahLst/>
                      <a:cxnLst/>
                      <a:rect l="0" t="0" r="r" b="b"/>
                      <a:pathLst>
                        <a:path w="409759" h="160022" fill="none" stroke="1" extrusionOk="0">
                          <a:moveTo>
                            <a:pt x="0" y="64900"/>
                          </a:moveTo>
                          <a:lnTo>
                            <a:pt x="409759" y="0"/>
                          </a:lnTo>
                          <a:moveTo>
                            <a:pt x="15066" y="160022"/>
                          </a:moveTo>
                          <a:lnTo>
                            <a:pt x="322385" y="111348"/>
                          </a:lnTo>
                        </a:path>
                      </a:pathLst>
                    </a:custGeom>
                    <a:noFill/>
                    <a:ln w="29633" cap="rnd" cmpd="sng" algn="ctr">
                      <a:solidFill>
                        <a:srgbClr val="243E42"/>
                      </a:solidFill>
                      <a:prstDash val="solid"/>
                      <a:round/>
                      <a:headEnd type="none" w="med" len="med"/>
                      <a:tailEnd type="none" w="med" len="med"/>
                    </a:ln>
                  </p:spPr>
                </p:sp>
              </p:grpSp>
              <p:sp>
                <p:nvSpPr>
                  <p:cNvPr id="1050" name="path · 30"/>
                  <p:cNvSpPr/>
                  <p:nvPr/>
                </p:nvSpPr>
                <p:spPr>
                  <a:xfrm>
                    <a:off x="1655233" y="3225800"/>
                    <a:ext cx="777875" cy="911225"/>
                  </a:xfrm>
                  <a:custGeom>
                    <a:avLst/>
                    <a:gdLst/>
                    <a:ahLst/>
                    <a:cxnLst/>
                    <a:rect l="0" t="0" r="r" b="b"/>
                    <a:pathLst>
                      <a:path w="777875" h="911225" fill="norm" stroke="1" extrusionOk="0">
                        <a:moveTo>
                          <a:pt x="0" y="0"/>
                        </a:moveTo>
                        <a:lnTo>
                          <a:pt x="777875" y="0"/>
                        </a:lnTo>
                        <a:lnTo>
                          <a:pt x="777875" y="911225"/>
                        </a:lnTo>
                        <a:lnTo>
                          <a:pt x="703792" y="866775"/>
                        </a:lnTo>
                        <a:lnTo>
                          <a:pt x="622300" y="911225"/>
                        </a:lnTo>
                        <a:lnTo>
                          <a:pt x="540809" y="866775"/>
                        </a:lnTo>
                        <a:lnTo>
                          <a:pt x="459317" y="911225"/>
                        </a:lnTo>
                        <a:lnTo>
                          <a:pt x="377825" y="866775"/>
                        </a:lnTo>
                        <a:lnTo>
                          <a:pt x="296334" y="911225"/>
                        </a:lnTo>
                        <a:lnTo>
                          <a:pt x="214842" y="866775"/>
                        </a:lnTo>
                        <a:lnTo>
                          <a:pt x="140759" y="911225"/>
                        </a:lnTo>
                        <a:lnTo>
                          <a:pt x="74084" y="866775"/>
                        </a:lnTo>
                        <a:lnTo>
                          <a:pt x="0" y="911225"/>
                        </a:lnTo>
                        <a:close/>
                      </a:path>
                    </a:pathLst>
                  </a:custGeom>
                  <a:solidFill>
                    <a:srgbClr val="FFFFFF"/>
                  </a:solidFill>
                  <a:ln w="16298" cap="rnd" cmpd="sng" algn="ctr">
                    <a:solidFill>
                      <a:srgbClr val="243E42"/>
                    </a:solidFill>
                    <a:prstDash val="solid"/>
                    <a:round/>
                    <a:headEnd type="none" w="med" len="med"/>
                    <a:tailEnd type="none" w="med" len="med"/>
                  </a:ln>
                </p:spPr>
              </p:sp>
              <p:sp>
                <p:nvSpPr>
                  <p:cNvPr id="1051" name="path · 31"/>
                  <p:cNvSpPr/>
                  <p:nvPr/>
                </p:nvSpPr>
                <p:spPr>
                  <a:xfrm>
                    <a:off x="1766358" y="3336925"/>
                    <a:ext cx="533400" cy="592667"/>
                  </a:xfrm>
                  <a:custGeom>
                    <a:avLst/>
                    <a:gdLst/>
                    <a:ahLst/>
                    <a:cxnLst/>
                    <a:rect l="0" t="0" r="r" b="b"/>
                    <a:pathLst>
                      <a:path w="533400" h="592667" fill="none" stroke="1" extrusionOk="0">
                        <a:moveTo>
                          <a:pt x="0" y="0"/>
                        </a:moveTo>
                        <a:lnTo>
                          <a:pt x="340784" y="0"/>
                        </a:lnTo>
                        <a:moveTo>
                          <a:pt x="0" y="81492"/>
                        </a:moveTo>
                        <a:lnTo>
                          <a:pt x="474134" y="81492"/>
                        </a:lnTo>
                        <a:moveTo>
                          <a:pt x="14817" y="592667"/>
                        </a:moveTo>
                        <a:lnTo>
                          <a:pt x="192617" y="592667"/>
                        </a:lnTo>
                        <a:moveTo>
                          <a:pt x="296334" y="592667"/>
                        </a:moveTo>
                        <a:lnTo>
                          <a:pt x="533400" y="592667"/>
                        </a:lnTo>
                      </a:path>
                    </a:pathLst>
                  </a:custGeom>
                  <a:noFill/>
                  <a:ln w="29633" cap="rnd" cmpd="sng" algn="ctr">
                    <a:solidFill>
                      <a:srgbClr val="243E42"/>
                    </a:solidFill>
                    <a:prstDash val="solid"/>
                    <a:round/>
                    <a:headEnd type="none" w="med" len="med"/>
                    <a:tailEnd type="none" w="med" len="med"/>
                  </a:ln>
                </p:spPr>
              </p:sp>
              <p:sp>
                <p:nvSpPr>
                  <p:cNvPr id="1052" name="path · 32"/>
                  <p:cNvSpPr/>
                  <p:nvPr/>
                </p:nvSpPr>
                <p:spPr>
                  <a:xfrm>
                    <a:off x="1870075" y="3433233"/>
                    <a:ext cx="370417" cy="274108"/>
                  </a:xfrm>
                  <a:custGeom>
                    <a:avLst/>
                    <a:gdLst/>
                    <a:ahLst/>
                    <a:cxnLst/>
                    <a:rect l="0" t="0" r="r" b="b"/>
                    <a:pathLst>
                      <a:path w="370417" h="274108" fill="none" stroke="1" extrusionOk="0">
                        <a:moveTo>
                          <a:pt x="0" y="274109"/>
                        </a:moveTo>
                        <a:lnTo>
                          <a:pt x="0" y="185209"/>
                        </a:lnTo>
                        <a:cubicBezTo>
                          <a:pt x="0" y="82921"/>
                          <a:pt x="82921" y="0"/>
                          <a:pt x="185208" y="0"/>
                        </a:cubicBezTo>
                        <a:cubicBezTo>
                          <a:pt x="287496" y="0"/>
                          <a:pt x="370417" y="82921"/>
                          <a:pt x="370417" y="185209"/>
                        </a:cubicBezTo>
                        <a:lnTo>
                          <a:pt x="370417" y="274109"/>
                        </a:lnTo>
                      </a:path>
                    </a:pathLst>
                  </a:custGeom>
                  <a:noFill/>
                  <a:ln w="44450" cap="rnd" cmpd="sng" algn="ctr">
                    <a:solidFill>
                      <a:srgbClr val="665180"/>
                    </a:solidFill>
                    <a:prstDash val="solid"/>
                    <a:round/>
                    <a:headEnd type="none" w="med" len="med"/>
                    <a:tailEnd type="none" w="med" len="med"/>
                  </a:ln>
                </p:spPr>
              </p:sp>
              <p:sp>
                <p:nvSpPr>
                  <p:cNvPr id="1053" name="rect · 33"/>
                  <p:cNvSpPr/>
                  <p:nvPr/>
                </p:nvSpPr>
                <p:spPr>
                  <a:xfrm>
                    <a:off x="18256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4" name="rect · 34"/>
                  <p:cNvSpPr/>
                  <p:nvPr/>
                </p:nvSpPr>
                <p:spPr>
                  <a:xfrm>
                    <a:off x="21812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5" name="circle · 35"/>
                  <p:cNvSpPr/>
                  <p:nvPr/>
                </p:nvSpPr>
                <p:spPr>
                  <a:xfrm>
                    <a:off x="2270125" y="3677708"/>
                    <a:ext cx="385233" cy="385233"/>
                  </a:xfrm>
                  <a:prstGeom prst="ellipse">
                    <a:avLst/>
                  </a:prstGeom>
                  <a:solidFill>
                    <a:srgbClr val="D7EBE1"/>
                  </a:solidFill>
                  <a:ln w="16298" cap="rnd" cmpd="sng" algn="ctr">
                    <a:solidFill>
                      <a:srgbClr val="243E42"/>
                    </a:solidFill>
                    <a:prstDash val="solid"/>
                    <a:round/>
                    <a:headEnd type="none" w="med" len="med"/>
                    <a:tailEnd type="none" w="med" len="med"/>
                  </a:ln>
                </p:spPr>
              </p:sp>
              <p:sp>
                <p:nvSpPr>
                  <p:cNvPr id="1056" name="path · 36"/>
                  <p:cNvSpPr/>
                  <p:nvPr/>
                </p:nvSpPr>
                <p:spPr>
                  <a:xfrm>
                    <a:off x="2359025" y="3781425"/>
                    <a:ext cx="207433" cy="162983"/>
                  </a:xfrm>
                  <a:custGeom>
                    <a:avLst/>
                    <a:gdLst/>
                    <a:ahLst/>
                    <a:cxnLst/>
                    <a:rect l="0" t="0" r="r" b="b"/>
                    <a:pathLst>
                      <a:path w="207433" h="162983" fill="none" stroke="1" extrusionOk="0">
                        <a:moveTo>
                          <a:pt x="0" y="88900"/>
                        </a:moveTo>
                        <a:lnTo>
                          <a:pt x="74083" y="162983"/>
                        </a:lnTo>
                        <a:lnTo>
                          <a:pt x="207433" y="0"/>
                        </a:lnTo>
                      </a:path>
                    </a:pathLst>
                  </a:custGeom>
                  <a:noFill/>
                  <a:ln w="37042" cap="rnd" cmpd="sng" algn="ctr">
                    <a:solidFill>
                      <a:srgbClr val="2E6653"/>
                    </a:solidFill>
                    <a:prstDash val="solid"/>
                    <a:round/>
                    <a:headEnd type="none" w="med" len="med"/>
                    <a:tailEnd type="none" w="med" len="med"/>
                  </a:ln>
                </p:spPr>
              </p:sp>
            </p:grpSp>
            <p:sp>
              <p:nvSpPr>
                <p:cNvPr id="1057" name="text · 38"/>
                <p:cNvSpPr txBox="1"/>
                <p:nvPr/>
              </p:nvSpPr>
              <p:spPr>
                <a:xfrm>
                  <a:off x="865187" y="4337050"/>
                  <a:ext cx="17113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355F72"/>
                      </a:solidFill>
                      <a:latin typeface="Manrope"/>
                      <a:ea typeface="Manrope"/>
                      <a:cs typeface="Manrope"/>
                    </a:rPr>
                    <a:t>Verified purchase</a:t>
                  </a:r>
                  <a:endParaRPr lang="en-US" sz="1600"/>
                </a:p>
              </p:txBody>
            </p:sp>
            <p:grpSp>
              <p:nvGrpSpPr>
                <p:cNvPr id="1058" name="calendar-standard-30 · 49"/>
                <p:cNvGrpSpPr/>
                <p:nvPr/>
              </p:nvGrpSpPr>
              <p:grpSpPr>
                <a:xfrm>
                  <a:off x="3505200" y="2063750"/>
                  <a:ext cx="1543050" cy="1657350"/>
                  <a:chOff x="3505200" y="2063750"/>
                  <a:chExt cx="1543050" cy="1657350"/>
                </a:xfrm>
              </p:grpSpPr>
              <p:sp>
                <p:nvSpPr>
                  <p:cNvPr id="1059" name="ellipse · 39"/>
                  <p:cNvSpPr/>
                  <p:nvPr/>
                </p:nvSpPr>
                <p:spPr>
                  <a:xfrm>
                    <a:off x="3613150" y="3556000"/>
                    <a:ext cx="1320800" cy="165100"/>
                  </a:xfrm>
                  <a:prstGeom prst="ellipse">
                    <a:avLst/>
                  </a:prstGeom>
                  <a:solidFill>
                    <a:srgbClr val="D5DFD9">
                      <a:alpha val="42000"/>
                    </a:srgbClr>
                  </a:solidFill>
                  <a:ln>
                    <a:noFill/>
                  </a:ln>
                </p:spPr>
              </p:sp>
              <p:sp>
                <p:nvSpPr>
                  <p:cNvPr id="1060" name="rect · 40"/>
                  <p:cNvSpPr/>
                  <p:nvPr/>
                </p:nvSpPr>
                <p:spPr>
                  <a:xfrm>
                    <a:off x="3549650" y="2184400"/>
                    <a:ext cx="1498600" cy="1422400"/>
                  </a:xfrm>
                  <a:prstGeom prst="roundRect">
                    <a:avLst>
                      <a:gd name="adj" fmla="val 8482"/>
                    </a:avLst>
                  </a:prstGeom>
                  <a:solidFill>
                    <a:srgbClr val="D5DFD9"/>
                  </a:solidFill>
                  <a:ln>
                    <a:noFill/>
                  </a:ln>
                </p:spPr>
              </p:sp>
              <p:sp>
                <p:nvSpPr>
                  <p:cNvPr id="1061" name="rect · 41"/>
                  <p:cNvSpPr/>
                  <p:nvPr/>
                </p:nvSpPr>
                <p:spPr>
                  <a:xfrm>
                    <a:off x="3505200" y="2133600"/>
                    <a:ext cx="1498600" cy="1422400"/>
                  </a:xfrm>
                  <a:prstGeom prst="roundRect">
                    <a:avLst>
                      <a:gd name="adj" fmla="val 8482"/>
                    </a:avLst>
                  </a:prstGeom>
                  <a:solidFill>
                    <a:srgbClr val="FFFFFF"/>
                  </a:solidFill>
                  <a:ln w="15875" cap="flat" cmpd="sng" algn="ctr">
                    <a:solidFill>
                      <a:srgbClr val="665180"/>
                    </a:solidFill>
                    <a:prstDash val="solid"/>
                    <a:miter lim="400000"/>
                    <a:headEnd type="none" w="med" len="med"/>
                    <a:tailEnd type="none" w="med" len="med"/>
                  </a:ln>
                </p:spPr>
              </p:sp>
              <p:sp>
                <p:nvSpPr>
                  <p:cNvPr id="1062" name="path · 42"/>
                  <p:cNvSpPr/>
                  <p:nvPr/>
                </p:nvSpPr>
                <p:spPr>
                  <a:xfrm>
                    <a:off x="3505200" y="2133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E8E0F3"/>
                  </a:solidFill>
                  <a:ln>
                    <a:noFill/>
                  </a:ln>
                </p:spPr>
              </p:sp>
              <p:sp>
                <p:nvSpPr>
                  <p:cNvPr id="1063" name="path · 43"/>
                  <p:cNvSpPr/>
                  <p:nvPr/>
                </p:nvSpPr>
                <p:spPr>
                  <a:xfrm>
                    <a:off x="38290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4" name="path · 44"/>
                  <p:cNvSpPr/>
                  <p:nvPr/>
                </p:nvSpPr>
                <p:spPr>
                  <a:xfrm>
                    <a:off x="46799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5" name="text · 45"/>
                  <p:cNvSpPr txBox="1"/>
                  <p:nvPr/>
                </p:nvSpPr>
                <p:spPr>
                  <a:xfrm>
                    <a:off x="3808412" y="2241550"/>
                    <a:ext cx="892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Standard</a:t>
                    </a:r>
                    <a:endParaRPr lang="en-US" sz="1600"/>
                  </a:p>
                </p:txBody>
              </p:sp>
              <p:sp>
                <p:nvSpPr>
                  <p:cNvPr id="1066" name="text · 46"/>
                  <p:cNvSpPr txBox="1"/>
                  <p:nvPr/>
                </p:nvSpPr>
                <p:spPr>
                  <a:xfrm>
                    <a:off x="3970337" y="2597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67" name="text · 47"/>
                  <p:cNvSpPr txBox="1"/>
                  <p:nvPr/>
                </p:nvSpPr>
                <p:spPr>
                  <a:xfrm>
                    <a:off x="3948112" y="2781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665180"/>
                        </a:solidFill>
                        <a:latin typeface="Manrope"/>
                        <a:ea typeface="Manrope"/>
                        <a:cs typeface="Manrope"/>
                      </a:rPr>
                      <a:t>30</a:t>
                    </a:r>
                    <a:endParaRPr lang="en-US" sz="4300"/>
                  </a:p>
                </p:txBody>
              </p:sp>
              <p:sp>
                <p:nvSpPr>
                  <p:cNvPr id="1068" name="text · 48"/>
                  <p:cNvSpPr txBox="1"/>
                  <p:nvPr/>
                </p:nvSpPr>
                <p:spPr>
                  <a:xfrm>
                    <a:off x="4033837" y="3295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grpSp>
              <p:nvGrpSpPr>
                <p:cNvPr id="1069" name="calendar-plus-60 · 60"/>
                <p:cNvGrpSpPr/>
                <p:nvPr/>
              </p:nvGrpSpPr>
              <p:grpSpPr>
                <a:xfrm>
                  <a:off x="3505200" y="3968750"/>
                  <a:ext cx="1543050" cy="1657350"/>
                  <a:chOff x="3505200" y="3968750"/>
                  <a:chExt cx="1543050" cy="1657350"/>
                </a:xfrm>
              </p:grpSpPr>
              <p:sp>
                <p:nvSpPr>
                  <p:cNvPr id="1070" name="ellipse · 50"/>
                  <p:cNvSpPr/>
                  <p:nvPr/>
                </p:nvSpPr>
                <p:spPr>
                  <a:xfrm>
                    <a:off x="3613150" y="5461000"/>
                    <a:ext cx="1320800" cy="165100"/>
                  </a:xfrm>
                  <a:prstGeom prst="ellipse">
                    <a:avLst/>
                  </a:prstGeom>
                  <a:solidFill>
                    <a:srgbClr val="D5DFD9">
                      <a:alpha val="42000"/>
                    </a:srgbClr>
                  </a:solidFill>
                  <a:ln>
                    <a:noFill/>
                  </a:ln>
                </p:spPr>
              </p:sp>
              <p:sp>
                <p:nvSpPr>
                  <p:cNvPr id="1071" name="rect · 51"/>
                  <p:cNvSpPr/>
                  <p:nvPr/>
                </p:nvSpPr>
                <p:spPr>
                  <a:xfrm>
                    <a:off x="3549650" y="4089400"/>
                    <a:ext cx="1498600" cy="1422400"/>
                  </a:xfrm>
                  <a:prstGeom prst="roundRect">
                    <a:avLst>
                      <a:gd name="adj" fmla="val 8482"/>
                    </a:avLst>
                  </a:prstGeom>
                  <a:solidFill>
                    <a:srgbClr val="D5DFD9"/>
                  </a:solidFill>
                  <a:ln>
                    <a:noFill/>
                  </a:ln>
                </p:spPr>
              </p:sp>
              <p:sp>
                <p:nvSpPr>
                  <p:cNvPr id="1072" name="rect · 52"/>
                  <p:cNvSpPr/>
                  <p:nvPr/>
                </p:nvSpPr>
                <p:spPr>
                  <a:xfrm>
                    <a:off x="3505200" y="4038600"/>
                    <a:ext cx="1498600" cy="1422400"/>
                  </a:xfrm>
                  <a:prstGeom prst="roundRect">
                    <a:avLst>
                      <a:gd name="adj" fmla="val 8482"/>
                    </a:avLst>
                  </a:prstGeom>
                  <a:solidFill>
                    <a:srgbClr val="FFFFFF"/>
                  </a:solidFill>
                  <a:ln w="15875" cap="flat" cmpd="sng" algn="ctr">
                    <a:solidFill>
                      <a:srgbClr val="2E6653"/>
                    </a:solidFill>
                    <a:prstDash val="solid"/>
                    <a:miter lim="400000"/>
                    <a:headEnd type="none" w="med" len="med"/>
                    <a:tailEnd type="none" w="med" len="med"/>
                  </a:ln>
                </p:spPr>
              </p:sp>
              <p:sp>
                <p:nvSpPr>
                  <p:cNvPr id="1073" name="path · 53"/>
                  <p:cNvSpPr/>
                  <p:nvPr/>
                </p:nvSpPr>
                <p:spPr>
                  <a:xfrm>
                    <a:off x="3505200" y="4038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D7EBE1"/>
                  </a:solidFill>
                  <a:ln>
                    <a:noFill/>
                  </a:ln>
                </p:spPr>
              </p:sp>
              <p:sp>
                <p:nvSpPr>
                  <p:cNvPr id="1074" name="path · 54"/>
                  <p:cNvSpPr/>
                  <p:nvPr/>
                </p:nvSpPr>
                <p:spPr>
                  <a:xfrm>
                    <a:off x="38290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5" name="path · 55"/>
                  <p:cNvSpPr/>
                  <p:nvPr/>
                </p:nvSpPr>
                <p:spPr>
                  <a:xfrm>
                    <a:off x="46799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6" name="text · 56"/>
                  <p:cNvSpPr txBox="1"/>
                  <p:nvPr/>
                </p:nvSpPr>
                <p:spPr>
                  <a:xfrm>
                    <a:off x="4037012" y="4146550"/>
                    <a:ext cx="4349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Plus</a:t>
                    </a:r>
                    <a:endParaRPr lang="en-US" sz="1600"/>
                  </a:p>
                </p:txBody>
              </p:sp>
              <p:sp>
                <p:nvSpPr>
                  <p:cNvPr id="1077" name="text · 57"/>
                  <p:cNvSpPr txBox="1"/>
                  <p:nvPr/>
                </p:nvSpPr>
                <p:spPr>
                  <a:xfrm>
                    <a:off x="3970337" y="4502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78" name="text · 58"/>
                  <p:cNvSpPr txBox="1"/>
                  <p:nvPr/>
                </p:nvSpPr>
                <p:spPr>
                  <a:xfrm>
                    <a:off x="3948112" y="4686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2E6653"/>
                        </a:solidFill>
                        <a:latin typeface="Manrope"/>
                        <a:ea typeface="Manrope"/>
                        <a:cs typeface="Manrope"/>
                      </a:rPr>
                      <a:t>60</a:t>
                    </a:r>
                    <a:endParaRPr lang="en-US" sz="4300"/>
                  </a:p>
                </p:txBody>
              </p:sp>
              <p:sp>
                <p:nvSpPr>
                  <p:cNvPr id="1079" name="text · 59"/>
                  <p:cNvSpPr txBox="1"/>
                  <p:nvPr/>
                </p:nvSpPr>
                <p:spPr>
                  <a:xfrm>
                    <a:off x="4033837" y="5200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sp>
              <p:nvSpPr>
                <p:cNvPr id="1080" name="text · 61"/>
                <p:cNvSpPr txBox="1"/>
                <p:nvPr/>
              </p:nvSpPr>
              <p:spPr>
                <a:xfrm>
                  <a:off x="5068887" y="2501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sp>
              <p:nvSpPr>
                <p:cNvPr id="1081" name="text · 62"/>
                <p:cNvSpPr txBox="1"/>
                <p:nvPr/>
              </p:nvSpPr>
              <p:spPr>
                <a:xfrm>
                  <a:off x="5068887" y="4406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grpSp>
              <p:nvGrpSpPr>
                <p:cNvPr id="1082" name="shipping-five-dollars · 88"/>
                <p:cNvGrpSpPr/>
                <p:nvPr/>
              </p:nvGrpSpPr>
              <p:grpSpPr>
                <a:xfrm>
                  <a:off x="5740400" y="2292350"/>
                  <a:ext cx="1485900" cy="1212850"/>
                  <a:chOff x="5740400" y="2292350"/>
                  <a:chExt cx="1485900" cy="1212850"/>
                </a:xfrm>
              </p:grpSpPr>
              <p:sp>
                <p:nvSpPr>
                  <p:cNvPr id="1083" name="ellipse · 63"/>
                  <p:cNvSpPr/>
                  <p:nvPr/>
                </p:nvSpPr>
                <p:spPr>
                  <a:xfrm>
                    <a:off x="5873750" y="3365500"/>
                    <a:ext cx="1244600" cy="139700"/>
                  </a:xfrm>
                  <a:prstGeom prst="ellipse">
                    <a:avLst/>
                  </a:prstGeom>
                  <a:solidFill>
                    <a:srgbClr val="D5DFD9">
                      <a:alpha val="36000"/>
                    </a:srgbClr>
                  </a:solidFill>
                  <a:ln>
                    <a:noFill/>
                  </a:ln>
                </p:spPr>
              </p:sp>
              <p:sp>
                <p:nvSpPr>
                  <p:cNvPr id="1084" name="rect · 64"/>
                  <p:cNvSpPr/>
                  <p:nvPr/>
                </p:nvSpPr>
                <p:spPr>
                  <a:xfrm>
                    <a:off x="5822950" y="2330450"/>
                    <a:ext cx="1384300" cy="1079500"/>
                  </a:xfrm>
                  <a:prstGeom prst="roundRect">
                    <a:avLst>
                      <a:gd name="adj" fmla="val 7059"/>
                    </a:avLst>
                  </a:prstGeom>
                  <a:solidFill>
                    <a:srgbClr val="D5DFD9"/>
                  </a:solidFill>
                  <a:ln>
                    <a:noFill/>
                  </a:ln>
                </p:spPr>
              </p:sp>
              <p:sp>
                <p:nvSpPr>
                  <p:cNvPr id="1085" name="rect · 65"/>
                  <p:cNvSpPr/>
                  <p:nvPr/>
                </p:nvSpPr>
                <p:spPr>
                  <a:xfrm>
                    <a:off x="5791200" y="2292350"/>
                    <a:ext cx="1384300" cy="1079500"/>
                  </a:xfrm>
                  <a:prstGeom prst="roundRect">
                    <a:avLst>
                      <a:gd name="adj" fmla="val 7059"/>
                    </a:avLst>
                  </a:prstGeom>
                  <a:solidFill>
                    <a:srgbClr val="F6EAC8"/>
                  </a:solidFill>
                  <a:ln w="12700" cap="flat" cmpd="sng" algn="ctr">
                    <a:solidFill>
                      <a:srgbClr val="7A6025"/>
                    </a:solidFill>
                    <a:prstDash val="solid"/>
                    <a:miter lim="400000"/>
                    <a:headEnd type="none" w="med" len="med"/>
                    <a:tailEnd type="none" w="med" len="med"/>
                  </a:ln>
                </p:spPr>
              </p:sp>
              <p:sp>
                <p:nvSpPr>
                  <p:cNvPr id="1086" name="circle · 66"/>
                  <p:cNvSpPr/>
                  <p:nvPr/>
                </p:nvSpPr>
                <p:spPr>
                  <a:xfrm>
                    <a:off x="5740400" y="2552700"/>
                    <a:ext cx="101600" cy="101600"/>
                  </a:xfrm>
                  <a:prstGeom prst="ellipse">
                    <a:avLst/>
                  </a:prstGeom>
                  <a:solidFill>
                    <a:srgbClr val="F7F8F3"/>
                  </a:solidFill>
                  <a:ln>
                    <a:noFill/>
                  </a:ln>
                </p:spPr>
              </p:sp>
              <p:sp>
                <p:nvSpPr>
                  <p:cNvPr id="1087" name="circle · 67"/>
                  <p:cNvSpPr/>
                  <p:nvPr/>
                </p:nvSpPr>
                <p:spPr>
                  <a:xfrm>
                    <a:off x="7124700" y="2552700"/>
                    <a:ext cx="101600" cy="101600"/>
                  </a:xfrm>
                  <a:prstGeom prst="ellipse">
                    <a:avLst/>
                  </a:prstGeom>
                  <a:solidFill>
                    <a:srgbClr val="F7F8F3"/>
                  </a:solidFill>
                  <a:ln>
                    <a:noFill/>
                  </a:ln>
                </p:spPr>
              </p:sp>
              <p:sp>
                <p:nvSpPr>
                  <p:cNvPr id="1088" name="path · 68"/>
                  <p:cNvSpPr/>
                  <p:nvPr/>
                </p:nvSpPr>
                <p:spPr>
                  <a:xfrm>
                    <a:off x="5848350" y="2603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7A6025"/>
                    </a:solidFill>
                    <a:custDash>
                      <a:ds d="615385" sp="692308"/>
                    </a:custDash>
                    <a:round/>
                    <a:headEnd type="none" w="med" len="med"/>
                    <a:tailEnd type="none" w="med" len="med"/>
                  </a:ln>
                </p:spPr>
              </p:sp>
              <p:sp>
                <p:nvSpPr>
                  <p:cNvPr id="1089" name="text · 69"/>
                  <p:cNvSpPr txBox="1"/>
                  <p:nvPr/>
                </p:nvSpPr>
                <p:spPr>
                  <a:xfrm>
                    <a:off x="6084887" y="2368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Shipping</a:t>
                    </a:r>
                    <a:endParaRPr lang="en-US" sz="1450"/>
                  </a:p>
                </p:txBody>
              </p:sp>
              <p:sp>
                <p:nvSpPr>
                  <p:cNvPr id="1090" name="text · 70"/>
                  <p:cNvSpPr txBox="1"/>
                  <p:nvPr/>
                </p:nvSpPr>
                <p:spPr>
                  <a:xfrm>
                    <a:off x="6208712" y="2628900"/>
                    <a:ext cx="549275" cy="5808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3950"/>
                      </a:lnSpc>
                      <a:spcBef>
                        <a:spcPts val="0"/>
                      </a:spcBef>
                      <a:spcAft>
                        <a:spcPts val="0"/>
                      </a:spcAft>
                    </a:pPr>
                    <a:r>
                      <a:rPr lang="en-US" sz="3900" b="1" i="0" kern="0" spc="0" dirty="0">
                        <a:solidFill>
                          <a:srgbClr val="7A6025"/>
                        </a:solidFill>
                        <a:latin typeface="Manrope"/>
                        <a:ea typeface="Manrope"/>
                        <a:cs typeface="Manrope"/>
                      </a:rPr>
                      <a:t>$5</a:t>
                    </a:r>
                    <a:endParaRPr lang="en-US" sz="3900"/>
                  </a:p>
                </p:txBody>
              </p:sp>
              <p:sp>
                <p:nvSpPr>
                  <p:cNvPr id="1091" name="rect · 71"/>
                  <p:cNvSpPr/>
                  <p:nvPr/>
                </p:nvSpPr>
                <p:spPr>
                  <a:xfrm>
                    <a:off x="6127750" y="3149600"/>
                    <a:ext cx="19050" cy="127000"/>
                  </a:xfrm>
                  <a:prstGeom prst="rect">
                    <a:avLst/>
                  </a:prstGeom>
                  <a:solidFill>
                    <a:srgbClr val="7A6025"/>
                  </a:solidFill>
                  <a:ln>
                    <a:noFill/>
                  </a:ln>
                </p:spPr>
              </p:sp>
              <p:sp>
                <p:nvSpPr>
                  <p:cNvPr id="1092" name="rect · 72"/>
                  <p:cNvSpPr/>
                  <p:nvPr/>
                </p:nvSpPr>
                <p:spPr>
                  <a:xfrm>
                    <a:off x="6165850" y="3149600"/>
                    <a:ext cx="38100" cy="127000"/>
                  </a:xfrm>
                  <a:prstGeom prst="rect">
                    <a:avLst/>
                  </a:prstGeom>
                  <a:solidFill>
                    <a:srgbClr val="7A6025"/>
                  </a:solidFill>
                  <a:ln>
                    <a:noFill/>
                  </a:ln>
                </p:spPr>
              </p:sp>
              <p:sp>
                <p:nvSpPr>
                  <p:cNvPr id="1093" name="rect · 73"/>
                  <p:cNvSpPr/>
                  <p:nvPr/>
                </p:nvSpPr>
                <p:spPr>
                  <a:xfrm>
                    <a:off x="6223000" y="3149600"/>
                    <a:ext cx="12700" cy="127000"/>
                  </a:xfrm>
                  <a:prstGeom prst="rect">
                    <a:avLst/>
                  </a:prstGeom>
                  <a:solidFill>
                    <a:srgbClr val="7A6025"/>
                  </a:solidFill>
                  <a:ln>
                    <a:noFill/>
                  </a:ln>
                </p:spPr>
              </p:sp>
              <p:sp>
                <p:nvSpPr>
                  <p:cNvPr id="1094" name="rect · 74"/>
                  <p:cNvSpPr/>
                  <p:nvPr/>
                </p:nvSpPr>
                <p:spPr>
                  <a:xfrm>
                    <a:off x="6254750" y="3149600"/>
                    <a:ext cx="25400" cy="127000"/>
                  </a:xfrm>
                  <a:prstGeom prst="rect">
                    <a:avLst/>
                  </a:prstGeom>
                  <a:solidFill>
                    <a:srgbClr val="7A6025"/>
                  </a:solidFill>
                  <a:ln>
                    <a:noFill/>
                  </a:ln>
                </p:spPr>
              </p:sp>
              <p:sp>
                <p:nvSpPr>
                  <p:cNvPr id="1095" name="rect · 75"/>
                  <p:cNvSpPr/>
                  <p:nvPr/>
                </p:nvSpPr>
                <p:spPr>
                  <a:xfrm>
                    <a:off x="6299200" y="3149600"/>
                    <a:ext cx="12700" cy="127000"/>
                  </a:xfrm>
                  <a:prstGeom prst="rect">
                    <a:avLst/>
                  </a:prstGeom>
                  <a:solidFill>
                    <a:srgbClr val="7A6025"/>
                  </a:solidFill>
                  <a:ln>
                    <a:noFill/>
                  </a:ln>
                </p:spPr>
              </p:sp>
              <p:sp>
                <p:nvSpPr>
                  <p:cNvPr id="1096" name="rect · 76"/>
                  <p:cNvSpPr/>
                  <p:nvPr/>
                </p:nvSpPr>
                <p:spPr>
                  <a:xfrm>
                    <a:off x="6330950" y="3149600"/>
                    <a:ext cx="44450" cy="127000"/>
                  </a:xfrm>
                  <a:prstGeom prst="rect">
                    <a:avLst/>
                  </a:prstGeom>
                  <a:solidFill>
                    <a:srgbClr val="7A6025"/>
                  </a:solidFill>
                  <a:ln>
                    <a:noFill/>
                  </a:ln>
                </p:spPr>
              </p:sp>
              <p:sp>
                <p:nvSpPr>
                  <p:cNvPr id="1097" name="rect · 77"/>
                  <p:cNvSpPr/>
                  <p:nvPr/>
                </p:nvSpPr>
                <p:spPr>
                  <a:xfrm>
                    <a:off x="6394450" y="3149600"/>
                    <a:ext cx="19050" cy="127000"/>
                  </a:xfrm>
                  <a:prstGeom prst="rect">
                    <a:avLst/>
                  </a:prstGeom>
                  <a:solidFill>
                    <a:srgbClr val="7A6025"/>
                  </a:solidFill>
                  <a:ln>
                    <a:noFill/>
                  </a:ln>
                </p:spPr>
              </p:sp>
              <p:sp>
                <p:nvSpPr>
                  <p:cNvPr id="1098" name="rect · 78"/>
                  <p:cNvSpPr/>
                  <p:nvPr/>
                </p:nvSpPr>
                <p:spPr>
                  <a:xfrm>
                    <a:off x="6432550" y="3149600"/>
                    <a:ext cx="12700" cy="127000"/>
                  </a:xfrm>
                  <a:prstGeom prst="rect">
                    <a:avLst/>
                  </a:prstGeom>
                  <a:solidFill>
                    <a:srgbClr val="7A6025"/>
                  </a:solidFill>
                  <a:ln>
                    <a:noFill/>
                  </a:ln>
                </p:spPr>
              </p:sp>
              <p:sp>
                <p:nvSpPr>
                  <p:cNvPr id="1099" name="rect · 79"/>
                  <p:cNvSpPr/>
                  <p:nvPr/>
                </p:nvSpPr>
                <p:spPr>
                  <a:xfrm>
                    <a:off x="6464300" y="3149600"/>
                    <a:ext cx="31750" cy="127000"/>
                  </a:xfrm>
                  <a:prstGeom prst="rect">
                    <a:avLst/>
                  </a:prstGeom>
                  <a:solidFill>
                    <a:srgbClr val="7A6025"/>
                  </a:solidFill>
                  <a:ln>
                    <a:noFill/>
                  </a:ln>
                </p:spPr>
              </p:sp>
              <p:sp>
                <p:nvSpPr>
                  <p:cNvPr id="1100" name="rect · 80"/>
                  <p:cNvSpPr/>
                  <p:nvPr/>
                </p:nvSpPr>
                <p:spPr>
                  <a:xfrm>
                    <a:off x="6515100" y="3149600"/>
                    <a:ext cx="12700" cy="127000"/>
                  </a:xfrm>
                  <a:prstGeom prst="rect">
                    <a:avLst/>
                  </a:prstGeom>
                  <a:solidFill>
                    <a:srgbClr val="7A6025"/>
                  </a:solidFill>
                  <a:ln>
                    <a:noFill/>
                  </a:ln>
                </p:spPr>
              </p:sp>
              <p:sp>
                <p:nvSpPr>
                  <p:cNvPr id="1101" name="rect · 81"/>
                  <p:cNvSpPr/>
                  <p:nvPr/>
                </p:nvSpPr>
                <p:spPr>
                  <a:xfrm>
                    <a:off x="6546850" y="3149600"/>
                    <a:ext cx="19050" cy="127000"/>
                  </a:xfrm>
                  <a:prstGeom prst="rect">
                    <a:avLst/>
                  </a:prstGeom>
                  <a:solidFill>
                    <a:srgbClr val="7A6025"/>
                  </a:solidFill>
                  <a:ln>
                    <a:noFill/>
                  </a:ln>
                </p:spPr>
              </p:sp>
              <p:sp>
                <p:nvSpPr>
                  <p:cNvPr id="1102" name="rect · 82"/>
                  <p:cNvSpPr/>
                  <p:nvPr/>
                </p:nvSpPr>
                <p:spPr>
                  <a:xfrm>
                    <a:off x="6584950" y="3149600"/>
                    <a:ext cx="38100" cy="127000"/>
                  </a:xfrm>
                  <a:prstGeom prst="rect">
                    <a:avLst/>
                  </a:prstGeom>
                  <a:solidFill>
                    <a:srgbClr val="7A6025"/>
                  </a:solidFill>
                  <a:ln>
                    <a:noFill/>
                  </a:ln>
                </p:spPr>
              </p:sp>
              <p:sp>
                <p:nvSpPr>
                  <p:cNvPr id="1103" name="rect · 83"/>
                  <p:cNvSpPr/>
                  <p:nvPr/>
                </p:nvSpPr>
                <p:spPr>
                  <a:xfrm>
                    <a:off x="6642100" y="3149600"/>
                    <a:ext cx="12700" cy="127000"/>
                  </a:xfrm>
                  <a:prstGeom prst="rect">
                    <a:avLst/>
                  </a:prstGeom>
                  <a:solidFill>
                    <a:srgbClr val="7A6025"/>
                  </a:solidFill>
                  <a:ln>
                    <a:noFill/>
                  </a:ln>
                </p:spPr>
              </p:sp>
              <p:sp>
                <p:nvSpPr>
                  <p:cNvPr id="1104" name="rect · 84"/>
                  <p:cNvSpPr/>
                  <p:nvPr/>
                </p:nvSpPr>
                <p:spPr>
                  <a:xfrm>
                    <a:off x="6673850" y="3149600"/>
                    <a:ext cx="25400" cy="127000"/>
                  </a:xfrm>
                  <a:prstGeom prst="rect">
                    <a:avLst/>
                  </a:prstGeom>
                  <a:solidFill>
                    <a:srgbClr val="7A6025"/>
                  </a:solidFill>
                  <a:ln>
                    <a:noFill/>
                  </a:ln>
                </p:spPr>
              </p:sp>
              <p:sp>
                <p:nvSpPr>
                  <p:cNvPr id="1105" name="rect · 85"/>
                  <p:cNvSpPr/>
                  <p:nvPr/>
                </p:nvSpPr>
                <p:spPr>
                  <a:xfrm>
                    <a:off x="6718300" y="3149600"/>
                    <a:ext cx="19050" cy="127000"/>
                  </a:xfrm>
                  <a:prstGeom prst="rect">
                    <a:avLst/>
                  </a:prstGeom>
                  <a:solidFill>
                    <a:srgbClr val="7A6025"/>
                  </a:solidFill>
                  <a:ln>
                    <a:noFill/>
                  </a:ln>
                </p:spPr>
              </p:sp>
              <p:sp>
                <p:nvSpPr>
                  <p:cNvPr id="1106" name="rect · 86"/>
                  <p:cNvSpPr/>
                  <p:nvPr/>
                </p:nvSpPr>
                <p:spPr>
                  <a:xfrm>
                    <a:off x="6756400" y="3149600"/>
                    <a:ext cx="12700" cy="127000"/>
                  </a:xfrm>
                  <a:prstGeom prst="rect">
                    <a:avLst/>
                  </a:prstGeom>
                  <a:solidFill>
                    <a:srgbClr val="7A6025"/>
                  </a:solidFill>
                  <a:ln>
                    <a:noFill/>
                  </a:ln>
                </p:spPr>
              </p:sp>
              <p:sp>
                <p:nvSpPr>
                  <p:cNvPr id="1107" name="rect · 87"/>
                  <p:cNvSpPr/>
                  <p:nvPr/>
                </p:nvSpPr>
                <p:spPr>
                  <a:xfrm>
                    <a:off x="6788150" y="3149600"/>
                    <a:ext cx="31750" cy="127000"/>
                  </a:xfrm>
                  <a:prstGeom prst="rect">
                    <a:avLst/>
                  </a:prstGeom>
                  <a:solidFill>
                    <a:srgbClr val="7A6025"/>
                  </a:solidFill>
                  <a:ln>
                    <a:noFill/>
                  </a:ln>
                </p:spPr>
              </p:sp>
            </p:grpSp>
            <p:grpSp>
              <p:nvGrpSpPr>
                <p:cNvPr id="1108" name="shipping-waived · 114"/>
                <p:cNvGrpSpPr/>
                <p:nvPr/>
              </p:nvGrpSpPr>
              <p:grpSpPr>
                <a:xfrm>
                  <a:off x="5740400" y="4197350"/>
                  <a:ext cx="1485900" cy="1212850"/>
                  <a:chOff x="5740400" y="4197350"/>
                  <a:chExt cx="1485900" cy="1212850"/>
                </a:xfrm>
              </p:grpSpPr>
              <p:sp>
                <p:nvSpPr>
                  <p:cNvPr id="1109" name="ellipse · 89"/>
                  <p:cNvSpPr/>
                  <p:nvPr/>
                </p:nvSpPr>
                <p:spPr>
                  <a:xfrm>
                    <a:off x="5873750" y="5270500"/>
                    <a:ext cx="1244600" cy="139700"/>
                  </a:xfrm>
                  <a:prstGeom prst="ellipse">
                    <a:avLst/>
                  </a:prstGeom>
                  <a:solidFill>
                    <a:srgbClr val="D5DFD9">
                      <a:alpha val="36000"/>
                    </a:srgbClr>
                  </a:solidFill>
                  <a:ln>
                    <a:noFill/>
                  </a:ln>
                </p:spPr>
              </p:sp>
              <p:sp>
                <p:nvSpPr>
                  <p:cNvPr id="1110" name="rect · 90"/>
                  <p:cNvSpPr/>
                  <p:nvPr/>
                </p:nvSpPr>
                <p:spPr>
                  <a:xfrm>
                    <a:off x="5822950" y="4235450"/>
                    <a:ext cx="1384300" cy="1079500"/>
                  </a:xfrm>
                  <a:prstGeom prst="roundRect">
                    <a:avLst>
                      <a:gd name="adj" fmla="val 7059"/>
                    </a:avLst>
                  </a:prstGeom>
                  <a:solidFill>
                    <a:srgbClr val="D5DFD9"/>
                  </a:solidFill>
                  <a:ln>
                    <a:noFill/>
                  </a:ln>
                </p:spPr>
              </p:sp>
              <p:sp>
                <p:nvSpPr>
                  <p:cNvPr id="1111" name="rect · 91"/>
                  <p:cNvSpPr/>
                  <p:nvPr/>
                </p:nvSpPr>
                <p:spPr>
                  <a:xfrm>
                    <a:off x="5791200" y="4197350"/>
                    <a:ext cx="1384300" cy="1079500"/>
                  </a:xfrm>
                  <a:prstGeom prst="roundRect">
                    <a:avLst>
                      <a:gd name="adj" fmla="val 7059"/>
                    </a:avLst>
                  </a:prstGeom>
                  <a:solidFill>
                    <a:srgbClr val="D7EBE1"/>
                  </a:solidFill>
                  <a:ln w="12700" cap="flat" cmpd="sng" algn="ctr">
                    <a:solidFill>
                      <a:srgbClr val="2E6653"/>
                    </a:solidFill>
                    <a:prstDash val="solid"/>
                    <a:miter lim="400000"/>
                    <a:headEnd type="none" w="med" len="med"/>
                    <a:tailEnd type="none" w="med" len="med"/>
                  </a:ln>
                </p:spPr>
              </p:sp>
              <p:sp>
                <p:nvSpPr>
                  <p:cNvPr id="1112" name="circle · 92"/>
                  <p:cNvSpPr/>
                  <p:nvPr/>
                </p:nvSpPr>
                <p:spPr>
                  <a:xfrm>
                    <a:off x="5740400" y="4457700"/>
                    <a:ext cx="101600" cy="101600"/>
                  </a:xfrm>
                  <a:prstGeom prst="ellipse">
                    <a:avLst/>
                  </a:prstGeom>
                  <a:solidFill>
                    <a:srgbClr val="F7F8F3"/>
                  </a:solidFill>
                  <a:ln>
                    <a:noFill/>
                  </a:ln>
                </p:spPr>
              </p:sp>
              <p:sp>
                <p:nvSpPr>
                  <p:cNvPr id="1113" name="circle · 93"/>
                  <p:cNvSpPr/>
                  <p:nvPr/>
                </p:nvSpPr>
                <p:spPr>
                  <a:xfrm>
                    <a:off x="7124700" y="4457700"/>
                    <a:ext cx="101600" cy="101600"/>
                  </a:xfrm>
                  <a:prstGeom prst="ellipse">
                    <a:avLst/>
                  </a:prstGeom>
                  <a:solidFill>
                    <a:srgbClr val="F7F8F3"/>
                  </a:solidFill>
                  <a:ln>
                    <a:noFill/>
                  </a:ln>
                </p:spPr>
              </p:sp>
              <p:sp>
                <p:nvSpPr>
                  <p:cNvPr id="1114" name="path · 94"/>
                  <p:cNvSpPr/>
                  <p:nvPr/>
                </p:nvSpPr>
                <p:spPr>
                  <a:xfrm>
                    <a:off x="5848350" y="4508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2E6653"/>
                    </a:solidFill>
                    <a:custDash>
                      <a:ds d="615385" sp="692308"/>
                    </a:custDash>
                    <a:round/>
                    <a:headEnd type="none" w="med" len="med"/>
                    <a:tailEnd type="none" w="med" len="med"/>
                  </a:ln>
                </p:spPr>
              </p:sp>
              <p:sp>
                <p:nvSpPr>
                  <p:cNvPr id="1115" name="text · 95"/>
                  <p:cNvSpPr txBox="1"/>
                  <p:nvPr/>
                </p:nvSpPr>
                <p:spPr>
                  <a:xfrm>
                    <a:off x="6084887" y="4273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Shipping</a:t>
                    </a:r>
                    <a:endParaRPr lang="en-US" sz="1450"/>
                  </a:p>
                </p:txBody>
              </p:sp>
              <p:sp>
                <p:nvSpPr>
                  <p:cNvPr id="1116" name="text · 96"/>
                  <p:cNvSpPr txBox="1"/>
                  <p:nvPr/>
                </p:nvSpPr>
                <p:spPr>
                  <a:xfrm>
                    <a:off x="5986462" y="4641850"/>
                    <a:ext cx="993775" cy="33782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300"/>
                      </a:lnSpc>
                      <a:spcBef>
                        <a:spcPts val="0"/>
                      </a:spcBef>
                      <a:spcAft>
                        <a:spcPts val="0"/>
                      </a:spcAft>
                    </a:pPr>
                    <a:r>
                      <a:rPr lang="en-US" sz="2250" b="1" i="0" kern="0" spc="0" dirty="0">
                        <a:solidFill>
                          <a:srgbClr val="2E6653"/>
                        </a:solidFill>
                        <a:latin typeface="Manrope"/>
                        <a:ea typeface="Manrope"/>
                        <a:cs typeface="Manrope"/>
                      </a:rPr>
                      <a:t>Waived</a:t>
                    </a:r>
                    <a:endParaRPr lang="en-US" sz="2250"/>
                  </a:p>
                </p:txBody>
              </p:sp>
              <p:sp>
                <p:nvSpPr>
                  <p:cNvPr id="1117" name="rect · 97"/>
                  <p:cNvSpPr/>
                  <p:nvPr/>
                </p:nvSpPr>
                <p:spPr>
                  <a:xfrm>
                    <a:off x="6127750" y="5054600"/>
                    <a:ext cx="19050" cy="127000"/>
                  </a:xfrm>
                  <a:prstGeom prst="rect">
                    <a:avLst/>
                  </a:prstGeom>
                  <a:solidFill>
                    <a:srgbClr val="2E6653"/>
                  </a:solidFill>
                  <a:ln>
                    <a:noFill/>
                  </a:ln>
                </p:spPr>
              </p:sp>
              <p:sp>
                <p:nvSpPr>
                  <p:cNvPr id="1118" name="rect · 98"/>
                  <p:cNvSpPr/>
                  <p:nvPr/>
                </p:nvSpPr>
                <p:spPr>
                  <a:xfrm>
                    <a:off x="6165850" y="5054600"/>
                    <a:ext cx="38100" cy="127000"/>
                  </a:xfrm>
                  <a:prstGeom prst="rect">
                    <a:avLst/>
                  </a:prstGeom>
                  <a:solidFill>
                    <a:srgbClr val="2E6653"/>
                  </a:solidFill>
                  <a:ln>
                    <a:noFill/>
                  </a:ln>
                </p:spPr>
              </p:sp>
              <p:sp>
                <p:nvSpPr>
                  <p:cNvPr id="1119" name="rect · 99"/>
                  <p:cNvSpPr/>
                  <p:nvPr/>
                </p:nvSpPr>
                <p:spPr>
                  <a:xfrm>
                    <a:off x="6223000" y="5054600"/>
                    <a:ext cx="12700" cy="127000"/>
                  </a:xfrm>
                  <a:prstGeom prst="rect">
                    <a:avLst/>
                  </a:prstGeom>
                  <a:solidFill>
                    <a:srgbClr val="2E6653"/>
                  </a:solidFill>
                  <a:ln>
                    <a:noFill/>
                  </a:ln>
                </p:spPr>
              </p:sp>
              <p:sp>
                <p:nvSpPr>
                  <p:cNvPr id="1120" name="rect · 100"/>
                  <p:cNvSpPr/>
                  <p:nvPr/>
                </p:nvSpPr>
                <p:spPr>
                  <a:xfrm>
                    <a:off x="6254750" y="5054600"/>
                    <a:ext cx="25400" cy="127000"/>
                  </a:xfrm>
                  <a:prstGeom prst="rect">
                    <a:avLst/>
                  </a:prstGeom>
                  <a:solidFill>
                    <a:srgbClr val="2E6653"/>
                  </a:solidFill>
                  <a:ln>
                    <a:noFill/>
                  </a:ln>
                </p:spPr>
              </p:sp>
              <p:sp>
                <p:nvSpPr>
                  <p:cNvPr id="1121" name="rect · 101"/>
                  <p:cNvSpPr/>
                  <p:nvPr/>
                </p:nvSpPr>
                <p:spPr>
                  <a:xfrm>
                    <a:off x="6299200" y="5054600"/>
                    <a:ext cx="12700" cy="127000"/>
                  </a:xfrm>
                  <a:prstGeom prst="rect">
                    <a:avLst/>
                  </a:prstGeom>
                  <a:solidFill>
                    <a:srgbClr val="2E6653"/>
                  </a:solidFill>
                  <a:ln>
                    <a:noFill/>
                  </a:ln>
                </p:spPr>
              </p:sp>
              <p:sp>
                <p:nvSpPr>
                  <p:cNvPr id="1122" name="rect · 102"/>
                  <p:cNvSpPr/>
                  <p:nvPr/>
                </p:nvSpPr>
                <p:spPr>
                  <a:xfrm>
                    <a:off x="6330950" y="5054600"/>
                    <a:ext cx="44450" cy="127000"/>
                  </a:xfrm>
                  <a:prstGeom prst="rect">
                    <a:avLst/>
                  </a:prstGeom>
                  <a:solidFill>
                    <a:srgbClr val="2E6653"/>
                  </a:solidFill>
                  <a:ln>
                    <a:noFill/>
                  </a:ln>
                </p:spPr>
              </p:sp>
              <p:sp>
                <p:nvSpPr>
                  <p:cNvPr id="1123" name="rect · 103"/>
                  <p:cNvSpPr/>
                  <p:nvPr/>
                </p:nvSpPr>
                <p:spPr>
                  <a:xfrm>
                    <a:off x="6394450" y="5054600"/>
                    <a:ext cx="19050" cy="127000"/>
                  </a:xfrm>
                  <a:prstGeom prst="rect">
                    <a:avLst/>
                  </a:prstGeom>
                  <a:solidFill>
                    <a:srgbClr val="2E6653"/>
                  </a:solidFill>
                  <a:ln>
                    <a:noFill/>
                  </a:ln>
                </p:spPr>
              </p:sp>
              <p:sp>
                <p:nvSpPr>
                  <p:cNvPr id="1124" name="rect · 104"/>
                  <p:cNvSpPr/>
                  <p:nvPr/>
                </p:nvSpPr>
                <p:spPr>
                  <a:xfrm>
                    <a:off x="6432550" y="5054600"/>
                    <a:ext cx="12700" cy="127000"/>
                  </a:xfrm>
                  <a:prstGeom prst="rect">
                    <a:avLst/>
                  </a:prstGeom>
                  <a:solidFill>
                    <a:srgbClr val="2E6653"/>
                  </a:solidFill>
                  <a:ln>
                    <a:noFill/>
                  </a:ln>
                </p:spPr>
              </p:sp>
              <p:sp>
                <p:nvSpPr>
                  <p:cNvPr id="1125" name="rect · 105"/>
                  <p:cNvSpPr/>
                  <p:nvPr/>
                </p:nvSpPr>
                <p:spPr>
                  <a:xfrm>
                    <a:off x="6464300" y="5054600"/>
                    <a:ext cx="31750" cy="127000"/>
                  </a:xfrm>
                  <a:prstGeom prst="rect">
                    <a:avLst/>
                  </a:prstGeom>
                  <a:solidFill>
                    <a:srgbClr val="2E6653"/>
                  </a:solidFill>
                  <a:ln>
                    <a:noFill/>
                  </a:ln>
                </p:spPr>
              </p:sp>
              <p:sp>
                <p:nvSpPr>
                  <p:cNvPr id="1126" name="rect · 106"/>
                  <p:cNvSpPr/>
                  <p:nvPr/>
                </p:nvSpPr>
                <p:spPr>
                  <a:xfrm>
                    <a:off x="6515100" y="5054600"/>
                    <a:ext cx="12700" cy="127000"/>
                  </a:xfrm>
                  <a:prstGeom prst="rect">
                    <a:avLst/>
                  </a:prstGeom>
                  <a:solidFill>
                    <a:srgbClr val="2E6653"/>
                  </a:solidFill>
                  <a:ln>
                    <a:noFill/>
                  </a:ln>
                </p:spPr>
              </p:sp>
              <p:sp>
                <p:nvSpPr>
                  <p:cNvPr id="1127" name="rect · 107"/>
                  <p:cNvSpPr/>
                  <p:nvPr/>
                </p:nvSpPr>
                <p:spPr>
                  <a:xfrm>
                    <a:off x="6546850" y="5054600"/>
                    <a:ext cx="19050" cy="127000"/>
                  </a:xfrm>
                  <a:prstGeom prst="rect">
                    <a:avLst/>
                  </a:prstGeom>
                  <a:solidFill>
                    <a:srgbClr val="2E6653"/>
                  </a:solidFill>
                  <a:ln>
                    <a:noFill/>
                  </a:ln>
                </p:spPr>
              </p:sp>
              <p:sp>
                <p:nvSpPr>
                  <p:cNvPr id="1128" name="rect · 108"/>
                  <p:cNvSpPr/>
                  <p:nvPr/>
                </p:nvSpPr>
                <p:spPr>
                  <a:xfrm>
                    <a:off x="6584950" y="5054600"/>
                    <a:ext cx="38100" cy="127000"/>
                  </a:xfrm>
                  <a:prstGeom prst="rect">
                    <a:avLst/>
                  </a:prstGeom>
                  <a:solidFill>
                    <a:srgbClr val="2E6653"/>
                  </a:solidFill>
                  <a:ln>
                    <a:noFill/>
                  </a:ln>
                </p:spPr>
              </p:sp>
              <p:sp>
                <p:nvSpPr>
                  <p:cNvPr id="1129" name="rect · 109"/>
                  <p:cNvSpPr/>
                  <p:nvPr/>
                </p:nvSpPr>
                <p:spPr>
                  <a:xfrm>
                    <a:off x="6642100" y="5054600"/>
                    <a:ext cx="12700" cy="127000"/>
                  </a:xfrm>
                  <a:prstGeom prst="rect">
                    <a:avLst/>
                  </a:prstGeom>
                  <a:solidFill>
                    <a:srgbClr val="2E6653"/>
                  </a:solidFill>
                  <a:ln>
                    <a:noFill/>
                  </a:ln>
                </p:spPr>
              </p:sp>
              <p:sp>
                <p:nvSpPr>
                  <p:cNvPr id="1130" name="rect · 110"/>
                  <p:cNvSpPr/>
                  <p:nvPr/>
                </p:nvSpPr>
                <p:spPr>
                  <a:xfrm>
                    <a:off x="6673850" y="5054600"/>
                    <a:ext cx="25400" cy="127000"/>
                  </a:xfrm>
                  <a:prstGeom prst="rect">
                    <a:avLst/>
                  </a:prstGeom>
                  <a:solidFill>
                    <a:srgbClr val="2E6653"/>
                  </a:solidFill>
                  <a:ln>
                    <a:noFill/>
                  </a:ln>
                </p:spPr>
              </p:sp>
              <p:sp>
                <p:nvSpPr>
                  <p:cNvPr id="1131" name="rect · 111"/>
                  <p:cNvSpPr/>
                  <p:nvPr/>
                </p:nvSpPr>
                <p:spPr>
                  <a:xfrm>
                    <a:off x="6718300" y="5054600"/>
                    <a:ext cx="19050" cy="127000"/>
                  </a:xfrm>
                  <a:prstGeom prst="rect">
                    <a:avLst/>
                  </a:prstGeom>
                  <a:solidFill>
                    <a:srgbClr val="2E6653"/>
                  </a:solidFill>
                  <a:ln>
                    <a:noFill/>
                  </a:ln>
                </p:spPr>
              </p:sp>
              <p:sp>
                <p:nvSpPr>
                  <p:cNvPr id="1132" name="rect · 112"/>
                  <p:cNvSpPr/>
                  <p:nvPr/>
                </p:nvSpPr>
                <p:spPr>
                  <a:xfrm>
                    <a:off x="6756400" y="5054600"/>
                    <a:ext cx="12700" cy="127000"/>
                  </a:xfrm>
                  <a:prstGeom prst="rect">
                    <a:avLst/>
                  </a:prstGeom>
                  <a:solidFill>
                    <a:srgbClr val="2E6653"/>
                  </a:solidFill>
                  <a:ln>
                    <a:noFill/>
                  </a:ln>
                </p:spPr>
              </p:sp>
              <p:sp>
                <p:nvSpPr>
                  <p:cNvPr id="1133" name="rect · 113"/>
                  <p:cNvSpPr/>
                  <p:nvPr/>
                </p:nvSpPr>
                <p:spPr>
                  <a:xfrm>
                    <a:off x="6788150" y="5054600"/>
                    <a:ext cx="31750" cy="127000"/>
                  </a:xfrm>
                  <a:prstGeom prst="rect">
                    <a:avLst/>
                  </a:prstGeom>
                  <a:solidFill>
                    <a:srgbClr val="2E6653"/>
                  </a:solidFill>
                  <a:ln>
                    <a:noFill/>
                  </a:ln>
                </p:spPr>
              </p:sp>
            </p:grpSp>
            <p:grpSp>
              <p:nvGrpSpPr>
                <p:cNvPr id="1134" name="customer · 129"/>
                <p:cNvGrpSpPr/>
                <p:nvPr/>
              </p:nvGrpSpPr>
              <p:grpSpPr>
                <a:xfrm>
                  <a:off x="8332893" y="3179657"/>
                  <a:ext cx="782320" cy="906780"/>
                  <a:chOff x="8332893" y="3179657"/>
                  <a:chExt cx="782320" cy="906780"/>
                </a:xfrm>
              </p:grpSpPr>
              <p:sp>
                <p:nvSpPr>
                  <p:cNvPr id="1135" name="ellipse · 115"/>
                  <p:cNvSpPr/>
                  <p:nvPr/>
                </p:nvSpPr>
                <p:spPr>
                  <a:xfrm>
                    <a:off x="8332893" y="4015317"/>
                    <a:ext cx="782320" cy="71120"/>
                  </a:xfrm>
                  <a:prstGeom prst="ellipse">
                    <a:avLst/>
                  </a:prstGeom>
                  <a:solidFill>
                    <a:srgbClr val="E2EEF3"/>
                  </a:solidFill>
                  <a:ln>
                    <a:noFill/>
                  </a:ln>
                </p:spPr>
              </p:sp>
              <p:sp>
                <p:nvSpPr>
                  <p:cNvPr id="1136" name="path · 116"/>
                  <p:cNvSpPr/>
                  <p:nvPr/>
                </p:nvSpPr>
                <p:spPr>
                  <a:xfrm>
                    <a:off x="8510693" y="3778250"/>
                    <a:ext cx="462280" cy="237067"/>
                  </a:xfrm>
                  <a:custGeom>
                    <a:avLst/>
                    <a:gdLst/>
                    <a:ahLst/>
                    <a:cxnLst/>
                    <a:rect l="0" t="0" r="r" b="b"/>
                    <a:pathLst>
                      <a:path w="462280" h="237067" fill="norm" stroke="1" extrusionOk="0">
                        <a:moveTo>
                          <a:pt x="23707" y="47413"/>
                        </a:moveTo>
                        <a:lnTo>
                          <a:pt x="0" y="237067"/>
                        </a:lnTo>
                        <a:lnTo>
                          <a:pt x="130387" y="237067"/>
                        </a:lnTo>
                        <a:lnTo>
                          <a:pt x="171874" y="59267"/>
                        </a:lnTo>
                        <a:moveTo>
                          <a:pt x="302260" y="47413"/>
                        </a:moveTo>
                        <a:lnTo>
                          <a:pt x="343747" y="237067"/>
                        </a:lnTo>
                        <a:lnTo>
                          <a:pt x="462280" y="237067"/>
                        </a:lnTo>
                        <a:lnTo>
                          <a:pt x="367454" y="0"/>
                        </a:lnTo>
                      </a:path>
                    </a:pathLst>
                  </a:custGeom>
                  <a:solidFill>
                    <a:srgbClr val="243E42"/>
                  </a:solidFill>
                  <a:ln w="13039" cap="rnd" cmpd="sng" algn="ctr">
                    <a:solidFill>
                      <a:srgbClr val="243E42"/>
                    </a:solidFill>
                    <a:prstDash val="solid"/>
                    <a:round/>
                    <a:headEnd type="none" w="med" len="med"/>
                    <a:tailEnd type="none" w="med" len="med"/>
                  </a:ln>
                </p:spPr>
              </p:sp>
              <p:sp>
                <p:nvSpPr>
                  <p:cNvPr id="1137" name="path · 117"/>
                  <p:cNvSpPr/>
                  <p:nvPr/>
                </p:nvSpPr>
                <p:spPr>
                  <a:xfrm>
                    <a:off x="8451427" y="4021243"/>
                    <a:ext cx="586740" cy="41487"/>
                  </a:xfrm>
                  <a:custGeom>
                    <a:avLst/>
                    <a:gdLst/>
                    <a:ahLst/>
                    <a:cxnLst/>
                    <a:rect l="0" t="0" r="r" b="b"/>
                    <a:pathLst>
                      <a:path w="586740" h="41487" fill="norm" stroke="1" extrusionOk="0">
                        <a:moveTo>
                          <a:pt x="41486" y="0"/>
                        </a:moveTo>
                        <a:lnTo>
                          <a:pt x="195580" y="0"/>
                        </a:lnTo>
                        <a:lnTo>
                          <a:pt x="195580" y="41487"/>
                        </a:lnTo>
                        <a:lnTo>
                          <a:pt x="0" y="41487"/>
                        </a:lnTo>
                        <a:cubicBezTo>
                          <a:pt x="0" y="17780"/>
                          <a:pt x="17780" y="5927"/>
                          <a:pt x="41486" y="0"/>
                        </a:cubicBezTo>
                        <a:moveTo>
                          <a:pt x="397086" y="0"/>
                        </a:moveTo>
                        <a:lnTo>
                          <a:pt x="539326" y="0"/>
                        </a:lnTo>
                        <a:lnTo>
                          <a:pt x="586740" y="41487"/>
                        </a:lnTo>
                        <a:lnTo>
                          <a:pt x="397086" y="41487"/>
                        </a:lnTo>
                        <a:close/>
                      </a:path>
                    </a:pathLst>
                  </a:custGeom>
                  <a:solidFill>
                    <a:srgbClr val="FFFFFF"/>
                  </a:solidFill>
                  <a:ln w="13039" cap="rnd" cmpd="sng" algn="ctr">
                    <a:solidFill>
                      <a:srgbClr val="243E42"/>
                    </a:solidFill>
                    <a:prstDash val="solid"/>
                    <a:round/>
                    <a:headEnd type="none" w="med" len="med"/>
                    <a:tailEnd type="none" w="med" len="med"/>
                  </a:ln>
                </p:spPr>
              </p:sp>
              <p:sp>
                <p:nvSpPr>
                  <p:cNvPr id="1138" name="path · 118"/>
                  <p:cNvSpPr/>
                  <p:nvPr/>
                </p:nvSpPr>
                <p:spPr>
                  <a:xfrm>
                    <a:off x="8486987" y="3464137"/>
                    <a:ext cx="432647" cy="408940"/>
                  </a:xfrm>
                  <a:custGeom>
                    <a:avLst/>
                    <a:gdLst/>
                    <a:ahLst/>
                    <a:cxnLst/>
                    <a:rect l="0" t="0" r="r" b="b"/>
                    <a:pathLst>
                      <a:path w="432647" h="408940" fill="norm" stroke="1" extrusionOk="0">
                        <a:moveTo>
                          <a:pt x="0" y="106680"/>
                        </a:moveTo>
                        <a:quadBezTo>
                          <a:pt x="35560" y="5926"/>
                          <a:pt x="171873" y="0"/>
                        </a:quadBezTo>
                        <a:lnTo>
                          <a:pt x="266700" y="0"/>
                        </a:lnTo>
                        <a:quadBezTo>
                          <a:pt x="403013" y="11853"/>
                          <a:pt x="432646" y="136313"/>
                        </a:quadBezTo>
                        <a:lnTo>
                          <a:pt x="379306" y="408940"/>
                        </a:lnTo>
                        <a:lnTo>
                          <a:pt x="59266" y="408940"/>
                        </a:lnTo>
                        <a:close/>
                      </a:path>
                    </a:pathLst>
                  </a:custGeom>
                  <a:solidFill>
                    <a:srgbClr val="E2EEF3"/>
                  </a:solidFill>
                  <a:ln w="13039" cap="rnd" cmpd="sng" algn="ctr">
                    <a:solidFill>
                      <a:srgbClr val="243E42"/>
                    </a:solidFill>
                    <a:prstDash val="solid"/>
                    <a:round/>
                    <a:headEnd type="none" w="med" len="med"/>
                    <a:tailEnd type="none" w="med" len="med"/>
                  </a:ln>
                </p:spPr>
              </p:sp>
              <p:sp>
                <p:nvSpPr>
                  <p:cNvPr id="1139" name="path · 119"/>
                  <p:cNvSpPr/>
                  <p:nvPr/>
                </p:nvSpPr>
                <p:spPr>
                  <a:xfrm>
                    <a:off x="8451427" y="3511550"/>
                    <a:ext cx="521547" cy="260773"/>
                  </a:xfrm>
                  <a:custGeom>
                    <a:avLst/>
                    <a:gdLst/>
                    <a:ahLst/>
                    <a:cxnLst/>
                    <a:rect l="0" t="0" r="r" b="b"/>
                    <a:pathLst>
                      <a:path w="521547" h="260773" fill="none" stroke="1" extrusionOk="0">
                        <a:moveTo>
                          <a:pt x="100753" y="11853"/>
                        </a:moveTo>
                        <a:lnTo>
                          <a:pt x="0" y="124460"/>
                        </a:lnTo>
                        <a:lnTo>
                          <a:pt x="88900" y="242993"/>
                        </a:lnTo>
                        <a:moveTo>
                          <a:pt x="391160" y="0"/>
                        </a:moveTo>
                        <a:lnTo>
                          <a:pt x="521546" y="130387"/>
                        </a:lnTo>
                        <a:lnTo>
                          <a:pt x="474133" y="260773"/>
                        </a:lnTo>
                      </a:path>
                    </a:pathLst>
                  </a:custGeom>
                  <a:noFill/>
                  <a:ln w="53340" cap="rnd" cmpd="sng" algn="ctr">
                    <a:solidFill>
                      <a:srgbClr val="E2EEF3"/>
                    </a:solidFill>
                    <a:prstDash val="solid"/>
                    <a:round/>
                    <a:headEnd type="none" w="med" len="med"/>
                    <a:tailEnd type="none" w="med" len="med"/>
                  </a:ln>
                </p:spPr>
              </p:sp>
              <p:sp>
                <p:nvSpPr>
                  <p:cNvPr id="1140" name="circle · 120"/>
                  <p:cNvSpPr/>
                  <p:nvPr/>
                </p:nvSpPr>
                <p:spPr>
                  <a:xfrm>
                    <a:off x="8552180" y="3215217"/>
                    <a:ext cx="272627" cy="272627"/>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1" name="path · 121"/>
                  <p:cNvSpPr/>
                  <p:nvPr/>
                </p:nvSpPr>
                <p:spPr>
                  <a:xfrm>
                    <a:off x="8528473" y="3179657"/>
                    <a:ext cx="320040" cy="165947"/>
                  </a:xfrm>
                  <a:custGeom>
                    <a:avLst/>
                    <a:gdLst/>
                    <a:ahLst/>
                    <a:cxnLst/>
                    <a:rect l="0" t="0" r="r" b="b"/>
                    <a:pathLst>
                      <a:path w="320040" h="165947" fill="norm" stroke="1" extrusionOk="0">
                        <a:moveTo>
                          <a:pt x="29634" y="154093"/>
                        </a:moveTo>
                        <a:quadBezTo>
                          <a:pt x="0" y="11853"/>
                          <a:pt x="154094" y="5926"/>
                        </a:quadBezTo>
                        <a:quadBezTo>
                          <a:pt x="320040" y="0"/>
                          <a:pt x="308187" y="165946"/>
                        </a:quadBezTo>
                        <a:lnTo>
                          <a:pt x="248920" y="130386"/>
                        </a:lnTo>
                        <a:lnTo>
                          <a:pt x="231140" y="59266"/>
                        </a:lnTo>
                        <a:quadBezTo>
                          <a:pt x="154094" y="124460"/>
                          <a:pt x="29634" y="118533"/>
                        </a:quadBezTo>
                        <a:close/>
                      </a:path>
                    </a:pathLst>
                  </a:custGeom>
                  <a:solidFill>
                    <a:srgbClr val="243E42"/>
                  </a:solidFill>
                  <a:ln w="13039" cap="rnd" cmpd="sng" algn="ctr">
                    <a:solidFill>
                      <a:srgbClr val="243E42"/>
                    </a:solidFill>
                    <a:prstDash val="solid"/>
                    <a:round/>
                    <a:headEnd type="none" w="med" len="med"/>
                    <a:tailEnd type="none" w="med" len="med"/>
                  </a:ln>
                </p:spPr>
              </p:sp>
              <p:sp>
                <p:nvSpPr>
                  <p:cNvPr id="1142" name="path · 122"/>
                  <p:cNvSpPr/>
                  <p:nvPr/>
                </p:nvSpPr>
                <p:spPr>
                  <a:xfrm>
                    <a:off x="8670713" y="3333750"/>
                    <a:ext cx="88900" cy="41487"/>
                  </a:xfrm>
                  <a:custGeom>
                    <a:avLst/>
                    <a:gdLst/>
                    <a:ahLst/>
                    <a:cxnLst/>
                    <a:rect l="0" t="0" r="r" b="b"/>
                    <a:pathLst>
                      <a:path w="88900" h="41487" fill="none" stroke="1" extrusionOk="0">
                        <a:moveTo>
                          <a:pt x="0" y="0"/>
                        </a:moveTo>
                        <a:lnTo>
                          <a:pt x="0" y="41487"/>
                        </a:lnTo>
                        <a:moveTo>
                          <a:pt x="88900" y="0"/>
                        </a:moveTo>
                        <a:lnTo>
                          <a:pt x="88900" y="41487"/>
                        </a:lnTo>
                      </a:path>
                    </a:pathLst>
                  </a:custGeom>
                  <a:noFill/>
                  <a:ln w="15409" cap="rnd" cmpd="sng" algn="ctr">
                    <a:solidFill>
                      <a:srgbClr val="243E42"/>
                    </a:solidFill>
                    <a:prstDash val="solid"/>
                    <a:round/>
                    <a:headEnd type="none" w="med" len="med"/>
                    <a:tailEnd type="none" w="med" len="med"/>
                  </a:ln>
                </p:spPr>
              </p:sp>
              <p:sp>
                <p:nvSpPr>
                  <p:cNvPr id="1143" name="path · 123"/>
                  <p:cNvSpPr/>
                  <p:nvPr/>
                </p:nvSpPr>
                <p:spPr>
                  <a:xfrm>
                    <a:off x="8676640" y="3410797"/>
                    <a:ext cx="65193" cy="29633"/>
                  </a:xfrm>
                  <a:custGeom>
                    <a:avLst/>
                    <a:gdLst/>
                    <a:ahLst/>
                    <a:cxnLst/>
                    <a:rect l="0" t="0" r="r" b="b"/>
                    <a:pathLst>
                      <a:path w="65193" h="29633" fill="none" stroke="1" extrusionOk="0">
                        <a:moveTo>
                          <a:pt x="0" y="5926"/>
                        </a:moveTo>
                        <a:quadBezTo>
                          <a:pt x="35560" y="29633"/>
                          <a:pt x="65193" y="0"/>
                        </a:quadBezTo>
                      </a:path>
                    </a:pathLst>
                  </a:custGeom>
                  <a:noFill/>
                  <a:ln w="13039" cap="rnd" cmpd="sng" algn="ctr">
                    <a:solidFill>
                      <a:srgbClr val="243E42"/>
                    </a:solidFill>
                    <a:prstDash val="solid"/>
                    <a:round/>
                    <a:headEnd type="none" w="med" len="med"/>
                    <a:tailEnd type="none" w="med" len="med"/>
                  </a:ln>
                </p:spPr>
              </p:sp>
              <p:sp>
                <p:nvSpPr>
                  <p:cNvPr id="1144" name="path · 124"/>
                  <p:cNvSpPr/>
                  <p:nvPr/>
                </p:nvSpPr>
                <p:spPr>
                  <a:xfrm>
                    <a:off x="8504767" y="3594523"/>
                    <a:ext cx="521547" cy="231140"/>
                  </a:xfrm>
                  <a:custGeom>
                    <a:avLst/>
                    <a:gdLst/>
                    <a:ahLst/>
                    <a:cxnLst/>
                    <a:rect l="0" t="0" r="r" b="b"/>
                    <a:pathLst>
                      <a:path w="521547" h="231140" fill="norm" stroke="1" extrusionOk="0">
                        <a:moveTo>
                          <a:pt x="0" y="106680"/>
                        </a:moveTo>
                        <a:lnTo>
                          <a:pt x="320040" y="0"/>
                        </a:lnTo>
                        <a:lnTo>
                          <a:pt x="521546" y="112607"/>
                        </a:lnTo>
                        <a:lnTo>
                          <a:pt x="201506" y="231140"/>
                        </a:lnTo>
                        <a:close/>
                      </a:path>
                    </a:pathLst>
                  </a:custGeom>
                  <a:solidFill>
                    <a:srgbClr val="F6EAC8"/>
                  </a:solidFill>
                  <a:ln w="13039" cap="rnd" cmpd="sng" algn="ctr">
                    <a:solidFill>
                      <a:srgbClr val="243E42"/>
                    </a:solidFill>
                    <a:prstDash val="solid"/>
                    <a:round/>
                    <a:headEnd type="none" w="med" len="med"/>
                    <a:tailEnd type="none" w="med" len="med"/>
                  </a:ln>
                </p:spPr>
              </p:sp>
              <p:sp>
                <p:nvSpPr>
                  <p:cNvPr id="1145" name="path · 125"/>
                  <p:cNvSpPr/>
                  <p:nvPr/>
                </p:nvSpPr>
                <p:spPr>
                  <a:xfrm>
                    <a:off x="8504767" y="3701203"/>
                    <a:ext cx="521547" cy="325967"/>
                  </a:xfrm>
                  <a:custGeom>
                    <a:avLst/>
                    <a:gdLst/>
                    <a:ahLst/>
                    <a:cxnLst/>
                    <a:rect l="0" t="0" r="r" b="b"/>
                    <a:pathLst>
                      <a:path w="521547" h="325967" fill="norm" stroke="1" extrusionOk="0">
                        <a:moveTo>
                          <a:pt x="0" y="0"/>
                        </a:moveTo>
                        <a:lnTo>
                          <a:pt x="201506" y="124460"/>
                        </a:lnTo>
                        <a:lnTo>
                          <a:pt x="201506" y="325967"/>
                        </a:lnTo>
                        <a:lnTo>
                          <a:pt x="0" y="207434"/>
                        </a:lnTo>
                        <a:close/>
                        <a:moveTo>
                          <a:pt x="201506" y="124460"/>
                        </a:moveTo>
                        <a:lnTo>
                          <a:pt x="521546" y="5927"/>
                        </a:lnTo>
                        <a:lnTo>
                          <a:pt x="521546" y="213360"/>
                        </a:lnTo>
                        <a:lnTo>
                          <a:pt x="201506" y="325967"/>
                        </a:lnTo>
                        <a:close/>
                      </a:path>
                    </a:pathLst>
                  </a:custGeom>
                  <a:solidFill>
                    <a:srgbClr val="F6EAC8"/>
                  </a:solidFill>
                  <a:ln w="13039" cap="rnd" cmpd="sng" algn="ctr">
                    <a:solidFill>
                      <a:srgbClr val="243E42"/>
                    </a:solidFill>
                    <a:prstDash val="solid"/>
                    <a:round/>
                    <a:headEnd type="none" w="med" len="med"/>
                    <a:tailEnd type="none" w="med" len="med"/>
                  </a:ln>
                </p:spPr>
              </p:sp>
              <p:sp>
                <p:nvSpPr>
                  <p:cNvPr id="1146" name="path · 126"/>
                  <p:cNvSpPr/>
                  <p:nvPr/>
                </p:nvSpPr>
                <p:spPr>
                  <a:xfrm>
                    <a:off x="8593667" y="3653790"/>
                    <a:ext cx="272627" cy="237067"/>
                  </a:xfrm>
                  <a:custGeom>
                    <a:avLst/>
                    <a:gdLst/>
                    <a:ahLst/>
                    <a:cxnLst/>
                    <a:rect l="0" t="0" r="r" b="b"/>
                    <a:pathLst>
                      <a:path w="272627" h="237067" fill="norm" stroke="1" extrusionOk="0">
                        <a:moveTo>
                          <a:pt x="59266" y="0"/>
                        </a:moveTo>
                        <a:lnTo>
                          <a:pt x="272626" y="118533"/>
                        </a:lnTo>
                        <a:lnTo>
                          <a:pt x="272626" y="213360"/>
                        </a:lnTo>
                        <a:lnTo>
                          <a:pt x="213360" y="237067"/>
                        </a:lnTo>
                        <a:lnTo>
                          <a:pt x="213360" y="142240"/>
                        </a:lnTo>
                        <a:lnTo>
                          <a:pt x="0" y="23707"/>
                        </a:lnTo>
                      </a:path>
                    </a:pathLst>
                  </a:custGeom>
                  <a:solidFill>
                    <a:srgbClr val="FFFFFF"/>
                  </a:solidFill>
                  <a:ln w="13039" cap="rnd" cmpd="sng" algn="ctr">
                    <a:solidFill>
                      <a:srgbClr val="243E42"/>
                    </a:solidFill>
                    <a:prstDash val="solid"/>
                    <a:round/>
                    <a:headEnd type="none" w="med" len="med"/>
                    <a:tailEnd type="none" w="med" len="med"/>
                  </a:ln>
                </p:spPr>
              </p:sp>
              <p:sp>
                <p:nvSpPr>
                  <p:cNvPr id="1147" name="circle · 127"/>
                  <p:cNvSpPr/>
                  <p:nvPr/>
                </p:nvSpPr>
                <p:spPr>
                  <a:xfrm>
                    <a:off x="8492913" y="3701203"/>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8" name="circle · 128"/>
                  <p:cNvSpPr/>
                  <p:nvPr/>
                </p:nvSpPr>
                <p:spPr>
                  <a:xfrm>
                    <a:off x="8913707" y="3724910"/>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grpSp>
            <p:grpSp>
              <p:nvGrpSpPr>
                <p:cNvPr id="1149" name="customer-confirmation · 132"/>
                <p:cNvGrpSpPr/>
                <p:nvPr/>
              </p:nvGrpSpPr>
              <p:grpSpPr>
                <a:xfrm>
                  <a:off x="8832850" y="3263900"/>
                  <a:ext cx="355600" cy="355600"/>
                  <a:chOff x="8832850" y="3263900"/>
                  <a:chExt cx="355600" cy="355600"/>
                </a:xfrm>
              </p:grpSpPr>
              <p:sp>
                <p:nvSpPr>
                  <p:cNvPr id="1150" name="circle · 130"/>
                  <p:cNvSpPr/>
                  <p:nvPr/>
                </p:nvSpPr>
                <p:spPr>
                  <a:xfrm>
                    <a:off x="8832850" y="3263900"/>
                    <a:ext cx="355600" cy="3556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1" name="path · 131"/>
                  <p:cNvSpPr/>
                  <p:nvPr/>
                </p:nvSpPr>
                <p:spPr>
                  <a:xfrm>
                    <a:off x="8928100" y="3378200"/>
                    <a:ext cx="165100" cy="120650"/>
                  </a:xfrm>
                  <a:custGeom>
                    <a:avLst/>
                    <a:gdLst/>
                    <a:ahLst/>
                    <a:cxnLst/>
                    <a:rect l="0" t="0" r="r" b="b"/>
                    <a:pathLst>
                      <a:path w="165100" h="120650" fill="none" stroke="1" extrusionOk="0">
                        <a:moveTo>
                          <a:pt x="0" y="63500"/>
                        </a:moveTo>
                        <a:lnTo>
                          <a:pt x="57150" y="120650"/>
                        </a:lnTo>
                        <a:lnTo>
                          <a:pt x="165100" y="0"/>
                        </a:lnTo>
                      </a:path>
                    </a:pathLst>
                  </a:custGeom>
                  <a:noFill/>
                  <a:ln w="25400" cap="rnd" cmpd="sng" algn="ctr">
                    <a:solidFill>
                      <a:srgbClr val="2E6653"/>
                    </a:solidFill>
                    <a:prstDash val="solid"/>
                    <a:round/>
                    <a:headEnd type="none" w="med" len="med"/>
                    <a:tailEnd type="none" w="med" len="med"/>
                  </a:ln>
                </p:spPr>
              </p:sp>
            </p:grpSp>
            <p:sp>
              <p:nvSpPr>
                <p:cNvPr id="1152" name="text · 133"/>
                <p:cNvSpPr txBox="1"/>
                <p:nvPr/>
              </p:nvSpPr>
              <p:spPr>
                <a:xfrm>
                  <a:off x="8262937" y="4324350"/>
                  <a:ext cx="835025" cy="25679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50"/>
                    </a:lnSpc>
                    <a:spcBef>
                      <a:spcPts val="0"/>
                    </a:spcBef>
                    <a:spcAft>
                      <a:spcPts val="0"/>
                    </a:spcAft>
                  </a:pPr>
                  <a:r>
                    <a:rPr lang="en-US" sz="1700" b="1" i="0" kern="0" spc="0" dirty="0">
                      <a:solidFill>
                        <a:srgbClr val="243E42"/>
                      </a:solidFill>
                      <a:latin typeface="Manrope"/>
                      <a:ea typeface="Manrope"/>
                      <a:cs typeface="Manrope"/>
                    </a:rPr>
                    <a:t>Confirm</a:t>
                  </a:r>
                  <a:endParaRPr lang="en-US" sz="1700"/>
                </a:p>
              </p:txBody>
            </p:sp>
            <p:grpSp>
              <p:nvGrpSpPr>
                <p:cNvPr id="1153" name="parcel · 143"/>
                <p:cNvGrpSpPr/>
                <p:nvPr/>
              </p:nvGrpSpPr>
              <p:grpSpPr>
                <a:xfrm>
                  <a:off x="10122288" y="3290923"/>
                  <a:ext cx="1187909" cy="1030570"/>
                  <a:chOff x="10122288" y="3290923"/>
                  <a:chExt cx="1187909" cy="1030570"/>
                </a:xfrm>
              </p:grpSpPr>
              <p:sp>
                <p:nvSpPr>
                  <p:cNvPr id="1154" name="path · 134"/>
                  <p:cNvSpPr/>
                  <p:nvPr/>
                </p:nvSpPr>
                <p:spPr>
                  <a:xfrm>
                    <a:off x="10169490" y="3511197"/>
                    <a:ext cx="1054171" cy="424815"/>
                  </a:xfrm>
                  <a:custGeom>
                    <a:avLst/>
                    <a:gdLst/>
                    <a:ahLst/>
                    <a:cxnLst/>
                    <a:rect l="0" t="0" r="r" b="b"/>
                    <a:pathLst>
                      <a:path w="1054171" h="424815" fill="norm" stroke="1" extrusionOk="0">
                        <a:moveTo>
                          <a:pt x="0" y="188807"/>
                        </a:moveTo>
                        <a:lnTo>
                          <a:pt x="590021" y="0"/>
                        </a:lnTo>
                        <a:lnTo>
                          <a:pt x="1054170" y="220275"/>
                        </a:lnTo>
                        <a:lnTo>
                          <a:pt x="464149" y="424815"/>
                        </a:lnTo>
                        <a:close/>
                      </a:path>
                    </a:pathLst>
                  </a:custGeom>
                  <a:solidFill>
                    <a:srgbClr val="F6EAC8"/>
                  </a:solidFill>
                  <a:ln w="17307" cap="rnd" cmpd="sng" algn="ctr">
                    <a:solidFill>
                      <a:srgbClr val="243E42"/>
                    </a:solidFill>
                    <a:prstDash val="solid"/>
                    <a:round/>
                    <a:headEnd type="none" w="med" len="med"/>
                    <a:tailEnd type="none" w="med" len="med"/>
                  </a:ln>
                </p:spPr>
              </p:sp>
              <p:sp>
                <p:nvSpPr>
                  <p:cNvPr id="1155" name="path · 135"/>
                  <p:cNvSpPr/>
                  <p:nvPr/>
                </p:nvSpPr>
                <p:spPr>
                  <a:xfrm>
                    <a:off x="10169490" y="3700004"/>
                    <a:ext cx="1054171" cy="613622"/>
                  </a:xfrm>
                  <a:custGeom>
                    <a:avLst/>
                    <a:gdLst/>
                    <a:ahLst/>
                    <a:cxnLst/>
                    <a:rect l="0" t="0" r="r" b="b"/>
                    <a:pathLst>
                      <a:path w="1054171" h="613622" fill="norm" stroke="1" extrusionOk="0">
                        <a:moveTo>
                          <a:pt x="0" y="0"/>
                        </a:moveTo>
                        <a:lnTo>
                          <a:pt x="464149" y="236008"/>
                        </a:lnTo>
                        <a:lnTo>
                          <a:pt x="464149" y="613622"/>
                        </a:lnTo>
                        <a:lnTo>
                          <a:pt x="0" y="369746"/>
                        </a:lnTo>
                        <a:close/>
                        <a:moveTo>
                          <a:pt x="464149" y="236008"/>
                        </a:moveTo>
                        <a:lnTo>
                          <a:pt x="1054170" y="31468"/>
                        </a:lnTo>
                        <a:lnTo>
                          <a:pt x="1054170" y="416948"/>
                        </a:lnTo>
                        <a:lnTo>
                          <a:pt x="464149" y="613622"/>
                        </a:lnTo>
                        <a:close/>
                      </a:path>
                    </a:pathLst>
                  </a:custGeom>
                  <a:solidFill>
                    <a:srgbClr val="F6EAC8"/>
                  </a:solidFill>
                  <a:ln w="17307" cap="rnd" cmpd="sng" algn="ctr">
                    <a:solidFill>
                      <a:srgbClr val="243E42"/>
                    </a:solidFill>
                    <a:prstDash val="solid"/>
                    <a:round/>
                    <a:headEnd type="none" w="med" len="med"/>
                    <a:tailEnd type="none" w="med" len="med"/>
                  </a:ln>
                </p:spPr>
              </p:sp>
              <p:sp>
                <p:nvSpPr>
                  <p:cNvPr id="1156" name="path · 136"/>
                  <p:cNvSpPr/>
                  <p:nvPr/>
                </p:nvSpPr>
                <p:spPr>
                  <a:xfrm>
                    <a:off x="10326829" y="3613467"/>
                    <a:ext cx="605755" cy="472017"/>
                  </a:xfrm>
                  <a:custGeom>
                    <a:avLst/>
                    <a:gdLst/>
                    <a:ahLst/>
                    <a:cxnLst/>
                    <a:rect l="0" t="0" r="r" b="b"/>
                    <a:pathLst>
                      <a:path w="605755" h="472017" fill="norm" stroke="1" extrusionOk="0">
                        <a:moveTo>
                          <a:pt x="118004" y="0"/>
                        </a:moveTo>
                        <a:lnTo>
                          <a:pt x="605754" y="220275"/>
                        </a:lnTo>
                        <a:lnTo>
                          <a:pt x="605754" y="432682"/>
                        </a:lnTo>
                        <a:lnTo>
                          <a:pt x="487750" y="472017"/>
                        </a:lnTo>
                        <a:lnTo>
                          <a:pt x="487750" y="267477"/>
                        </a:lnTo>
                        <a:lnTo>
                          <a:pt x="0" y="47202"/>
                        </a:lnTo>
                      </a:path>
                    </a:pathLst>
                  </a:custGeom>
                  <a:solidFill>
                    <a:srgbClr val="FFFFFF"/>
                  </a:solidFill>
                  <a:ln w="17307" cap="rnd" cmpd="sng" algn="ctr">
                    <a:solidFill>
                      <a:srgbClr val="243E42"/>
                    </a:solidFill>
                    <a:prstDash val="solid"/>
                    <a:round/>
                    <a:headEnd type="none" w="med" len="med"/>
                    <a:tailEnd type="none" w="med" len="med"/>
                  </a:ln>
                </p:spPr>
              </p:sp>
              <p:sp>
                <p:nvSpPr>
                  <p:cNvPr id="1157" name="path · 137"/>
                  <p:cNvSpPr/>
                  <p:nvPr/>
                </p:nvSpPr>
                <p:spPr>
                  <a:xfrm>
                    <a:off x="10122288" y="3290923"/>
                    <a:ext cx="597888" cy="165206"/>
                  </a:xfrm>
                  <a:custGeom>
                    <a:avLst/>
                    <a:gdLst/>
                    <a:ahLst/>
                    <a:cxnLst/>
                    <a:rect l="0" t="0" r="r" b="b"/>
                    <a:pathLst>
                      <a:path w="597888" h="165206" fill="none" stroke="1" extrusionOk="0">
                        <a:moveTo>
                          <a:pt x="283210" y="165206"/>
                        </a:moveTo>
                        <a:lnTo>
                          <a:pt x="78670" y="165206"/>
                        </a:lnTo>
                        <a:quadBezTo>
                          <a:pt x="0" y="165206"/>
                          <a:pt x="0" y="86536"/>
                        </a:quadBezTo>
                        <a:quadBezTo>
                          <a:pt x="0" y="0"/>
                          <a:pt x="78670" y="0"/>
                        </a:quadBezTo>
                        <a:lnTo>
                          <a:pt x="597888" y="0"/>
                        </a:lnTo>
                      </a:path>
                    </a:pathLst>
                  </a:custGeom>
                  <a:noFill/>
                  <a:ln w="62936" cap="rnd" cmpd="sng" algn="ctr">
                    <a:solidFill>
                      <a:srgbClr val="2E6653"/>
                    </a:solidFill>
                    <a:prstDash val="solid"/>
                    <a:round/>
                    <a:headEnd type="none" w="med" len="med"/>
                    <a:tailEnd type="none" w="med" len="med"/>
                  </a:ln>
                </p:spPr>
              </p:sp>
              <p:sp>
                <p:nvSpPr>
                  <p:cNvPr id="1158" name="path · 138"/>
                  <p:cNvSpPr/>
                  <p:nvPr/>
                </p:nvSpPr>
                <p:spPr>
                  <a:xfrm>
                    <a:off x="10334696" y="3377459"/>
                    <a:ext cx="102270" cy="157339"/>
                  </a:xfrm>
                  <a:custGeom>
                    <a:avLst/>
                    <a:gdLst/>
                    <a:ahLst/>
                    <a:cxnLst/>
                    <a:rect l="0" t="0" r="r" b="b"/>
                    <a:pathLst>
                      <a:path w="102270" h="157339" fill="none" stroke="1" extrusionOk="0">
                        <a:moveTo>
                          <a:pt x="0" y="0"/>
                        </a:moveTo>
                        <a:lnTo>
                          <a:pt x="102270" y="78670"/>
                        </a:lnTo>
                        <a:lnTo>
                          <a:pt x="0" y="157339"/>
                        </a:lnTo>
                      </a:path>
                    </a:pathLst>
                  </a:custGeom>
                  <a:noFill/>
                  <a:ln w="55069" cap="rnd" cmpd="sng" algn="ctr">
                    <a:solidFill>
                      <a:srgbClr val="2E6653"/>
                    </a:solidFill>
                    <a:prstDash val="solid"/>
                    <a:round/>
                    <a:headEnd type="none" w="med" len="med"/>
                    <a:tailEnd type="none" w="med" len="med"/>
                  </a:ln>
                </p:spPr>
              </p:sp>
              <p:sp>
                <p:nvSpPr>
                  <p:cNvPr id="1159" name="path · 139"/>
                  <p:cNvSpPr/>
                  <p:nvPr/>
                </p:nvSpPr>
                <p:spPr>
                  <a:xfrm>
                    <a:off x="10893249" y="3904544"/>
                    <a:ext cx="385480" cy="416948"/>
                  </a:xfrm>
                  <a:custGeom>
                    <a:avLst/>
                    <a:gdLst/>
                    <a:ahLst/>
                    <a:cxnLst/>
                    <a:rect l="0" t="0" r="r" b="b"/>
                    <a:pathLst>
                      <a:path w="385480" h="416948" fill="norm" stroke="1" extrusionOk="0">
                        <a:moveTo>
                          <a:pt x="0" y="0"/>
                        </a:moveTo>
                        <a:lnTo>
                          <a:pt x="385480" y="0"/>
                        </a:lnTo>
                        <a:lnTo>
                          <a:pt x="385480" y="416948"/>
                        </a:lnTo>
                        <a:lnTo>
                          <a:pt x="0" y="416948"/>
                        </a:lnTo>
                        <a:close/>
                      </a:path>
                    </a:pathLst>
                  </a:custGeom>
                  <a:solidFill>
                    <a:srgbClr val="FFFFFF"/>
                  </a:solidFill>
                  <a:ln w="17307" cap="rnd" cmpd="sng" algn="ctr">
                    <a:solidFill>
                      <a:srgbClr val="243E42"/>
                    </a:solidFill>
                    <a:prstDash val="solid"/>
                    <a:round/>
                    <a:headEnd type="none" w="med" len="med"/>
                    <a:tailEnd type="none" w="med" len="med"/>
                  </a:ln>
                </p:spPr>
              </p:sp>
              <p:sp>
                <p:nvSpPr>
                  <p:cNvPr id="1160" name="path · 140"/>
                  <p:cNvSpPr/>
                  <p:nvPr/>
                </p:nvSpPr>
                <p:spPr>
                  <a:xfrm>
                    <a:off x="10956184" y="3991081"/>
                    <a:ext cx="243875" cy="251742"/>
                  </a:xfrm>
                  <a:custGeom>
                    <a:avLst/>
                    <a:gdLst/>
                    <a:ahLst/>
                    <a:cxnLst/>
                    <a:rect l="0" t="0" r="r" b="b"/>
                    <a:pathLst>
                      <a:path w="243875" h="251742" fill="none" stroke="1" extrusionOk="0">
                        <a:moveTo>
                          <a:pt x="0" y="0"/>
                        </a:moveTo>
                        <a:lnTo>
                          <a:pt x="243875" y="0"/>
                        </a:lnTo>
                        <a:moveTo>
                          <a:pt x="0" y="62935"/>
                        </a:moveTo>
                        <a:lnTo>
                          <a:pt x="133738" y="62935"/>
                        </a:lnTo>
                        <a:moveTo>
                          <a:pt x="7867" y="165206"/>
                        </a:moveTo>
                        <a:lnTo>
                          <a:pt x="7867" y="251742"/>
                        </a:lnTo>
                        <a:moveTo>
                          <a:pt x="47202" y="165206"/>
                        </a:moveTo>
                        <a:lnTo>
                          <a:pt x="47202" y="251742"/>
                        </a:lnTo>
                        <a:moveTo>
                          <a:pt x="94404" y="165206"/>
                        </a:moveTo>
                        <a:lnTo>
                          <a:pt x="94404" y="251742"/>
                        </a:lnTo>
                        <a:moveTo>
                          <a:pt x="157339" y="165206"/>
                        </a:moveTo>
                        <a:lnTo>
                          <a:pt x="157339" y="251742"/>
                        </a:lnTo>
                        <a:moveTo>
                          <a:pt x="196674" y="165206"/>
                        </a:moveTo>
                        <a:lnTo>
                          <a:pt x="196674" y="251742"/>
                        </a:lnTo>
                        <a:moveTo>
                          <a:pt x="236008" y="165206"/>
                        </a:moveTo>
                        <a:lnTo>
                          <a:pt x="236008" y="251742"/>
                        </a:lnTo>
                      </a:path>
                    </a:pathLst>
                  </a:custGeom>
                  <a:noFill/>
                  <a:ln w="17307" cap="rnd" cmpd="sng" algn="ctr">
                    <a:solidFill>
                      <a:srgbClr val="243E42"/>
                    </a:solidFill>
                    <a:prstDash val="solid"/>
                    <a:round/>
                    <a:headEnd type="none" w="med" len="med"/>
                    <a:tailEnd type="none" w="med" len="med"/>
                  </a:ln>
                </p:spPr>
              </p:sp>
              <p:sp>
                <p:nvSpPr>
                  <p:cNvPr id="1161" name="circle · 141"/>
                  <p:cNvSpPr/>
                  <p:nvPr/>
                </p:nvSpPr>
                <p:spPr>
                  <a:xfrm>
                    <a:off x="10964051" y="3487596"/>
                    <a:ext cx="346146" cy="346146"/>
                  </a:xfrm>
                  <a:prstGeom prst="ellipse">
                    <a:avLst/>
                  </a:prstGeom>
                  <a:solidFill>
                    <a:srgbClr val="D7EBE1"/>
                  </a:solidFill>
                  <a:ln w="17307" cap="rnd" cmpd="sng" algn="ctr">
                    <a:solidFill>
                      <a:srgbClr val="243E42"/>
                    </a:solidFill>
                    <a:prstDash val="solid"/>
                    <a:round/>
                    <a:headEnd type="none" w="med" len="med"/>
                    <a:tailEnd type="none" w="med" len="med"/>
                  </a:ln>
                </p:spPr>
              </p:sp>
              <p:sp>
                <p:nvSpPr>
                  <p:cNvPr id="1162" name="path · 142"/>
                  <p:cNvSpPr/>
                  <p:nvPr/>
                </p:nvSpPr>
                <p:spPr>
                  <a:xfrm>
                    <a:off x="11042721" y="3574133"/>
                    <a:ext cx="180940" cy="149472"/>
                  </a:xfrm>
                  <a:custGeom>
                    <a:avLst/>
                    <a:gdLst/>
                    <a:ahLst/>
                    <a:cxnLst/>
                    <a:rect l="0" t="0" r="r" b="b"/>
                    <a:pathLst>
                      <a:path w="180940" h="149472" fill="none" stroke="1" extrusionOk="0">
                        <a:moveTo>
                          <a:pt x="0" y="86536"/>
                        </a:moveTo>
                        <a:lnTo>
                          <a:pt x="62935" y="149472"/>
                        </a:lnTo>
                        <a:lnTo>
                          <a:pt x="180939" y="0"/>
                        </a:lnTo>
                      </a:path>
                    </a:pathLst>
                  </a:custGeom>
                  <a:noFill/>
                  <a:ln w="31468" cap="rnd" cmpd="sng" algn="ctr">
                    <a:solidFill>
                      <a:srgbClr val="2E6653"/>
                    </a:solidFill>
                    <a:prstDash val="solid"/>
                    <a:round/>
                    <a:headEnd type="none" w="med" len="med"/>
                    <a:tailEnd type="none" w="med" len="med"/>
                  </a:ln>
                </p:spPr>
              </p:sp>
            </p:grpSp>
            <p:grpSp>
              <p:nvGrpSpPr>
                <p:cNvPr id="1163" name="service-approval · 146"/>
                <p:cNvGrpSpPr/>
                <p:nvPr/>
              </p:nvGrpSpPr>
              <p:grpSpPr>
                <a:xfrm>
                  <a:off x="9645650" y="3486150"/>
                  <a:ext cx="330200" cy="482600"/>
                  <a:chOff x="9645650" y="3486150"/>
                  <a:chExt cx="330200" cy="482600"/>
                </a:xfrm>
              </p:grpSpPr>
              <p:sp>
                <p:nvSpPr>
                  <p:cNvPr id="1164" name="path · 144"/>
                  <p:cNvSpPr/>
                  <p:nvPr/>
                </p:nvSpPr>
                <p:spPr>
                  <a:xfrm>
                    <a:off x="9645650" y="3486150"/>
                    <a:ext cx="330200" cy="482600"/>
                  </a:xfrm>
                  <a:custGeom>
                    <a:avLst/>
                    <a:gdLst/>
                    <a:ahLst/>
                    <a:cxnLst/>
                    <a:rect l="0" t="0" r="r" b="b"/>
                    <a:pathLst>
                      <a:path w="330200" h="482600" fill="norm" stroke="1" extrusionOk="0">
                        <a:moveTo>
                          <a:pt x="165100" y="0"/>
                        </a:moveTo>
                        <a:lnTo>
                          <a:pt x="330200" y="57150"/>
                        </a:lnTo>
                        <a:lnTo>
                          <a:pt x="330200" y="215900"/>
                        </a:lnTo>
                        <a:cubicBezTo>
                          <a:pt x="330200" y="336550"/>
                          <a:pt x="260350" y="419100"/>
                          <a:pt x="165100" y="482600"/>
                        </a:cubicBezTo>
                        <a:cubicBezTo>
                          <a:pt x="69850" y="419100"/>
                          <a:pt x="0" y="336550"/>
                          <a:pt x="0" y="215900"/>
                        </a:cubicBezTo>
                        <a:lnTo>
                          <a:pt x="0" y="57150"/>
                        </a:lnTo>
                        <a:close/>
                      </a:path>
                    </a:pathLst>
                  </a:custGeom>
                  <a:solidFill>
                    <a:srgbClr val="E2EEF3"/>
                  </a:solidFill>
                  <a:ln w="15875" cap="flat" cmpd="sng" algn="ctr">
                    <a:solidFill>
                      <a:srgbClr val="355F72"/>
                    </a:solidFill>
                    <a:prstDash val="solid"/>
                    <a:miter lim="400000"/>
                    <a:headEnd type="none" w="med" len="med"/>
                    <a:tailEnd type="none" w="med" len="med"/>
                  </a:ln>
                </p:spPr>
              </p:sp>
              <p:sp>
                <p:nvSpPr>
                  <p:cNvPr id="1165" name="path · 145"/>
                  <p:cNvSpPr/>
                  <p:nvPr/>
                </p:nvSpPr>
                <p:spPr>
                  <a:xfrm>
                    <a:off x="9728200" y="3638550"/>
                    <a:ext cx="171450" cy="127000"/>
                  </a:xfrm>
                  <a:custGeom>
                    <a:avLst/>
                    <a:gdLst/>
                    <a:ahLst/>
                    <a:cxnLst/>
                    <a:rect l="0" t="0" r="r" b="b"/>
                    <a:pathLst>
                      <a:path w="171450" h="127000" fill="none" stroke="1" extrusionOk="0">
                        <a:moveTo>
                          <a:pt x="0" y="63500"/>
                        </a:moveTo>
                        <a:lnTo>
                          <a:pt x="63500" y="127000"/>
                        </a:lnTo>
                        <a:lnTo>
                          <a:pt x="171450" y="0"/>
                        </a:lnTo>
                      </a:path>
                    </a:pathLst>
                  </a:custGeom>
                  <a:noFill/>
                  <a:ln w="25400" cap="rnd" cmpd="sng" algn="ctr">
                    <a:solidFill>
                      <a:srgbClr val="355F72"/>
                    </a:solidFill>
                    <a:prstDash val="solid"/>
                    <a:round/>
                    <a:headEnd type="none" w="med" len="med"/>
                    <a:tailEnd type="none" w="med" len="med"/>
                  </a:ln>
                </p:spPr>
              </p:sp>
            </p:grpSp>
            <p:sp>
              <p:nvSpPr>
                <p:cNvPr id="1166" name="text · 147"/>
                <p:cNvSpPr txBox="1"/>
                <p:nvPr/>
              </p:nvSpPr>
              <p:spPr>
                <a:xfrm>
                  <a:off x="9675812" y="4343400"/>
                  <a:ext cx="162877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Service approves</a:t>
                  </a:r>
                  <a:endParaRPr lang="en-US" sz="1550"/>
                </a:p>
              </p:txBody>
            </p:sp>
            <p:sp>
              <p:nvSpPr>
                <p:cNvPr id="1167" name="text · 148"/>
                <p:cNvSpPr txBox="1"/>
                <p:nvPr/>
              </p:nvSpPr>
              <p:spPr>
                <a:xfrm>
                  <a:off x="9609137" y="4629150"/>
                  <a:ext cx="17621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Return authorized</a:t>
                  </a:r>
                  <a:endParaRPr lang="en-US" sz="1600"/>
                </a:p>
              </p:txBody>
            </p:sp>
            <p:grpSp>
              <p:nvGrpSpPr>
                <p:cNvPr id="1168" name="standard-day-45-declined · 157"/>
                <p:cNvGrpSpPr/>
                <p:nvPr/>
              </p:nvGrpSpPr>
              <p:grpSpPr>
                <a:xfrm>
                  <a:off x="857250" y="4806950"/>
                  <a:ext cx="2108200" cy="723900"/>
                  <a:chOff x="857250" y="4806950"/>
                  <a:chExt cx="2108200" cy="723900"/>
                </a:xfrm>
              </p:grpSpPr>
              <p:sp>
                <p:nvSpPr>
                  <p:cNvPr id="1169" name="rect · 149"/>
                  <p:cNvSpPr/>
                  <p:nvPr/>
                </p:nvSpPr>
                <p:spPr>
                  <a:xfrm>
                    <a:off x="882650" y="4876800"/>
                    <a:ext cx="596900" cy="654050"/>
                  </a:xfrm>
                  <a:prstGeom prst="roundRect">
                    <a:avLst>
                      <a:gd name="adj" fmla="val 11702"/>
                    </a:avLst>
                  </a:prstGeom>
                  <a:solidFill>
                    <a:srgbClr val="D5DFD9"/>
                  </a:solidFill>
                  <a:ln>
                    <a:noFill/>
                  </a:ln>
                </p:spPr>
              </p:sp>
              <p:sp>
                <p:nvSpPr>
                  <p:cNvPr id="1170" name="rect · 150"/>
                  <p:cNvSpPr/>
                  <p:nvPr/>
                </p:nvSpPr>
                <p:spPr>
                  <a:xfrm>
                    <a:off x="857250" y="4845050"/>
                    <a:ext cx="596900" cy="654050"/>
                  </a:xfrm>
                  <a:prstGeom prst="roundRect">
                    <a:avLst>
                      <a:gd name="adj" fmla="val 11702"/>
                    </a:avLst>
                  </a:prstGeom>
                  <a:solidFill>
                    <a:srgbClr val="FFFFFF"/>
                  </a:solidFill>
                  <a:ln w="12700" cap="flat" cmpd="sng" algn="ctr">
                    <a:solidFill>
                      <a:srgbClr val="81533E"/>
                    </a:solidFill>
                    <a:prstDash val="solid"/>
                    <a:miter lim="400000"/>
                    <a:headEnd type="none" w="med" len="med"/>
                    <a:tailEnd type="none" w="med" len="med"/>
                  </a:ln>
                </p:spPr>
              </p:sp>
              <p:sp>
                <p:nvSpPr>
                  <p:cNvPr id="1171" name="rect · 151"/>
                  <p:cNvSpPr/>
                  <p:nvPr/>
                </p:nvSpPr>
                <p:spPr>
                  <a:xfrm>
                    <a:off x="857250" y="4845050"/>
                    <a:ext cx="596900" cy="158750"/>
                  </a:xfrm>
                  <a:prstGeom prst="roundRect">
                    <a:avLst>
                      <a:gd name="adj" fmla="val 40000"/>
                    </a:avLst>
                  </a:prstGeom>
                  <a:solidFill>
                    <a:srgbClr val="F4DFD3"/>
                  </a:solidFill>
                  <a:ln>
                    <a:noFill/>
                  </a:ln>
                </p:spPr>
              </p:sp>
              <p:sp>
                <p:nvSpPr>
                  <p:cNvPr id="1172" name="path · 152"/>
                  <p:cNvSpPr/>
                  <p:nvPr/>
                </p:nvSpPr>
                <p:spPr>
                  <a:xfrm>
                    <a:off x="984250" y="4806950"/>
                    <a:ext cx="342900" cy="101600"/>
                  </a:xfrm>
                  <a:custGeom>
                    <a:avLst/>
                    <a:gdLst/>
                    <a:ahLst/>
                    <a:cxnLst/>
                    <a:rect l="0" t="0" r="r" b="b"/>
                    <a:pathLst>
                      <a:path w="342900" h="101600" fill="none" stroke="1" extrusionOk="0">
                        <a:moveTo>
                          <a:pt x="0" y="0"/>
                        </a:moveTo>
                        <a:lnTo>
                          <a:pt x="0" y="101600"/>
                        </a:lnTo>
                        <a:moveTo>
                          <a:pt x="342900" y="0"/>
                        </a:moveTo>
                        <a:lnTo>
                          <a:pt x="342900" y="101600"/>
                        </a:lnTo>
                      </a:path>
                    </a:pathLst>
                  </a:custGeom>
                  <a:noFill/>
                  <a:ln w="25400" cap="rnd" cmpd="sng" algn="ctr">
                    <a:solidFill>
                      <a:srgbClr val="81533E"/>
                    </a:solidFill>
                    <a:prstDash val="solid"/>
                    <a:round/>
                    <a:headEnd type="none" w="med" len="med"/>
                    <a:tailEnd type="none" w="med" len="med"/>
                  </a:ln>
                </p:spPr>
              </p:sp>
              <p:sp>
                <p:nvSpPr>
                  <p:cNvPr id="1173" name="text · 153"/>
                  <p:cNvSpPr txBox="1"/>
                  <p:nvPr/>
                </p:nvSpPr>
                <p:spPr>
                  <a:xfrm>
                    <a:off x="976312" y="5092700"/>
                    <a:ext cx="358775" cy="38201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600"/>
                      </a:lnSpc>
                      <a:spcBef>
                        <a:spcPts val="0"/>
                      </a:spcBef>
                      <a:spcAft>
                        <a:spcPts val="0"/>
                      </a:spcAft>
                    </a:pPr>
                    <a:r>
                      <a:rPr lang="en-US" sz="2550" b="1" i="0" kern="0" spc="0" dirty="0">
                        <a:solidFill>
                          <a:srgbClr val="243E42"/>
                        </a:solidFill>
                        <a:latin typeface="Manrope"/>
                        <a:ea typeface="Manrope"/>
                        <a:cs typeface="Manrope"/>
                      </a:rPr>
                      <a:t>45</a:t>
                    </a:r>
                    <a:endParaRPr lang="en-US" sz="2550"/>
                  </a:p>
                </p:txBody>
              </p:sp>
              <p:sp>
                <p:nvSpPr>
                  <p:cNvPr id="1174" name="path · 154"/>
                  <p:cNvSpPr/>
                  <p:nvPr/>
                </p:nvSpPr>
                <p:spPr>
                  <a:xfrm>
                    <a:off x="901700" y="5016500"/>
                    <a:ext cx="514350" cy="457200"/>
                  </a:xfrm>
                  <a:custGeom>
                    <a:avLst/>
                    <a:gdLst/>
                    <a:ahLst/>
                    <a:cxnLst/>
                    <a:rect l="0" t="0" r="r" b="b"/>
                    <a:pathLst>
                      <a:path w="514350" h="457200" fill="none" stroke="1" extrusionOk="0">
                        <a:moveTo>
                          <a:pt x="0" y="457200"/>
                        </a:moveTo>
                        <a:lnTo>
                          <a:pt x="514350" y="0"/>
                        </a:lnTo>
                      </a:path>
                    </a:pathLst>
                  </a:custGeom>
                  <a:noFill/>
                  <a:ln w="25400" cap="rnd" cmpd="sng" algn="ctr">
                    <a:solidFill>
                      <a:srgbClr val="81533E"/>
                    </a:solidFill>
                    <a:prstDash val="solid"/>
                    <a:round/>
                    <a:headEnd type="none" w="med" len="med"/>
                    <a:tailEnd type="none" w="med" len="med"/>
                  </a:ln>
                </p:spPr>
              </p:sp>
              <p:sp>
                <p:nvSpPr>
                  <p:cNvPr id="1175" name="text · 155"/>
                  <p:cNvSpPr txBox="1"/>
                  <p:nvPr/>
                </p:nvSpPr>
                <p:spPr>
                  <a:xfrm>
                    <a:off x="1585912" y="4927600"/>
                    <a:ext cx="8286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Standard</a:t>
                    </a:r>
                    <a:endParaRPr lang="en-US" sz="1500"/>
                  </a:p>
                </p:txBody>
              </p:sp>
              <p:sp>
                <p:nvSpPr>
                  <p:cNvPr id="1176" name="text · 156"/>
                  <p:cNvSpPr txBox="1"/>
                  <p:nvPr/>
                </p:nvSpPr>
                <p:spPr>
                  <a:xfrm>
                    <a:off x="1585912" y="5162550"/>
                    <a:ext cx="1381125" cy="258064"/>
                  </a:xfrm>
                  <a:prstGeom prst="rect">
                    <a:avLst/>
                  </a:prstGeom>
                  <a:noFill/>
                  <a:ln>
                    <a:noFill/>
                  </a:ln>
                </p:spPr>
                <p:txBody>
                  <a:bodyPr wrap="none" lIns="0" tIns="0" rIns="0" bIns="0" anchor="t" anchorCtr="0" vertOverflow="overflow" horzOverflow="overflow">
                    <a:noAutofit/>
                  </a:bodyPr>
                  <a:lstStyle/>
                  <a:p>
                    <a:pPr algn="l" marL="0" marR="0" indent="0" fontAlgn="base">
                      <a:lnSpc>
                        <a:spcPts val="1800"/>
                      </a:lnSpc>
                      <a:spcBef>
                        <a:spcPts val="0"/>
                      </a:spcBef>
                      <a:spcAft>
                        <a:spcPts val="0"/>
                      </a:spcAft>
                    </a:pPr>
                    <a:r>
                      <a:rPr lang="en-US" sz="1450" b="1" i="0" kern="0" spc="0" dirty="0">
                        <a:solidFill>
                          <a:srgbClr val="81533E"/>
                        </a:solidFill>
                        <a:latin typeface="Manrope"/>
                        <a:ea typeface="Manrope"/>
                        <a:cs typeface="Manrope"/>
                      </a:rPr>
                      <a:t>Too late → stop</a:t>
                    </a:r>
                    <a:endParaRPr lang="en-US" sz="1450"/>
                  </a:p>
                </p:txBody>
              </p:sp>
            </p:grpSp>
          </p:grpSp>
          <p:grpSp>
            <p:nvGrpSpPr>
              <p:cNvPr id="1177" name="whole-item-policy-scope · 160"/>
              <p:cNvGrpSpPr/>
              <p:nvPr/>
            </p:nvGrpSpPr>
            <p:grpSpPr>
              <a:xfrm>
                <a:off x="698500" y="2165350"/>
                <a:ext cx="2336800" cy="387350"/>
                <a:chOff x="698500" y="2165350"/>
                <a:chExt cx="2336800" cy="387350"/>
              </a:xfrm>
            </p:grpSpPr>
            <p:sp>
              <p:nvSpPr>
                <p:cNvPr id="1178" name="rect · 159"/>
                <p:cNvSpPr/>
                <p:nvPr/>
              </p:nvSpPr>
              <p:spPr>
                <a:xfrm>
                  <a:off x="698500" y="2165350"/>
                  <a:ext cx="2336800" cy="387350"/>
                </a:xfrm>
                <a:prstGeom prst="roundRect">
                  <a:avLst>
                    <a:gd name="adj" fmla="val 26230"/>
                  </a:avLst>
                </a:prstGeom>
                <a:solidFill>
                  <a:srgbClr val="E2EEF3"/>
                </a:solidFill>
                <a:ln w="9525" cap="flat" cmpd="sng" algn="ctr">
                  <a:solidFill>
                    <a:srgbClr val="355F72"/>
                  </a:solidFill>
                  <a:prstDash val="solid"/>
                  <a:miter lim="400000"/>
                  <a:headEnd type="none" w="med" len="med"/>
                  <a:tailEnd type="none" w="med" len="med"/>
                </a:ln>
              </p:spPr>
            </p:sp>
          </p:grpSp>
          <p:grpSp>
            <p:nvGrpSpPr>
              <p:cNvPr id="1179" name="whole-item-policy-scope-label · 162"/>
              <p:cNvGrpSpPr/>
              <p:nvPr/>
            </p:nvGrpSpPr>
            <p:grpSpPr>
              <a:xfrm>
                <a:off x="927100" y="2286000"/>
                <a:ext cx="1879600" cy="171450"/>
                <a:chOff x="927100" y="2286000"/>
                <a:chExt cx="1879600" cy="171450"/>
              </a:xfrm>
            </p:grpSpPr>
            <p:sp>
              <p:nvSpPr>
                <p:cNvPr id="1180" name="text · 161"/>
                <p:cNvSpPr txBox="1"/>
                <p:nvPr/>
              </p:nvSpPr>
              <p:spPr>
                <a:xfrm>
                  <a:off x="925512" y="2286000"/>
                  <a:ext cx="18827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Whole-item returns only</a:t>
                  </a:r>
                  <a:endParaRPr lang="en-US" sz="1300"/>
                </a:p>
              </p:txBody>
            </p:sp>
          </p:grpSp>
          <p:grpSp>
            <p:nvGrpSpPr>
              <p:cNvPr id="1181" name="invented-policy-label · 164"/>
              <p:cNvGrpSpPr/>
              <p:nvPr/>
            </p:nvGrpSpPr>
            <p:grpSpPr>
              <a:xfrm>
                <a:off x="1327150" y="2673350"/>
                <a:ext cx="1079500" cy="165100"/>
                <a:chOff x="1327150" y="2673350"/>
                <a:chExt cx="1079500" cy="165100"/>
              </a:xfrm>
            </p:grpSpPr>
            <p:sp>
              <p:nvSpPr>
                <p:cNvPr id="1182" name="text · 163"/>
                <p:cNvSpPr txBox="1"/>
                <p:nvPr/>
              </p:nvSpPr>
              <p:spPr>
                <a:xfrm>
                  <a:off x="1325562" y="2673350"/>
                  <a:ext cx="10826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52676A"/>
                      </a:solidFill>
                      <a:latin typeface="Manrope"/>
                      <a:ea typeface="Manrope"/>
                      <a:cs typeface="Manrope"/>
                    </a:rPr>
                    <a:t>Invented policy</a:t>
                  </a:r>
                  <a:endParaRPr lang="en-US" sz="1250"/>
                </a:p>
              </p:txBody>
            </p:sp>
          </p:grpSp>
        </p:grpSp>
      </p:grpSp>
      <p:grpSp>
        <p:nvGrpSpPr>
          <p:cNvPr id="1188" name="09 · source-line: Whole-item return policy · Tutorial evaluation protocol"/>
          <p:cNvGrpSpPr/>
          <p:nvPr/>
        </p:nvGrpSpPr>
        <p:grpSpPr>
          <a:xfrm>
            <a:off x="558800" y="6037898"/>
            <a:ext cx="11087100" cy="284456"/>
            <a:chOff x="558800" y="6037898"/>
            <a:chExt cx="11087100" cy="284456"/>
          </a:xfrm>
        </p:grpSpPr>
        <p:sp>
          <p:nvSpPr>
            <p:cNvPr id="1183" name="09 · source-line · top border [p09-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84" name="09 · span: Whole-item return policy · Tutorial evaluation protocol [p09-text-0009]" descr="Native editable Unicode text; authored line breaks retained."/>
            <p:cNvSpPr txBox="1"/>
            <p:nvPr/>
          </p:nvSpPr>
          <p:spPr>
            <a:xfrm>
              <a:off x="558800" y="6153126"/>
              <a:ext cx="303347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Whole-item return policy</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185" name="09 · span: Invented whole-item policy · exchanges and kit parts have separate rules [p09-text-0010]" descr="Native editable Unicode text; authored line breaks retained."/>
            <p:cNvSpPr txBox="1"/>
            <p:nvPr/>
          </p:nvSpPr>
          <p:spPr>
            <a:xfrm>
              <a:off x="7596188" y="6153126"/>
              <a:ext cx="404971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Invented whole-item policy · exchanges and kit parts have separate rules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A runtime sits beneath the harness">
    <p:bg>
      <p:bgPr>
        <a:solidFill>
          <a:srgbClr val="FFFFFF"/>
        </a:solidFill>
      </p:bgPr>
    </p:bg>
    <p:spTree>
      <p:nvGrpSpPr>
        <p:cNvPr id="1" name=""/>
        <p:cNvGrpSpPr/>
        <p:nvPr/>
      </p:nvGrpSpPr>
      <p:grpSpPr>
        <a:xfrm>
          <a:off x="0" y="0"/>
          <a:ext cx="0" cy="0"/>
          <a:chOff x="0" y="0"/>
          <a:chExt cx="0" cy="0"/>
        </a:xfrm>
      </p:grpSpPr>
      <p:sp>
        <p:nvSpPr>
          <p:cNvPr id="1000" name="10 · slide dark · surface [p1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0" name="10 · chrome-min: DISAGGREGATED INTELLIGENCE"/>
          <p:cNvGrpSpPr/>
          <p:nvPr/>
        </p:nvGrpSpPr>
        <p:grpSpPr>
          <a:xfrm>
            <a:off x="558800" y="356053"/>
            <a:ext cx="11087100" cy="187325"/>
            <a:chOff x="558800" y="356053"/>
            <a:chExt cx="11087100" cy="187325"/>
          </a:xfrm>
        </p:grpSpPr>
        <p:sp>
          <p:nvSpPr>
            <p:cNvPr id="1001" name="10 · l: DISAGGREGATED INTELLIGENCE [p10-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0 · r: 10 / 36 [p10-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10 / 36</a:t>
              </a:r>
              <a:endParaRPr lang="en-US" sz="950" b="1" i="0" kern="0" spc="65" dirty="0">
                <a:solidFill>
                  <a:srgbClr val="022AC0"/>
                </a:solidFill>
                <a:latin typeface="Salesforce Sans"/>
                <a:ea typeface="Salesforce Sans"/>
                <a:cs typeface="Salesforce Sans"/>
              </a:endParaRPr>
            </a:p>
          </p:txBody>
        </p:sp>
      </p:grpSp>
      <p:grpSp>
        <p:nvGrpSpPr>
          <p:cNvPr id="1021" name="10 · deck-head: 02 / KEEP THE LAYERS DISTINCT"/>
          <p:cNvGrpSpPr/>
          <p:nvPr/>
        </p:nvGrpSpPr>
        <p:grpSpPr>
          <a:xfrm>
            <a:off x="558800" y="775901"/>
            <a:ext cx="11087100" cy="871263"/>
            <a:chOff x="558800" y="775901"/>
            <a:chExt cx="11087100" cy="871263"/>
          </a:xfrm>
        </p:grpSpPr>
        <p:sp>
          <p:nvSpPr>
            <p:cNvPr id="1003" name="10 · layers-eyebrow: 02 / KEEP THE LAYERS DISTINCT [p10-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KEEP THE LAYERS DISTINCT</a:t>
              </a:r>
              <a:endParaRPr lang="en-US" sz="1050" b="1" i="0" kern="0" spc="68" dirty="0">
                <a:solidFill>
                  <a:srgbClr val="022AC0"/>
                </a:solidFill>
                <a:latin typeface="Salesforce Sans"/>
                <a:ea typeface="Salesforce Sans"/>
                <a:cs typeface="Salesforce Sans"/>
              </a:endParaRPr>
            </a:p>
          </p:txBody>
        </p:sp>
        <p:sp>
          <p:nvSpPr>
            <p:cNvPr id="1004" name="10 · layers-title: A runtime sits beneath the harness [p10-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runtime sits beneath the harness</a:t>
              </a:r>
              <a:endParaRPr lang="en-US" sz="3600" b="1" i="0" kern="0" spc="-95" dirty="0">
                <a:solidFill>
                  <a:srgbClr val="022AC0"/>
                </a:solidFill>
                <a:latin typeface="Manrope"/>
                <a:ea typeface="Manrope"/>
                <a:cs typeface="Manrope"/>
              </a:endParaRPr>
            </a:p>
          </p:txBody>
        </p:sp>
      </p:grpSp>
      <p:grpSp>
        <p:nvGrpSpPr>
          <p:cNvPr id="1022" name="10 · stack-block lilac: Harness"/>
          <p:cNvGrpSpPr/>
          <p:nvPr/>
        </p:nvGrpSpPr>
        <p:grpSpPr>
          <a:xfrm>
            <a:off x="558800" y="1854200"/>
            <a:ext cx="11074400" cy="1291167"/>
            <a:chOff x="558800" y="1854200"/>
            <a:chExt cx="11074400" cy="1291167"/>
          </a:xfrm>
        </p:grpSpPr>
        <p:sp>
          <p:nvSpPr>
            <p:cNvPr id="1005" name="10 · stack-block lilac · surface [p10-e0008]"/>
            <p:cNvSpPr/>
            <p:nvPr/>
          </p:nvSpPr>
          <p:spPr>
            <a:xfrm>
              <a:off x="558800" y="1854200"/>
              <a:ext cx="11074400" cy="1291167"/>
            </a:xfrm>
            <a:prstGeom prst="roundRect">
              <a:avLst>
                <a:gd name="adj" fmla="val 10820"/>
              </a:avLst>
            </a:prstGeom>
            <a:solidFill>
              <a:srgbClr val="EAE6FA"/>
            </a:solidFill>
            <a:ln>
              <a:noFill/>
            </a:ln>
          </p:spPr>
        </p:sp>
        <p:sp>
          <p:nvSpPr>
            <p:cNvPr id="1006" name="10 · layers-text-1: Harness [p10-text-0011]" descr="Native editable Unicode text; authored line breaks retained."/>
            <p:cNvSpPr txBox="1"/>
            <p:nvPr/>
          </p:nvSpPr>
          <p:spPr>
            <a:xfrm>
              <a:off x="825500" y="2326302"/>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Harness</a:t>
              </a:r>
              <a:endParaRPr lang="en-US" sz="2000" b="1" i="0" kern="0" spc="-38" dirty="0">
                <a:solidFill>
                  <a:srgbClr val="022AC0"/>
                </a:solidFill>
                <a:latin typeface="Manrope"/>
                <a:ea typeface="Manrope"/>
                <a:cs typeface="Manrope"/>
              </a:endParaRPr>
            </a:p>
          </p:txBody>
        </p:sp>
        <p:sp>
          <p:nvSpPr>
            <p:cNvPr id="1007" name="10 · layers-text-2: The agent loop, context strategy, tools, and operating policy. [p10-text-0012]" descr="Native editable Unicode text; authored line breaks retained."/>
            <p:cNvSpPr txBox="1"/>
            <p:nvPr/>
          </p:nvSpPr>
          <p:spPr>
            <a:xfrm>
              <a:off x="3556000" y="2224479"/>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agent loop, context strategy, tools, and operating policy.</a:t>
              </a:r>
              <a:endParaRPr lang="en-US" sz="1500" b="0" i="0" kern="0" spc="0" dirty="0">
                <a:solidFill>
                  <a:srgbClr val="032D60"/>
                </a:solidFill>
                <a:latin typeface="Salesforce Sans"/>
                <a:ea typeface="Salesforce Sans"/>
                <a:cs typeface="Salesforce Sans"/>
              </a:endParaRPr>
            </a:p>
          </p:txBody>
        </p:sp>
        <p:sp>
          <p:nvSpPr>
            <p:cNvPr id="1008" name="10 · layers-text-3: Example in LangChain’s stack: Deep Agents. [p10-text-0013]" descr="Native editable Unicode text; authored line breaks retained."/>
            <p:cNvSpPr txBox="1"/>
            <p:nvPr/>
          </p:nvSpPr>
          <p:spPr>
            <a:xfrm>
              <a:off x="3556000" y="2571380"/>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Example in LangChain’s stack: Deep Agents.</a:t>
              </a:r>
              <a:endParaRPr lang="en-US" sz="1250" b="0" i="0" kern="0" spc="0" dirty="0">
                <a:solidFill>
                  <a:srgbClr val="032D60"/>
                </a:solidFill>
                <a:latin typeface="Salesforce Sans"/>
                <a:ea typeface="Salesforce Sans"/>
                <a:cs typeface="Salesforce Sans"/>
              </a:endParaRPr>
            </a:p>
          </p:txBody>
        </p:sp>
      </p:grpSp>
      <p:grpSp>
        <p:nvGrpSpPr>
          <p:cNvPr id="1023" name="10 · stack-block mint: Runtime"/>
          <p:cNvGrpSpPr/>
          <p:nvPr/>
        </p:nvGrpSpPr>
        <p:grpSpPr>
          <a:xfrm>
            <a:off x="558800" y="3297767"/>
            <a:ext cx="11074400" cy="1291167"/>
            <a:chOff x="558800" y="3297767"/>
            <a:chExt cx="11074400" cy="1291167"/>
          </a:xfrm>
        </p:grpSpPr>
        <p:sp>
          <p:nvSpPr>
            <p:cNvPr id="1009" name="10 · stack-block mint · surface [p10-e0012]"/>
            <p:cNvSpPr/>
            <p:nvPr/>
          </p:nvSpPr>
          <p:spPr>
            <a:xfrm>
              <a:off x="558800" y="3297767"/>
              <a:ext cx="11074400" cy="1291167"/>
            </a:xfrm>
            <a:prstGeom prst="roundRect">
              <a:avLst>
                <a:gd name="adj" fmla="val 10820"/>
              </a:avLst>
            </a:prstGeom>
            <a:solidFill>
              <a:srgbClr val="DDF3ED"/>
            </a:solidFill>
            <a:ln>
              <a:noFill/>
            </a:ln>
          </p:spPr>
        </p:sp>
        <p:sp>
          <p:nvSpPr>
            <p:cNvPr id="1010" name="10 · layers-text-4: Runtime [p10-text-0014]" descr="Native editable Unicode text; authored line breaks retained."/>
            <p:cNvSpPr txBox="1"/>
            <p:nvPr/>
          </p:nvSpPr>
          <p:spPr>
            <a:xfrm>
              <a:off x="825500" y="3769869"/>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Runtime</a:t>
              </a:r>
              <a:endParaRPr lang="en-US" sz="2000" b="1" i="0" kern="0" spc="-38" dirty="0">
                <a:solidFill>
                  <a:srgbClr val="022AC0"/>
                </a:solidFill>
                <a:latin typeface="Manrope"/>
                <a:ea typeface="Manrope"/>
                <a:cs typeface="Manrope"/>
              </a:endParaRPr>
            </a:p>
          </p:txBody>
        </p:sp>
        <p:sp>
          <p:nvSpPr>
            <p:cNvPr id="1011" name="10 · layers-text-5: State transitions and the execution of the configured workflow. [p10-text-0015]" descr="Native editable Unicode text; authored line breaks retained."/>
            <p:cNvSpPr txBox="1"/>
            <p:nvPr/>
          </p:nvSpPr>
          <p:spPr>
            <a:xfrm>
              <a:off x="3556000" y="3668046"/>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State transitions and the execution of the configured workflow.</a:t>
              </a:r>
              <a:endParaRPr lang="en-US" sz="1500" b="0" i="0" kern="0" spc="0" dirty="0">
                <a:solidFill>
                  <a:srgbClr val="032D60"/>
                </a:solidFill>
                <a:latin typeface="Salesforce Sans"/>
                <a:ea typeface="Salesforce Sans"/>
                <a:cs typeface="Salesforce Sans"/>
              </a:endParaRPr>
            </a:p>
          </p:txBody>
        </p:sp>
        <p:sp>
          <p:nvSpPr>
            <p:cNvPr id="1012" name="10 · layers-text-6: Agent Graph is analogous at this layer to LangGraph. [p10-text-0016]" descr="Native editable Unicode text; authored line breaks retained."/>
            <p:cNvSpPr txBox="1"/>
            <p:nvPr/>
          </p:nvSpPr>
          <p:spPr>
            <a:xfrm>
              <a:off x="3556000" y="4014947"/>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 Graph is analogous at this layer to LangGraph.</a:t>
              </a:r>
              <a:endParaRPr lang="en-US" sz="1250" b="0" i="0" kern="0" spc="0" dirty="0">
                <a:solidFill>
                  <a:srgbClr val="032D60"/>
                </a:solidFill>
                <a:latin typeface="Salesforce Sans"/>
                <a:ea typeface="Salesforce Sans"/>
                <a:cs typeface="Salesforce Sans"/>
              </a:endParaRPr>
            </a:p>
          </p:txBody>
        </p:sp>
      </p:grpSp>
      <p:grpSp>
        <p:nvGrpSpPr>
          <p:cNvPr id="1024" name="10 · stack-block sand: Configuration"/>
          <p:cNvGrpSpPr/>
          <p:nvPr/>
        </p:nvGrpSpPr>
        <p:grpSpPr>
          <a:xfrm>
            <a:off x="558800" y="4741333"/>
            <a:ext cx="11074400" cy="1291167"/>
            <a:chOff x="558800" y="4741333"/>
            <a:chExt cx="11074400" cy="1291167"/>
          </a:xfrm>
        </p:grpSpPr>
        <p:sp>
          <p:nvSpPr>
            <p:cNvPr id="1013" name="10 · stack-block sand · surface [p10-e0016]"/>
            <p:cNvSpPr/>
            <p:nvPr/>
          </p:nvSpPr>
          <p:spPr>
            <a:xfrm>
              <a:off x="558800" y="4741333"/>
              <a:ext cx="11074400" cy="1291167"/>
            </a:xfrm>
            <a:prstGeom prst="roundRect">
              <a:avLst>
                <a:gd name="adj" fmla="val 10820"/>
              </a:avLst>
            </a:prstGeom>
            <a:solidFill>
              <a:srgbClr val="FBF0CF"/>
            </a:solidFill>
            <a:ln>
              <a:noFill/>
            </a:ln>
          </p:spPr>
        </p:sp>
        <p:sp>
          <p:nvSpPr>
            <p:cNvPr id="1014" name="10 · layers-text-7: Configuration [p10-text-0017]" descr="Native editable Unicode text; authored line breaks retained."/>
            <p:cNvSpPr txBox="1"/>
            <p:nvPr/>
          </p:nvSpPr>
          <p:spPr>
            <a:xfrm>
              <a:off x="825500" y="5213436"/>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Configuration</a:t>
              </a:r>
              <a:endParaRPr lang="en-US" sz="2000" b="1" i="0" kern="0" spc="-38" dirty="0">
                <a:solidFill>
                  <a:srgbClr val="022AC0"/>
                </a:solidFill>
                <a:latin typeface="Manrope"/>
                <a:ea typeface="Manrope"/>
                <a:cs typeface="Manrope"/>
              </a:endParaRPr>
            </a:p>
          </p:txBody>
        </p:sp>
        <p:sp>
          <p:nvSpPr>
            <p:cNvPr id="1015" name="10 · layers-text-8: The authored rules and bindings that shape behavior. [p10-text-0018]" descr="Native editable Unicode text; authored line breaks retained."/>
            <p:cNvSpPr txBox="1"/>
            <p:nvPr/>
          </p:nvSpPr>
          <p:spPr>
            <a:xfrm>
              <a:off x="3556000" y="5111613"/>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authored rules and bindings that shape behavior.</a:t>
              </a:r>
              <a:endParaRPr lang="en-US" sz="1500" b="0" i="0" kern="0" spc="0" dirty="0">
                <a:solidFill>
                  <a:srgbClr val="032D60"/>
                </a:solidFill>
                <a:latin typeface="Salesforce Sans"/>
                <a:ea typeface="Salesforce Sans"/>
                <a:cs typeface="Salesforce Sans"/>
              </a:endParaRPr>
            </a:p>
          </p:txBody>
        </p:sp>
        <p:sp>
          <p:nvSpPr>
            <p:cNvPr id="1016" name="10 · layers-text-9: AgentScript configures Salesforce’s runtime. [p10-text-0019]" descr="Native editable Unicode text; authored line breaks retained."/>
            <p:cNvSpPr txBox="1"/>
            <p:nvPr/>
          </p:nvSpPr>
          <p:spPr>
            <a:xfrm>
              <a:off x="3556000" y="5458514"/>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AgentScript configures Salesforce’s runtime.</a:t>
              </a:r>
              <a:endParaRPr lang="en-US" sz="1250" b="0" i="0" kern="0" spc="0" dirty="0">
                <a:solidFill>
                  <a:srgbClr val="032D60"/>
                </a:solidFill>
                <a:latin typeface="Salesforce Sans"/>
                <a:ea typeface="Salesforce Sans"/>
                <a:cs typeface="Salesforce Sans"/>
              </a:endParaRPr>
            </a:p>
          </p:txBody>
        </p:sp>
      </p:grpSp>
      <p:grpSp>
        <p:nvGrpSpPr>
          <p:cNvPr id="1025" name="10 · source-line: Runtime, framework, harness · AgentScript control plane"/>
          <p:cNvGrpSpPr/>
          <p:nvPr/>
        </p:nvGrpSpPr>
        <p:grpSpPr>
          <a:xfrm>
            <a:off x="558800" y="6037898"/>
            <a:ext cx="11087100" cy="284456"/>
            <a:chOff x="558800" y="6037898"/>
            <a:chExt cx="11087100" cy="284456"/>
          </a:xfrm>
        </p:grpSpPr>
        <p:sp>
          <p:nvSpPr>
            <p:cNvPr id="1017" name="10 · source-line · top border [p10-e002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10 · span: Runtime, framework, harness · AgentScript control plane [p10-text-0020]" descr="Native editable Unicode text; authored line breaks retained."/>
            <p:cNvSpPr txBox="1"/>
            <p:nvPr/>
          </p:nvSpPr>
          <p:spPr>
            <a:xfrm>
              <a:off x="558800" y="6153126"/>
              <a:ext cx="31695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untime, framework, harness"/>
                </a:rPr>
                <a:t>Runtime, framework, harness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9" name="10 · span: Architectural comparison, not API equivalence [p10-text-0021]" descr="Native editable Unicode text; authored line breaks retained."/>
            <p:cNvSpPr txBox="1"/>
            <p:nvPr/>
          </p:nvSpPr>
          <p:spPr>
            <a:xfrm>
              <a:off x="9036658" y="6153126"/>
              <a:ext cx="26092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comparison, not API equivalence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eparate the remedy, the unit and the uncertainty">
    <p:bg>
      <p:bgPr>
        <a:solidFill>
          <a:srgbClr val="FFFFFF"/>
        </a:solidFill>
      </p:bgPr>
    </p:bg>
    <p:spTree>
      <p:nvGrpSpPr>
        <p:cNvPr id="1" name=""/>
        <p:cNvGrpSpPr/>
        <p:nvPr/>
      </p:nvGrpSpPr>
      <p:grpSpPr>
        <a:xfrm>
          <a:off x="0" y="0"/>
          <a:ext cx="0" cy="0"/>
          <a:chOff x="0" y="0"/>
          <a:chExt cx="0" cy="0"/>
        </a:xfrm>
      </p:grpSpPr>
      <p:sp>
        <p:nvSpPr>
          <p:cNvPr id="1000" name="11 · slide light · surface [p1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11 · chrome-min: DISAGGREGATED INTELLIGENCE"/>
          <p:cNvGrpSpPr/>
          <p:nvPr/>
        </p:nvGrpSpPr>
        <p:grpSpPr>
          <a:xfrm>
            <a:off x="558800" y="356053"/>
            <a:ext cx="11087100" cy="187325"/>
            <a:chOff x="558800" y="356053"/>
            <a:chExt cx="11087100" cy="187325"/>
          </a:xfrm>
        </p:grpSpPr>
        <p:sp>
          <p:nvSpPr>
            <p:cNvPr id="1001" name="11 · l: DISAGGREGATED INTELLIGENCE [p11-text-002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1 · r: 11 / 36 [p11-text-002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11 / 36</a:t>
              </a:r>
              <a:endParaRPr lang="en-US" sz="950" b="1" i="0" kern="0" spc="65" dirty="0">
                <a:solidFill>
                  <a:srgbClr val="022AC0"/>
                </a:solidFill>
                <a:latin typeface="Salesforce Sans"/>
                <a:ea typeface="Salesforce Sans"/>
                <a:cs typeface="Salesforce Sans"/>
              </a:endParaRPr>
            </a:p>
          </p:txBody>
        </p:sp>
      </p:grpSp>
      <p:grpSp>
        <p:nvGrpSpPr>
          <p:cNvPr id="1047" name="11 · deck-head: 03 / STEP 1"/>
          <p:cNvGrpSpPr/>
          <p:nvPr/>
        </p:nvGrpSpPr>
        <p:grpSpPr>
          <a:xfrm>
            <a:off x="558800" y="775901"/>
            <a:ext cx="11087100" cy="871263"/>
            <a:chOff x="558800" y="775901"/>
            <a:chExt cx="11087100" cy="871263"/>
          </a:xfrm>
        </p:grpSpPr>
        <p:sp>
          <p:nvSpPr>
            <p:cNvPr id="1003" name="11 · contract-eyebrow: 03 / STEP 1 [p11-text-002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STEP 1</a:t>
              </a:r>
              <a:endParaRPr lang="en-US" sz="1050" b="1" i="0" kern="0" spc="68" dirty="0">
                <a:solidFill>
                  <a:srgbClr val="022AC0"/>
                </a:solidFill>
                <a:latin typeface="Salesforce Sans"/>
                <a:ea typeface="Salesforce Sans"/>
                <a:cs typeface="Salesforce Sans"/>
              </a:endParaRPr>
            </a:p>
          </p:txBody>
        </p:sp>
        <p:sp>
          <p:nvSpPr>
            <p:cNvPr id="1004" name="11 · contract-title: Separate the remedy, the unit and the uncertainty [p11-text-002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Separate the remedy, the unit and the uncertainty</a:t>
              </a:r>
              <a:endParaRPr lang="en-US" sz="3600" b="1" i="0" kern="0" spc="-95" dirty="0">
                <a:solidFill>
                  <a:srgbClr val="022AC0"/>
                </a:solidFill>
                <a:latin typeface="Manrope"/>
                <a:ea typeface="Manrope"/>
                <a:cs typeface="Manrope"/>
              </a:endParaRPr>
            </a:p>
          </p:txBody>
        </p:sp>
      </p:grpSp>
      <p:grpSp>
        <p:nvGrpSpPr>
          <p:cNvPr id="1048" name="11 · card sand: "/>
          <p:cNvGrpSpPr/>
          <p:nvPr/>
        </p:nvGrpSpPr>
        <p:grpSpPr>
          <a:xfrm>
            <a:off x="558800" y="1930400"/>
            <a:ext cx="5232400" cy="2046097"/>
            <a:chOff x="558800" y="1930400"/>
            <a:chExt cx="5232400" cy="2046097"/>
          </a:xfrm>
        </p:grpSpPr>
        <p:sp>
          <p:nvSpPr>
            <p:cNvPr id="1005" name="11 · card sand · surface [p11-e0008]"/>
            <p:cNvSpPr/>
            <p:nvPr/>
          </p:nvSpPr>
          <p:spPr>
            <a:xfrm>
              <a:off x="558800" y="1930400"/>
              <a:ext cx="5232400" cy="2046097"/>
            </a:xfrm>
            <a:prstGeom prst="roundRect">
              <a:avLst>
                <a:gd name="adj" fmla="val 6828"/>
              </a:avLst>
            </a:prstGeom>
            <a:solidFill>
              <a:srgbClr val="FBF0CF"/>
            </a:solidFill>
            <a:ln>
              <a:noFill/>
            </a:ln>
          </p:spPr>
        </p:sp>
        <p:sp>
          <p:nvSpPr>
            <p:cNvPr id="1006" name="11 · card sand · outline [p11-e0008]"/>
            <p:cNvSpPr/>
            <p:nvPr/>
          </p:nvSpPr>
          <p:spPr>
            <a:xfrm>
              <a:off x="561975" y="1933575"/>
              <a:ext cx="5226050" cy="2039747"/>
            </a:xfrm>
            <a:prstGeom prst="roundRect">
              <a:avLst>
                <a:gd name="adj" fmla="val 6693"/>
              </a:avLst>
            </a:prstGeom>
            <a:noFill/>
            <a:ln w="6350" algn="ctr">
              <a:solidFill>
                <a:srgbClr val="FFFFFF">
                  <a:alpha val="85098"/>
                </a:srgbClr>
              </a:solidFill>
              <a:prstDash val="solid"/>
            </a:ln>
          </p:spPr>
        </p:sp>
      </p:grpSp>
      <p:sp>
        <p:nvSpPr>
          <p:cNvPr id="1007" name="11 · duo-compare [p11-e0009]"/>
          <p:cNvSpPr/>
          <p:nvPr/>
        </p:nvSpPr>
        <p:spPr>
          <a:xfrm>
            <a:off x="558800" y="48115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08" name="11 · duo-compare [p11-e0010]"/>
          <p:cNvSpPr/>
          <p:nvPr/>
        </p:nvSpPr>
        <p:spPr>
          <a:xfrm>
            <a:off x="4711700" y="48115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09" name="11 · duo-compare [p11-e0011]"/>
          <p:cNvSpPr/>
          <p:nvPr/>
        </p:nvSpPr>
        <p:spPr>
          <a:xfrm>
            <a:off x="558800" y="52306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0" name="11 · duo-compare [p11-e0012]"/>
          <p:cNvSpPr/>
          <p:nvPr/>
        </p:nvSpPr>
        <p:spPr>
          <a:xfrm>
            <a:off x="4711700" y="52306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11" name="11 · duo-compare [p11-e0013]"/>
          <p:cNvSpPr/>
          <p:nvPr/>
        </p:nvSpPr>
        <p:spPr>
          <a:xfrm>
            <a:off x="558800" y="585927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2" name="11 · duo-compare [p11-e0014]"/>
          <p:cNvSpPr/>
          <p:nvPr/>
        </p:nvSpPr>
        <p:spPr>
          <a:xfrm>
            <a:off x="4711700" y="585927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grpSp>
        <p:nvGrpSpPr>
          <p:cNvPr id="1049" name="11 · card mint: "/>
          <p:cNvGrpSpPr/>
          <p:nvPr/>
        </p:nvGrpSpPr>
        <p:grpSpPr>
          <a:xfrm>
            <a:off x="6426200" y="2950845"/>
            <a:ext cx="5105400" cy="843280"/>
            <a:chOff x="6426200" y="2950845"/>
            <a:chExt cx="5105400" cy="843280"/>
          </a:xfrm>
        </p:grpSpPr>
        <p:sp>
          <p:nvSpPr>
            <p:cNvPr id="1013" name="11 · card mint · surface [p11-e0015]"/>
            <p:cNvSpPr/>
            <p:nvPr/>
          </p:nvSpPr>
          <p:spPr>
            <a:xfrm>
              <a:off x="6426200" y="2950845"/>
              <a:ext cx="5105400" cy="843280"/>
            </a:xfrm>
            <a:prstGeom prst="roundRect">
              <a:avLst>
                <a:gd name="adj" fmla="val 16566"/>
              </a:avLst>
            </a:prstGeom>
            <a:solidFill>
              <a:srgbClr val="DDF3ED"/>
            </a:solidFill>
            <a:ln>
              <a:noFill/>
            </a:ln>
          </p:spPr>
        </p:sp>
        <p:sp>
          <p:nvSpPr>
            <p:cNvPr id="1014" name="11 · card mint · outline [p11-e0015]"/>
            <p:cNvSpPr/>
            <p:nvPr/>
          </p:nvSpPr>
          <p:spPr>
            <a:xfrm>
              <a:off x="6429375" y="2954020"/>
              <a:ext cx="5099050" cy="836930"/>
            </a:xfrm>
            <a:prstGeom prst="roundRect">
              <a:avLst>
                <a:gd name="adj" fmla="val 16313"/>
              </a:avLst>
            </a:prstGeom>
            <a:noFill/>
            <a:ln w="6350" algn="ctr">
              <a:solidFill>
                <a:srgbClr val="FFFFFF">
                  <a:alpha val="85098"/>
                </a:srgbClr>
              </a:solidFill>
              <a:prstDash val="solid"/>
            </a:ln>
          </p:spPr>
        </p:sp>
      </p:grpSp>
      <p:grpSp>
        <p:nvGrpSpPr>
          <p:cNvPr id="1050" name="11 · card sand: "/>
          <p:cNvGrpSpPr/>
          <p:nvPr/>
        </p:nvGrpSpPr>
        <p:grpSpPr>
          <a:xfrm>
            <a:off x="6426200" y="3921125"/>
            <a:ext cx="5105400" cy="843280"/>
            <a:chOff x="6426200" y="3921125"/>
            <a:chExt cx="5105400" cy="843280"/>
          </a:xfrm>
        </p:grpSpPr>
        <p:sp>
          <p:nvSpPr>
            <p:cNvPr id="1015" name="11 · card sand · surface [p11-e0016]"/>
            <p:cNvSpPr/>
            <p:nvPr/>
          </p:nvSpPr>
          <p:spPr>
            <a:xfrm>
              <a:off x="6426200" y="3921125"/>
              <a:ext cx="5105400" cy="843280"/>
            </a:xfrm>
            <a:prstGeom prst="roundRect">
              <a:avLst>
                <a:gd name="adj" fmla="val 16566"/>
              </a:avLst>
            </a:prstGeom>
            <a:solidFill>
              <a:srgbClr val="FBF0CF"/>
            </a:solidFill>
            <a:ln>
              <a:noFill/>
            </a:ln>
          </p:spPr>
        </p:sp>
        <p:sp>
          <p:nvSpPr>
            <p:cNvPr id="1016" name="11 · card sand · outline [p11-e0016]"/>
            <p:cNvSpPr/>
            <p:nvPr/>
          </p:nvSpPr>
          <p:spPr>
            <a:xfrm>
              <a:off x="6429375" y="3924300"/>
              <a:ext cx="5099050" cy="836930"/>
            </a:xfrm>
            <a:prstGeom prst="roundRect">
              <a:avLst>
                <a:gd name="adj" fmla="val 16313"/>
              </a:avLst>
            </a:prstGeom>
            <a:noFill/>
            <a:ln w="6350" algn="ctr">
              <a:solidFill>
                <a:srgbClr val="FFFFFF">
                  <a:alpha val="85098"/>
                </a:srgbClr>
              </a:solidFill>
              <a:prstDash val="solid"/>
            </a:ln>
          </p:spPr>
        </p:sp>
      </p:grpSp>
      <p:grpSp>
        <p:nvGrpSpPr>
          <p:cNvPr id="1051" name="11 · card sand: What work is the customer requesting?"/>
          <p:cNvGrpSpPr/>
          <p:nvPr/>
        </p:nvGrpSpPr>
        <p:grpSpPr>
          <a:xfrm>
            <a:off x="781050" y="2486534"/>
            <a:ext cx="4800600" cy="1260930"/>
            <a:chOff x="781050" y="2486534"/>
            <a:chExt cx="4800600" cy="1260930"/>
          </a:xfrm>
        </p:grpSpPr>
        <p:sp>
          <p:nvSpPr>
            <p:cNvPr id="1017" name="11 · contract-text-1: What work is the customer requesting? [p11-text-0024]" descr="Native editable Unicode text; authored line breaks retained."/>
            <p:cNvSpPr txBox="1"/>
            <p:nvPr/>
          </p:nvSpPr>
          <p:spPr>
            <a:xfrm>
              <a:off x="781050" y="2486534"/>
              <a:ext cx="4800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What work is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customer requesting?</a:t>
              </a:r>
              <a:endParaRPr lang="en-US" sz="2000" b="1" i="0" kern="0" spc="-38" dirty="0">
                <a:solidFill>
                  <a:srgbClr val="022AC0"/>
                </a:solidFill>
                <a:latin typeface="Manrope"/>
                <a:ea typeface="Manrope"/>
                <a:cs typeface="Manrope"/>
              </a:endParaRPr>
            </a:p>
          </p:txBody>
        </p:sp>
        <p:sp>
          <p:nvSpPr>
            <p:cNvPr id="1018" name="11 · contract-text-2: Conversation prefix + verified candidate items. [p11-text-0025]" descr="Native editable Unicode text; authored line breaks retained."/>
            <p:cNvSpPr txBox="1"/>
            <p:nvPr/>
          </p:nvSpPr>
          <p:spPr>
            <a:xfrm>
              <a:off x="781050" y="323616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 verified candidate items.</a:t>
              </a:r>
              <a:endParaRPr lang="en-US" sz="1400" b="0" i="0" kern="0" spc="0" dirty="0">
                <a:solidFill>
                  <a:srgbClr val="032D60"/>
                </a:solidFill>
                <a:latin typeface="Salesforce Sans"/>
                <a:ea typeface="Salesforce Sans"/>
                <a:cs typeface="Salesforce Sans"/>
              </a:endParaRPr>
            </a:p>
          </p:txBody>
        </p:sp>
      </p:grpSp>
      <p:sp>
        <p:nvSpPr>
          <p:cNvPr id="1019" name="11 · caption: CONCEPTUAL LABELS · BOUNDARY EXAMPLES [p11-text-0026]" descr="Native editable Unicode text; authored line breaks retained."/>
          <p:cNvSpPr txBox="1"/>
          <p:nvPr/>
        </p:nvSpPr>
        <p:spPr>
          <a:xfrm>
            <a:off x="558800" y="4141597"/>
            <a:ext cx="5245100" cy="171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000" b="0" i="0" kern="0" spc="0" dirty="0">
                <a:solidFill>
                  <a:srgbClr val="032D60"/>
                </a:solidFill>
                <a:latin typeface="IBM Plex Mono"/>
                <a:ea typeface="IBM Plex Mono"/>
                <a:cs typeface="IBM Plex Mono"/>
              </a:rPr>
              <a:t>CONCEPTUAL LABELS · BOUNDARY EXAMPLES</a:t>
            </a:r>
            <a:endParaRPr lang="en-US" sz="1000" b="0" i="0" kern="0" spc="0" dirty="0">
              <a:solidFill>
                <a:srgbClr val="032D60"/>
              </a:solidFill>
              <a:latin typeface="IBM Plex Mono"/>
              <a:ea typeface="IBM Plex Mono"/>
              <a:cs typeface="IBM Plex Mono"/>
            </a:endParaRPr>
          </a:p>
        </p:txBody>
      </p:sp>
      <p:sp>
        <p:nvSpPr>
          <p:cNvPr id="1020" name="11 · td: “Swap for blue.” [p11-text-0027]" descr="Native editable Unicode text; authored line breaks retained."/>
          <p:cNvSpPr txBox="1"/>
          <p:nvPr/>
        </p:nvSpPr>
        <p:spPr>
          <a:xfrm>
            <a:off x="609600" y="45002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“Swap for blue.”</a:t>
            </a:r>
            <a:endParaRPr lang="en-US" sz="1250" b="0" i="0" kern="0" spc="0" dirty="0">
              <a:solidFill>
                <a:srgbClr val="032D60"/>
              </a:solidFill>
              <a:latin typeface="Salesforce Sans"/>
              <a:ea typeface="Salesforce Sans"/>
              <a:cs typeface="Salesforce Sans"/>
            </a:endParaRPr>
          </a:p>
        </p:txBody>
      </p:sp>
      <p:sp>
        <p:nvSpPr>
          <p:cNvPr id="1021" name="11 · code · surface [p11-e0023]"/>
          <p:cNvSpPr/>
          <p:nvPr/>
        </p:nvSpPr>
        <p:spPr>
          <a:xfrm>
            <a:off x="4762500" y="4522620"/>
            <a:ext cx="751225" cy="161798"/>
          </a:xfrm>
          <a:prstGeom prst="roundRect">
            <a:avLst>
              <a:gd name="adj" fmla="val 23548"/>
            </a:avLst>
          </a:prstGeom>
          <a:solidFill>
            <a:srgbClr val="FFFFFF">
              <a:alpha val="65882"/>
            </a:srgbClr>
          </a:solidFill>
          <a:ln>
            <a:noFill/>
          </a:ln>
        </p:spPr>
      </p:sp>
      <p:sp>
        <p:nvSpPr>
          <p:cNvPr id="1022" name="11 · td: exchange [p11-text-0028]" descr="Native editable Unicode text; authored line breaks retained."/>
          <p:cNvSpPr txBox="1"/>
          <p:nvPr/>
        </p:nvSpPr>
        <p:spPr>
          <a:xfrm>
            <a:off x="4762500" y="4509621"/>
            <a:ext cx="990600" cy="215900"/>
          </a:xfrm>
          <a:prstGeom prst="rect">
            <a:avLst/>
          </a:prstGeom>
          <a:noFill/>
          <a:ln>
            <a:noFill/>
          </a:ln>
        </p:spPr>
        <p:txBody>
          <a:bodyPr wrap="none" lIns="0" rIns="0" tIns="0" bIns="0" anchor="t" anchorCtr="0" vertOverflow="overflow" horzOverflow="overflow" spcFirstLastPara="0">
            <a:noAutofit/>
          </a:bodyPr>
          <a:lstStyle/>
          <a:p>
            <a:pPr marL="28892"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exchange</a:t>
            </a:r>
            <a:endParaRPr lang="en-US" sz="1138" b="0" i="0" kern="0" spc="0" dirty="0">
              <a:solidFill>
                <a:srgbClr val="032D60"/>
              </a:solidFill>
              <a:latin typeface="IBM Plex Mono"/>
              <a:ea typeface="IBM Plex Mono"/>
              <a:cs typeface="IBM Plex Mono"/>
            </a:endParaRPr>
          </a:p>
        </p:txBody>
      </p:sp>
      <p:sp>
        <p:nvSpPr>
          <p:cNvPr id="1023" name="11 · td: “Only the kit cable.” [p11-text-0029]" descr="Native editable Unicode text; authored line breaks retained."/>
          <p:cNvSpPr txBox="1"/>
          <p:nvPr/>
        </p:nvSpPr>
        <p:spPr>
          <a:xfrm>
            <a:off x="609600" y="49193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“Only the kit cable.”</a:t>
            </a:r>
            <a:endParaRPr lang="en-US" sz="1250" b="0" i="0" kern="0" spc="0" dirty="0">
              <a:solidFill>
                <a:srgbClr val="032D60"/>
              </a:solidFill>
              <a:latin typeface="Salesforce Sans"/>
              <a:ea typeface="Salesforce Sans"/>
              <a:cs typeface="Salesforce Sans"/>
            </a:endParaRPr>
          </a:p>
        </p:txBody>
      </p:sp>
      <p:sp>
        <p:nvSpPr>
          <p:cNvPr id="1024" name="11 · code · surface [p11-e0026]"/>
          <p:cNvSpPr/>
          <p:nvPr/>
        </p:nvSpPr>
        <p:spPr>
          <a:xfrm>
            <a:off x="4762500" y="4941720"/>
            <a:ext cx="837905" cy="161798"/>
          </a:xfrm>
          <a:prstGeom prst="roundRect">
            <a:avLst>
              <a:gd name="adj" fmla="val 23548"/>
            </a:avLst>
          </a:prstGeom>
          <a:solidFill>
            <a:srgbClr val="FFFFFF">
              <a:alpha val="65882"/>
            </a:srgbClr>
          </a:solidFill>
          <a:ln>
            <a:noFill/>
          </a:ln>
        </p:spPr>
      </p:sp>
      <p:sp>
        <p:nvSpPr>
          <p:cNvPr id="1025" name="11 · td: component [p11-text-0030]" descr="Native editable Unicode text; authored line breaks retained."/>
          <p:cNvSpPr txBox="1"/>
          <p:nvPr/>
        </p:nvSpPr>
        <p:spPr>
          <a:xfrm>
            <a:off x="4762500" y="4928721"/>
            <a:ext cx="990600" cy="215900"/>
          </a:xfrm>
          <a:prstGeom prst="rect">
            <a:avLst/>
          </a:prstGeom>
          <a:noFill/>
          <a:ln>
            <a:noFill/>
          </a:ln>
        </p:spPr>
        <p:txBody>
          <a:bodyPr wrap="none" lIns="0" rIns="0" tIns="0" bIns="0" anchor="t" anchorCtr="0" vertOverflow="overflow" horzOverflow="overflow" spcFirstLastPara="0">
            <a:noAutofit/>
          </a:bodyPr>
          <a:lstStyle/>
          <a:p>
            <a:pPr marL="28892"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component</a:t>
            </a:r>
            <a:endParaRPr lang="en-US" sz="1138" b="0" i="0" kern="0" spc="0" dirty="0">
              <a:solidFill>
                <a:srgbClr val="032D60"/>
              </a:solidFill>
              <a:latin typeface="IBM Plex Mono"/>
              <a:ea typeface="IBM Plex Mono"/>
              <a:cs typeface="IBM Plex Mono"/>
            </a:endParaRPr>
          </a:p>
        </p:txBody>
      </p:sp>
      <p:sp>
        <p:nvSpPr>
          <p:cNvPr id="1026" name="11 · td: “Return this one.” [p11-text-0031]" descr="Native editable Unicode text; authored line breaks retained."/>
          <p:cNvSpPr txBox="1"/>
          <p:nvPr/>
        </p:nvSpPr>
        <p:spPr>
          <a:xfrm>
            <a:off x="609600" y="5443189"/>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“Return this one.”</a:t>
            </a:r>
            <a:endParaRPr lang="en-US" sz="1250" b="0" i="0" kern="0" spc="0" dirty="0">
              <a:solidFill>
                <a:srgbClr val="032D60"/>
              </a:solidFill>
              <a:latin typeface="Salesforce Sans"/>
              <a:ea typeface="Salesforce Sans"/>
              <a:cs typeface="Salesforce Sans"/>
            </a:endParaRPr>
          </a:p>
        </p:txBody>
      </p:sp>
      <p:sp>
        <p:nvSpPr>
          <p:cNvPr id="1027" name="11 · code · surface [p11-e0029]"/>
          <p:cNvSpPr/>
          <p:nvPr/>
        </p:nvSpPr>
        <p:spPr>
          <a:xfrm>
            <a:off x="4762500" y="5360820"/>
            <a:ext cx="635652" cy="161798"/>
          </a:xfrm>
          <a:custGeom>
            <a:avLst/>
            <a:gdLst/>
            <a:ahLst/>
            <a:cxnLst/>
            <a:rect l="0" t="0" r="r" b="b"/>
            <a:pathLst>
              <a:path w="635652" h="161798" fill="norm" stroke="1" extrusionOk="0">
                <a:moveTo>
                  <a:pt x="38100" y="0"/>
                </a:moveTo>
                <a:lnTo>
                  <a:pt x="635652" y="0"/>
                </a:lnTo>
                <a:cubicBezTo>
                  <a:pt x="635652" y="0"/>
                  <a:pt x="635652" y="0"/>
                  <a:pt x="635652" y="0"/>
                </a:cubicBezTo>
                <a:lnTo>
                  <a:pt x="635652" y="161798"/>
                </a:lnTo>
                <a:cubicBezTo>
                  <a:pt x="635652" y="161798"/>
                  <a:pt x="635652" y="161798"/>
                  <a:pt x="635652" y="161798"/>
                </a:cubicBezTo>
                <a:lnTo>
                  <a:pt x="38100" y="161798"/>
                </a:lnTo>
                <a:cubicBezTo>
                  <a:pt x="17058" y="161798"/>
                  <a:pt x="0" y="144740"/>
                  <a:pt x="0" y="123698"/>
                </a:cubicBezTo>
                <a:lnTo>
                  <a:pt x="0" y="38100"/>
                </a:lnTo>
                <a:cubicBezTo>
                  <a:pt x="0" y="17058"/>
                  <a:pt x="17058" y="0"/>
                  <a:pt x="38100" y="0"/>
                </a:cubicBezTo>
                <a:close/>
              </a:path>
            </a:pathLst>
          </a:custGeom>
          <a:solidFill>
            <a:srgbClr val="FFFFFF">
              <a:alpha val="65882"/>
            </a:srgbClr>
          </a:solidFill>
          <a:ln>
            <a:noFill/>
          </a:ln>
        </p:spPr>
      </p:sp>
      <p:sp>
        <p:nvSpPr>
          <p:cNvPr id="1028" name="11 · code · surface [p11-e0031]"/>
          <p:cNvSpPr/>
          <p:nvPr/>
        </p:nvSpPr>
        <p:spPr>
          <a:xfrm>
            <a:off x="4762500" y="5570370"/>
            <a:ext cx="375612" cy="161798"/>
          </a:xfrm>
          <a:custGeom>
            <a:avLst/>
            <a:gdLst/>
            <a:ahLst/>
            <a:cxnLst/>
            <a:rect l="0" t="0" r="r" b="b"/>
            <a:pathLst>
              <a:path w="375612" h="161798" fill="norm" stroke="1" extrusionOk="0">
                <a:moveTo>
                  <a:pt x="0" y="0"/>
                </a:moveTo>
                <a:lnTo>
                  <a:pt x="337512" y="0"/>
                </a:lnTo>
                <a:cubicBezTo>
                  <a:pt x="358554" y="0"/>
                  <a:pt x="375612" y="17058"/>
                  <a:pt x="375612" y="38100"/>
                </a:cubicBezTo>
                <a:lnTo>
                  <a:pt x="375612" y="123698"/>
                </a:lnTo>
                <a:cubicBezTo>
                  <a:pt x="375612" y="144740"/>
                  <a:pt x="358554" y="161798"/>
                  <a:pt x="337512" y="161798"/>
                </a:cubicBezTo>
                <a:lnTo>
                  <a:pt x="0" y="161798"/>
                </a:lnTo>
                <a:cubicBezTo>
                  <a:pt x="0" y="161798"/>
                  <a:pt x="0" y="161798"/>
                  <a:pt x="0" y="161798"/>
                </a:cubicBezTo>
                <a:lnTo>
                  <a:pt x="0" y="0"/>
                </a:lnTo>
                <a:cubicBezTo>
                  <a:pt x="0" y="0"/>
                  <a:pt x="0" y="0"/>
                  <a:pt x="0" y="0"/>
                </a:cubicBezTo>
                <a:close/>
              </a:path>
            </a:pathLst>
          </a:custGeom>
          <a:solidFill>
            <a:srgbClr val="FFFFFF">
              <a:alpha val="65882"/>
            </a:srgbClr>
          </a:solidFill>
          <a:ln>
            <a:noFill/>
          </a:ln>
        </p:spPr>
      </p:sp>
      <p:sp>
        <p:nvSpPr>
          <p:cNvPr id="1029" name="11 · td: clarify unit [p11-text-0032]" descr="Native editable Unicode text; authored line breaks retained."/>
          <p:cNvSpPr txBox="1"/>
          <p:nvPr/>
        </p:nvSpPr>
        <p:spPr>
          <a:xfrm>
            <a:off x="4762500" y="5347821"/>
            <a:ext cx="990600" cy="425450"/>
          </a:xfrm>
          <a:prstGeom prst="rect">
            <a:avLst/>
          </a:prstGeom>
          <a:noFill/>
          <a:ln>
            <a:noFill/>
          </a:ln>
        </p:spPr>
        <p:txBody>
          <a:bodyPr wrap="none" lIns="0" rIns="0" tIns="0" bIns="0" anchor="t" anchorCtr="0" vertOverflow="overflow" horzOverflow="overflow" spcFirstLastPara="0">
            <a:noAutofit/>
          </a:bodyPr>
          <a:lstStyle/>
          <a:p>
            <a:pPr marL="28892"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clarify</a:t>
            </a:r>
            <a:endParaRPr lang="en-US" sz="1138" b="0" i="0" kern="0" spc="0" dirty="0">
              <a:solidFill>
                <a:srgbClr val="032D60"/>
              </a:solidFill>
              <a:latin typeface="IBM Plex Mono"/>
              <a:ea typeface="IBM Plex Mono"/>
              <a:cs typeface="IBM Plex Mono"/>
            </a:endParaRPr>
          </a:p>
          <a:p>
            <a:pPr marL="0"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unit</a:t>
            </a:r>
            <a:endParaRPr lang="en-US" sz="1138" b="0" i="0" kern="0" spc="0" dirty="0">
              <a:solidFill>
                <a:srgbClr val="032D60"/>
              </a:solidFill>
              <a:latin typeface="IBM Plex Mono"/>
              <a:ea typeface="IBM Plex Mono"/>
              <a:cs typeface="IBM Plex Mono"/>
            </a:endParaRPr>
          </a:p>
        </p:txBody>
      </p:sp>
      <p:sp>
        <p:nvSpPr>
          <p:cNvPr id="1030" name="11 · contract-text-3: Keep three fields distinct [p11-text-0033]"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three fields distinct</a:t>
            </a:r>
            <a:endParaRPr lang="en-US" sz="2000" b="1" i="0" kern="0" spc="-38" dirty="0">
              <a:solidFill>
                <a:srgbClr val="022AC0"/>
              </a:solidFill>
              <a:latin typeface="Manrope"/>
              <a:ea typeface="Manrope"/>
              <a:cs typeface="Manrope"/>
            </a:endParaRPr>
          </a:p>
        </p:txBody>
      </p:sp>
      <p:grpSp>
        <p:nvGrpSpPr>
          <p:cNvPr id="1052" name="11 · pill: Remedy"/>
          <p:cNvGrpSpPr/>
          <p:nvPr/>
        </p:nvGrpSpPr>
        <p:grpSpPr>
          <a:xfrm>
            <a:off x="6470650" y="2388870"/>
            <a:ext cx="800100" cy="358775"/>
            <a:chOff x="6470650" y="2388870"/>
            <a:chExt cx="800100" cy="358775"/>
          </a:xfrm>
        </p:grpSpPr>
        <p:sp>
          <p:nvSpPr>
            <p:cNvPr id="1031" name="11 · pill · surface [p11-e0034]"/>
            <p:cNvSpPr/>
            <p:nvPr/>
          </p:nvSpPr>
          <p:spPr>
            <a:xfrm>
              <a:off x="6470650" y="2388870"/>
              <a:ext cx="800100" cy="358775"/>
            </a:xfrm>
            <a:prstGeom prst="roundRect">
              <a:avLst>
                <a:gd name="adj" fmla="val 35398"/>
              </a:avLst>
            </a:prstGeom>
            <a:solidFill>
              <a:srgbClr val="EAE6FA"/>
            </a:solidFill>
            <a:ln>
              <a:noFill/>
            </a:ln>
          </p:spPr>
        </p:sp>
        <p:sp>
          <p:nvSpPr>
            <p:cNvPr id="1032" name="11 · pill: Remedy [p11-text-0034]" descr="Native editable Unicode text; authored line breaks retained."/>
            <p:cNvSpPr txBox="1"/>
            <p:nvPr/>
          </p:nvSpPr>
          <p:spPr>
            <a:xfrm>
              <a:off x="6584950" y="2465070"/>
              <a:ext cx="584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Remedy</a:t>
              </a:r>
              <a:endParaRPr lang="en-US" sz="1250" b="0" i="0" kern="0" spc="0" dirty="0">
                <a:solidFill>
                  <a:srgbClr val="032D60"/>
                </a:solidFill>
                <a:latin typeface="IBM Plex Mono"/>
                <a:ea typeface="IBM Plex Mono"/>
                <a:cs typeface="IBM Plex Mono"/>
              </a:endParaRPr>
            </a:p>
          </p:txBody>
        </p:sp>
      </p:grpSp>
      <p:grpSp>
        <p:nvGrpSpPr>
          <p:cNvPr id="1053" name="11 · pill: Unit"/>
          <p:cNvGrpSpPr/>
          <p:nvPr/>
        </p:nvGrpSpPr>
        <p:grpSpPr>
          <a:xfrm>
            <a:off x="7359650" y="2388870"/>
            <a:ext cx="609600" cy="358775"/>
            <a:chOff x="7359650" y="2388870"/>
            <a:chExt cx="609600" cy="358775"/>
          </a:xfrm>
        </p:grpSpPr>
        <p:sp>
          <p:nvSpPr>
            <p:cNvPr id="1033" name="11 · pill · surface [p11-e0036]"/>
            <p:cNvSpPr/>
            <p:nvPr/>
          </p:nvSpPr>
          <p:spPr>
            <a:xfrm>
              <a:off x="7359650" y="2388870"/>
              <a:ext cx="609600" cy="358775"/>
            </a:xfrm>
            <a:prstGeom prst="roundRect">
              <a:avLst>
                <a:gd name="adj" fmla="val 35398"/>
              </a:avLst>
            </a:prstGeom>
            <a:solidFill>
              <a:srgbClr val="EAE6FA"/>
            </a:solidFill>
            <a:ln>
              <a:noFill/>
            </a:ln>
          </p:spPr>
        </p:sp>
        <p:sp>
          <p:nvSpPr>
            <p:cNvPr id="1034" name="11 · pill: Unit [p11-text-0035]" descr="Native editable Unicode text; authored line breaks retained."/>
            <p:cNvSpPr txBox="1"/>
            <p:nvPr/>
          </p:nvSpPr>
          <p:spPr>
            <a:xfrm>
              <a:off x="7473950" y="2465070"/>
              <a:ext cx="3937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Unit</a:t>
              </a:r>
              <a:endParaRPr lang="en-US" sz="1250" b="0" i="0" kern="0" spc="0" dirty="0">
                <a:solidFill>
                  <a:srgbClr val="032D60"/>
                </a:solidFill>
                <a:latin typeface="IBM Plex Mono"/>
                <a:ea typeface="IBM Plex Mono"/>
                <a:cs typeface="IBM Plex Mono"/>
              </a:endParaRPr>
            </a:p>
          </p:txBody>
        </p:sp>
      </p:grpSp>
      <p:grpSp>
        <p:nvGrpSpPr>
          <p:cNvPr id="1054" name="11 · pill: Interpretation"/>
          <p:cNvGrpSpPr/>
          <p:nvPr/>
        </p:nvGrpSpPr>
        <p:grpSpPr>
          <a:xfrm>
            <a:off x="8058150" y="2388870"/>
            <a:ext cx="1562100" cy="358775"/>
            <a:chOff x="8058150" y="2388870"/>
            <a:chExt cx="1562100" cy="358775"/>
          </a:xfrm>
        </p:grpSpPr>
        <p:sp>
          <p:nvSpPr>
            <p:cNvPr id="1035" name="11 · pill · surface [p11-e0038]"/>
            <p:cNvSpPr/>
            <p:nvPr/>
          </p:nvSpPr>
          <p:spPr>
            <a:xfrm>
              <a:off x="8058150" y="2388870"/>
              <a:ext cx="1562100" cy="358775"/>
            </a:xfrm>
            <a:prstGeom prst="roundRect">
              <a:avLst>
                <a:gd name="adj" fmla="val 35398"/>
              </a:avLst>
            </a:prstGeom>
            <a:solidFill>
              <a:srgbClr val="EAE6FA"/>
            </a:solidFill>
            <a:ln>
              <a:noFill/>
            </a:ln>
          </p:spPr>
        </p:sp>
        <p:sp>
          <p:nvSpPr>
            <p:cNvPr id="1036" name="11 · pill: Interpretation [p11-text-0036]" descr="Native editable Unicode text; authored line breaks retained."/>
            <p:cNvSpPr txBox="1"/>
            <p:nvPr/>
          </p:nvSpPr>
          <p:spPr>
            <a:xfrm>
              <a:off x="8172450" y="2465070"/>
              <a:ext cx="1346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Interpretation</a:t>
              </a:r>
              <a:endParaRPr lang="en-US" sz="1250" b="0" i="0" kern="0" spc="0" dirty="0">
                <a:solidFill>
                  <a:srgbClr val="032D60"/>
                </a:solidFill>
                <a:latin typeface="IBM Plex Mono"/>
                <a:ea typeface="IBM Plex Mono"/>
                <a:cs typeface="IBM Plex Mono"/>
              </a:endParaRPr>
            </a:p>
          </p:txBody>
        </p:sp>
      </p:grpSp>
      <p:grpSp>
        <p:nvGrpSpPr>
          <p:cNvPr id="1055" name="11 · card mint: Clear + supported"/>
          <p:cNvGrpSpPr/>
          <p:nvPr/>
        </p:nvGrpSpPr>
        <p:grpSpPr>
          <a:xfrm>
            <a:off x="6610350" y="3096895"/>
            <a:ext cx="4749800" cy="569359"/>
            <a:chOff x="6610350" y="3096895"/>
            <a:chExt cx="4749800" cy="569359"/>
          </a:xfrm>
        </p:grpSpPr>
        <p:sp>
          <p:nvSpPr>
            <p:cNvPr id="1037" name="11 · strong: Clear + supported [p11-text-0037]" descr="Native editable Unicode text; authored line breaks retained."/>
            <p:cNvSpPr txBox="1"/>
            <p:nvPr/>
          </p:nvSpPr>
          <p:spPr>
            <a:xfrm>
              <a:off x="6610350" y="309689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Clear + supported</a:t>
              </a:r>
              <a:endParaRPr lang="en-US" sz="1500" b="1" i="0" kern="0" spc="0" dirty="0">
                <a:solidFill>
                  <a:srgbClr val="032D60"/>
                </a:solidFill>
                <a:latin typeface="Salesforce Sans"/>
                <a:ea typeface="Salesforce Sans"/>
                <a:cs typeface="Salesforce Sans"/>
              </a:endParaRPr>
            </a:p>
          </p:txBody>
        </p:sp>
        <p:sp>
          <p:nvSpPr>
            <p:cNvPr id="1038" name="11 · contract-text-4: Graph selects the applicable handler. [p11-text-0038]" descr="Native editable Unicode text; authored line breaks retained."/>
            <p:cNvSpPr txBox="1"/>
            <p:nvPr/>
          </p:nvSpPr>
          <p:spPr>
            <a:xfrm>
              <a:off x="6610350" y="341644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Graph selects the applicable handler.</a:t>
              </a:r>
              <a:endParaRPr lang="en-US" sz="1350" b="0" i="0" kern="0" spc="0" dirty="0">
                <a:solidFill>
                  <a:srgbClr val="032D60"/>
                </a:solidFill>
                <a:latin typeface="Salesforce Sans"/>
                <a:ea typeface="Salesforce Sans"/>
                <a:cs typeface="Salesforce Sans"/>
              </a:endParaRPr>
            </a:p>
          </p:txBody>
        </p:sp>
      </p:grpSp>
      <p:grpSp>
        <p:nvGrpSpPr>
          <p:cNvPr id="1056" name="11 · card sand: Meaning unclear"/>
          <p:cNvGrpSpPr/>
          <p:nvPr/>
        </p:nvGrpSpPr>
        <p:grpSpPr>
          <a:xfrm>
            <a:off x="6610350" y="4067175"/>
            <a:ext cx="4749800" cy="569359"/>
            <a:chOff x="6610350" y="4067175"/>
            <a:chExt cx="4749800" cy="569359"/>
          </a:xfrm>
        </p:grpSpPr>
        <p:sp>
          <p:nvSpPr>
            <p:cNvPr id="1039" name="11 · strong: Meaning unclear [p11-text-0039]" descr="Native editable Unicode text; authored line breaks retained."/>
            <p:cNvSpPr txBox="1"/>
            <p:nvPr/>
          </p:nvSpPr>
          <p:spPr>
            <a:xfrm>
              <a:off x="6610350" y="406717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Meaning unclear</a:t>
              </a:r>
              <a:endParaRPr lang="en-US" sz="1500" b="1" i="0" kern="0" spc="0" dirty="0">
                <a:solidFill>
                  <a:srgbClr val="032D60"/>
                </a:solidFill>
                <a:latin typeface="Salesforce Sans"/>
                <a:ea typeface="Salesforce Sans"/>
                <a:cs typeface="Salesforce Sans"/>
              </a:endParaRPr>
            </a:p>
          </p:txBody>
        </p:sp>
        <p:sp>
          <p:nvSpPr>
            <p:cNvPr id="1040" name="11 · contract-text-5: Ask one useful clarification. [p11-text-0040]" descr="Native editable Unicode text; authored line breaks retained."/>
            <p:cNvSpPr txBox="1"/>
            <p:nvPr/>
          </p:nvSpPr>
          <p:spPr>
            <a:xfrm>
              <a:off x="6610350" y="438672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Ask one useful clarification.</a:t>
              </a:r>
              <a:endParaRPr lang="en-US" sz="1350" b="0" i="0" kern="0" spc="0" dirty="0">
                <a:solidFill>
                  <a:srgbClr val="032D60"/>
                </a:solidFill>
                <a:latin typeface="Salesforce Sans"/>
                <a:ea typeface="Salesforce Sans"/>
                <a:cs typeface="Salesforce Sans"/>
              </a:endParaRPr>
            </a:p>
          </p:txBody>
        </p:sp>
      </p:grpSp>
      <p:sp>
        <p:nvSpPr>
          <p:cNvPr id="1041" name="11 · contract-text-6: Unsupported combinations use a configured specialist. Invalid output follows b [p11-text-0041]" descr="Native editable Unicode text; authored line breaks retained."/>
          <p:cNvSpPr txBox="1"/>
          <p:nvPr/>
        </p:nvSpPr>
        <p:spPr>
          <a:xfrm>
            <a:off x="6426200" y="4904740"/>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Unsupported combinations use a configured specialist.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Invalid output follows bounded recovery.</a:t>
            </a:r>
            <a:endParaRPr lang="en-US" sz="1250" b="0" i="0" kern="0" spc="0" dirty="0">
              <a:solidFill>
                <a:srgbClr val="032D60"/>
              </a:solidFill>
              <a:latin typeface="Salesforce Sans"/>
              <a:ea typeface="Salesforce Sans"/>
              <a:cs typeface="Salesforce Sans"/>
            </a:endParaRPr>
          </a:p>
        </p:txBody>
      </p:sp>
      <p:sp>
        <p:nvSpPr>
          <p:cNvPr id="1042" name="11 · tag: BOUNDED SEMANTIC QUESTION [p11-text-0042]"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BOUNDED SEMANTIC QUESTION</a:t>
            </a:r>
            <a:endParaRPr lang="en-US" sz="1050" b="0" i="0" kern="0" spc="50" dirty="0">
              <a:solidFill>
                <a:srgbClr val="022AC0">
                  <a:alpha val="85000"/>
                </a:srgbClr>
              </a:solidFill>
              <a:latin typeface="IBM Plex Mono"/>
              <a:ea typeface="IBM Plex Mono"/>
              <a:cs typeface="IBM Plex Mono"/>
            </a:endParaRPr>
          </a:p>
        </p:txBody>
      </p:sp>
      <p:grpSp>
        <p:nvGrpSpPr>
          <p:cNvPr id="1057" name="11 · source-line: TypeSafe quickstart · Intent routing · Structured decision criteria"/>
          <p:cNvGrpSpPr/>
          <p:nvPr/>
        </p:nvGrpSpPr>
        <p:grpSpPr>
          <a:xfrm>
            <a:off x="558800" y="6037898"/>
            <a:ext cx="11087100" cy="284456"/>
            <a:chOff x="558800" y="6037898"/>
            <a:chExt cx="11087100" cy="284456"/>
          </a:xfrm>
        </p:grpSpPr>
        <p:sp>
          <p:nvSpPr>
            <p:cNvPr id="1043" name="11 · source-line · top border [p11-e004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11 · span: TypeSafe quickstart · Intent routing · Structured decision criteria [p11-text-0043]" descr="Native editable Unicode text; authored line breaks retained."/>
            <p:cNvSpPr txBox="1"/>
            <p:nvPr/>
          </p:nvSpPr>
          <p:spPr>
            <a:xfrm>
              <a:off x="558800" y="6153126"/>
              <a:ext cx="357517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tructured decision criteria"/>
                </a:rPr>
                <a:t>Structured decision criteria</a:t>
              </a:r>
              <a:endParaRPr lang="en-US" sz="950" b="0" i="0" kern="0" spc="0" dirty="0" u="sng">
                <a:solidFill>
                  <a:srgbClr val="315A7A"/>
                </a:solidFill>
                <a:latin typeface="Salesforce Sans"/>
                <a:ea typeface="Salesforce Sans"/>
                <a:cs typeface="Salesforce Sans"/>
              </a:endParaRPr>
            </a:p>
          </p:txBody>
        </p:sp>
        <p:sp>
          <p:nvSpPr>
            <p:cNvPr id="1045" name="11 · span: Illustrative application contract [p11-text-0044]" descr="Native editable Unicode text; authored line breaks retained."/>
            <p:cNvSpPr txBox="1"/>
            <p:nvPr/>
          </p:nvSpPr>
          <p:spPr>
            <a:xfrm>
              <a:off x="9900512" y="6153126"/>
              <a:ext cx="174538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application contract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our bounded decisions, four contracts">
    <p:bg>
      <p:bgPr>
        <a:solidFill>
          <a:srgbClr val="FFFFFF"/>
        </a:solidFill>
      </p:bgPr>
    </p:bg>
    <p:spTree>
      <p:nvGrpSpPr>
        <p:cNvPr id="1" name=""/>
        <p:cNvGrpSpPr/>
        <p:nvPr/>
      </p:nvGrpSpPr>
      <p:grpSpPr>
        <a:xfrm>
          <a:off x="0" y="0"/>
          <a:ext cx="0" cy="0"/>
          <a:chOff x="0" y="0"/>
          <a:chExt cx="0" cy="0"/>
        </a:xfrm>
      </p:grpSpPr>
      <p:sp>
        <p:nvSpPr>
          <p:cNvPr id="1000" name="12 · slide light · surface [p1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12 · chrome-min: DISAGGREGATED INTELLIGENCE"/>
          <p:cNvGrpSpPr/>
          <p:nvPr/>
        </p:nvGrpSpPr>
        <p:grpSpPr>
          <a:xfrm>
            <a:off x="558800" y="356053"/>
            <a:ext cx="11087100" cy="187325"/>
            <a:chOff x="558800" y="356053"/>
            <a:chExt cx="11087100" cy="187325"/>
          </a:xfrm>
        </p:grpSpPr>
        <p:sp>
          <p:nvSpPr>
            <p:cNvPr id="1001" name="12 · l: DISAGGREGATED INTELLIGENCE [p1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2 · r: 12 / 36 [p1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12 / 36</a:t>
              </a:r>
              <a:endParaRPr lang="en-US" sz="950" b="1" i="0" kern="0" spc="65" dirty="0">
                <a:solidFill>
                  <a:srgbClr val="022AC0"/>
                </a:solidFill>
                <a:latin typeface="Salesforce Sans"/>
                <a:ea typeface="Salesforce Sans"/>
                <a:cs typeface="Salesforce Sans"/>
              </a:endParaRPr>
            </a:p>
          </p:txBody>
        </p:sp>
      </p:grpSp>
      <p:grpSp>
        <p:nvGrpSpPr>
          <p:cNvPr id="1030" name="12 · deck-head: 03 / SYSTEM ONE CAPABILITIES"/>
          <p:cNvGrpSpPr/>
          <p:nvPr/>
        </p:nvGrpSpPr>
        <p:grpSpPr>
          <a:xfrm>
            <a:off x="558800" y="775901"/>
            <a:ext cx="11087100" cy="871263"/>
            <a:chOff x="558800" y="775901"/>
            <a:chExt cx="11087100" cy="871263"/>
          </a:xfrm>
        </p:grpSpPr>
        <p:sp>
          <p:nvSpPr>
            <p:cNvPr id="1003" name="12 · primitives-eyebrow: 03 / SYSTEM ONE CAPABILITIES [p1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SYSTEM ONE CAPABILITIES</a:t>
              </a:r>
              <a:endParaRPr lang="en-US" sz="1050" b="1" i="0" kern="0" spc="68" dirty="0">
                <a:solidFill>
                  <a:srgbClr val="022AC0"/>
                </a:solidFill>
                <a:latin typeface="Salesforce Sans"/>
                <a:ea typeface="Salesforce Sans"/>
                <a:cs typeface="Salesforce Sans"/>
              </a:endParaRPr>
            </a:p>
          </p:txBody>
        </p:sp>
        <p:sp>
          <p:nvSpPr>
            <p:cNvPr id="1004" name="12 · primitives-title: Four bounded decisions, four contracts [p1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bounded decisions, four contracts</a:t>
              </a:r>
              <a:endParaRPr lang="en-US" sz="3600" b="1" i="0" kern="0" spc="-95" dirty="0">
                <a:solidFill>
                  <a:srgbClr val="022AC0"/>
                </a:solidFill>
                <a:latin typeface="Manrope"/>
                <a:ea typeface="Manrope"/>
                <a:cs typeface="Manrope"/>
              </a:endParaRPr>
            </a:p>
          </p:txBody>
        </p:sp>
      </p:grpSp>
      <p:sp>
        <p:nvSpPr>
          <p:cNvPr id="1005" name="12 · four-cards · top border [p1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12 · card lilac: "/>
          <p:cNvGrpSpPr/>
          <p:nvPr/>
        </p:nvGrpSpPr>
        <p:grpSpPr>
          <a:xfrm>
            <a:off x="558800" y="1930400"/>
            <a:ext cx="2644775" cy="4102100"/>
            <a:chOff x="558800" y="1930400"/>
            <a:chExt cx="2644775" cy="4102100"/>
          </a:xfrm>
        </p:grpSpPr>
        <p:sp>
          <p:nvSpPr>
            <p:cNvPr id="1006" name="12 · card lilac · surface [p12-e0009]"/>
            <p:cNvSpPr/>
            <p:nvPr/>
          </p:nvSpPr>
          <p:spPr>
            <a:xfrm>
              <a:off x="558800" y="1930400"/>
              <a:ext cx="2644775" cy="4102100"/>
            </a:xfrm>
            <a:prstGeom prst="roundRect">
              <a:avLst>
                <a:gd name="adj" fmla="val 5282"/>
              </a:avLst>
            </a:prstGeom>
            <a:solidFill>
              <a:srgbClr val="EAE6FA"/>
            </a:solidFill>
            <a:ln>
              <a:noFill/>
            </a:ln>
          </p:spPr>
        </p:sp>
        <p:sp>
          <p:nvSpPr>
            <p:cNvPr id="1007" name="12 · card lilac · outline [p1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12 · card sand: "/>
          <p:cNvGrpSpPr/>
          <p:nvPr/>
        </p:nvGrpSpPr>
        <p:grpSpPr>
          <a:xfrm>
            <a:off x="3368675" y="1930400"/>
            <a:ext cx="2644775" cy="4102100"/>
            <a:chOff x="3368675" y="1930400"/>
            <a:chExt cx="2644775" cy="4102100"/>
          </a:xfrm>
        </p:grpSpPr>
        <p:sp>
          <p:nvSpPr>
            <p:cNvPr id="1008" name="12 · card sand · surface [p12-e0010]"/>
            <p:cNvSpPr/>
            <p:nvPr/>
          </p:nvSpPr>
          <p:spPr>
            <a:xfrm>
              <a:off x="3368675" y="1930400"/>
              <a:ext cx="2644775" cy="4102100"/>
            </a:xfrm>
            <a:prstGeom prst="roundRect">
              <a:avLst>
                <a:gd name="adj" fmla="val 5282"/>
              </a:avLst>
            </a:prstGeom>
            <a:solidFill>
              <a:srgbClr val="FBF0CF"/>
            </a:solidFill>
            <a:ln>
              <a:noFill/>
            </a:ln>
          </p:spPr>
        </p:sp>
        <p:sp>
          <p:nvSpPr>
            <p:cNvPr id="1009" name="12 · card sand · outline [p1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12 · card mint: "/>
          <p:cNvGrpSpPr/>
          <p:nvPr/>
        </p:nvGrpSpPr>
        <p:grpSpPr>
          <a:xfrm>
            <a:off x="6178550" y="1930400"/>
            <a:ext cx="2644775" cy="4102100"/>
            <a:chOff x="6178550" y="1930400"/>
            <a:chExt cx="2644775" cy="4102100"/>
          </a:xfrm>
        </p:grpSpPr>
        <p:sp>
          <p:nvSpPr>
            <p:cNvPr id="1010" name="12 · card mint · surface [p12-e0011]"/>
            <p:cNvSpPr/>
            <p:nvPr/>
          </p:nvSpPr>
          <p:spPr>
            <a:xfrm>
              <a:off x="6178550" y="1930400"/>
              <a:ext cx="2644775" cy="4102100"/>
            </a:xfrm>
            <a:prstGeom prst="roundRect">
              <a:avLst>
                <a:gd name="adj" fmla="val 5282"/>
              </a:avLst>
            </a:prstGeom>
            <a:solidFill>
              <a:srgbClr val="DDF3ED"/>
            </a:solidFill>
            <a:ln>
              <a:noFill/>
            </a:ln>
          </p:spPr>
        </p:sp>
        <p:sp>
          <p:nvSpPr>
            <p:cNvPr id="1011" name="12 · card mint · outline [p1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12 · card blue: "/>
          <p:cNvGrpSpPr/>
          <p:nvPr/>
        </p:nvGrpSpPr>
        <p:grpSpPr>
          <a:xfrm>
            <a:off x="8988425" y="1930400"/>
            <a:ext cx="2644775" cy="4102100"/>
            <a:chOff x="8988425" y="1930400"/>
            <a:chExt cx="2644775" cy="4102100"/>
          </a:xfrm>
        </p:grpSpPr>
        <p:sp>
          <p:nvSpPr>
            <p:cNvPr id="1012" name="12 · card blue · surface [p12-e0012]"/>
            <p:cNvSpPr/>
            <p:nvPr/>
          </p:nvSpPr>
          <p:spPr>
            <a:xfrm>
              <a:off x="8988425" y="1930400"/>
              <a:ext cx="2644775" cy="4102100"/>
            </a:xfrm>
            <a:prstGeom prst="roundRect">
              <a:avLst>
                <a:gd name="adj" fmla="val 5282"/>
              </a:avLst>
            </a:prstGeom>
            <a:solidFill>
              <a:srgbClr val="DCEEFE"/>
            </a:solidFill>
            <a:ln>
              <a:noFill/>
            </a:ln>
          </p:spPr>
        </p:sp>
        <p:sp>
          <p:nvSpPr>
            <p:cNvPr id="1013" name="12 · card blue · outline [p1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12 · card lilac: Classification"/>
          <p:cNvGrpSpPr/>
          <p:nvPr/>
        </p:nvGrpSpPr>
        <p:grpSpPr>
          <a:xfrm>
            <a:off x="781050" y="2486534"/>
            <a:ext cx="2212975" cy="1213686"/>
            <a:chOff x="781050" y="2486534"/>
            <a:chExt cx="2212975" cy="1213686"/>
          </a:xfrm>
        </p:grpSpPr>
        <p:sp>
          <p:nvSpPr>
            <p:cNvPr id="1014" name="12 · primitives-text-1: Classification [p12-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Classification</a:t>
              </a:r>
              <a:endParaRPr lang="en-US" sz="2000" b="1" i="0" kern="0" spc="-38" dirty="0">
                <a:solidFill>
                  <a:srgbClr val="022AC0"/>
                </a:solidFill>
                <a:latin typeface="Manrope"/>
                <a:ea typeface="Manrope"/>
                <a:cs typeface="Manrope"/>
              </a:endParaRPr>
            </a:p>
          </p:txBody>
        </p:sp>
        <p:sp>
          <p:nvSpPr>
            <p:cNvPr id="1015" name="12 · primitives-text-2: Which route? Select a category. [p12-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Which route?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Select a category.</a:t>
              </a:r>
              <a:endParaRPr lang="en-US" sz="1400" b="0" i="0" kern="0" spc="0" dirty="0">
                <a:solidFill>
                  <a:srgbClr val="032D60"/>
                </a:solidFill>
                <a:latin typeface="Salesforce Sans"/>
                <a:ea typeface="Salesforce Sans"/>
                <a:cs typeface="Salesforce Sans"/>
              </a:endParaRPr>
            </a:p>
          </p:txBody>
        </p:sp>
      </p:grpSp>
      <p:grpSp>
        <p:nvGrpSpPr>
          <p:cNvPr id="1036" name="12 · card sand: Noul"/>
          <p:cNvGrpSpPr/>
          <p:nvPr/>
        </p:nvGrpSpPr>
        <p:grpSpPr>
          <a:xfrm>
            <a:off x="3590925" y="2486534"/>
            <a:ext cx="2212975" cy="1466162"/>
            <a:chOff x="3590925" y="2486534"/>
            <a:chExt cx="2212975" cy="1466162"/>
          </a:xfrm>
        </p:grpSpPr>
        <p:sp>
          <p:nvSpPr>
            <p:cNvPr id="1016" name="12 · primitives-text-3: Noul [p12-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Noul</a:t>
              </a:r>
              <a:endParaRPr lang="en-US" sz="2000" b="1" i="0" kern="0" spc="-38" dirty="0">
                <a:solidFill>
                  <a:srgbClr val="022AC0"/>
                </a:solidFill>
                <a:latin typeface="Manrope"/>
                <a:ea typeface="Manrope"/>
                <a:cs typeface="Manrope"/>
              </a:endParaRPr>
            </a:p>
          </p:txBody>
        </p:sp>
        <p:sp>
          <p:nvSpPr>
            <p:cNvPr id="1017" name="12 · primitives-text-4: Return requested? Assess a yes/no proposition. [p12-text-0016]" descr="Native editable Unicode text; authored line breaks retained."/>
            <p:cNvSpPr txBox="1"/>
            <p:nvPr/>
          </p:nvSpPr>
          <p:spPr>
            <a:xfrm>
              <a:off x="3590925" y="2936442"/>
              <a:ext cx="2212975" cy="101625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Return requested?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Assess a yes/no</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proposition.</a:t>
              </a:r>
              <a:endParaRPr lang="en-US" sz="1400" b="0" i="0" kern="0" spc="0" dirty="0">
                <a:solidFill>
                  <a:srgbClr val="032D60"/>
                </a:solidFill>
                <a:latin typeface="Salesforce Sans"/>
                <a:ea typeface="Salesforce Sans"/>
                <a:cs typeface="Salesforce Sans"/>
              </a:endParaRPr>
            </a:p>
          </p:txBody>
        </p:sp>
      </p:grpSp>
      <p:grpSp>
        <p:nvGrpSpPr>
          <p:cNvPr id="1037" name="12 · card mint: Scoring"/>
          <p:cNvGrpSpPr/>
          <p:nvPr/>
        </p:nvGrpSpPr>
        <p:grpSpPr>
          <a:xfrm>
            <a:off x="6400800" y="2486534"/>
            <a:ext cx="2212975" cy="1213686"/>
            <a:chOff x="6400800" y="2486534"/>
            <a:chExt cx="2212975" cy="1213686"/>
          </a:xfrm>
        </p:grpSpPr>
        <p:sp>
          <p:nvSpPr>
            <p:cNvPr id="1018" name="12 · primitives-text-5: Scoring [p12-text-0017]" descr="Native editable Unicode text; authored line breaks retained."/>
            <p:cNvSpPr txBox="1"/>
            <p:nvPr/>
          </p:nvSpPr>
          <p:spPr>
            <a:xfrm>
              <a:off x="640080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Scoring</a:t>
              </a:r>
              <a:endParaRPr lang="en-US" sz="2000" b="1" i="0" kern="0" spc="-38" dirty="0">
                <a:solidFill>
                  <a:srgbClr val="022AC0"/>
                </a:solidFill>
                <a:latin typeface="Manrope"/>
                <a:ea typeface="Manrope"/>
                <a:cs typeface="Manrope"/>
              </a:endParaRPr>
            </a:p>
          </p:txBody>
        </p:sp>
        <p:sp>
          <p:nvSpPr>
            <p:cNvPr id="1019" name="12 · primitives-text-6: How urgent is this case? Use an anchored rubric. [p12-text-0018]" descr="Native editable Unicode text; authored line breaks retained."/>
            <p:cNvSpPr txBox="1"/>
            <p:nvPr/>
          </p:nvSpPr>
          <p:spPr>
            <a:xfrm>
              <a:off x="640080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How urgent is this case?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an anchored rubric.</a:t>
              </a:r>
              <a:endParaRPr lang="en-US" sz="1400" b="0" i="0" kern="0" spc="0" dirty="0">
                <a:solidFill>
                  <a:srgbClr val="032D60"/>
                </a:solidFill>
                <a:latin typeface="Salesforce Sans"/>
                <a:ea typeface="Salesforce Sans"/>
                <a:cs typeface="Salesforce Sans"/>
              </a:endParaRPr>
            </a:p>
          </p:txBody>
        </p:sp>
      </p:grpSp>
      <p:grpSp>
        <p:nvGrpSpPr>
          <p:cNvPr id="1038" name="12 · card blue: Endpointing"/>
          <p:cNvGrpSpPr/>
          <p:nvPr/>
        </p:nvGrpSpPr>
        <p:grpSpPr>
          <a:xfrm>
            <a:off x="9210675" y="2486534"/>
            <a:ext cx="2212975" cy="1213686"/>
            <a:chOff x="9210675" y="2486534"/>
            <a:chExt cx="2212975" cy="1213686"/>
          </a:xfrm>
        </p:grpSpPr>
        <p:sp>
          <p:nvSpPr>
            <p:cNvPr id="1020" name="12 · primitives-text-7: Endpointing [p12-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Endpointing</a:t>
              </a:r>
              <a:endParaRPr lang="en-US" sz="2000" b="1" i="0" kern="0" spc="-38" dirty="0">
                <a:solidFill>
                  <a:srgbClr val="022AC0"/>
                </a:solidFill>
                <a:latin typeface="Manrope"/>
                <a:ea typeface="Manrope"/>
                <a:cs typeface="Manrope"/>
              </a:endParaRPr>
            </a:p>
          </p:txBody>
        </p:sp>
        <p:sp>
          <p:nvSpPr>
            <p:cNvPr id="1021" name="12 · primitives-text-8: Has the turn ended? Judge the available prefix. [p12-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Has the turn ended?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Judge the available prefix.</a:t>
              </a:r>
              <a:endParaRPr lang="en-US" sz="1400" b="0" i="0" kern="0" spc="0" dirty="0">
                <a:solidFill>
                  <a:srgbClr val="032D60"/>
                </a:solidFill>
                <a:latin typeface="Salesforce Sans"/>
                <a:ea typeface="Salesforce Sans"/>
                <a:cs typeface="Salesforce Sans"/>
              </a:endParaRPr>
            </a:p>
          </p:txBody>
        </p:sp>
      </p:grpSp>
      <p:sp>
        <p:nvSpPr>
          <p:cNvPr id="1022" name="12 · tag: 01 [p12-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01</a:t>
            </a:r>
            <a:endParaRPr lang="en-US" sz="1050" b="0" i="0" kern="0" spc="50" dirty="0">
              <a:solidFill>
                <a:srgbClr val="022AC0">
                  <a:alpha val="85000"/>
                </a:srgbClr>
              </a:solidFill>
              <a:latin typeface="IBM Plex Mono"/>
              <a:ea typeface="IBM Plex Mono"/>
              <a:cs typeface="IBM Plex Mono"/>
            </a:endParaRPr>
          </a:p>
        </p:txBody>
      </p:sp>
      <p:sp>
        <p:nvSpPr>
          <p:cNvPr id="1023" name="12 · tag: 02 [p12-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02</a:t>
            </a:r>
            <a:endParaRPr lang="en-US" sz="1050" b="0" i="0" kern="0" spc="50" dirty="0">
              <a:solidFill>
                <a:srgbClr val="022AC0">
                  <a:alpha val="85000"/>
                </a:srgbClr>
              </a:solidFill>
              <a:latin typeface="IBM Plex Mono"/>
              <a:ea typeface="IBM Plex Mono"/>
              <a:cs typeface="IBM Plex Mono"/>
            </a:endParaRPr>
          </a:p>
        </p:txBody>
      </p:sp>
      <p:sp>
        <p:nvSpPr>
          <p:cNvPr id="1024" name="12 · tag: 03 [p12-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03</a:t>
            </a:r>
            <a:endParaRPr lang="en-US" sz="1050" b="0" i="0" kern="0" spc="50" dirty="0">
              <a:solidFill>
                <a:srgbClr val="022AC0">
                  <a:alpha val="85000"/>
                </a:srgbClr>
              </a:solidFill>
              <a:latin typeface="IBM Plex Mono"/>
              <a:ea typeface="IBM Plex Mono"/>
              <a:cs typeface="IBM Plex Mono"/>
            </a:endParaRPr>
          </a:p>
        </p:txBody>
      </p:sp>
      <p:sp>
        <p:nvSpPr>
          <p:cNvPr id="1025" name="12 · tag: 04 [p12-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04</a:t>
            </a:r>
            <a:endParaRPr lang="en-US" sz="1050" b="0" i="0" kern="0" spc="50" dirty="0">
              <a:solidFill>
                <a:srgbClr val="022AC0">
                  <a:alpha val="85000"/>
                </a:srgbClr>
              </a:solidFill>
              <a:latin typeface="IBM Plex Mono"/>
              <a:ea typeface="IBM Plex Mono"/>
              <a:cs typeface="IBM Plex Mono"/>
            </a:endParaRPr>
          </a:p>
        </p:txBody>
      </p:sp>
      <p:grpSp>
        <p:nvGrpSpPr>
          <p:cNvPr id="1039" name="12 · source-line: TypeSafe quickstart · Noul · Score"/>
          <p:cNvGrpSpPr/>
          <p:nvPr/>
        </p:nvGrpSpPr>
        <p:grpSpPr>
          <a:xfrm>
            <a:off x="558800" y="6037898"/>
            <a:ext cx="11087100" cy="284456"/>
            <a:chOff x="558800" y="6037898"/>
            <a:chExt cx="11087100" cy="284456"/>
          </a:xfrm>
        </p:grpSpPr>
        <p:sp>
          <p:nvSpPr>
            <p:cNvPr id="1026" name="12 · source-line · top border [p12-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12 · span: TypeSafe quickstart · Noul · Score [p12-text-0025]" descr="Native editable Unicode text; authored line breaks retained."/>
            <p:cNvSpPr txBox="1"/>
            <p:nvPr/>
          </p:nvSpPr>
          <p:spPr>
            <a:xfrm>
              <a:off x="558800" y="6153126"/>
              <a:ext cx="18691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core"/>
                </a:rPr>
                <a:t>Score</a:t>
              </a:r>
              <a:endParaRPr lang="en-US" sz="950" b="0" i="0" kern="0" spc="0" dirty="0" u="sng">
                <a:solidFill>
                  <a:srgbClr val="315A7A"/>
                </a:solidFill>
                <a:latin typeface="Salesforce Sans"/>
                <a:ea typeface="Salesforce Sans"/>
                <a:cs typeface="Salesforce Sans"/>
              </a:endParaRPr>
            </a:p>
          </p:txBody>
        </p:sp>
        <p:sp>
          <p:nvSpPr>
            <p:cNvPr id="1028" name="12 · span: koa-action capabilities: supplied brief; interfaces unspecified [p12-text-0026]" descr="Native editable Unicode text; authored line breaks retained."/>
            <p:cNvSpPr txBox="1"/>
            <p:nvPr/>
          </p:nvSpPr>
          <p:spPr>
            <a:xfrm>
              <a:off x="8255304" y="6153126"/>
              <a:ext cx="33905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koa-action capabilities: supplied brief; interfaces unspecified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robability and intensity answer different questions">
    <p:bg>
      <p:bgPr>
        <a:solidFill>
          <a:srgbClr val="FFFFFF"/>
        </a:solidFill>
      </p:bgPr>
    </p:bg>
    <p:spTree>
      <p:nvGrpSpPr>
        <p:cNvPr id="1" name=""/>
        <p:cNvGrpSpPr/>
        <p:nvPr/>
      </p:nvGrpSpPr>
      <p:grpSpPr>
        <a:xfrm>
          <a:off x="0" y="0"/>
          <a:ext cx="0" cy="0"/>
          <a:chOff x="0" y="0"/>
          <a:chExt cx="0" cy="0"/>
        </a:xfrm>
      </p:grpSpPr>
      <p:sp>
        <p:nvSpPr>
          <p:cNvPr id="1000" name="13 · slide dark · surface [p1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5" name="13 · chrome-min: DISAGGREGATED INTELLIGENCE"/>
          <p:cNvGrpSpPr/>
          <p:nvPr/>
        </p:nvGrpSpPr>
        <p:grpSpPr>
          <a:xfrm>
            <a:off x="558800" y="356053"/>
            <a:ext cx="11087100" cy="187325"/>
            <a:chOff x="558800" y="356053"/>
            <a:chExt cx="11087100" cy="187325"/>
          </a:xfrm>
        </p:grpSpPr>
        <p:sp>
          <p:nvSpPr>
            <p:cNvPr id="1001" name="13 · l: DISAGGREGATED INTELLIGENCE [p13-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3 · r: 13 / 36 [p13-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13 / 36</a:t>
              </a:r>
              <a:endParaRPr lang="en-US" sz="950" b="1" i="0" kern="0" spc="65" dirty="0">
                <a:solidFill>
                  <a:srgbClr val="022AC0"/>
                </a:solidFill>
                <a:latin typeface="Salesforce Sans"/>
                <a:ea typeface="Salesforce Sans"/>
                <a:cs typeface="Salesforce Sans"/>
              </a:endParaRPr>
            </a:p>
          </p:txBody>
        </p:sp>
      </p:grpSp>
      <p:grpSp>
        <p:nvGrpSpPr>
          <p:cNvPr id="1026" name="13 · deck-head: 03 / GIVE EVERY NUMBER A MEANING"/>
          <p:cNvGrpSpPr/>
          <p:nvPr/>
        </p:nvGrpSpPr>
        <p:grpSpPr>
          <a:xfrm>
            <a:off x="558800" y="775901"/>
            <a:ext cx="11087100" cy="805579"/>
            <a:chOff x="558800" y="775901"/>
            <a:chExt cx="11087100" cy="805579"/>
          </a:xfrm>
        </p:grpSpPr>
        <p:sp>
          <p:nvSpPr>
            <p:cNvPr id="1003" name="13 · semantics-eyebrow: 03 / GIVE EVERY NUMBER A MEANING [p13-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GIVE EVERY NUMBER A MEANING</a:t>
              </a:r>
              <a:endParaRPr lang="en-US" sz="1050" b="1" i="0" kern="0" spc="68" dirty="0">
                <a:solidFill>
                  <a:srgbClr val="022AC0"/>
                </a:solidFill>
                <a:latin typeface="Salesforce Sans"/>
                <a:ea typeface="Salesforce Sans"/>
                <a:cs typeface="Salesforce Sans"/>
              </a:endParaRPr>
            </a:p>
          </p:txBody>
        </p:sp>
        <p:sp>
          <p:nvSpPr>
            <p:cNvPr id="1004" name="13 · semantics-title: Probability and intensity answer different questions [p13-text-0013]"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Probability and intensity answer different questions</a:t>
              </a:r>
              <a:endParaRPr lang="en-US" sz="3200" b="1" i="0" kern="0" spc="-85" dirty="0">
                <a:solidFill>
                  <a:srgbClr val="022AC0"/>
                </a:solidFill>
                <a:latin typeface="Manrope"/>
                <a:ea typeface="Manrope"/>
                <a:cs typeface="Manrope"/>
              </a:endParaRPr>
            </a:p>
          </p:txBody>
        </p:sp>
      </p:grpSp>
      <p:grpSp>
        <p:nvGrpSpPr>
          <p:cNvPr id="1027" name="13 · card sand: "/>
          <p:cNvGrpSpPr/>
          <p:nvPr/>
        </p:nvGrpSpPr>
        <p:grpSpPr>
          <a:xfrm>
            <a:off x="558800" y="1930400"/>
            <a:ext cx="5232400" cy="2530602"/>
            <a:chOff x="558800" y="1930400"/>
            <a:chExt cx="5232400" cy="2530602"/>
          </a:xfrm>
        </p:grpSpPr>
        <p:sp>
          <p:nvSpPr>
            <p:cNvPr id="1005" name="13 · card sand · surface [p13-e0008]"/>
            <p:cNvSpPr/>
            <p:nvPr/>
          </p:nvSpPr>
          <p:spPr>
            <a:xfrm>
              <a:off x="558800" y="1930400"/>
              <a:ext cx="5232400" cy="2530602"/>
            </a:xfrm>
            <a:prstGeom prst="roundRect">
              <a:avLst>
                <a:gd name="adj" fmla="val 5520"/>
              </a:avLst>
            </a:prstGeom>
            <a:solidFill>
              <a:srgbClr val="FBF0CF"/>
            </a:solidFill>
            <a:ln>
              <a:noFill/>
            </a:ln>
          </p:spPr>
        </p:sp>
        <p:sp>
          <p:nvSpPr>
            <p:cNvPr id="1006" name="13 · card sand · outline [p13-e0008]"/>
            <p:cNvSpPr/>
            <p:nvPr/>
          </p:nvSpPr>
          <p:spPr>
            <a:xfrm>
              <a:off x="561975" y="1933575"/>
              <a:ext cx="5226050" cy="2524252"/>
            </a:xfrm>
            <a:prstGeom prst="roundRect">
              <a:avLst>
                <a:gd name="adj" fmla="val 5409"/>
              </a:avLst>
            </a:prstGeom>
            <a:noFill/>
            <a:ln w="6350" algn="ctr">
              <a:solidFill>
                <a:srgbClr val="FFFFFF">
                  <a:alpha val="85098"/>
                </a:srgbClr>
              </a:solidFill>
              <a:prstDash val="solid"/>
            </a:ln>
          </p:spPr>
        </p:sp>
        <p:sp>
          <p:nvSpPr>
            <p:cNvPr id="1007" name="13 · rule-line · surface [p13-e0009]"/>
            <p:cNvSpPr/>
            <p:nvPr/>
          </p:nvSpPr>
          <p:spPr>
            <a:xfrm>
              <a:off x="781050" y="3587877"/>
              <a:ext cx="4787900" cy="6350"/>
            </a:xfrm>
            <a:prstGeom prst="rect">
              <a:avLst/>
            </a:prstGeom>
            <a:solidFill>
              <a:srgbClr val="A9CBDC"/>
            </a:solidFill>
            <a:ln>
              <a:noFill/>
            </a:ln>
          </p:spPr>
        </p:sp>
      </p:grpSp>
      <p:grpSp>
        <p:nvGrpSpPr>
          <p:cNvPr id="1028" name="13 · card mint: "/>
          <p:cNvGrpSpPr/>
          <p:nvPr/>
        </p:nvGrpSpPr>
        <p:grpSpPr>
          <a:xfrm>
            <a:off x="6426200" y="1930400"/>
            <a:ext cx="5105400" cy="2646553"/>
            <a:chOff x="6426200" y="1930400"/>
            <a:chExt cx="5105400" cy="2646553"/>
          </a:xfrm>
        </p:grpSpPr>
        <p:sp>
          <p:nvSpPr>
            <p:cNvPr id="1008" name="13 · card mint · surface [p13-e0010]"/>
            <p:cNvSpPr/>
            <p:nvPr/>
          </p:nvSpPr>
          <p:spPr>
            <a:xfrm>
              <a:off x="6426200" y="1930400"/>
              <a:ext cx="5105400" cy="2646553"/>
            </a:xfrm>
            <a:prstGeom prst="roundRect">
              <a:avLst>
                <a:gd name="adj" fmla="val 5279"/>
              </a:avLst>
            </a:prstGeom>
            <a:solidFill>
              <a:srgbClr val="DDF3ED"/>
            </a:solidFill>
            <a:ln>
              <a:noFill/>
            </a:ln>
          </p:spPr>
        </p:sp>
        <p:sp>
          <p:nvSpPr>
            <p:cNvPr id="1009" name="13 · card mint · outline [p13-e0010]"/>
            <p:cNvSpPr/>
            <p:nvPr/>
          </p:nvSpPr>
          <p:spPr>
            <a:xfrm>
              <a:off x="6429375" y="1933575"/>
              <a:ext cx="5099050" cy="2640203"/>
            </a:xfrm>
            <a:prstGeom prst="roundRect">
              <a:avLst>
                <a:gd name="adj" fmla="val 5171"/>
              </a:avLst>
            </a:prstGeom>
            <a:noFill/>
            <a:ln w="6350" algn="ctr">
              <a:solidFill>
                <a:srgbClr val="FFFFFF">
                  <a:alpha val="85098"/>
                </a:srgbClr>
              </a:solidFill>
              <a:prstDash val="solid"/>
            </a:ln>
          </p:spPr>
        </p:sp>
        <p:sp>
          <p:nvSpPr>
            <p:cNvPr id="1010" name="13 · ledger · top border [p13-e0011]"/>
            <p:cNvSpPr/>
            <p:nvPr/>
          </p:nvSpPr>
          <p:spPr>
            <a:xfrm>
              <a:off x="6648450" y="3019425"/>
              <a:ext cx="4660900" cy="6"/>
            </a:xfrm>
            <a:custGeom>
              <a:avLst/>
              <a:gdLst/>
              <a:ahLst/>
              <a:cxnLst/>
              <a:rect l="0" t="0" r="r" b="b"/>
              <a:pathLst>
                <a:path w="4660900" h="6" fill="none" stroke="1">
                  <a:moveTo>
                    <a:pt x="0" y="0"/>
                  </a:moveTo>
                  <a:lnTo>
                    <a:pt x="4660900" y="0"/>
                  </a:lnTo>
                </a:path>
              </a:pathLst>
            </a:custGeom>
            <a:noFill/>
            <a:ln w="12700" cap="flat">
              <a:solidFill>
                <a:srgbClr val="A4C4DC">
                  <a:alpha val="50196"/>
                </a:srgbClr>
              </a:solidFill>
              <a:prstDash val="solid"/>
            </a:ln>
          </p:spPr>
        </p:sp>
      </p:grpSp>
      <p:sp>
        <p:nvSpPr>
          <p:cNvPr id="1011" name="13 · semantics-text-6 · top border [p13-e0012]"/>
          <p:cNvSpPr/>
          <p:nvPr/>
        </p:nvSpPr>
        <p:spPr>
          <a:xfrm>
            <a:off x="6648450" y="3459226"/>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sp>
        <p:nvSpPr>
          <p:cNvPr id="1012" name="13 · semantics-text-7 · top border [p13-e0013]"/>
          <p:cNvSpPr/>
          <p:nvPr/>
        </p:nvSpPr>
        <p:spPr>
          <a:xfrm>
            <a:off x="6648450" y="3895852"/>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grpSp>
        <p:nvGrpSpPr>
          <p:cNvPr id="1029" name="13 · card sand: Was a return requested?"/>
          <p:cNvGrpSpPr/>
          <p:nvPr/>
        </p:nvGrpSpPr>
        <p:grpSpPr>
          <a:xfrm>
            <a:off x="781050" y="2486534"/>
            <a:ext cx="4800600" cy="1746503"/>
            <a:chOff x="781050" y="2486534"/>
            <a:chExt cx="4800600" cy="1746503"/>
          </a:xfrm>
        </p:grpSpPr>
        <p:sp>
          <p:nvSpPr>
            <p:cNvPr id="1013" name="13 · semantics-text-1: Was a return requested? [p13-text-0014]"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Was a return requested?</a:t>
              </a:r>
              <a:endParaRPr lang="en-US" sz="2000" b="1" i="0" kern="0" spc="-38" dirty="0">
                <a:solidFill>
                  <a:srgbClr val="022AC0"/>
                </a:solidFill>
                <a:latin typeface="Manrope"/>
                <a:ea typeface="Manrope"/>
                <a:cs typeface="Manrope"/>
              </a:endParaRPr>
            </a:p>
          </p:txBody>
        </p:sp>
        <p:sp>
          <p:nvSpPr>
            <p:cNvPr id="1014" name="13 · semantics-text-2: A probability-valued yes/no judgment. [p13-text-0015]" descr="Native editable Unicode text; authored line breaks retained."/>
            <p:cNvSpPr txBox="1"/>
            <p:nvPr/>
          </p:nvSpPr>
          <p:spPr>
            <a:xfrm>
              <a:off x="781050" y="293644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 probability-valued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yes/no judgment.</a:t>
              </a:r>
              <a:endParaRPr lang="en-US" sz="1400" b="0" i="0" kern="0" spc="0" dirty="0">
                <a:solidFill>
                  <a:srgbClr val="032D60"/>
                </a:solidFill>
                <a:latin typeface="Salesforce Sans"/>
                <a:ea typeface="Salesforce Sans"/>
                <a:cs typeface="Salesforce Sans"/>
              </a:endParaRPr>
            </a:p>
          </p:txBody>
        </p:sp>
        <p:sp>
          <p:nvSpPr>
            <p:cNvPr id="1015" name="13 · semantics-text-3: An uncertain answer does not mean “a medium amount of returning.” [p13-text-0016]" descr="Native editable Unicode text; authored line breaks retained."/>
            <p:cNvSpPr txBox="1"/>
            <p:nvPr/>
          </p:nvSpPr>
          <p:spPr>
            <a:xfrm>
              <a:off x="781050" y="3766313"/>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An uncertain answer does not mean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 medium amount of returning.”</a:t>
              </a:r>
              <a:endParaRPr lang="en-US" sz="1250" b="0" i="0" kern="0" spc="0" dirty="0">
                <a:solidFill>
                  <a:srgbClr val="032D60"/>
                </a:solidFill>
                <a:latin typeface="Salesforce Sans"/>
                <a:ea typeface="Salesforce Sans"/>
                <a:cs typeface="Salesforce Sans"/>
              </a:endParaRPr>
            </a:p>
          </p:txBody>
        </p:sp>
      </p:grpSp>
      <p:grpSp>
        <p:nvGrpSpPr>
          <p:cNvPr id="1030" name="13 · card mint: How urgent is the case?"/>
          <p:cNvGrpSpPr/>
          <p:nvPr/>
        </p:nvGrpSpPr>
        <p:grpSpPr>
          <a:xfrm>
            <a:off x="6648450" y="2486534"/>
            <a:ext cx="4673600" cy="899234"/>
            <a:chOff x="6648450" y="2486534"/>
            <a:chExt cx="4673600" cy="899234"/>
          </a:xfrm>
        </p:grpSpPr>
        <p:sp>
          <p:nvSpPr>
            <p:cNvPr id="1016" name="13 · semantics-text-4: How urgent is the case? [p13-text-0017]"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How urgent is the case?</a:t>
              </a:r>
              <a:endParaRPr lang="en-US" sz="2000" b="1" i="0" kern="0" spc="-38" dirty="0">
                <a:solidFill>
                  <a:srgbClr val="022AC0"/>
                </a:solidFill>
                <a:latin typeface="Manrope"/>
                <a:ea typeface="Manrope"/>
                <a:cs typeface="Manrope"/>
              </a:endParaRPr>
            </a:p>
          </p:txBody>
        </p:sp>
        <p:sp>
          <p:nvSpPr>
            <p:cNvPr id="1017" name="13 · semantics-text-5: Can wait [p13-text-0018]" descr="Native editable Unicode text; authored line breaks retained."/>
            <p:cNvSpPr txBox="1"/>
            <p:nvPr/>
          </p:nvSpPr>
          <p:spPr>
            <a:xfrm>
              <a:off x="6648450" y="3126942"/>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Can wait</a:t>
              </a:r>
              <a:endParaRPr lang="en-US" sz="1400" b="0" i="0" kern="0" spc="0" dirty="0">
                <a:solidFill>
                  <a:srgbClr val="032D60"/>
                </a:solidFill>
                <a:latin typeface="Salesforce Sans"/>
                <a:ea typeface="Salesforce Sans"/>
                <a:cs typeface="Salesforce Sans"/>
              </a:endParaRPr>
            </a:p>
          </p:txBody>
        </p:sp>
      </p:grpSp>
      <p:sp>
        <p:nvSpPr>
          <p:cNvPr id="1018" name="13 · semantics-text-6: Use disrupted [p13-text-0019]" descr="Native editable Unicode text; authored line breaks retained."/>
          <p:cNvSpPr txBox="1"/>
          <p:nvPr/>
        </p:nvSpPr>
        <p:spPr>
          <a:xfrm>
            <a:off x="6648450" y="3563568"/>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disrupted</a:t>
            </a:r>
            <a:endParaRPr lang="en-US" sz="1400" b="0" i="0" kern="0" spc="0" dirty="0">
              <a:solidFill>
                <a:srgbClr val="032D60"/>
              </a:solidFill>
              <a:latin typeface="Salesforce Sans"/>
              <a:ea typeface="Salesforce Sans"/>
              <a:cs typeface="Salesforce Sans"/>
            </a:endParaRPr>
          </a:p>
        </p:txBody>
      </p:sp>
      <p:sp>
        <p:nvSpPr>
          <p:cNvPr id="1019" name="13 · semantics-text-7: Essential use blocked [p13-text-0020]" descr="Native editable Unicode text; authored line breaks retained."/>
          <p:cNvSpPr txBox="1"/>
          <p:nvPr/>
        </p:nvSpPr>
        <p:spPr>
          <a:xfrm>
            <a:off x="6648450" y="4000194"/>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Essential use blocked</a:t>
            </a:r>
            <a:endParaRPr lang="en-US" sz="1400" b="0" i="0" kern="0" spc="0" dirty="0">
              <a:solidFill>
                <a:srgbClr val="032D60"/>
              </a:solidFill>
              <a:latin typeface="Salesforce Sans"/>
              <a:ea typeface="Salesforce Sans"/>
              <a:cs typeface="Salesforce Sans"/>
            </a:endParaRPr>
          </a:p>
        </p:txBody>
      </p:sp>
      <p:sp>
        <p:nvSpPr>
          <p:cNvPr id="1020" name="13 · tag: NOUL · TYPESAFE SEMANTICS [p13-text-0021]"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NOUL · TYPESAFE SEMANTICS</a:t>
            </a:r>
            <a:endParaRPr lang="en-US" sz="1050" b="0" i="0" kern="0" spc="50" dirty="0">
              <a:solidFill>
                <a:srgbClr val="022AC0">
                  <a:alpha val="85000"/>
                </a:srgbClr>
              </a:solidFill>
              <a:latin typeface="IBM Plex Mono"/>
              <a:ea typeface="IBM Plex Mono"/>
              <a:cs typeface="IBM Plex Mono"/>
            </a:endParaRPr>
          </a:p>
        </p:txBody>
      </p:sp>
      <p:sp>
        <p:nvSpPr>
          <p:cNvPr id="1021" name="13 · tag: SCORE · ILLUSTRATIVE RUBRIC [p13-text-0022]"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SCORE · ILLUSTRATIVE RUBRIC</a:t>
            </a:r>
            <a:endParaRPr lang="en-US" sz="1050" b="0" i="0" kern="0" spc="50" dirty="0">
              <a:solidFill>
                <a:srgbClr val="022AC0">
                  <a:alpha val="85000"/>
                </a:srgbClr>
              </a:solidFill>
              <a:latin typeface="IBM Plex Mono"/>
              <a:ea typeface="IBM Plex Mono"/>
              <a:cs typeface="IBM Plex Mono"/>
            </a:endParaRPr>
          </a:p>
        </p:txBody>
      </p:sp>
      <p:grpSp>
        <p:nvGrpSpPr>
          <p:cNvPr id="1031" name="13 · source-line: Noul · Score"/>
          <p:cNvGrpSpPr/>
          <p:nvPr/>
        </p:nvGrpSpPr>
        <p:grpSpPr>
          <a:xfrm>
            <a:off x="558800" y="6037898"/>
            <a:ext cx="11087100" cy="284456"/>
            <a:chOff x="558800" y="6037898"/>
            <a:chExt cx="11087100" cy="284456"/>
          </a:xfrm>
        </p:grpSpPr>
        <p:sp>
          <p:nvSpPr>
            <p:cNvPr id="1022" name="13 · source-line · top border [p1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13 · span: Noul · Score [p13-text-0023]" descr="Native editable Unicode text; authored line breaks retained."/>
            <p:cNvSpPr txBox="1"/>
            <p:nvPr/>
          </p:nvSpPr>
          <p:spPr>
            <a:xfrm>
              <a:off x="558800" y="6153126"/>
              <a:ext cx="68955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Score"/>
                </a:rPr>
                <a:t>Score</a:t>
              </a:r>
              <a:endParaRPr lang="en-US" sz="950" b="0" i="0" kern="0" spc="0" dirty="0" u="sng">
                <a:solidFill>
                  <a:srgbClr val="315A7A"/>
                </a:solidFill>
                <a:latin typeface="Salesforce Sans"/>
                <a:ea typeface="Salesforce Sans"/>
                <a:cs typeface="Salesforce Sans"/>
              </a:endParaRPr>
            </a:p>
          </p:txBody>
        </p:sp>
        <p:sp>
          <p:nvSpPr>
            <p:cNvPr id="1024" name="13 · span: TypeSafe semantics / proposed Salesforce use [p13-text-0024]" descr="Native editable Unicode text; authored line breaks retained."/>
            <p:cNvSpPr txBox="1"/>
            <p:nvPr/>
          </p:nvSpPr>
          <p:spPr>
            <a:xfrm>
              <a:off x="9053897" y="6153126"/>
              <a:ext cx="25920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TypeSafe semantics / proposed Salesforce use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ndpointing is a decision in time">
    <p:bg>
      <p:bgPr>
        <a:solidFill>
          <a:srgbClr val="FFFFFF"/>
        </a:solidFill>
      </p:bgPr>
    </p:bg>
    <p:spTree>
      <p:nvGrpSpPr>
        <p:cNvPr id="1" name=""/>
        <p:cNvGrpSpPr/>
        <p:nvPr/>
      </p:nvGrpSpPr>
      <p:grpSpPr>
        <a:xfrm>
          <a:off x="0" y="0"/>
          <a:ext cx="0" cy="0"/>
          <a:chOff x="0" y="0"/>
          <a:chExt cx="0" cy="0"/>
        </a:xfrm>
      </p:grpSpPr>
      <p:sp>
        <p:nvSpPr>
          <p:cNvPr id="1000" name="14 · slide hero light · surface [p1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2" name="14 · chrome-min: DISAGGREGATED INTELLIGENCE"/>
          <p:cNvGrpSpPr/>
          <p:nvPr/>
        </p:nvGrpSpPr>
        <p:grpSpPr>
          <a:xfrm>
            <a:off x="558800" y="356053"/>
            <a:ext cx="11087100" cy="187325"/>
            <a:chOff x="558800" y="356053"/>
            <a:chExt cx="11087100" cy="187325"/>
          </a:xfrm>
        </p:grpSpPr>
        <p:sp>
          <p:nvSpPr>
            <p:cNvPr id="1001" name="14 · l: DISAGGREGATED INTELLIGENCE [p14-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4 · r: 14 / 36 [p14-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14 / 36</a:t>
              </a:r>
              <a:endParaRPr lang="en-US" sz="950" b="1" i="0" kern="0" spc="65" dirty="0">
                <a:solidFill>
                  <a:srgbClr val="022AC0"/>
                </a:solidFill>
                <a:latin typeface="Salesforce Sans"/>
                <a:ea typeface="Salesforce Sans"/>
                <a:cs typeface="Salesforce Sans"/>
              </a:endParaRPr>
            </a:p>
          </p:txBody>
        </p:sp>
      </p:grpSp>
      <p:grpSp>
        <p:nvGrpSpPr>
          <p:cNvPr id="1023" name="14 · deck-head: 03 / A PREFIX IS THE INPUT"/>
          <p:cNvGrpSpPr/>
          <p:nvPr/>
        </p:nvGrpSpPr>
        <p:grpSpPr>
          <a:xfrm>
            <a:off x="558800" y="775901"/>
            <a:ext cx="11087100" cy="871263"/>
            <a:chOff x="558800" y="775901"/>
            <a:chExt cx="11087100" cy="871263"/>
          </a:xfrm>
        </p:grpSpPr>
        <p:sp>
          <p:nvSpPr>
            <p:cNvPr id="1003" name="14 · endpointing-eyebrow: 03 / A PREFIX IS THE INPUT [p14-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A PREFIX IS THE INPUT</a:t>
              </a:r>
              <a:endParaRPr lang="en-US" sz="1050" b="1" i="0" kern="0" spc="68" dirty="0">
                <a:solidFill>
                  <a:srgbClr val="022AC0"/>
                </a:solidFill>
                <a:latin typeface="Salesforce Sans"/>
                <a:ea typeface="Salesforce Sans"/>
                <a:cs typeface="Salesforce Sans"/>
              </a:endParaRPr>
            </a:p>
          </p:txBody>
        </p:sp>
        <p:sp>
          <p:nvSpPr>
            <p:cNvPr id="1004" name="14 · endpointing-title: Endpointing is a decision in time [p14-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Endpointing is a decision in time</a:t>
              </a:r>
              <a:endParaRPr lang="en-US" sz="3600" b="1" i="0" kern="0" spc="-95" dirty="0">
                <a:solidFill>
                  <a:srgbClr val="022AC0"/>
                </a:solidFill>
                <a:latin typeface="Manrope"/>
                <a:ea typeface="Manrope"/>
                <a:cs typeface="Manrope"/>
              </a:endParaRPr>
            </a:p>
          </p:txBody>
        </p:sp>
      </p:grpSp>
      <p:sp>
        <p:nvSpPr>
          <p:cNvPr id="1005" name="14 · endpointing-text-1: Cut too early [p14-text-0009]" descr="Native editable Unicode text; authored line breaks retained."/>
          <p:cNvSpPr txBox="1"/>
          <p:nvPr/>
        </p:nvSpPr>
        <p:spPr>
          <a:xfrm>
            <a:off x="558800"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Cut too early</a:t>
            </a:r>
            <a:endParaRPr lang="en-US" sz="2000" b="1" i="0" kern="0" spc="-38" dirty="0">
              <a:solidFill>
                <a:srgbClr val="022AC0"/>
              </a:solidFill>
              <a:latin typeface="Manrope"/>
              <a:ea typeface="Manrope"/>
              <a:cs typeface="Manrope"/>
            </a:endParaRPr>
          </a:p>
        </p:txBody>
      </p:sp>
      <p:sp>
        <p:nvSpPr>
          <p:cNvPr id="1006" name="14 · endpointing-text-2: The customer is interrupted. [p14-text-0010]" descr="Native editable Unicode text; authored line breaks retained."/>
          <p:cNvSpPr txBox="1"/>
          <p:nvPr/>
        </p:nvSpPr>
        <p:spPr>
          <a:xfrm>
            <a:off x="558800"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customer is interrupted.</a:t>
            </a:r>
            <a:endParaRPr lang="en-US" sz="1250" b="0" i="0" kern="0" spc="0" dirty="0">
              <a:solidFill>
                <a:srgbClr val="032D60"/>
              </a:solidFill>
              <a:latin typeface="Salesforce Sans"/>
              <a:ea typeface="Salesforce Sans"/>
              <a:cs typeface="Salesforce Sans"/>
            </a:endParaRPr>
          </a:p>
        </p:txBody>
      </p:sp>
      <p:sp>
        <p:nvSpPr>
          <p:cNvPr id="1007" name="14 · endpointing-text-3: Wait too long [p14-text-0011]" descr="Native editable Unicode text; authored line breaks retained."/>
          <p:cNvSpPr txBox="1"/>
          <p:nvPr/>
        </p:nvSpPr>
        <p:spPr>
          <a:xfrm>
            <a:off x="4313767"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Wait too long</a:t>
            </a:r>
            <a:endParaRPr lang="en-US" sz="2000" b="1" i="0" kern="0" spc="-38" dirty="0">
              <a:solidFill>
                <a:srgbClr val="022AC0"/>
              </a:solidFill>
              <a:latin typeface="Manrope"/>
              <a:ea typeface="Manrope"/>
              <a:cs typeface="Manrope"/>
            </a:endParaRPr>
          </a:p>
        </p:txBody>
      </p:sp>
      <p:sp>
        <p:nvSpPr>
          <p:cNvPr id="1008" name="14 · endpointing-text-4: The response is delayed. [p14-text-0012]" descr="Native editable Unicode text; authored line breaks retained."/>
          <p:cNvSpPr txBox="1"/>
          <p:nvPr/>
        </p:nvSpPr>
        <p:spPr>
          <a:xfrm>
            <a:off x="4313767"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response is delayed.</a:t>
            </a:r>
            <a:endParaRPr lang="en-US" sz="1250" b="0" i="0" kern="0" spc="0" dirty="0">
              <a:solidFill>
                <a:srgbClr val="032D60"/>
              </a:solidFill>
              <a:latin typeface="Salesforce Sans"/>
              <a:ea typeface="Salesforce Sans"/>
              <a:cs typeface="Salesforce Sans"/>
            </a:endParaRPr>
          </a:p>
        </p:txBody>
      </p:sp>
      <p:sp>
        <p:nvSpPr>
          <p:cNvPr id="1009" name="14 · endpointing-text-5: Keep the boundary [p14-text-0013]" descr="Native editable Unicode text; authored line breaks retained."/>
          <p:cNvSpPr txBox="1"/>
          <p:nvPr/>
        </p:nvSpPr>
        <p:spPr>
          <a:xfrm>
            <a:off x="8068733"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the boundary</a:t>
            </a:r>
            <a:endParaRPr lang="en-US" sz="2000" b="1" i="0" kern="0" spc="-38" dirty="0">
              <a:solidFill>
                <a:srgbClr val="022AC0"/>
              </a:solidFill>
              <a:latin typeface="Manrope"/>
              <a:ea typeface="Manrope"/>
              <a:cs typeface="Manrope"/>
            </a:endParaRPr>
          </a:p>
        </p:txBody>
      </p:sp>
      <p:sp>
        <p:nvSpPr>
          <p:cNvPr id="1010" name="14 · endpointing-text-6: Future audio may label the prefix. It cannot enter the input. [p14-text-0014]" descr="Native editable Unicode text; authored line breaks retained."/>
          <p:cNvSpPr txBox="1"/>
          <p:nvPr/>
        </p:nvSpPr>
        <p:spPr>
          <a:xfrm>
            <a:off x="8068733" y="4857274"/>
            <a:ext cx="3577167"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Future audio may label the prefix.</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It cannot enter the input.</a:t>
            </a:r>
            <a:endParaRPr lang="en-US" sz="1250" b="0" i="0" kern="0" spc="0" dirty="0">
              <a:solidFill>
                <a:srgbClr val="032D60"/>
              </a:solidFill>
              <a:latin typeface="Salesforce Sans"/>
              <a:ea typeface="Salesforce Sans"/>
              <a:cs typeface="Salesforce Sans"/>
            </a:endParaRPr>
          </a:p>
        </p:txBody>
      </p:sp>
      <p:grpSp>
        <p:nvGrpSpPr>
          <p:cNvPr id="1011" name="14 · svg · drawing [p14-e0015]"/>
          <p:cNvGrpSpPr/>
          <p:nvPr/>
        </p:nvGrpSpPr>
        <p:grpSpPr>
          <a:xfrm>
            <a:off x="725714" y="1988457"/>
            <a:ext cx="10740571" cy="2114550"/>
            <a:chOff x="725714" y="1988457"/>
            <a:chExt cx="10740571" cy="2114550"/>
          </a:xfrm>
        </p:grpSpPr>
        <p:sp>
          <p:nvSpPr>
            <p:cNvPr id="1012" name="rect · 1"/>
            <p:cNvSpPr/>
            <p:nvPr/>
          </p:nvSpPr>
          <p:spPr>
            <a:xfrm>
              <a:off x="725714" y="2156279"/>
              <a:ext cx="6645729" cy="1778907"/>
            </a:xfrm>
            <a:prstGeom prst="rect">
              <a:avLst/>
            </a:prstGeom>
            <a:solidFill>
              <a:srgbClr val="D3E8DF"/>
            </a:solidFill>
            <a:ln>
              <a:noFill/>
            </a:ln>
          </p:spPr>
        </p:sp>
        <p:sp>
          <p:nvSpPr>
            <p:cNvPr id="1013" name="rect · 2"/>
            <p:cNvSpPr/>
            <p:nvPr/>
          </p:nvSpPr>
          <p:spPr>
            <a:xfrm>
              <a:off x="7438571" y="2156279"/>
              <a:ext cx="4027714" cy="1778907"/>
            </a:xfrm>
            <a:prstGeom prst="rect">
              <a:avLst/>
            </a:prstGeom>
            <a:solidFill>
              <a:srgbClr val="DFE4F4">
                <a:alpha val="55000"/>
              </a:srgbClr>
            </a:solidFill>
            <a:ln>
              <a:noFill/>
            </a:ln>
          </p:spPr>
        </p:sp>
        <p:sp>
          <p:nvSpPr>
            <p:cNvPr id="1014" name="polyline · 3"/>
            <p:cNvSpPr/>
            <p:nvPr/>
          </p:nvSpPr>
          <p:spPr>
            <a:xfrm>
              <a:off x="859971" y="2572476"/>
              <a:ext cx="9901464" cy="1241879"/>
            </a:xfrm>
            <a:custGeom>
              <a:avLst/>
              <a:gdLst/>
              <a:ahLst/>
              <a:cxnLst/>
              <a:rect l="0" t="0" r="r" b="b"/>
              <a:pathLst>
                <a:path w="9901464" h="1241879" fill="none" stroke="1" extrusionOk="0">
                  <a:moveTo>
                    <a:pt x="0" y="523603"/>
                  </a:moveTo>
                  <a:lnTo>
                    <a:pt x="167822" y="973364"/>
                  </a:lnTo>
                  <a:lnTo>
                    <a:pt x="335643" y="26851"/>
                  </a:lnTo>
                  <a:lnTo>
                    <a:pt x="503465" y="933087"/>
                  </a:lnTo>
                  <a:lnTo>
                    <a:pt x="671286" y="67128"/>
                  </a:lnTo>
                  <a:lnTo>
                    <a:pt x="839108" y="892810"/>
                  </a:lnTo>
                  <a:lnTo>
                    <a:pt x="1006929" y="107405"/>
                  </a:lnTo>
                  <a:lnTo>
                    <a:pt x="1174750" y="852533"/>
                  </a:lnTo>
                  <a:lnTo>
                    <a:pt x="1342572" y="147683"/>
                  </a:lnTo>
                  <a:lnTo>
                    <a:pt x="1510393" y="812255"/>
                  </a:lnTo>
                  <a:lnTo>
                    <a:pt x="1678215" y="187960"/>
                  </a:lnTo>
                  <a:lnTo>
                    <a:pt x="1846036" y="771978"/>
                  </a:lnTo>
                  <a:lnTo>
                    <a:pt x="2013858" y="228237"/>
                  </a:lnTo>
                  <a:lnTo>
                    <a:pt x="2181679" y="731701"/>
                  </a:lnTo>
                  <a:lnTo>
                    <a:pt x="2349500" y="268514"/>
                  </a:lnTo>
                  <a:lnTo>
                    <a:pt x="2517322" y="1228453"/>
                  </a:lnTo>
                  <a:lnTo>
                    <a:pt x="2685143" y="308791"/>
                  </a:lnTo>
                  <a:lnTo>
                    <a:pt x="2852965" y="1188175"/>
                  </a:lnTo>
                  <a:lnTo>
                    <a:pt x="3020786" y="349068"/>
                  </a:lnTo>
                  <a:lnTo>
                    <a:pt x="3188608" y="1147898"/>
                  </a:lnTo>
                  <a:lnTo>
                    <a:pt x="3356429" y="389345"/>
                  </a:lnTo>
                  <a:lnTo>
                    <a:pt x="3524250" y="1107621"/>
                  </a:lnTo>
                  <a:lnTo>
                    <a:pt x="3692072" y="429623"/>
                  </a:lnTo>
                  <a:lnTo>
                    <a:pt x="3859893" y="1067344"/>
                  </a:lnTo>
                  <a:lnTo>
                    <a:pt x="4027715" y="469900"/>
                  </a:lnTo>
                  <a:lnTo>
                    <a:pt x="4195536" y="1027067"/>
                  </a:lnTo>
                  <a:lnTo>
                    <a:pt x="4363358" y="510177"/>
                  </a:lnTo>
                  <a:lnTo>
                    <a:pt x="4531179" y="986790"/>
                  </a:lnTo>
                  <a:lnTo>
                    <a:pt x="4699000" y="13425"/>
                  </a:lnTo>
                  <a:lnTo>
                    <a:pt x="4866822" y="946513"/>
                  </a:lnTo>
                  <a:lnTo>
                    <a:pt x="5034643" y="53703"/>
                  </a:lnTo>
                  <a:lnTo>
                    <a:pt x="5202465" y="906235"/>
                  </a:lnTo>
                  <a:lnTo>
                    <a:pt x="5370286" y="93980"/>
                  </a:lnTo>
                  <a:lnTo>
                    <a:pt x="5538108" y="865958"/>
                  </a:lnTo>
                  <a:lnTo>
                    <a:pt x="5705929" y="134257"/>
                  </a:lnTo>
                  <a:lnTo>
                    <a:pt x="5873750" y="825681"/>
                  </a:lnTo>
                  <a:lnTo>
                    <a:pt x="6041572" y="174534"/>
                  </a:lnTo>
                  <a:lnTo>
                    <a:pt x="6209393" y="785404"/>
                  </a:lnTo>
                  <a:lnTo>
                    <a:pt x="6377215" y="214811"/>
                  </a:lnTo>
                  <a:lnTo>
                    <a:pt x="6545036" y="745127"/>
                  </a:lnTo>
                  <a:lnTo>
                    <a:pt x="6712858" y="255088"/>
                  </a:lnTo>
                  <a:lnTo>
                    <a:pt x="6880679" y="1241878"/>
                  </a:lnTo>
                  <a:lnTo>
                    <a:pt x="7048500" y="295365"/>
                  </a:lnTo>
                  <a:lnTo>
                    <a:pt x="7216322" y="1201601"/>
                  </a:lnTo>
                  <a:lnTo>
                    <a:pt x="7384143" y="335643"/>
                  </a:lnTo>
                  <a:lnTo>
                    <a:pt x="7551965" y="1161324"/>
                  </a:lnTo>
                  <a:lnTo>
                    <a:pt x="7719786" y="375920"/>
                  </a:lnTo>
                  <a:lnTo>
                    <a:pt x="7887608" y="1121047"/>
                  </a:lnTo>
                  <a:lnTo>
                    <a:pt x="8055429" y="416197"/>
                  </a:lnTo>
                  <a:lnTo>
                    <a:pt x="8223250" y="1080770"/>
                  </a:lnTo>
                  <a:lnTo>
                    <a:pt x="8391072" y="456474"/>
                  </a:lnTo>
                  <a:lnTo>
                    <a:pt x="8558893" y="1040493"/>
                  </a:lnTo>
                  <a:lnTo>
                    <a:pt x="8726715" y="496751"/>
                  </a:lnTo>
                  <a:lnTo>
                    <a:pt x="8894536" y="1000215"/>
                  </a:lnTo>
                  <a:lnTo>
                    <a:pt x="9062358" y="0"/>
                  </a:lnTo>
                  <a:lnTo>
                    <a:pt x="9230179" y="959938"/>
                  </a:lnTo>
                  <a:lnTo>
                    <a:pt x="9398000" y="40277"/>
                  </a:lnTo>
                  <a:lnTo>
                    <a:pt x="9565822" y="919661"/>
                  </a:lnTo>
                  <a:lnTo>
                    <a:pt x="9733643" y="80554"/>
                  </a:lnTo>
                  <a:lnTo>
                    <a:pt x="9901465" y="879384"/>
                  </a:lnTo>
                </a:path>
              </a:pathLst>
            </a:custGeom>
            <a:noFill/>
            <a:ln w="26851" cap="flat" cmpd="sng" algn="ctr">
              <a:solidFill>
                <a:srgbClr val="35594D"/>
              </a:solidFill>
              <a:prstDash val="solid"/>
              <a:miter lim="400000"/>
              <a:headEnd type="none" w="med" len="med"/>
              <a:tailEnd type="none" w="med" len="med"/>
            </a:ln>
          </p:spPr>
        </p:sp>
        <p:sp>
          <p:nvSpPr>
            <p:cNvPr id="1015" name="path · 4"/>
            <p:cNvSpPr/>
            <p:nvPr/>
          </p:nvSpPr>
          <p:spPr>
            <a:xfrm>
              <a:off x="7371443" y="1988457"/>
              <a:ext cx="1" cy="2114550"/>
            </a:xfrm>
            <a:custGeom>
              <a:avLst/>
              <a:gdLst/>
              <a:ahLst/>
              <a:cxnLst/>
              <a:rect l="0" t="0" r="r" b="b"/>
              <a:pathLst>
                <a:path w="1" h="2114550" fill="norm" stroke="1" extrusionOk="0">
                  <a:moveTo>
                    <a:pt x="0" y="0"/>
                  </a:moveTo>
                  <a:lnTo>
                    <a:pt x="0" y="2114550"/>
                  </a:lnTo>
                </a:path>
              </a:pathLst>
            </a:custGeom>
            <a:solidFill>
              <a:srgbClr val="000000"/>
            </a:solidFill>
            <a:ln w="26851" cap="flat" cmpd="sng" algn="ctr">
              <a:solidFill>
                <a:srgbClr val="243E42"/>
              </a:solidFill>
              <a:custDash>
                <a:ds d="200000" sp="200000"/>
              </a:custDash>
              <a:miter lim="400000"/>
              <a:headEnd type="none" w="med" len="med"/>
              <a:tailEnd type="none" w="med" len="med"/>
            </a:ln>
          </p:spPr>
        </p:sp>
      </p:grpSp>
      <p:sp>
        <p:nvSpPr>
          <p:cNvPr id="1016" name="14 · span: Available audio prefix [p14-text-0015]" descr="Native editable Unicode text; authored line breaks retained."/>
          <p:cNvSpPr txBox="1"/>
          <p:nvPr/>
        </p:nvSpPr>
        <p:spPr>
          <a:xfrm>
            <a:off x="1001776" y="2441575"/>
            <a:ext cx="1911995"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Available audio prefix</a:t>
            </a:r>
            <a:endParaRPr lang="en-US" sz="1500" b="0" i="0" kern="0" spc="0" dirty="0">
              <a:solidFill>
                <a:srgbClr val="032D60"/>
              </a:solidFill>
              <a:latin typeface="Salesforce Sans"/>
              <a:ea typeface="Salesforce Sans"/>
              <a:cs typeface="Salesforce Sans"/>
            </a:endParaRPr>
          </a:p>
        </p:txBody>
      </p:sp>
      <p:sp>
        <p:nvSpPr>
          <p:cNvPr id="1017" name="14 · span: Future audio [p14-text-0016]" descr="Native editable Unicode text; authored line breaks retained."/>
          <p:cNvSpPr txBox="1"/>
          <p:nvPr/>
        </p:nvSpPr>
        <p:spPr>
          <a:xfrm>
            <a:off x="7978648" y="2441575"/>
            <a:ext cx="1135131"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Future audio</a:t>
            </a:r>
            <a:endParaRPr lang="en-US" sz="1500" b="0" i="0" kern="0" spc="0" dirty="0">
              <a:solidFill>
                <a:srgbClr val="032D60"/>
              </a:solidFill>
              <a:latin typeface="Salesforce Sans"/>
              <a:ea typeface="Salesforce Sans"/>
              <a:cs typeface="Salesforce Sans"/>
            </a:endParaRPr>
          </a:p>
        </p:txBody>
      </p:sp>
      <p:sp>
        <p:nvSpPr>
          <p:cNvPr id="1018" name="14 · tag: DECISION NOW [p14-text-0017]" descr="Native editable Unicode text; authored line breaks retained."/>
          <p:cNvSpPr txBox="1"/>
          <p:nvPr/>
        </p:nvSpPr>
        <p:spPr>
          <a:xfrm>
            <a:off x="5985256" y="3824603"/>
            <a:ext cx="104899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DECISION NOW</a:t>
            </a:r>
            <a:endParaRPr lang="en-US" sz="1050" b="0" i="0" kern="0" spc="50" dirty="0">
              <a:solidFill>
                <a:srgbClr val="022AC0">
                  <a:alpha val="85000"/>
                </a:srgbClr>
              </a:solidFill>
              <a:latin typeface="IBM Plex Mono"/>
              <a:ea typeface="IBM Plex Mono"/>
              <a:cs typeface="IBM Plex Mono"/>
            </a:endParaRPr>
          </a:p>
        </p:txBody>
      </p:sp>
      <p:grpSp>
        <p:nvGrpSpPr>
          <p:cNvPr id="1024" name="14 · source-line: Building with System One"/>
          <p:cNvGrpSpPr/>
          <p:nvPr/>
        </p:nvGrpSpPr>
        <p:grpSpPr>
          <a:xfrm>
            <a:off x="558800" y="6037898"/>
            <a:ext cx="11087100" cy="284456"/>
            <a:chOff x="558800" y="6037898"/>
            <a:chExt cx="11087100" cy="284456"/>
          </a:xfrm>
        </p:grpSpPr>
        <p:sp>
          <p:nvSpPr>
            <p:cNvPr id="1019" name="14 · source-line · top border [p14-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14 · span: Building with System One [p14-text-0018]" descr="Native editable Unicode text; authored line breaks retained."/>
            <p:cNvSpPr txBox="1"/>
            <p:nvPr/>
          </p:nvSpPr>
          <p:spPr>
            <a:xfrm>
              <a:off x="558800" y="6153126"/>
              <a:ext cx="144736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1" name="14 · span: Illustrative waveform; proposed evaluation [p14-text-0019]" descr="Native editable Unicode text; authored line breaks retained."/>
            <p:cNvSpPr txBox="1"/>
            <p:nvPr/>
          </p:nvSpPr>
          <p:spPr>
            <a:xfrm>
              <a:off x="9253569" y="6153126"/>
              <a:ext cx="239233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waveform; proposed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plit work along information dependencies">
    <p:bg>
      <p:bgPr>
        <a:solidFill>
          <a:srgbClr val="FFFFFF"/>
        </a:solidFill>
      </p:bgPr>
    </p:bg>
    <p:spTree>
      <p:nvGrpSpPr>
        <p:cNvPr id="1" name=""/>
        <p:cNvGrpSpPr/>
        <p:nvPr/>
      </p:nvGrpSpPr>
      <p:grpSpPr>
        <a:xfrm>
          <a:off x="0" y="0"/>
          <a:ext cx="0" cy="0"/>
          <a:chOff x="0" y="0"/>
          <a:chExt cx="0" cy="0"/>
        </a:xfrm>
      </p:grpSpPr>
      <p:sp>
        <p:nvSpPr>
          <p:cNvPr id="1000" name="15 · slide light · surface [p1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15 · chrome-min: DISAGGREGATED INTELLIGENCE"/>
          <p:cNvGrpSpPr/>
          <p:nvPr/>
        </p:nvGrpSpPr>
        <p:grpSpPr>
          <a:xfrm>
            <a:off x="558800" y="356053"/>
            <a:ext cx="11087100" cy="187325"/>
            <a:chOff x="558800" y="356053"/>
            <a:chExt cx="11087100" cy="187325"/>
          </a:xfrm>
        </p:grpSpPr>
        <p:sp>
          <p:nvSpPr>
            <p:cNvPr id="1001" name="15 · l: DISAGGREGATED INTELLIGENCE [p15-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5 · r: 15 / 36 [p15-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15 / 36</a:t>
              </a:r>
              <a:endParaRPr lang="en-US" sz="950" b="1" i="0" kern="0" spc="65" dirty="0">
                <a:solidFill>
                  <a:srgbClr val="022AC0"/>
                </a:solidFill>
                <a:latin typeface="Salesforce Sans"/>
                <a:ea typeface="Salesforce Sans"/>
                <a:cs typeface="Salesforce Sans"/>
              </a:endParaRPr>
            </a:p>
          </p:txBody>
        </p:sp>
      </p:grpSp>
      <p:grpSp>
        <p:nvGrpSpPr>
          <p:cNvPr id="1042" name="15 · deck-head: 04 / STEP 2"/>
          <p:cNvGrpSpPr/>
          <p:nvPr/>
        </p:nvGrpSpPr>
        <p:grpSpPr>
          <a:xfrm>
            <a:off x="558800" y="775901"/>
            <a:ext cx="11087100" cy="871263"/>
            <a:chOff x="558800" y="775901"/>
            <a:chExt cx="11087100" cy="871263"/>
          </a:xfrm>
        </p:grpSpPr>
        <p:sp>
          <p:nvSpPr>
            <p:cNvPr id="1003" name="15 · dependencies-eyebrow: 04 / STEP 2 [p15-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2</a:t>
              </a:r>
              <a:endParaRPr lang="en-US" sz="1050" b="1" i="0" kern="0" spc="68" dirty="0">
                <a:solidFill>
                  <a:srgbClr val="022AC0"/>
                </a:solidFill>
                <a:latin typeface="Salesforce Sans"/>
                <a:ea typeface="Salesforce Sans"/>
                <a:cs typeface="Salesforce Sans"/>
              </a:endParaRPr>
            </a:p>
          </p:txBody>
        </p:sp>
        <p:sp>
          <p:nvSpPr>
            <p:cNvPr id="1004" name="15 · dependencies-title: Split work along information dependencies [p15-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work along information dependencies</a:t>
              </a:r>
              <a:endParaRPr lang="en-US" sz="3600" b="1" i="0" kern="0" spc="-95" dirty="0">
                <a:solidFill>
                  <a:srgbClr val="022AC0"/>
                </a:solidFill>
                <a:latin typeface="Manrope"/>
                <a:ea typeface="Manrope"/>
                <a:cs typeface="Manrope"/>
              </a:endParaRPr>
            </a:p>
          </p:txBody>
        </p:sp>
      </p:grpSp>
      <p:grpSp>
        <p:nvGrpSpPr>
          <p:cNvPr id="1005" name="15 · svg · drawing [p15-e0008]"/>
          <p:cNvGrpSpPr/>
          <p:nvPr/>
        </p:nvGrpSpPr>
        <p:grpSpPr>
          <a:xfrm>
            <a:off x="1675045" y="2719265"/>
            <a:ext cx="2999909" cy="1005803"/>
            <a:chOff x="1675045" y="2719265"/>
            <a:chExt cx="2999909" cy="1005803"/>
          </a:xfrm>
        </p:grpSpPr>
        <p:grpSp>
          <p:nvGrpSpPr>
            <p:cNvPr id="1006" name="path · 1 + arrowhead"/>
            <p:cNvGrpSpPr/>
            <p:nvPr/>
          </p:nvGrpSpPr>
          <p:grpSpPr>
            <a:xfrm>
              <a:off x="1675045" y="2719265"/>
              <a:ext cx="1499955" cy="1005803"/>
              <a:chOff x="1675045" y="2719265"/>
              <a:chExt cx="1499955" cy="1005803"/>
            </a:xfrm>
          </p:grpSpPr>
          <p:sp>
            <p:nvSpPr>
              <p:cNvPr id="1007" name="path · 1"/>
              <p:cNvSpPr/>
              <p:nvPr/>
            </p:nvSpPr>
            <p:spPr>
              <a:xfrm>
                <a:off x="1744811" y="2719265"/>
                <a:ext cx="1430189" cy="986082"/>
              </a:xfrm>
              <a:custGeom>
                <a:avLst/>
                <a:gdLst/>
                <a:ahLst/>
                <a:cxnLst/>
                <a:rect l="0" t="0" r="r" b="b"/>
                <a:pathLst>
                  <a:path w="1430189" h="986082" fill="none" stroke="1" extrusionOk="0">
                    <a:moveTo>
                      <a:pt x="1430189" y="0"/>
                    </a:moveTo>
                    <a:lnTo>
                      <a:pt x="1430189" y="512763"/>
                    </a:lnTo>
                    <a:lnTo>
                      <a:pt x="0" y="512763"/>
                    </a:lnTo>
                    <a:lnTo>
                      <a:pt x="0" y="986082"/>
                    </a:lnTo>
                  </a:path>
                </a:pathLst>
              </a:custGeom>
              <a:noFill/>
              <a:ln w="15875" cap="flat" cmpd="sng" algn="ctr">
                <a:solidFill>
                  <a:srgbClr val="789B8E"/>
                </a:solidFill>
                <a:prstDash val="solid"/>
                <a:miter lim="400000"/>
                <a:headEnd type="none" w="med" len="med"/>
                <a:tailEnd type="none" w="med" len="med"/>
              </a:ln>
            </p:spPr>
          </p:sp>
          <p:grpSp>
            <p:nvGrpSpPr>
              <p:cNvPr id="1008" name="arr4 end"/>
              <p:cNvGrpSpPr/>
              <p:nvPr/>
            </p:nvGrpSpPr>
            <p:grpSpPr>
              <a:xfrm>
                <a:off x="1675045" y="3567296"/>
                <a:ext cx="139531" cy="157773"/>
                <a:chOff x="1675045" y="3567296"/>
                <a:chExt cx="139531" cy="157773"/>
              </a:xfrm>
            </p:grpSpPr>
            <p:sp>
              <p:nvSpPr>
                <p:cNvPr id="1009" name="path · 2"/>
                <p:cNvSpPr/>
                <p:nvPr/>
              </p:nvSpPr>
              <p:spPr>
                <a:xfrm>
                  <a:off x="1675045" y="3567296"/>
                  <a:ext cx="139531" cy="157773"/>
                </a:xfrm>
                <a:custGeom>
                  <a:avLst/>
                  <a:gdLst/>
                  <a:ahLst/>
                  <a:cxnLst/>
                  <a:rect l="0" t="0" r="r" b="b"/>
                  <a:pathLst>
                    <a:path w="139531" h="157773" fill="norm" stroke="0" extrusionOk="0">
                      <a:moveTo>
                        <a:pt x="139531" y="0"/>
                      </a:moveTo>
                      <a:lnTo>
                        <a:pt x="69766" y="157773"/>
                      </a:lnTo>
                      <a:lnTo>
                        <a:pt x="0" y="0"/>
                      </a:lnTo>
                      <a:close/>
                    </a:path>
                  </a:pathLst>
                </a:custGeom>
                <a:solidFill>
                  <a:srgbClr val="789B8E"/>
                </a:solidFill>
                <a:ln>
                  <a:noFill/>
                </a:ln>
              </p:spPr>
            </p:sp>
          </p:grpSp>
        </p:grpSp>
        <p:grpSp>
          <p:nvGrpSpPr>
            <p:cNvPr id="1010" name="path · 3 + arrowhead"/>
            <p:cNvGrpSpPr/>
            <p:nvPr/>
          </p:nvGrpSpPr>
          <p:grpSpPr>
            <a:xfrm>
              <a:off x="3175000" y="3232028"/>
              <a:ext cx="1499955" cy="493041"/>
              <a:chOff x="3175000" y="3232028"/>
              <a:chExt cx="1499955" cy="493041"/>
            </a:xfrm>
          </p:grpSpPr>
          <p:sp>
            <p:nvSpPr>
              <p:cNvPr id="1011" name="path · 3"/>
              <p:cNvSpPr/>
              <p:nvPr/>
            </p:nvSpPr>
            <p:spPr>
              <a:xfrm>
                <a:off x="3175000" y="3232028"/>
                <a:ext cx="1430189" cy="473319"/>
              </a:xfrm>
              <a:custGeom>
                <a:avLst/>
                <a:gdLst/>
                <a:ahLst/>
                <a:cxnLst/>
                <a:rect l="0" t="0" r="r" b="b"/>
                <a:pathLst>
                  <a:path w="1430189" h="473319" fill="none" stroke="1" extrusionOk="0">
                    <a:moveTo>
                      <a:pt x="0" y="0"/>
                    </a:moveTo>
                    <a:lnTo>
                      <a:pt x="1430189" y="0"/>
                    </a:lnTo>
                    <a:lnTo>
                      <a:pt x="1430189" y="473319"/>
                    </a:lnTo>
                  </a:path>
                </a:pathLst>
              </a:custGeom>
              <a:noFill/>
              <a:ln w="15875" cap="flat" cmpd="sng" algn="ctr">
                <a:solidFill>
                  <a:srgbClr val="789B8E"/>
                </a:solidFill>
                <a:prstDash val="solid"/>
                <a:miter lim="400000"/>
                <a:headEnd type="none" w="med" len="med"/>
                <a:tailEnd type="none" w="med" len="med"/>
              </a:ln>
            </p:spPr>
          </p:sp>
          <p:grpSp>
            <p:nvGrpSpPr>
              <p:cNvPr id="1012" name="arr4 end"/>
              <p:cNvGrpSpPr/>
              <p:nvPr/>
            </p:nvGrpSpPr>
            <p:grpSpPr>
              <a:xfrm>
                <a:off x="4535424" y="3567296"/>
                <a:ext cx="139531" cy="157773"/>
                <a:chOff x="4535424" y="3567296"/>
                <a:chExt cx="139531" cy="157773"/>
              </a:xfrm>
            </p:grpSpPr>
            <p:sp>
              <p:nvSpPr>
                <p:cNvPr id="1013" name="path · 4"/>
                <p:cNvSpPr/>
                <p:nvPr/>
              </p:nvSpPr>
              <p:spPr>
                <a:xfrm>
                  <a:off x="4535424" y="3567296"/>
                  <a:ext cx="139531" cy="157773"/>
                </a:xfrm>
                <a:custGeom>
                  <a:avLst/>
                  <a:gdLst/>
                  <a:ahLst/>
                  <a:cxnLst/>
                  <a:rect l="0" t="0" r="r" b="b"/>
                  <a:pathLst>
                    <a:path w="139531" h="157773" fill="norm" stroke="0" extrusionOk="0">
                      <a:moveTo>
                        <a:pt x="139531" y="0"/>
                      </a:moveTo>
                      <a:lnTo>
                        <a:pt x="69765" y="157773"/>
                      </a:lnTo>
                      <a:lnTo>
                        <a:pt x="0" y="0"/>
                      </a:lnTo>
                      <a:close/>
                    </a:path>
                  </a:pathLst>
                </a:custGeom>
                <a:solidFill>
                  <a:srgbClr val="789B8E"/>
                </a:solidFill>
                <a:ln>
                  <a:noFill/>
                </a:ln>
              </p:spPr>
            </p:sp>
          </p:grpSp>
        </p:grpSp>
      </p:grpSp>
      <p:grpSp>
        <p:nvGrpSpPr>
          <p:cNvPr id="1043" name="15 · node sand: Same decision-time snapshot"/>
          <p:cNvGrpSpPr/>
          <p:nvPr/>
        </p:nvGrpSpPr>
        <p:grpSpPr>
          <a:xfrm>
            <a:off x="1465732" y="2009283"/>
            <a:ext cx="3418484" cy="709991"/>
            <a:chOff x="1465732" y="2009283"/>
            <a:chExt cx="3418484" cy="709991"/>
          </a:xfrm>
        </p:grpSpPr>
        <p:sp>
          <p:nvSpPr>
            <p:cNvPr id="1014" name="15 · node sand · surface [p15-e0009]"/>
            <p:cNvSpPr/>
            <p:nvPr/>
          </p:nvSpPr>
          <p:spPr>
            <a:xfrm>
              <a:off x="1465732" y="2009283"/>
              <a:ext cx="3418484" cy="709991"/>
            </a:xfrm>
            <a:prstGeom prst="roundRect">
              <a:avLst>
                <a:gd name="adj" fmla="val 19676"/>
              </a:avLst>
            </a:prstGeom>
            <a:solidFill>
              <a:srgbClr val="FBF0CF"/>
            </a:solidFill>
            <a:ln>
              <a:noFill/>
            </a:ln>
          </p:spPr>
        </p:sp>
        <p:sp>
          <p:nvSpPr>
            <p:cNvPr id="1015" name="15 · strong: Same decision-time snapshot [p15-text-0016]" descr="Native editable Unicode text; authored line breaks retained."/>
            <p:cNvSpPr txBox="1"/>
            <p:nvPr/>
          </p:nvSpPr>
          <p:spPr>
            <a:xfrm>
              <a:off x="1643532" y="2246240"/>
              <a:ext cx="307558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Same decision-time snapshot</a:t>
              </a:r>
              <a:endParaRPr lang="en-US" sz="1450" b="1" i="0" kern="0" spc="0" dirty="0">
                <a:solidFill>
                  <a:srgbClr val="032D60"/>
                </a:solidFill>
                <a:latin typeface="Salesforce Sans"/>
                <a:ea typeface="Salesforce Sans"/>
                <a:cs typeface="Salesforce Sans"/>
              </a:endParaRPr>
            </a:p>
          </p:txBody>
        </p:sp>
      </p:grpSp>
      <p:grpSp>
        <p:nvGrpSpPr>
          <p:cNvPr id="1044" name="15 · node lilac: Remedy"/>
          <p:cNvGrpSpPr/>
          <p:nvPr/>
        </p:nvGrpSpPr>
        <p:grpSpPr>
          <a:xfrm>
            <a:off x="558800" y="3744800"/>
            <a:ext cx="2372004" cy="1262175"/>
            <a:chOff x="558800" y="3744800"/>
            <a:chExt cx="2372004" cy="1262175"/>
          </a:xfrm>
        </p:grpSpPr>
        <p:sp>
          <p:nvSpPr>
            <p:cNvPr id="1016" name="15 · node lilac · surface [p15-e0011]"/>
            <p:cNvSpPr/>
            <p:nvPr/>
          </p:nvSpPr>
          <p:spPr>
            <a:xfrm>
              <a:off x="558800" y="3744800"/>
              <a:ext cx="2372004" cy="1262175"/>
            </a:xfrm>
            <a:prstGeom prst="roundRect">
              <a:avLst>
                <a:gd name="adj" fmla="val 11068"/>
              </a:avLst>
            </a:prstGeom>
            <a:solidFill>
              <a:srgbClr val="EAE6FA"/>
            </a:solidFill>
            <a:ln>
              <a:noFill/>
            </a:ln>
          </p:spPr>
        </p:sp>
        <p:sp>
          <p:nvSpPr>
            <p:cNvPr id="1017" name="15 · strong: Remedy [p15-text-0017]" descr="Native editable Unicode text; authored line breaks retained."/>
            <p:cNvSpPr txBox="1"/>
            <p:nvPr/>
          </p:nvSpPr>
          <p:spPr>
            <a:xfrm>
              <a:off x="736600"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Remedy</a:t>
              </a:r>
              <a:endParaRPr lang="en-US" sz="1450" b="1" i="0" kern="0" spc="0" dirty="0">
                <a:solidFill>
                  <a:srgbClr val="032D60"/>
                </a:solidFill>
                <a:latin typeface="Salesforce Sans"/>
                <a:ea typeface="Salesforce Sans"/>
                <a:cs typeface="Salesforce Sans"/>
              </a:endParaRPr>
            </a:p>
          </p:txBody>
        </p:sp>
        <p:sp>
          <p:nvSpPr>
            <p:cNvPr id="1018" name="15 · small: Return or exchange? [p15-text-0018]" descr="Native editable Unicode text; authored line breaks retained."/>
            <p:cNvSpPr txBox="1"/>
            <p:nvPr/>
          </p:nvSpPr>
          <p:spPr>
            <a:xfrm>
              <a:off x="736600"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Return or exchange?</a:t>
              </a:r>
              <a:endParaRPr lang="en-US" sz="1100" b="0" i="0" kern="0" spc="0" dirty="0">
                <a:solidFill>
                  <a:srgbClr val="032D60"/>
                </a:solidFill>
                <a:latin typeface="Salesforce Sans"/>
                <a:ea typeface="Salesforce Sans"/>
                <a:cs typeface="Salesforce Sans"/>
              </a:endParaRPr>
            </a:p>
          </p:txBody>
        </p:sp>
      </p:grpSp>
      <p:grpSp>
        <p:nvGrpSpPr>
          <p:cNvPr id="1045" name="15 · node lilac: Urgency"/>
          <p:cNvGrpSpPr/>
          <p:nvPr/>
        </p:nvGrpSpPr>
        <p:grpSpPr>
          <a:xfrm>
            <a:off x="3419196" y="3744800"/>
            <a:ext cx="2372004" cy="1262175"/>
            <a:chOff x="3419196" y="3744800"/>
            <a:chExt cx="2372004" cy="1262175"/>
          </a:xfrm>
        </p:grpSpPr>
        <p:sp>
          <p:nvSpPr>
            <p:cNvPr id="1019" name="15 · node lilac · surface [p15-e0014]"/>
            <p:cNvSpPr/>
            <p:nvPr/>
          </p:nvSpPr>
          <p:spPr>
            <a:xfrm>
              <a:off x="3419196" y="3744800"/>
              <a:ext cx="2372004" cy="1262175"/>
            </a:xfrm>
            <a:prstGeom prst="roundRect">
              <a:avLst>
                <a:gd name="adj" fmla="val 11068"/>
              </a:avLst>
            </a:prstGeom>
            <a:solidFill>
              <a:srgbClr val="EAE6FA"/>
            </a:solidFill>
            <a:ln>
              <a:noFill/>
            </a:ln>
          </p:spPr>
        </p:sp>
        <p:sp>
          <p:nvSpPr>
            <p:cNvPr id="1020" name="15 · strong: Urgency [p15-text-0019]" descr="Native editable Unicode text; authored line breaks retained."/>
            <p:cNvSpPr txBox="1"/>
            <p:nvPr/>
          </p:nvSpPr>
          <p:spPr>
            <a:xfrm>
              <a:off x="3596996"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Urgency</a:t>
              </a:r>
              <a:endParaRPr lang="en-US" sz="1450" b="1" i="0" kern="0" spc="0" dirty="0">
                <a:solidFill>
                  <a:srgbClr val="032D60"/>
                </a:solidFill>
                <a:latin typeface="Salesforce Sans"/>
                <a:ea typeface="Salesforce Sans"/>
                <a:cs typeface="Salesforce Sans"/>
              </a:endParaRPr>
            </a:p>
          </p:txBody>
        </p:sp>
        <p:sp>
          <p:nvSpPr>
            <p:cNvPr id="1021" name="15 · small: Which rubric level? [p15-text-0020]" descr="Native editable Unicode text; authored line breaks retained."/>
            <p:cNvSpPr txBox="1"/>
            <p:nvPr/>
          </p:nvSpPr>
          <p:spPr>
            <a:xfrm>
              <a:off x="3596996"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Which rubric level?</a:t>
              </a:r>
              <a:endParaRPr lang="en-US" sz="1100" b="0" i="0" kern="0" spc="0" dirty="0">
                <a:solidFill>
                  <a:srgbClr val="032D60"/>
                </a:solidFill>
                <a:latin typeface="Salesforce Sans"/>
                <a:ea typeface="Salesforce Sans"/>
                <a:cs typeface="Salesforce Sans"/>
              </a:endParaRPr>
            </a:p>
          </p:txBody>
        </p:sp>
      </p:grpSp>
      <p:sp>
        <p:nvSpPr>
          <p:cNvPr id="1022" name="15 · node label: Independent execution can still produce correlated errors. [p15-text-0021]" descr="Native editable Unicode text; authored line breaks retained."/>
          <p:cNvSpPr txBox="1"/>
          <p:nvPr/>
        </p:nvSpPr>
        <p:spPr>
          <a:xfrm>
            <a:off x="768096" y="5540396"/>
            <a:ext cx="4896256"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Independent execution can still produce correlated errors.</a:t>
            </a:r>
            <a:endParaRPr lang="en-US" sz="1200" b="0" i="0" kern="0" spc="0" dirty="0">
              <a:solidFill>
                <a:srgbClr val="032D60"/>
              </a:solidFill>
              <a:latin typeface="Salesforce Sans"/>
              <a:ea typeface="Salesforce Sans"/>
              <a:cs typeface="Salesforce Sans"/>
            </a:endParaRPr>
          </a:p>
        </p:txBody>
      </p:sp>
      <p:grpSp>
        <p:nvGrpSpPr>
          <p:cNvPr id="1023" name="15 · svg · drawing [p15-e0018]"/>
          <p:cNvGrpSpPr/>
          <p:nvPr/>
        </p:nvGrpSpPr>
        <p:grpSpPr>
          <a:xfrm>
            <a:off x="8910828" y="2798152"/>
            <a:ext cx="136144" cy="1952442"/>
            <a:chOff x="8910828" y="2798152"/>
            <a:chExt cx="136144" cy="1952442"/>
          </a:xfrm>
        </p:grpSpPr>
        <p:grpSp>
          <p:nvGrpSpPr>
            <p:cNvPr id="1024" name="path · 1 + arrowhead"/>
            <p:cNvGrpSpPr/>
            <p:nvPr/>
          </p:nvGrpSpPr>
          <p:grpSpPr>
            <a:xfrm>
              <a:off x="8910828" y="2798152"/>
              <a:ext cx="136144" cy="571927"/>
              <a:chOff x="8910828" y="2798152"/>
              <a:chExt cx="136144" cy="571927"/>
            </a:xfrm>
          </p:grpSpPr>
          <p:sp>
            <p:nvSpPr>
              <p:cNvPr id="1025" name="path · 1"/>
              <p:cNvSpPr/>
              <p:nvPr/>
            </p:nvSpPr>
            <p:spPr>
              <a:xfrm>
                <a:off x="8978900" y="2798152"/>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26" name="arr5 end"/>
              <p:cNvGrpSpPr/>
              <p:nvPr/>
            </p:nvGrpSpPr>
            <p:grpSpPr>
              <a:xfrm>
                <a:off x="8910828" y="3212306"/>
                <a:ext cx="136144" cy="157773"/>
                <a:chOff x="8910828" y="3212306"/>
                <a:chExt cx="136144" cy="157773"/>
              </a:xfrm>
            </p:grpSpPr>
            <p:sp>
              <p:nvSpPr>
                <p:cNvPr id="1027" name="path · 2"/>
                <p:cNvSpPr/>
                <p:nvPr/>
              </p:nvSpPr>
              <p:spPr>
                <a:xfrm>
                  <a:off x="8910828" y="3212306"/>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nvGrpSpPr>
            <p:cNvPr id="1028" name="path · 3 + arrowhead"/>
            <p:cNvGrpSpPr/>
            <p:nvPr/>
          </p:nvGrpSpPr>
          <p:grpSpPr>
            <a:xfrm>
              <a:off x="8910828" y="4178666"/>
              <a:ext cx="136144" cy="571927"/>
              <a:chOff x="8910828" y="4178666"/>
              <a:chExt cx="136144" cy="571927"/>
            </a:xfrm>
          </p:grpSpPr>
          <p:sp>
            <p:nvSpPr>
              <p:cNvPr id="1029" name="path · 3"/>
              <p:cNvSpPr/>
              <p:nvPr/>
            </p:nvSpPr>
            <p:spPr>
              <a:xfrm>
                <a:off x="8978900" y="4178666"/>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30" name="arr5 end"/>
              <p:cNvGrpSpPr/>
              <p:nvPr/>
            </p:nvGrpSpPr>
            <p:grpSpPr>
              <a:xfrm>
                <a:off x="8910828" y="4592821"/>
                <a:ext cx="136144" cy="157773"/>
                <a:chOff x="8910828" y="4592821"/>
                <a:chExt cx="136144" cy="157773"/>
              </a:xfrm>
            </p:grpSpPr>
            <p:sp>
              <p:nvSpPr>
                <p:cNvPr id="1031" name="path · 4"/>
                <p:cNvSpPr/>
                <p:nvPr/>
              </p:nvSpPr>
              <p:spPr>
                <a:xfrm>
                  <a:off x="8910828" y="4592821"/>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grpSp>
        <p:nvGrpSpPr>
          <p:cNvPr id="1046" name="15 · node blue: Verify identity"/>
          <p:cNvGrpSpPr/>
          <p:nvPr/>
        </p:nvGrpSpPr>
        <p:grpSpPr>
          <a:xfrm>
            <a:off x="6732524" y="2009283"/>
            <a:ext cx="4492752" cy="788875"/>
            <a:chOff x="6732524" y="2009283"/>
            <a:chExt cx="4492752" cy="788875"/>
          </a:xfrm>
        </p:grpSpPr>
        <p:sp>
          <p:nvSpPr>
            <p:cNvPr id="1032" name="15 · node blue · surface [p15-e0019]"/>
            <p:cNvSpPr/>
            <p:nvPr/>
          </p:nvSpPr>
          <p:spPr>
            <a:xfrm>
              <a:off x="6732524" y="2009283"/>
              <a:ext cx="4492752" cy="788875"/>
            </a:xfrm>
            <a:prstGeom prst="roundRect">
              <a:avLst>
                <a:gd name="adj" fmla="val 17709"/>
              </a:avLst>
            </a:prstGeom>
            <a:solidFill>
              <a:srgbClr val="DCEEFE"/>
            </a:solidFill>
            <a:ln>
              <a:noFill/>
            </a:ln>
          </p:spPr>
        </p:sp>
        <p:sp>
          <p:nvSpPr>
            <p:cNvPr id="1033" name="15 · strong: Verify identity [p15-text-0022]" descr="Native editable Unicode text; authored line breaks retained."/>
            <p:cNvSpPr txBox="1"/>
            <p:nvPr/>
          </p:nvSpPr>
          <p:spPr>
            <a:xfrm>
              <a:off x="6910324" y="228568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7" name="15 · node mint: Match owned purchase"/>
          <p:cNvGrpSpPr/>
          <p:nvPr/>
        </p:nvGrpSpPr>
        <p:grpSpPr>
          <a:xfrm>
            <a:off x="6732524" y="3389804"/>
            <a:ext cx="4492752" cy="788875"/>
            <a:chOff x="6732524" y="3389804"/>
            <a:chExt cx="4492752" cy="788875"/>
          </a:xfrm>
        </p:grpSpPr>
        <p:sp>
          <p:nvSpPr>
            <p:cNvPr id="1034" name="15 · node mint · surface [p15-e0021]"/>
            <p:cNvSpPr/>
            <p:nvPr/>
          </p:nvSpPr>
          <p:spPr>
            <a:xfrm>
              <a:off x="6732524" y="3389804"/>
              <a:ext cx="4492752" cy="788875"/>
            </a:xfrm>
            <a:prstGeom prst="roundRect">
              <a:avLst>
                <a:gd name="adj" fmla="val 17709"/>
              </a:avLst>
            </a:prstGeom>
            <a:solidFill>
              <a:srgbClr val="DDF3ED"/>
            </a:solidFill>
            <a:ln>
              <a:noFill/>
            </a:ln>
          </p:spPr>
        </p:sp>
        <p:sp>
          <p:nvSpPr>
            <p:cNvPr id="1035" name="15 · strong: Match owned purchase [p15-text-0023]" descr="Native editable Unicode text; authored line breaks retained."/>
            <p:cNvSpPr txBox="1"/>
            <p:nvPr/>
          </p:nvSpPr>
          <p:spPr>
            <a:xfrm>
              <a:off x="6910324" y="366620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owned purchase</a:t>
              </a:r>
              <a:endParaRPr lang="en-US" sz="1450" b="1" i="0" kern="0" spc="0" dirty="0">
                <a:solidFill>
                  <a:srgbClr val="032D60"/>
                </a:solidFill>
                <a:latin typeface="Salesforce Sans"/>
                <a:ea typeface="Salesforce Sans"/>
                <a:cs typeface="Salesforce Sans"/>
              </a:endParaRPr>
            </a:p>
          </p:txBody>
        </p:sp>
      </p:grpSp>
      <p:grpSp>
        <p:nvGrpSpPr>
          <p:cNvPr id="1048" name="15 · node lilac: Bind the affected item"/>
          <p:cNvGrpSpPr/>
          <p:nvPr/>
        </p:nvGrpSpPr>
        <p:grpSpPr>
          <a:xfrm>
            <a:off x="6732524" y="4770325"/>
            <a:ext cx="4492752" cy="788875"/>
            <a:chOff x="6732524" y="4770325"/>
            <a:chExt cx="4492752" cy="788875"/>
          </a:xfrm>
        </p:grpSpPr>
        <p:sp>
          <p:nvSpPr>
            <p:cNvPr id="1036" name="15 · node lilac · surface [p15-e0023]"/>
            <p:cNvSpPr/>
            <p:nvPr/>
          </p:nvSpPr>
          <p:spPr>
            <a:xfrm>
              <a:off x="6732524" y="4770325"/>
              <a:ext cx="4492752" cy="788875"/>
            </a:xfrm>
            <a:prstGeom prst="roundRect">
              <a:avLst>
                <a:gd name="adj" fmla="val 17709"/>
              </a:avLst>
            </a:prstGeom>
            <a:solidFill>
              <a:srgbClr val="EAE6FA"/>
            </a:solidFill>
            <a:ln>
              <a:noFill/>
            </a:ln>
          </p:spPr>
        </p:sp>
        <p:sp>
          <p:nvSpPr>
            <p:cNvPr id="1037" name="15 · strong: Bind the affected item [p15-text-0024]" descr="Native editable Unicode text; authored line breaks retained."/>
            <p:cNvSpPr txBox="1"/>
            <p:nvPr/>
          </p:nvSpPr>
          <p:spPr>
            <a:xfrm>
              <a:off x="6910324" y="5046723"/>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Bind the affected item</a:t>
              </a:r>
              <a:endParaRPr lang="en-US" sz="1450" b="1" i="0" kern="0" spc="0" dirty="0">
                <a:solidFill>
                  <a:srgbClr val="032D60"/>
                </a:solidFill>
                <a:latin typeface="Salesforce Sans"/>
                <a:ea typeface="Salesforce Sans"/>
                <a:cs typeface="Salesforce Sans"/>
              </a:endParaRPr>
            </a:p>
          </p:txBody>
        </p:sp>
      </p:grpSp>
      <p:grpSp>
        <p:nvGrpSpPr>
          <p:cNvPr id="1049" name="15 · source-line: Building with System One · A harness with Jev"/>
          <p:cNvGrpSpPr/>
          <p:nvPr/>
        </p:nvGrpSpPr>
        <p:grpSpPr>
          <a:xfrm>
            <a:off x="558800" y="6037898"/>
            <a:ext cx="11087100" cy="284456"/>
            <a:chOff x="558800" y="6037898"/>
            <a:chExt cx="11087100" cy="284456"/>
          </a:xfrm>
        </p:grpSpPr>
        <p:sp>
          <p:nvSpPr>
            <p:cNvPr id="1038" name="15 · source-line · top border [p15-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15 · span: Building with System One · A harness with Jev [p15-text-0025]" descr="Native editable Unicode text; authored line breaks retained."/>
            <p:cNvSpPr txBox="1"/>
            <p:nvPr/>
          </p:nvSpPr>
          <p:spPr>
            <a:xfrm>
              <a:off x="558800" y="6153126"/>
              <a:ext cx="25649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 harness with Jev"/>
                </a:rPr>
                <a:t>A harness with Jev</a:t>
              </a:r>
              <a:endParaRPr lang="en-US" sz="950" b="0" i="0" kern="0" spc="0" dirty="0" u="sng">
                <a:solidFill>
                  <a:srgbClr val="315A7A"/>
                </a:solidFill>
                <a:latin typeface="Salesforce Sans"/>
                <a:ea typeface="Salesforce Sans"/>
                <a:cs typeface="Salesforce Sans"/>
              </a:endParaRPr>
            </a:p>
          </p:txBody>
        </p:sp>
        <p:sp>
          <p:nvSpPr>
            <p:cNvPr id="1040" name="15 · span: Proposed scheduling pattern [p15-text-0026]" descr="Native editable Unicode text; authored line breaks retained."/>
            <p:cNvSpPr txBox="1"/>
            <p:nvPr/>
          </p:nvSpPr>
          <p:spPr>
            <a:xfrm>
              <a:off x="10019723" y="6153126"/>
              <a:ext cx="16261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scheduling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Each node sees a different view of the case">
    <p:bg>
      <p:bgPr>
        <a:solidFill>
          <a:srgbClr val="FFFFFF"/>
        </a:solidFill>
      </p:bgPr>
    </p:bg>
    <p:spTree>
      <p:nvGrpSpPr>
        <p:cNvPr id="1" name=""/>
        <p:cNvGrpSpPr/>
        <p:nvPr/>
      </p:nvGrpSpPr>
      <p:grpSpPr>
        <a:xfrm>
          <a:off x="0" y="0"/>
          <a:ext cx="0" cy="0"/>
          <a:chOff x="0" y="0"/>
          <a:chExt cx="0" cy="0"/>
        </a:xfrm>
      </p:grpSpPr>
      <p:sp>
        <p:nvSpPr>
          <p:cNvPr id="1000" name="16 · slide dark · surface [p1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16 · chrome-min: DISAGGREGATED INTELLIGENCE"/>
          <p:cNvGrpSpPr/>
          <p:nvPr/>
        </p:nvGrpSpPr>
        <p:grpSpPr>
          <a:xfrm>
            <a:off x="558800" y="356053"/>
            <a:ext cx="11087100" cy="187325"/>
            <a:chOff x="558800" y="356053"/>
            <a:chExt cx="11087100" cy="187325"/>
          </a:xfrm>
        </p:grpSpPr>
        <p:sp>
          <p:nvSpPr>
            <p:cNvPr id="1001" name="16 · l: DISAGGREGATED INTELLIGENCE [p16-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6 · r: 16 / 36 [p16-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16 / 36</a:t>
              </a:r>
              <a:endParaRPr lang="en-US" sz="950" b="1" i="0" kern="0" spc="65" dirty="0">
                <a:solidFill>
                  <a:srgbClr val="022AC0"/>
                </a:solidFill>
                <a:latin typeface="Salesforce Sans"/>
                <a:ea typeface="Salesforce Sans"/>
                <a:cs typeface="Salesforce Sans"/>
              </a:endParaRPr>
            </a:p>
          </p:txBody>
        </p:sp>
      </p:grpSp>
      <p:grpSp>
        <p:nvGrpSpPr>
          <p:cNvPr id="1035" name="16 · deck-head: 04 / CONTEXT IS PART OF TOPOLOGY"/>
          <p:cNvGrpSpPr/>
          <p:nvPr/>
        </p:nvGrpSpPr>
        <p:grpSpPr>
          <a:xfrm>
            <a:off x="558800" y="775901"/>
            <a:ext cx="11087100" cy="871263"/>
            <a:chOff x="558800" y="775901"/>
            <a:chExt cx="11087100" cy="871263"/>
          </a:xfrm>
        </p:grpSpPr>
        <p:sp>
          <p:nvSpPr>
            <p:cNvPr id="1003" name="16 · context-eyebrow: 04 / CONTEXT IS PART OF TOPOLOGY [p16-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CONTEXT IS PART OF TOPOLOGY</a:t>
              </a:r>
              <a:endParaRPr lang="en-US" sz="1050" b="1" i="0" kern="0" spc="68" dirty="0">
                <a:solidFill>
                  <a:srgbClr val="022AC0"/>
                </a:solidFill>
                <a:latin typeface="Salesforce Sans"/>
                <a:ea typeface="Salesforce Sans"/>
                <a:cs typeface="Salesforce Sans"/>
              </a:endParaRPr>
            </a:p>
          </p:txBody>
        </p:sp>
        <p:sp>
          <p:nvSpPr>
            <p:cNvPr id="1004" name="16 · context-title: Each node sees a different view of the case [p16-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Each node sees a different view of the case</a:t>
              </a:r>
              <a:endParaRPr lang="en-US" sz="3600" b="1" i="0" kern="0" spc="-95" dirty="0">
                <a:solidFill>
                  <a:srgbClr val="022AC0"/>
                </a:solidFill>
                <a:latin typeface="Manrope"/>
                <a:ea typeface="Manrope"/>
                <a:cs typeface="Manrope"/>
              </a:endParaRPr>
            </a:p>
          </p:txBody>
        </p:sp>
      </p:grpSp>
      <p:grpSp>
        <p:nvGrpSpPr>
          <p:cNvPr id="1005" name="16 · svg · drawing [p16-e0008]"/>
          <p:cNvGrpSpPr/>
          <p:nvPr/>
        </p:nvGrpSpPr>
        <p:grpSpPr>
          <a:xfrm>
            <a:off x="5819140" y="2244631"/>
            <a:ext cx="1851501" cy="2671372"/>
            <a:chOff x="5819140" y="2244631"/>
            <a:chExt cx="1851501" cy="2671372"/>
          </a:xfrm>
        </p:grpSpPr>
        <p:grpSp>
          <p:nvGrpSpPr>
            <p:cNvPr id="1006" name="path · 1 + arrowhead"/>
            <p:cNvGrpSpPr/>
            <p:nvPr/>
          </p:nvGrpSpPr>
          <p:grpSpPr>
            <a:xfrm>
              <a:off x="5819140" y="2244631"/>
              <a:ext cx="1851501" cy="136993"/>
              <a:chOff x="5819140" y="2244631"/>
              <a:chExt cx="1851501" cy="136993"/>
            </a:xfrm>
          </p:grpSpPr>
          <p:sp>
            <p:nvSpPr>
              <p:cNvPr id="1007" name="path · 1"/>
              <p:cNvSpPr/>
              <p:nvPr/>
            </p:nvSpPr>
            <p:spPr>
              <a:xfrm>
                <a:off x="5819140" y="2313128"/>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08" name="v2arr43 end"/>
              <p:cNvGrpSpPr/>
              <p:nvPr/>
            </p:nvGrpSpPr>
            <p:grpSpPr>
              <a:xfrm>
                <a:off x="7532211" y="2244631"/>
                <a:ext cx="138430" cy="136993"/>
                <a:chOff x="7532211" y="2244631"/>
                <a:chExt cx="138430" cy="136993"/>
              </a:xfrm>
            </p:grpSpPr>
            <p:sp>
              <p:nvSpPr>
                <p:cNvPr id="1009" name="path · 2"/>
                <p:cNvSpPr/>
                <p:nvPr/>
              </p:nvSpPr>
              <p:spPr>
                <a:xfrm>
                  <a:off x="7532211" y="2244631"/>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0" name="path · 3 + arrowhead"/>
            <p:cNvGrpSpPr/>
            <p:nvPr/>
          </p:nvGrpSpPr>
          <p:grpSpPr>
            <a:xfrm>
              <a:off x="5819140" y="3511821"/>
              <a:ext cx="1851501" cy="136993"/>
              <a:chOff x="5819140" y="3511821"/>
              <a:chExt cx="1851501" cy="136993"/>
            </a:xfrm>
          </p:grpSpPr>
          <p:sp>
            <p:nvSpPr>
              <p:cNvPr id="1011" name="path · 3"/>
              <p:cNvSpPr/>
              <p:nvPr/>
            </p:nvSpPr>
            <p:spPr>
              <a:xfrm>
                <a:off x="5819140" y="358031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2" name="v2arr43 end"/>
              <p:cNvGrpSpPr/>
              <p:nvPr/>
            </p:nvGrpSpPr>
            <p:grpSpPr>
              <a:xfrm>
                <a:off x="7532211" y="3511821"/>
                <a:ext cx="138430" cy="136993"/>
                <a:chOff x="7532211" y="3511821"/>
                <a:chExt cx="138430" cy="136993"/>
              </a:xfrm>
            </p:grpSpPr>
            <p:sp>
              <p:nvSpPr>
                <p:cNvPr id="1013" name="path · 4"/>
                <p:cNvSpPr/>
                <p:nvPr/>
              </p:nvSpPr>
              <p:spPr>
                <a:xfrm>
                  <a:off x="7532211" y="3511821"/>
                  <a:ext cx="138430" cy="136993"/>
                </a:xfrm>
                <a:custGeom>
                  <a:avLst/>
                  <a:gdLst/>
                  <a:ahLst/>
                  <a:cxnLst/>
                  <a:rect l="0" t="0" r="r" b="b"/>
                  <a:pathLst>
                    <a:path w="138430" h="136993" fill="norm" stroke="0" extrusionOk="0">
                      <a:moveTo>
                        <a:pt x="0" y="0"/>
                      </a:moveTo>
                      <a:lnTo>
                        <a:pt x="138430" y="68496"/>
                      </a:lnTo>
                      <a:lnTo>
                        <a:pt x="0" y="136993"/>
                      </a:lnTo>
                      <a:close/>
                    </a:path>
                  </a:pathLst>
                </a:custGeom>
                <a:solidFill>
                  <a:srgbClr val="789B8E"/>
                </a:solidFill>
                <a:ln>
                  <a:noFill/>
                </a:ln>
              </p:spPr>
            </p:sp>
          </p:grpSp>
        </p:grpSp>
        <p:grpSp>
          <p:nvGrpSpPr>
            <p:cNvPr id="1014" name="path · 5 + arrowhead"/>
            <p:cNvGrpSpPr/>
            <p:nvPr/>
          </p:nvGrpSpPr>
          <p:grpSpPr>
            <a:xfrm>
              <a:off x="5819140" y="4779010"/>
              <a:ext cx="1851501" cy="136993"/>
              <a:chOff x="5819140" y="4779010"/>
              <a:chExt cx="1851501" cy="136993"/>
            </a:xfrm>
          </p:grpSpPr>
          <p:sp>
            <p:nvSpPr>
              <p:cNvPr id="1015" name="path · 5"/>
              <p:cNvSpPr/>
              <p:nvPr/>
            </p:nvSpPr>
            <p:spPr>
              <a:xfrm>
                <a:off x="5819140" y="484750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6" name="v2arr43 end"/>
              <p:cNvGrpSpPr/>
              <p:nvPr/>
            </p:nvGrpSpPr>
            <p:grpSpPr>
              <a:xfrm>
                <a:off x="7532211" y="4779010"/>
                <a:ext cx="138430" cy="136993"/>
                <a:chOff x="7532211" y="4779010"/>
                <a:chExt cx="138430" cy="136993"/>
              </a:xfrm>
            </p:grpSpPr>
            <p:sp>
              <p:nvSpPr>
                <p:cNvPr id="1017" name="path · 6"/>
                <p:cNvSpPr/>
                <p:nvPr/>
              </p:nvSpPr>
              <p:spPr>
                <a:xfrm>
                  <a:off x="7532211" y="4779010"/>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grpSp>
        <p:nvGrpSpPr>
          <p:cNvPr id="1036" name="16 · node lilac: Prefix + task definitions + verified items"/>
          <p:cNvGrpSpPr/>
          <p:nvPr/>
        </p:nvGrpSpPr>
        <p:grpSpPr>
          <a:xfrm>
            <a:off x="558800" y="1854200"/>
            <a:ext cx="5260340" cy="924700"/>
            <a:chOff x="558800" y="1854200"/>
            <a:chExt cx="5260340" cy="924700"/>
          </a:xfrm>
        </p:grpSpPr>
        <p:sp>
          <p:nvSpPr>
            <p:cNvPr id="1018" name="16 · node lilac · surface [p16-e0009]"/>
            <p:cNvSpPr/>
            <p:nvPr/>
          </p:nvSpPr>
          <p:spPr>
            <a:xfrm>
              <a:off x="558800" y="1854200"/>
              <a:ext cx="5260340" cy="924700"/>
            </a:xfrm>
            <a:prstGeom prst="roundRect">
              <a:avLst>
                <a:gd name="adj" fmla="val 15108"/>
              </a:avLst>
            </a:prstGeom>
            <a:solidFill>
              <a:srgbClr val="EAE6FA"/>
            </a:solidFill>
            <a:ln>
              <a:noFill/>
            </a:ln>
          </p:spPr>
        </p:sp>
        <p:sp>
          <p:nvSpPr>
            <p:cNvPr id="1019" name="16 · strong: Prefix + task definitions + verified items [p16-text-0015]" descr="Native editable Unicode text; authored line breaks retained."/>
            <p:cNvSpPr txBox="1"/>
            <p:nvPr/>
          </p:nvSpPr>
          <p:spPr>
            <a:xfrm>
              <a:off x="736600" y="219851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Prefix + task definitions + verified items</a:t>
              </a:r>
              <a:endParaRPr lang="en-US" sz="1450" b="1" i="0" kern="0" spc="0" dirty="0">
                <a:solidFill>
                  <a:srgbClr val="032D60"/>
                </a:solidFill>
                <a:latin typeface="Salesforce Sans"/>
                <a:ea typeface="Salesforce Sans"/>
                <a:cs typeface="Salesforce Sans"/>
              </a:endParaRPr>
            </a:p>
          </p:txBody>
        </p:sp>
      </p:grpSp>
      <p:grpSp>
        <p:nvGrpSpPr>
          <p:cNvPr id="1037" name="16 · node lilac: Task interpretation"/>
          <p:cNvGrpSpPr/>
          <p:nvPr/>
        </p:nvGrpSpPr>
        <p:grpSpPr>
          <a:xfrm>
            <a:off x="7687945" y="1854200"/>
            <a:ext cx="3910592" cy="924700"/>
            <a:chOff x="7687945" y="1854200"/>
            <a:chExt cx="3910592" cy="924700"/>
          </a:xfrm>
        </p:grpSpPr>
        <p:sp>
          <p:nvSpPr>
            <p:cNvPr id="1020" name="16 · node lilac · surface [p16-e0011]"/>
            <p:cNvSpPr/>
            <p:nvPr/>
          </p:nvSpPr>
          <p:spPr>
            <a:xfrm>
              <a:off x="7687945" y="1854200"/>
              <a:ext cx="3910592" cy="924700"/>
            </a:xfrm>
            <a:prstGeom prst="roundRect">
              <a:avLst>
                <a:gd name="adj" fmla="val 15108"/>
              </a:avLst>
            </a:prstGeom>
            <a:solidFill>
              <a:srgbClr val="EAE6FA"/>
            </a:solidFill>
            <a:ln>
              <a:noFill/>
            </a:ln>
          </p:spPr>
        </p:sp>
        <p:sp>
          <p:nvSpPr>
            <p:cNvPr id="1021" name="16 · strong: Task interpretation [p16-text-0016]" descr="Native editable Unicode text; authored line breaks retained."/>
            <p:cNvSpPr txBox="1"/>
            <p:nvPr/>
          </p:nvSpPr>
          <p:spPr>
            <a:xfrm>
              <a:off x="7865745" y="219851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Task interpretation</a:t>
              </a:r>
              <a:endParaRPr lang="en-US" sz="1450" b="1" i="0" kern="0" spc="0" dirty="0">
                <a:solidFill>
                  <a:srgbClr val="032D60"/>
                </a:solidFill>
                <a:latin typeface="Salesforce Sans"/>
                <a:ea typeface="Salesforce Sans"/>
                <a:cs typeface="Salesforce Sans"/>
              </a:endParaRPr>
            </a:p>
          </p:txBody>
        </p:sp>
      </p:grpSp>
      <p:grpSp>
        <p:nvGrpSpPr>
          <p:cNvPr id="1038" name="16 · node blue: Trusted principal + purchase reference"/>
          <p:cNvGrpSpPr/>
          <p:nvPr/>
        </p:nvGrpSpPr>
        <p:grpSpPr>
          <a:xfrm>
            <a:off x="558800" y="3121395"/>
            <a:ext cx="5260340" cy="924700"/>
            <a:chOff x="558800" y="3121395"/>
            <a:chExt cx="5260340" cy="924700"/>
          </a:xfrm>
        </p:grpSpPr>
        <p:sp>
          <p:nvSpPr>
            <p:cNvPr id="1022" name="16 · node blue · surface [p16-e0013]"/>
            <p:cNvSpPr/>
            <p:nvPr/>
          </p:nvSpPr>
          <p:spPr>
            <a:xfrm>
              <a:off x="558800" y="3121395"/>
              <a:ext cx="5260340" cy="924700"/>
            </a:xfrm>
            <a:prstGeom prst="roundRect">
              <a:avLst>
                <a:gd name="adj" fmla="val 15108"/>
              </a:avLst>
            </a:prstGeom>
            <a:solidFill>
              <a:srgbClr val="DCEEFE"/>
            </a:solidFill>
            <a:ln>
              <a:noFill/>
            </a:ln>
          </p:spPr>
        </p:sp>
        <p:sp>
          <p:nvSpPr>
            <p:cNvPr id="1023" name="16 · strong: Trusted principal + purchase reference [p16-text-0017]" descr="Native editable Unicode text; authored line breaks retained."/>
            <p:cNvSpPr txBox="1"/>
            <p:nvPr/>
          </p:nvSpPr>
          <p:spPr>
            <a:xfrm>
              <a:off x="736600" y="3465705"/>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Trusted principal + purchase reference</a:t>
              </a:r>
              <a:endParaRPr lang="en-US" sz="1450" b="1" i="0" kern="0" spc="0" dirty="0">
                <a:solidFill>
                  <a:srgbClr val="032D60"/>
                </a:solidFill>
                <a:latin typeface="Salesforce Sans"/>
                <a:ea typeface="Salesforce Sans"/>
                <a:cs typeface="Salesforce Sans"/>
              </a:endParaRPr>
            </a:p>
          </p:txBody>
        </p:sp>
      </p:grpSp>
      <p:grpSp>
        <p:nvGrpSpPr>
          <p:cNvPr id="1039" name="16 · node blue: Ownership check"/>
          <p:cNvGrpSpPr/>
          <p:nvPr/>
        </p:nvGrpSpPr>
        <p:grpSpPr>
          <a:xfrm>
            <a:off x="7687945" y="3121395"/>
            <a:ext cx="3910592" cy="924700"/>
            <a:chOff x="7687945" y="3121395"/>
            <a:chExt cx="3910592" cy="924700"/>
          </a:xfrm>
        </p:grpSpPr>
        <p:sp>
          <p:nvSpPr>
            <p:cNvPr id="1024" name="16 · node blue · surface [p16-e0015]"/>
            <p:cNvSpPr/>
            <p:nvPr/>
          </p:nvSpPr>
          <p:spPr>
            <a:xfrm>
              <a:off x="7687945" y="3121395"/>
              <a:ext cx="3910592" cy="924700"/>
            </a:xfrm>
            <a:prstGeom prst="roundRect">
              <a:avLst>
                <a:gd name="adj" fmla="val 15108"/>
              </a:avLst>
            </a:prstGeom>
            <a:solidFill>
              <a:srgbClr val="DCEEFE"/>
            </a:solidFill>
            <a:ln>
              <a:noFill/>
            </a:ln>
          </p:spPr>
        </p:sp>
        <p:sp>
          <p:nvSpPr>
            <p:cNvPr id="1025" name="16 · strong: Ownership check [p16-text-0018]" descr="Native editable Unicode text; authored line breaks retained."/>
            <p:cNvSpPr txBox="1"/>
            <p:nvPr/>
          </p:nvSpPr>
          <p:spPr>
            <a:xfrm>
              <a:off x="7865745" y="3465705"/>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Ownership check</a:t>
              </a:r>
              <a:endParaRPr lang="en-US" sz="1450" b="1" i="0" kern="0" spc="0" dirty="0">
                <a:solidFill>
                  <a:srgbClr val="032D60"/>
                </a:solidFill>
                <a:latin typeface="Salesforce Sans"/>
                <a:ea typeface="Salesforce Sans"/>
                <a:cs typeface="Salesforce Sans"/>
              </a:endParaRPr>
            </a:p>
          </p:txBody>
        </p:sp>
      </p:grpSp>
      <p:grpSp>
        <p:nvGrpSpPr>
          <p:cNvPr id="1040" name="16 · node mint: Selected task + service policy + stock"/>
          <p:cNvGrpSpPr/>
          <p:nvPr/>
        </p:nvGrpSpPr>
        <p:grpSpPr>
          <a:xfrm>
            <a:off x="558800" y="4388590"/>
            <a:ext cx="5260340" cy="924700"/>
            <a:chOff x="558800" y="4388590"/>
            <a:chExt cx="5260340" cy="924700"/>
          </a:xfrm>
        </p:grpSpPr>
        <p:sp>
          <p:nvSpPr>
            <p:cNvPr id="1026" name="16 · node mint · surface [p16-e0017]"/>
            <p:cNvSpPr/>
            <p:nvPr/>
          </p:nvSpPr>
          <p:spPr>
            <a:xfrm>
              <a:off x="558800" y="4388590"/>
              <a:ext cx="5260340" cy="924700"/>
            </a:xfrm>
            <a:prstGeom prst="roundRect">
              <a:avLst>
                <a:gd name="adj" fmla="val 15108"/>
              </a:avLst>
            </a:prstGeom>
            <a:solidFill>
              <a:srgbClr val="DDF3ED"/>
            </a:solidFill>
            <a:ln>
              <a:noFill/>
            </a:ln>
          </p:spPr>
        </p:sp>
        <p:sp>
          <p:nvSpPr>
            <p:cNvPr id="1027" name="16 · strong: Selected task + service policy + stock [p16-text-0019]" descr="Native editable Unicode text; authored line breaks retained."/>
            <p:cNvSpPr txBox="1"/>
            <p:nvPr/>
          </p:nvSpPr>
          <p:spPr>
            <a:xfrm>
              <a:off x="736600" y="473290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Selected task + service policy + stock</a:t>
              </a:r>
              <a:endParaRPr lang="en-US" sz="1450" b="1" i="0" kern="0" spc="0" dirty="0">
                <a:solidFill>
                  <a:srgbClr val="032D60"/>
                </a:solidFill>
                <a:latin typeface="Salesforce Sans"/>
                <a:ea typeface="Salesforce Sans"/>
                <a:cs typeface="Salesforce Sans"/>
              </a:endParaRPr>
            </a:p>
          </p:txBody>
        </p:sp>
      </p:grpSp>
      <p:grpSp>
        <p:nvGrpSpPr>
          <p:cNvPr id="1041" name="16 · node mint: Eligible offer or denial"/>
          <p:cNvGrpSpPr/>
          <p:nvPr/>
        </p:nvGrpSpPr>
        <p:grpSpPr>
          <a:xfrm>
            <a:off x="7687945" y="4388590"/>
            <a:ext cx="3910592" cy="924700"/>
            <a:chOff x="7687945" y="4388590"/>
            <a:chExt cx="3910592" cy="924700"/>
          </a:xfrm>
        </p:grpSpPr>
        <p:sp>
          <p:nvSpPr>
            <p:cNvPr id="1028" name="16 · node mint · surface [p16-e0019]"/>
            <p:cNvSpPr/>
            <p:nvPr/>
          </p:nvSpPr>
          <p:spPr>
            <a:xfrm>
              <a:off x="7687945" y="4388590"/>
              <a:ext cx="3910592" cy="924700"/>
            </a:xfrm>
            <a:prstGeom prst="roundRect">
              <a:avLst>
                <a:gd name="adj" fmla="val 15108"/>
              </a:avLst>
            </a:prstGeom>
            <a:solidFill>
              <a:srgbClr val="DDF3ED"/>
            </a:solidFill>
            <a:ln>
              <a:noFill/>
            </a:ln>
          </p:spPr>
        </p:sp>
        <p:sp>
          <p:nvSpPr>
            <p:cNvPr id="1029" name="16 · strong: Eligible offer or denial [p16-text-0020]" descr="Native editable Unicode text; authored line breaks retained."/>
            <p:cNvSpPr txBox="1"/>
            <p:nvPr/>
          </p:nvSpPr>
          <p:spPr>
            <a:xfrm>
              <a:off x="7865745" y="473290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Eligible offer or denial</a:t>
              </a:r>
              <a:endParaRPr lang="en-US" sz="1450" b="1" i="0" kern="0" spc="0" dirty="0">
                <a:solidFill>
                  <a:srgbClr val="032D60"/>
                </a:solidFill>
                <a:latin typeface="Salesforce Sans"/>
                <a:ea typeface="Salesforce Sans"/>
                <a:cs typeface="Salesforce Sans"/>
              </a:endParaRPr>
            </a:p>
          </p:txBody>
        </p:sp>
      </p:grpSp>
      <p:sp>
        <p:nvSpPr>
          <p:cNvPr id="1030" name="16 · node label: A node receives its declared input view; task state remains in the graph. [p16-text-0021]" descr="Native editable Unicode text; authored line breaks retained."/>
          <p:cNvSpPr txBox="1"/>
          <p:nvPr/>
        </p:nvSpPr>
        <p:spPr>
          <a:xfrm>
            <a:off x="558800" y="5708143"/>
            <a:ext cx="1108710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 node receives its declared input view; task state remains in the graph.</a:t>
            </a:r>
            <a:endParaRPr lang="en-US" sz="1250" b="0" i="0" kern="0" spc="0" dirty="0">
              <a:solidFill>
                <a:srgbClr val="032D60"/>
              </a:solidFill>
              <a:latin typeface="Salesforce Sans"/>
              <a:ea typeface="Salesforce Sans"/>
              <a:cs typeface="Salesforce Sans"/>
            </a:endParaRPr>
          </a:p>
        </p:txBody>
      </p:sp>
      <p:grpSp>
        <p:nvGrpSpPr>
          <p:cNvPr id="1042" name="16 · source-line: Agent Graph / guided determinism · AgentScript control plane · Building wit"/>
          <p:cNvGrpSpPr/>
          <p:nvPr/>
        </p:nvGrpSpPr>
        <p:grpSpPr>
          <a:xfrm>
            <a:off x="558800" y="6037898"/>
            <a:ext cx="11087100" cy="284456"/>
            <a:chOff x="558800" y="6037898"/>
            <a:chExt cx="11087100" cy="284456"/>
          </a:xfrm>
        </p:grpSpPr>
        <p:sp>
          <p:nvSpPr>
            <p:cNvPr id="1031" name="16 · source-line · top border [p16-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16 · span: Agent Graph / guided determinism · AgentScript control plane · Building with S [p16-text-0022]" descr="Native editable Unicode text; authored line breaks retained."/>
            <p:cNvSpPr txBox="1"/>
            <p:nvPr/>
          </p:nvSpPr>
          <p:spPr>
            <a:xfrm>
              <a:off x="558800" y="6153126"/>
              <a:ext cx="502831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33" name="16 · span: Proposed node contracts [p16-text-0023]" descr="Native editable Unicode text; authored line breaks retained."/>
            <p:cNvSpPr txBox="1"/>
            <p:nvPr/>
          </p:nvSpPr>
          <p:spPr>
            <a:xfrm>
              <a:off x="10232430" y="6153126"/>
              <a:ext cx="14134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node contracts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e preserves work across a branch">
    <p:bg>
      <p:bgPr>
        <a:solidFill>
          <a:srgbClr val="FFFFFF"/>
        </a:solidFill>
      </p:bgPr>
    </p:bg>
    <p:spTree>
      <p:nvGrpSpPr>
        <p:cNvPr id="1" name=""/>
        <p:cNvGrpSpPr/>
        <p:nvPr/>
      </p:nvGrpSpPr>
      <p:grpSpPr>
        <a:xfrm>
          <a:off x="0" y="0"/>
          <a:ext cx="0" cy="0"/>
          <a:chOff x="0" y="0"/>
          <a:chExt cx="0" cy="0"/>
        </a:xfrm>
      </p:grpSpPr>
      <p:sp>
        <p:nvSpPr>
          <p:cNvPr id="1000" name="17 · slide light · surface [p1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5" name="17 · chrome-min: DISAGGREGATED INTELLIGENCE"/>
          <p:cNvGrpSpPr/>
          <p:nvPr/>
        </p:nvGrpSpPr>
        <p:grpSpPr>
          <a:xfrm>
            <a:off x="558800" y="356053"/>
            <a:ext cx="11087100" cy="187325"/>
            <a:chOff x="558800" y="356053"/>
            <a:chExt cx="11087100" cy="187325"/>
          </a:xfrm>
        </p:grpSpPr>
        <p:sp>
          <p:nvSpPr>
            <p:cNvPr id="1001" name="17 · l: DISAGGREGATED INTELLIGENCE [p17-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7 · r: 17 / 36 [p17-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17 / 36</a:t>
              </a:r>
              <a:endParaRPr lang="en-US" sz="950" b="1" i="0" kern="0" spc="65" dirty="0">
                <a:solidFill>
                  <a:srgbClr val="022AC0"/>
                </a:solidFill>
                <a:latin typeface="Salesforce Sans"/>
                <a:ea typeface="Salesforce Sans"/>
                <a:cs typeface="Salesforce Sans"/>
              </a:endParaRPr>
            </a:p>
          </p:txBody>
        </p:sp>
      </p:grpSp>
      <p:grpSp>
        <p:nvGrpSpPr>
          <p:cNvPr id="1046" name="17 · deck-head: 04 / STEP 3"/>
          <p:cNvGrpSpPr/>
          <p:nvPr/>
        </p:nvGrpSpPr>
        <p:grpSpPr>
          <a:xfrm>
            <a:off x="558800" y="775901"/>
            <a:ext cx="11087100" cy="871263"/>
            <a:chOff x="558800" y="775901"/>
            <a:chExt cx="11087100" cy="871263"/>
          </a:xfrm>
        </p:grpSpPr>
        <p:sp>
          <p:nvSpPr>
            <p:cNvPr id="1003" name="17 · mixed-eyebrow: 04 / STEP 3 [p17-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3</a:t>
              </a:r>
              <a:endParaRPr lang="en-US" sz="1050" b="1" i="0" kern="0" spc="68" dirty="0">
                <a:solidFill>
                  <a:srgbClr val="022AC0"/>
                </a:solidFill>
                <a:latin typeface="Salesforce Sans"/>
                <a:ea typeface="Salesforce Sans"/>
                <a:cs typeface="Salesforce Sans"/>
              </a:endParaRPr>
            </a:p>
          </p:txBody>
        </p:sp>
        <p:sp>
          <p:nvSpPr>
            <p:cNvPr id="1004" name="17 · mixed-title: State preserves work across a branch [p17-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State preserves work across a branch</a:t>
              </a:r>
              <a:endParaRPr lang="en-US" sz="3600" b="1" i="0" kern="0" spc="-95" dirty="0">
                <a:solidFill>
                  <a:srgbClr val="022AC0"/>
                </a:solidFill>
                <a:latin typeface="Manrope"/>
                <a:ea typeface="Manrope"/>
                <a:cs typeface="Manrope"/>
              </a:endParaRPr>
            </a:p>
          </p:txBody>
        </p:sp>
      </p:grpSp>
      <p:grpSp>
        <p:nvGrpSpPr>
          <p:cNvPr id="1005" name="17 · svg · drawing [p17-e0008]"/>
          <p:cNvGrpSpPr/>
          <p:nvPr/>
        </p:nvGrpSpPr>
        <p:grpSpPr>
          <a:xfrm>
            <a:off x="2981325" y="2470670"/>
            <a:ext cx="6990715" cy="2311764"/>
            <a:chOff x="2981325" y="2470670"/>
            <a:chExt cx="6990715" cy="2311764"/>
          </a:xfrm>
        </p:grpSpPr>
        <p:grpSp>
          <p:nvGrpSpPr>
            <p:cNvPr id="1006" name="path · 1 + arrowhead"/>
            <p:cNvGrpSpPr/>
            <p:nvPr/>
          </p:nvGrpSpPr>
          <p:grpSpPr>
            <a:xfrm>
              <a:off x="2981325" y="3087141"/>
              <a:ext cx="744061" cy="136993"/>
              <a:chOff x="2981325" y="3087141"/>
              <a:chExt cx="744061" cy="136993"/>
            </a:xfrm>
          </p:grpSpPr>
          <p:sp>
            <p:nvSpPr>
              <p:cNvPr id="1007" name="path · 1"/>
              <p:cNvSpPr/>
              <p:nvPr/>
            </p:nvSpPr>
            <p:spPr>
              <a:xfrm>
                <a:off x="2981325" y="3155638"/>
                <a:ext cx="726758" cy="1"/>
              </a:xfrm>
              <a:custGeom>
                <a:avLst/>
                <a:gdLst/>
                <a:ahLst/>
                <a:cxnLst/>
                <a:rect l="0" t="0" r="r" b="b"/>
                <a:pathLst>
                  <a:path w="726758" h="1" fill="none" stroke="1" extrusionOk="0">
                    <a:moveTo>
                      <a:pt x="0" y="0"/>
                    </a:moveTo>
                    <a:lnTo>
                      <a:pt x="726758" y="0"/>
                    </a:lnTo>
                  </a:path>
                </a:pathLst>
              </a:custGeom>
              <a:noFill/>
              <a:ln w="15875" cap="flat" cmpd="sng" algn="ctr">
                <a:solidFill>
                  <a:srgbClr val="789B8E"/>
                </a:solidFill>
                <a:prstDash val="solid"/>
                <a:miter lim="400000"/>
                <a:headEnd type="none" w="med" len="med"/>
                <a:tailEnd type="none" w="med" len="med"/>
              </a:ln>
            </p:spPr>
          </p:sp>
          <p:grpSp>
            <p:nvGrpSpPr>
              <p:cNvPr id="1008" name="v2arr42 end"/>
              <p:cNvGrpSpPr/>
              <p:nvPr/>
            </p:nvGrpSpPr>
            <p:grpSpPr>
              <a:xfrm>
                <a:off x="3586956" y="3087141"/>
                <a:ext cx="138430" cy="136993"/>
                <a:chOff x="3586956" y="3087141"/>
                <a:chExt cx="138430" cy="136993"/>
              </a:xfrm>
            </p:grpSpPr>
            <p:sp>
              <p:nvSpPr>
                <p:cNvPr id="1009" name="path · 2"/>
                <p:cNvSpPr/>
                <p:nvPr/>
              </p:nvSpPr>
              <p:spPr>
                <a:xfrm>
                  <a:off x="3586956" y="3087141"/>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nvGrpSpPr>
            <p:cNvPr id="1010" name="path · 3 + arrowhead"/>
            <p:cNvGrpSpPr/>
            <p:nvPr/>
          </p:nvGrpSpPr>
          <p:grpSpPr>
            <a:xfrm>
              <a:off x="6372860" y="2470670"/>
              <a:ext cx="1782286" cy="547974"/>
              <a:chOff x="6372860" y="2470670"/>
              <a:chExt cx="1782286" cy="547974"/>
            </a:xfrm>
          </p:grpSpPr>
          <p:sp>
            <p:nvSpPr>
              <p:cNvPr id="1011" name="path · 3"/>
              <p:cNvSpPr/>
              <p:nvPr/>
            </p:nvSpPr>
            <p:spPr>
              <a:xfrm>
                <a:off x="6372860" y="2539167"/>
                <a:ext cx="1764983" cy="479477"/>
              </a:xfrm>
              <a:custGeom>
                <a:avLst/>
                <a:gdLst/>
                <a:ahLst/>
                <a:cxnLst/>
                <a:rect l="0" t="0" r="r" b="b"/>
                <a:pathLst>
                  <a:path w="1764983" h="479477" fill="none" stroke="1" extrusionOk="0">
                    <a:moveTo>
                      <a:pt x="0" y="479477"/>
                    </a:moveTo>
                    <a:lnTo>
                      <a:pt x="865188" y="479477"/>
                    </a:lnTo>
                    <a:lnTo>
                      <a:pt x="865188" y="0"/>
                    </a:lnTo>
                    <a:lnTo>
                      <a:pt x="1764983" y="0"/>
                    </a:lnTo>
                  </a:path>
                </a:pathLst>
              </a:custGeom>
              <a:noFill/>
              <a:ln w="15875" cap="flat" cmpd="sng" algn="ctr">
                <a:solidFill>
                  <a:srgbClr val="789B8E"/>
                </a:solidFill>
                <a:prstDash val="solid"/>
                <a:miter lim="400000"/>
                <a:headEnd type="none" w="med" len="med"/>
                <a:tailEnd type="none" w="med" len="med"/>
              </a:ln>
            </p:spPr>
          </p:sp>
          <p:grpSp>
            <p:nvGrpSpPr>
              <p:cNvPr id="1012" name="v2arr42 end"/>
              <p:cNvGrpSpPr/>
              <p:nvPr/>
            </p:nvGrpSpPr>
            <p:grpSpPr>
              <a:xfrm>
                <a:off x="8016716" y="2470670"/>
                <a:ext cx="138430" cy="136993"/>
                <a:chOff x="8016716" y="2470670"/>
                <a:chExt cx="138430" cy="136993"/>
              </a:xfrm>
            </p:grpSpPr>
            <p:sp>
              <p:nvSpPr>
                <p:cNvPr id="1013" name="path · 4"/>
                <p:cNvSpPr/>
                <p:nvPr/>
              </p:nvSpPr>
              <p:spPr>
                <a:xfrm>
                  <a:off x="8016716" y="2470670"/>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4" name="path · 5 + arrowhead"/>
            <p:cNvGrpSpPr/>
            <p:nvPr/>
          </p:nvGrpSpPr>
          <p:grpSpPr>
            <a:xfrm>
              <a:off x="4988560" y="3669363"/>
              <a:ext cx="138430" cy="1113072"/>
              <a:chOff x="4988560" y="3669363"/>
              <a:chExt cx="138430" cy="1113072"/>
            </a:xfrm>
          </p:grpSpPr>
          <p:sp>
            <p:nvSpPr>
              <p:cNvPr id="1015" name="path · 5"/>
              <p:cNvSpPr/>
              <p:nvPr/>
            </p:nvSpPr>
            <p:spPr>
              <a:xfrm>
                <a:off x="5057775" y="3669363"/>
                <a:ext cx="1" cy="1095948"/>
              </a:xfrm>
              <a:custGeom>
                <a:avLst/>
                <a:gdLst/>
                <a:ahLst/>
                <a:cxnLst/>
                <a:rect l="0" t="0" r="r" b="b"/>
                <a:pathLst>
                  <a:path w="1" h="1095948" fill="none" stroke="1" extrusionOk="0">
                    <a:moveTo>
                      <a:pt x="0" y="0"/>
                    </a:moveTo>
                    <a:lnTo>
                      <a:pt x="0" y="1095948"/>
                    </a:lnTo>
                  </a:path>
                </a:pathLst>
              </a:custGeom>
              <a:noFill/>
              <a:ln w="15875" cap="flat" cmpd="sng" algn="ctr">
                <a:solidFill>
                  <a:srgbClr val="789B8E"/>
                </a:solidFill>
                <a:prstDash val="solid"/>
                <a:miter lim="400000"/>
                <a:headEnd type="none" w="med" len="med"/>
                <a:tailEnd type="none" w="med" len="med"/>
              </a:ln>
            </p:spPr>
          </p:sp>
          <p:grpSp>
            <p:nvGrpSpPr>
              <p:cNvPr id="1016" name="v2arr42 end"/>
              <p:cNvGrpSpPr/>
              <p:nvPr/>
            </p:nvGrpSpPr>
            <p:grpSpPr>
              <a:xfrm>
                <a:off x="4988560" y="4645441"/>
                <a:ext cx="138430" cy="136993"/>
                <a:chOff x="4988560" y="4645441"/>
                <a:chExt cx="138430" cy="136993"/>
              </a:xfrm>
            </p:grpSpPr>
            <p:sp>
              <p:nvSpPr>
                <p:cNvPr id="1017" name="path · 6"/>
                <p:cNvSpPr/>
                <p:nvPr/>
              </p:nvSpPr>
              <p:spPr>
                <a:xfrm>
                  <a:off x="4988560" y="4645441"/>
                  <a:ext cx="138430" cy="136993"/>
                </a:xfrm>
                <a:custGeom>
                  <a:avLst/>
                  <a:gdLst/>
                  <a:ahLst/>
                  <a:cxnLst/>
                  <a:rect l="0" t="0" r="r" b="b"/>
                  <a:pathLst>
                    <a:path w="138430" h="136993" fill="norm" stroke="0" extrusionOk="0">
                      <a:moveTo>
                        <a:pt x="138430" y="0"/>
                      </a:moveTo>
                      <a:lnTo>
                        <a:pt x="69215" y="136994"/>
                      </a:lnTo>
                      <a:lnTo>
                        <a:pt x="0" y="0"/>
                      </a:lnTo>
                      <a:close/>
                    </a:path>
                  </a:pathLst>
                </a:custGeom>
                <a:solidFill>
                  <a:srgbClr val="789B8E"/>
                </a:solidFill>
                <a:ln>
                  <a:noFill/>
                </a:ln>
              </p:spPr>
            </p:sp>
          </p:grpSp>
        </p:grpSp>
        <p:grpSp>
          <p:nvGrpSpPr>
            <p:cNvPr id="1018" name="path · 7 + arrowhead"/>
            <p:cNvGrpSpPr/>
            <p:nvPr/>
          </p:nvGrpSpPr>
          <p:grpSpPr>
            <a:xfrm>
              <a:off x="9833610" y="3087141"/>
              <a:ext cx="138430" cy="1558300"/>
              <a:chOff x="9833610" y="3087141"/>
              <a:chExt cx="138430" cy="1558300"/>
            </a:xfrm>
          </p:grpSpPr>
          <p:sp>
            <p:nvSpPr>
              <p:cNvPr id="1019" name="path · 7"/>
              <p:cNvSpPr/>
              <p:nvPr/>
            </p:nvSpPr>
            <p:spPr>
              <a:xfrm>
                <a:off x="9902825" y="3087141"/>
                <a:ext cx="1" cy="1541176"/>
              </a:xfrm>
              <a:custGeom>
                <a:avLst/>
                <a:gdLst/>
                <a:ahLst/>
                <a:cxnLst/>
                <a:rect l="0" t="0" r="r" b="b"/>
                <a:pathLst>
                  <a:path w="1" h="1541176" fill="none" stroke="1" extrusionOk="0">
                    <a:moveTo>
                      <a:pt x="0" y="0"/>
                    </a:moveTo>
                    <a:lnTo>
                      <a:pt x="0" y="1541176"/>
                    </a:lnTo>
                  </a:path>
                </a:pathLst>
              </a:custGeom>
              <a:noFill/>
              <a:ln w="15875" cap="flat" cmpd="sng" algn="ctr">
                <a:solidFill>
                  <a:srgbClr val="789B8E"/>
                </a:solidFill>
                <a:prstDash val="solid"/>
                <a:miter lim="400000"/>
                <a:headEnd type="none" w="med" len="med"/>
                <a:tailEnd type="none" w="med" len="med"/>
              </a:ln>
            </p:spPr>
          </p:sp>
          <p:grpSp>
            <p:nvGrpSpPr>
              <p:cNvPr id="1020" name="v2arr42 end"/>
              <p:cNvGrpSpPr/>
              <p:nvPr/>
            </p:nvGrpSpPr>
            <p:grpSpPr>
              <a:xfrm>
                <a:off x="9833610" y="4508448"/>
                <a:ext cx="138430" cy="136993"/>
                <a:chOff x="9833610" y="4508448"/>
                <a:chExt cx="138430" cy="136993"/>
              </a:xfrm>
            </p:grpSpPr>
            <p:sp>
              <p:nvSpPr>
                <p:cNvPr id="1021" name="path · 8"/>
                <p:cNvSpPr/>
                <p:nvPr/>
              </p:nvSpPr>
              <p:spPr>
                <a:xfrm>
                  <a:off x="9833610" y="4508448"/>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grpSp>
        <p:nvGrpSpPr>
          <p:cNvPr id="1047" name="17 · node lilac: Two AND tasks"/>
          <p:cNvGrpSpPr/>
          <p:nvPr/>
        </p:nvGrpSpPr>
        <p:grpSpPr>
          <a:xfrm>
            <a:off x="558800" y="2676155"/>
            <a:ext cx="2422525" cy="993182"/>
            <a:chOff x="558800" y="2676155"/>
            <a:chExt cx="2422525" cy="993182"/>
          </a:xfrm>
        </p:grpSpPr>
        <p:sp>
          <p:nvSpPr>
            <p:cNvPr id="1022" name="17 · node lilac · surface [p17-e0009]"/>
            <p:cNvSpPr/>
            <p:nvPr/>
          </p:nvSpPr>
          <p:spPr>
            <a:xfrm>
              <a:off x="558800" y="2676155"/>
              <a:ext cx="2422525" cy="993182"/>
            </a:xfrm>
            <a:prstGeom prst="roundRect">
              <a:avLst>
                <a:gd name="adj" fmla="val 14066"/>
              </a:avLst>
            </a:prstGeom>
            <a:solidFill>
              <a:srgbClr val="EAE6FA"/>
            </a:solidFill>
            <a:ln>
              <a:noFill/>
            </a:ln>
          </p:spPr>
        </p:sp>
        <p:sp>
          <p:nvSpPr>
            <p:cNvPr id="1023" name="17 · strong: Two AND tasks [p17-text-0014]" descr="Native editable Unicode text; authored line breaks retained."/>
            <p:cNvSpPr txBox="1"/>
            <p:nvPr/>
          </p:nvSpPr>
          <p:spPr>
            <a:xfrm>
              <a:off x="736600" y="2922309"/>
              <a:ext cx="207962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Two AND tasks</a:t>
              </a:r>
              <a:endParaRPr lang="en-US" sz="1450" b="1" i="0" kern="0" spc="0" dirty="0">
                <a:solidFill>
                  <a:srgbClr val="032D60"/>
                </a:solidFill>
                <a:latin typeface="Salesforce Sans"/>
                <a:ea typeface="Salesforce Sans"/>
                <a:cs typeface="Salesforce Sans"/>
              </a:endParaRPr>
            </a:p>
          </p:txBody>
        </p:sp>
        <p:sp>
          <p:nvSpPr>
            <p:cNvPr id="1024" name="17 · small: Record exchange + cable return [p17-text-0015]" descr="Native editable Unicode text; authored line breaks retained."/>
            <p:cNvSpPr txBox="1"/>
            <p:nvPr/>
          </p:nvSpPr>
          <p:spPr>
            <a:xfrm>
              <a:off x="736600" y="3233630"/>
              <a:ext cx="207962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Record exchange + cable return</a:t>
              </a:r>
              <a:endParaRPr lang="en-US" sz="1100" b="0" i="0" kern="0" spc="0" dirty="0">
                <a:solidFill>
                  <a:srgbClr val="032D60"/>
                </a:solidFill>
                <a:latin typeface="Salesforce Sans"/>
                <a:ea typeface="Salesforce Sans"/>
                <a:cs typeface="Salesforce Sans"/>
              </a:endParaRPr>
            </a:p>
          </p:txBody>
        </p:sp>
      </p:grpSp>
      <p:grpSp>
        <p:nvGrpSpPr>
          <p:cNvPr id="1048" name="17 · node sand: Clarify priority"/>
          <p:cNvGrpSpPr/>
          <p:nvPr/>
        </p:nvGrpSpPr>
        <p:grpSpPr>
          <a:xfrm>
            <a:off x="3742690" y="2676155"/>
            <a:ext cx="2630170" cy="993182"/>
            <a:chOff x="3742690" y="2676155"/>
            <a:chExt cx="2630170" cy="993182"/>
          </a:xfrm>
        </p:grpSpPr>
        <p:sp>
          <p:nvSpPr>
            <p:cNvPr id="1025" name="17 · node sand · surface [p17-e0012]"/>
            <p:cNvSpPr/>
            <p:nvPr/>
          </p:nvSpPr>
          <p:spPr>
            <a:xfrm>
              <a:off x="3742690" y="2676155"/>
              <a:ext cx="2630170" cy="993182"/>
            </a:xfrm>
            <a:prstGeom prst="roundRect">
              <a:avLst>
                <a:gd name="adj" fmla="val 14066"/>
              </a:avLst>
            </a:prstGeom>
            <a:solidFill>
              <a:srgbClr val="FBF0CF"/>
            </a:solidFill>
            <a:ln>
              <a:noFill/>
            </a:ln>
          </p:spPr>
        </p:sp>
        <p:sp>
          <p:nvSpPr>
            <p:cNvPr id="1026" name="17 · strong: Clarify priority [p17-text-0016]" descr="Native editable Unicode text; authored line breaks retained."/>
            <p:cNvSpPr txBox="1"/>
            <p:nvPr/>
          </p:nvSpPr>
          <p:spPr>
            <a:xfrm>
              <a:off x="3920490" y="2922309"/>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Clarify priority</a:t>
              </a:r>
              <a:endParaRPr lang="en-US" sz="1450" b="1" i="0" kern="0" spc="0" dirty="0">
                <a:solidFill>
                  <a:srgbClr val="032D60"/>
                </a:solidFill>
                <a:latin typeface="Salesforce Sans"/>
                <a:ea typeface="Salesforce Sans"/>
                <a:cs typeface="Salesforce Sans"/>
              </a:endParaRPr>
            </a:p>
          </p:txBody>
        </p:sp>
        <p:sp>
          <p:nvSpPr>
            <p:cNvPr id="1027" name="17 · small: Ask which task to start [p17-text-0017]" descr="Native editable Unicode text; authored line breaks retained."/>
            <p:cNvSpPr txBox="1"/>
            <p:nvPr/>
          </p:nvSpPr>
          <p:spPr>
            <a:xfrm>
              <a:off x="3920490" y="3233630"/>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Ask which task to start</a:t>
              </a:r>
              <a:endParaRPr lang="en-US" sz="1100" b="0" i="0" kern="0" spc="0" dirty="0">
                <a:solidFill>
                  <a:srgbClr val="032D60"/>
                </a:solidFill>
                <a:latin typeface="Salesforce Sans"/>
                <a:ea typeface="Salesforce Sans"/>
                <a:cs typeface="Salesforce Sans"/>
              </a:endParaRPr>
            </a:p>
          </p:txBody>
        </p:sp>
      </p:grpSp>
      <p:grpSp>
        <p:nvGrpSpPr>
          <p:cNvPr id="1049" name="17 · node mint: Exchange active"/>
          <p:cNvGrpSpPr/>
          <p:nvPr/>
        </p:nvGrpSpPr>
        <p:grpSpPr>
          <a:xfrm>
            <a:off x="8172450" y="1991206"/>
            <a:ext cx="3426198" cy="1095968"/>
            <a:chOff x="8172450" y="1991206"/>
            <a:chExt cx="3426198" cy="1095968"/>
          </a:xfrm>
        </p:grpSpPr>
        <p:sp>
          <p:nvSpPr>
            <p:cNvPr id="1028" name="17 · node mint · surface [p17-e0015]"/>
            <p:cNvSpPr/>
            <p:nvPr/>
          </p:nvSpPr>
          <p:spPr>
            <a:xfrm>
              <a:off x="8172450" y="1991206"/>
              <a:ext cx="3426198" cy="1095968"/>
            </a:xfrm>
            <a:prstGeom prst="roundRect">
              <a:avLst>
                <a:gd name="adj" fmla="val 12747"/>
              </a:avLst>
            </a:prstGeom>
            <a:solidFill>
              <a:srgbClr val="DDF3ED"/>
            </a:solidFill>
            <a:ln>
              <a:noFill/>
            </a:ln>
          </p:spPr>
        </p:sp>
        <p:sp>
          <p:nvSpPr>
            <p:cNvPr id="1029" name="17 · strong: Exchange active [p17-text-0018]" descr="Native editable Unicode text; authored line breaks retained."/>
            <p:cNvSpPr txBox="1"/>
            <p:nvPr/>
          </p:nvSpPr>
          <p:spPr>
            <a:xfrm>
              <a:off x="8350250" y="2288754"/>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active</a:t>
              </a:r>
              <a:endParaRPr lang="en-US" sz="1450" b="1" i="0" kern="0" spc="0" dirty="0">
                <a:solidFill>
                  <a:srgbClr val="032D60"/>
                </a:solidFill>
                <a:latin typeface="Salesforce Sans"/>
                <a:ea typeface="Salesforce Sans"/>
                <a:cs typeface="Salesforce Sans"/>
              </a:endParaRPr>
            </a:p>
          </p:txBody>
        </p:sp>
        <p:sp>
          <p:nvSpPr>
            <p:cNvPr id="1030" name="17 · small: Cable return stays pending [p17-text-0019]" descr="Native editable Unicode text; authored line breaks retained."/>
            <p:cNvSpPr txBox="1"/>
            <p:nvPr/>
          </p:nvSpPr>
          <p:spPr>
            <a:xfrm>
              <a:off x="8350250" y="2600074"/>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Cable return stays pending</a:t>
              </a:r>
              <a:endParaRPr lang="en-US" sz="1100" b="0" i="0" kern="0" spc="0" dirty="0">
                <a:solidFill>
                  <a:srgbClr val="032D60"/>
                </a:solidFill>
                <a:latin typeface="Salesforce Sans"/>
                <a:ea typeface="Salesforce Sans"/>
                <a:cs typeface="Salesforce Sans"/>
              </a:endParaRPr>
            </a:p>
          </p:txBody>
        </p:sp>
      </p:grpSp>
      <p:grpSp>
        <p:nvGrpSpPr>
          <p:cNvPr id="1050" name="17 · node blue: Cable return active"/>
          <p:cNvGrpSpPr/>
          <p:nvPr/>
        </p:nvGrpSpPr>
        <p:grpSpPr>
          <a:xfrm>
            <a:off x="8172450" y="4662561"/>
            <a:ext cx="3426198" cy="1095968"/>
            <a:chOff x="8172450" y="4662561"/>
            <a:chExt cx="3426198" cy="1095968"/>
          </a:xfrm>
        </p:grpSpPr>
        <p:sp>
          <p:nvSpPr>
            <p:cNvPr id="1031" name="17 · node blue · surface [p17-e0018]"/>
            <p:cNvSpPr/>
            <p:nvPr/>
          </p:nvSpPr>
          <p:spPr>
            <a:xfrm>
              <a:off x="8172450" y="4662561"/>
              <a:ext cx="3426198" cy="1095968"/>
            </a:xfrm>
            <a:prstGeom prst="roundRect">
              <a:avLst>
                <a:gd name="adj" fmla="val 12747"/>
              </a:avLst>
            </a:prstGeom>
            <a:solidFill>
              <a:srgbClr val="DCEEFE"/>
            </a:solidFill>
            <a:ln>
              <a:noFill/>
            </a:ln>
          </p:spPr>
        </p:sp>
        <p:sp>
          <p:nvSpPr>
            <p:cNvPr id="1032" name="17 · strong: Cable return active [p17-text-0020]" descr="Native editable Unicode text; authored line breaks retained."/>
            <p:cNvSpPr txBox="1"/>
            <p:nvPr/>
          </p:nvSpPr>
          <p:spPr>
            <a:xfrm>
              <a:off x="8350250" y="4960108"/>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Cable return active</a:t>
              </a:r>
              <a:endParaRPr lang="en-US" sz="1450" b="1" i="0" kern="0" spc="0" dirty="0">
                <a:solidFill>
                  <a:srgbClr val="032D60"/>
                </a:solidFill>
                <a:latin typeface="Salesforce Sans"/>
                <a:ea typeface="Salesforce Sans"/>
                <a:cs typeface="Salesforce Sans"/>
              </a:endParaRPr>
            </a:p>
          </p:txBody>
        </p:sp>
        <p:sp>
          <p:nvSpPr>
            <p:cNvPr id="1033" name="17 · small: Resume after exchange authorization [p17-text-0021]" descr="Native editable Unicode text; authored line breaks retained."/>
            <p:cNvSpPr txBox="1"/>
            <p:nvPr/>
          </p:nvSpPr>
          <p:spPr>
            <a:xfrm>
              <a:off x="8350250" y="5271428"/>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Resume after exchange authorization</a:t>
              </a:r>
              <a:endParaRPr lang="en-US" sz="1100" b="0" i="0" kern="0" spc="0" dirty="0">
                <a:solidFill>
                  <a:srgbClr val="032D60"/>
                </a:solidFill>
                <a:latin typeface="Salesforce Sans"/>
                <a:ea typeface="Salesforce Sans"/>
                <a:cs typeface="Salesforce Sans"/>
              </a:endParaRPr>
            </a:p>
          </p:txBody>
        </p:sp>
      </p:grpSp>
      <p:grpSp>
        <p:nvGrpSpPr>
          <p:cNvPr id="1051" name="17 · node peach: Recorded handoff"/>
          <p:cNvGrpSpPr/>
          <p:nvPr/>
        </p:nvGrpSpPr>
        <p:grpSpPr>
          <a:xfrm>
            <a:off x="3742690" y="4799567"/>
            <a:ext cx="2630170" cy="958962"/>
            <a:chOff x="3742690" y="4799567"/>
            <a:chExt cx="2630170" cy="958962"/>
          </a:xfrm>
        </p:grpSpPr>
        <p:sp>
          <p:nvSpPr>
            <p:cNvPr id="1034" name="17 · node peach · surface [p17-e0021]"/>
            <p:cNvSpPr/>
            <p:nvPr/>
          </p:nvSpPr>
          <p:spPr>
            <a:xfrm>
              <a:off x="3742690" y="4799567"/>
              <a:ext cx="2630170" cy="958962"/>
            </a:xfrm>
            <a:prstGeom prst="roundRect">
              <a:avLst>
                <a:gd name="adj" fmla="val 14568"/>
              </a:avLst>
            </a:prstGeom>
            <a:solidFill>
              <a:srgbClr val="FBE5DF"/>
            </a:solidFill>
            <a:ln>
              <a:noFill/>
            </a:ln>
          </p:spPr>
        </p:sp>
        <p:sp>
          <p:nvSpPr>
            <p:cNvPr id="1035" name="17 · strong: Recorded handoff [p17-text-0022]" descr="Native editable Unicode text; authored line breaks retained."/>
            <p:cNvSpPr txBox="1"/>
            <p:nvPr/>
          </p:nvSpPr>
          <p:spPr>
            <a:xfrm>
              <a:off x="3920490" y="5028611"/>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Recorded handoff</a:t>
              </a:r>
              <a:endParaRPr lang="en-US" sz="1450" b="1" i="0" kern="0" spc="0" dirty="0">
                <a:solidFill>
                  <a:srgbClr val="032D60"/>
                </a:solidFill>
                <a:latin typeface="Salesforce Sans"/>
                <a:ea typeface="Salesforce Sans"/>
                <a:cs typeface="Salesforce Sans"/>
              </a:endParaRPr>
            </a:p>
          </p:txBody>
        </p:sp>
        <p:sp>
          <p:nvSpPr>
            <p:cNvPr id="1036" name="17 · small: Retain all outstanding work [p17-text-0023]" descr="Native editable Unicode text; authored line breaks retained."/>
            <p:cNvSpPr txBox="1"/>
            <p:nvPr/>
          </p:nvSpPr>
          <p:spPr>
            <a:xfrm>
              <a:off x="3920490" y="5339932"/>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Retain all outstanding work</a:t>
              </a:r>
              <a:endParaRPr lang="en-US" sz="1100" b="0" i="0" kern="0" spc="0" dirty="0">
                <a:solidFill>
                  <a:srgbClr val="032D60"/>
                </a:solidFill>
                <a:latin typeface="Salesforce Sans"/>
                <a:ea typeface="Salesforce Sans"/>
                <a:cs typeface="Salesforce Sans"/>
              </a:endParaRPr>
            </a:p>
          </p:txBody>
        </p:sp>
      </p:grpSp>
      <p:sp>
        <p:nvSpPr>
          <p:cNvPr id="1037" name="17 · node label: exchange selected [p17-text-0024]" descr="Native editable Unicode text; authored line breaks retained."/>
          <p:cNvSpPr txBox="1"/>
          <p:nvPr/>
        </p:nvSpPr>
        <p:spPr>
          <a:xfrm>
            <a:off x="6545842" y="2060675"/>
            <a:ext cx="167386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 selected</a:t>
            </a:r>
            <a:endParaRPr lang="en-US" sz="1250" b="0" i="0" kern="0" spc="0" dirty="0">
              <a:solidFill>
                <a:srgbClr val="032D60"/>
              </a:solidFill>
              <a:latin typeface="Salesforce Sans"/>
              <a:ea typeface="Salesforce Sans"/>
              <a:cs typeface="Salesforce Sans"/>
            </a:endParaRPr>
          </a:p>
        </p:txBody>
      </p:sp>
      <p:grpSp>
        <p:nvGrpSpPr>
          <p:cNvPr id="1052" name="17 · node label: no choice"/>
          <p:cNvGrpSpPr/>
          <p:nvPr/>
        </p:nvGrpSpPr>
        <p:grpSpPr>
          <a:xfrm>
            <a:off x="3742690" y="3921909"/>
            <a:ext cx="2642870" cy="597216"/>
            <a:chOff x="3742690" y="3921909"/>
            <a:chExt cx="2642870" cy="597216"/>
          </a:xfrm>
        </p:grpSpPr>
        <p:sp>
          <p:nvSpPr>
            <p:cNvPr id="1038" name="17 · node label: no choice [p17-text-0025]" descr="Native editable Unicode text; authored line breaks retained."/>
            <p:cNvSpPr txBox="1"/>
            <p:nvPr/>
          </p:nvSpPr>
          <p:spPr>
            <a:xfrm>
              <a:off x="3742690" y="392190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no choice</a:t>
              </a:r>
              <a:endParaRPr lang="en-US" sz="1250" b="0" i="0" kern="0" spc="0" dirty="0">
                <a:solidFill>
                  <a:srgbClr val="032D60"/>
                </a:solidFill>
                <a:latin typeface="Salesforce Sans"/>
                <a:ea typeface="Salesforce Sans"/>
                <a:cs typeface="Salesforce Sans"/>
              </a:endParaRPr>
            </a:p>
          </p:txBody>
        </p:sp>
        <p:sp>
          <p:nvSpPr>
            <p:cNvPr id="1039" name="17 · node label: within budget [p17-text-0026]" descr="Native editable Unicode text; authored line breaks retained."/>
            <p:cNvSpPr txBox="1"/>
            <p:nvPr/>
          </p:nvSpPr>
          <p:spPr>
            <a:xfrm>
              <a:off x="3742690" y="430925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within budget</a:t>
              </a:r>
              <a:endParaRPr lang="en-US" sz="1250" b="0" i="0" kern="0" spc="0" dirty="0">
                <a:solidFill>
                  <a:srgbClr val="032D60"/>
                </a:solidFill>
                <a:latin typeface="Salesforce Sans"/>
                <a:ea typeface="Salesforce Sans"/>
                <a:cs typeface="Salesforce Sans"/>
              </a:endParaRPr>
            </a:p>
          </p:txBody>
        </p:sp>
      </p:grpSp>
      <p:grpSp>
        <p:nvGrpSpPr>
          <p:cNvPr id="1053" name="17 · node label: exchange"/>
          <p:cNvGrpSpPr/>
          <p:nvPr/>
        </p:nvGrpSpPr>
        <p:grpSpPr>
          <a:xfrm>
            <a:off x="10179685" y="3613676"/>
            <a:ext cx="1431552" cy="597216"/>
            <a:chOff x="10179685" y="3613676"/>
            <a:chExt cx="1431552" cy="597216"/>
          </a:xfrm>
        </p:grpSpPr>
        <p:sp>
          <p:nvSpPr>
            <p:cNvPr id="1040" name="17 · node label: exchange [p17-text-0027]" descr="Native editable Unicode text; authored line breaks retained."/>
            <p:cNvSpPr txBox="1"/>
            <p:nvPr/>
          </p:nvSpPr>
          <p:spPr>
            <a:xfrm>
              <a:off x="10179685" y="361367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a:t>
              </a:r>
              <a:endParaRPr lang="en-US" sz="1250" b="0" i="0" kern="0" spc="0" dirty="0">
                <a:solidFill>
                  <a:srgbClr val="032D60"/>
                </a:solidFill>
                <a:latin typeface="Salesforce Sans"/>
                <a:ea typeface="Salesforce Sans"/>
                <a:cs typeface="Salesforce Sans"/>
              </a:endParaRPr>
            </a:p>
          </p:txBody>
        </p:sp>
        <p:sp>
          <p:nvSpPr>
            <p:cNvPr id="1041" name="17 · node label: authorized [p17-text-0028]" descr="Native editable Unicode text; authored line breaks retained."/>
            <p:cNvSpPr txBox="1"/>
            <p:nvPr/>
          </p:nvSpPr>
          <p:spPr>
            <a:xfrm>
              <a:off x="10179685" y="400102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authorized</a:t>
              </a:r>
              <a:endParaRPr lang="en-US" sz="1250" b="0" i="0" kern="0" spc="0" dirty="0">
                <a:solidFill>
                  <a:srgbClr val="032D60"/>
                </a:solidFill>
                <a:latin typeface="Salesforce Sans"/>
                <a:ea typeface="Salesforce Sans"/>
                <a:cs typeface="Salesforce Sans"/>
              </a:endParaRPr>
            </a:p>
          </p:txBody>
        </p:sp>
      </p:grpSp>
      <p:grpSp>
        <p:nvGrpSpPr>
          <p:cNvPr id="1054" name="17 · source-line: Agent Graph / guided determinism"/>
          <p:cNvGrpSpPr/>
          <p:nvPr/>
        </p:nvGrpSpPr>
        <p:grpSpPr>
          <a:xfrm>
            <a:off x="558800" y="6037898"/>
            <a:ext cx="11087100" cy="284456"/>
            <a:chOff x="558800" y="6037898"/>
            <a:chExt cx="11087100" cy="284456"/>
          </a:xfrm>
        </p:grpSpPr>
        <p:sp>
          <p:nvSpPr>
            <p:cNvPr id="1042" name="17 · source-line · top border [p17-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3" name="17 · span: Agent Graph / guided determinism [p17-text-0029]"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44" name="17 · span: Constructed mixed-request path [p17-text-0030]" descr="Native editable Unicode text; authored line breaks retained."/>
            <p:cNvSpPr txBox="1"/>
            <p:nvPr/>
          </p:nvSpPr>
          <p:spPr>
            <a:xfrm>
              <a:off x="9814750" y="6153126"/>
              <a:ext cx="183115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mixed-request path</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Guided determinism gives uncertainty a place">
    <p:bg>
      <p:bgPr>
        <a:solidFill>
          <a:srgbClr val="FFFFFF"/>
        </a:solidFill>
      </p:bgPr>
    </p:bg>
    <p:spTree>
      <p:nvGrpSpPr>
        <p:cNvPr id="1" name=""/>
        <p:cNvGrpSpPr/>
        <p:nvPr/>
      </p:nvGrpSpPr>
      <p:grpSpPr>
        <a:xfrm>
          <a:off x="0" y="0"/>
          <a:ext cx="0" cy="0"/>
          <a:chOff x="0" y="0"/>
          <a:chExt cx="0" cy="0"/>
        </a:xfrm>
      </p:grpSpPr>
      <p:sp>
        <p:nvSpPr>
          <p:cNvPr id="1000" name="18 · slide hero dark · surface [p18-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17" name="18 · chrome-min: DISAGGREGATED INTELLIGENCE"/>
          <p:cNvGrpSpPr/>
          <p:nvPr/>
        </p:nvGrpSpPr>
        <p:grpSpPr>
          <a:xfrm>
            <a:off x="558800" y="356053"/>
            <a:ext cx="11087100" cy="187325"/>
            <a:chOff x="558800" y="356053"/>
            <a:chExt cx="11087100" cy="187325"/>
          </a:xfrm>
        </p:grpSpPr>
        <p:sp>
          <p:nvSpPr>
            <p:cNvPr id="1001" name="18 · l: DISAGGREGATED INTELLIGENCE [p1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8 · r: 18 / 36 [p1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18 / 36</a:t>
              </a:r>
              <a:endParaRPr lang="en-US" sz="950" b="1" i="0" kern="0" spc="65" dirty="0">
                <a:solidFill>
                  <a:srgbClr val="022AC0"/>
                </a:solidFill>
                <a:latin typeface="Salesforce Sans"/>
                <a:ea typeface="Salesforce Sans"/>
                <a:cs typeface="Salesforce Sans"/>
              </a:endParaRPr>
            </a:p>
          </p:txBody>
        </p:sp>
      </p:grpSp>
      <p:grpSp>
        <p:nvGrpSpPr>
          <p:cNvPr id="1018" name="18 · deck-head: 05 / NEURO-SYMBOLIC REASONING"/>
          <p:cNvGrpSpPr/>
          <p:nvPr/>
        </p:nvGrpSpPr>
        <p:grpSpPr>
          <a:xfrm>
            <a:off x="558800" y="775901"/>
            <a:ext cx="11087100" cy="871263"/>
            <a:chOff x="558800" y="775901"/>
            <a:chExt cx="11087100" cy="871263"/>
          </a:xfrm>
        </p:grpSpPr>
        <p:sp>
          <p:nvSpPr>
            <p:cNvPr id="1003" name="18 · guided-eyebrow: 05 / NEURO-SYMBOLIC REASONING [p1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NEURO-SYMBOLIC REASONING</a:t>
              </a:r>
              <a:endParaRPr lang="en-US" sz="1050" b="1" i="0" kern="0" spc="68" dirty="0">
                <a:solidFill>
                  <a:srgbClr val="022AC0"/>
                </a:solidFill>
                <a:latin typeface="Salesforce Sans"/>
                <a:ea typeface="Salesforce Sans"/>
                <a:cs typeface="Salesforce Sans"/>
              </a:endParaRPr>
            </a:p>
          </p:txBody>
        </p:sp>
        <p:sp>
          <p:nvSpPr>
            <p:cNvPr id="1004" name="18 · guided-title: Guided determinism gives uncertainty a place [p1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Guided determinism gives uncertainty a place</a:t>
              </a:r>
              <a:endParaRPr lang="en-US" sz="3600" b="1" i="0" kern="0" spc="-95" dirty="0">
                <a:solidFill>
                  <a:srgbClr val="022AC0"/>
                </a:solidFill>
                <a:latin typeface="Manrope"/>
                <a:ea typeface="Manrope"/>
                <a:cs typeface="Manrope"/>
              </a:endParaRPr>
            </a:p>
          </p:txBody>
        </p:sp>
      </p:grpSp>
      <p:sp>
        <p:nvSpPr>
          <p:cNvPr id="1005" name="18 · ink-banner-full · surface [p18-e0008]"/>
          <p:cNvSpPr/>
          <p:nvPr/>
        </p:nvSpPr>
        <p:spPr>
          <a:xfrm>
            <a:off x="558800" y="3224276"/>
            <a:ext cx="11074400" cy="894842"/>
          </a:xfrm>
          <a:prstGeom prst="roundRect">
            <a:avLst>
              <a:gd name="adj" fmla="val 14192"/>
            </a:avLst>
          </a:prstGeom>
          <a:solidFill>
            <a:srgbClr val="DDF3ED"/>
          </a:solidFill>
          <a:ln>
            <a:noFill/>
          </a:ln>
        </p:spPr>
      </p:sp>
      <p:sp>
        <p:nvSpPr>
          <p:cNvPr id="1006" name="18 · manifesto-top: Neural interpretation inside an authored process. [p18-text-0009]" descr="Native editable Unicode text; authored line breaks retained."/>
          <p:cNvSpPr txBox="1"/>
          <p:nvPr/>
        </p:nvSpPr>
        <p:spPr>
          <a:xfrm>
            <a:off x="558800" y="1816138"/>
            <a:ext cx="9791700" cy="11350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Neural interpretation</a:t>
            </a:r>
            <a:endParaRPr lang="en-US" sz="3700" b="0" i="0" kern="0" spc="-100" dirty="0">
              <a:solidFill>
                <a:srgbClr val="032D60"/>
              </a:solidFill>
              <a:latin typeface="Salesforce Sans"/>
              <a:ea typeface="Salesforce Sans"/>
              <a:cs typeface="Salesforce Sans"/>
            </a:endParaRPr>
          </a:p>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inside an authored process.</a:t>
            </a:r>
            <a:endParaRPr lang="en-US" sz="3700" b="0" i="0" kern="0" spc="-100" dirty="0">
              <a:solidFill>
                <a:srgbClr val="032D60"/>
              </a:solidFill>
              <a:latin typeface="Salesforce Sans"/>
              <a:ea typeface="Salesforce Sans"/>
              <a:cs typeface="Salesforce Sans"/>
            </a:endParaRPr>
          </a:p>
        </p:txBody>
      </p:sp>
      <p:sp>
        <p:nvSpPr>
          <p:cNvPr id="1007" name="18 · ink-banner-full: AgentScript defines where model choice is available. Agent Graph executes the  [p18-text-0010]" descr="Native editable Unicode text; authored line breaks retained."/>
          <p:cNvSpPr txBox="1"/>
          <p:nvPr/>
        </p:nvSpPr>
        <p:spPr>
          <a:xfrm>
            <a:off x="838200" y="3427476"/>
            <a:ext cx="10528300" cy="49479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AgentScript defines where model choice is available.</a:t>
            </a:r>
            <a:endParaRPr lang="en-US" sz="1500" b="0" i="0" kern="0" spc="0" dirty="0">
              <a:solidFill>
                <a:srgbClr val="032D60"/>
              </a:solidFill>
              <a:latin typeface="Salesforce Sans"/>
              <a:ea typeface="Salesforce Sans"/>
              <a:cs typeface="Salesforce Sans"/>
            </a:endParaRPr>
          </a:p>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 Graph executes the configured transitions.</a:t>
            </a:r>
            <a:endParaRPr lang="en-US" sz="1500" b="0" i="0" kern="0" spc="0" dirty="0">
              <a:solidFill>
                <a:srgbClr val="032D60"/>
              </a:solidFill>
              <a:latin typeface="Salesforce Sans"/>
              <a:ea typeface="Salesforce Sans"/>
              <a:cs typeface="Salesforce Sans"/>
            </a:endParaRPr>
          </a:p>
        </p:txBody>
      </p:sp>
      <p:sp>
        <p:nvSpPr>
          <p:cNvPr id="1008" name="18 · guided-text-1: Interpretation [p18-text-0011]" descr="Native editable Unicode text; authored line breaks retained."/>
          <p:cNvSpPr txBox="1"/>
          <p:nvPr/>
        </p:nvSpPr>
        <p:spPr>
          <a:xfrm>
            <a:off x="558800"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Interpretation</a:t>
            </a:r>
            <a:endParaRPr lang="en-US" sz="2000" b="1" i="0" kern="0" spc="-38" dirty="0">
              <a:solidFill>
                <a:srgbClr val="022AC0"/>
              </a:solidFill>
              <a:latin typeface="Manrope"/>
              <a:ea typeface="Manrope"/>
              <a:cs typeface="Manrope"/>
            </a:endParaRPr>
          </a:p>
        </p:txBody>
      </p:sp>
      <p:sp>
        <p:nvSpPr>
          <p:cNvPr id="1009" name="18 · guided-text-2: Fallible semantic judgment. [p18-text-0012]" descr="Native editable Unicode text; authored line breaks retained."/>
          <p:cNvSpPr txBox="1"/>
          <p:nvPr/>
        </p:nvSpPr>
        <p:spPr>
          <a:xfrm>
            <a:off x="558800"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Fallible semantic judgment.</a:t>
            </a:r>
            <a:endParaRPr lang="en-US" sz="1250" b="0" i="0" kern="0" spc="0" dirty="0">
              <a:solidFill>
                <a:srgbClr val="032D60"/>
              </a:solidFill>
              <a:latin typeface="Salesforce Sans"/>
              <a:ea typeface="Salesforce Sans"/>
              <a:cs typeface="Salesforce Sans"/>
            </a:endParaRPr>
          </a:p>
        </p:txBody>
      </p:sp>
      <p:sp>
        <p:nvSpPr>
          <p:cNvPr id="1010" name="18 · guided-text-3: Procedure [p18-text-0013]" descr="Native editable Unicode text; authored line breaks retained."/>
          <p:cNvSpPr txBox="1"/>
          <p:nvPr/>
        </p:nvSpPr>
        <p:spPr>
          <a:xfrm>
            <a:off x="4313767"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Procedure</a:t>
            </a:r>
            <a:endParaRPr lang="en-US" sz="2000" b="1" i="0" kern="0" spc="-38" dirty="0">
              <a:solidFill>
                <a:srgbClr val="022AC0"/>
              </a:solidFill>
              <a:latin typeface="Manrope"/>
              <a:ea typeface="Manrope"/>
              <a:cs typeface="Manrope"/>
            </a:endParaRPr>
          </a:p>
        </p:txBody>
      </p:sp>
      <p:sp>
        <p:nvSpPr>
          <p:cNvPr id="1011" name="18 · guided-text-4: Required steps and state changes. [p18-text-0014]" descr="Native editable Unicode text; authored line breaks retained."/>
          <p:cNvSpPr txBox="1"/>
          <p:nvPr/>
        </p:nvSpPr>
        <p:spPr>
          <a:xfrm>
            <a:off x="4313767"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Required steps and state changes.</a:t>
            </a:r>
            <a:endParaRPr lang="en-US" sz="1250" b="0" i="0" kern="0" spc="0" dirty="0">
              <a:solidFill>
                <a:srgbClr val="032D60"/>
              </a:solidFill>
              <a:latin typeface="Salesforce Sans"/>
              <a:ea typeface="Salesforce Sans"/>
              <a:cs typeface="Salesforce Sans"/>
            </a:endParaRPr>
          </a:p>
        </p:txBody>
      </p:sp>
      <p:sp>
        <p:nvSpPr>
          <p:cNvPr id="1012" name="18 · guided-text-5: Authority [p18-text-0015]" descr="Native editable Unicode text; authored line breaks retained."/>
          <p:cNvSpPr txBox="1"/>
          <p:nvPr/>
        </p:nvSpPr>
        <p:spPr>
          <a:xfrm>
            <a:off x="8068733"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Authority</a:t>
            </a:r>
            <a:endParaRPr lang="en-US" sz="2000" b="1" i="0" kern="0" spc="-38" dirty="0">
              <a:solidFill>
                <a:srgbClr val="022AC0"/>
              </a:solidFill>
              <a:latin typeface="Manrope"/>
              <a:ea typeface="Manrope"/>
              <a:cs typeface="Manrope"/>
            </a:endParaRPr>
          </a:p>
        </p:txBody>
      </p:sp>
      <p:sp>
        <p:nvSpPr>
          <p:cNvPr id="1013" name="18 · guided-text-6: Enforced by trusted services. [p18-text-0016]" descr="Native editable Unicode text; authored line breaks retained."/>
          <p:cNvSpPr txBox="1"/>
          <p:nvPr/>
        </p:nvSpPr>
        <p:spPr>
          <a:xfrm>
            <a:off x="8068733"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Enforced by trusted services.</a:t>
            </a:r>
            <a:endParaRPr lang="en-US" sz="1250" b="0" i="0" kern="0" spc="0" dirty="0">
              <a:solidFill>
                <a:srgbClr val="032D60"/>
              </a:solidFill>
              <a:latin typeface="Salesforce Sans"/>
              <a:ea typeface="Salesforce Sans"/>
              <a:cs typeface="Salesforce Sans"/>
            </a:endParaRPr>
          </a:p>
        </p:txBody>
      </p:sp>
      <p:grpSp>
        <p:nvGrpSpPr>
          <p:cNvPr id="1019" name="18 · source-line: Agent Graph / guided determinism · AgentScript control plane"/>
          <p:cNvGrpSpPr/>
          <p:nvPr/>
        </p:nvGrpSpPr>
        <p:grpSpPr>
          <a:xfrm>
            <a:off x="558800" y="6037898"/>
            <a:ext cx="11087100" cy="284456"/>
            <a:chOff x="558800" y="6037898"/>
            <a:chExt cx="11087100" cy="284456"/>
          </a:xfrm>
        </p:grpSpPr>
        <p:sp>
          <p:nvSpPr>
            <p:cNvPr id="1014" name="18 · source-line · top border [p18-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5" name="18 · span: Agent Graph / guided determinism · AgentScript control plane [p18-text-0017]"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6" name="18 · span: Documented architecture; illustrative workflow [p18-text-0018]" descr="Native editable Unicode text; authored line breaks retained."/>
            <p:cNvSpPr txBox="1"/>
            <p:nvPr/>
          </p:nvSpPr>
          <p:spPr>
            <a:xfrm>
              <a:off x="9017608" y="6153126"/>
              <a:ext cx="2628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Documented architecture; illustrative workflow</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vailability and required execution differ">
    <p:bg>
      <p:bgPr>
        <a:solidFill>
          <a:srgbClr val="FFFFFF"/>
        </a:solidFill>
      </p:bgPr>
    </p:bg>
    <p:spTree>
      <p:nvGrpSpPr>
        <p:cNvPr id="1" name=""/>
        <p:cNvGrpSpPr/>
        <p:nvPr/>
      </p:nvGrpSpPr>
      <p:grpSpPr>
        <a:xfrm>
          <a:off x="0" y="0"/>
          <a:ext cx="0" cy="0"/>
          <a:chOff x="0" y="0"/>
          <a:chExt cx="0" cy="0"/>
        </a:xfrm>
      </p:grpSpPr>
      <p:sp>
        <p:nvSpPr>
          <p:cNvPr id="1000" name="19 · slide light · surface [p1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3" name="19 · chrome-min: DISAGGREGATED INTELLIGENCE"/>
          <p:cNvGrpSpPr/>
          <p:nvPr/>
        </p:nvGrpSpPr>
        <p:grpSpPr>
          <a:xfrm>
            <a:off x="558800" y="356053"/>
            <a:ext cx="11087100" cy="187325"/>
            <a:chOff x="558800" y="356053"/>
            <a:chExt cx="11087100" cy="187325"/>
          </a:xfrm>
        </p:grpSpPr>
        <p:sp>
          <p:nvSpPr>
            <p:cNvPr id="1001" name="19 · l: DISAGGREGATED INTELLIGENCE [p19-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9 · r: 19 / 36 [p19-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19 / 36</a:t>
              </a:r>
              <a:endParaRPr lang="en-US" sz="950" b="1" i="0" kern="0" spc="65" dirty="0">
                <a:solidFill>
                  <a:srgbClr val="022AC0"/>
                </a:solidFill>
                <a:latin typeface="Salesforce Sans"/>
                <a:ea typeface="Salesforce Sans"/>
                <a:cs typeface="Salesforce Sans"/>
              </a:endParaRPr>
            </a:p>
          </p:txBody>
        </p:sp>
      </p:grpSp>
      <p:grpSp>
        <p:nvGrpSpPr>
          <p:cNvPr id="1034" name="19 · deck-head: 05 / STEP 4"/>
          <p:cNvGrpSpPr/>
          <p:nvPr/>
        </p:nvGrpSpPr>
        <p:grpSpPr>
          <a:xfrm>
            <a:off x="558800" y="775901"/>
            <a:ext cx="11087100" cy="871263"/>
            <a:chOff x="558800" y="775901"/>
            <a:chExt cx="11087100" cy="871263"/>
          </a:xfrm>
        </p:grpSpPr>
        <p:sp>
          <p:nvSpPr>
            <p:cNvPr id="1003" name="19 · agentscript-eyebrow: 05 / STEP 4 [p19-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4</a:t>
              </a:r>
              <a:endParaRPr lang="en-US" sz="1050" b="1" i="0" kern="0" spc="68" dirty="0">
                <a:solidFill>
                  <a:srgbClr val="022AC0"/>
                </a:solidFill>
                <a:latin typeface="Salesforce Sans"/>
                <a:ea typeface="Salesforce Sans"/>
                <a:cs typeface="Salesforce Sans"/>
              </a:endParaRPr>
            </a:p>
          </p:txBody>
        </p:sp>
        <p:sp>
          <p:nvSpPr>
            <p:cNvPr id="1004" name="19 · agentscript-title: Availability and required execution differ [p19-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Availability and required execution differ</a:t>
              </a:r>
              <a:endParaRPr lang="en-US" sz="3600" b="1" i="0" kern="0" spc="-95" dirty="0">
                <a:solidFill>
                  <a:srgbClr val="022AC0"/>
                </a:solidFill>
                <a:latin typeface="Manrope"/>
                <a:ea typeface="Manrope"/>
                <a:cs typeface="Manrope"/>
              </a:endParaRPr>
            </a:p>
          </p:txBody>
        </p:sp>
      </p:grpSp>
      <p:grpSp>
        <p:nvGrpSpPr>
          <p:cNvPr id="1035" name="19 · card ink: "/>
          <p:cNvGrpSpPr/>
          <p:nvPr/>
        </p:nvGrpSpPr>
        <p:grpSpPr>
          <a:xfrm>
            <a:off x="558800" y="1854200"/>
            <a:ext cx="4467606" cy="4300220"/>
            <a:chOff x="558800" y="1854200"/>
            <a:chExt cx="4467606" cy="4300220"/>
          </a:xfrm>
        </p:grpSpPr>
        <p:sp>
          <p:nvSpPr>
            <p:cNvPr id="1005" name="19 · card ink · surface [p19-e0008]"/>
            <p:cNvSpPr/>
            <p:nvPr/>
          </p:nvSpPr>
          <p:spPr>
            <a:xfrm>
              <a:off x="558800" y="1854200"/>
              <a:ext cx="4467606" cy="4300220"/>
            </a:xfrm>
            <a:prstGeom prst="roundRect">
              <a:avLst>
                <a:gd name="adj" fmla="val 3249"/>
              </a:avLst>
            </a:prstGeom>
            <a:solidFill>
              <a:srgbClr val="032D60"/>
            </a:solidFill>
            <a:ln>
              <a:noFill/>
            </a:ln>
          </p:spPr>
        </p:sp>
        <p:sp>
          <p:nvSpPr>
            <p:cNvPr id="1006" name="19 · card ink · outline [p19-e0008]"/>
            <p:cNvSpPr/>
            <p:nvPr/>
          </p:nvSpPr>
          <p:spPr>
            <a:xfrm>
              <a:off x="561975" y="1857375"/>
              <a:ext cx="4461256" cy="4293870"/>
            </a:xfrm>
            <a:prstGeom prst="roundRect">
              <a:avLst>
                <a:gd name="adj" fmla="val 3180"/>
              </a:avLst>
            </a:prstGeom>
            <a:noFill/>
            <a:ln w="6350" algn="ctr">
              <a:solidFill>
                <a:srgbClr val="FFFFFF">
                  <a:alpha val="85098"/>
                </a:srgbClr>
              </a:solidFill>
              <a:prstDash val="solid"/>
            </a:ln>
          </p:spPr>
        </p:sp>
        <p:sp>
          <p:nvSpPr>
            <p:cNvPr id="1007" name="19 · design-code · surface [p19-e0009]"/>
            <p:cNvSpPr/>
            <p:nvPr/>
          </p:nvSpPr>
          <p:spPr>
            <a:xfrm>
              <a:off x="781050" y="3236595"/>
              <a:ext cx="4023106" cy="2032000"/>
            </a:xfrm>
            <a:prstGeom prst="roundRect">
              <a:avLst>
                <a:gd name="adj" fmla="val 5625"/>
              </a:avLst>
            </a:prstGeom>
            <a:solidFill>
              <a:srgbClr val="FFFFFF">
                <a:alpha val="67843"/>
              </a:srgbClr>
            </a:solidFill>
            <a:ln>
              <a:noFill/>
            </a:ln>
          </p:spPr>
        </p:sp>
      </p:grpSp>
      <p:grpSp>
        <p:nvGrpSpPr>
          <p:cNvPr id="1036" name="19 · card mint: "/>
          <p:cNvGrpSpPr/>
          <p:nvPr/>
        </p:nvGrpSpPr>
        <p:grpSpPr>
          <a:xfrm>
            <a:off x="5204206" y="1854200"/>
            <a:ext cx="6428994" cy="1331807"/>
            <a:chOff x="5204206" y="1854200"/>
            <a:chExt cx="6428994" cy="1331807"/>
          </a:xfrm>
        </p:grpSpPr>
        <p:sp>
          <p:nvSpPr>
            <p:cNvPr id="1008" name="19 · card mint · surface [p19-e0010]"/>
            <p:cNvSpPr/>
            <p:nvPr/>
          </p:nvSpPr>
          <p:spPr>
            <a:xfrm>
              <a:off x="5204206" y="1854200"/>
              <a:ext cx="6428994" cy="1331807"/>
            </a:xfrm>
            <a:prstGeom prst="roundRect">
              <a:avLst>
                <a:gd name="adj" fmla="val 10490"/>
              </a:avLst>
            </a:prstGeom>
            <a:solidFill>
              <a:srgbClr val="DDF3ED"/>
            </a:solidFill>
            <a:ln>
              <a:noFill/>
            </a:ln>
          </p:spPr>
        </p:sp>
        <p:sp>
          <p:nvSpPr>
            <p:cNvPr id="1009" name="19 · card mint · outline [p19-e0010]"/>
            <p:cNvSpPr/>
            <p:nvPr/>
          </p:nvSpPr>
          <p:spPr>
            <a:xfrm>
              <a:off x="5207381" y="1857375"/>
              <a:ext cx="6422644" cy="1325457"/>
            </a:xfrm>
            <a:prstGeom prst="roundRect">
              <a:avLst>
                <a:gd name="adj" fmla="val 10300"/>
              </a:avLst>
            </a:prstGeom>
            <a:noFill/>
            <a:ln w="6350" algn="ctr">
              <a:solidFill>
                <a:srgbClr val="FFFFFF">
                  <a:alpha val="85098"/>
                </a:srgbClr>
              </a:solidFill>
              <a:prstDash val="solid"/>
            </a:ln>
          </p:spPr>
        </p:sp>
      </p:grpSp>
      <p:grpSp>
        <p:nvGrpSpPr>
          <p:cNvPr id="1037" name="19 · card lilac: "/>
          <p:cNvGrpSpPr/>
          <p:nvPr/>
        </p:nvGrpSpPr>
        <p:grpSpPr>
          <a:xfrm>
            <a:off x="5204206" y="3338407"/>
            <a:ext cx="6428994" cy="1331807"/>
            <a:chOff x="5204206" y="3338407"/>
            <a:chExt cx="6428994" cy="1331807"/>
          </a:xfrm>
        </p:grpSpPr>
        <p:sp>
          <p:nvSpPr>
            <p:cNvPr id="1010" name="19 · card lilac · surface [p19-e0011]"/>
            <p:cNvSpPr/>
            <p:nvPr/>
          </p:nvSpPr>
          <p:spPr>
            <a:xfrm>
              <a:off x="5204206" y="3338407"/>
              <a:ext cx="6428994" cy="1331807"/>
            </a:xfrm>
            <a:prstGeom prst="roundRect">
              <a:avLst>
                <a:gd name="adj" fmla="val 10490"/>
              </a:avLst>
            </a:prstGeom>
            <a:solidFill>
              <a:srgbClr val="EAE6FA"/>
            </a:solidFill>
            <a:ln>
              <a:noFill/>
            </a:ln>
          </p:spPr>
        </p:sp>
        <p:sp>
          <p:nvSpPr>
            <p:cNvPr id="1011" name="19 · card lilac · outline [p19-e0011]"/>
            <p:cNvSpPr/>
            <p:nvPr/>
          </p:nvSpPr>
          <p:spPr>
            <a:xfrm>
              <a:off x="5207381" y="3341582"/>
              <a:ext cx="6422644" cy="1325457"/>
            </a:xfrm>
            <a:prstGeom prst="roundRect">
              <a:avLst>
                <a:gd name="adj" fmla="val 10300"/>
              </a:avLst>
            </a:prstGeom>
            <a:noFill/>
            <a:ln w="6350" algn="ctr">
              <a:solidFill>
                <a:srgbClr val="FFFFFF">
                  <a:alpha val="85098"/>
                </a:srgbClr>
              </a:solidFill>
              <a:prstDash val="solid"/>
            </a:ln>
          </p:spPr>
        </p:sp>
      </p:grpSp>
      <p:grpSp>
        <p:nvGrpSpPr>
          <p:cNvPr id="1038" name="19 · card blue: "/>
          <p:cNvGrpSpPr/>
          <p:nvPr/>
        </p:nvGrpSpPr>
        <p:grpSpPr>
          <a:xfrm>
            <a:off x="5204206" y="4822613"/>
            <a:ext cx="6428994" cy="1331807"/>
            <a:chOff x="5204206" y="4822613"/>
            <a:chExt cx="6428994" cy="1331807"/>
          </a:xfrm>
        </p:grpSpPr>
        <p:sp>
          <p:nvSpPr>
            <p:cNvPr id="1012" name="19 · card blue · surface [p19-e0012]"/>
            <p:cNvSpPr/>
            <p:nvPr/>
          </p:nvSpPr>
          <p:spPr>
            <a:xfrm>
              <a:off x="5204206" y="4822613"/>
              <a:ext cx="6428994" cy="1331807"/>
            </a:xfrm>
            <a:prstGeom prst="roundRect">
              <a:avLst>
                <a:gd name="adj" fmla="val 10490"/>
              </a:avLst>
            </a:prstGeom>
            <a:solidFill>
              <a:srgbClr val="DCEEFE"/>
            </a:solidFill>
            <a:ln>
              <a:noFill/>
            </a:ln>
          </p:spPr>
        </p:sp>
        <p:sp>
          <p:nvSpPr>
            <p:cNvPr id="1013" name="19 · card blue · outline [p19-e0012]"/>
            <p:cNvSpPr/>
            <p:nvPr/>
          </p:nvSpPr>
          <p:spPr>
            <a:xfrm>
              <a:off x="5207381" y="4825788"/>
              <a:ext cx="6422644" cy="1325457"/>
            </a:xfrm>
            <a:prstGeom prst="roundRect">
              <a:avLst>
                <a:gd name="adj" fmla="val 10300"/>
              </a:avLst>
            </a:prstGeom>
            <a:noFill/>
            <a:ln w="6350" algn="ctr">
              <a:solidFill>
                <a:srgbClr val="FFFFFF">
                  <a:alpha val="85098"/>
                </a:srgbClr>
              </a:solidFill>
              <a:prstDash val="solid"/>
            </a:ln>
          </p:spPr>
        </p:sp>
      </p:grpSp>
      <p:grpSp>
        <p:nvGrpSpPr>
          <p:cNvPr id="1039" name="19 · card ink: Control around the model choice."/>
          <p:cNvGrpSpPr/>
          <p:nvPr/>
        </p:nvGrpSpPr>
        <p:grpSpPr>
          <a:xfrm>
            <a:off x="781050" y="2410334"/>
            <a:ext cx="4035806" cy="3516121"/>
            <a:chOff x="781050" y="2410334"/>
            <a:chExt cx="4035806" cy="3516121"/>
          </a:xfrm>
        </p:grpSpPr>
        <p:sp>
          <p:nvSpPr>
            <p:cNvPr id="1014" name="19 · agentscript-text-1: Control around the model choice. [p19-text-0016]" descr="Native editable Unicode text; authored line breaks retained."/>
            <p:cNvSpPr txBox="1"/>
            <p:nvPr/>
          </p:nvSpPr>
          <p:spPr>
            <a:xfrm>
              <a:off x="781050" y="2410334"/>
              <a:ext cx="4035806"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Control around</a:t>
              </a:r>
              <a:endParaRPr lang="en-US" sz="2000" b="1" i="0" kern="0" spc="-38" dirty="0">
                <a:solidFill>
                  <a:srgbClr val="CFE9FE"/>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the model choice.</a:t>
              </a:r>
              <a:endParaRPr lang="en-US" sz="2000" b="1" i="0" kern="0" spc="-38" dirty="0">
                <a:solidFill>
                  <a:srgbClr val="CFE9FE"/>
                </a:solidFill>
                <a:latin typeface="Manrope"/>
                <a:ea typeface="Manrope"/>
                <a:cs typeface="Manrope"/>
              </a:endParaRPr>
            </a:p>
          </p:txBody>
        </p:sp>
        <p:sp>
          <p:nvSpPr>
            <p:cNvPr id="1015" name="19 · design-code: identity = verifySession() if identity != verified: return recovery purchase = [p19-text-0017]" descr="Native editable Unicode text; authored line breaks retained."/>
            <p:cNvSpPr txBox="1"/>
            <p:nvPr/>
          </p:nvSpPr>
          <p:spPr>
            <a:xfrm>
              <a:off x="939800" y="3435033"/>
              <a:ext cx="3718306" cy="17208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identity = verifySession()</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 xml:space="preserve">if identity != verified: return </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recovery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purchase = requireOwnedOrder(identity)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tasks = interpretAndValidate(purchase)</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run selectedHandler(tasks)</a:t>
              </a:r>
              <a:endParaRPr lang="en-US" sz="1250" b="0" i="0" kern="0" spc="0" dirty="0">
                <a:solidFill>
                  <a:srgbClr val="FFFFFF"/>
                </a:solidFill>
                <a:latin typeface="IBM Plex Mono"/>
                <a:ea typeface="IBM Plex Mono"/>
                <a:cs typeface="IBM Plex Mono"/>
              </a:endParaRPr>
            </a:p>
          </p:txBody>
        </p:sp>
        <p:sp>
          <p:nvSpPr>
            <p:cNvPr id="1016" name="19 · agentscript-text-2: Backend services also enforce access. This is an authoring sketch, not runnabl [p19-text-0018]" descr="Native editable Unicode text; authored line breaks retained."/>
            <p:cNvSpPr txBox="1"/>
            <p:nvPr/>
          </p:nvSpPr>
          <p:spPr>
            <a:xfrm>
              <a:off x="781050" y="5459731"/>
              <a:ext cx="4035806"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Backend services also enforce access.</a:t>
              </a:r>
              <a:endParaRPr lang="en-US" sz="1250" b="0" i="0" kern="0" spc="0" dirty="0">
                <a:solidFill>
                  <a:srgbClr val="FFFFFF"/>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This is an authoring sketch, not runnable syntax.</a:t>
              </a:r>
              <a:endParaRPr lang="en-US" sz="1250" b="0" i="0" kern="0" spc="0" dirty="0">
                <a:solidFill>
                  <a:srgbClr val="FFFFFF"/>
                </a:solidFill>
                <a:latin typeface="Salesforce Sans"/>
                <a:ea typeface="Salesforce Sans"/>
                <a:cs typeface="Salesforce Sans"/>
              </a:endParaRPr>
            </a:p>
          </p:txBody>
        </p:sp>
      </p:grpSp>
      <p:grpSp>
        <p:nvGrpSpPr>
          <p:cNvPr id="1040" name="19 · card mint: run / procedure"/>
          <p:cNvGrpSpPr/>
          <p:nvPr/>
        </p:nvGrpSpPr>
        <p:grpSpPr>
          <a:xfrm>
            <a:off x="5426456" y="2229725"/>
            <a:ext cx="5997194" cy="583602"/>
            <a:chOff x="5426456" y="2229725"/>
            <a:chExt cx="5997194" cy="583602"/>
          </a:xfrm>
        </p:grpSpPr>
        <p:sp>
          <p:nvSpPr>
            <p:cNvPr id="1017" name="19 · code · surface [p19-e0023]"/>
            <p:cNvSpPr/>
            <p:nvPr/>
          </p:nvSpPr>
          <p:spPr>
            <a:xfrm>
              <a:off x="5426456" y="2276180"/>
              <a:ext cx="417934" cy="220045"/>
            </a:xfrm>
            <a:prstGeom prst="roundRect">
              <a:avLst>
                <a:gd name="adj" fmla="val 17315"/>
              </a:avLst>
            </a:prstGeom>
            <a:solidFill>
              <a:srgbClr val="FFFFFF">
                <a:alpha val="65882"/>
              </a:srgbClr>
            </a:solidFill>
            <a:ln>
              <a:noFill/>
            </a:ln>
          </p:spPr>
        </p:sp>
        <p:sp>
          <p:nvSpPr>
            <p:cNvPr id="1018" name="19 · agentscript-text-3: run / procedure [p19-text-0019]" descr="Native editable Unicode text; authored line breaks retained."/>
            <p:cNvSpPr txBox="1"/>
            <p:nvPr/>
          </p:nvSpPr>
          <p:spPr>
            <a:xfrm>
              <a:off x="5426456" y="2229725"/>
              <a:ext cx="5997194" cy="301272"/>
            </a:xfrm>
            <a:prstGeom prst="rect">
              <a:avLst/>
            </a:prstGeom>
            <a:noFill/>
            <a:ln>
              <a:noFill/>
            </a:ln>
          </p:spPr>
          <p:txBody>
            <a:bodyPr wrap="none" lIns="0" rIns="0" tIns="0" bIns="0" anchor="t" anchorCtr="0" vertOverflow="overflow" horzOverflow="overflow" spcFirstLastPara="0">
              <a:noAutofit/>
            </a:bodyPr>
            <a:lstStyle/>
            <a:p>
              <a:pPr marL="39294" marR="0" indent="0" algn="l" fontAlgn="base">
                <a:lnSpc>
                  <a:spcPts val="2080"/>
                </a:lnSpc>
                <a:spcBef>
                  <a:spcPts val="0"/>
                </a:spcBef>
                <a:spcAft>
                  <a:spcPts val="0"/>
                </a:spcAft>
                <a:buNone/>
                <a:tabLst>
                  <a:tab pos="417934" algn="l"/>
                </a:tabLst>
              </a:pPr>
              <a:r>
                <a:rPr lang="en-US" sz="1547" b="0" i="0" kern="0" spc="-38" dirty="0">
                  <a:solidFill>
                    <a:srgbClr val="022AC0"/>
                  </a:solidFill>
                  <a:latin typeface="IBM Plex Mono"/>
                  <a:ea typeface="IBM Plex Mono"/>
                  <a:cs typeface="IBM Plex Mono"/>
                </a:rPr>
                <a:t>run</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procedure</a:t>
              </a:r>
              <a:endParaRPr lang="en-US" sz="1700" b="1" i="0" kern="0" spc="-38" dirty="0">
                <a:solidFill>
                  <a:srgbClr val="022AC0"/>
                </a:solidFill>
                <a:latin typeface="Manrope"/>
                <a:ea typeface="Manrope"/>
                <a:cs typeface="Manrope"/>
              </a:endParaRPr>
            </a:p>
          </p:txBody>
        </p:sp>
        <p:sp>
          <p:nvSpPr>
            <p:cNvPr id="1019" name="19 · agentscript-text-4: Use explicit procedure logic for checks that must execute. [p19-text-0020]" descr="Native editable Unicode text; authored line breaks retained."/>
            <p:cNvSpPr txBox="1"/>
            <p:nvPr/>
          </p:nvSpPr>
          <p:spPr>
            <a:xfrm>
              <a:off x="5426456" y="2580663"/>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Use explicit procedure logic for checks that must execute.</a:t>
              </a:r>
              <a:endParaRPr lang="en-US" sz="1350" b="0" i="0" kern="0" spc="0" dirty="0">
                <a:solidFill>
                  <a:srgbClr val="032D60"/>
                </a:solidFill>
                <a:latin typeface="Salesforce Sans"/>
                <a:ea typeface="Salesforce Sans"/>
                <a:cs typeface="Salesforce Sans"/>
              </a:endParaRPr>
            </a:p>
          </p:txBody>
        </p:sp>
      </p:grpSp>
      <p:grpSp>
        <p:nvGrpSpPr>
          <p:cNvPr id="1041" name="19 · card lilac: available when"/>
          <p:cNvGrpSpPr/>
          <p:nvPr/>
        </p:nvGrpSpPr>
        <p:grpSpPr>
          <a:xfrm>
            <a:off x="5426456" y="3742705"/>
            <a:ext cx="5997194" cy="781142"/>
            <a:chOff x="5426456" y="3742705"/>
            <a:chExt cx="5997194" cy="781142"/>
          </a:xfrm>
        </p:grpSpPr>
        <p:sp>
          <p:nvSpPr>
            <p:cNvPr id="1020" name="19 · code · surface [p19-e0027]"/>
            <p:cNvSpPr/>
            <p:nvPr/>
          </p:nvSpPr>
          <p:spPr>
            <a:xfrm>
              <a:off x="5426456" y="3760387"/>
              <a:ext cx="1662206" cy="220045"/>
            </a:xfrm>
            <a:prstGeom prst="roundRect">
              <a:avLst>
                <a:gd name="adj" fmla="val 17315"/>
              </a:avLst>
            </a:prstGeom>
            <a:solidFill>
              <a:srgbClr val="FFFFFF">
                <a:alpha val="65882"/>
              </a:srgbClr>
            </a:solidFill>
            <a:ln>
              <a:noFill/>
            </a:ln>
          </p:spPr>
        </p:sp>
        <p:sp>
          <p:nvSpPr>
            <p:cNvPr id="1021" name="19 · agentscript-text-5: available when [p19-text-0021]" descr="Native editable Unicode text; authored line breaks retained."/>
            <p:cNvSpPr txBox="1"/>
            <p:nvPr/>
          </p:nvSpPr>
          <p:spPr>
            <a:xfrm>
              <a:off x="5426456" y="3742705"/>
              <a:ext cx="5997194" cy="270451"/>
            </a:xfrm>
            <a:prstGeom prst="rect">
              <a:avLst/>
            </a:prstGeom>
            <a:noFill/>
            <a:ln>
              <a:noFill/>
            </a:ln>
          </p:spPr>
          <p:txBody>
            <a:bodyPr wrap="none" lIns="0" rIns="0" tIns="0" bIns="0" anchor="t" anchorCtr="0" vertOverflow="overflow" horzOverflow="overflow" spcFirstLastPara="0">
              <a:noAutofit/>
            </a:bodyPr>
            <a:lstStyle/>
            <a:p>
              <a:pPr marL="39294" marR="0" indent="0" algn="l" fontAlgn="base">
                <a:lnSpc>
                  <a:spcPts val="2080"/>
                </a:lnSpc>
                <a:spcBef>
                  <a:spcPts val="0"/>
                </a:spcBef>
                <a:spcAft>
                  <a:spcPts val="0"/>
                </a:spcAft>
                <a:buNone/>
              </a:pPr>
              <a:r>
                <a:rPr lang="en-US" sz="1547" b="0" i="0" kern="0" spc="-38" dirty="0">
                  <a:solidFill>
                    <a:srgbClr val="022AC0"/>
                  </a:solidFill>
                  <a:latin typeface="IBM Plex Mono"/>
                  <a:ea typeface="IBM Plex Mono"/>
                  <a:cs typeface="IBM Plex Mono"/>
                </a:rPr>
                <a:t>available when</a:t>
              </a:r>
              <a:endParaRPr lang="en-US" sz="1547" b="0" i="0" kern="0" spc="-38" dirty="0">
                <a:solidFill>
                  <a:srgbClr val="022AC0"/>
                </a:solidFill>
                <a:latin typeface="IBM Plex Mono"/>
                <a:ea typeface="IBM Plex Mono"/>
                <a:cs typeface="IBM Plex Mono"/>
              </a:endParaRPr>
            </a:p>
          </p:txBody>
        </p:sp>
        <p:sp>
          <p:nvSpPr>
            <p:cNvPr id="1022" name="19 · agentscript-text-6: Filter which actions the model may select. Availability does not force selecti [p19-text-0022]" descr="Native editable Unicode text; authored line breaks retained."/>
            <p:cNvSpPr txBox="1"/>
            <p:nvPr/>
          </p:nvSpPr>
          <p:spPr>
            <a:xfrm>
              <a:off x="5426456" y="4064870"/>
              <a:ext cx="5997194" cy="4589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Filter which actions the model may select. Availability does not force</a:t>
              </a:r>
              <a:endParaRPr lang="en-US" sz="1350" b="0" i="0" kern="0" spc="0" dirty="0">
                <a:solidFill>
                  <a:srgbClr val="032D60"/>
                </a:solidFill>
                <a:latin typeface="Salesforce Sans"/>
                <a:ea typeface="Salesforce Sans"/>
                <a:cs typeface="Salesforce Sans"/>
              </a:endParaRPr>
            </a:p>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selection.</a:t>
              </a:r>
              <a:endParaRPr lang="en-US" sz="1350" b="0" i="0" kern="0" spc="0" dirty="0">
                <a:solidFill>
                  <a:srgbClr val="032D60"/>
                </a:solidFill>
                <a:latin typeface="Salesforce Sans"/>
                <a:ea typeface="Salesforce Sans"/>
                <a:cs typeface="Salesforce Sans"/>
              </a:endParaRPr>
            </a:p>
          </p:txBody>
        </p:sp>
      </p:grpSp>
      <p:grpSp>
        <p:nvGrpSpPr>
          <p:cNvPr id="1042" name="19 · card blue: with / bound input"/>
          <p:cNvGrpSpPr/>
          <p:nvPr/>
        </p:nvGrpSpPr>
        <p:grpSpPr>
          <a:xfrm>
            <a:off x="5426456" y="5198139"/>
            <a:ext cx="5997194" cy="583602"/>
            <a:chOff x="5426456" y="5198139"/>
            <a:chExt cx="5997194" cy="583602"/>
          </a:xfrm>
        </p:grpSpPr>
        <p:sp>
          <p:nvSpPr>
            <p:cNvPr id="1023" name="19 · code · surface [p19-e0031]"/>
            <p:cNvSpPr/>
            <p:nvPr/>
          </p:nvSpPr>
          <p:spPr>
            <a:xfrm>
              <a:off x="5426456" y="5244593"/>
              <a:ext cx="531050" cy="220045"/>
            </a:xfrm>
            <a:prstGeom prst="roundRect">
              <a:avLst>
                <a:gd name="adj" fmla="val 17315"/>
              </a:avLst>
            </a:prstGeom>
            <a:solidFill>
              <a:srgbClr val="FFFFFF">
                <a:alpha val="65882"/>
              </a:srgbClr>
            </a:solidFill>
            <a:ln>
              <a:noFill/>
            </a:ln>
          </p:spPr>
        </p:sp>
        <p:sp>
          <p:nvSpPr>
            <p:cNvPr id="1024" name="19 · agentscript-text-7: with / bound input [p19-text-0023]" descr="Native editable Unicode text; authored line breaks retained."/>
            <p:cNvSpPr txBox="1"/>
            <p:nvPr/>
          </p:nvSpPr>
          <p:spPr>
            <a:xfrm>
              <a:off x="5426456" y="5198139"/>
              <a:ext cx="5997194" cy="301272"/>
            </a:xfrm>
            <a:prstGeom prst="rect">
              <a:avLst/>
            </a:prstGeom>
            <a:noFill/>
            <a:ln>
              <a:noFill/>
            </a:ln>
          </p:spPr>
          <p:txBody>
            <a:bodyPr wrap="none" lIns="0" rIns="0" tIns="0" bIns="0" anchor="t" anchorCtr="0" vertOverflow="overflow" horzOverflow="overflow" spcFirstLastPara="0">
              <a:noAutofit/>
            </a:bodyPr>
            <a:lstStyle/>
            <a:p>
              <a:pPr marL="39294" marR="0" indent="0" algn="l" fontAlgn="base">
                <a:lnSpc>
                  <a:spcPts val="2080"/>
                </a:lnSpc>
                <a:spcBef>
                  <a:spcPts val="0"/>
                </a:spcBef>
                <a:spcAft>
                  <a:spcPts val="0"/>
                </a:spcAft>
                <a:buNone/>
                <a:tabLst>
                  <a:tab pos="531050" algn="l"/>
                </a:tabLst>
              </a:pPr>
              <a:r>
                <a:rPr lang="en-US" sz="1547" b="0" i="0" kern="0" spc="-38" dirty="0">
                  <a:solidFill>
                    <a:srgbClr val="022AC0"/>
                  </a:solidFill>
                  <a:latin typeface="IBM Plex Mono"/>
                  <a:ea typeface="IBM Plex Mono"/>
                  <a:cs typeface="IBM Plex Mono"/>
                </a:rPr>
                <a:t>with</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bound input</a:t>
              </a:r>
              <a:endParaRPr lang="en-US" sz="1700" b="1" i="0" kern="0" spc="-38" dirty="0">
                <a:solidFill>
                  <a:srgbClr val="022AC0"/>
                </a:solidFill>
                <a:latin typeface="Manrope"/>
                <a:ea typeface="Manrope"/>
                <a:cs typeface="Manrope"/>
              </a:endParaRPr>
            </a:p>
          </p:txBody>
        </p:sp>
        <p:sp>
          <p:nvSpPr>
            <p:cNvPr id="1025" name="19 · agentscript-text-8: Bind consequential inputs from trusted state. [p19-text-0024]" descr="Native editable Unicode text; authored line breaks retained."/>
            <p:cNvSpPr txBox="1"/>
            <p:nvPr/>
          </p:nvSpPr>
          <p:spPr>
            <a:xfrm>
              <a:off x="5426456" y="5549076"/>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Bind consequential inputs from trusted state.</a:t>
              </a:r>
              <a:endParaRPr lang="en-US" sz="1350" b="0" i="0" kern="0" spc="0" dirty="0">
                <a:solidFill>
                  <a:srgbClr val="032D60"/>
                </a:solidFill>
                <a:latin typeface="Salesforce Sans"/>
                <a:ea typeface="Salesforce Sans"/>
                <a:cs typeface="Salesforce Sans"/>
              </a:endParaRPr>
            </a:p>
          </p:txBody>
        </p:sp>
      </p:grpSp>
      <p:sp>
        <p:nvSpPr>
          <p:cNvPr id="1026" name="19 · tag: DESIGN PSEUDOCODE [p19-text-0025]" descr="Native editable Unicode text; authored line breaks retained."/>
          <p:cNvSpPr txBox="1"/>
          <p:nvPr/>
        </p:nvSpPr>
        <p:spPr>
          <a:xfrm>
            <a:off x="781050" y="2101848"/>
            <a:ext cx="4035806"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CFE9FE">
                    <a:alpha val="85000"/>
                  </a:srgbClr>
                </a:solidFill>
                <a:latin typeface="IBM Plex Mono"/>
                <a:ea typeface="IBM Plex Mono"/>
                <a:cs typeface="IBM Plex Mono"/>
              </a:rPr>
              <a:t>DESIGN PSEUDOCODE</a:t>
            </a:r>
            <a:endParaRPr lang="en-US" sz="1050" b="0" i="0" kern="0" spc="50" dirty="0">
              <a:solidFill>
                <a:srgbClr val="CFE9FE">
                  <a:alpha val="85000"/>
                </a:srgbClr>
              </a:solidFill>
              <a:latin typeface="IBM Plex Mono"/>
              <a:ea typeface="IBM Plex Mono"/>
              <a:cs typeface="IBM Plex Mono"/>
            </a:endParaRPr>
          </a:p>
        </p:txBody>
      </p:sp>
      <p:sp>
        <p:nvSpPr>
          <p:cNvPr id="1027" name="19 · tag: REQUIRED WORK [p19-text-0026]" descr="Native editable Unicode text; authored line breaks retained."/>
          <p:cNvSpPr txBox="1"/>
          <p:nvPr/>
        </p:nvSpPr>
        <p:spPr>
          <a:xfrm>
            <a:off x="5426456" y="2012948"/>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REQUIRED WORK</a:t>
            </a:r>
            <a:endParaRPr lang="en-US" sz="1050" b="0" i="0" kern="0" spc="50" dirty="0">
              <a:solidFill>
                <a:srgbClr val="022AC0">
                  <a:alpha val="85000"/>
                </a:srgbClr>
              </a:solidFill>
              <a:latin typeface="IBM Plex Mono"/>
              <a:ea typeface="IBM Plex Mono"/>
              <a:cs typeface="IBM Plex Mono"/>
            </a:endParaRPr>
          </a:p>
        </p:txBody>
      </p:sp>
      <p:sp>
        <p:nvSpPr>
          <p:cNvPr id="1028" name="19 · tag: PERMITTED CHOICES [p19-text-0027]" descr="Native editable Unicode text; authored line breaks retained."/>
          <p:cNvSpPr txBox="1"/>
          <p:nvPr/>
        </p:nvSpPr>
        <p:spPr>
          <a:xfrm>
            <a:off x="5426456" y="3497154"/>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PERMITTED CHOICES</a:t>
            </a:r>
            <a:endParaRPr lang="en-US" sz="1050" b="0" i="0" kern="0" spc="50" dirty="0">
              <a:solidFill>
                <a:srgbClr val="022AC0">
                  <a:alpha val="85000"/>
                </a:srgbClr>
              </a:solidFill>
              <a:latin typeface="IBM Plex Mono"/>
              <a:ea typeface="IBM Plex Mono"/>
              <a:cs typeface="IBM Plex Mono"/>
            </a:endParaRPr>
          </a:p>
        </p:txBody>
      </p:sp>
      <p:sp>
        <p:nvSpPr>
          <p:cNvPr id="1029" name="19 · tag: CONTROLLED ARGUMENTS [p19-text-0028]" descr="Native editable Unicode text; authored line breaks retained."/>
          <p:cNvSpPr txBox="1"/>
          <p:nvPr/>
        </p:nvSpPr>
        <p:spPr>
          <a:xfrm>
            <a:off x="5426456" y="4981361"/>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ARGUMENTS</a:t>
            </a:r>
            <a:endParaRPr lang="en-US" sz="1050" b="0" i="0" kern="0" spc="50" dirty="0">
              <a:solidFill>
                <a:srgbClr val="022AC0">
                  <a:alpha val="85000"/>
                </a:srgbClr>
              </a:solidFill>
              <a:latin typeface="IBM Plex Mono"/>
              <a:ea typeface="IBM Plex Mono"/>
              <a:cs typeface="IBM Plex Mono"/>
            </a:endParaRPr>
          </a:p>
        </p:txBody>
      </p:sp>
      <p:grpSp>
        <p:nvGrpSpPr>
          <p:cNvPr id="1043" name="19 · source-line: AgentScript control plane · AgentScript specification"/>
          <p:cNvGrpSpPr/>
          <p:nvPr/>
        </p:nvGrpSpPr>
        <p:grpSpPr>
          <a:xfrm>
            <a:off x="558800" y="6037898"/>
            <a:ext cx="11087100" cy="284456"/>
            <a:chOff x="558800" y="6037898"/>
            <a:chExt cx="11087100" cy="284456"/>
          </a:xfrm>
        </p:grpSpPr>
        <p:sp>
          <p:nvSpPr>
            <p:cNvPr id="1030" name="19 · source-line · top border [p19-e003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1" name="19 · span: AgentScript control plane · AgentScript specification [p19-text-0029]" descr="Native editable Unicode text; authored line breaks retained."/>
            <p:cNvSpPr txBox="1"/>
            <p:nvPr/>
          </p:nvSpPr>
          <p:spPr>
            <a:xfrm>
              <a:off x="558800" y="6153126"/>
              <a:ext cx="291775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32" name="19 · span: Verified constructs; no executable koa-action adapter [p19-text-0030]" descr="Native editable Unicode text; authored line breaks retained."/>
            <p:cNvSpPr txBox="1"/>
            <p:nvPr/>
          </p:nvSpPr>
          <p:spPr>
            <a:xfrm>
              <a:off x="8652867" y="6153126"/>
              <a:ext cx="299303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Verified constructs; no executable koa-action adapter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uthorize the exchange, then resume the cable return">
    <p:bg>
      <p:bgPr>
        <a:solidFill>
          <a:srgbClr val="FFFFFF"/>
        </a:solidFill>
      </p:bgPr>
    </p:bg>
    <p:spTree>
      <p:nvGrpSpPr>
        <p:cNvPr id="1" name=""/>
        <p:cNvGrpSpPr/>
        <p:nvPr/>
      </p:nvGrpSpPr>
      <p:grpSpPr>
        <a:xfrm>
          <a:off x="0" y="0"/>
          <a:ext cx="0" cy="0"/>
          <a:chOff x="0" y="0"/>
          <a:chExt cx="0" cy="0"/>
        </a:xfrm>
      </p:grpSpPr>
      <p:sp>
        <p:nvSpPr>
          <p:cNvPr id="1000" name="20 · slide light · surface [p2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5" name="20 · chrome-min: DISAGGREGATED INTELLIGENCE"/>
          <p:cNvGrpSpPr/>
          <p:nvPr/>
        </p:nvGrpSpPr>
        <p:grpSpPr>
          <a:xfrm>
            <a:off x="558800" y="356053"/>
            <a:ext cx="11087100" cy="187325"/>
            <a:chOff x="558800" y="356053"/>
            <a:chExt cx="11087100" cy="187325"/>
          </a:xfrm>
        </p:grpSpPr>
        <p:sp>
          <p:nvSpPr>
            <p:cNvPr id="1001" name="20 · l: DISAGGREGATED INTELLIGENCE [p20-text-001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0 · r: 20 / 36 [p20-text-001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20 / 36</a:t>
              </a:r>
              <a:endParaRPr lang="en-US" sz="950" b="1" i="0" kern="0" spc="65" dirty="0">
                <a:solidFill>
                  <a:srgbClr val="022AC0"/>
                </a:solidFill>
                <a:latin typeface="Salesforce Sans"/>
                <a:ea typeface="Salesforce Sans"/>
                <a:cs typeface="Salesforce Sans"/>
              </a:endParaRPr>
            </a:p>
          </p:txBody>
        </p:sp>
      </p:grpSp>
      <p:grpSp>
        <p:nvGrpSpPr>
          <p:cNvPr id="1056" name="20 · deck-head: 05 / STEP 5"/>
          <p:cNvGrpSpPr/>
          <p:nvPr/>
        </p:nvGrpSpPr>
        <p:grpSpPr>
          <a:xfrm>
            <a:off x="558800" y="775901"/>
            <a:ext cx="11087100" cy="805579"/>
            <a:chOff x="558800" y="775901"/>
            <a:chExt cx="11087100" cy="805579"/>
          </a:xfrm>
        </p:grpSpPr>
        <p:sp>
          <p:nvSpPr>
            <p:cNvPr id="1003" name="20 · trace-eyebrow: 05 / STEP 5 [p20-text-001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5</a:t>
              </a:r>
              <a:endParaRPr lang="en-US" sz="1050" b="1" i="0" kern="0" spc="68" dirty="0">
                <a:solidFill>
                  <a:srgbClr val="022AC0"/>
                </a:solidFill>
                <a:latin typeface="Salesforce Sans"/>
                <a:ea typeface="Salesforce Sans"/>
                <a:cs typeface="Salesforce Sans"/>
              </a:endParaRPr>
            </a:p>
          </p:txBody>
        </p:sp>
        <p:sp>
          <p:nvSpPr>
            <p:cNvPr id="1004" name="20 · trace-title: Authorize the exchange, then resume the cable return [p20-text-0020]"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Authorize the exchange, then resume the cable return</a:t>
              </a:r>
              <a:endParaRPr lang="en-US" sz="3200" b="1" i="0" kern="0" spc="-85" dirty="0">
                <a:solidFill>
                  <a:srgbClr val="022AC0"/>
                </a:solidFill>
                <a:latin typeface="Manrope"/>
                <a:ea typeface="Manrope"/>
                <a:cs typeface="Manrope"/>
              </a:endParaRPr>
            </a:p>
          </p:txBody>
        </p:sp>
      </p:grpSp>
      <p:sp>
        <p:nvSpPr>
          <p:cNvPr id="1005" name="20 · trace-event-line · surface [p20-e0008]"/>
          <p:cNvSpPr/>
          <p:nvPr/>
        </p:nvSpPr>
        <p:spPr>
          <a:xfrm>
            <a:off x="558800" y="3390900"/>
            <a:ext cx="11074400" cy="459740"/>
          </a:xfrm>
          <a:prstGeom prst="roundRect">
            <a:avLst>
              <a:gd name="adj" fmla="val 19337"/>
            </a:avLst>
          </a:prstGeom>
          <a:solidFill>
            <a:srgbClr val="FBF0CF"/>
          </a:solidFill>
          <a:ln>
            <a:noFill/>
          </a:ln>
        </p:spPr>
      </p:sp>
      <p:grpSp>
        <p:nvGrpSpPr>
          <p:cNvPr id="1057" name="20 · card mint: "/>
          <p:cNvGrpSpPr/>
          <p:nvPr/>
        </p:nvGrpSpPr>
        <p:grpSpPr>
          <a:xfrm>
            <a:off x="558800" y="3977640"/>
            <a:ext cx="5448300" cy="1484503"/>
            <a:chOff x="558800" y="3977640"/>
            <a:chExt cx="5448300" cy="1484503"/>
          </a:xfrm>
        </p:grpSpPr>
        <p:sp>
          <p:nvSpPr>
            <p:cNvPr id="1006" name="20 · card mint · surface [p20-e0009]"/>
            <p:cNvSpPr/>
            <p:nvPr/>
          </p:nvSpPr>
          <p:spPr>
            <a:xfrm>
              <a:off x="558800" y="3977640"/>
              <a:ext cx="5448300" cy="1484503"/>
            </a:xfrm>
            <a:prstGeom prst="roundRect">
              <a:avLst>
                <a:gd name="adj" fmla="val 9411"/>
              </a:avLst>
            </a:prstGeom>
            <a:solidFill>
              <a:srgbClr val="DDF3ED"/>
            </a:solidFill>
            <a:ln>
              <a:noFill/>
            </a:ln>
          </p:spPr>
        </p:sp>
        <p:sp>
          <p:nvSpPr>
            <p:cNvPr id="1007" name="20 · card mint · outline [p20-e0009]"/>
            <p:cNvSpPr/>
            <p:nvPr/>
          </p:nvSpPr>
          <p:spPr>
            <a:xfrm>
              <a:off x="561975" y="3980815"/>
              <a:ext cx="5441950" cy="1478153"/>
            </a:xfrm>
            <a:prstGeom prst="roundRect">
              <a:avLst>
                <a:gd name="adj" fmla="val 9236"/>
              </a:avLst>
            </a:prstGeom>
            <a:noFill/>
            <a:ln w="6350" algn="ctr">
              <a:solidFill>
                <a:srgbClr val="FFFFFF">
                  <a:alpha val="85098"/>
                </a:srgbClr>
              </a:solidFill>
              <a:prstDash val="solid"/>
            </a:ln>
          </p:spPr>
        </p:sp>
      </p:grpSp>
      <p:grpSp>
        <p:nvGrpSpPr>
          <p:cNvPr id="1058" name="20 · card blue: "/>
          <p:cNvGrpSpPr/>
          <p:nvPr/>
        </p:nvGrpSpPr>
        <p:grpSpPr>
          <a:xfrm>
            <a:off x="6184900" y="3977640"/>
            <a:ext cx="5448300" cy="1484503"/>
            <a:chOff x="6184900" y="3977640"/>
            <a:chExt cx="5448300" cy="1484503"/>
          </a:xfrm>
        </p:grpSpPr>
        <p:sp>
          <p:nvSpPr>
            <p:cNvPr id="1008" name="20 · card blue · surface [p20-e0010]"/>
            <p:cNvSpPr/>
            <p:nvPr/>
          </p:nvSpPr>
          <p:spPr>
            <a:xfrm>
              <a:off x="6184900" y="3977640"/>
              <a:ext cx="5448300" cy="1484503"/>
            </a:xfrm>
            <a:prstGeom prst="roundRect">
              <a:avLst>
                <a:gd name="adj" fmla="val 9411"/>
              </a:avLst>
            </a:prstGeom>
            <a:solidFill>
              <a:srgbClr val="DCEEFE"/>
            </a:solidFill>
            <a:ln>
              <a:noFill/>
            </a:ln>
          </p:spPr>
        </p:sp>
        <p:sp>
          <p:nvSpPr>
            <p:cNvPr id="1009" name="20 · card blue · outline [p20-e0010]"/>
            <p:cNvSpPr/>
            <p:nvPr/>
          </p:nvSpPr>
          <p:spPr>
            <a:xfrm>
              <a:off x="6188075" y="3980815"/>
              <a:ext cx="5441950" cy="1478153"/>
            </a:xfrm>
            <a:prstGeom prst="roundRect">
              <a:avLst>
                <a:gd name="adj" fmla="val 9236"/>
              </a:avLst>
            </a:prstGeom>
            <a:noFill/>
            <a:ln w="6350" algn="ctr">
              <a:solidFill>
                <a:srgbClr val="FFFFFF">
                  <a:alpha val="85098"/>
                </a:srgbClr>
              </a:solidFill>
              <a:prstDash val="solid"/>
            </a:ln>
          </p:spPr>
        </p:sp>
      </p:grpSp>
      <p:sp>
        <p:nvSpPr>
          <p:cNvPr id="1010" name="20 · trace-event-line: Agent Graph resumes the cable return. Its policy, confirmation, and authorizat [p20-text-0021]" descr="Native editable Unicode text; authored line breaks retained."/>
          <p:cNvSpPr txBox="1"/>
          <p:nvPr/>
        </p:nvSpPr>
        <p:spPr>
          <a:xfrm>
            <a:off x="723900" y="3506799"/>
            <a:ext cx="10756900" cy="2374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Agent Graph resumes the cable return. Its policy, confirmation, and authorization are unfinished.</a:t>
            </a:r>
            <a:endParaRPr lang="en-US" sz="1400" b="0" i="0" kern="0" spc="0" dirty="0">
              <a:solidFill>
                <a:srgbClr val="032D60"/>
              </a:solidFill>
              <a:latin typeface="Salesforce Sans"/>
              <a:ea typeface="Salesforce Sans"/>
              <a:cs typeface="Salesforce Sans"/>
            </a:endParaRPr>
          </a:p>
        </p:txBody>
      </p:sp>
      <p:grpSp>
        <p:nvGrpSpPr>
          <p:cNvPr id="1059" name="20 · card mint: Authorized"/>
          <p:cNvGrpSpPr/>
          <p:nvPr/>
        </p:nvGrpSpPr>
        <p:grpSpPr>
          <a:xfrm>
            <a:off x="755650" y="4447236"/>
            <a:ext cx="5067300" cy="873461"/>
            <a:chOff x="755650" y="4447236"/>
            <a:chExt cx="5067300" cy="873461"/>
          </a:xfrm>
        </p:grpSpPr>
        <p:sp>
          <p:nvSpPr>
            <p:cNvPr id="1011" name="20 · h3: Authorized [p20-text-0022]" descr="Native editable Unicode text; authored line breaks retained."/>
            <p:cNvSpPr txBox="1"/>
            <p:nvPr/>
          </p:nvSpPr>
          <p:spPr>
            <a:xfrm>
              <a:off x="7556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Authorized</a:t>
              </a:r>
              <a:endParaRPr lang="en-US" sz="1800" b="1" i="0" kern="0" spc="-38" dirty="0">
                <a:solidFill>
                  <a:srgbClr val="022AC0"/>
                </a:solidFill>
                <a:latin typeface="Manrope"/>
                <a:ea typeface="Manrope"/>
                <a:cs typeface="Manrope"/>
              </a:endParaRPr>
            </a:p>
          </p:txBody>
        </p:sp>
        <p:sp>
          <p:nvSpPr>
            <p:cNvPr id="1012" name="20 · trace-text-17: Confirmation precedes a recheck and the service-issued exchange ID. [p20-text-0023]" descr="Native editable Unicode text; authored line breaks retained."/>
            <p:cNvSpPr txBox="1"/>
            <p:nvPr/>
          </p:nvSpPr>
          <p:spPr>
            <a:xfrm>
              <a:off x="7556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Confirmation precedes a recheck</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and the service-issued exchange ID.</a:t>
              </a:r>
              <a:endParaRPr lang="en-US" sz="1250" b="0" i="0" kern="0" spc="0" dirty="0">
                <a:solidFill>
                  <a:srgbClr val="032D60"/>
                </a:solidFill>
                <a:latin typeface="Salesforce Sans"/>
                <a:ea typeface="Salesforce Sans"/>
                <a:cs typeface="Salesforce Sans"/>
              </a:endParaRPr>
            </a:p>
          </p:txBody>
        </p:sp>
      </p:grpSp>
      <p:grpSp>
        <p:nvGrpSpPr>
          <p:cNvPr id="1060" name="20 · card blue: Active"/>
          <p:cNvGrpSpPr/>
          <p:nvPr/>
        </p:nvGrpSpPr>
        <p:grpSpPr>
          <a:xfrm>
            <a:off x="6381750" y="4447236"/>
            <a:ext cx="5067300" cy="873461"/>
            <a:chOff x="6381750" y="4447236"/>
            <a:chExt cx="5067300" cy="873461"/>
          </a:xfrm>
        </p:grpSpPr>
        <p:sp>
          <p:nvSpPr>
            <p:cNvPr id="1013" name="20 · h3: Active [p20-text-0024]" descr="Native editable Unicode text; authored line breaks retained."/>
            <p:cNvSpPr txBox="1"/>
            <p:nvPr/>
          </p:nvSpPr>
          <p:spPr>
            <a:xfrm>
              <a:off x="63817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Active</a:t>
              </a:r>
              <a:endParaRPr lang="en-US" sz="1800" b="1" i="0" kern="0" spc="-38" dirty="0">
                <a:solidFill>
                  <a:srgbClr val="022AC0"/>
                </a:solidFill>
                <a:latin typeface="Manrope"/>
                <a:ea typeface="Manrope"/>
                <a:cs typeface="Manrope"/>
              </a:endParaRPr>
            </a:p>
          </p:txBody>
        </p:sp>
        <p:sp>
          <p:nvSpPr>
            <p:cNvPr id="1014" name="20 · trace-text-18: A separately purchased item. Still unfinished when this trace ends. [p20-text-0025]" descr="Native editable Unicode text; authored line breaks retained."/>
            <p:cNvSpPr txBox="1"/>
            <p:nvPr/>
          </p:nvSpPr>
          <p:spPr>
            <a:xfrm>
              <a:off x="63817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 separately purchased item.</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Still unfinished when this trace ends.</a:t>
              </a:r>
              <a:endParaRPr lang="en-US" sz="1250" b="0" i="0" kern="0" spc="0" dirty="0">
                <a:solidFill>
                  <a:srgbClr val="032D60"/>
                </a:solidFill>
                <a:latin typeface="Salesforce Sans"/>
                <a:ea typeface="Salesforce Sans"/>
                <a:cs typeface="Salesforce Sans"/>
              </a:endParaRPr>
            </a:p>
          </p:txBody>
        </p:sp>
      </p:grpSp>
      <p:sp>
        <p:nvSpPr>
          <p:cNvPr id="1015" name="20 · small: Event 8 of 8 [p20-text-0026]" descr="Native editable Unicode text; authored line breaks retained."/>
          <p:cNvSpPr txBox="1"/>
          <p:nvPr/>
        </p:nvSpPr>
        <p:spPr>
          <a:xfrm>
            <a:off x="558800" y="5665979"/>
            <a:ext cx="886302"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Event 8 of 8</a:t>
            </a:r>
            <a:endParaRPr lang="en-US" sz="1250" b="0" i="0" kern="0" spc="0" dirty="0">
              <a:solidFill>
                <a:srgbClr val="032D60"/>
              </a:solidFill>
              <a:latin typeface="Salesforce Sans"/>
              <a:ea typeface="Salesforce Sans"/>
              <a:cs typeface="Salesforce Sans"/>
            </a:endParaRPr>
          </a:p>
        </p:txBody>
      </p:sp>
      <p:sp>
        <p:nvSpPr>
          <p:cNvPr id="1016" name="20 · timeline-h trace-eight · surface [p20-e0019]"/>
          <p:cNvSpPr/>
          <p:nvPr/>
        </p:nvSpPr>
        <p:spPr>
          <a:xfrm>
            <a:off x="1066800" y="2127250"/>
            <a:ext cx="10058400" cy="12700"/>
          </a:xfrm>
          <a:prstGeom prst="rect">
            <a:avLst/>
          </a:prstGeom>
          <a:solidFill>
            <a:srgbClr val="6EABC9">
              <a:alpha val="35000"/>
            </a:srgbClr>
          </a:solidFill>
          <a:ln>
            <a:noFill/>
          </a:ln>
        </p:spPr>
      </p:sp>
      <p:grpSp>
        <p:nvGrpSpPr>
          <p:cNvPr id="1061" name="20 · tl-h-node trace-step done: Verify identity"/>
          <p:cNvGrpSpPr/>
          <p:nvPr/>
        </p:nvGrpSpPr>
        <p:grpSpPr>
          <a:xfrm>
            <a:off x="558800" y="2104708"/>
            <a:ext cx="1308100" cy="1026274"/>
            <a:chOff x="558800" y="2104708"/>
            <a:chExt cx="1308100" cy="1026274"/>
          </a:xfrm>
        </p:grpSpPr>
        <p:sp>
          <p:nvSpPr>
            <p:cNvPr id="1017" name="20 · trace-text-1: Verify identity [p20-text-0027]" descr="Native editable Unicode text; authored line breaks retained."/>
            <p:cNvSpPr txBox="1"/>
            <p:nvPr/>
          </p:nvSpPr>
          <p:spPr>
            <a:xfrm>
              <a:off x="558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Verify identity</a:t>
              </a:r>
              <a:endParaRPr lang="en-US" sz="1350" b="1" i="0" kern="0" spc="-35" dirty="0">
                <a:solidFill>
                  <a:srgbClr val="022AC0">
                    <a:alpha val="78000"/>
                  </a:srgbClr>
                </a:solidFill>
                <a:latin typeface="Manrope"/>
                <a:ea typeface="Manrope"/>
                <a:cs typeface="Manrope"/>
              </a:endParaRPr>
            </a:p>
          </p:txBody>
        </p:sp>
        <p:sp>
          <p:nvSpPr>
            <p:cNvPr id="1018" name="20 · trace-text-2: Service [p20-text-0028]" descr="Native editable Unicode text; authored line breaks retained."/>
            <p:cNvSpPr txBox="1"/>
            <p:nvPr/>
          </p:nvSpPr>
          <p:spPr>
            <a:xfrm>
              <a:off x="558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19" name="20 · num · surface [p20-e0022]"/>
            <p:cNvSpPr/>
            <p:nvPr/>
          </p:nvSpPr>
          <p:spPr>
            <a:xfrm>
              <a:off x="558800" y="2104708"/>
              <a:ext cx="330200" cy="330200"/>
            </a:xfrm>
            <a:prstGeom prst="ellipse">
              <a:avLst/>
            </a:prstGeom>
            <a:solidFill>
              <a:srgbClr val="022AC0">
                <a:alpha val="78000"/>
              </a:srgbClr>
            </a:solidFill>
            <a:ln>
              <a:noFill/>
            </a:ln>
          </p:spPr>
        </p:sp>
        <p:sp>
          <p:nvSpPr>
            <p:cNvPr id="1020" name="20 · num: 1 [p20-text-0029]" descr="Native editable Unicode text; authored line breaks retained."/>
            <p:cNvSpPr txBox="1"/>
            <p:nvPr/>
          </p:nvSpPr>
          <p:spPr>
            <a:xfrm>
              <a:off x="558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1</a:t>
              </a:r>
              <a:endParaRPr lang="en-US" sz="1100" b="0" i="0" kern="0" spc="0" dirty="0">
                <a:solidFill>
                  <a:srgbClr val="FFFFFF">
                    <a:alpha val="78000"/>
                  </a:srgbClr>
                </a:solidFill>
                <a:latin typeface="IBM Plex Mono"/>
                <a:ea typeface="IBM Plex Mono"/>
                <a:cs typeface="IBM Plex Mono"/>
              </a:endParaRPr>
            </a:p>
          </p:txBody>
        </p:sp>
      </p:grpSp>
      <p:grpSp>
        <p:nvGrpSpPr>
          <p:cNvPr id="1062" name="20 · tl-h-node trace-step done: Match purchase"/>
          <p:cNvGrpSpPr/>
          <p:nvPr/>
        </p:nvGrpSpPr>
        <p:grpSpPr>
          <a:xfrm>
            <a:off x="1955800" y="2104708"/>
            <a:ext cx="1308100" cy="1026274"/>
            <a:chOff x="1955800" y="2104708"/>
            <a:chExt cx="1308100" cy="1026274"/>
          </a:xfrm>
        </p:grpSpPr>
        <p:sp>
          <p:nvSpPr>
            <p:cNvPr id="1021" name="20 · trace-text-3: Match purchase [p20-text-0030]" descr="Native editable Unicode text; authored line breaks retained."/>
            <p:cNvSpPr txBox="1"/>
            <p:nvPr/>
          </p:nvSpPr>
          <p:spPr>
            <a:xfrm>
              <a:off x="1955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Match purchase</a:t>
              </a:r>
              <a:endParaRPr lang="en-US" sz="1350" b="1" i="0" kern="0" spc="-35" dirty="0">
                <a:solidFill>
                  <a:srgbClr val="022AC0">
                    <a:alpha val="78000"/>
                  </a:srgbClr>
                </a:solidFill>
                <a:latin typeface="Manrope"/>
                <a:ea typeface="Manrope"/>
                <a:cs typeface="Manrope"/>
              </a:endParaRPr>
            </a:p>
          </p:txBody>
        </p:sp>
        <p:sp>
          <p:nvSpPr>
            <p:cNvPr id="1022" name="20 · trace-text-4: Service [p20-text-0031]" descr="Native editable Unicode text; authored line breaks retained."/>
            <p:cNvSpPr txBox="1"/>
            <p:nvPr/>
          </p:nvSpPr>
          <p:spPr>
            <a:xfrm>
              <a:off x="1955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23" name="20 · num · surface [p20-e0026]"/>
            <p:cNvSpPr/>
            <p:nvPr/>
          </p:nvSpPr>
          <p:spPr>
            <a:xfrm>
              <a:off x="1955800" y="2104708"/>
              <a:ext cx="330200" cy="330200"/>
            </a:xfrm>
            <a:prstGeom prst="ellipse">
              <a:avLst/>
            </a:prstGeom>
            <a:solidFill>
              <a:srgbClr val="022AC0">
                <a:alpha val="78000"/>
              </a:srgbClr>
            </a:solidFill>
            <a:ln>
              <a:noFill/>
            </a:ln>
          </p:spPr>
        </p:sp>
        <p:sp>
          <p:nvSpPr>
            <p:cNvPr id="1024" name="20 · num: 2 [p20-text-0032]" descr="Native editable Unicode text; authored line breaks retained."/>
            <p:cNvSpPr txBox="1"/>
            <p:nvPr/>
          </p:nvSpPr>
          <p:spPr>
            <a:xfrm>
              <a:off x="1955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2</a:t>
              </a:r>
              <a:endParaRPr lang="en-US" sz="1100" b="0" i="0" kern="0" spc="0" dirty="0">
                <a:solidFill>
                  <a:srgbClr val="FFFFFF">
                    <a:alpha val="78000"/>
                  </a:srgbClr>
                </a:solidFill>
                <a:latin typeface="IBM Plex Mono"/>
                <a:ea typeface="IBM Plex Mono"/>
                <a:cs typeface="IBM Plex Mono"/>
              </a:endParaRPr>
            </a:p>
          </p:txBody>
        </p:sp>
      </p:grpSp>
      <p:grpSp>
        <p:nvGrpSpPr>
          <p:cNvPr id="1063" name="20 · tl-h-node trace-step done: Interpret"/>
          <p:cNvGrpSpPr/>
          <p:nvPr/>
        </p:nvGrpSpPr>
        <p:grpSpPr>
          <a:xfrm>
            <a:off x="3352800" y="2104708"/>
            <a:ext cx="1308100" cy="1026274"/>
            <a:chOff x="3352800" y="2104708"/>
            <a:chExt cx="1308100" cy="1026274"/>
          </a:xfrm>
        </p:grpSpPr>
        <p:sp>
          <p:nvSpPr>
            <p:cNvPr id="1025" name="20 · trace-text-5: Interpret [p20-text-0033]" descr="Native editable Unicode text; authored line breaks retained."/>
            <p:cNvSpPr txBox="1"/>
            <p:nvPr/>
          </p:nvSpPr>
          <p:spPr>
            <a:xfrm>
              <a:off x="3352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Interpret</a:t>
              </a:r>
              <a:endParaRPr lang="en-US" sz="1350" b="1" i="0" kern="0" spc="-35" dirty="0">
                <a:solidFill>
                  <a:srgbClr val="022AC0">
                    <a:alpha val="78000"/>
                  </a:srgbClr>
                </a:solidFill>
                <a:latin typeface="Manrope"/>
                <a:ea typeface="Manrope"/>
                <a:cs typeface="Manrope"/>
              </a:endParaRPr>
            </a:p>
          </p:txBody>
        </p:sp>
        <p:sp>
          <p:nvSpPr>
            <p:cNvPr id="1026" name="20 · trace-text-6: System One [p20-text-0034]" descr="Native editable Unicode text; authored line breaks retained."/>
            <p:cNvSpPr txBox="1"/>
            <p:nvPr/>
          </p:nvSpPr>
          <p:spPr>
            <a:xfrm>
              <a:off x="3352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System One</a:t>
              </a:r>
              <a:endParaRPr lang="en-US" sz="1100" b="0" i="0" kern="0" spc="0" dirty="0">
                <a:solidFill>
                  <a:srgbClr val="032D60">
                    <a:alpha val="78000"/>
                  </a:srgbClr>
                </a:solidFill>
                <a:latin typeface="Salesforce Sans"/>
                <a:ea typeface="Salesforce Sans"/>
                <a:cs typeface="Salesforce Sans"/>
              </a:endParaRPr>
            </a:p>
          </p:txBody>
        </p:sp>
        <p:sp>
          <p:nvSpPr>
            <p:cNvPr id="1027" name="20 · num · surface [p20-e0030]"/>
            <p:cNvSpPr/>
            <p:nvPr/>
          </p:nvSpPr>
          <p:spPr>
            <a:xfrm>
              <a:off x="3352800" y="2104708"/>
              <a:ext cx="330200" cy="330200"/>
            </a:xfrm>
            <a:prstGeom prst="ellipse">
              <a:avLst/>
            </a:prstGeom>
            <a:solidFill>
              <a:srgbClr val="022AC0">
                <a:alpha val="78000"/>
              </a:srgbClr>
            </a:solidFill>
            <a:ln>
              <a:noFill/>
            </a:ln>
          </p:spPr>
        </p:sp>
        <p:sp>
          <p:nvSpPr>
            <p:cNvPr id="1028" name="20 · num: 3 [p20-text-0035]" descr="Native editable Unicode text; authored line breaks retained."/>
            <p:cNvSpPr txBox="1"/>
            <p:nvPr/>
          </p:nvSpPr>
          <p:spPr>
            <a:xfrm>
              <a:off x="3352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3</a:t>
              </a:r>
              <a:endParaRPr lang="en-US" sz="1100" b="0" i="0" kern="0" spc="0" dirty="0">
                <a:solidFill>
                  <a:srgbClr val="FFFFFF">
                    <a:alpha val="78000"/>
                  </a:srgbClr>
                </a:solidFill>
                <a:latin typeface="IBM Plex Mono"/>
                <a:ea typeface="IBM Plex Mono"/>
                <a:cs typeface="IBM Plex Mono"/>
              </a:endParaRPr>
            </a:p>
          </p:txBody>
        </p:sp>
      </p:grpSp>
      <p:grpSp>
        <p:nvGrpSpPr>
          <p:cNvPr id="1064" name="20 · tl-h-node trace-step done: Prioritize"/>
          <p:cNvGrpSpPr/>
          <p:nvPr/>
        </p:nvGrpSpPr>
        <p:grpSpPr>
          <a:xfrm>
            <a:off x="4749800" y="2104708"/>
            <a:ext cx="1308100" cy="1026274"/>
            <a:chOff x="4749800" y="2104708"/>
            <a:chExt cx="1308100" cy="1026274"/>
          </a:xfrm>
        </p:grpSpPr>
        <p:sp>
          <p:nvSpPr>
            <p:cNvPr id="1029" name="20 · trace-text-7: Prioritize [p20-text-0036]" descr="Native editable Unicode text; authored line breaks retained."/>
            <p:cNvSpPr txBox="1"/>
            <p:nvPr/>
          </p:nvSpPr>
          <p:spPr>
            <a:xfrm>
              <a:off x="4749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Prioritize</a:t>
              </a:r>
              <a:endParaRPr lang="en-US" sz="1350" b="1" i="0" kern="0" spc="-35" dirty="0">
                <a:solidFill>
                  <a:srgbClr val="022AC0">
                    <a:alpha val="78000"/>
                  </a:srgbClr>
                </a:solidFill>
                <a:latin typeface="Manrope"/>
                <a:ea typeface="Manrope"/>
                <a:cs typeface="Manrope"/>
              </a:endParaRPr>
            </a:p>
          </p:txBody>
        </p:sp>
        <p:sp>
          <p:nvSpPr>
            <p:cNvPr id="1030" name="20 · trace-text-8: Customer [p20-text-0037]" descr="Native editable Unicode text; authored line breaks retained."/>
            <p:cNvSpPr txBox="1"/>
            <p:nvPr/>
          </p:nvSpPr>
          <p:spPr>
            <a:xfrm>
              <a:off x="4749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1" name="20 · num · surface [p20-e0034]"/>
            <p:cNvSpPr/>
            <p:nvPr/>
          </p:nvSpPr>
          <p:spPr>
            <a:xfrm>
              <a:off x="4749800" y="2104708"/>
              <a:ext cx="330200" cy="330200"/>
            </a:xfrm>
            <a:prstGeom prst="ellipse">
              <a:avLst/>
            </a:prstGeom>
            <a:solidFill>
              <a:srgbClr val="022AC0">
                <a:alpha val="78000"/>
              </a:srgbClr>
            </a:solidFill>
            <a:ln>
              <a:noFill/>
            </a:ln>
          </p:spPr>
        </p:sp>
        <p:sp>
          <p:nvSpPr>
            <p:cNvPr id="1032" name="20 · num: 4 [p20-text-0038]" descr="Native editable Unicode text; authored line breaks retained."/>
            <p:cNvSpPr txBox="1"/>
            <p:nvPr/>
          </p:nvSpPr>
          <p:spPr>
            <a:xfrm>
              <a:off x="4749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4</a:t>
              </a:r>
              <a:endParaRPr lang="en-US" sz="1100" b="0" i="0" kern="0" spc="0" dirty="0">
                <a:solidFill>
                  <a:srgbClr val="FFFFFF">
                    <a:alpha val="78000"/>
                  </a:srgbClr>
                </a:solidFill>
                <a:latin typeface="IBM Plex Mono"/>
                <a:ea typeface="IBM Plex Mono"/>
                <a:cs typeface="IBM Plex Mono"/>
              </a:endParaRPr>
            </a:p>
          </p:txBody>
        </p:sp>
      </p:grpSp>
      <p:grpSp>
        <p:nvGrpSpPr>
          <p:cNvPr id="1065" name="20 · tl-h-node trace-step done: Policy + stock"/>
          <p:cNvGrpSpPr/>
          <p:nvPr/>
        </p:nvGrpSpPr>
        <p:grpSpPr>
          <a:xfrm>
            <a:off x="6146800" y="2104708"/>
            <a:ext cx="1308100" cy="1026274"/>
            <a:chOff x="6146800" y="2104708"/>
            <a:chExt cx="1308100" cy="1026274"/>
          </a:xfrm>
        </p:grpSpPr>
        <p:sp>
          <p:nvSpPr>
            <p:cNvPr id="1033" name="20 · trace-text-9: Policy + stock [p20-text-0039]" descr="Native editable Unicode text; authored line breaks retained."/>
            <p:cNvSpPr txBox="1"/>
            <p:nvPr/>
          </p:nvSpPr>
          <p:spPr>
            <a:xfrm>
              <a:off x="6146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Policy + stock</a:t>
              </a:r>
              <a:endParaRPr lang="en-US" sz="1350" b="1" i="0" kern="0" spc="-35" dirty="0">
                <a:solidFill>
                  <a:srgbClr val="022AC0">
                    <a:alpha val="78000"/>
                  </a:srgbClr>
                </a:solidFill>
                <a:latin typeface="Manrope"/>
                <a:ea typeface="Manrope"/>
                <a:cs typeface="Manrope"/>
              </a:endParaRPr>
            </a:p>
          </p:txBody>
        </p:sp>
        <p:sp>
          <p:nvSpPr>
            <p:cNvPr id="1034" name="20 · trace-text-10: Service [p20-text-0040]" descr="Native editable Unicode text; authored line breaks retained."/>
            <p:cNvSpPr txBox="1"/>
            <p:nvPr/>
          </p:nvSpPr>
          <p:spPr>
            <a:xfrm>
              <a:off x="6146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35" name="20 · num · surface [p20-e0038]"/>
            <p:cNvSpPr/>
            <p:nvPr/>
          </p:nvSpPr>
          <p:spPr>
            <a:xfrm>
              <a:off x="6146800" y="2104708"/>
              <a:ext cx="330200" cy="330200"/>
            </a:xfrm>
            <a:prstGeom prst="ellipse">
              <a:avLst/>
            </a:prstGeom>
            <a:solidFill>
              <a:srgbClr val="022AC0">
                <a:alpha val="78000"/>
              </a:srgbClr>
            </a:solidFill>
            <a:ln>
              <a:noFill/>
            </a:ln>
          </p:spPr>
        </p:sp>
        <p:sp>
          <p:nvSpPr>
            <p:cNvPr id="1036" name="20 · num: 5 [p20-text-0041]" descr="Native editable Unicode text; authored line breaks retained."/>
            <p:cNvSpPr txBox="1"/>
            <p:nvPr/>
          </p:nvSpPr>
          <p:spPr>
            <a:xfrm>
              <a:off x="6146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5</a:t>
              </a:r>
              <a:endParaRPr lang="en-US" sz="1100" b="0" i="0" kern="0" spc="0" dirty="0">
                <a:solidFill>
                  <a:srgbClr val="FFFFFF">
                    <a:alpha val="78000"/>
                  </a:srgbClr>
                </a:solidFill>
                <a:latin typeface="IBM Plex Mono"/>
                <a:ea typeface="IBM Plex Mono"/>
                <a:cs typeface="IBM Plex Mono"/>
              </a:endParaRPr>
            </a:p>
          </p:txBody>
        </p:sp>
      </p:grpSp>
      <p:grpSp>
        <p:nvGrpSpPr>
          <p:cNvPr id="1066" name="20 · tl-h-node trace-step done: Confirm"/>
          <p:cNvGrpSpPr/>
          <p:nvPr/>
        </p:nvGrpSpPr>
        <p:grpSpPr>
          <a:xfrm>
            <a:off x="7543800" y="2104708"/>
            <a:ext cx="1308100" cy="1026274"/>
            <a:chOff x="7543800" y="2104708"/>
            <a:chExt cx="1308100" cy="1026274"/>
          </a:xfrm>
        </p:grpSpPr>
        <p:sp>
          <p:nvSpPr>
            <p:cNvPr id="1037" name="20 · trace-text-11: Confirm [p20-text-0042]" descr="Native editable Unicode text; authored line breaks retained."/>
            <p:cNvSpPr txBox="1"/>
            <p:nvPr/>
          </p:nvSpPr>
          <p:spPr>
            <a:xfrm>
              <a:off x="7543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Confirm</a:t>
              </a:r>
              <a:endParaRPr lang="en-US" sz="1350" b="1" i="0" kern="0" spc="-35" dirty="0">
                <a:solidFill>
                  <a:srgbClr val="022AC0">
                    <a:alpha val="78000"/>
                  </a:srgbClr>
                </a:solidFill>
                <a:latin typeface="Manrope"/>
                <a:ea typeface="Manrope"/>
                <a:cs typeface="Manrope"/>
              </a:endParaRPr>
            </a:p>
          </p:txBody>
        </p:sp>
        <p:sp>
          <p:nvSpPr>
            <p:cNvPr id="1038" name="20 · trace-text-12: Customer [p20-text-0043]" descr="Native editable Unicode text; authored line breaks retained."/>
            <p:cNvSpPr txBox="1"/>
            <p:nvPr/>
          </p:nvSpPr>
          <p:spPr>
            <a:xfrm>
              <a:off x="7543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9" name="20 · num · surface [p20-e0042]"/>
            <p:cNvSpPr/>
            <p:nvPr/>
          </p:nvSpPr>
          <p:spPr>
            <a:xfrm>
              <a:off x="7543800" y="2104708"/>
              <a:ext cx="330200" cy="330200"/>
            </a:xfrm>
            <a:prstGeom prst="ellipse">
              <a:avLst/>
            </a:prstGeom>
            <a:solidFill>
              <a:srgbClr val="022AC0">
                <a:alpha val="78000"/>
              </a:srgbClr>
            </a:solidFill>
            <a:ln>
              <a:noFill/>
            </a:ln>
          </p:spPr>
        </p:sp>
        <p:sp>
          <p:nvSpPr>
            <p:cNvPr id="1040" name="20 · num: 6 [p20-text-0044]" descr="Native editable Unicode text; authored line breaks retained."/>
            <p:cNvSpPr txBox="1"/>
            <p:nvPr/>
          </p:nvSpPr>
          <p:spPr>
            <a:xfrm>
              <a:off x="7543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6</a:t>
              </a:r>
              <a:endParaRPr lang="en-US" sz="1100" b="0" i="0" kern="0" spc="0" dirty="0">
                <a:solidFill>
                  <a:srgbClr val="FFFFFF">
                    <a:alpha val="78000"/>
                  </a:srgbClr>
                </a:solidFill>
                <a:latin typeface="IBM Plex Mono"/>
                <a:ea typeface="IBM Plex Mono"/>
                <a:cs typeface="IBM Plex Mono"/>
              </a:endParaRPr>
            </a:p>
          </p:txBody>
        </p:sp>
      </p:grpSp>
      <p:grpSp>
        <p:nvGrpSpPr>
          <p:cNvPr id="1067" name="20 · tl-h-node trace-step done: Authorize"/>
          <p:cNvGrpSpPr/>
          <p:nvPr/>
        </p:nvGrpSpPr>
        <p:grpSpPr>
          <a:xfrm>
            <a:off x="8940800" y="2104708"/>
            <a:ext cx="1308100" cy="1026274"/>
            <a:chOff x="8940800" y="2104708"/>
            <a:chExt cx="1308100" cy="1026274"/>
          </a:xfrm>
        </p:grpSpPr>
        <p:sp>
          <p:nvSpPr>
            <p:cNvPr id="1041" name="20 · trace-text-13: Authorize [p20-text-0045]" descr="Native editable Unicode text; authored line breaks retained."/>
            <p:cNvSpPr txBox="1"/>
            <p:nvPr/>
          </p:nvSpPr>
          <p:spPr>
            <a:xfrm>
              <a:off x="8940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Authorize</a:t>
              </a:r>
              <a:endParaRPr lang="en-US" sz="1350" b="1" i="0" kern="0" spc="-35" dirty="0">
                <a:solidFill>
                  <a:srgbClr val="022AC0">
                    <a:alpha val="78000"/>
                  </a:srgbClr>
                </a:solidFill>
                <a:latin typeface="Manrope"/>
                <a:ea typeface="Manrope"/>
                <a:cs typeface="Manrope"/>
              </a:endParaRPr>
            </a:p>
          </p:txBody>
        </p:sp>
        <p:sp>
          <p:nvSpPr>
            <p:cNvPr id="1042" name="20 · trace-text-14: Service [p20-text-0046]" descr="Native editable Unicode text; authored line breaks retained."/>
            <p:cNvSpPr txBox="1"/>
            <p:nvPr/>
          </p:nvSpPr>
          <p:spPr>
            <a:xfrm>
              <a:off x="8940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43" name="20 · num · surface [p20-e0046]"/>
            <p:cNvSpPr/>
            <p:nvPr/>
          </p:nvSpPr>
          <p:spPr>
            <a:xfrm>
              <a:off x="8940800" y="2104708"/>
              <a:ext cx="330200" cy="330200"/>
            </a:xfrm>
            <a:prstGeom prst="ellipse">
              <a:avLst/>
            </a:prstGeom>
            <a:solidFill>
              <a:srgbClr val="022AC0">
                <a:alpha val="78000"/>
              </a:srgbClr>
            </a:solidFill>
            <a:ln>
              <a:noFill/>
            </a:ln>
          </p:spPr>
        </p:sp>
        <p:sp>
          <p:nvSpPr>
            <p:cNvPr id="1044" name="20 · num: 7 [p20-text-0047]" descr="Native editable Unicode text; authored line breaks retained."/>
            <p:cNvSpPr txBox="1"/>
            <p:nvPr/>
          </p:nvSpPr>
          <p:spPr>
            <a:xfrm>
              <a:off x="8940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7</a:t>
              </a:r>
              <a:endParaRPr lang="en-US" sz="1100" b="0" i="0" kern="0" spc="0" dirty="0">
                <a:solidFill>
                  <a:srgbClr val="FFFFFF">
                    <a:alpha val="78000"/>
                  </a:srgbClr>
                </a:solidFill>
                <a:latin typeface="IBM Plex Mono"/>
                <a:ea typeface="IBM Plex Mono"/>
                <a:cs typeface="IBM Plex Mono"/>
              </a:endParaRPr>
            </a:p>
          </p:txBody>
        </p:sp>
      </p:grpSp>
      <p:grpSp>
        <p:nvGrpSpPr>
          <p:cNvPr id="1068" name="20 · tl-h-node trace-step current: Resume"/>
          <p:cNvGrpSpPr/>
          <p:nvPr/>
        </p:nvGrpSpPr>
        <p:grpSpPr>
          <a:xfrm>
            <a:off x="10337800" y="1990408"/>
            <a:ext cx="1308100" cy="1140574"/>
            <a:chOff x="10337800" y="1990408"/>
            <a:chExt cx="1308100" cy="1140574"/>
          </a:xfrm>
        </p:grpSpPr>
        <p:sp>
          <p:nvSpPr>
            <p:cNvPr id="1045" name="20 · tl-h-node trace-step current · surface [p20-e0048]"/>
            <p:cNvSpPr/>
            <p:nvPr/>
          </p:nvSpPr>
          <p:spPr>
            <a:xfrm>
              <a:off x="10337800" y="1990408"/>
              <a:ext cx="1295400" cy="1124585"/>
            </a:xfrm>
            <a:prstGeom prst="rect">
              <a:avLst/>
            </a:prstGeom>
            <a:solidFill>
              <a:srgbClr val="FBF0CF"/>
            </a:solidFill>
            <a:ln>
              <a:noFill/>
            </a:ln>
          </p:spPr>
        </p:sp>
        <p:sp>
          <p:nvSpPr>
            <p:cNvPr id="1046" name="20 · trace-text-15: Resume [p20-text-0048]" descr="Native editable Unicode text; authored line breaks retained."/>
            <p:cNvSpPr txBox="1"/>
            <p:nvPr/>
          </p:nvSpPr>
          <p:spPr>
            <a:xfrm>
              <a:off x="10337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solidFill>
                  <a:latin typeface="Manrope"/>
                  <a:ea typeface="Manrope"/>
                  <a:cs typeface="Manrope"/>
                </a:rPr>
                <a:t>Resume</a:t>
              </a:r>
              <a:endParaRPr lang="en-US" sz="1350" b="1" i="0" kern="0" spc="-35" dirty="0">
                <a:solidFill>
                  <a:srgbClr val="022AC0"/>
                </a:solidFill>
                <a:latin typeface="Manrope"/>
                <a:ea typeface="Manrope"/>
                <a:cs typeface="Manrope"/>
              </a:endParaRPr>
            </a:p>
          </p:txBody>
        </p:sp>
        <p:sp>
          <p:nvSpPr>
            <p:cNvPr id="1047" name="20 · trace-text-16: Agent Graph [p20-text-0049]" descr="Native editable Unicode text; authored line breaks retained."/>
            <p:cNvSpPr txBox="1"/>
            <p:nvPr/>
          </p:nvSpPr>
          <p:spPr>
            <a:xfrm>
              <a:off x="10337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solidFill>
                  <a:latin typeface="Salesforce Sans"/>
                  <a:ea typeface="Salesforce Sans"/>
                  <a:cs typeface="Salesforce Sans"/>
                </a:rPr>
                <a:t>Agent Graph</a:t>
              </a:r>
              <a:endParaRPr lang="en-US" sz="1100" b="0" i="0" kern="0" spc="0" dirty="0">
                <a:solidFill>
                  <a:srgbClr val="032D60"/>
                </a:solidFill>
                <a:latin typeface="Salesforce Sans"/>
                <a:ea typeface="Salesforce Sans"/>
                <a:cs typeface="Salesforce Sans"/>
              </a:endParaRPr>
            </a:p>
          </p:txBody>
        </p:sp>
        <p:sp>
          <p:nvSpPr>
            <p:cNvPr id="1048" name="20 · num · surface [p20-e0051]"/>
            <p:cNvSpPr/>
            <p:nvPr/>
          </p:nvSpPr>
          <p:spPr>
            <a:xfrm>
              <a:off x="10337800" y="2104708"/>
              <a:ext cx="330200" cy="330200"/>
            </a:xfrm>
            <a:prstGeom prst="ellipse">
              <a:avLst/>
            </a:prstGeom>
            <a:solidFill>
              <a:srgbClr val="022AC0"/>
            </a:solidFill>
            <a:ln>
              <a:noFill/>
            </a:ln>
          </p:spPr>
        </p:sp>
        <p:sp>
          <p:nvSpPr>
            <p:cNvPr id="1049" name="20 · num: 8 [p20-text-0050]" descr="Native editable Unicode text; authored line breaks retained."/>
            <p:cNvSpPr txBox="1"/>
            <p:nvPr/>
          </p:nvSpPr>
          <p:spPr>
            <a:xfrm>
              <a:off x="10337800" y="2104708"/>
              <a:ext cx="342900" cy="336550"/>
            </a:xfrm>
            <a:prstGeom prst="rect">
              <a:avLst/>
            </a:prstGeom>
            <a:noFill/>
            <a:ln>
              <a:noFill/>
            </a:ln>
          </p:spPr>
          <p:txBody>
            <a:bodyPr wrap="none" lIns="0" rIns="0" tIns="0" bIns="0" anchor="t" anchorCtr="0" vertOverflow="overflow" horzOverflow="overflow" spcFirstLastPara="0">
              <a:noAutofit/>
            </a:bodyPr>
            <a:lstStyle/>
            <a:p>
              <a:pPr marL="123189" marR="0" indent="0" algn="l" fontAlgn="base">
                <a:lnSpc>
                  <a:spcPts val="1430"/>
                </a:lnSpc>
                <a:spcBef>
                  <a:spcPts val="0"/>
                </a:spcBef>
                <a:spcAft>
                  <a:spcPts val="0"/>
                </a:spcAft>
                <a:buNone/>
              </a:pPr>
              <a:r>
                <a:rPr lang="en-US" sz="1100" b="0" i="0" kern="0" spc="0" dirty="0">
                  <a:solidFill>
                    <a:srgbClr val="FFFFFF"/>
                  </a:solidFill>
                  <a:latin typeface="IBM Plex Mono"/>
                  <a:ea typeface="IBM Plex Mono"/>
                  <a:cs typeface="IBM Plex Mono"/>
                </a:rPr>
                <a:t>8</a:t>
              </a:r>
              <a:endParaRPr lang="en-US" sz="1100" b="0" i="0" kern="0" spc="0" dirty="0">
                <a:solidFill>
                  <a:srgbClr val="FFFFFF"/>
                </a:solidFill>
                <a:latin typeface="IBM Plex Mono"/>
                <a:ea typeface="IBM Plex Mono"/>
                <a:cs typeface="IBM Plex Mono"/>
              </a:endParaRPr>
            </a:p>
          </p:txBody>
        </p:sp>
      </p:grpSp>
      <p:sp>
        <p:nvSpPr>
          <p:cNvPr id="1050" name="20 · tag: EXCHANGE [p20-text-0051]" descr="Native editable Unicode text; authored line breaks retained."/>
          <p:cNvSpPr txBox="1"/>
          <p:nvPr/>
        </p:nvSpPr>
        <p:spPr>
          <a:xfrm>
            <a:off x="7556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EXCHANGE</a:t>
            </a:r>
            <a:endParaRPr lang="en-US" sz="1050" b="0" i="0" kern="0" spc="50" dirty="0">
              <a:solidFill>
                <a:srgbClr val="022AC0">
                  <a:alpha val="85000"/>
                </a:srgbClr>
              </a:solidFill>
              <a:latin typeface="IBM Plex Mono"/>
              <a:ea typeface="IBM Plex Mono"/>
              <a:cs typeface="IBM Plex Mono"/>
            </a:endParaRPr>
          </a:p>
        </p:txBody>
      </p:sp>
      <p:sp>
        <p:nvSpPr>
          <p:cNvPr id="1051" name="20 · tag: CABLE RETURN [p20-text-0052]" descr="Native editable Unicode text; authored line breaks retained."/>
          <p:cNvSpPr txBox="1"/>
          <p:nvPr/>
        </p:nvSpPr>
        <p:spPr>
          <a:xfrm>
            <a:off x="63817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CABLE RETURN</a:t>
            </a:r>
            <a:endParaRPr lang="en-US" sz="1050" b="0" i="0" kern="0" spc="50" dirty="0">
              <a:solidFill>
                <a:srgbClr val="022AC0">
                  <a:alpha val="85000"/>
                </a:srgbClr>
              </a:solidFill>
              <a:latin typeface="IBM Plex Mono"/>
              <a:ea typeface="IBM Plex Mono"/>
              <a:cs typeface="IBM Plex Mono"/>
            </a:endParaRPr>
          </a:p>
        </p:txBody>
      </p:sp>
      <p:grpSp>
        <p:nvGrpSpPr>
          <p:cNvPr id="1069" name="20 · source-line: Agent Graph / guided determinism · Reliable enterprise agents"/>
          <p:cNvGrpSpPr/>
          <p:nvPr/>
        </p:nvGrpSpPr>
        <p:grpSpPr>
          <a:xfrm>
            <a:off x="558800" y="6037898"/>
            <a:ext cx="11087100" cy="284456"/>
            <a:chOff x="558800" y="6037898"/>
            <a:chExt cx="11087100" cy="284456"/>
          </a:xfrm>
        </p:grpSpPr>
        <p:sp>
          <p:nvSpPr>
            <p:cNvPr id="1052" name="20 · source-line · top border [p20-e005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3" name="20 · span: Agent Graph / guided determinism · Reliable enterprise agents [p20-text-0053]" descr="Native editable Unicode text; authored line breaks retained."/>
            <p:cNvSpPr txBox="1"/>
            <p:nvPr/>
          </p:nvSpPr>
          <p:spPr>
            <a:xfrm>
              <a:off x="558800" y="6153126"/>
              <a:ext cx="35193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Reliable enterprise agents"/>
                </a:rPr>
                <a:t>Reliable enterprise agents</a:t>
              </a:r>
              <a:endParaRPr lang="en-US" sz="950" b="0" i="0" kern="0" spc="0" dirty="0" u="sng">
                <a:solidFill>
                  <a:srgbClr val="315A7A"/>
                </a:solidFill>
                <a:latin typeface="Salesforce Sans"/>
                <a:ea typeface="Salesforce Sans"/>
                <a:cs typeface="Salesforce Sans"/>
              </a:endParaRPr>
            </a:p>
          </p:txBody>
        </p:sp>
        <p:sp>
          <p:nvSpPr>
            <p:cNvPr id="1054" name="20 · span: Constructed trace · final static state [p20-text-0054]" descr="Native editable Unicode text; authored line breaks retained."/>
            <p:cNvSpPr txBox="1"/>
            <p:nvPr/>
          </p:nvSpPr>
          <p:spPr>
            <a:xfrm>
              <a:off x="9671286" y="6153126"/>
              <a:ext cx="197461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trace · final static state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Failure routes are part of the program">
    <p:bg>
      <p:bgPr>
        <a:solidFill>
          <a:srgbClr val="FFFFFF"/>
        </a:solidFill>
      </p:bgPr>
    </p:bg>
    <p:spTree>
      <p:nvGrpSpPr>
        <p:cNvPr id="1" name=""/>
        <p:cNvGrpSpPr/>
        <p:nvPr/>
      </p:nvGrpSpPr>
      <p:grpSpPr>
        <a:xfrm>
          <a:off x="0" y="0"/>
          <a:ext cx="0" cy="0"/>
          <a:chOff x="0" y="0"/>
          <a:chExt cx="0" cy="0"/>
        </a:xfrm>
      </p:grpSpPr>
      <p:sp>
        <p:nvSpPr>
          <p:cNvPr id="1000" name="21 · slide dark · surface [p2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21 · chrome-min: DISAGGREGATED INTELLIGENCE"/>
          <p:cNvGrpSpPr/>
          <p:nvPr/>
        </p:nvGrpSpPr>
        <p:grpSpPr>
          <a:xfrm>
            <a:off x="558800" y="356053"/>
            <a:ext cx="11087100" cy="187325"/>
            <a:chOff x="558800" y="356053"/>
            <a:chExt cx="11087100" cy="187325"/>
          </a:xfrm>
        </p:grpSpPr>
        <p:sp>
          <p:nvSpPr>
            <p:cNvPr id="1001" name="21 · l: DISAGGREGATED INTELLIGENCE [p21-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1 · r: 21 / 36 [p21-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21 / 36</a:t>
              </a:r>
              <a:endParaRPr lang="en-US" sz="950" b="1" i="0" kern="0" spc="65" dirty="0">
                <a:solidFill>
                  <a:srgbClr val="022AC0"/>
                </a:solidFill>
                <a:latin typeface="Salesforce Sans"/>
                <a:ea typeface="Salesforce Sans"/>
                <a:cs typeface="Salesforce Sans"/>
              </a:endParaRPr>
            </a:p>
          </p:txBody>
        </p:sp>
      </p:grpSp>
      <p:grpSp>
        <p:nvGrpSpPr>
          <p:cNvPr id="1030" name="21 · deck-head: 05 / RECOVER WITHOUT LOSING THE CASE"/>
          <p:cNvGrpSpPr/>
          <p:nvPr/>
        </p:nvGrpSpPr>
        <p:grpSpPr>
          <a:xfrm>
            <a:off x="558800" y="775901"/>
            <a:ext cx="11087100" cy="871263"/>
            <a:chOff x="558800" y="775901"/>
            <a:chExt cx="11087100" cy="871263"/>
          </a:xfrm>
        </p:grpSpPr>
        <p:sp>
          <p:nvSpPr>
            <p:cNvPr id="1003" name="21 · failures-eyebrow: 05 / RECOVER WITHOUT LOSING THE CASE [p21-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RECOVER WITHOUT LOSING THE CASE</a:t>
              </a:r>
              <a:endParaRPr lang="en-US" sz="1050" b="1" i="0" kern="0" spc="68" dirty="0">
                <a:solidFill>
                  <a:srgbClr val="022AC0"/>
                </a:solidFill>
                <a:latin typeface="Salesforce Sans"/>
                <a:ea typeface="Salesforce Sans"/>
                <a:cs typeface="Salesforce Sans"/>
              </a:endParaRPr>
            </a:p>
          </p:txBody>
        </p:sp>
        <p:sp>
          <p:nvSpPr>
            <p:cNvPr id="1004" name="21 · failures-title: Failure routes are part of the program [p21-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Failure routes are part of the program</a:t>
              </a:r>
              <a:endParaRPr lang="en-US" sz="3600" b="1" i="0" kern="0" spc="-95" dirty="0">
                <a:solidFill>
                  <a:srgbClr val="022AC0"/>
                </a:solidFill>
                <a:latin typeface="Manrope"/>
                <a:ea typeface="Manrope"/>
                <a:cs typeface="Manrope"/>
              </a:endParaRPr>
            </a:p>
          </p:txBody>
        </p:sp>
      </p:grpSp>
      <p:sp>
        <p:nvSpPr>
          <p:cNvPr id="1005" name="21 · four-cards · top border [p21-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21 · card lilac: "/>
          <p:cNvGrpSpPr/>
          <p:nvPr/>
        </p:nvGrpSpPr>
        <p:grpSpPr>
          <a:xfrm>
            <a:off x="558800" y="1930400"/>
            <a:ext cx="2644775" cy="4102100"/>
            <a:chOff x="558800" y="1930400"/>
            <a:chExt cx="2644775" cy="4102100"/>
          </a:xfrm>
        </p:grpSpPr>
        <p:sp>
          <p:nvSpPr>
            <p:cNvPr id="1006" name="21 · card lilac · surface [p21-e0009]"/>
            <p:cNvSpPr/>
            <p:nvPr/>
          </p:nvSpPr>
          <p:spPr>
            <a:xfrm>
              <a:off x="558800" y="1930400"/>
              <a:ext cx="2644775" cy="4102100"/>
            </a:xfrm>
            <a:prstGeom prst="roundRect">
              <a:avLst>
                <a:gd name="adj" fmla="val 5282"/>
              </a:avLst>
            </a:prstGeom>
            <a:solidFill>
              <a:srgbClr val="EAE6FA"/>
            </a:solidFill>
            <a:ln>
              <a:noFill/>
            </a:ln>
          </p:spPr>
        </p:sp>
        <p:sp>
          <p:nvSpPr>
            <p:cNvPr id="1007" name="21 · card lilac · outline [p21-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21 · card sand: "/>
          <p:cNvGrpSpPr/>
          <p:nvPr/>
        </p:nvGrpSpPr>
        <p:grpSpPr>
          <a:xfrm>
            <a:off x="3368675" y="1930400"/>
            <a:ext cx="2644775" cy="4102100"/>
            <a:chOff x="3368675" y="1930400"/>
            <a:chExt cx="2644775" cy="4102100"/>
          </a:xfrm>
        </p:grpSpPr>
        <p:sp>
          <p:nvSpPr>
            <p:cNvPr id="1008" name="21 · card sand · surface [p21-e0010]"/>
            <p:cNvSpPr/>
            <p:nvPr/>
          </p:nvSpPr>
          <p:spPr>
            <a:xfrm>
              <a:off x="3368675" y="1930400"/>
              <a:ext cx="2644775" cy="4102100"/>
            </a:xfrm>
            <a:prstGeom prst="roundRect">
              <a:avLst>
                <a:gd name="adj" fmla="val 5282"/>
              </a:avLst>
            </a:prstGeom>
            <a:solidFill>
              <a:srgbClr val="FBF0CF"/>
            </a:solidFill>
            <a:ln>
              <a:noFill/>
            </a:ln>
          </p:spPr>
        </p:sp>
        <p:sp>
          <p:nvSpPr>
            <p:cNvPr id="1009" name="21 · card sand · outline [p21-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21 · card blue: "/>
          <p:cNvGrpSpPr/>
          <p:nvPr/>
        </p:nvGrpSpPr>
        <p:grpSpPr>
          <a:xfrm>
            <a:off x="6178550" y="1930400"/>
            <a:ext cx="2644775" cy="4102100"/>
            <a:chOff x="6178550" y="1930400"/>
            <a:chExt cx="2644775" cy="4102100"/>
          </a:xfrm>
        </p:grpSpPr>
        <p:sp>
          <p:nvSpPr>
            <p:cNvPr id="1010" name="21 · card blue · surface [p21-e0011]"/>
            <p:cNvSpPr/>
            <p:nvPr/>
          </p:nvSpPr>
          <p:spPr>
            <a:xfrm>
              <a:off x="6178550" y="1930400"/>
              <a:ext cx="2644775" cy="4102100"/>
            </a:xfrm>
            <a:prstGeom prst="roundRect">
              <a:avLst>
                <a:gd name="adj" fmla="val 5282"/>
              </a:avLst>
            </a:prstGeom>
            <a:solidFill>
              <a:srgbClr val="DCEEFE"/>
            </a:solidFill>
            <a:ln>
              <a:noFill/>
            </a:ln>
          </p:spPr>
        </p:sp>
        <p:sp>
          <p:nvSpPr>
            <p:cNvPr id="1011" name="21 · card blue · outline [p21-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21 · card peach: "/>
          <p:cNvGrpSpPr/>
          <p:nvPr/>
        </p:nvGrpSpPr>
        <p:grpSpPr>
          <a:xfrm>
            <a:off x="8988425" y="1930400"/>
            <a:ext cx="2644775" cy="4102100"/>
            <a:chOff x="8988425" y="1930400"/>
            <a:chExt cx="2644775" cy="4102100"/>
          </a:xfrm>
        </p:grpSpPr>
        <p:sp>
          <p:nvSpPr>
            <p:cNvPr id="1012" name="21 · card peach · surface [p21-e0012]"/>
            <p:cNvSpPr/>
            <p:nvPr/>
          </p:nvSpPr>
          <p:spPr>
            <a:xfrm>
              <a:off x="8988425" y="1930400"/>
              <a:ext cx="2644775" cy="4102100"/>
            </a:xfrm>
            <a:prstGeom prst="roundRect">
              <a:avLst>
                <a:gd name="adj" fmla="val 5282"/>
              </a:avLst>
            </a:prstGeom>
            <a:solidFill>
              <a:srgbClr val="FBE5DF"/>
            </a:solidFill>
            <a:ln>
              <a:noFill/>
            </a:ln>
          </p:spPr>
        </p:sp>
        <p:sp>
          <p:nvSpPr>
            <p:cNvPr id="1013" name="21 · card peach · outline [p21-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21 · card lilac: Invalid output"/>
          <p:cNvGrpSpPr/>
          <p:nvPr/>
        </p:nvGrpSpPr>
        <p:grpSpPr>
          <a:xfrm>
            <a:off x="781050" y="2486534"/>
            <a:ext cx="2212975" cy="1213686"/>
            <a:chOff x="781050" y="2486534"/>
            <a:chExt cx="2212975" cy="1213686"/>
          </a:xfrm>
        </p:grpSpPr>
        <p:sp>
          <p:nvSpPr>
            <p:cNvPr id="1014" name="21 · failures-text-1: Invalid output [p21-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Invalid output</a:t>
              </a:r>
              <a:endParaRPr lang="en-US" sz="2000" b="1" i="0" kern="0" spc="-38" dirty="0">
                <a:solidFill>
                  <a:srgbClr val="022AC0"/>
                </a:solidFill>
                <a:latin typeface="Manrope"/>
                <a:ea typeface="Manrope"/>
                <a:cs typeface="Manrope"/>
              </a:endParaRPr>
            </a:p>
          </p:txBody>
        </p:sp>
        <p:sp>
          <p:nvSpPr>
            <p:cNvPr id="1015" name="21 · failures-text-2: Validate the result before branching. Use a defined fallback. [p21-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Validate the result before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branching. Use a defined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fallback.</a:t>
              </a:r>
              <a:endParaRPr lang="en-US" sz="1400" b="0" i="0" kern="0" spc="0" dirty="0">
                <a:solidFill>
                  <a:srgbClr val="032D60"/>
                </a:solidFill>
                <a:latin typeface="Salesforce Sans"/>
                <a:ea typeface="Salesforce Sans"/>
                <a:cs typeface="Salesforce Sans"/>
              </a:endParaRPr>
            </a:p>
          </p:txBody>
        </p:sp>
      </p:grpSp>
      <p:grpSp>
        <p:nvGrpSpPr>
          <p:cNvPr id="1036" name="21 · card sand: Timeout"/>
          <p:cNvGrpSpPr/>
          <p:nvPr/>
        </p:nvGrpSpPr>
        <p:grpSpPr>
          <a:xfrm>
            <a:off x="3590925" y="2486534"/>
            <a:ext cx="2212975" cy="961210"/>
            <a:chOff x="3590925" y="2486534"/>
            <a:chExt cx="2212975" cy="961210"/>
          </a:xfrm>
        </p:grpSpPr>
        <p:sp>
          <p:nvSpPr>
            <p:cNvPr id="1016" name="21 · failures-text-3: Timeout [p21-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Timeout</a:t>
              </a:r>
              <a:endParaRPr lang="en-US" sz="2000" b="1" i="0" kern="0" spc="-38" dirty="0">
                <a:solidFill>
                  <a:srgbClr val="022AC0"/>
                </a:solidFill>
                <a:latin typeface="Manrope"/>
                <a:ea typeface="Manrope"/>
                <a:cs typeface="Manrope"/>
              </a:endParaRPr>
            </a:p>
          </p:txBody>
        </p:sp>
        <p:sp>
          <p:nvSpPr>
            <p:cNvPr id="1017" name="21 · failures-text-4: Bound retries and retain every pending obligation. [p21-text-0016]" descr="Native editable Unicode text; authored line breaks retained."/>
            <p:cNvSpPr txBox="1"/>
            <p:nvPr/>
          </p:nvSpPr>
          <p:spPr>
            <a:xfrm>
              <a:off x="3590925" y="29364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retries and retain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every pending obligation.</a:t>
              </a:r>
              <a:endParaRPr lang="en-US" sz="1400" b="0" i="0" kern="0" spc="0" dirty="0">
                <a:solidFill>
                  <a:srgbClr val="032D60"/>
                </a:solidFill>
                <a:latin typeface="Salesforce Sans"/>
                <a:ea typeface="Salesforce Sans"/>
                <a:cs typeface="Salesforce Sans"/>
              </a:endParaRPr>
            </a:p>
          </p:txBody>
        </p:sp>
      </p:grpSp>
      <p:grpSp>
        <p:nvGrpSpPr>
          <p:cNvPr id="1037" name="21 · card blue: Unauthorized write"/>
          <p:cNvGrpSpPr/>
          <p:nvPr/>
        </p:nvGrpSpPr>
        <p:grpSpPr>
          <a:xfrm>
            <a:off x="6400800" y="2486534"/>
            <a:ext cx="2212975" cy="1513406"/>
            <a:chOff x="6400800" y="2486534"/>
            <a:chExt cx="2212975" cy="1513406"/>
          </a:xfrm>
        </p:grpSpPr>
        <p:sp>
          <p:nvSpPr>
            <p:cNvPr id="1018" name="21 · failures-text-5: Unauthorized write [p21-text-0017]" descr="Native editable Unicode text; authored line breaks retained."/>
            <p:cNvSpPr txBox="1"/>
            <p:nvPr/>
          </p:nvSpPr>
          <p:spPr>
            <a:xfrm>
              <a:off x="6400800" y="2486534"/>
              <a:ext cx="2212975"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Unauthorized</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write</a:t>
              </a:r>
              <a:endParaRPr lang="en-US" sz="2000" b="1" i="0" kern="0" spc="-38" dirty="0">
                <a:solidFill>
                  <a:srgbClr val="022AC0"/>
                </a:solidFill>
                <a:latin typeface="Manrope"/>
                <a:ea typeface="Manrope"/>
                <a:cs typeface="Manrope"/>
              </a:endParaRPr>
            </a:p>
          </p:txBody>
        </p:sp>
        <p:sp>
          <p:nvSpPr>
            <p:cNvPr id="1019" name="21 · failures-text-6: The service rejects the action under current policy. [p21-text-0018]" descr="Native editable Unicode text; authored line breaks retained."/>
            <p:cNvSpPr txBox="1"/>
            <p:nvPr/>
          </p:nvSpPr>
          <p:spPr>
            <a:xfrm>
              <a:off x="6400800" y="323616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service rejects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action under current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policy.</a:t>
              </a:r>
              <a:endParaRPr lang="en-US" sz="1400" b="0" i="0" kern="0" spc="0" dirty="0">
                <a:solidFill>
                  <a:srgbClr val="032D60"/>
                </a:solidFill>
                <a:latin typeface="Salesforce Sans"/>
                <a:ea typeface="Salesforce Sans"/>
                <a:cs typeface="Salesforce Sans"/>
              </a:endParaRPr>
            </a:p>
          </p:txBody>
        </p:sp>
      </p:grpSp>
      <p:grpSp>
        <p:nvGrpSpPr>
          <p:cNvPr id="1038" name="21 · card peach: Repeated write"/>
          <p:cNvGrpSpPr/>
          <p:nvPr/>
        </p:nvGrpSpPr>
        <p:grpSpPr>
          <a:xfrm>
            <a:off x="9210675" y="2486534"/>
            <a:ext cx="2212975" cy="1213686"/>
            <a:chOff x="9210675" y="2486534"/>
            <a:chExt cx="2212975" cy="1213686"/>
          </a:xfrm>
        </p:grpSpPr>
        <p:sp>
          <p:nvSpPr>
            <p:cNvPr id="1020" name="21 · failures-text-7: Repeated write [p21-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Repeated write</a:t>
              </a:r>
              <a:endParaRPr lang="en-US" sz="2000" b="1" i="0" kern="0" spc="-38" dirty="0">
                <a:solidFill>
                  <a:srgbClr val="022AC0"/>
                </a:solidFill>
                <a:latin typeface="Manrope"/>
                <a:ea typeface="Manrope"/>
                <a:cs typeface="Manrope"/>
              </a:endParaRPr>
            </a:p>
          </p:txBody>
        </p:sp>
        <p:sp>
          <p:nvSpPr>
            <p:cNvPr id="1021" name="21 · failures-text-8: Use transaction safeguards; record the actual result. [p21-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transaction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safeguards; record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actual result.</a:t>
              </a:r>
              <a:endParaRPr lang="en-US" sz="1400" b="0" i="0" kern="0" spc="0" dirty="0">
                <a:solidFill>
                  <a:srgbClr val="032D60"/>
                </a:solidFill>
                <a:latin typeface="Salesforce Sans"/>
                <a:ea typeface="Salesforce Sans"/>
                <a:cs typeface="Salesforce Sans"/>
              </a:endParaRPr>
            </a:p>
          </p:txBody>
        </p:sp>
      </p:grpSp>
      <p:sp>
        <p:nvSpPr>
          <p:cNvPr id="1022" name="21 · tag: CONTRACT FAILURE [p21-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CONTRACT FAILURE</a:t>
            </a:r>
            <a:endParaRPr lang="en-US" sz="1050" b="0" i="0" kern="0" spc="50" dirty="0">
              <a:solidFill>
                <a:srgbClr val="022AC0">
                  <a:alpha val="85000"/>
                </a:srgbClr>
              </a:solidFill>
              <a:latin typeface="IBM Plex Mono"/>
              <a:ea typeface="IBM Plex Mono"/>
              <a:cs typeface="IBM Plex Mono"/>
            </a:endParaRPr>
          </a:p>
        </p:txBody>
      </p:sp>
      <p:sp>
        <p:nvSpPr>
          <p:cNvPr id="1023" name="21 · tag: DEPENDENCY FAILURE [p21-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DEPENDENCY FAILURE</a:t>
            </a:r>
            <a:endParaRPr lang="en-US" sz="1050" b="0" i="0" kern="0" spc="50" dirty="0">
              <a:solidFill>
                <a:srgbClr val="022AC0">
                  <a:alpha val="85000"/>
                </a:srgbClr>
              </a:solidFill>
              <a:latin typeface="IBM Plex Mono"/>
              <a:ea typeface="IBM Plex Mono"/>
              <a:cs typeface="IBM Plex Mono"/>
            </a:endParaRPr>
          </a:p>
        </p:txBody>
      </p:sp>
      <p:sp>
        <p:nvSpPr>
          <p:cNvPr id="1024" name="21 · tag: AUTHORITY BOUNDARY [p21-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AUTHORITY BOUNDARY</a:t>
            </a:r>
            <a:endParaRPr lang="en-US" sz="1050" b="0" i="0" kern="0" spc="50" dirty="0">
              <a:solidFill>
                <a:srgbClr val="022AC0">
                  <a:alpha val="85000"/>
                </a:srgbClr>
              </a:solidFill>
              <a:latin typeface="IBM Plex Mono"/>
              <a:ea typeface="IBM Plex Mono"/>
              <a:cs typeface="IBM Plex Mono"/>
            </a:endParaRPr>
          </a:p>
        </p:txBody>
      </p:sp>
      <p:sp>
        <p:nvSpPr>
          <p:cNvPr id="1025" name="21 · tag: SIDE EFFECT [p21-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SIDE EFFECT</a:t>
            </a:r>
            <a:endParaRPr lang="en-US" sz="1050" b="0" i="0" kern="0" spc="50" dirty="0">
              <a:solidFill>
                <a:srgbClr val="022AC0">
                  <a:alpha val="85000"/>
                </a:srgbClr>
              </a:solidFill>
              <a:latin typeface="IBM Plex Mono"/>
              <a:ea typeface="IBM Plex Mono"/>
              <a:cs typeface="IBM Plex Mono"/>
            </a:endParaRPr>
          </a:p>
        </p:txBody>
      </p:sp>
      <p:grpSp>
        <p:nvGrpSpPr>
          <p:cNvPr id="1039" name="21 · source-line: Reliable enterprise agents · AgentScript specification"/>
          <p:cNvGrpSpPr/>
          <p:nvPr/>
        </p:nvGrpSpPr>
        <p:grpSpPr>
          <a:xfrm>
            <a:off x="558800" y="6037898"/>
            <a:ext cx="11087100" cy="284456"/>
            <a:chOff x="558800" y="6037898"/>
            <a:chExt cx="11087100" cy="284456"/>
          </a:xfrm>
        </p:grpSpPr>
        <p:sp>
          <p:nvSpPr>
            <p:cNvPr id="1026" name="21 · source-line · top border [p21-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21 · span: Reliable enterprise agents · AgentScript specification [p21-text-0025]" descr="Native editable Unicode text; authored line breaks retained."/>
            <p:cNvSpPr txBox="1"/>
            <p:nvPr/>
          </p:nvSpPr>
          <p:spPr>
            <a:xfrm>
              <a:off x="558800" y="6153126"/>
              <a:ext cx="29379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28" name="21 · span: Proposed failure behavior [p21-text-0026]" descr="Native editable Unicode text; authored line breaks retained."/>
            <p:cNvSpPr txBox="1"/>
            <p:nvPr/>
          </p:nvSpPr>
          <p:spPr>
            <a:xfrm>
              <a:off x="10200580" y="6153126"/>
              <a:ext cx="144532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failure behavior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Confidence needs evidence in your domain">
    <p:bg>
      <p:bgPr>
        <a:solidFill>
          <a:srgbClr val="FFFFFF"/>
        </a:solidFill>
      </p:bgPr>
    </p:bg>
    <p:spTree>
      <p:nvGrpSpPr>
        <p:cNvPr id="1" name=""/>
        <p:cNvGrpSpPr/>
        <p:nvPr/>
      </p:nvGrpSpPr>
      <p:grpSpPr>
        <a:xfrm>
          <a:off x="0" y="0"/>
          <a:ext cx="0" cy="0"/>
          <a:chOff x="0" y="0"/>
          <a:chExt cx="0" cy="0"/>
        </a:xfrm>
      </p:grpSpPr>
      <p:sp>
        <p:nvSpPr>
          <p:cNvPr id="1000" name="22 · slide light · surface [p2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4" name="22 · chrome-min: DISAGGREGATED INTELLIGENCE"/>
          <p:cNvGrpSpPr/>
          <p:nvPr/>
        </p:nvGrpSpPr>
        <p:grpSpPr>
          <a:xfrm>
            <a:off x="558800" y="356053"/>
            <a:ext cx="11087100" cy="187325"/>
            <a:chOff x="558800" y="356053"/>
            <a:chExt cx="11087100" cy="187325"/>
          </a:xfrm>
        </p:grpSpPr>
        <p:sp>
          <p:nvSpPr>
            <p:cNvPr id="1001" name="22 · l: DISAGGREGATED INTELLIGENCE [p2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2 · r: 22 / 36 [p2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22 / 36</a:t>
              </a:r>
              <a:endParaRPr lang="en-US" sz="950" b="1" i="0" kern="0" spc="65" dirty="0">
                <a:solidFill>
                  <a:srgbClr val="022AC0"/>
                </a:solidFill>
                <a:latin typeface="Salesforce Sans"/>
                <a:ea typeface="Salesforce Sans"/>
                <a:cs typeface="Salesforce Sans"/>
              </a:endParaRPr>
            </a:p>
          </p:txBody>
        </p:sp>
      </p:grpSp>
      <p:grpSp>
        <p:nvGrpSpPr>
          <p:cNvPr id="1025" name="22 · deck-head: 06 / INSPECT THE SIGNAL"/>
          <p:cNvGrpSpPr/>
          <p:nvPr/>
        </p:nvGrpSpPr>
        <p:grpSpPr>
          <a:xfrm>
            <a:off x="558800" y="775901"/>
            <a:ext cx="11087100" cy="871263"/>
            <a:chOff x="558800" y="775901"/>
            <a:chExt cx="11087100" cy="871263"/>
          </a:xfrm>
        </p:grpSpPr>
        <p:sp>
          <p:nvSpPr>
            <p:cNvPr id="1003" name="22 · confidence-eyebrow: 06 / INSPECT THE SIGNAL [p2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INSPECT THE SIGNAL</a:t>
              </a:r>
              <a:endParaRPr lang="en-US" sz="1050" b="1" i="0" kern="0" spc="68" dirty="0">
                <a:solidFill>
                  <a:srgbClr val="022AC0"/>
                </a:solidFill>
                <a:latin typeface="Salesforce Sans"/>
                <a:ea typeface="Salesforce Sans"/>
                <a:cs typeface="Salesforce Sans"/>
              </a:endParaRPr>
            </a:p>
          </p:txBody>
        </p:sp>
        <p:sp>
          <p:nvSpPr>
            <p:cNvPr id="1004" name="22 · confidence-title: Confidence needs evidence in your domain [p2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Confidence needs evidence in your domain</a:t>
              </a:r>
              <a:endParaRPr lang="en-US" sz="3600" b="1" i="0" kern="0" spc="-95" dirty="0">
                <a:solidFill>
                  <a:srgbClr val="022AC0"/>
                </a:solidFill>
                <a:latin typeface="Manrope"/>
                <a:ea typeface="Manrope"/>
                <a:cs typeface="Manrope"/>
              </a:endParaRPr>
            </a:p>
          </p:txBody>
        </p:sp>
      </p:grpSp>
      <p:sp>
        <p:nvSpPr>
          <p:cNvPr id="1005" name="22 · div · surface [p22-e0008]"/>
          <p:cNvSpPr/>
          <p:nvPr/>
        </p:nvSpPr>
        <p:spPr>
          <a:xfrm>
            <a:off x="558800" y="2674620"/>
            <a:ext cx="920750" cy="1270000"/>
          </a:xfrm>
          <a:prstGeom prst="rect">
            <a:avLst/>
          </a:prstGeom>
          <a:solidFill>
            <a:srgbClr val="EAE6FA"/>
          </a:solidFill>
          <a:ln>
            <a:noFill/>
          </a:ln>
        </p:spPr>
      </p:sp>
      <p:sp>
        <p:nvSpPr>
          <p:cNvPr id="1006" name="22 · div · surface [p22-e0009]"/>
          <p:cNvSpPr/>
          <p:nvPr/>
        </p:nvSpPr>
        <p:spPr>
          <a:xfrm>
            <a:off x="1631950" y="3627120"/>
            <a:ext cx="920750" cy="317500"/>
          </a:xfrm>
          <a:prstGeom prst="rect">
            <a:avLst/>
          </a:prstGeom>
          <a:solidFill>
            <a:srgbClr val="EAE6FA"/>
          </a:solidFill>
          <a:ln>
            <a:noFill/>
          </a:ln>
        </p:spPr>
      </p:sp>
      <p:sp>
        <p:nvSpPr>
          <p:cNvPr id="1007" name="22 · div · surface [p22-e0010]"/>
          <p:cNvSpPr/>
          <p:nvPr/>
        </p:nvSpPr>
        <p:spPr>
          <a:xfrm>
            <a:off x="2705100" y="3741420"/>
            <a:ext cx="920750" cy="203200"/>
          </a:xfrm>
          <a:prstGeom prst="rect">
            <a:avLst/>
          </a:prstGeom>
          <a:solidFill>
            <a:srgbClr val="EAE6FA"/>
          </a:solidFill>
          <a:ln>
            <a:noFill/>
          </a:ln>
        </p:spPr>
      </p:sp>
      <p:grpSp>
        <p:nvGrpSpPr>
          <p:cNvPr id="1026" name="22 · card mint: "/>
          <p:cNvGrpSpPr/>
          <p:nvPr/>
        </p:nvGrpSpPr>
        <p:grpSpPr>
          <a:xfrm>
            <a:off x="6426200" y="1930400"/>
            <a:ext cx="5105400" cy="2046097"/>
            <a:chOff x="6426200" y="1930400"/>
            <a:chExt cx="5105400" cy="2046097"/>
          </a:xfrm>
        </p:grpSpPr>
        <p:sp>
          <p:nvSpPr>
            <p:cNvPr id="1008" name="22 · card mint · surface [p22-e0011]"/>
            <p:cNvSpPr/>
            <p:nvPr/>
          </p:nvSpPr>
          <p:spPr>
            <a:xfrm>
              <a:off x="6426200" y="1930400"/>
              <a:ext cx="5105400" cy="2046097"/>
            </a:xfrm>
            <a:prstGeom prst="roundRect">
              <a:avLst>
                <a:gd name="adj" fmla="val 6828"/>
              </a:avLst>
            </a:prstGeom>
            <a:solidFill>
              <a:srgbClr val="DDF3ED"/>
            </a:solidFill>
            <a:ln>
              <a:noFill/>
            </a:ln>
          </p:spPr>
        </p:sp>
        <p:sp>
          <p:nvSpPr>
            <p:cNvPr id="1009" name="22 · card mint · outline [p22-e0011]"/>
            <p:cNvSpPr/>
            <p:nvPr/>
          </p:nvSpPr>
          <p:spPr>
            <a:xfrm>
              <a:off x="6429375" y="1933575"/>
              <a:ext cx="5099050" cy="2039747"/>
            </a:xfrm>
            <a:prstGeom prst="roundRect">
              <a:avLst>
                <a:gd name="adj" fmla="val 6693"/>
              </a:avLst>
            </a:prstGeom>
            <a:noFill/>
            <a:ln w="6350" algn="ctr">
              <a:solidFill>
                <a:srgbClr val="FFFFFF">
                  <a:alpha val="85098"/>
                </a:srgbClr>
              </a:solidFill>
              <a:prstDash val="solid"/>
            </a:ln>
          </p:spPr>
        </p:sp>
      </p:grpSp>
      <p:grpSp>
        <p:nvGrpSpPr>
          <p:cNvPr id="1027" name="22 · card blue: "/>
          <p:cNvGrpSpPr/>
          <p:nvPr/>
        </p:nvGrpSpPr>
        <p:grpSpPr>
          <a:xfrm>
            <a:off x="6426200" y="4128897"/>
            <a:ext cx="5105400" cy="1000252"/>
            <a:chOff x="6426200" y="4128897"/>
            <a:chExt cx="5105400" cy="1000252"/>
          </a:xfrm>
        </p:grpSpPr>
        <p:sp>
          <p:nvSpPr>
            <p:cNvPr id="1010" name="22 · card blue · surface [p22-e0012]"/>
            <p:cNvSpPr/>
            <p:nvPr/>
          </p:nvSpPr>
          <p:spPr>
            <a:xfrm>
              <a:off x="6426200" y="4128897"/>
              <a:ext cx="5105400" cy="1000252"/>
            </a:xfrm>
            <a:prstGeom prst="roundRect">
              <a:avLst>
                <a:gd name="adj" fmla="val 13966"/>
              </a:avLst>
            </a:prstGeom>
            <a:solidFill>
              <a:srgbClr val="DCEEFE"/>
            </a:solidFill>
            <a:ln>
              <a:noFill/>
            </a:ln>
          </p:spPr>
        </p:sp>
        <p:sp>
          <p:nvSpPr>
            <p:cNvPr id="1011" name="22 · card blue · outline [p22-e0012]"/>
            <p:cNvSpPr/>
            <p:nvPr/>
          </p:nvSpPr>
          <p:spPr>
            <a:xfrm>
              <a:off x="6429375" y="4132072"/>
              <a:ext cx="5099050" cy="993902"/>
            </a:xfrm>
            <a:prstGeom prst="roundRect">
              <a:avLst>
                <a:gd name="adj" fmla="val 13736"/>
              </a:avLst>
            </a:prstGeom>
            <a:noFill/>
            <a:ln w="6350" algn="ctr">
              <a:solidFill>
                <a:srgbClr val="FFFFFF">
                  <a:alpha val="85098"/>
                </a:srgbClr>
              </a:solidFill>
              <a:prstDash val="solid"/>
            </a:ln>
          </p:spPr>
        </p:sp>
      </p:grpSp>
      <p:sp>
        <p:nvSpPr>
          <p:cNvPr id="1012" name="22 · confidence-text-1: A concentrated distribution [p22-text-0013]"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 concentrated distribution</a:t>
            </a:r>
            <a:endParaRPr lang="en-US" sz="2000" b="1" i="0" kern="0" spc="-38" dirty="0">
              <a:solidFill>
                <a:srgbClr val="022AC0"/>
              </a:solidFill>
              <a:latin typeface="Manrope"/>
              <a:ea typeface="Manrope"/>
              <a:cs typeface="Manrope"/>
            </a:endParaRPr>
          </a:p>
        </p:txBody>
      </p:sp>
      <p:sp>
        <p:nvSpPr>
          <p:cNvPr id="1013" name="22 · div: Return [p22-text-0014]" descr="Native editable Unicode text; authored line breaks retained."/>
          <p:cNvSpPr txBox="1"/>
          <p:nvPr/>
        </p:nvSpPr>
        <p:spPr>
          <a:xfrm>
            <a:off x="660400" y="3655782"/>
            <a:ext cx="46808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Return</a:t>
            </a:r>
            <a:endParaRPr lang="en-US" sz="1150" b="0" i="0" kern="0" spc="0" dirty="0">
              <a:solidFill>
                <a:srgbClr val="032D60"/>
              </a:solidFill>
              <a:latin typeface="Salesforce Sans"/>
              <a:ea typeface="Salesforce Sans"/>
              <a:cs typeface="Salesforce Sans"/>
            </a:endParaRPr>
          </a:p>
        </p:txBody>
      </p:sp>
      <p:sp>
        <p:nvSpPr>
          <p:cNvPr id="1014" name="22 · div: Exchange [p22-text-0015]" descr="Native editable Unicode text; authored line breaks retained."/>
          <p:cNvSpPr txBox="1"/>
          <p:nvPr/>
        </p:nvSpPr>
        <p:spPr>
          <a:xfrm>
            <a:off x="1733550" y="3655782"/>
            <a:ext cx="660865"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Exchange</a:t>
            </a:r>
            <a:endParaRPr lang="en-US" sz="1150" b="0" i="0" kern="0" spc="0" dirty="0">
              <a:solidFill>
                <a:srgbClr val="032D60"/>
              </a:solidFill>
              <a:latin typeface="Salesforce Sans"/>
              <a:ea typeface="Salesforce Sans"/>
              <a:cs typeface="Salesforce Sans"/>
            </a:endParaRPr>
          </a:p>
        </p:txBody>
      </p:sp>
      <p:sp>
        <p:nvSpPr>
          <p:cNvPr id="1015" name="22 · div: Other [p22-text-0016]" descr="Native editable Unicode text; authored line breaks retained."/>
          <p:cNvSpPr txBox="1"/>
          <p:nvPr/>
        </p:nvSpPr>
        <p:spPr>
          <a:xfrm>
            <a:off x="2806700" y="3655782"/>
            <a:ext cx="408496"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Other</a:t>
            </a:r>
            <a:endParaRPr lang="en-US" sz="1150" b="0" i="0" kern="0" spc="0" dirty="0">
              <a:solidFill>
                <a:srgbClr val="032D60"/>
              </a:solidFill>
              <a:latin typeface="Salesforce Sans"/>
              <a:ea typeface="Salesforce Sans"/>
              <a:cs typeface="Salesforce Sans"/>
            </a:endParaRPr>
          </a:p>
        </p:txBody>
      </p:sp>
      <p:sp>
        <p:nvSpPr>
          <p:cNvPr id="1016" name="22 · confidence-text-2: Illustrative output shape. The highest option can still be wrong. [p22-text-0017]" descr="Native editable Unicode text; authored line breaks retained."/>
          <p:cNvSpPr txBox="1"/>
          <p:nvPr/>
        </p:nvSpPr>
        <p:spPr>
          <a:xfrm>
            <a:off x="558800" y="421195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Illustrative output shape.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highest option can still be wrong.</a:t>
            </a:r>
            <a:endParaRPr lang="en-US" sz="1250" b="0" i="0" kern="0" spc="0" dirty="0">
              <a:solidFill>
                <a:srgbClr val="032D60"/>
              </a:solidFill>
              <a:latin typeface="Salesforce Sans"/>
              <a:ea typeface="Salesforce Sans"/>
              <a:cs typeface="Salesforce Sans"/>
            </a:endParaRPr>
          </a:p>
        </p:txBody>
      </p:sp>
      <p:grpSp>
        <p:nvGrpSpPr>
          <p:cNvPr id="1028" name="22 · card mint: Compare signals with adjudicated labels."/>
          <p:cNvGrpSpPr/>
          <p:nvPr/>
        </p:nvGrpSpPr>
        <p:grpSpPr>
          <a:xfrm>
            <a:off x="6648450" y="2486534"/>
            <a:ext cx="4673600" cy="1260930"/>
            <a:chOff x="6648450" y="2486534"/>
            <a:chExt cx="4673600" cy="1260930"/>
          </a:xfrm>
        </p:grpSpPr>
        <p:sp>
          <p:nvSpPr>
            <p:cNvPr id="1017" name="22 · confidence-text-3: Compare signals with adjudicated labels. [p22-text-0018]" descr="Native editable Unicode text; authored line breaks retained."/>
            <p:cNvSpPr txBox="1"/>
            <p:nvPr/>
          </p:nvSpPr>
          <p:spPr>
            <a:xfrm>
              <a:off x="6648450" y="2486534"/>
              <a:ext cx="4673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Compare signals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with adjudicated labels.</a:t>
              </a:r>
              <a:endParaRPr lang="en-US" sz="2000" b="1" i="0" kern="0" spc="-38" dirty="0">
                <a:solidFill>
                  <a:srgbClr val="022AC0"/>
                </a:solidFill>
                <a:latin typeface="Manrope"/>
                <a:ea typeface="Manrope"/>
                <a:cs typeface="Manrope"/>
              </a:endParaRPr>
            </a:p>
          </p:txBody>
        </p:sp>
        <p:sp>
          <p:nvSpPr>
            <p:cNvPr id="1018" name="22 · confidence-text-4: Choose gates on development data. Report error alongside coverage. [p22-text-0019]" descr="Native editable Unicode text; authored line breaks retained."/>
            <p:cNvSpPr txBox="1"/>
            <p:nvPr/>
          </p:nvSpPr>
          <p:spPr>
            <a:xfrm>
              <a:off x="6648450" y="323616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Choose gates on development data.</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Report error alongside coverage.</a:t>
              </a:r>
              <a:endParaRPr lang="en-US" sz="1400" b="0" i="0" kern="0" spc="0" dirty="0">
                <a:solidFill>
                  <a:srgbClr val="032D60"/>
                </a:solidFill>
                <a:latin typeface="Salesforce Sans"/>
                <a:ea typeface="Salesforce Sans"/>
                <a:cs typeface="Salesforce Sans"/>
              </a:endParaRPr>
            </a:p>
          </p:txBody>
        </p:sp>
      </p:grpSp>
      <p:sp>
        <p:nvSpPr>
          <p:cNvPr id="1019" name="22 · confidence-text-5: Identity, permissions, and policy remain separate checks. [p22-text-0020]" descr="Native editable Unicode text; authored line breaks retained."/>
          <p:cNvSpPr txBox="1"/>
          <p:nvPr/>
        </p:nvSpPr>
        <p:spPr>
          <a:xfrm>
            <a:off x="6648450" y="4388814"/>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permissions, and policy</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remain separate checks.</a:t>
            </a:r>
            <a:endParaRPr lang="en-US" sz="1400" b="0" i="0" kern="0" spc="0" dirty="0">
              <a:solidFill>
                <a:srgbClr val="032D60"/>
              </a:solidFill>
              <a:latin typeface="Salesforce Sans"/>
              <a:ea typeface="Salesforce Sans"/>
              <a:cs typeface="Salesforce Sans"/>
            </a:endParaRPr>
          </a:p>
        </p:txBody>
      </p:sp>
      <p:sp>
        <p:nvSpPr>
          <p:cNvPr id="1020" name="22 · tag: VALIDATE LOCALLY [p22-text-0021]"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VALIDATE LOCALLY</a:t>
            </a:r>
            <a:endParaRPr lang="en-US" sz="1050" b="0" i="0" kern="0" spc="50" dirty="0">
              <a:solidFill>
                <a:srgbClr val="022AC0">
                  <a:alpha val="85000"/>
                </a:srgbClr>
              </a:solidFill>
              <a:latin typeface="IBM Plex Mono"/>
              <a:ea typeface="IBM Plex Mono"/>
              <a:cs typeface="IBM Plex Mono"/>
            </a:endParaRPr>
          </a:p>
        </p:txBody>
      </p:sp>
      <p:grpSp>
        <p:nvGrpSpPr>
          <p:cNvPr id="1029" name="22 · source-line: Confidence routing · Confidence semantics"/>
          <p:cNvGrpSpPr/>
          <p:nvPr/>
        </p:nvGrpSpPr>
        <p:grpSpPr>
          <a:xfrm>
            <a:off x="558800" y="6037898"/>
            <a:ext cx="11087100" cy="284456"/>
            <a:chOff x="558800" y="6037898"/>
            <a:chExt cx="11087100" cy="284456"/>
          </a:xfrm>
        </p:grpSpPr>
        <p:sp>
          <p:nvSpPr>
            <p:cNvPr id="1021" name="22 · source-line · top border [p2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2" name="22 · span: Confidence routing · Confidence semantics [p22-text-0022]"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23" name="22 · span: Illustrative distribution; no calibration claim [p22-text-0023]" descr="Native editable Unicode text; authored line breaks retained."/>
            <p:cNvSpPr txBox="1"/>
            <p:nvPr/>
          </p:nvSpPr>
          <p:spPr>
            <a:xfrm>
              <a:off x="9200964" y="6153126"/>
              <a:ext cx="244493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distribution; no calibration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A stricter gate moves work somewhere">
    <p:bg>
      <p:bgPr>
        <a:solidFill>
          <a:srgbClr val="FFFFFF"/>
        </a:solidFill>
      </p:bgPr>
    </p:bg>
    <p:spTree>
      <p:nvGrpSpPr>
        <p:cNvPr id="1" name=""/>
        <p:cNvGrpSpPr/>
        <p:nvPr/>
      </p:nvGrpSpPr>
      <p:grpSpPr>
        <a:xfrm>
          <a:off x="0" y="0"/>
          <a:ext cx="0" cy="0"/>
          <a:chOff x="0" y="0"/>
          <a:chExt cx="0" cy="0"/>
        </a:xfrm>
      </p:grpSpPr>
      <p:sp>
        <p:nvSpPr>
          <p:cNvPr id="1000" name="23 · slide light · surface [p2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70" name="23 · chrome-min: DISAGGREGATED INTELLIGENCE"/>
          <p:cNvGrpSpPr/>
          <p:nvPr/>
        </p:nvGrpSpPr>
        <p:grpSpPr>
          <a:xfrm>
            <a:off x="558800" y="356053"/>
            <a:ext cx="11087100" cy="187325"/>
            <a:chOff x="558800" y="356053"/>
            <a:chExt cx="11087100" cy="187325"/>
          </a:xfrm>
        </p:grpSpPr>
        <p:sp>
          <p:nvSpPr>
            <p:cNvPr id="1001" name="23 · l: DISAGGREGATED INTELLIGENCE [p23-text-003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3 · r: 23 / 36 [p23-text-003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23 / 36</a:t>
              </a:r>
              <a:endParaRPr lang="en-US" sz="950" b="1" i="0" kern="0" spc="65" dirty="0">
                <a:solidFill>
                  <a:srgbClr val="022AC0"/>
                </a:solidFill>
                <a:latin typeface="Salesforce Sans"/>
                <a:ea typeface="Salesforce Sans"/>
                <a:cs typeface="Salesforce Sans"/>
              </a:endParaRPr>
            </a:p>
          </p:txBody>
        </p:sp>
      </p:grpSp>
      <p:grpSp>
        <p:nvGrpSpPr>
          <p:cNvPr id="1071" name="23 · deck-head: 06 / INTERACTIVE OPERATING POINT"/>
          <p:cNvGrpSpPr/>
          <p:nvPr/>
        </p:nvGrpSpPr>
        <p:grpSpPr>
          <a:xfrm>
            <a:off x="558800" y="775901"/>
            <a:ext cx="11087100" cy="871263"/>
            <a:chOff x="558800" y="775901"/>
            <a:chExt cx="11087100" cy="871263"/>
          </a:xfrm>
        </p:grpSpPr>
        <p:sp>
          <p:nvSpPr>
            <p:cNvPr id="1003" name="23 · gate-eyebrow: 06 / INTERACTIVE OPERATING POINT [p23-text-003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OPERATING POINT</a:t>
              </a:r>
              <a:endParaRPr lang="en-US" sz="1050" b="1" i="0" kern="0" spc="68" dirty="0">
                <a:solidFill>
                  <a:srgbClr val="022AC0"/>
                </a:solidFill>
                <a:latin typeface="Salesforce Sans"/>
                <a:ea typeface="Salesforce Sans"/>
                <a:cs typeface="Salesforce Sans"/>
              </a:endParaRPr>
            </a:p>
          </p:txBody>
        </p:sp>
        <p:sp>
          <p:nvSpPr>
            <p:cNvPr id="1004" name="23 · gate-title: A stricter gate moves work somewhere [p23-text-003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stricter gate moves work somewhere</a:t>
              </a:r>
              <a:endParaRPr lang="en-US" sz="3600" b="1" i="0" kern="0" spc="-95" dirty="0">
                <a:solidFill>
                  <a:srgbClr val="022AC0"/>
                </a:solidFill>
                <a:latin typeface="Manrope"/>
                <a:ea typeface="Manrope"/>
                <a:cs typeface="Manrope"/>
              </a:endParaRPr>
            </a:p>
          </p:txBody>
        </p:sp>
      </p:grpSp>
      <p:grpSp>
        <p:nvGrpSpPr>
          <p:cNvPr id="1072" name="23 · sample wrong: "/>
          <p:cNvGrpSpPr/>
          <p:nvPr/>
        </p:nvGrpSpPr>
        <p:grpSpPr>
          <a:xfrm>
            <a:off x="558800" y="2458720"/>
            <a:ext cx="1222375" cy="469900"/>
            <a:chOff x="558800" y="2458720"/>
            <a:chExt cx="1222375" cy="469900"/>
          </a:xfrm>
        </p:grpSpPr>
        <p:sp>
          <p:nvSpPr>
            <p:cNvPr id="1005" name="23 · sample wrong · surface [p23-e0008]"/>
            <p:cNvSpPr/>
            <p:nvPr/>
          </p:nvSpPr>
          <p:spPr>
            <a:xfrm>
              <a:off x="558800" y="2458720"/>
              <a:ext cx="1222375" cy="469900"/>
            </a:xfrm>
            <a:prstGeom prst="roundRect">
              <a:avLst>
                <a:gd name="adj" fmla="val 16216"/>
              </a:avLst>
            </a:prstGeom>
            <a:solidFill>
              <a:srgbClr val="FFFFFF">
                <a:alpha val="76078"/>
              </a:srgbClr>
            </a:solidFill>
            <a:ln>
              <a:noFill/>
            </a:ln>
          </p:spPr>
        </p:sp>
        <p:sp>
          <p:nvSpPr>
            <p:cNvPr id="1006" name="23 · i · surface [p23-e0009]"/>
            <p:cNvSpPr/>
            <p:nvPr/>
          </p:nvSpPr>
          <p:spPr>
            <a:xfrm>
              <a:off x="666750" y="2579370"/>
              <a:ext cx="228600" cy="228600"/>
            </a:xfrm>
            <a:prstGeom prst="ellipse">
              <a:avLst/>
            </a:prstGeom>
            <a:solidFill>
              <a:srgbClr val="E6B3A5"/>
            </a:solidFill>
            <a:ln>
              <a:noFill/>
            </a:ln>
          </p:spPr>
        </p:sp>
      </p:grpSp>
      <p:grpSp>
        <p:nvGrpSpPr>
          <p:cNvPr id="1073" name="23 · sample: "/>
          <p:cNvGrpSpPr/>
          <p:nvPr/>
        </p:nvGrpSpPr>
        <p:grpSpPr>
          <a:xfrm>
            <a:off x="1895475" y="2458720"/>
            <a:ext cx="1222375" cy="469900"/>
            <a:chOff x="1895475" y="2458720"/>
            <a:chExt cx="1222375" cy="469900"/>
          </a:xfrm>
        </p:grpSpPr>
        <p:sp>
          <p:nvSpPr>
            <p:cNvPr id="1007" name="23 · sample · surface [p23-e0010]"/>
            <p:cNvSpPr/>
            <p:nvPr/>
          </p:nvSpPr>
          <p:spPr>
            <a:xfrm>
              <a:off x="1895475" y="2458720"/>
              <a:ext cx="1222375" cy="469900"/>
            </a:xfrm>
            <a:prstGeom prst="roundRect">
              <a:avLst>
                <a:gd name="adj" fmla="val 16216"/>
              </a:avLst>
            </a:prstGeom>
            <a:solidFill>
              <a:srgbClr val="FFFFFF">
                <a:alpha val="76078"/>
              </a:srgbClr>
            </a:solidFill>
            <a:ln>
              <a:noFill/>
            </a:ln>
          </p:spPr>
        </p:sp>
        <p:sp>
          <p:nvSpPr>
            <p:cNvPr id="1008" name="23 · i · surface [p23-e0011]"/>
            <p:cNvSpPr/>
            <p:nvPr/>
          </p:nvSpPr>
          <p:spPr>
            <a:xfrm>
              <a:off x="2003425" y="2579370"/>
              <a:ext cx="228600" cy="228600"/>
            </a:xfrm>
            <a:prstGeom prst="ellipse">
              <a:avLst/>
            </a:prstGeom>
            <a:solidFill>
              <a:srgbClr val="B1D6C4"/>
            </a:solidFill>
            <a:ln>
              <a:noFill/>
            </a:ln>
          </p:spPr>
        </p:sp>
      </p:grpSp>
      <p:grpSp>
        <p:nvGrpSpPr>
          <p:cNvPr id="1074" name="23 · sample: "/>
          <p:cNvGrpSpPr/>
          <p:nvPr/>
        </p:nvGrpSpPr>
        <p:grpSpPr>
          <a:xfrm>
            <a:off x="3232150" y="2458720"/>
            <a:ext cx="1222375" cy="469900"/>
            <a:chOff x="3232150" y="2458720"/>
            <a:chExt cx="1222375" cy="469900"/>
          </a:xfrm>
        </p:grpSpPr>
        <p:sp>
          <p:nvSpPr>
            <p:cNvPr id="1009" name="23 · sample · surface [p23-e0012]"/>
            <p:cNvSpPr/>
            <p:nvPr/>
          </p:nvSpPr>
          <p:spPr>
            <a:xfrm>
              <a:off x="3232150" y="2458720"/>
              <a:ext cx="1222375" cy="469900"/>
            </a:xfrm>
            <a:prstGeom prst="roundRect">
              <a:avLst>
                <a:gd name="adj" fmla="val 16216"/>
              </a:avLst>
            </a:prstGeom>
            <a:solidFill>
              <a:srgbClr val="FFFFFF">
                <a:alpha val="76078"/>
              </a:srgbClr>
            </a:solidFill>
            <a:ln>
              <a:noFill/>
            </a:ln>
          </p:spPr>
        </p:sp>
        <p:sp>
          <p:nvSpPr>
            <p:cNvPr id="1010" name="23 · i · surface [p23-e0013]"/>
            <p:cNvSpPr/>
            <p:nvPr/>
          </p:nvSpPr>
          <p:spPr>
            <a:xfrm>
              <a:off x="3340100" y="2579370"/>
              <a:ext cx="228600" cy="228600"/>
            </a:xfrm>
            <a:prstGeom prst="ellipse">
              <a:avLst/>
            </a:prstGeom>
            <a:solidFill>
              <a:srgbClr val="B1D6C4"/>
            </a:solidFill>
            <a:ln>
              <a:noFill/>
            </a:ln>
          </p:spPr>
        </p:sp>
      </p:grpSp>
      <p:grpSp>
        <p:nvGrpSpPr>
          <p:cNvPr id="1075" name="23 · sample: "/>
          <p:cNvGrpSpPr/>
          <p:nvPr/>
        </p:nvGrpSpPr>
        <p:grpSpPr>
          <a:xfrm>
            <a:off x="4568825" y="2458720"/>
            <a:ext cx="1222375" cy="469900"/>
            <a:chOff x="4568825" y="2458720"/>
            <a:chExt cx="1222375" cy="469900"/>
          </a:xfrm>
        </p:grpSpPr>
        <p:sp>
          <p:nvSpPr>
            <p:cNvPr id="1011" name="23 · sample · surface [p23-e0014]"/>
            <p:cNvSpPr/>
            <p:nvPr/>
          </p:nvSpPr>
          <p:spPr>
            <a:xfrm>
              <a:off x="4568825" y="2458720"/>
              <a:ext cx="1222375" cy="469900"/>
            </a:xfrm>
            <a:prstGeom prst="roundRect">
              <a:avLst>
                <a:gd name="adj" fmla="val 16216"/>
              </a:avLst>
            </a:prstGeom>
            <a:solidFill>
              <a:srgbClr val="FFFFFF">
                <a:alpha val="76078"/>
              </a:srgbClr>
            </a:solidFill>
            <a:ln>
              <a:noFill/>
            </a:ln>
          </p:spPr>
        </p:sp>
        <p:sp>
          <p:nvSpPr>
            <p:cNvPr id="1012" name="23 · i · surface [p23-e0015]"/>
            <p:cNvSpPr/>
            <p:nvPr/>
          </p:nvSpPr>
          <p:spPr>
            <a:xfrm>
              <a:off x="4676775" y="2579370"/>
              <a:ext cx="228600" cy="228600"/>
            </a:xfrm>
            <a:prstGeom prst="ellipse">
              <a:avLst/>
            </a:prstGeom>
            <a:solidFill>
              <a:srgbClr val="B1D6C4"/>
            </a:solidFill>
            <a:ln>
              <a:noFill/>
            </a:ln>
          </p:spPr>
        </p:sp>
      </p:grpSp>
      <p:grpSp>
        <p:nvGrpSpPr>
          <p:cNvPr id="1076" name="23 · sample wrong: "/>
          <p:cNvGrpSpPr/>
          <p:nvPr/>
        </p:nvGrpSpPr>
        <p:grpSpPr>
          <a:xfrm>
            <a:off x="558800" y="3042920"/>
            <a:ext cx="1222375" cy="469900"/>
            <a:chOff x="558800" y="3042920"/>
            <a:chExt cx="1222375" cy="469900"/>
          </a:xfrm>
        </p:grpSpPr>
        <p:sp>
          <p:nvSpPr>
            <p:cNvPr id="1013" name="23 · sample wrong · surface [p23-e0016]"/>
            <p:cNvSpPr/>
            <p:nvPr/>
          </p:nvSpPr>
          <p:spPr>
            <a:xfrm>
              <a:off x="558800" y="3042920"/>
              <a:ext cx="1222375" cy="469900"/>
            </a:xfrm>
            <a:prstGeom prst="roundRect">
              <a:avLst>
                <a:gd name="adj" fmla="val 16216"/>
              </a:avLst>
            </a:prstGeom>
            <a:solidFill>
              <a:srgbClr val="FFFFFF">
                <a:alpha val="76078"/>
              </a:srgbClr>
            </a:solidFill>
            <a:ln>
              <a:noFill/>
            </a:ln>
          </p:spPr>
        </p:sp>
        <p:sp>
          <p:nvSpPr>
            <p:cNvPr id="1014" name="23 · i · surface [p23-e0017]"/>
            <p:cNvSpPr/>
            <p:nvPr/>
          </p:nvSpPr>
          <p:spPr>
            <a:xfrm>
              <a:off x="666750" y="3163570"/>
              <a:ext cx="228600" cy="228600"/>
            </a:xfrm>
            <a:prstGeom prst="ellipse">
              <a:avLst/>
            </a:prstGeom>
            <a:solidFill>
              <a:srgbClr val="E6B3A5"/>
            </a:solidFill>
            <a:ln>
              <a:noFill/>
            </a:ln>
          </p:spPr>
        </p:sp>
      </p:grpSp>
      <p:grpSp>
        <p:nvGrpSpPr>
          <p:cNvPr id="1077" name="23 · sample: "/>
          <p:cNvGrpSpPr/>
          <p:nvPr/>
        </p:nvGrpSpPr>
        <p:grpSpPr>
          <a:xfrm>
            <a:off x="1895475" y="3042920"/>
            <a:ext cx="1222375" cy="469900"/>
            <a:chOff x="1895475" y="3042920"/>
            <a:chExt cx="1222375" cy="469900"/>
          </a:xfrm>
        </p:grpSpPr>
        <p:sp>
          <p:nvSpPr>
            <p:cNvPr id="1015" name="23 · sample · surface [p23-e0018]"/>
            <p:cNvSpPr/>
            <p:nvPr/>
          </p:nvSpPr>
          <p:spPr>
            <a:xfrm>
              <a:off x="1895475" y="3042920"/>
              <a:ext cx="1222375" cy="469900"/>
            </a:xfrm>
            <a:prstGeom prst="roundRect">
              <a:avLst>
                <a:gd name="adj" fmla="val 16216"/>
              </a:avLst>
            </a:prstGeom>
            <a:solidFill>
              <a:srgbClr val="FFFFFF">
                <a:alpha val="76078"/>
              </a:srgbClr>
            </a:solidFill>
            <a:ln>
              <a:noFill/>
            </a:ln>
          </p:spPr>
        </p:sp>
        <p:sp>
          <p:nvSpPr>
            <p:cNvPr id="1016" name="23 · i · surface [p23-e0019]"/>
            <p:cNvSpPr/>
            <p:nvPr/>
          </p:nvSpPr>
          <p:spPr>
            <a:xfrm>
              <a:off x="2003425" y="3163570"/>
              <a:ext cx="228600" cy="228600"/>
            </a:xfrm>
            <a:prstGeom prst="ellipse">
              <a:avLst/>
            </a:prstGeom>
            <a:solidFill>
              <a:srgbClr val="B1D6C4"/>
            </a:solidFill>
            <a:ln>
              <a:noFill/>
            </a:ln>
          </p:spPr>
        </p:sp>
      </p:grpSp>
      <p:grpSp>
        <p:nvGrpSpPr>
          <p:cNvPr id="1078" name="23 · sample: "/>
          <p:cNvGrpSpPr/>
          <p:nvPr/>
        </p:nvGrpSpPr>
        <p:grpSpPr>
          <a:xfrm>
            <a:off x="3232150" y="3042920"/>
            <a:ext cx="1222375" cy="469900"/>
            <a:chOff x="3232150" y="3042920"/>
            <a:chExt cx="1222375" cy="469900"/>
          </a:xfrm>
        </p:grpSpPr>
        <p:sp>
          <p:nvSpPr>
            <p:cNvPr id="1017" name="23 · sample · surface [p23-e0020]"/>
            <p:cNvSpPr/>
            <p:nvPr/>
          </p:nvSpPr>
          <p:spPr>
            <a:xfrm>
              <a:off x="3232150" y="3042920"/>
              <a:ext cx="1222375" cy="469900"/>
            </a:xfrm>
            <a:prstGeom prst="roundRect">
              <a:avLst>
                <a:gd name="adj" fmla="val 16216"/>
              </a:avLst>
            </a:prstGeom>
            <a:solidFill>
              <a:srgbClr val="FFFFFF">
                <a:alpha val="76078"/>
              </a:srgbClr>
            </a:solidFill>
            <a:ln>
              <a:noFill/>
            </a:ln>
          </p:spPr>
        </p:sp>
        <p:sp>
          <p:nvSpPr>
            <p:cNvPr id="1018" name="23 · i · surface [p23-e0021]"/>
            <p:cNvSpPr/>
            <p:nvPr/>
          </p:nvSpPr>
          <p:spPr>
            <a:xfrm>
              <a:off x="3340100" y="3163570"/>
              <a:ext cx="228600" cy="228600"/>
            </a:xfrm>
            <a:prstGeom prst="ellipse">
              <a:avLst/>
            </a:prstGeom>
            <a:solidFill>
              <a:srgbClr val="B1D6C4"/>
            </a:solidFill>
            <a:ln>
              <a:noFill/>
            </a:ln>
          </p:spPr>
        </p:sp>
      </p:grpSp>
      <p:sp>
        <p:nvSpPr>
          <p:cNvPr id="1019" name="23 · stat · surface [p23-e0022]"/>
          <p:cNvSpPr/>
          <p:nvPr/>
        </p:nvSpPr>
        <p:spPr>
          <a:xfrm>
            <a:off x="6426200" y="2770505"/>
            <a:ext cx="1642533" cy="960033"/>
          </a:xfrm>
          <a:prstGeom prst="roundRect">
            <a:avLst>
              <a:gd name="adj" fmla="val 10583"/>
            </a:avLst>
          </a:prstGeom>
          <a:solidFill>
            <a:srgbClr val="FFFFFF">
              <a:alpha val="85882"/>
            </a:srgbClr>
          </a:solidFill>
          <a:ln>
            <a:noFill/>
          </a:ln>
        </p:spPr>
      </p:sp>
      <p:sp>
        <p:nvSpPr>
          <p:cNvPr id="1020" name="23 · stat · surface [p23-e0023]"/>
          <p:cNvSpPr/>
          <p:nvPr/>
        </p:nvSpPr>
        <p:spPr>
          <a:xfrm>
            <a:off x="8157633" y="2770505"/>
            <a:ext cx="1642533" cy="960033"/>
          </a:xfrm>
          <a:prstGeom prst="roundRect">
            <a:avLst>
              <a:gd name="adj" fmla="val 10583"/>
            </a:avLst>
          </a:prstGeom>
          <a:solidFill>
            <a:srgbClr val="FFFFFF">
              <a:alpha val="85882"/>
            </a:srgbClr>
          </a:solidFill>
          <a:ln>
            <a:noFill/>
          </a:ln>
        </p:spPr>
      </p:sp>
      <p:sp>
        <p:nvSpPr>
          <p:cNvPr id="1021" name="23 · stat · surface [p23-e0024]"/>
          <p:cNvSpPr/>
          <p:nvPr/>
        </p:nvSpPr>
        <p:spPr>
          <a:xfrm>
            <a:off x="9889067" y="2770505"/>
            <a:ext cx="1642533" cy="960033"/>
          </a:xfrm>
          <a:prstGeom prst="roundRect">
            <a:avLst>
              <a:gd name="adj" fmla="val 10583"/>
            </a:avLst>
          </a:prstGeom>
          <a:solidFill>
            <a:srgbClr val="FFFFFF">
              <a:alpha val="85882"/>
            </a:srgbClr>
          </a:solidFill>
          <a:ln>
            <a:noFill/>
          </a:ln>
        </p:spPr>
      </p:sp>
      <p:sp>
        <p:nvSpPr>
          <p:cNvPr id="1022" name="23 · gate-text-1: Twelve constructed examples [p23-text-0035]"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Twelve constructed examples</a:t>
            </a:r>
            <a:endParaRPr lang="en-US" sz="2000" b="1" i="0" kern="0" spc="-38" dirty="0">
              <a:solidFill>
                <a:srgbClr val="022AC0"/>
              </a:solidFill>
              <a:latin typeface="Manrope"/>
              <a:ea typeface="Manrope"/>
              <a:cs typeface="Manrope"/>
            </a:endParaRPr>
          </a:p>
        </p:txBody>
      </p:sp>
      <p:grpSp>
        <p:nvGrpSpPr>
          <p:cNvPr id="1079" name="23 · sample wrong: ×"/>
          <p:cNvGrpSpPr/>
          <p:nvPr/>
        </p:nvGrpSpPr>
        <p:grpSpPr>
          <a:xfrm>
            <a:off x="666750" y="2579370"/>
            <a:ext cx="655315" cy="234950"/>
            <a:chOff x="666750" y="2579370"/>
            <a:chExt cx="655315" cy="234950"/>
          </a:xfrm>
        </p:grpSpPr>
        <p:sp>
          <p:nvSpPr>
            <p:cNvPr id="1023" name="23 · i: × [p23-text-0036]" descr="Native editable Unicode text; authored line breaks retained."/>
            <p:cNvSpPr txBox="1"/>
            <p:nvPr/>
          </p:nvSpPr>
          <p:spPr>
            <a:xfrm>
              <a:off x="666750" y="25793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4" name="23 · sample wrong: 0.99 [p23-text-0037]" descr="Native editable Unicode text; authored line breaks retained."/>
            <p:cNvSpPr txBox="1"/>
            <p:nvPr/>
          </p:nvSpPr>
          <p:spPr>
            <a:xfrm>
              <a:off x="95885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0.99</a:t>
              </a:r>
              <a:endParaRPr lang="en-US" sz="1150" b="0" i="0" kern="0" spc="0" dirty="0">
                <a:solidFill>
                  <a:srgbClr val="032D60"/>
                </a:solidFill>
                <a:latin typeface="IBM Plex Mono"/>
                <a:ea typeface="IBM Plex Mono"/>
                <a:cs typeface="IBM Plex Mono"/>
              </a:endParaRPr>
            </a:p>
          </p:txBody>
        </p:sp>
      </p:grpSp>
      <p:grpSp>
        <p:nvGrpSpPr>
          <p:cNvPr id="1080" name="23 · sample: ✓"/>
          <p:cNvGrpSpPr/>
          <p:nvPr/>
        </p:nvGrpSpPr>
        <p:grpSpPr>
          <a:xfrm>
            <a:off x="2003425" y="2598736"/>
            <a:ext cx="655315" cy="235282"/>
            <a:chOff x="2003425" y="2598736"/>
            <a:chExt cx="655315" cy="235282"/>
          </a:xfrm>
        </p:grpSpPr>
        <p:sp>
          <p:nvSpPr>
            <p:cNvPr id="1025" name="23 · i: ✓ [p23-text-0038]" descr="Native editable Unicode text; authored line breaks retained."/>
            <p:cNvSpPr txBox="1"/>
            <p:nvPr/>
          </p:nvSpPr>
          <p:spPr>
            <a:xfrm>
              <a:off x="200342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6" name="23 · sample: 0.96 [p23-text-0039]" descr="Native editable Unicode text; authored line breaks retained."/>
            <p:cNvSpPr txBox="1"/>
            <p:nvPr/>
          </p:nvSpPr>
          <p:spPr>
            <a:xfrm>
              <a:off x="229552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0.96</a:t>
              </a:r>
              <a:endParaRPr lang="en-US" sz="1150" b="0" i="0" kern="0" spc="0" dirty="0">
                <a:solidFill>
                  <a:srgbClr val="032D60"/>
                </a:solidFill>
                <a:latin typeface="IBM Plex Mono"/>
                <a:ea typeface="IBM Plex Mono"/>
                <a:cs typeface="IBM Plex Mono"/>
              </a:endParaRPr>
            </a:p>
          </p:txBody>
        </p:sp>
      </p:grpSp>
      <p:grpSp>
        <p:nvGrpSpPr>
          <p:cNvPr id="1081" name="23 · sample: ✓"/>
          <p:cNvGrpSpPr/>
          <p:nvPr/>
        </p:nvGrpSpPr>
        <p:grpSpPr>
          <a:xfrm>
            <a:off x="3340100" y="2598736"/>
            <a:ext cx="655315" cy="235282"/>
            <a:chOff x="3340100" y="2598736"/>
            <a:chExt cx="655315" cy="235282"/>
          </a:xfrm>
        </p:grpSpPr>
        <p:sp>
          <p:nvSpPr>
            <p:cNvPr id="1027" name="23 · i: ✓ [p23-text-0040]" descr="Native editable Unicode text; authored line breaks retained."/>
            <p:cNvSpPr txBox="1"/>
            <p:nvPr/>
          </p:nvSpPr>
          <p:spPr>
            <a:xfrm>
              <a:off x="3340100"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8" name="23 · sample: 0.92 [p23-text-0041]" descr="Native editable Unicode text; authored line breaks retained."/>
            <p:cNvSpPr txBox="1"/>
            <p:nvPr/>
          </p:nvSpPr>
          <p:spPr>
            <a:xfrm>
              <a:off x="363220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0.92</a:t>
              </a:r>
              <a:endParaRPr lang="en-US" sz="1150" b="0" i="0" kern="0" spc="0" dirty="0">
                <a:solidFill>
                  <a:srgbClr val="032D60"/>
                </a:solidFill>
                <a:latin typeface="IBM Plex Mono"/>
                <a:ea typeface="IBM Plex Mono"/>
                <a:cs typeface="IBM Plex Mono"/>
              </a:endParaRPr>
            </a:p>
          </p:txBody>
        </p:sp>
      </p:grpSp>
      <p:grpSp>
        <p:nvGrpSpPr>
          <p:cNvPr id="1082" name="23 · sample: ✓"/>
          <p:cNvGrpSpPr/>
          <p:nvPr/>
        </p:nvGrpSpPr>
        <p:grpSpPr>
          <a:xfrm>
            <a:off x="4676775" y="2598736"/>
            <a:ext cx="655315" cy="235282"/>
            <a:chOff x="4676775" y="2598736"/>
            <a:chExt cx="655315" cy="235282"/>
          </a:xfrm>
        </p:grpSpPr>
        <p:sp>
          <p:nvSpPr>
            <p:cNvPr id="1029" name="23 · i: ✓ [p23-text-0042]" descr="Native editable Unicode text; authored line breaks retained."/>
            <p:cNvSpPr txBox="1"/>
            <p:nvPr/>
          </p:nvSpPr>
          <p:spPr>
            <a:xfrm>
              <a:off x="467677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0" name="23 · sample: 0.88 [p23-text-0043]" descr="Native editable Unicode text; authored line breaks retained."/>
            <p:cNvSpPr txBox="1"/>
            <p:nvPr/>
          </p:nvSpPr>
          <p:spPr>
            <a:xfrm>
              <a:off x="496887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0.88</a:t>
              </a:r>
              <a:endParaRPr lang="en-US" sz="1150" b="0" i="0" kern="0" spc="0" dirty="0">
                <a:solidFill>
                  <a:srgbClr val="032D60"/>
                </a:solidFill>
                <a:latin typeface="IBM Plex Mono"/>
                <a:ea typeface="IBM Plex Mono"/>
                <a:cs typeface="IBM Plex Mono"/>
              </a:endParaRPr>
            </a:p>
          </p:txBody>
        </p:sp>
      </p:grpSp>
      <p:grpSp>
        <p:nvGrpSpPr>
          <p:cNvPr id="1083" name="23 · sample wrong: ×"/>
          <p:cNvGrpSpPr/>
          <p:nvPr/>
        </p:nvGrpSpPr>
        <p:grpSpPr>
          <a:xfrm>
            <a:off x="666750" y="3163570"/>
            <a:ext cx="655315" cy="234950"/>
            <a:chOff x="666750" y="3163570"/>
            <a:chExt cx="655315" cy="234950"/>
          </a:xfrm>
        </p:grpSpPr>
        <p:sp>
          <p:nvSpPr>
            <p:cNvPr id="1031" name="23 · i: × [p23-text-0044]" descr="Native editable Unicode text; authored line breaks retained."/>
            <p:cNvSpPr txBox="1"/>
            <p:nvPr/>
          </p:nvSpPr>
          <p:spPr>
            <a:xfrm>
              <a:off x="666750" y="31635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2" name="23 · sample wrong: 0.85 [p23-text-0045]" descr="Native editable Unicode text; authored line breaks retained."/>
            <p:cNvSpPr txBox="1"/>
            <p:nvPr/>
          </p:nvSpPr>
          <p:spPr>
            <a:xfrm>
              <a:off x="95885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0.85</a:t>
              </a:r>
              <a:endParaRPr lang="en-US" sz="1150" b="0" i="0" kern="0" spc="0" dirty="0">
                <a:solidFill>
                  <a:srgbClr val="032D60"/>
                </a:solidFill>
                <a:latin typeface="IBM Plex Mono"/>
                <a:ea typeface="IBM Plex Mono"/>
                <a:cs typeface="IBM Plex Mono"/>
              </a:endParaRPr>
            </a:p>
          </p:txBody>
        </p:sp>
      </p:grpSp>
      <p:grpSp>
        <p:nvGrpSpPr>
          <p:cNvPr id="1084" name="23 · sample: ✓"/>
          <p:cNvGrpSpPr/>
          <p:nvPr/>
        </p:nvGrpSpPr>
        <p:grpSpPr>
          <a:xfrm>
            <a:off x="2003425" y="3182936"/>
            <a:ext cx="655315" cy="235282"/>
            <a:chOff x="2003425" y="3182936"/>
            <a:chExt cx="655315" cy="235282"/>
          </a:xfrm>
        </p:grpSpPr>
        <p:sp>
          <p:nvSpPr>
            <p:cNvPr id="1033" name="23 · i: ✓ [p23-text-0046]" descr="Native editable Unicode text; authored line breaks retained."/>
            <p:cNvSpPr txBox="1"/>
            <p:nvPr/>
          </p:nvSpPr>
          <p:spPr>
            <a:xfrm>
              <a:off x="200342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4" name="23 · sample: 0.81 [p23-text-0047]" descr="Native editable Unicode text; authored line breaks retained."/>
            <p:cNvSpPr txBox="1"/>
            <p:nvPr/>
          </p:nvSpPr>
          <p:spPr>
            <a:xfrm>
              <a:off x="229552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0.81</a:t>
              </a:r>
              <a:endParaRPr lang="en-US" sz="1150" b="0" i="0" kern="0" spc="0" dirty="0">
                <a:solidFill>
                  <a:srgbClr val="032D60"/>
                </a:solidFill>
                <a:latin typeface="IBM Plex Mono"/>
                <a:ea typeface="IBM Plex Mono"/>
                <a:cs typeface="IBM Plex Mono"/>
              </a:endParaRPr>
            </a:p>
          </p:txBody>
        </p:sp>
      </p:grpSp>
      <p:grpSp>
        <p:nvGrpSpPr>
          <p:cNvPr id="1085" name="23 · sample: ✓"/>
          <p:cNvGrpSpPr/>
          <p:nvPr/>
        </p:nvGrpSpPr>
        <p:grpSpPr>
          <a:xfrm>
            <a:off x="3340100" y="3182936"/>
            <a:ext cx="655315" cy="235282"/>
            <a:chOff x="3340100" y="3182936"/>
            <a:chExt cx="655315" cy="235282"/>
          </a:xfrm>
        </p:grpSpPr>
        <p:sp>
          <p:nvSpPr>
            <p:cNvPr id="1035" name="23 · i: ✓ [p23-text-0048]" descr="Native editable Unicode text; authored line breaks retained."/>
            <p:cNvSpPr txBox="1"/>
            <p:nvPr/>
          </p:nvSpPr>
          <p:spPr>
            <a:xfrm>
              <a:off x="3340100"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6" name="23 · sample: 0.76 [p23-text-0049]" descr="Native editable Unicode text; authored line breaks retained."/>
            <p:cNvSpPr txBox="1"/>
            <p:nvPr/>
          </p:nvSpPr>
          <p:spPr>
            <a:xfrm>
              <a:off x="363220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0.76</a:t>
              </a:r>
              <a:endParaRPr lang="en-US" sz="1150" b="0" i="0" kern="0" spc="0" dirty="0">
                <a:solidFill>
                  <a:srgbClr val="032D60"/>
                </a:solidFill>
                <a:latin typeface="IBM Plex Mono"/>
                <a:ea typeface="IBM Plex Mono"/>
                <a:cs typeface="IBM Plex Mono"/>
              </a:endParaRPr>
            </a:p>
          </p:txBody>
        </p:sp>
      </p:grpSp>
      <p:sp>
        <p:nvSpPr>
          <p:cNvPr id="1037" name="23 · gate-text-2: ✓ correct route · × wrong route Faded examples go to review. [p23-text-0050]" descr="Native editable Unicode text; authored line breaks retained."/>
          <p:cNvSpPr txBox="1"/>
          <p:nvPr/>
        </p:nvSpPr>
        <p:spPr>
          <a:xfrm>
            <a:off x="558800" y="428180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 correct route · × wrong route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Faded examples go to review.</a:t>
            </a:r>
            <a:endParaRPr lang="en-US" sz="1250" b="0" i="0" kern="0" spc="0" dirty="0">
              <a:solidFill>
                <a:srgbClr val="032D60"/>
              </a:solidFill>
              <a:latin typeface="Salesforce Sans"/>
              <a:ea typeface="Salesforce Sans"/>
              <a:cs typeface="Salesforce Sans"/>
            </a:endParaRPr>
          </a:p>
        </p:txBody>
      </p:sp>
      <p:sp>
        <p:nvSpPr>
          <p:cNvPr id="1038" name="23 · label: Automatic-route threshold: 0.75 [p23-text-0051]" descr="Native editable Unicode text; authored line breaks retained."/>
          <p:cNvSpPr txBox="1"/>
          <p:nvPr/>
        </p:nvSpPr>
        <p:spPr>
          <a:xfrm>
            <a:off x="6426200" y="2262505"/>
            <a:ext cx="5118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Automatic-route threshold: </a:t>
            </a:r>
            <a:r>
              <a:rPr lang="en-US" sz="2000" b="0" i="0" kern="0" spc="0" dirty="0">
                <a:solidFill>
                  <a:srgbClr val="032D60"/>
                </a:solidFill>
                <a:latin typeface="IBM Plex Mono"/>
                <a:ea typeface="IBM Plex Mono"/>
                <a:cs typeface="IBM Plex Mono"/>
              </a:rPr>
              <a:t>0.75</a:t>
            </a:r>
            <a:endParaRPr lang="en-US" sz="2000" b="0" i="0" kern="0" spc="0" dirty="0">
              <a:solidFill>
                <a:srgbClr val="032D60"/>
              </a:solidFill>
              <a:latin typeface="IBM Plex Mono"/>
              <a:ea typeface="IBM Plex Mono"/>
              <a:cs typeface="IBM Plex Mono"/>
            </a:endParaRPr>
          </a:p>
        </p:txBody>
      </p:sp>
      <p:grpSp>
        <p:nvGrpSpPr>
          <p:cNvPr id="1086" name="23 · stat: 58%"/>
          <p:cNvGrpSpPr/>
          <p:nvPr/>
        </p:nvGrpSpPr>
        <p:grpSpPr>
          <a:xfrm>
            <a:off x="6565900" y="2877267"/>
            <a:ext cx="1375833" cy="719921"/>
            <a:chOff x="6565900" y="2877267"/>
            <a:chExt cx="1375833" cy="719921"/>
          </a:xfrm>
        </p:grpSpPr>
        <p:sp>
          <p:nvSpPr>
            <p:cNvPr id="1039" name="23 · strong: 58% [p23-text-0052]" descr="Native editable Unicode text; authored line breaks retained."/>
            <p:cNvSpPr txBox="1"/>
            <p:nvPr/>
          </p:nvSpPr>
          <p:spPr>
            <a:xfrm>
              <a:off x="6565900"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58%</a:t>
              </a:r>
              <a:endParaRPr lang="en-US" sz="2850" b="1" i="0" kern="0" spc="0" dirty="0">
                <a:solidFill>
                  <a:srgbClr val="032D60"/>
                </a:solidFill>
                <a:latin typeface="Salesforce Sans"/>
                <a:ea typeface="Salesforce Sans"/>
                <a:cs typeface="Salesforce Sans"/>
              </a:endParaRPr>
            </a:p>
          </p:txBody>
        </p:sp>
        <p:sp>
          <p:nvSpPr>
            <p:cNvPr id="1040" name="23 · stat: 7 / 12 auto-routed [p23-text-0053]" descr="Native editable Unicode text; authored line breaks retained."/>
            <p:cNvSpPr txBox="1"/>
            <p:nvPr/>
          </p:nvSpPr>
          <p:spPr>
            <a:xfrm>
              <a:off x="6565900"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7 / 12 auto-routed</a:t>
              </a:r>
              <a:endParaRPr lang="en-US" sz="1150" b="0" i="0" kern="0" spc="0" dirty="0">
                <a:solidFill>
                  <a:srgbClr val="032D60"/>
                </a:solidFill>
                <a:latin typeface="Salesforce Sans"/>
                <a:ea typeface="Salesforce Sans"/>
                <a:cs typeface="Salesforce Sans"/>
              </a:endParaRPr>
            </a:p>
          </p:txBody>
        </p:sp>
      </p:grpSp>
      <p:grpSp>
        <p:nvGrpSpPr>
          <p:cNvPr id="1087" name="23 · stat: 29%"/>
          <p:cNvGrpSpPr/>
          <p:nvPr/>
        </p:nvGrpSpPr>
        <p:grpSpPr>
          <a:xfrm>
            <a:off x="8297333" y="2877267"/>
            <a:ext cx="1375833" cy="719921"/>
            <a:chOff x="8297333" y="2877267"/>
            <a:chExt cx="1375833" cy="719921"/>
          </a:xfrm>
        </p:grpSpPr>
        <p:sp>
          <p:nvSpPr>
            <p:cNvPr id="1041" name="23 · strong: 29% [p23-text-0054]" descr="Native editable Unicode text; authored line breaks retained."/>
            <p:cNvSpPr txBox="1"/>
            <p:nvPr/>
          </p:nvSpPr>
          <p:spPr>
            <a:xfrm>
              <a:off x="8297333"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29%</a:t>
              </a:r>
              <a:endParaRPr lang="en-US" sz="2850" b="1" i="0" kern="0" spc="0" dirty="0">
                <a:solidFill>
                  <a:srgbClr val="032D60"/>
                </a:solidFill>
                <a:latin typeface="Salesforce Sans"/>
                <a:ea typeface="Salesforce Sans"/>
                <a:cs typeface="Salesforce Sans"/>
              </a:endParaRPr>
            </a:p>
          </p:txBody>
        </p:sp>
        <p:sp>
          <p:nvSpPr>
            <p:cNvPr id="1042" name="23 · stat: 2 / 7 wrong [p23-text-0055]" descr="Native editable Unicode text; authored line breaks retained."/>
            <p:cNvSpPr txBox="1"/>
            <p:nvPr/>
          </p:nvSpPr>
          <p:spPr>
            <a:xfrm>
              <a:off x="8297333"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2 / 7 wrong</a:t>
              </a:r>
              <a:endParaRPr lang="en-US" sz="1150" b="0" i="0" kern="0" spc="0" dirty="0">
                <a:solidFill>
                  <a:srgbClr val="032D60"/>
                </a:solidFill>
                <a:latin typeface="Salesforce Sans"/>
                <a:ea typeface="Salesforce Sans"/>
                <a:cs typeface="Salesforce Sans"/>
              </a:endParaRPr>
            </a:p>
          </p:txBody>
        </p:sp>
      </p:grpSp>
      <p:grpSp>
        <p:nvGrpSpPr>
          <p:cNvPr id="1088" name="23 · stat: 5"/>
          <p:cNvGrpSpPr/>
          <p:nvPr/>
        </p:nvGrpSpPr>
        <p:grpSpPr>
          <a:xfrm>
            <a:off x="10028767" y="2877267"/>
            <a:ext cx="1375833" cy="719921"/>
            <a:chOff x="10028767" y="2877267"/>
            <a:chExt cx="1375833" cy="719921"/>
          </a:xfrm>
        </p:grpSpPr>
        <p:sp>
          <p:nvSpPr>
            <p:cNvPr id="1043" name="23 · strong: 5 [p23-text-0056]" descr="Native editable Unicode text; authored line breaks retained."/>
            <p:cNvSpPr txBox="1"/>
            <p:nvPr/>
          </p:nvSpPr>
          <p:spPr>
            <a:xfrm>
              <a:off x="10028767"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a:t>
              </a:r>
              <a:endParaRPr lang="en-US" sz="2850" b="1" i="0" kern="0" spc="0" dirty="0">
                <a:solidFill>
                  <a:srgbClr val="032D60"/>
                </a:solidFill>
                <a:latin typeface="Salesforce Sans"/>
                <a:ea typeface="Salesforce Sans"/>
                <a:cs typeface="Salesforce Sans"/>
              </a:endParaRPr>
            </a:p>
          </p:txBody>
        </p:sp>
        <p:sp>
          <p:nvSpPr>
            <p:cNvPr id="1044" name="23 · stat: To review [p23-text-0057]" descr="Native editable Unicode text; authored line breaks retained."/>
            <p:cNvSpPr txBox="1"/>
            <p:nvPr/>
          </p:nvSpPr>
          <p:spPr>
            <a:xfrm>
              <a:off x="10028767"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To review</a:t>
              </a:r>
              <a:endParaRPr lang="en-US" sz="1150" b="0" i="0" kern="0" spc="0" dirty="0">
                <a:solidFill>
                  <a:srgbClr val="032D60"/>
                </a:solidFill>
                <a:latin typeface="Salesforce Sans"/>
                <a:ea typeface="Salesforce Sans"/>
                <a:cs typeface="Salesforce Sans"/>
              </a:endParaRPr>
            </a:p>
          </p:txBody>
        </p:sp>
      </p:grpSp>
      <p:sp>
        <p:nvSpPr>
          <p:cNvPr id="1045" name="23 · gate-text-3: A high-scoring mistake can survive the gate. Review consumes capacity and can  [p23-text-0058]" descr="Native editable Unicode text; authored line breaks retained."/>
          <p:cNvSpPr txBox="1"/>
          <p:nvPr/>
        </p:nvSpPr>
        <p:spPr>
          <a:xfrm>
            <a:off x="6426200" y="3743683"/>
            <a:ext cx="5118100" cy="54737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A high-scoring mistake can survive the gate.</a:t>
            </a:r>
            <a:endParaRPr lang="en-US" sz="1500" b="0" i="0" kern="0" spc="0" dirty="0">
              <a:solidFill>
                <a:srgbClr val="032D60"/>
              </a:solidFill>
              <a:latin typeface="Salesforce Sans"/>
              <a:ea typeface="Salesforce Sans"/>
              <a:cs typeface="Salesforce Sans"/>
            </a:endParaRPr>
          </a:p>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Review consumes capacity and can add delay.</a:t>
            </a:r>
            <a:endParaRPr lang="en-US" sz="1500" b="0" i="0" kern="0" spc="0" dirty="0">
              <a:solidFill>
                <a:srgbClr val="032D60"/>
              </a:solidFill>
              <a:latin typeface="Salesforce Sans"/>
              <a:ea typeface="Salesforce Sans"/>
              <a:cs typeface="Salesforce Sans"/>
            </a:endParaRPr>
          </a:p>
        </p:txBody>
      </p:sp>
      <p:grpSp>
        <p:nvGrpSpPr>
          <p:cNvPr id="1089" name="23 · sample review: ✓"/>
          <p:cNvGrpSpPr/>
          <p:nvPr/>
        </p:nvGrpSpPr>
        <p:grpSpPr>
          <a:xfrm>
            <a:off x="4575175" y="3049270"/>
            <a:ext cx="1209675" cy="457200"/>
            <a:chOff x="4575175" y="3049270"/>
            <a:chExt cx="1209675" cy="457200"/>
          </a:xfrm>
        </p:grpSpPr>
        <p:sp>
          <p:nvSpPr>
            <p:cNvPr id="1046" name="23 · sample review · outline [p23-e0052]"/>
            <p:cNvSpPr/>
            <p:nvPr/>
          </p:nvSpPr>
          <p:spPr>
            <a:xfrm>
              <a:off x="4575175" y="3049270"/>
              <a:ext cx="1209675" cy="457200"/>
            </a:xfrm>
            <a:prstGeom prst="roundRect">
              <a:avLst>
                <a:gd name="adj" fmla="val 15278"/>
              </a:avLst>
            </a:prstGeom>
            <a:noFill/>
            <a:ln w="12700" algn="ctr">
              <a:solidFill>
                <a:srgbClr val="799AB1">
                  <a:alpha val="45000"/>
                </a:srgbClr>
              </a:solidFill>
              <a:prstDash val="solid"/>
            </a:ln>
          </p:spPr>
        </p:sp>
        <p:sp>
          <p:nvSpPr>
            <p:cNvPr id="1047" name="23 · i · surface [p23-e0053]"/>
            <p:cNvSpPr/>
            <p:nvPr/>
          </p:nvSpPr>
          <p:spPr>
            <a:xfrm>
              <a:off x="4676775" y="3163570"/>
              <a:ext cx="228600" cy="228600"/>
            </a:xfrm>
            <a:prstGeom prst="ellipse">
              <a:avLst/>
            </a:prstGeom>
            <a:solidFill>
              <a:srgbClr val="B1D6C4">
                <a:alpha val="45000"/>
              </a:srgbClr>
            </a:solidFill>
            <a:ln>
              <a:noFill/>
            </a:ln>
          </p:spPr>
        </p:sp>
        <p:sp>
          <p:nvSpPr>
            <p:cNvPr id="1048" name="23 · i: ✓ [p23-text-0059]" descr="Native editable Unicode text; authored line breaks retained."/>
            <p:cNvSpPr txBox="1"/>
            <p:nvPr/>
          </p:nvSpPr>
          <p:spPr>
            <a:xfrm>
              <a:off x="467677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49" name="23 · sample review: 0.70 [p23-text-0060]" descr="Native editable Unicode text; authored line breaks retained."/>
            <p:cNvSpPr txBox="1"/>
            <p:nvPr/>
          </p:nvSpPr>
          <p:spPr>
            <a:xfrm>
              <a:off x="496887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0.70</a:t>
              </a:r>
              <a:endParaRPr lang="en-US" sz="1150" b="0" i="0" kern="0" spc="0" dirty="0">
                <a:solidFill>
                  <a:srgbClr val="032D60">
                    <a:alpha val="45000"/>
                  </a:srgbClr>
                </a:solidFill>
                <a:latin typeface="IBM Plex Mono"/>
                <a:ea typeface="IBM Plex Mono"/>
                <a:cs typeface="IBM Plex Mono"/>
              </a:endParaRPr>
            </a:p>
          </p:txBody>
        </p:sp>
      </p:grpSp>
      <p:grpSp>
        <p:nvGrpSpPr>
          <p:cNvPr id="1090" name="23 · sample wrong review: ×"/>
          <p:cNvGrpSpPr/>
          <p:nvPr/>
        </p:nvGrpSpPr>
        <p:grpSpPr>
          <a:xfrm>
            <a:off x="565150" y="3633470"/>
            <a:ext cx="1209675" cy="457200"/>
            <a:chOff x="565150" y="3633470"/>
            <a:chExt cx="1209675" cy="457200"/>
          </a:xfrm>
        </p:grpSpPr>
        <p:sp>
          <p:nvSpPr>
            <p:cNvPr id="1050" name="23 · sample wrong review · outline [p23-e0056]"/>
            <p:cNvSpPr/>
            <p:nvPr/>
          </p:nvSpPr>
          <p:spPr>
            <a:xfrm>
              <a:off x="565150" y="3633470"/>
              <a:ext cx="1209675" cy="457200"/>
            </a:xfrm>
            <a:prstGeom prst="roundRect">
              <a:avLst>
                <a:gd name="adj" fmla="val 15278"/>
              </a:avLst>
            </a:prstGeom>
            <a:noFill/>
            <a:ln w="12700" algn="ctr">
              <a:solidFill>
                <a:srgbClr val="799AB1">
                  <a:alpha val="45000"/>
                </a:srgbClr>
              </a:solidFill>
              <a:prstDash val="solid"/>
            </a:ln>
          </p:spPr>
        </p:sp>
        <p:sp>
          <p:nvSpPr>
            <p:cNvPr id="1051" name="23 · i · surface [p23-e0057]"/>
            <p:cNvSpPr/>
            <p:nvPr/>
          </p:nvSpPr>
          <p:spPr>
            <a:xfrm>
              <a:off x="666750" y="3747770"/>
              <a:ext cx="228600" cy="228600"/>
            </a:xfrm>
            <a:prstGeom prst="ellipse">
              <a:avLst/>
            </a:prstGeom>
            <a:solidFill>
              <a:srgbClr val="E6B3A5">
                <a:alpha val="45000"/>
              </a:srgbClr>
            </a:solidFill>
            <a:ln>
              <a:noFill/>
            </a:ln>
          </p:spPr>
        </p:sp>
        <p:sp>
          <p:nvSpPr>
            <p:cNvPr id="1052" name="23 · i: × [p23-text-0061]" descr="Native editable Unicode text; authored line breaks retained."/>
            <p:cNvSpPr txBox="1"/>
            <p:nvPr/>
          </p:nvSpPr>
          <p:spPr>
            <a:xfrm>
              <a:off x="666750"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3" name="23 · sample wrong review: 0.66 [p23-text-0062]" descr="Native editable Unicode text; authored line breaks retained."/>
            <p:cNvSpPr txBox="1"/>
            <p:nvPr/>
          </p:nvSpPr>
          <p:spPr>
            <a:xfrm>
              <a:off x="95885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0.66</a:t>
              </a:r>
              <a:endParaRPr lang="en-US" sz="1150" b="0" i="0" kern="0" spc="0" dirty="0">
                <a:solidFill>
                  <a:srgbClr val="032D60">
                    <a:alpha val="45000"/>
                  </a:srgbClr>
                </a:solidFill>
                <a:latin typeface="IBM Plex Mono"/>
                <a:ea typeface="IBM Plex Mono"/>
                <a:cs typeface="IBM Plex Mono"/>
              </a:endParaRPr>
            </a:p>
          </p:txBody>
        </p:sp>
      </p:grpSp>
      <p:grpSp>
        <p:nvGrpSpPr>
          <p:cNvPr id="1091" name="23 · sample review: ✓"/>
          <p:cNvGrpSpPr/>
          <p:nvPr/>
        </p:nvGrpSpPr>
        <p:grpSpPr>
          <a:xfrm>
            <a:off x="1901825" y="3633470"/>
            <a:ext cx="1209675" cy="457200"/>
            <a:chOff x="1901825" y="3633470"/>
            <a:chExt cx="1209675" cy="457200"/>
          </a:xfrm>
        </p:grpSpPr>
        <p:sp>
          <p:nvSpPr>
            <p:cNvPr id="1054" name="23 · sample review · outline [p23-e0060]"/>
            <p:cNvSpPr/>
            <p:nvPr/>
          </p:nvSpPr>
          <p:spPr>
            <a:xfrm>
              <a:off x="1901825" y="3633470"/>
              <a:ext cx="1209675" cy="457200"/>
            </a:xfrm>
            <a:prstGeom prst="roundRect">
              <a:avLst>
                <a:gd name="adj" fmla="val 15278"/>
              </a:avLst>
            </a:prstGeom>
            <a:noFill/>
            <a:ln w="12700" algn="ctr">
              <a:solidFill>
                <a:srgbClr val="799AB1">
                  <a:alpha val="45000"/>
                </a:srgbClr>
              </a:solidFill>
              <a:prstDash val="solid"/>
            </a:ln>
          </p:spPr>
        </p:sp>
        <p:sp>
          <p:nvSpPr>
            <p:cNvPr id="1055" name="23 · i · surface [p23-e0061]"/>
            <p:cNvSpPr/>
            <p:nvPr/>
          </p:nvSpPr>
          <p:spPr>
            <a:xfrm>
              <a:off x="2003425" y="3747770"/>
              <a:ext cx="228600" cy="228600"/>
            </a:xfrm>
            <a:prstGeom prst="ellipse">
              <a:avLst/>
            </a:prstGeom>
            <a:solidFill>
              <a:srgbClr val="B1D6C4">
                <a:alpha val="45000"/>
              </a:srgbClr>
            </a:solidFill>
            <a:ln>
              <a:noFill/>
            </a:ln>
          </p:spPr>
        </p:sp>
        <p:sp>
          <p:nvSpPr>
            <p:cNvPr id="1056" name="23 · i: ✓ [p23-text-0063]" descr="Native editable Unicode text; authored line breaks retained."/>
            <p:cNvSpPr txBox="1"/>
            <p:nvPr/>
          </p:nvSpPr>
          <p:spPr>
            <a:xfrm>
              <a:off x="2003425"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7" name="23 · sample review: 0.60 [p23-text-0064]" descr="Native editable Unicode text; authored line breaks retained."/>
            <p:cNvSpPr txBox="1"/>
            <p:nvPr/>
          </p:nvSpPr>
          <p:spPr>
            <a:xfrm>
              <a:off x="229552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0.60</a:t>
              </a:r>
              <a:endParaRPr lang="en-US" sz="1150" b="0" i="0" kern="0" spc="0" dirty="0">
                <a:solidFill>
                  <a:srgbClr val="032D60">
                    <a:alpha val="45000"/>
                  </a:srgbClr>
                </a:solidFill>
                <a:latin typeface="IBM Plex Mono"/>
                <a:ea typeface="IBM Plex Mono"/>
                <a:cs typeface="IBM Plex Mono"/>
              </a:endParaRPr>
            </a:p>
          </p:txBody>
        </p:sp>
      </p:grpSp>
      <p:grpSp>
        <p:nvGrpSpPr>
          <p:cNvPr id="1092" name="23 · sample review: ✓"/>
          <p:cNvGrpSpPr/>
          <p:nvPr/>
        </p:nvGrpSpPr>
        <p:grpSpPr>
          <a:xfrm>
            <a:off x="3238500" y="3633470"/>
            <a:ext cx="1209675" cy="457200"/>
            <a:chOff x="3238500" y="3633470"/>
            <a:chExt cx="1209675" cy="457200"/>
          </a:xfrm>
        </p:grpSpPr>
        <p:sp>
          <p:nvSpPr>
            <p:cNvPr id="1058" name="23 · sample review · outline [p23-e0064]"/>
            <p:cNvSpPr/>
            <p:nvPr/>
          </p:nvSpPr>
          <p:spPr>
            <a:xfrm>
              <a:off x="3238500" y="3633470"/>
              <a:ext cx="1209675" cy="457200"/>
            </a:xfrm>
            <a:prstGeom prst="roundRect">
              <a:avLst>
                <a:gd name="adj" fmla="val 15278"/>
              </a:avLst>
            </a:prstGeom>
            <a:noFill/>
            <a:ln w="12700" algn="ctr">
              <a:solidFill>
                <a:srgbClr val="799AB1">
                  <a:alpha val="45000"/>
                </a:srgbClr>
              </a:solidFill>
              <a:prstDash val="solid"/>
            </a:ln>
          </p:spPr>
        </p:sp>
        <p:sp>
          <p:nvSpPr>
            <p:cNvPr id="1059" name="23 · i · surface [p23-e0065]"/>
            <p:cNvSpPr/>
            <p:nvPr/>
          </p:nvSpPr>
          <p:spPr>
            <a:xfrm>
              <a:off x="3340100" y="3747770"/>
              <a:ext cx="228600" cy="228600"/>
            </a:xfrm>
            <a:prstGeom prst="ellipse">
              <a:avLst/>
            </a:prstGeom>
            <a:solidFill>
              <a:srgbClr val="B1D6C4">
                <a:alpha val="45000"/>
              </a:srgbClr>
            </a:solidFill>
            <a:ln>
              <a:noFill/>
            </a:ln>
          </p:spPr>
        </p:sp>
        <p:sp>
          <p:nvSpPr>
            <p:cNvPr id="1060" name="23 · i: ✓ [p23-text-0065]" descr="Native editable Unicode text; authored line breaks retained."/>
            <p:cNvSpPr txBox="1"/>
            <p:nvPr/>
          </p:nvSpPr>
          <p:spPr>
            <a:xfrm>
              <a:off x="3340100"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1" name="23 · sample review: 0.55 [p23-text-0066]" descr="Native editable Unicode text; authored line breaks retained."/>
            <p:cNvSpPr txBox="1"/>
            <p:nvPr/>
          </p:nvSpPr>
          <p:spPr>
            <a:xfrm>
              <a:off x="363220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0.55</a:t>
              </a:r>
              <a:endParaRPr lang="en-US" sz="1150" b="0" i="0" kern="0" spc="0" dirty="0">
                <a:solidFill>
                  <a:srgbClr val="032D60">
                    <a:alpha val="45000"/>
                  </a:srgbClr>
                </a:solidFill>
                <a:latin typeface="IBM Plex Mono"/>
                <a:ea typeface="IBM Plex Mono"/>
                <a:cs typeface="IBM Plex Mono"/>
              </a:endParaRPr>
            </a:p>
          </p:txBody>
        </p:sp>
      </p:grpSp>
      <p:grpSp>
        <p:nvGrpSpPr>
          <p:cNvPr id="1093" name="23 · sample wrong review: ×"/>
          <p:cNvGrpSpPr/>
          <p:nvPr/>
        </p:nvGrpSpPr>
        <p:grpSpPr>
          <a:xfrm>
            <a:off x="4575175" y="3633470"/>
            <a:ext cx="1209675" cy="457200"/>
            <a:chOff x="4575175" y="3633470"/>
            <a:chExt cx="1209675" cy="457200"/>
          </a:xfrm>
        </p:grpSpPr>
        <p:sp>
          <p:nvSpPr>
            <p:cNvPr id="1062" name="23 · sample wrong review · outline [p23-e0068]"/>
            <p:cNvSpPr/>
            <p:nvPr/>
          </p:nvSpPr>
          <p:spPr>
            <a:xfrm>
              <a:off x="4575175" y="3633470"/>
              <a:ext cx="1209675" cy="457200"/>
            </a:xfrm>
            <a:prstGeom prst="roundRect">
              <a:avLst>
                <a:gd name="adj" fmla="val 15278"/>
              </a:avLst>
            </a:prstGeom>
            <a:noFill/>
            <a:ln w="12700" algn="ctr">
              <a:solidFill>
                <a:srgbClr val="799AB1">
                  <a:alpha val="45000"/>
                </a:srgbClr>
              </a:solidFill>
              <a:prstDash val="solid"/>
            </a:ln>
          </p:spPr>
        </p:sp>
        <p:sp>
          <p:nvSpPr>
            <p:cNvPr id="1063" name="23 · i · surface [p23-e0069]"/>
            <p:cNvSpPr/>
            <p:nvPr/>
          </p:nvSpPr>
          <p:spPr>
            <a:xfrm>
              <a:off x="4676775" y="3747770"/>
              <a:ext cx="228600" cy="228600"/>
            </a:xfrm>
            <a:prstGeom prst="ellipse">
              <a:avLst/>
            </a:prstGeom>
            <a:solidFill>
              <a:srgbClr val="E6B3A5">
                <a:alpha val="45000"/>
              </a:srgbClr>
            </a:solidFill>
            <a:ln>
              <a:noFill/>
            </a:ln>
          </p:spPr>
        </p:sp>
        <p:sp>
          <p:nvSpPr>
            <p:cNvPr id="1064" name="23 · i: × [p23-text-0067]" descr="Native editable Unicode text; authored line breaks retained."/>
            <p:cNvSpPr txBox="1"/>
            <p:nvPr/>
          </p:nvSpPr>
          <p:spPr>
            <a:xfrm>
              <a:off x="4676775"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5" name="23 · sample wrong review: 0.51 [p23-text-0068]" descr="Native editable Unicode text; authored line breaks retained."/>
            <p:cNvSpPr txBox="1"/>
            <p:nvPr/>
          </p:nvSpPr>
          <p:spPr>
            <a:xfrm>
              <a:off x="496887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0.51</a:t>
              </a:r>
              <a:endParaRPr lang="en-US" sz="1150" b="0" i="0" kern="0" spc="0" dirty="0">
                <a:solidFill>
                  <a:srgbClr val="032D60">
                    <a:alpha val="45000"/>
                  </a:srgbClr>
                </a:solidFill>
                <a:latin typeface="IBM Plex Mono"/>
                <a:ea typeface="IBM Plex Mono"/>
                <a:cs typeface="IBM Plex Mono"/>
              </a:endParaRPr>
            </a:p>
          </p:txBody>
        </p:sp>
      </p:grpSp>
      <p:sp>
        <p:nvSpPr>
          <p:cNvPr id="1066" name="23 · tag: SYNTHETIC SAMPLE / UNCALIBRATED SIGNAL [p23-text-0069]"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SYNTHETIC SAMPLE / UNCALIBRATED SIGNAL</a:t>
            </a:r>
            <a:endParaRPr lang="en-US" sz="1050" b="0" i="0" kern="0" spc="50" dirty="0">
              <a:solidFill>
                <a:srgbClr val="022AC0">
                  <a:alpha val="85000"/>
                </a:srgbClr>
              </a:solidFill>
              <a:latin typeface="IBM Plex Mono"/>
              <a:ea typeface="IBM Plex Mono"/>
              <a:cs typeface="IBM Plex Mono"/>
            </a:endParaRPr>
          </a:p>
        </p:txBody>
      </p:sp>
      <p:grpSp>
        <p:nvGrpSpPr>
          <p:cNvPr id="1094" name="23 · source-line: Confidence routing · Confidence semantics"/>
          <p:cNvGrpSpPr/>
          <p:nvPr/>
        </p:nvGrpSpPr>
        <p:grpSpPr>
          <a:xfrm>
            <a:off x="558800" y="6037898"/>
            <a:ext cx="11087100" cy="284456"/>
            <a:chOff x="558800" y="6037898"/>
            <a:chExt cx="11087100" cy="284456"/>
          </a:xfrm>
        </p:grpSpPr>
        <p:sp>
          <p:nvSpPr>
            <p:cNvPr id="1067" name="23 · source-line · top border [p23-e007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68" name="23 · span: Confidence routing · Confidence semantics [p23-text-0070]"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69" name="23 · span: Synthetic teaching data; drag the threshold [p23-text-0071]" descr="Native editable Unicode text; authored line breaks retained."/>
            <p:cNvSpPr txBox="1"/>
            <p:nvPr/>
          </p:nvSpPr>
          <p:spPr>
            <a:xfrm>
              <a:off x="9226699" y="6153126"/>
              <a:ext cx="241920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Synthetic teaching data; drag the threshold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avings depend on avoiding expensive work">
    <p:bg>
      <p:bgPr>
        <a:solidFill>
          <a:srgbClr val="FFFFFF"/>
        </a:solidFill>
      </p:bgPr>
    </p:bg>
    <p:spTree>
      <p:nvGrpSpPr>
        <p:cNvPr id="1" name=""/>
        <p:cNvGrpSpPr/>
        <p:nvPr/>
      </p:nvGrpSpPr>
      <p:grpSpPr>
        <a:xfrm>
          <a:off x="0" y="0"/>
          <a:ext cx="0" cy="0"/>
          <a:chOff x="0" y="0"/>
          <a:chExt cx="0" cy="0"/>
        </a:xfrm>
      </p:grpSpPr>
      <p:sp>
        <p:nvSpPr>
          <p:cNvPr id="1000" name="24 · slide hero dark · surface [p2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5" name="24 · chrome-min: DISAGGREGATED INTELLIGENCE"/>
          <p:cNvGrpSpPr/>
          <p:nvPr/>
        </p:nvGrpSpPr>
        <p:grpSpPr>
          <a:xfrm>
            <a:off x="558800" y="356053"/>
            <a:ext cx="11087100" cy="187325"/>
            <a:chOff x="558800" y="356053"/>
            <a:chExt cx="11087100" cy="187325"/>
          </a:xfrm>
        </p:grpSpPr>
        <p:sp>
          <p:nvSpPr>
            <p:cNvPr id="1001" name="24 · l: DISAGGREGATED INTELLIGENCE [p2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4 · r: 24 / 36 [p2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24 / 36</a:t>
              </a:r>
              <a:endParaRPr lang="en-US" sz="950" b="1" i="0" kern="0" spc="65" dirty="0">
                <a:solidFill>
                  <a:srgbClr val="022AC0"/>
                </a:solidFill>
                <a:latin typeface="Salesforce Sans"/>
                <a:ea typeface="Salesforce Sans"/>
                <a:cs typeface="Salesforce Sans"/>
              </a:endParaRPr>
            </a:p>
          </p:txBody>
        </p:sp>
      </p:grpSp>
      <p:grpSp>
        <p:nvGrpSpPr>
          <p:cNvPr id="1026" name="24 · deck-head: 06 / INTERACTIVE BREAK-EVEN"/>
          <p:cNvGrpSpPr/>
          <p:nvPr/>
        </p:nvGrpSpPr>
        <p:grpSpPr>
          <a:xfrm>
            <a:off x="558800" y="775901"/>
            <a:ext cx="11087100" cy="871263"/>
            <a:chOff x="558800" y="775901"/>
            <a:chExt cx="11087100" cy="871263"/>
          </a:xfrm>
        </p:grpSpPr>
        <p:sp>
          <p:nvSpPr>
            <p:cNvPr id="1003" name="24 · economics-eyebrow: 06 / INTERACTIVE BREAK-EVEN [p2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BREAK-EVEN</a:t>
              </a:r>
              <a:endParaRPr lang="en-US" sz="1050" b="1" i="0" kern="0" spc="68" dirty="0">
                <a:solidFill>
                  <a:srgbClr val="022AC0"/>
                </a:solidFill>
                <a:latin typeface="Salesforce Sans"/>
                <a:ea typeface="Salesforce Sans"/>
                <a:cs typeface="Salesforce Sans"/>
              </a:endParaRPr>
            </a:p>
          </p:txBody>
        </p:sp>
        <p:sp>
          <p:nvSpPr>
            <p:cNvPr id="1004" name="24 · economics-title: Savings depend on avoiding expensive work [p2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Savings depend on avoiding expensive work</a:t>
              </a:r>
              <a:endParaRPr lang="en-US" sz="3600" b="1" i="0" kern="0" spc="-95" dirty="0">
                <a:solidFill>
                  <a:srgbClr val="022AC0"/>
                </a:solidFill>
                <a:latin typeface="Manrope"/>
                <a:ea typeface="Manrope"/>
                <a:cs typeface="Manrope"/>
              </a:endParaRPr>
            </a:p>
          </p:txBody>
        </p:sp>
      </p:grpSp>
      <p:grpSp>
        <p:nvGrpSpPr>
          <p:cNvPr id="1027" name="24 · formula: Baseline = G Candidate = D + O + pG"/>
          <p:cNvGrpSpPr/>
          <p:nvPr/>
        </p:nvGrpSpPr>
        <p:grpSpPr>
          <a:xfrm>
            <a:off x="558800" y="2262505"/>
            <a:ext cx="5232400" cy="1376680"/>
            <a:chOff x="558800" y="2262505"/>
            <a:chExt cx="5232400" cy="1376680"/>
          </a:xfrm>
        </p:grpSpPr>
        <p:sp>
          <p:nvSpPr>
            <p:cNvPr id="1005" name="24 · formula · surface [p24-e0008]"/>
            <p:cNvSpPr/>
            <p:nvPr/>
          </p:nvSpPr>
          <p:spPr>
            <a:xfrm>
              <a:off x="558800" y="2262505"/>
              <a:ext cx="5232400" cy="1376680"/>
            </a:xfrm>
            <a:prstGeom prst="roundRect">
              <a:avLst>
                <a:gd name="adj" fmla="val 8303"/>
              </a:avLst>
            </a:prstGeom>
            <a:solidFill>
              <a:srgbClr val="FBF0CF"/>
            </a:solidFill>
            <a:ln>
              <a:noFill/>
            </a:ln>
          </p:spPr>
        </p:sp>
        <p:sp>
          <p:nvSpPr>
            <p:cNvPr id="1006" name="24 · formula: Baseline = G Candidate = D + O + pG [p24-text-0015]" descr="Native editable Unicode text; authored line breaks retained."/>
            <p:cNvSpPr txBox="1"/>
            <p:nvPr/>
          </p:nvSpPr>
          <p:spPr>
            <a:xfrm>
              <a:off x="787400" y="2470783"/>
              <a:ext cx="4787900" cy="10020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Baseline = G</a:t>
              </a:r>
              <a:endParaRPr lang="en-US" sz="2800" b="0" i="0" kern="0" spc="0" dirty="0">
                <a:solidFill>
                  <a:srgbClr val="032D60"/>
                </a:solidFill>
                <a:latin typeface="IBM Plex Mono"/>
                <a:ea typeface="IBM Plex Mono"/>
                <a:cs typeface="IBM Plex Mono"/>
              </a:endParaRPr>
            </a:p>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Candidate = D + O + pG</a:t>
              </a:r>
              <a:endParaRPr lang="en-US" sz="2800" b="0" i="0" kern="0" spc="0" dirty="0">
                <a:solidFill>
                  <a:srgbClr val="032D60"/>
                </a:solidFill>
                <a:latin typeface="IBM Plex Mono"/>
                <a:ea typeface="IBM Plex Mono"/>
                <a:cs typeface="IBM Plex Mono"/>
              </a:endParaRPr>
            </a:p>
          </p:txBody>
        </p:sp>
      </p:grpSp>
      <p:sp>
        <p:nvSpPr>
          <p:cNvPr id="1007" name="24 · economics-text-1: G = 1.00 expensive routing call D = 0.03 specialized decision O = 0.04 added o [p24-text-0016]" descr="Native editable Unicode text; authored line breaks retained."/>
          <p:cNvSpPr txBox="1"/>
          <p:nvPr/>
        </p:nvSpPr>
        <p:spPr>
          <a:xfrm>
            <a:off x="558800" y="3804921"/>
            <a:ext cx="5245100" cy="696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G = 1.00 expensive routing call</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 = 0.03 specialized decision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 = 0.04 added orchestration</a:t>
            </a:r>
            <a:endParaRPr lang="en-US" sz="1250" b="0" i="0" kern="0" spc="0" dirty="0">
              <a:solidFill>
                <a:srgbClr val="032D60"/>
              </a:solidFill>
              <a:latin typeface="Salesforce Sans"/>
              <a:ea typeface="Salesforce Sans"/>
              <a:cs typeface="Salesforce Sans"/>
            </a:endParaRPr>
          </a:p>
        </p:txBody>
      </p:sp>
      <p:sp>
        <p:nvSpPr>
          <p:cNvPr id="1008" name="24 · label: Routes still using G: 20% [p24-text-0017]" descr="Native editable Unicode text; authored line breaks retained."/>
          <p:cNvSpPr txBox="1"/>
          <p:nvPr/>
        </p:nvSpPr>
        <p:spPr>
          <a:xfrm>
            <a:off x="558800" y="4583748"/>
            <a:ext cx="5245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Routes still using G: </a:t>
            </a:r>
            <a:r>
              <a:rPr lang="en-US" sz="2000" b="0" i="0" kern="0" spc="0" dirty="0">
                <a:solidFill>
                  <a:srgbClr val="032D60"/>
                </a:solidFill>
                <a:latin typeface="IBM Plex Mono"/>
                <a:ea typeface="IBM Plex Mono"/>
                <a:cs typeface="IBM Plex Mono"/>
              </a:rPr>
              <a:t>20%</a:t>
            </a:r>
            <a:endParaRPr lang="en-US" sz="2000" b="0" i="0" kern="0" spc="0" dirty="0">
              <a:solidFill>
                <a:srgbClr val="032D60"/>
              </a:solidFill>
              <a:latin typeface="IBM Plex Mono"/>
              <a:ea typeface="IBM Plex Mono"/>
              <a:cs typeface="IBM Plex Mono"/>
            </a:endParaRPr>
          </a:p>
        </p:txBody>
      </p:sp>
      <p:sp>
        <p:nvSpPr>
          <p:cNvPr id="1009" name="24 · span: Baseline [p24-text-0018]" descr="Native editable Unicode text; authored line breaks retained."/>
          <p:cNvSpPr txBox="1"/>
          <p:nvPr/>
        </p:nvSpPr>
        <p:spPr>
          <a:xfrm>
            <a:off x="6426200" y="238665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Baseline</a:t>
            </a:r>
            <a:endParaRPr lang="en-US" sz="1400" b="0" i="0" kern="0" spc="0" dirty="0">
              <a:solidFill>
                <a:srgbClr val="032D60"/>
              </a:solidFill>
              <a:latin typeface="Salesforce Sans"/>
              <a:ea typeface="Salesforce Sans"/>
              <a:cs typeface="Salesforce Sans"/>
            </a:endParaRPr>
          </a:p>
        </p:txBody>
      </p:sp>
      <p:sp>
        <p:nvSpPr>
          <p:cNvPr id="1010" name="24 · span: Candidate [p24-text-0019]" descr="Native editable Unicode text; authored line breaks retained."/>
          <p:cNvSpPr txBox="1"/>
          <p:nvPr/>
        </p:nvSpPr>
        <p:spPr>
          <a:xfrm>
            <a:off x="6426200" y="301530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Candidate</a:t>
            </a:r>
            <a:endParaRPr lang="en-US" sz="1400" b="0" i="0" kern="0" spc="0" dirty="0">
              <a:solidFill>
                <a:srgbClr val="032D60"/>
              </a:solidFill>
              <a:latin typeface="Salesforce Sans"/>
              <a:ea typeface="Salesforce Sans"/>
              <a:cs typeface="Salesforce Sans"/>
            </a:endParaRPr>
          </a:p>
        </p:txBody>
      </p:sp>
      <p:sp>
        <p:nvSpPr>
          <p:cNvPr id="1011" name="24 · cost-metric: 73% lower [p24-text-0020]" descr="Native editable Unicode text; authored line breaks retained."/>
          <p:cNvSpPr txBox="1"/>
          <p:nvPr/>
        </p:nvSpPr>
        <p:spPr>
          <a:xfrm>
            <a:off x="6426200" y="3468205"/>
            <a:ext cx="5118100" cy="706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00"/>
              </a:lnSpc>
              <a:spcBef>
                <a:spcPts val="0"/>
              </a:spcBef>
              <a:spcAft>
                <a:spcPts val="0"/>
              </a:spcAft>
              <a:buNone/>
            </a:pPr>
            <a:r>
              <a:rPr lang="en-US" sz="4300" b="0" i="0" kern="0" spc="0" dirty="0">
                <a:solidFill>
                  <a:srgbClr val="032D60"/>
                </a:solidFill>
                <a:latin typeface="Salesforce Sans"/>
                <a:ea typeface="Salesforce Sans"/>
                <a:cs typeface="Salesforce Sans"/>
              </a:rPr>
              <a:t>73% lower</a:t>
            </a:r>
            <a:endParaRPr lang="en-US" sz="4300" b="0" i="0" kern="0" spc="0" dirty="0">
              <a:solidFill>
                <a:srgbClr val="032D60"/>
              </a:solidFill>
              <a:latin typeface="Salesforce Sans"/>
              <a:ea typeface="Salesforce Sans"/>
              <a:cs typeface="Salesforce Sans"/>
            </a:endParaRPr>
          </a:p>
        </p:txBody>
      </p:sp>
      <p:sp>
        <p:nvSpPr>
          <p:cNvPr id="1012" name="24 · economics-text-2: 0.27 normalized units [p24-text-0021]" descr="Native editable Unicode text; authored line breaks retained."/>
          <p:cNvSpPr txBox="1"/>
          <p:nvPr/>
        </p:nvSpPr>
        <p:spPr>
          <a:xfrm>
            <a:off x="6426200" y="4205172"/>
            <a:ext cx="51181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0.27 normalized units</a:t>
            </a:r>
            <a:endParaRPr lang="en-US" sz="1400" b="0" i="0" kern="0" spc="0" dirty="0">
              <a:solidFill>
                <a:srgbClr val="032D60"/>
              </a:solidFill>
              <a:latin typeface="Salesforce Sans"/>
              <a:ea typeface="Salesforce Sans"/>
              <a:cs typeface="Salesforce Sans"/>
            </a:endParaRPr>
          </a:p>
        </p:txBody>
      </p:sp>
      <p:sp>
        <p:nvSpPr>
          <p:cNvPr id="1013" name="24 · economics-text-3: Break-even: D + O = (1 − p)G Later messages and service work excluded. [p24-text-0022]" descr="Native editable Unicode text; authored line breaks retained."/>
          <p:cNvSpPr txBox="1"/>
          <p:nvPr/>
        </p:nvSpPr>
        <p:spPr>
          <a:xfrm>
            <a:off x="6426200" y="4611117"/>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Break-even: D + O = (1 − p)G</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Later messages and service work excluded.</a:t>
            </a:r>
            <a:endParaRPr lang="en-US" sz="1250" b="0" i="0" kern="0" spc="0" dirty="0">
              <a:solidFill>
                <a:srgbClr val="032D60"/>
              </a:solidFill>
              <a:latin typeface="Salesforce Sans"/>
              <a:ea typeface="Salesforce Sans"/>
              <a:cs typeface="Salesforce Sans"/>
            </a:endParaRPr>
          </a:p>
        </p:txBody>
      </p:sp>
      <p:sp>
        <p:nvSpPr>
          <p:cNvPr id="1014" name="24 · tag: ROUTING STEP ONLY · INVENTED UNIT COSTS [p24-text-0023]" descr="Native editable Unicode text; authored line breaks retained."/>
          <p:cNvSpPr txBox="1"/>
          <p:nvPr/>
        </p:nvSpPr>
        <p:spPr>
          <a:xfrm>
            <a:off x="558800" y="1930398"/>
            <a:ext cx="5245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ROUTING STEP ONLY · INVENTED UNIT COSTS</a:t>
            </a:r>
            <a:endParaRPr lang="en-US" sz="1050" b="0" i="0" kern="0" spc="50" dirty="0">
              <a:solidFill>
                <a:srgbClr val="022AC0">
                  <a:alpha val="85000"/>
                </a:srgbClr>
              </a:solidFill>
              <a:latin typeface="IBM Plex Mono"/>
              <a:ea typeface="IBM Plex Mono"/>
              <a:cs typeface="IBM Plex Mono"/>
            </a:endParaRPr>
          </a:p>
        </p:txBody>
      </p:sp>
      <p:sp>
        <p:nvSpPr>
          <p:cNvPr id="1015" name="24 · tag: HYPOTHETICAL ROUTING-STAGE ARITHMETIC [p24-text-0024]"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HYPOTHETICAL ROUTING-STAGE ARITHMETIC</a:t>
            </a:r>
            <a:endParaRPr lang="en-US" sz="1050" b="0" i="0" kern="0" spc="50" dirty="0">
              <a:solidFill>
                <a:srgbClr val="022AC0">
                  <a:alpha val="85000"/>
                </a:srgbClr>
              </a:solidFill>
              <a:latin typeface="IBM Plex Mono"/>
              <a:ea typeface="IBM Plex Mono"/>
              <a:cs typeface="IBM Plex Mono"/>
            </a:endParaRPr>
          </a:p>
        </p:txBody>
      </p:sp>
      <p:sp>
        <p:nvSpPr>
          <p:cNvPr id="1016" name="24 · cost-track · surface [p24-e0024]"/>
          <p:cNvSpPr/>
          <p:nvPr/>
        </p:nvSpPr>
        <p:spPr>
          <a:xfrm>
            <a:off x="7600950" y="2262505"/>
            <a:ext cx="3930650" cy="476250"/>
          </a:xfrm>
          <a:prstGeom prst="roundRect">
            <a:avLst>
              <a:gd name="adj" fmla="val 13333"/>
            </a:avLst>
          </a:prstGeom>
          <a:solidFill>
            <a:srgbClr val="CCDFED"/>
          </a:solidFill>
          <a:ln>
            <a:noFill/>
          </a:ln>
        </p:spPr>
      </p:sp>
      <p:sp>
        <p:nvSpPr>
          <p:cNvPr id="1017" name="24 · div · surface [p24-e0025]"/>
          <p:cNvSpPr/>
          <p:nvPr/>
        </p:nvSpPr>
        <p:spPr>
          <a:xfrm>
            <a:off x="7600950" y="2262505"/>
            <a:ext cx="3573318" cy="476250"/>
          </a:xfrm>
          <a:custGeom>
            <a:avLst/>
            <a:gdLst/>
            <a:ahLst/>
            <a:cxnLst/>
            <a:rect l="0" t="0" r="r" b="b"/>
            <a:pathLst>
              <a:path w="3573318" h="476250" fill="norm" stroke="1" extrusionOk="0">
                <a:moveTo>
                  <a:pt x="0" y="0"/>
                </a:moveTo>
                <a:lnTo>
                  <a:pt x="3509818" y="0"/>
                </a:lnTo>
                <a:cubicBezTo>
                  <a:pt x="3544888" y="0"/>
                  <a:pt x="3573318" y="28430"/>
                  <a:pt x="3573318" y="63500"/>
                </a:cubicBezTo>
                <a:lnTo>
                  <a:pt x="3573318" y="412750"/>
                </a:lnTo>
                <a:cubicBezTo>
                  <a:pt x="3573318" y="447820"/>
                  <a:pt x="3544888" y="476250"/>
                  <a:pt x="3509818"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sp>
        <p:nvSpPr>
          <p:cNvPr id="1018" name="24 · cost-track · surface [p24-e0026]"/>
          <p:cNvSpPr/>
          <p:nvPr/>
        </p:nvSpPr>
        <p:spPr>
          <a:xfrm>
            <a:off x="7600950" y="2891155"/>
            <a:ext cx="3930650" cy="476250"/>
          </a:xfrm>
          <a:prstGeom prst="roundRect">
            <a:avLst>
              <a:gd name="adj" fmla="val 13333"/>
            </a:avLst>
          </a:prstGeom>
          <a:solidFill>
            <a:srgbClr val="CCDFED"/>
          </a:solidFill>
          <a:ln>
            <a:noFill/>
          </a:ln>
        </p:spPr>
      </p:sp>
      <p:sp>
        <p:nvSpPr>
          <p:cNvPr id="1019" name="24 · div · surface [p24-e0027]"/>
          <p:cNvSpPr/>
          <p:nvPr/>
        </p:nvSpPr>
        <p:spPr>
          <a:xfrm>
            <a:off x="7600950" y="2891155"/>
            <a:ext cx="107200" cy="476250"/>
          </a:xfrm>
          <a:custGeom>
            <a:avLst/>
            <a:gdLst/>
            <a:ahLst/>
            <a:cxnLst/>
            <a:rect l="0" t="0" r="r" b="b"/>
            <a:pathLst>
              <a:path w="107200" h="476250" fill="norm" stroke="1" extrusionOk="0">
                <a:moveTo>
                  <a:pt x="53600" y="0"/>
                </a:moveTo>
                <a:lnTo>
                  <a:pt x="107200" y="0"/>
                </a:lnTo>
                <a:cubicBezTo>
                  <a:pt x="107200" y="0"/>
                  <a:pt x="107200" y="0"/>
                  <a:pt x="107200" y="0"/>
                </a:cubicBezTo>
                <a:lnTo>
                  <a:pt x="107200" y="476250"/>
                </a:lnTo>
                <a:cubicBezTo>
                  <a:pt x="107200" y="476250"/>
                  <a:pt x="107200" y="476250"/>
                  <a:pt x="107200" y="476250"/>
                </a:cubicBezTo>
                <a:lnTo>
                  <a:pt x="53600" y="476250"/>
                </a:lnTo>
                <a:cubicBezTo>
                  <a:pt x="23997" y="476250"/>
                  <a:pt x="0" y="447820"/>
                  <a:pt x="0" y="412750"/>
                </a:cubicBezTo>
                <a:lnTo>
                  <a:pt x="0" y="63500"/>
                </a:lnTo>
                <a:cubicBezTo>
                  <a:pt x="0" y="28430"/>
                  <a:pt x="23997" y="0"/>
                  <a:pt x="53600" y="0"/>
                </a:cubicBezTo>
                <a:close/>
              </a:path>
            </a:pathLst>
          </a:custGeom>
          <a:solidFill>
            <a:srgbClr val="FBF0CF"/>
          </a:solidFill>
          <a:ln>
            <a:noFill/>
          </a:ln>
        </p:spPr>
      </p:sp>
      <p:sp>
        <p:nvSpPr>
          <p:cNvPr id="1020" name="24 · div · surface [p24-e0028]"/>
          <p:cNvSpPr/>
          <p:nvPr/>
        </p:nvSpPr>
        <p:spPr>
          <a:xfrm>
            <a:off x="7708150" y="2891155"/>
            <a:ext cx="142933" cy="476250"/>
          </a:xfrm>
          <a:prstGeom prst="rect">
            <a:avLst/>
          </a:prstGeom>
          <a:solidFill>
            <a:srgbClr val="DDF3ED"/>
          </a:solidFill>
          <a:ln>
            <a:noFill/>
          </a:ln>
        </p:spPr>
      </p:sp>
      <p:sp>
        <p:nvSpPr>
          <p:cNvPr id="1021" name="24 · div · surface [p24-e0029]"/>
          <p:cNvSpPr/>
          <p:nvPr/>
        </p:nvSpPr>
        <p:spPr>
          <a:xfrm>
            <a:off x="7851082" y="2891155"/>
            <a:ext cx="714664" cy="476250"/>
          </a:xfrm>
          <a:custGeom>
            <a:avLst/>
            <a:gdLst/>
            <a:ahLst/>
            <a:cxnLst/>
            <a:rect l="0" t="0" r="r" b="b"/>
            <a:pathLst>
              <a:path w="714664" h="476250" fill="norm" stroke="1" extrusionOk="0">
                <a:moveTo>
                  <a:pt x="0" y="0"/>
                </a:moveTo>
                <a:lnTo>
                  <a:pt x="651164" y="0"/>
                </a:lnTo>
                <a:cubicBezTo>
                  <a:pt x="686234" y="0"/>
                  <a:pt x="714664" y="28430"/>
                  <a:pt x="714664" y="63500"/>
                </a:cubicBezTo>
                <a:lnTo>
                  <a:pt x="714664" y="412750"/>
                </a:lnTo>
                <a:cubicBezTo>
                  <a:pt x="714664" y="447820"/>
                  <a:pt x="686234" y="476250"/>
                  <a:pt x="651164"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grpSp>
        <p:nvGrpSpPr>
          <p:cNvPr id="1028" name="24 · source-line: Composable AI · Building with System One"/>
          <p:cNvGrpSpPr/>
          <p:nvPr/>
        </p:nvGrpSpPr>
        <p:grpSpPr>
          <a:xfrm>
            <a:off x="558800" y="6037898"/>
            <a:ext cx="11087100" cy="284456"/>
            <a:chOff x="558800" y="6037898"/>
            <a:chExt cx="11087100" cy="284456"/>
          </a:xfrm>
        </p:grpSpPr>
        <p:sp>
          <p:nvSpPr>
            <p:cNvPr id="1022" name="24 · source-line · top border [p24-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24 · span: Composable AI · Building with System One [p24-text-0025]" descr="Native editable Unicode text; authored line breaks retained."/>
            <p:cNvSpPr txBox="1"/>
            <p:nvPr/>
          </p:nvSpPr>
          <p:spPr>
            <a:xfrm>
              <a:off x="558800" y="6153126"/>
              <a:ext cx="24053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4" name="24 · span: Illustrative arithmetic; no measured cost claim [p24-text-0026]" descr="Native editable Unicode text; authored line breaks retained."/>
            <p:cNvSpPr txBox="1"/>
            <p:nvPr/>
          </p:nvSpPr>
          <p:spPr>
            <a:xfrm>
              <a:off x="9046183" y="6153126"/>
              <a:ext cx="25997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arithmetic; no measured cost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Fast inference helps the path that uses it">
    <p:bg>
      <p:bgPr>
        <a:solidFill>
          <a:srgbClr val="FFFFFF"/>
        </a:solidFill>
      </p:bgPr>
    </p:bg>
    <p:spTree>
      <p:nvGrpSpPr>
        <p:cNvPr id="1" name=""/>
        <p:cNvGrpSpPr/>
        <p:nvPr/>
      </p:nvGrpSpPr>
      <p:grpSpPr>
        <a:xfrm>
          <a:off x="0" y="0"/>
          <a:ext cx="0" cy="0"/>
          <a:chOff x="0" y="0"/>
          <a:chExt cx="0" cy="0"/>
        </a:xfrm>
      </p:grpSpPr>
      <p:sp>
        <p:nvSpPr>
          <p:cNvPr id="1000" name="25 · slide light · surface [p2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25 · chrome-min: DISAGGREGATED INTELLIGENCE"/>
          <p:cNvGrpSpPr/>
          <p:nvPr/>
        </p:nvGrpSpPr>
        <p:grpSpPr>
          <a:xfrm>
            <a:off x="558800" y="356053"/>
            <a:ext cx="11087100" cy="187325"/>
            <a:chOff x="558800" y="356053"/>
            <a:chExt cx="11087100" cy="187325"/>
          </a:xfrm>
        </p:grpSpPr>
        <p:sp>
          <p:nvSpPr>
            <p:cNvPr id="1001" name="25 · l: DISAGGREGATED INTELLIGENCE [p25-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5 · r: 25 / 36 [p25-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25 / 36</a:t>
              </a:r>
              <a:endParaRPr lang="en-US" sz="950" b="1" i="0" kern="0" spc="65" dirty="0">
                <a:solidFill>
                  <a:srgbClr val="022AC0"/>
                </a:solidFill>
                <a:latin typeface="Salesforce Sans"/>
                <a:ea typeface="Salesforce Sans"/>
                <a:cs typeface="Salesforce Sans"/>
              </a:endParaRPr>
            </a:p>
          </p:txBody>
        </p:sp>
      </p:grpSp>
      <p:grpSp>
        <p:nvGrpSpPr>
          <p:cNvPr id="1035" name="25 · deck-head: 06 / MEASURE THE CRITICAL PATH"/>
          <p:cNvGrpSpPr/>
          <p:nvPr/>
        </p:nvGrpSpPr>
        <p:grpSpPr>
          <a:xfrm>
            <a:off x="558800" y="775901"/>
            <a:ext cx="11087100" cy="871263"/>
            <a:chOff x="558800" y="775901"/>
            <a:chExt cx="11087100" cy="871263"/>
          </a:xfrm>
        </p:grpSpPr>
        <p:sp>
          <p:nvSpPr>
            <p:cNvPr id="1003" name="25 · latency-eyebrow: 06 / MEASURE THE CRITICAL PATH [p25-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MEASURE THE CRITICAL PATH</a:t>
              </a:r>
              <a:endParaRPr lang="en-US" sz="1050" b="1" i="0" kern="0" spc="68" dirty="0">
                <a:solidFill>
                  <a:srgbClr val="022AC0"/>
                </a:solidFill>
                <a:latin typeface="Salesforce Sans"/>
                <a:ea typeface="Salesforce Sans"/>
                <a:cs typeface="Salesforce Sans"/>
              </a:endParaRPr>
            </a:p>
          </p:txBody>
        </p:sp>
        <p:sp>
          <p:nvSpPr>
            <p:cNvPr id="1004" name="25 · latency-title: Fast inference helps the path that uses it [p25-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Fast inference helps the path that uses it</a:t>
              </a:r>
              <a:endParaRPr lang="en-US" sz="3600" b="1" i="0" kern="0" spc="-95" dirty="0">
                <a:solidFill>
                  <a:srgbClr val="022AC0"/>
                </a:solidFill>
                <a:latin typeface="Manrope"/>
                <a:ea typeface="Manrope"/>
                <a:cs typeface="Manrope"/>
              </a:endParaRPr>
            </a:p>
          </p:txBody>
        </p:sp>
      </p:grpSp>
      <p:grpSp>
        <p:nvGrpSpPr>
          <p:cNvPr id="1005" name="25 · svg · drawing [p25-e0008]"/>
          <p:cNvGrpSpPr/>
          <p:nvPr/>
        </p:nvGrpSpPr>
        <p:grpSpPr>
          <a:xfrm>
            <a:off x="2912110" y="2359640"/>
            <a:ext cx="5519896" cy="2291326"/>
            <a:chOff x="2912110" y="2359640"/>
            <a:chExt cx="5519896" cy="2291326"/>
          </a:xfrm>
        </p:grpSpPr>
        <p:grpSp>
          <p:nvGrpSpPr>
            <p:cNvPr id="1006" name="path · 1 + arrowhead"/>
            <p:cNvGrpSpPr/>
            <p:nvPr/>
          </p:nvGrpSpPr>
          <p:grpSpPr>
            <a:xfrm>
              <a:off x="2912110" y="2359640"/>
              <a:ext cx="1297781" cy="471744"/>
              <a:chOff x="2912110" y="2359640"/>
              <a:chExt cx="1297781" cy="471744"/>
            </a:xfrm>
          </p:grpSpPr>
          <p:sp>
            <p:nvSpPr>
              <p:cNvPr id="1007" name="path · 1"/>
              <p:cNvSpPr/>
              <p:nvPr/>
            </p:nvSpPr>
            <p:spPr>
              <a:xfrm>
                <a:off x="2912110" y="2427031"/>
                <a:ext cx="1280478" cy="404352"/>
              </a:xfrm>
              <a:custGeom>
                <a:avLst/>
                <a:gdLst/>
                <a:ahLst/>
                <a:cxnLst/>
                <a:rect l="0" t="0" r="r" b="b"/>
                <a:pathLst>
                  <a:path w="1280478" h="404352" fill="none" stroke="1" extrusionOk="0">
                    <a:moveTo>
                      <a:pt x="0" y="404352"/>
                    </a:moveTo>
                    <a:lnTo>
                      <a:pt x="657543" y="404352"/>
                    </a:lnTo>
                    <a:lnTo>
                      <a:pt x="657543" y="0"/>
                    </a:lnTo>
                    <a:lnTo>
                      <a:pt x="1280478" y="0"/>
                    </a:lnTo>
                  </a:path>
                </a:pathLst>
              </a:custGeom>
              <a:noFill/>
              <a:ln w="15875" cap="flat" cmpd="sng" algn="ctr">
                <a:solidFill>
                  <a:srgbClr val="789B8E"/>
                </a:solidFill>
                <a:prstDash val="solid"/>
                <a:miter lim="400000"/>
                <a:headEnd type="none" w="med" len="med"/>
                <a:tailEnd type="none" w="med" len="med"/>
              </a:ln>
            </p:spPr>
          </p:sp>
          <p:grpSp>
            <p:nvGrpSpPr>
              <p:cNvPr id="1008" name="arr8 end"/>
              <p:cNvGrpSpPr/>
              <p:nvPr/>
            </p:nvGrpSpPr>
            <p:grpSpPr>
              <a:xfrm>
                <a:off x="4071461" y="2359640"/>
                <a:ext cx="138430" cy="134784"/>
                <a:chOff x="4071461" y="2359640"/>
                <a:chExt cx="138430" cy="134784"/>
              </a:xfrm>
            </p:grpSpPr>
            <p:sp>
              <p:nvSpPr>
                <p:cNvPr id="1009" name="path · 2"/>
                <p:cNvSpPr/>
                <p:nvPr/>
              </p:nvSpPr>
              <p:spPr>
                <a:xfrm>
                  <a:off x="4071461"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0" name="path · 3 + arrowhead"/>
            <p:cNvGrpSpPr/>
            <p:nvPr/>
          </p:nvGrpSpPr>
          <p:grpSpPr>
            <a:xfrm>
              <a:off x="7341870" y="2359640"/>
              <a:ext cx="1090136" cy="134784"/>
              <a:chOff x="7341870" y="2359640"/>
              <a:chExt cx="1090136" cy="134784"/>
            </a:xfrm>
          </p:grpSpPr>
          <p:sp>
            <p:nvSpPr>
              <p:cNvPr id="1011" name="path · 3"/>
              <p:cNvSpPr/>
              <p:nvPr/>
            </p:nvSpPr>
            <p:spPr>
              <a:xfrm>
                <a:off x="7341870" y="2427031"/>
                <a:ext cx="1072832" cy="1"/>
              </a:xfrm>
              <a:custGeom>
                <a:avLst/>
                <a:gdLst/>
                <a:ahLst/>
                <a:cxnLst/>
                <a:rect l="0" t="0" r="r" b="b"/>
                <a:pathLst>
                  <a:path w="1072832" h="1" fill="none" stroke="1" extrusionOk="0">
                    <a:moveTo>
                      <a:pt x="0" y="0"/>
                    </a:moveTo>
                    <a:lnTo>
                      <a:pt x="1072832" y="0"/>
                    </a:lnTo>
                  </a:path>
                </a:pathLst>
              </a:custGeom>
              <a:noFill/>
              <a:ln w="15875" cap="flat" cmpd="sng" algn="ctr">
                <a:solidFill>
                  <a:srgbClr val="789B8E"/>
                </a:solidFill>
                <a:prstDash val="solid"/>
                <a:miter lim="400000"/>
                <a:headEnd type="none" w="med" len="med"/>
                <a:tailEnd type="none" w="med" len="med"/>
              </a:ln>
            </p:spPr>
          </p:sp>
          <p:grpSp>
            <p:nvGrpSpPr>
              <p:cNvPr id="1012" name="arr8 end"/>
              <p:cNvGrpSpPr/>
              <p:nvPr/>
            </p:nvGrpSpPr>
            <p:grpSpPr>
              <a:xfrm>
                <a:off x="8293576" y="2359640"/>
                <a:ext cx="138430" cy="134784"/>
                <a:chOff x="8293576" y="2359640"/>
                <a:chExt cx="138430" cy="134784"/>
              </a:xfrm>
            </p:grpSpPr>
            <p:sp>
              <p:nvSpPr>
                <p:cNvPr id="1013" name="path · 4"/>
                <p:cNvSpPr/>
                <p:nvPr/>
              </p:nvSpPr>
              <p:spPr>
                <a:xfrm>
                  <a:off x="8293576"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4" name="path · 5 + arrowhead"/>
            <p:cNvGrpSpPr/>
            <p:nvPr/>
          </p:nvGrpSpPr>
          <p:grpSpPr>
            <a:xfrm>
              <a:off x="2912110" y="2831383"/>
              <a:ext cx="1297781" cy="1819582"/>
              <a:chOff x="2912110" y="2831383"/>
              <a:chExt cx="1297781" cy="1819582"/>
            </a:xfrm>
          </p:grpSpPr>
          <p:sp>
            <p:nvSpPr>
              <p:cNvPr id="1015" name="path · 5"/>
              <p:cNvSpPr/>
              <p:nvPr/>
            </p:nvSpPr>
            <p:spPr>
              <a:xfrm>
                <a:off x="2912110" y="2831383"/>
                <a:ext cx="1280478" cy="1752190"/>
              </a:xfrm>
              <a:custGeom>
                <a:avLst/>
                <a:gdLst/>
                <a:ahLst/>
                <a:cxnLst/>
                <a:rect l="0" t="0" r="r" b="b"/>
                <a:pathLst>
                  <a:path w="1280478" h="1752190" fill="none" stroke="1" extrusionOk="0">
                    <a:moveTo>
                      <a:pt x="0" y="0"/>
                    </a:moveTo>
                    <a:lnTo>
                      <a:pt x="657543" y="0"/>
                    </a:lnTo>
                    <a:lnTo>
                      <a:pt x="657543" y="1752190"/>
                    </a:lnTo>
                    <a:lnTo>
                      <a:pt x="1280478" y="1752190"/>
                    </a:lnTo>
                  </a:path>
                </a:pathLst>
              </a:custGeom>
              <a:noFill/>
              <a:ln w="15875" cap="flat" cmpd="sng" algn="ctr">
                <a:solidFill>
                  <a:srgbClr val="789B8E"/>
                </a:solidFill>
                <a:prstDash val="solid"/>
                <a:miter lim="400000"/>
                <a:headEnd type="none" w="med" len="med"/>
                <a:tailEnd type="none" w="med" len="med"/>
              </a:ln>
            </p:spPr>
          </p:sp>
          <p:grpSp>
            <p:nvGrpSpPr>
              <p:cNvPr id="1016" name="arr8 end"/>
              <p:cNvGrpSpPr/>
              <p:nvPr/>
            </p:nvGrpSpPr>
            <p:grpSpPr>
              <a:xfrm>
                <a:off x="4071461" y="4516181"/>
                <a:ext cx="138430" cy="134784"/>
                <a:chOff x="4071461" y="4516181"/>
                <a:chExt cx="138430" cy="134784"/>
              </a:xfrm>
            </p:grpSpPr>
            <p:sp>
              <p:nvSpPr>
                <p:cNvPr id="1017" name="path · 6"/>
                <p:cNvSpPr/>
                <p:nvPr/>
              </p:nvSpPr>
              <p:spPr>
                <a:xfrm>
                  <a:off x="4071461" y="4516181"/>
                  <a:ext cx="138430" cy="134784"/>
                </a:xfrm>
                <a:custGeom>
                  <a:avLst/>
                  <a:gdLst/>
                  <a:ahLst/>
                  <a:cxnLst/>
                  <a:rect l="0" t="0" r="r" b="b"/>
                  <a:pathLst>
                    <a:path w="138430" h="134784" fill="norm" stroke="0" extrusionOk="0">
                      <a:moveTo>
                        <a:pt x="0" y="0"/>
                      </a:moveTo>
                      <a:lnTo>
                        <a:pt x="138430" y="67392"/>
                      </a:lnTo>
                      <a:lnTo>
                        <a:pt x="0" y="134784"/>
                      </a:lnTo>
                      <a:close/>
                    </a:path>
                  </a:pathLst>
                </a:custGeom>
                <a:solidFill>
                  <a:srgbClr val="789B8E"/>
                </a:solidFill>
                <a:ln>
                  <a:noFill/>
                </a:ln>
              </p:spPr>
            </p:sp>
          </p:grpSp>
        </p:grpSp>
      </p:grpSp>
      <p:grpSp>
        <p:nvGrpSpPr>
          <p:cNvPr id="1036" name="25 · node lilac: Fast decision"/>
          <p:cNvGrpSpPr/>
          <p:nvPr/>
        </p:nvGrpSpPr>
        <p:grpSpPr>
          <a:xfrm>
            <a:off x="558800" y="2393326"/>
            <a:ext cx="2353310" cy="876106"/>
            <a:chOff x="558800" y="2393326"/>
            <a:chExt cx="2353310" cy="876106"/>
          </a:xfrm>
        </p:grpSpPr>
        <p:sp>
          <p:nvSpPr>
            <p:cNvPr id="1018" name="25 · node lilac · surface [p25-e0009]"/>
            <p:cNvSpPr/>
            <p:nvPr/>
          </p:nvSpPr>
          <p:spPr>
            <a:xfrm>
              <a:off x="558800" y="2393326"/>
              <a:ext cx="2353310" cy="876106"/>
            </a:xfrm>
            <a:prstGeom prst="roundRect">
              <a:avLst>
                <a:gd name="adj" fmla="val 15946"/>
              </a:avLst>
            </a:prstGeom>
            <a:solidFill>
              <a:srgbClr val="EAE6FA"/>
            </a:solidFill>
            <a:ln>
              <a:noFill/>
            </a:ln>
          </p:spPr>
        </p:sp>
        <p:sp>
          <p:nvSpPr>
            <p:cNvPr id="1019" name="25 · strong: Fast decision [p25-text-0013]" descr="Native editable Unicode text; authored line breaks retained."/>
            <p:cNvSpPr txBox="1"/>
            <p:nvPr/>
          </p:nvSpPr>
          <p:spPr>
            <a:xfrm>
              <a:off x="736600" y="2580942"/>
              <a:ext cx="201041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Fast decision</a:t>
              </a:r>
              <a:endParaRPr lang="en-US" sz="1450" b="1" i="0" kern="0" spc="0" dirty="0">
                <a:solidFill>
                  <a:srgbClr val="032D60"/>
                </a:solidFill>
                <a:latin typeface="Salesforce Sans"/>
                <a:ea typeface="Salesforce Sans"/>
                <a:cs typeface="Salesforce Sans"/>
              </a:endParaRPr>
            </a:p>
          </p:txBody>
        </p:sp>
        <p:sp>
          <p:nvSpPr>
            <p:cNvPr id="1020" name="25 · small: Measure call latency [p25-text-0014]" descr="Native editable Unicode text; authored line breaks retained."/>
            <p:cNvSpPr txBox="1"/>
            <p:nvPr/>
          </p:nvSpPr>
          <p:spPr>
            <a:xfrm>
              <a:off x="736600" y="2892262"/>
              <a:ext cx="201041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call latency</a:t>
              </a:r>
              <a:endParaRPr lang="en-US" sz="1100" b="0" i="0" kern="0" spc="0" dirty="0">
                <a:solidFill>
                  <a:srgbClr val="032D60"/>
                </a:solidFill>
                <a:latin typeface="Salesforce Sans"/>
                <a:ea typeface="Salesforce Sans"/>
                <a:cs typeface="Salesforce Sans"/>
              </a:endParaRPr>
            </a:p>
          </p:txBody>
        </p:sp>
      </p:grpSp>
      <p:grpSp>
        <p:nvGrpSpPr>
          <p:cNvPr id="1037" name="25 · node blue: Handler checks"/>
          <p:cNvGrpSpPr/>
          <p:nvPr/>
        </p:nvGrpSpPr>
        <p:grpSpPr>
          <a:xfrm>
            <a:off x="4227195" y="1988992"/>
            <a:ext cx="3114675" cy="876106"/>
            <a:chOff x="4227195" y="1988992"/>
            <a:chExt cx="3114675" cy="876106"/>
          </a:xfrm>
        </p:grpSpPr>
        <p:sp>
          <p:nvSpPr>
            <p:cNvPr id="1021" name="25 · node blue · surface [p25-e0012]"/>
            <p:cNvSpPr/>
            <p:nvPr/>
          </p:nvSpPr>
          <p:spPr>
            <a:xfrm>
              <a:off x="4227195" y="1988992"/>
              <a:ext cx="3114675" cy="876106"/>
            </a:xfrm>
            <a:prstGeom prst="roundRect">
              <a:avLst>
                <a:gd name="adj" fmla="val 15946"/>
              </a:avLst>
            </a:prstGeom>
            <a:solidFill>
              <a:srgbClr val="DCEEFE"/>
            </a:solidFill>
            <a:ln>
              <a:noFill/>
            </a:ln>
          </p:spPr>
        </p:sp>
        <p:sp>
          <p:nvSpPr>
            <p:cNvPr id="1022" name="25 · strong: Handler checks [p25-text-0015]" descr="Native editable Unicode text; authored line breaks retained."/>
            <p:cNvSpPr txBox="1"/>
            <p:nvPr/>
          </p:nvSpPr>
          <p:spPr>
            <a:xfrm>
              <a:off x="4404995"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Handler checks</a:t>
              </a:r>
              <a:endParaRPr lang="en-US" sz="1450" b="1" i="0" kern="0" spc="0" dirty="0">
                <a:solidFill>
                  <a:srgbClr val="032D60"/>
                </a:solidFill>
                <a:latin typeface="Salesforce Sans"/>
                <a:ea typeface="Salesforce Sans"/>
                <a:cs typeface="Salesforce Sans"/>
              </a:endParaRPr>
            </a:p>
          </p:txBody>
        </p:sp>
        <p:sp>
          <p:nvSpPr>
            <p:cNvPr id="1023" name="25 · small: Policy + stock + quote [p25-text-0016]" descr="Native editable Unicode text; authored line breaks retained."/>
            <p:cNvSpPr txBox="1"/>
            <p:nvPr/>
          </p:nvSpPr>
          <p:spPr>
            <a:xfrm>
              <a:off x="4404995"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Policy + stock + quote</a:t>
              </a:r>
              <a:endParaRPr lang="en-US" sz="1100" b="0" i="0" kern="0" spc="0" dirty="0">
                <a:solidFill>
                  <a:srgbClr val="032D60"/>
                </a:solidFill>
                <a:latin typeface="Salesforce Sans"/>
                <a:ea typeface="Salesforce Sans"/>
                <a:cs typeface="Salesforce Sans"/>
              </a:endParaRPr>
            </a:p>
          </p:txBody>
        </p:sp>
      </p:grpSp>
      <p:grpSp>
        <p:nvGrpSpPr>
          <p:cNvPr id="1038" name="25 · node mint: Customer offer"/>
          <p:cNvGrpSpPr/>
          <p:nvPr/>
        </p:nvGrpSpPr>
        <p:grpSpPr>
          <a:xfrm>
            <a:off x="8449310" y="1988992"/>
            <a:ext cx="3114675" cy="876106"/>
            <a:chOff x="8449310" y="1988992"/>
            <a:chExt cx="3114675" cy="876106"/>
          </a:xfrm>
        </p:grpSpPr>
        <p:sp>
          <p:nvSpPr>
            <p:cNvPr id="1024" name="25 · node mint · surface [p25-e0015]"/>
            <p:cNvSpPr/>
            <p:nvPr/>
          </p:nvSpPr>
          <p:spPr>
            <a:xfrm>
              <a:off x="8449310" y="1988992"/>
              <a:ext cx="3114675" cy="876106"/>
            </a:xfrm>
            <a:prstGeom prst="roundRect">
              <a:avLst>
                <a:gd name="adj" fmla="val 15946"/>
              </a:avLst>
            </a:prstGeom>
            <a:solidFill>
              <a:srgbClr val="DDF3ED"/>
            </a:solidFill>
            <a:ln>
              <a:noFill/>
            </a:ln>
          </p:spPr>
        </p:sp>
        <p:sp>
          <p:nvSpPr>
            <p:cNvPr id="1025" name="25 · strong: Customer offer [p25-text-0017]" descr="Native editable Unicode text; authored line breaks retained."/>
            <p:cNvSpPr txBox="1"/>
            <p:nvPr/>
          </p:nvSpPr>
          <p:spPr>
            <a:xfrm>
              <a:off x="8627110"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Customer offer</a:t>
              </a:r>
              <a:endParaRPr lang="en-US" sz="1450" b="1" i="0" kern="0" spc="0" dirty="0">
                <a:solidFill>
                  <a:srgbClr val="032D60"/>
                </a:solidFill>
                <a:latin typeface="Salesforce Sans"/>
                <a:ea typeface="Salesforce Sans"/>
                <a:cs typeface="Salesforce Sans"/>
              </a:endParaRPr>
            </a:p>
          </p:txBody>
        </p:sp>
        <p:sp>
          <p:nvSpPr>
            <p:cNvPr id="1026" name="25 · small: Measure response latency [p25-text-0018]" descr="Native editable Unicode text; authored line breaks retained."/>
            <p:cNvSpPr txBox="1"/>
            <p:nvPr/>
          </p:nvSpPr>
          <p:spPr>
            <a:xfrm>
              <a:off x="8627110"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response latency</a:t>
              </a:r>
              <a:endParaRPr lang="en-US" sz="1100" b="0" i="0" kern="0" spc="0" dirty="0">
                <a:solidFill>
                  <a:srgbClr val="032D60"/>
                </a:solidFill>
                <a:latin typeface="Salesforce Sans"/>
                <a:ea typeface="Salesforce Sans"/>
                <a:cs typeface="Salesforce Sans"/>
              </a:endParaRPr>
            </a:p>
          </p:txBody>
        </p:sp>
      </p:grpSp>
      <p:grpSp>
        <p:nvGrpSpPr>
          <p:cNvPr id="1039" name="25 · node peach: Review queue + human handling"/>
          <p:cNvGrpSpPr/>
          <p:nvPr/>
        </p:nvGrpSpPr>
        <p:grpSpPr>
          <a:xfrm>
            <a:off x="4227195" y="4078142"/>
            <a:ext cx="7336790" cy="1010898"/>
            <a:chOff x="4227195" y="4078142"/>
            <a:chExt cx="7336790" cy="1010898"/>
          </a:xfrm>
        </p:grpSpPr>
        <p:sp>
          <p:nvSpPr>
            <p:cNvPr id="1027" name="25 · node peach · surface [p25-e0018]"/>
            <p:cNvSpPr/>
            <p:nvPr/>
          </p:nvSpPr>
          <p:spPr>
            <a:xfrm>
              <a:off x="4227195" y="4078142"/>
              <a:ext cx="7336790" cy="1010898"/>
            </a:xfrm>
            <a:prstGeom prst="roundRect">
              <a:avLst>
                <a:gd name="adj" fmla="val 13819"/>
              </a:avLst>
            </a:prstGeom>
            <a:solidFill>
              <a:srgbClr val="FBE5DF"/>
            </a:solidFill>
            <a:ln>
              <a:noFill/>
            </a:ln>
          </p:spPr>
        </p:sp>
        <p:sp>
          <p:nvSpPr>
            <p:cNvPr id="1028" name="25 · strong: Review queue + human handling [p25-text-0019]" descr="Native editable Unicode text; authored line breaks retained."/>
            <p:cNvSpPr txBox="1"/>
            <p:nvPr/>
          </p:nvSpPr>
          <p:spPr>
            <a:xfrm>
              <a:off x="4404995" y="4333154"/>
              <a:ext cx="699389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Review queue + human handling</a:t>
              </a:r>
              <a:endParaRPr lang="en-US" sz="1450" b="1" i="0" kern="0" spc="0" dirty="0">
                <a:solidFill>
                  <a:srgbClr val="032D60"/>
                </a:solidFill>
                <a:latin typeface="Salesforce Sans"/>
                <a:ea typeface="Salesforce Sans"/>
                <a:cs typeface="Salesforce Sans"/>
              </a:endParaRPr>
            </a:p>
          </p:txBody>
        </p:sp>
        <p:sp>
          <p:nvSpPr>
            <p:cNvPr id="1029" name="25 · small: Can dominate the time to resolution [p25-text-0020]" descr="Native editable Unicode text; authored line breaks retained."/>
            <p:cNvSpPr txBox="1"/>
            <p:nvPr/>
          </p:nvSpPr>
          <p:spPr>
            <a:xfrm>
              <a:off x="4404995" y="4644474"/>
              <a:ext cx="699389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Can dominate the time to resolution</a:t>
              </a:r>
              <a:endParaRPr lang="en-US" sz="1100" b="0" i="0" kern="0" spc="0" dirty="0">
                <a:solidFill>
                  <a:srgbClr val="032D60"/>
                </a:solidFill>
                <a:latin typeface="Salesforce Sans"/>
                <a:ea typeface="Salesforce Sans"/>
                <a:cs typeface="Salesforce Sans"/>
              </a:endParaRPr>
            </a:p>
          </p:txBody>
        </p:sp>
      </p:grpSp>
      <p:sp>
        <p:nvSpPr>
          <p:cNvPr id="1030" name="25 · node label: Track decision time, response time, and time to completed service separately. [p25-text-0021]" descr="Native editable Unicode text; authored line breaks retained."/>
          <p:cNvSpPr txBox="1"/>
          <p:nvPr/>
        </p:nvSpPr>
        <p:spPr>
          <a:xfrm>
            <a:off x="558800" y="5631552"/>
            <a:ext cx="11087100"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Track decision time, response time, and time to completed service separately.</a:t>
            </a:r>
            <a:endParaRPr lang="en-US" sz="1200" b="0" i="0" kern="0" spc="0" dirty="0">
              <a:solidFill>
                <a:srgbClr val="032D60"/>
              </a:solidFill>
              <a:latin typeface="Salesforce Sans"/>
              <a:ea typeface="Salesforce Sans"/>
              <a:cs typeface="Salesforce Sans"/>
            </a:endParaRPr>
          </a:p>
        </p:txBody>
      </p:sp>
      <p:grpSp>
        <p:nvGrpSpPr>
          <p:cNvPr id="1040" name="25 · source-line: Jev + LangGraph"/>
          <p:cNvGrpSpPr/>
          <p:nvPr/>
        </p:nvGrpSpPr>
        <p:grpSpPr>
          <a:xfrm>
            <a:off x="558800" y="6037898"/>
            <a:ext cx="11087100" cy="284456"/>
            <a:chOff x="558800" y="6037898"/>
            <a:chExt cx="11087100" cy="284456"/>
          </a:xfrm>
        </p:grpSpPr>
        <p:sp>
          <p:nvSpPr>
            <p:cNvPr id="1031" name="25 · source-line · top border [p25-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25 · span: Jev + LangGraph [p25-text-0022]" descr="Native editable Unicode text; authored line breaks retained."/>
            <p:cNvSpPr txBox="1"/>
            <p:nvPr/>
          </p:nvSpPr>
          <p:spPr>
            <a:xfrm>
              <a:off x="558800" y="6153126"/>
              <a:ext cx="93931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33" name="25 · span: Mechanism illustration; no timing benchmark [p25-text-0023]" descr="Native editable Unicode text; authored line breaks retained."/>
            <p:cNvSpPr txBox="1"/>
            <p:nvPr/>
          </p:nvSpPr>
          <p:spPr>
            <a:xfrm>
              <a:off x="9084804" y="6153126"/>
              <a:ext cx="25610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 illustration; no timing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Find the missing boundary">
    <p:bg>
      <p:bgPr>
        <a:solidFill>
          <a:srgbClr val="FFFFFF"/>
        </a:solidFill>
      </p:bgPr>
    </p:bg>
    <p:spTree>
      <p:nvGrpSpPr>
        <p:cNvPr id="1" name=""/>
        <p:cNvGrpSpPr/>
        <p:nvPr/>
      </p:nvGrpSpPr>
      <p:grpSpPr>
        <a:xfrm>
          <a:off x="0" y="0"/>
          <a:ext cx="0" cy="0"/>
          <a:chOff x="0" y="0"/>
          <a:chExt cx="0" cy="0"/>
        </a:xfrm>
      </p:grpSpPr>
      <p:sp>
        <p:nvSpPr>
          <p:cNvPr id="1000" name="26 · slide light · surface [p2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1" name="26 · chrome-min: DISAGGREGATED INTELLIGENCE"/>
          <p:cNvGrpSpPr/>
          <p:nvPr/>
        </p:nvGrpSpPr>
        <p:grpSpPr>
          <a:xfrm>
            <a:off x="558800" y="356053"/>
            <a:ext cx="11087100" cy="187325"/>
            <a:chOff x="558800" y="356053"/>
            <a:chExt cx="11087100" cy="187325"/>
          </a:xfrm>
        </p:grpSpPr>
        <p:sp>
          <p:nvSpPr>
            <p:cNvPr id="1001" name="26 · l: DISAGGREGATED INTELLIGENCE [p26-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6 · r: 26 / 36 [p26-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26 / 36</a:t>
              </a:r>
              <a:endParaRPr lang="en-US" sz="950" b="1" i="0" kern="0" spc="65" dirty="0">
                <a:solidFill>
                  <a:srgbClr val="022AC0"/>
                </a:solidFill>
                <a:latin typeface="Salesforce Sans"/>
                <a:ea typeface="Salesforce Sans"/>
                <a:cs typeface="Salesforce Sans"/>
              </a:endParaRPr>
            </a:p>
          </p:txBody>
        </p:sp>
      </p:grpSp>
      <p:grpSp>
        <p:nvGrpSpPr>
          <p:cNvPr id="1032" name="26 · deck-head: 07 / EXERCISE"/>
          <p:cNvGrpSpPr/>
          <p:nvPr/>
        </p:nvGrpSpPr>
        <p:grpSpPr>
          <a:xfrm>
            <a:off x="558800" y="775901"/>
            <a:ext cx="11087100" cy="871263"/>
            <a:chOff x="558800" y="775901"/>
            <a:chExt cx="11087100" cy="871263"/>
          </a:xfrm>
        </p:grpSpPr>
        <p:sp>
          <p:nvSpPr>
            <p:cNvPr id="1003" name="26 · exercise-eyebrow: 07 / EXERCISE [p26-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07 / EXERCISE</a:t>
              </a:r>
              <a:endParaRPr lang="en-US" sz="1050" b="1" i="0" kern="0" spc="68" dirty="0">
                <a:solidFill>
                  <a:srgbClr val="022AC0"/>
                </a:solidFill>
                <a:latin typeface="Salesforce Sans"/>
                <a:ea typeface="Salesforce Sans"/>
                <a:cs typeface="Salesforce Sans"/>
              </a:endParaRPr>
            </a:p>
          </p:txBody>
        </p:sp>
        <p:sp>
          <p:nvSpPr>
            <p:cNvPr id="1004" name="26 · exercise-title: Find the missing boundary [p26-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Find the missing boundary</a:t>
              </a:r>
              <a:endParaRPr lang="en-US" sz="3600" b="1" i="0" kern="0" spc="-95" dirty="0">
                <a:solidFill>
                  <a:srgbClr val="022AC0"/>
                </a:solidFill>
                <a:latin typeface="Manrope"/>
                <a:ea typeface="Manrope"/>
                <a:cs typeface="Manrope"/>
              </a:endParaRPr>
            </a:p>
          </p:txBody>
        </p:sp>
      </p:grpSp>
      <p:grpSp>
        <p:nvGrpSpPr>
          <p:cNvPr id="1033" name="26 · card mint: "/>
          <p:cNvGrpSpPr/>
          <p:nvPr/>
        </p:nvGrpSpPr>
        <p:grpSpPr>
          <a:xfrm>
            <a:off x="558800" y="3695700"/>
            <a:ext cx="3585633" cy="1414272"/>
            <a:chOff x="558800" y="3695700"/>
            <a:chExt cx="3585633" cy="1414272"/>
          </a:xfrm>
        </p:grpSpPr>
        <p:sp>
          <p:nvSpPr>
            <p:cNvPr id="1005" name="26 · card mint · surface [p26-e0008]"/>
            <p:cNvSpPr/>
            <p:nvPr/>
          </p:nvSpPr>
          <p:spPr>
            <a:xfrm>
              <a:off x="558800" y="3695700"/>
              <a:ext cx="3585633" cy="1414272"/>
            </a:xfrm>
            <a:prstGeom prst="roundRect">
              <a:avLst>
                <a:gd name="adj" fmla="val 9878"/>
              </a:avLst>
            </a:prstGeom>
            <a:solidFill>
              <a:srgbClr val="DDF3ED"/>
            </a:solidFill>
            <a:ln>
              <a:noFill/>
            </a:ln>
          </p:spPr>
        </p:sp>
        <p:sp>
          <p:nvSpPr>
            <p:cNvPr id="1006" name="26 · card mint · outline [p26-e0008]"/>
            <p:cNvSpPr/>
            <p:nvPr/>
          </p:nvSpPr>
          <p:spPr>
            <a:xfrm>
              <a:off x="561975" y="3698875"/>
              <a:ext cx="3579283" cy="1407922"/>
            </a:xfrm>
            <a:prstGeom prst="roundRect">
              <a:avLst>
                <a:gd name="adj" fmla="val 9697"/>
              </a:avLst>
            </a:prstGeom>
            <a:noFill/>
            <a:ln w="6350" algn="ctr">
              <a:solidFill>
                <a:srgbClr val="FFFFFF">
                  <a:alpha val="85098"/>
                </a:srgbClr>
              </a:solidFill>
              <a:prstDash val="solid"/>
            </a:ln>
          </p:spPr>
        </p:sp>
      </p:grpSp>
      <p:grpSp>
        <p:nvGrpSpPr>
          <p:cNvPr id="1034" name="26 · card sand: "/>
          <p:cNvGrpSpPr/>
          <p:nvPr/>
        </p:nvGrpSpPr>
        <p:grpSpPr>
          <a:xfrm>
            <a:off x="4303183" y="3695700"/>
            <a:ext cx="3585633" cy="1414272"/>
            <a:chOff x="4303183" y="3695700"/>
            <a:chExt cx="3585633" cy="1414272"/>
          </a:xfrm>
        </p:grpSpPr>
        <p:sp>
          <p:nvSpPr>
            <p:cNvPr id="1007" name="26 · card sand · surface [p26-e0009]"/>
            <p:cNvSpPr/>
            <p:nvPr/>
          </p:nvSpPr>
          <p:spPr>
            <a:xfrm>
              <a:off x="4303183" y="3695700"/>
              <a:ext cx="3585633" cy="1414272"/>
            </a:xfrm>
            <a:prstGeom prst="roundRect">
              <a:avLst>
                <a:gd name="adj" fmla="val 9878"/>
              </a:avLst>
            </a:prstGeom>
            <a:solidFill>
              <a:srgbClr val="FBF0CF"/>
            </a:solidFill>
            <a:ln>
              <a:noFill/>
            </a:ln>
          </p:spPr>
        </p:sp>
        <p:sp>
          <p:nvSpPr>
            <p:cNvPr id="1008" name="26 · card sand · outline [p26-e0009]"/>
            <p:cNvSpPr/>
            <p:nvPr/>
          </p:nvSpPr>
          <p:spPr>
            <a:xfrm>
              <a:off x="4306358" y="3698875"/>
              <a:ext cx="3579283" cy="1407922"/>
            </a:xfrm>
            <a:prstGeom prst="roundRect">
              <a:avLst>
                <a:gd name="adj" fmla="val 9697"/>
              </a:avLst>
            </a:prstGeom>
            <a:noFill/>
            <a:ln w="6350" algn="ctr">
              <a:solidFill>
                <a:srgbClr val="FFFFFF">
                  <a:alpha val="85098"/>
                </a:srgbClr>
              </a:solidFill>
              <a:prstDash val="solid"/>
            </a:ln>
          </p:spPr>
        </p:sp>
      </p:grpSp>
      <p:grpSp>
        <p:nvGrpSpPr>
          <p:cNvPr id="1035" name="26 · card blue: "/>
          <p:cNvGrpSpPr/>
          <p:nvPr/>
        </p:nvGrpSpPr>
        <p:grpSpPr>
          <a:xfrm>
            <a:off x="8047567" y="3695700"/>
            <a:ext cx="3585633" cy="1414272"/>
            <a:chOff x="8047567" y="3695700"/>
            <a:chExt cx="3585633" cy="1414272"/>
          </a:xfrm>
        </p:grpSpPr>
        <p:sp>
          <p:nvSpPr>
            <p:cNvPr id="1009" name="26 · card blue · surface [p26-e0010]"/>
            <p:cNvSpPr/>
            <p:nvPr/>
          </p:nvSpPr>
          <p:spPr>
            <a:xfrm>
              <a:off x="8047567" y="3695700"/>
              <a:ext cx="3585633" cy="1414272"/>
            </a:xfrm>
            <a:prstGeom prst="roundRect">
              <a:avLst>
                <a:gd name="adj" fmla="val 9878"/>
              </a:avLst>
            </a:prstGeom>
            <a:solidFill>
              <a:srgbClr val="DCEEFE"/>
            </a:solidFill>
            <a:ln>
              <a:noFill/>
            </a:ln>
          </p:spPr>
        </p:sp>
        <p:sp>
          <p:nvSpPr>
            <p:cNvPr id="1010" name="26 · card blue · outline [p26-e0010]"/>
            <p:cNvSpPr/>
            <p:nvPr/>
          </p:nvSpPr>
          <p:spPr>
            <a:xfrm>
              <a:off x="8050742" y="3698875"/>
              <a:ext cx="3579283" cy="1407922"/>
            </a:xfrm>
            <a:prstGeom prst="roundRect">
              <a:avLst>
                <a:gd name="adj" fmla="val 9697"/>
              </a:avLst>
            </a:prstGeom>
            <a:noFill/>
            <a:ln w="6350" algn="ctr">
              <a:solidFill>
                <a:srgbClr val="FFFFFF">
                  <a:alpha val="85098"/>
                </a:srgbClr>
              </a:solidFill>
              <a:prstDash val="solid"/>
            </a:ln>
          </p:spPr>
        </p:sp>
      </p:grpSp>
      <p:grpSp>
        <p:nvGrpSpPr>
          <p:cNvPr id="1036" name="26 · card mint: Verify access"/>
          <p:cNvGrpSpPr/>
          <p:nvPr/>
        </p:nvGrpSpPr>
        <p:grpSpPr>
          <a:xfrm>
            <a:off x="781050" y="3919729"/>
            <a:ext cx="3153833" cy="708734"/>
            <a:chOff x="781050" y="3919729"/>
            <a:chExt cx="3153833" cy="708734"/>
          </a:xfrm>
        </p:grpSpPr>
        <p:sp>
          <p:nvSpPr>
            <p:cNvPr id="1011" name="26 · exercise-text-1: Verify access [p26-text-0014]" descr="Native editable Unicode text; authored line breaks retained."/>
            <p:cNvSpPr txBox="1"/>
            <p:nvPr/>
          </p:nvSpPr>
          <p:spPr>
            <a:xfrm>
              <a:off x="781050"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Verify access</a:t>
              </a:r>
              <a:endParaRPr lang="en-US" sz="2000" b="1" i="0" kern="0" spc="-38" dirty="0">
                <a:solidFill>
                  <a:srgbClr val="022AC0"/>
                </a:solidFill>
                <a:latin typeface="Manrope"/>
                <a:ea typeface="Manrope"/>
                <a:cs typeface="Manrope"/>
              </a:endParaRPr>
            </a:p>
          </p:txBody>
        </p:sp>
        <p:sp>
          <p:nvSpPr>
            <p:cNvPr id="1012" name="26 · exercise-text-2: Identity and owned purchase. [p26-text-0015]" descr="Native editable Unicode text; authored line breaks retained."/>
            <p:cNvSpPr txBox="1"/>
            <p:nvPr/>
          </p:nvSpPr>
          <p:spPr>
            <a:xfrm>
              <a:off x="781050" y="4369637"/>
              <a:ext cx="3153833"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and owned purchase.</a:t>
              </a:r>
              <a:endParaRPr lang="en-US" sz="1400" b="0" i="0" kern="0" spc="0" dirty="0">
                <a:solidFill>
                  <a:srgbClr val="032D60"/>
                </a:solidFill>
                <a:latin typeface="Salesforce Sans"/>
                <a:ea typeface="Salesforce Sans"/>
                <a:cs typeface="Salesforce Sans"/>
              </a:endParaRPr>
            </a:p>
          </p:txBody>
        </p:sp>
      </p:grpSp>
      <p:grpSp>
        <p:nvGrpSpPr>
          <p:cNvPr id="1037" name="26 · card sand: Check policy"/>
          <p:cNvGrpSpPr/>
          <p:nvPr/>
        </p:nvGrpSpPr>
        <p:grpSpPr>
          <a:xfrm>
            <a:off x="4525433" y="3919729"/>
            <a:ext cx="3153833" cy="961210"/>
            <a:chOff x="4525433" y="3919729"/>
            <a:chExt cx="3153833" cy="961210"/>
          </a:xfrm>
        </p:grpSpPr>
        <p:sp>
          <p:nvSpPr>
            <p:cNvPr id="1013" name="26 · exercise-text-3: Check policy [p26-text-0016]" descr="Native editable Unicode text; authored line breaks retained."/>
            <p:cNvSpPr txBox="1"/>
            <p:nvPr/>
          </p:nvSpPr>
          <p:spPr>
            <a:xfrm>
              <a:off x="4525433"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Check policy</a:t>
              </a:r>
              <a:endParaRPr lang="en-US" sz="2000" b="1" i="0" kern="0" spc="-38" dirty="0">
                <a:solidFill>
                  <a:srgbClr val="022AC0"/>
                </a:solidFill>
                <a:latin typeface="Manrope"/>
                <a:ea typeface="Manrope"/>
                <a:cs typeface="Manrope"/>
              </a:endParaRPr>
            </a:p>
          </p:txBody>
        </p:sp>
        <p:sp>
          <p:nvSpPr>
            <p:cNvPr id="1014" name="26 · exercise-text-4: Exchange rules, stock, terms + confirmation. [p26-text-0017]" descr="Native editable Unicode text; authored line breaks retained."/>
            <p:cNvSpPr txBox="1"/>
            <p:nvPr/>
          </p:nvSpPr>
          <p:spPr>
            <a:xfrm>
              <a:off x="4525433"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Exchange rules, stock, terms +</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confirmation.</a:t>
              </a:r>
              <a:endParaRPr lang="en-US" sz="1400" b="0" i="0" kern="0" spc="0" dirty="0">
                <a:solidFill>
                  <a:srgbClr val="032D60"/>
                </a:solidFill>
                <a:latin typeface="Salesforce Sans"/>
                <a:ea typeface="Salesforce Sans"/>
                <a:cs typeface="Salesforce Sans"/>
              </a:endParaRPr>
            </a:p>
          </p:txBody>
        </p:sp>
      </p:grpSp>
      <p:grpSp>
        <p:nvGrpSpPr>
          <p:cNvPr id="1038" name="26 · card blue: Enforce in service"/>
          <p:cNvGrpSpPr/>
          <p:nvPr/>
        </p:nvGrpSpPr>
        <p:grpSpPr>
          <a:xfrm>
            <a:off x="8269817" y="3919729"/>
            <a:ext cx="3153833" cy="961210"/>
            <a:chOff x="8269817" y="3919729"/>
            <a:chExt cx="3153833" cy="961210"/>
          </a:xfrm>
        </p:grpSpPr>
        <p:sp>
          <p:nvSpPr>
            <p:cNvPr id="1015" name="26 · exercise-text-5: Enforce in service [p26-text-0018]" descr="Native editable Unicode text; authored line breaks retained."/>
            <p:cNvSpPr txBox="1"/>
            <p:nvPr/>
          </p:nvSpPr>
          <p:spPr>
            <a:xfrm>
              <a:off x="8269817"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Enforce in service</a:t>
              </a:r>
              <a:endParaRPr lang="en-US" sz="2000" b="1" i="0" kern="0" spc="-38" dirty="0">
                <a:solidFill>
                  <a:srgbClr val="022AC0"/>
                </a:solidFill>
                <a:latin typeface="Manrope"/>
                <a:ea typeface="Manrope"/>
                <a:cs typeface="Manrope"/>
              </a:endParaRPr>
            </a:p>
          </p:txBody>
        </p:sp>
        <p:sp>
          <p:nvSpPr>
            <p:cNvPr id="1016" name="26 · exercise-text-6: Recheck authorization and record outcome. [p26-text-0019]" descr="Native editable Unicode text; authored line breaks retained."/>
            <p:cNvSpPr txBox="1"/>
            <p:nvPr/>
          </p:nvSpPr>
          <p:spPr>
            <a:xfrm>
              <a:off x="8269817"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Recheck authorization and record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outcome.</a:t>
              </a:r>
              <a:endParaRPr lang="en-US" sz="1400" b="0" i="0" kern="0" spc="0" dirty="0">
                <a:solidFill>
                  <a:srgbClr val="032D60"/>
                </a:solidFill>
                <a:latin typeface="Salesforce Sans"/>
                <a:ea typeface="Salesforce Sans"/>
                <a:cs typeface="Salesforce Sans"/>
              </a:endParaRPr>
            </a:p>
          </p:txBody>
        </p:sp>
      </p:grpSp>
      <p:grpSp>
        <p:nvGrpSpPr>
          <p:cNvPr id="1017" name="26 · svg · drawing [p26-e0019]"/>
          <p:cNvGrpSpPr/>
          <p:nvPr/>
        </p:nvGrpSpPr>
        <p:grpSpPr>
          <a:xfrm>
            <a:off x="3733461" y="2625725"/>
            <a:ext cx="4595876" cy="114300"/>
            <a:chOff x="3733461" y="2625725"/>
            <a:chExt cx="4595876" cy="114300"/>
          </a:xfrm>
        </p:grpSpPr>
        <p:grpSp>
          <p:nvGrpSpPr>
            <p:cNvPr id="1018" name="path · 1 + arrowhead"/>
            <p:cNvGrpSpPr/>
            <p:nvPr/>
          </p:nvGrpSpPr>
          <p:grpSpPr>
            <a:xfrm>
              <a:off x="3733461" y="2625725"/>
              <a:ext cx="4595876" cy="114300"/>
              <a:chOff x="3733461" y="2625725"/>
              <a:chExt cx="4595876" cy="114300"/>
            </a:xfrm>
          </p:grpSpPr>
          <p:sp>
            <p:nvSpPr>
              <p:cNvPr id="1019" name="path · 1"/>
              <p:cNvSpPr/>
              <p:nvPr/>
            </p:nvSpPr>
            <p:spPr>
              <a:xfrm>
                <a:off x="3733461" y="2682875"/>
                <a:ext cx="4577419" cy="1"/>
              </a:xfrm>
              <a:custGeom>
                <a:avLst/>
                <a:gdLst/>
                <a:ahLst/>
                <a:cxnLst/>
                <a:rect l="0" t="0" r="r" b="b"/>
                <a:pathLst>
                  <a:path w="4577419" h="1" fill="none" stroke="1" extrusionOk="0">
                    <a:moveTo>
                      <a:pt x="0" y="0"/>
                    </a:moveTo>
                    <a:lnTo>
                      <a:pt x="4577419" y="0"/>
                    </a:lnTo>
                  </a:path>
                </a:pathLst>
              </a:custGeom>
              <a:noFill/>
              <a:ln w="15875" cap="flat" cmpd="sng" algn="ctr">
                <a:solidFill>
                  <a:srgbClr val="789B8E">
                    <a:alpha val="20000"/>
                  </a:srgbClr>
                </a:solidFill>
                <a:prstDash val="solid"/>
                <a:miter lim="400000"/>
                <a:headEnd type="none" w="med" len="med"/>
                <a:tailEnd type="none" w="med" len="med"/>
              </a:ln>
            </p:spPr>
          </p:sp>
          <p:grpSp>
            <p:nvGrpSpPr>
              <p:cNvPr id="1020" name="arr9 end"/>
              <p:cNvGrpSpPr/>
              <p:nvPr/>
            </p:nvGrpSpPr>
            <p:grpSpPr>
              <a:xfrm>
                <a:off x="8181679" y="2625725"/>
                <a:ext cx="147659" cy="114300"/>
                <a:chOff x="8181679" y="2625725"/>
                <a:chExt cx="147659" cy="114300"/>
              </a:xfrm>
            </p:grpSpPr>
            <p:sp>
              <p:nvSpPr>
                <p:cNvPr id="1021" name="path · 2"/>
                <p:cNvSpPr/>
                <p:nvPr/>
              </p:nvSpPr>
              <p:spPr>
                <a:xfrm>
                  <a:off x="8181679" y="2625725"/>
                  <a:ext cx="147659" cy="114300"/>
                </a:xfrm>
                <a:custGeom>
                  <a:avLst/>
                  <a:gdLst/>
                  <a:ahLst/>
                  <a:cxnLst/>
                  <a:rect l="0" t="0" r="r" b="b"/>
                  <a:pathLst>
                    <a:path w="147659" h="114300" fill="norm" stroke="0" extrusionOk="0">
                      <a:moveTo>
                        <a:pt x="0" y="0"/>
                      </a:moveTo>
                      <a:lnTo>
                        <a:pt x="147658" y="57150"/>
                      </a:lnTo>
                      <a:lnTo>
                        <a:pt x="0" y="114300"/>
                      </a:lnTo>
                      <a:close/>
                    </a:path>
                  </a:pathLst>
                </a:custGeom>
                <a:solidFill>
                  <a:srgbClr val="789B8E">
                    <a:alpha val="20000"/>
                  </a:srgbClr>
                </a:solidFill>
                <a:ln>
                  <a:noFill/>
                </a:ln>
              </p:spPr>
            </p:sp>
          </p:grpSp>
        </p:grpSp>
      </p:grpSp>
      <p:grpSp>
        <p:nvGrpSpPr>
          <p:cNvPr id="1039" name="26 · node lilac: Exchange requested"/>
          <p:cNvGrpSpPr/>
          <p:nvPr/>
        </p:nvGrpSpPr>
        <p:grpSpPr>
          <a:xfrm>
            <a:off x="558800" y="2254244"/>
            <a:ext cx="3174698" cy="857250"/>
            <a:chOff x="558800" y="2254244"/>
            <a:chExt cx="3174698" cy="857250"/>
          </a:xfrm>
        </p:grpSpPr>
        <p:sp>
          <p:nvSpPr>
            <p:cNvPr id="1022" name="26 · node lilac · surface [p26-e0020]"/>
            <p:cNvSpPr/>
            <p:nvPr/>
          </p:nvSpPr>
          <p:spPr>
            <a:xfrm>
              <a:off x="558800" y="2254244"/>
              <a:ext cx="3174698" cy="857250"/>
            </a:xfrm>
            <a:prstGeom prst="roundRect">
              <a:avLst>
                <a:gd name="adj" fmla="val 16296"/>
              </a:avLst>
            </a:prstGeom>
            <a:solidFill>
              <a:srgbClr val="EAE6FA">
                <a:alpha val="20000"/>
              </a:srgbClr>
            </a:solidFill>
            <a:ln>
              <a:noFill/>
            </a:ln>
          </p:spPr>
        </p:sp>
        <p:sp>
          <p:nvSpPr>
            <p:cNvPr id="1023" name="26 · strong: Exchange requested [p26-text-0020]" descr="Native editable Unicode text; authored line breaks retained."/>
            <p:cNvSpPr txBox="1"/>
            <p:nvPr/>
          </p:nvSpPr>
          <p:spPr>
            <a:xfrm>
              <a:off x="736600" y="2432432"/>
              <a:ext cx="28317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Exchange requested</a:t>
              </a:r>
              <a:endParaRPr lang="en-US" sz="1450" b="1" i="0" kern="0" spc="0" dirty="0">
                <a:solidFill>
                  <a:srgbClr val="032D60">
                    <a:alpha val="20000"/>
                  </a:srgbClr>
                </a:solidFill>
                <a:latin typeface="Salesforce Sans"/>
                <a:ea typeface="Salesforce Sans"/>
                <a:cs typeface="Salesforce Sans"/>
              </a:endParaRPr>
            </a:p>
          </p:txBody>
        </p:sp>
        <p:sp>
          <p:nvSpPr>
            <p:cNvPr id="1024" name="26 · small: Strong model score [p26-text-0021]" descr="Native editable Unicode text; authored line breaks retained."/>
            <p:cNvSpPr txBox="1"/>
            <p:nvPr/>
          </p:nvSpPr>
          <p:spPr>
            <a:xfrm>
              <a:off x="736600" y="2743753"/>
              <a:ext cx="28317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Strong model score</a:t>
              </a:r>
              <a:endParaRPr lang="en-US" sz="1100" b="0" i="0" kern="0" spc="0" dirty="0">
                <a:solidFill>
                  <a:srgbClr val="032D60">
                    <a:alpha val="20000"/>
                  </a:srgbClr>
                </a:solidFill>
                <a:latin typeface="Salesforce Sans"/>
                <a:ea typeface="Salesforce Sans"/>
                <a:cs typeface="Salesforce Sans"/>
              </a:endParaRPr>
            </a:p>
          </p:txBody>
        </p:sp>
      </p:grpSp>
      <p:grpSp>
        <p:nvGrpSpPr>
          <p:cNvPr id="1040" name="26 · node blue: Create exchange"/>
          <p:cNvGrpSpPr/>
          <p:nvPr/>
        </p:nvGrpSpPr>
        <p:grpSpPr>
          <a:xfrm>
            <a:off x="8384746" y="2254244"/>
            <a:ext cx="3248454" cy="857250"/>
            <a:chOff x="8384746" y="2254244"/>
            <a:chExt cx="3248454" cy="857250"/>
          </a:xfrm>
        </p:grpSpPr>
        <p:sp>
          <p:nvSpPr>
            <p:cNvPr id="1025" name="26 · node blue · surface [p26-e0023]"/>
            <p:cNvSpPr/>
            <p:nvPr/>
          </p:nvSpPr>
          <p:spPr>
            <a:xfrm>
              <a:off x="8384746" y="2254244"/>
              <a:ext cx="3248454" cy="857250"/>
            </a:xfrm>
            <a:prstGeom prst="roundRect">
              <a:avLst>
                <a:gd name="adj" fmla="val 16296"/>
              </a:avLst>
            </a:prstGeom>
            <a:solidFill>
              <a:srgbClr val="DCEEFE">
                <a:alpha val="20000"/>
              </a:srgbClr>
            </a:solidFill>
            <a:ln>
              <a:noFill/>
            </a:ln>
          </p:spPr>
        </p:sp>
        <p:sp>
          <p:nvSpPr>
            <p:cNvPr id="1026" name="26 · strong: Create exchange [p26-text-0022]" descr="Native editable Unicode text; authored line breaks retained."/>
            <p:cNvSpPr txBox="1"/>
            <p:nvPr/>
          </p:nvSpPr>
          <p:spPr>
            <a:xfrm>
              <a:off x="8562546" y="2432432"/>
              <a:ext cx="290555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Create exchange</a:t>
              </a:r>
              <a:endParaRPr lang="en-US" sz="1450" b="1" i="0" kern="0" spc="0" dirty="0">
                <a:solidFill>
                  <a:srgbClr val="032D60">
                    <a:alpha val="20000"/>
                  </a:srgbClr>
                </a:solidFill>
                <a:latin typeface="Salesforce Sans"/>
                <a:ea typeface="Salesforce Sans"/>
                <a:cs typeface="Salesforce Sans"/>
              </a:endParaRPr>
            </a:p>
          </p:txBody>
        </p:sp>
        <p:sp>
          <p:nvSpPr>
            <p:cNvPr id="1027" name="26 · small: Business transaction [p26-text-0023]" descr="Native editable Unicode text; authored line breaks retained."/>
            <p:cNvSpPr txBox="1"/>
            <p:nvPr/>
          </p:nvSpPr>
          <p:spPr>
            <a:xfrm>
              <a:off x="8562546" y="2743753"/>
              <a:ext cx="290555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Business transaction</a:t>
              </a:r>
              <a:endParaRPr lang="en-US" sz="1100" b="0" i="0" kern="0" spc="0" dirty="0">
                <a:solidFill>
                  <a:srgbClr val="032D60">
                    <a:alpha val="20000"/>
                  </a:srgbClr>
                </a:solidFill>
                <a:latin typeface="Salesforce Sans"/>
                <a:ea typeface="Salesforce Sans"/>
                <a:cs typeface="Salesforce Sans"/>
              </a:endParaRPr>
            </a:p>
          </p:txBody>
        </p:sp>
      </p:grpSp>
      <p:grpSp>
        <p:nvGrpSpPr>
          <p:cNvPr id="1041" name="26 · source-line: Reliable enterprise agents · AgentScript control plane"/>
          <p:cNvGrpSpPr/>
          <p:nvPr/>
        </p:nvGrpSpPr>
        <p:grpSpPr>
          <a:xfrm>
            <a:off x="558800" y="6037898"/>
            <a:ext cx="11087100" cy="284456"/>
            <a:chOff x="558800" y="6037898"/>
            <a:chExt cx="11087100" cy="284456"/>
          </a:xfrm>
        </p:grpSpPr>
        <p:sp>
          <p:nvSpPr>
            <p:cNvPr id="1028" name="26 · source-line · top border [p26-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9" name="26 · span: Reliable enterprise agents · AgentScript control plane [p26-text-0024]" descr="Native editable Unicode text; authored line breaks retained."/>
            <p:cNvSpPr txBox="1"/>
            <p:nvPr/>
          </p:nvSpPr>
          <p:spPr>
            <a:xfrm>
              <a:off x="558800" y="6153126"/>
              <a:ext cx="2971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30" name="26 · span: Constructed design exercise [p26-text-0025]" descr="Native editable Unicode text; authored line breaks retained."/>
            <p:cNvSpPr txBox="1"/>
            <p:nvPr/>
          </p:nvSpPr>
          <p:spPr>
            <a:xfrm>
              <a:off x="10066058" y="6153126"/>
              <a:ext cx="15798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design exercise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7.xml><?xml version="1.0" encoding="utf-8"?>
<p:sld xmlns:a="http://schemas.openxmlformats.org/drawingml/2006/main" xmlns:p="http://schemas.openxmlformats.org/presentationml/2006/main">
  <p:cSld name="Begin the dataset at the decision boundary">
    <p:bg>
      <p:bgPr>
        <a:solidFill>
          <a:srgbClr val="FFFFFF"/>
        </a:solidFill>
      </p:bgPr>
    </p:bg>
    <p:spTree>
      <p:nvGrpSpPr>
        <p:cNvPr id="1" name=""/>
        <p:cNvGrpSpPr/>
        <p:nvPr/>
      </p:nvGrpSpPr>
      <p:grpSpPr>
        <a:xfrm>
          <a:off x="0" y="0"/>
          <a:ext cx="0" cy="0"/>
          <a:chOff x="0" y="0"/>
          <a:chExt cx="0" cy="0"/>
        </a:xfrm>
      </p:grpSpPr>
      <p:sp>
        <p:nvSpPr>
          <p:cNvPr id="1000" name="27 · slide dark · surface [p2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3" name="27 · chrome-min: DISAGGREGATED INTELLIGENCE"/>
          <p:cNvGrpSpPr/>
          <p:nvPr/>
        </p:nvGrpSpPr>
        <p:grpSpPr>
          <a:xfrm>
            <a:off x="558800" y="356053"/>
            <a:ext cx="11087100" cy="187325"/>
            <a:chOff x="558800" y="356053"/>
            <a:chExt cx="11087100" cy="187325"/>
          </a:xfrm>
        </p:grpSpPr>
        <p:sp>
          <p:nvSpPr>
            <p:cNvPr id="1001" name="27 · l: DISAGGREGATED INTELLIGENCE [p27-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7 · r: 27 / 36 [p27-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27 / 36</a:t>
              </a:r>
              <a:endParaRPr lang="en-US" sz="950" b="1" i="0" kern="0" spc="65" dirty="0">
                <a:solidFill>
                  <a:srgbClr val="022AC0"/>
                </a:solidFill>
                <a:latin typeface="Salesforce Sans"/>
                <a:ea typeface="Salesforce Sans"/>
                <a:cs typeface="Salesforce Sans"/>
              </a:endParaRPr>
            </a:p>
          </p:txBody>
        </p:sp>
      </p:grpSp>
      <p:grpSp>
        <p:nvGrpSpPr>
          <p:cNvPr id="1024" name="27 · deck-head: 08 / STEP 6"/>
          <p:cNvGrpSpPr/>
          <p:nvPr/>
        </p:nvGrpSpPr>
        <p:grpSpPr>
          <a:xfrm>
            <a:off x="558800" y="775901"/>
            <a:ext cx="11087100" cy="871263"/>
            <a:chOff x="558800" y="775901"/>
            <a:chExt cx="11087100" cy="871263"/>
          </a:xfrm>
        </p:grpSpPr>
        <p:sp>
          <p:nvSpPr>
            <p:cNvPr id="1003" name="27 · dataset-eyebrow: 08 / STEP 6 [p27-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STEP 6</a:t>
              </a:r>
              <a:endParaRPr lang="en-US" sz="1050" b="1" i="0" kern="0" spc="68" dirty="0">
                <a:solidFill>
                  <a:srgbClr val="022AC0"/>
                </a:solidFill>
                <a:latin typeface="Salesforce Sans"/>
                <a:ea typeface="Salesforce Sans"/>
                <a:cs typeface="Salesforce Sans"/>
              </a:endParaRPr>
            </a:p>
          </p:txBody>
        </p:sp>
        <p:sp>
          <p:nvSpPr>
            <p:cNvPr id="1004" name="27 · dataset-title: Begin the dataset at the decision boundary [p27-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Begin the dataset at the decision boundary</a:t>
              </a:r>
              <a:endParaRPr lang="en-US" sz="3600" b="1" i="0" kern="0" spc="-95" dirty="0">
                <a:solidFill>
                  <a:srgbClr val="022AC0"/>
                </a:solidFill>
                <a:latin typeface="Manrope"/>
                <a:ea typeface="Manrope"/>
                <a:cs typeface="Manrope"/>
              </a:endParaRPr>
            </a:p>
          </p:txBody>
        </p:sp>
      </p:grpSp>
      <p:grpSp>
        <p:nvGrpSpPr>
          <p:cNvPr id="1025" name="27 · card mint: "/>
          <p:cNvGrpSpPr/>
          <p:nvPr/>
        </p:nvGrpSpPr>
        <p:grpSpPr>
          <a:xfrm>
            <a:off x="558800" y="2344420"/>
            <a:ext cx="5232400" cy="1584833"/>
            <a:chOff x="558800" y="2344420"/>
            <a:chExt cx="5232400" cy="1584833"/>
          </a:xfrm>
        </p:grpSpPr>
        <p:sp>
          <p:nvSpPr>
            <p:cNvPr id="1005" name="27 · card mint · surface [p27-e0008]"/>
            <p:cNvSpPr/>
            <p:nvPr/>
          </p:nvSpPr>
          <p:spPr>
            <a:xfrm>
              <a:off x="558800" y="2344420"/>
              <a:ext cx="5232400" cy="1584833"/>
            </a:xfrm>
            <a:prstGeom prst="roundRect">
              <a:avLst>
                <a:gd name="adj" fmla="val 8815"/>
              </a:avLst>
            </a:prstGeom>
            <a:solidFill>
              <a:srgbClr val="DDF3ED"/>
            </a:solidFill>
            <a:ln>
              <a:noFill/>
            </a:ln>
          </p:spPr>
        </p:sp>
        <p:sp>
          <p:nvSpPr>
            <p:cNvPr id="1006" name="27 · card mint · outline [p27-e0008]"/>
            <p:cNvSpPr/>
            <p:nvPr/>
          </p:nvSpPr>
          <p:spPr>
            <a:xfrm>
              <a:off x="561975" y="2347595"/>
              <a:ext cx="5226050" cy="1578483"/>
            </a:xfrm>
            <a:prstGeom prst="roundRect">
              <a:avLst>
                <a:gd name="adj" fmla="val 8649"/>
              </a:avLst>
            </a:prstGeom>
            <a:noFill/>
            <a:ln w="6350" algn="ctr">
              <a:solidFill>
                <a:srgbClr val="FFFFFF">
                  <a:alpha val="85098"/>
                </a:srgbClr>
              </a:solidFill>
              <a:prstDash val="solid"/>
            </a:ln>
          </p:spPr>
        </p:sp>
      </p:grpSp>
      <p:grpSp>
        <p:nvGrpSpPr>
          <p:cNvPr id="1026" name="27 · card sand: "/>
          <p:cNvGrpSpPr/>
          <p:nvPr/>
        </p:nvGrpSpPr>
        <p:grpSpPr>
          <a:xfrm>
            <a:off x="558800" y="4094353"/>
            <a:ext cx="5232400" cy="1332357"/>
            <a:chOff x="558800" y="4094353"/>
            <a:chExt cx="5232400" cy="1332357"/>
          </a:xfrm>
        </p:grpSpPr>
        <p:sp>
          <p:nvSpPr>
            <p:cNvPr id="1007" name="27 · card sand · surface [p27-e0009]"/>
            <p:cNvSpPr/>
            <p:nvPr/>
          </p:nvSpPr>
          <p:spPr>
            <a:xfrm>
              <a:off x="558800" y="4094353"/>
              <a:ext cx="5232400" cy="1332357"/>
            </a:xfrm>
            <a:prstGeom prst="roundRect">
              <a:avLst>
                <a:gd name="adj" fmla="val 10485"/>
              </a:avLst>
            </a:prstGeom>
            <a:solidFill>
              <a:srgbClr val="FBF0CF"/>
            </a:solidFill>
            <a:ln>
              <a:noFill/>
            </a:ln>
          </p:spPr>
        </p:sp>
        <p:sp>
          <p:nvSpPr>
            <p:cNvPr id="1008" name="27 · card sand · outline [p27-e0009]"/>
            <p:cNvSpPr/>
            <p:nvPr/>
          </p:nvSpPr>
          <p:spPr>
            <a:xfrm>
              <a:off x="561975" y="4097528"/>
              <a:ext cx="5226050" cy="1326007"/>
            </a:xfrm>
            <a:prstGeom prst="roundRect">
              <a:avLst>
                <a:gd name="adj" fmla="val 10296"/>
              </a:avLst>
            </a:prstGeom>
            <a:noFill/>
            <a:ln w="6350" algn="ctr">
              <a:solidFill>
                <a:srgbClr val="FFFFFF">
                  <a:alpha val="85098"/>
                </a:srgbClr>
              </a:solidFill>
              <a:prstDash val="solid"/>
            </a:ln>
          </p:spPr>
        </p:sp>
      </p:grpSp>
      <p:grpSp>
        <p:nvGrpSpPr>
          <p:cNvPr id="1027" name="27 · card peach: "/>
          <p:cNvGrpSpPr/>
          <p:nvPr/>
        </p:nvGrpSpPr>
        <p:grpSpPr>
          <a:xfrm>
            <a:off x="6426200" y="2344420"/>
            <a:ext cx="5105400" cy="1332357"/>
            <a:chOff x="6426200" y="2344420"/>
            <a:chExt cx="5105400" cy="1332357"/>
          </a:xfrm>
        </p:grpSpPr>
        <p:sp>
          <p:nvSpPr>
            <p:cNvPr id="1009" name="27 · card peach · surface [p27-e0010]"/>
            <p:cNvSpPr/>
            <p:nvPr/>
          </p:nvSpPr>
          <p:spPr>
            <a:xfrm>
              <a:off x="6426200" y="2344420"/>
              <a:ext cx="5105400" cy="1332357"/>
            </a:xfrm>
            <a:prstGeom prst="roundRect">
              <a:avLst>
                <a:gd name="adj" fmla="val 10485"/>
              </a:avLst>
            </a:prstGeom>
            <a:solidFill>
              <a:srgbClr val="FBE5DF"/>
            </a:solidFill>
            <a:ln>
              <a:noFill/>
            </a:ln>
          </p:spPr>
        </p:sp>
        <p:sp>
          <p:nvSpPr>
            <p:cNvPr id="1010" name="27 · card peach · outline [p27-e0010]"/>
            <p:cNvSpPr/>
            <p:nvPr/>
          </p:nvSpPr>
          <p:spPr>
            <a:xfrm>
              <a:off x="6429375" y="2347595"/>
              <a:ext cx="5099050" cy="1326007"/>
            </a:xfrm>
            <a:prstGeom prst="roundRect">
              <a:avLst>
                <a:gd name="adj" fmla="val 10296"/>
              </a:avLst>
            </a:prstGeom>
            <a:noFill/>
            <a:ln w="6350" algn="ctr">
              <a:solidFill>
                <a:srgbClr val="FFFFFF">
                  <a:alpha val="85098"/>
                </a:srgbClr>
              </a:solidFill>
              <a:prstDash val="solid"/>
            </a:ln>
          </p:spPr>
        </p:sp>
      </p:grpSp>
      <p:sp>
        <p:nvSpPr>
          <p:cNvPr id="1011" name="27 · dataset-text-1: At decision time [p27-text-0011]"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At decision time</a:t>
            </a:r>
            <a:endParaRPr lang="en-US" sz="2000" b="1" i="0" kern="0" spc="-38" dirty="0">
              <a:solidFill>
                <a:srgbClr val="022AC0"/>
              </a:solidFill>
              <a:latin typeface="Manrope"/>
              <a:ea typeface="Manrope"/>
              <a:cs typeface="Manrope"/>
            </a:endParaRPr>
          </a:p>
        </p:txBody>
      </p:sp>
      <p:sp>
        <p:nvSpPr>
          <p:cNvPr id="1012" name="27 · dataset-text-2: Conversation prefix Trusted facts available then Current policy version [p27-text-0012]"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Trusted facts available then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Current policy version</a:t>
            </a:r>
            <a:endParaRPr lang="en-US" sz="1400" b="0" i="0" kern="0" spc="0" dirty="0">
              <a:solidFill>
                <a:srgbClr val="032D60"/>
              </a:solidFill>
              <a:latin typeface="Salesforce Sans"/>
              <a:ea typeface="Salesforce Sans"/>
              <a:cs typeface="Salesforce Sans"/>
            </a:endParaRPr>
          </a:p>
        </p:txBody>
      </p:sp>
      <p:sp>
        <p:nvSpPr>
          <p:cNvPr id="1013" name="27 · dataset-text-3: Remedy, unit and task relationships supported by that evidence. [p27-text-0013]" descr="Native editable Unicode text; authored line breaks retained."/>
          <p:cNvSpPr txBox="1"/>
          <p:nvPr/>
        </p:nvSpPr>
        <p:spPr>
          <a:xfrm>
            <a:off x="781050" y="4686375"/>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Remedy, unit and task relationships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supported by that evidence.</a:t>
            </a:r>
            <a:endParaRPr lang="en-US" sz="1400" b="0" i="0" kern="0" spc="0" dirty="0">
              <a:solidFill>
                <a:srgbClr val="032D60"/>
              </a:solidFill>
              <a:latin typeface="Salesforce Sans"/>
              <a:ea typeface="Salesforce Sans"/>
              <a:cs typeface="Salesforce Sans"/>
            </a:endParaRPr>
          </a:p>
        </p:txBody>
      </p:sp>
      <p:sp>
        <p:nvSpPr>
          <p:cNvPr id="1014" name="27 · dataset-text-4: After the decision [p27-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After the decision</a:t>
            </a:r>
            <a:endParaRPr lang="en-US" sz="2000" b="1" i="0" kern="0" spc="-38" dirty="0">
              <a:solidFill>
                <a:srgbClr val="022AC0"/>
              </a:solidFill>
              <a:latin typeface="Manrope"/>
              <a:ea typeface="Manrope"/>
              <a:cs typeface="Manrope"/>
            </a:endParaRPr>
          </a:p>
        </p:txBody>
      </p:sp>
      <p:sp>
        <p:nvSpPr>
          <p:cNvPr id="1015" name="27 · dataset-text-5: Useful for separate outcome labels. Excluded from the earlier input. [p27-text-0015]" descr="Native editable Unicode text; authored line breaks retained."/>
          <p:cNvSpPr txBox="1"/>
          <p:nvPr/>
        </p:nvSpPr>
        <p:spPr>
          <a:xfrm>
            <a:off x="6648450" y="293644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Useful for separate outcome labels.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Excluded from the earlier input.</a:t>
            </a:r>
            <a:endParaRPr lang="en-US" sz="1400" b="0" i="0" kern="0" spc="0" dirty="0">
              <a:solidFill>
                <a:srgbClr val="032D60"/>
              </a:solidFill>
              <a:latin typeface="Salesforce Sans"/>
              <a:ea typeface="Salesforce Sans"/>
              <a:cs typeface="Salesforce Sans"/>
            </a:endParaRPr>
          </a:p>
        </p:txBody>
      </p:sp>
      <p:sp>
        <p:nvSpPr>
          <p:cNvPr id="1016" name="27 · tag: INPUT SNAPSHOT [p27-text-0016]" descr="Native editable Unicode text; authored line breaks retained."/>
          <p:cNvSpPr txBox="1"/>
          <p:nvPr/>
        </p:nvSpPr>
        <p:spPr>
          <a:xfrm>
            <a:off x="781050" y="259206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INPUT SNAPSHOT</a:t>
            </a:r>
            <a:endParaRPr lang="en-US" sz="1050" b="0" i="0" kern="0" spc="50" dirty="0">
              <a:solidFill>
                <a:srgbClr val="022AC0">
                  <a:alpha val="85000"/>
                </a:srgbClr>
              </a:solidFill>
              <a:latin typeface="IBM Plex Mono"/>
              <a:ea typeface="IBM Plex Mono"/>
              <a:cs typeface="IBM Plex Mono"/>
            </a:endParaRPr>
          </a:p>
        </p:txBody>
      </p:sp>
      <p:sp>
        <p:nvSpPr>
          <p:cNvPr id="1017" name="27 · tag: REFERENCE LABEL [p27-text-0017]" descr="Native editable Unicode text; authored line breaks retained."/>
          <p:cNvSpPr txBox="1"/>
          <p:nvPr/>
        </p:nvSpPr>
        <p:spPr>
          <a:xfrm>
            <a:off x="781050" y="4342001"/>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REFERENCE LABEL</a:t>
            </a:r>
            <a:endParaRPr lang="en-US" sz="1050" b="0" i="0" kern="0" spc="50" dirty="0">
              <a:solidFill>
                <a:srgbClr val="022AC0">
                  <a:alpha val="85000"/>
                </a:srgbClr>
              </a:solidFill>
              <a:latin typeface="IBM Plex Mono"/>
              <a:ea typeface="IBM Plex Mono"/>
              <a:cs typeface="IBM Plex Mono"/>
            </a:endParaRPr>
          </a:p>
        </p:txBody>
      </p:sp>
      <p:sp>
        <p:nvSpPr>
          <p:cNvPr id="1018" name="27 · tag: LATER TURNS AND OUTCOMES [p27-text-0018]" descr="Native editable Unicode text; authored line breaks retained."/>
          <p:cNvSpPr txBox="1"/>
          <p:nvPr/>
        </p:nvSpPr>
        <p:spPr>
          <a:xfrm>
            <a:off x="6648450" y="259206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LATER TURNS AND OUTCOMES</a:t>
            </a:r>
            <a:endParaRPr lang="en-US" sz="1050" b="0" i="0" kern="0" spc="50" dirty="0">
              <a:solidFill>
                <a:srgbClr val="022AC0">
                  <a:alpha val="85000"/>
                </a:srgbClr>
              </a:solidFill>
              <a:latin typeface="IBM Plex Mono"/>
              <a:ea typeface="IBM Plex Mono"/>
              <a:cs typeface="IBM Plex Mono"/>
            </a:endParaRPr>
          </a:p>
        </p:txBody>
      </p:sp>
      <p:sp>
        <p:nvSpPr>
          <p:cNvPr id="1019" name="27 · dataset-text-6: Preserve order, relationships, and provenance. [p27-text-0019]" descr="Native editable Unicode text; authored line breaks retained."/>
          <p:cNvSpPr txBox="1"/>
          <p:nvPr/>
        </p:nvSpPr>
        <p:spPr>
          <a:xfrm>
            <a:off x="6426200" y="3995814"/>
            <a:ext cx="511810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Preserve order,</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relationships,</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provenance.</a:t>
            </a:r>
            <a:endParaRPr lang="en-US" sz="1900" b="0" i="0" kern="0" spc="-10" dirty="0">
              <a:solidFill>
                <a:srgbClr val="032D60">
                  <a:alpha val="86000"/>
                </a:srgbClr>
              </a:solidFill>
              <a:latin typeface="Salesforce Sans"/>
              <a:ea typeface="Salesforce Sans"/>
              <a:cs typeface="Salesforce Sans"/>
            </a:endParaRPr>
          </a:p>
        </p:txBody>
      </p:sp>
      <p:grpSp>
        <p:nvGrpSpPr>
          <p:cNvPr id="1028" name="27 · source-line: Tutorial evaluation protocol"/>
          <p:cNvGrpSpPr/>
          <p:nvPr/>
        </p:nvGrpSpPr>
        <p:grpSpPr>
          <a:xfrm>
            <a:off x="558800" y="6037898"/>
            <a:ext cx="11087100" cy="284456"/>
            <a:chOff x="558800" y="6037898"/>
            <a:chExt cx="11087100" cy="284456"/>
          </a:xfrm>
        </p:grpSpPr>
        <p:sp>
          <p:nvSpPr>
            <p:cNvPr id="1020" name="27 · source-line · top border [p27-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1" name="27 · span: Tutorial evaluation protocol [p27-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2" name="27 · span: Proposed development protocol [p27-text-0021]" descr="Native editable Unicode text; authored line breaks retained."/>
            <p:cNvSpPr txBox="1"/>
            <p:nvPr/>
          </p:nvSpPr>
          <p:spPr>
            <a:xfrm>
              <a:off x="9823047" y="6153126"/>
              <a:ext cx="182285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development protocol</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8.xml><?xml version="1.0" encoding="utf-8"?>
<p:sld xmlns:a="http://schemas.openxmlformats.org/drawingml/2006/main" xmlns:p="http://schemas.openxmlformats.org/presentationml/2006/main">
  <p:cSld name="Split examples before developing the decision">
    <p:bg>
      <p:bgPr>
        <a:solidFill>
          <a:srgbClr val="FFFFFF"/>
        </a:solidFill>
      </p:bgPr>
    </p:bg>
    <p:spTree>
      <p:nvGrpSpPr>
        <p:cNvPr id="1" name=""/>
        <p:cNvGrpSpPr/>
        <p:nvPr/>
      </p:nvGrpSpPr>
      <p:grpSpPr>
        <a:xfrm>
          <a:off x="0" y="0"/>
          <a:ext cx="0" cy="0"/>
          <a:chOff x="0" y="0"/>
          <a:chExt cx="0" cy="0"/>
        </a:xfrm>
      </p:grpSpPr>
      <p:sp>
        <p:nvSpPr>
          <p:cNvPr id="1000" name="28 · slide light · surface [p2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28 · chrome-min: DISAGGREGATED INTELLIGENCE"/>
          <p:cNvGrpSpPr/>
          <p:nvPr/>
        </p:nvGrpSpPr>
        <p:grpSpPr>
          <a:xfrm>
            <a:off x="558800" y="356053"/>
            <a:ext cx="11087100" cy="187325"/>
            <a:chOff x="558800" y="356053"/>
            <a:chExt cx="11087100" cy="187325"/>
          </a:xfrm>
        </p:grpSpPr>
        <p:sp>
          <p:nvSpPr>
            <p:cNvPr id="1001" name="28 · l: DISAGGREGATED INTELLIGENCE [p28-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8 · r: 28 / 36 [p28-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28 / 36</a:t>
              </a:r>
              <a:endParaRPr lang="en-US" sz="950" b="1" i="0" kern="0" spc="65" dirty="0">
                <a:solidFill>
                  <a:srgbClr val="022AC0"/>
                </a:solidFill>
                <a:latin typeface="Salesforce Sans"/>
                <a:ea typeface="Salesforce Sans"/>
                <a:cs typeface="Salesforce Sans"/>
              </a:endParaRPr>
            </a:p>
          </p:txBody>
        </p:sp>
      </p:grpSp>
      <p:grpSp>
        <p:nvGrpSpPr>
          <p:cNvPr id="1047" name="28 · deck-head: 08 / TRAINING PIPELINE — PRESERVE THE PARTITIONS"/>
          <p:cNvGrpSpPr/>
          <p:nvPr/>
        </p:nvGrpSpPr>
        <p:grpSpPr>
          <a:xfrm>
            <a:off x="558800" y="775901"/>
            <a:ext cx="11087100" cy="871263"/>
            <a:chOff x="558800" y="775901"/>
            <a:chExt cx="11087100" cy="871263"/>
          </a:xfrm>
        </p:grpSpPr>
        <p:sp>
          <p:nvSpPr>
            <p:cNvPr id="1003" name="28 · training-partitions-eyebrow: 08 / TRAINING PIPELINE — PRESERVE THE PARTITIONS [p28-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PRESERVE THE PARTITIONS</a:t>
              </a:r>
              <a:endParaRPr lang="en-US" sz="1050" b="1" i="0" kern="0" spc="68" dirty="0">
                <a:solidFill>
                  <a:srgbClr val="022AC0"/>
                </a:solidFill>
                <a:latin typeface="Salesforce Sans"/>
                <a:ea typeface="Salesforce Sans"/>
                <a:cs typeface="Salesforce Sans"/>
              </a:endParaRPr>
            </a:p>
          </p:txBody>
        </p:sp>
        <p:sp>
          <p:nvSpPr>
            <p:cNvPr id="1004" name="28 · training-partitions-title: Split examples before developing the decision [p28-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examples before developing the decision</a:t>
              </a:r>
              <a:endParaRPr lang="en-US" sz="3600" b="1" i="0" kern="0" spc="-95" dirty="0">
                <a:solidFill>
                  <a:srgbClr val="022AC0"/>
                </a:solidFill>
                <a:latin typeface="Manrope"/>
                <a:ea typeface="Manrope"/>
                <a:cs typeface="Manrope"/>
              </a:endParaRPr>
            </a:p>
          </p:txBody>
        </p:sp>
      </p:grpSp>
      <p:grpSp>
        <p:nvGrpSpPr>
          <p:cNvPr id="1005" name="28 · svg · drawing [p28-e0008]"/>
          <p:cNvGrpSpPr/>
          <p:nvPr/>
        </p:nvGrpSpPr>
        <p:grpSpPr>
          <a:xfrm>
            <a:off x="2197100" y="2393950"/>
            <a:ext cx="7797800" cy="1435100"/>
            <a:chOff x="2197100" y="2393950"/>
            <a:chExt cx="7797800" cy="1435100"/>
          </a:xfrm>
        </p:grpSpPr>
        <p:grpSp>
          <p:nvGrpSpPr>
            <p:cNvPr id="1006" name="path · 1 + arrowhead"/>
            <p:cNvGrpSpPr/>
            <p:nvPr/>
          </p:nvGrpSpPr>
          <p:grpSpPr>
            <a:xfrm>
              <a:off x="3797300" y="2393950"/>
              <a:ext cx="768350" cy="152400"/>
              <a:chOff x="3797300" y="2393950"/>
              <a:chExt cx="768350" cy="152400"/>
            </a:xfrm>
          </p:grpSpPr>
          <p:sp>
            <p:nvSpPr>
              <p:cNvPr id="1007" name="path · 1"/>
              <p:cNvSpPr/>
              <p:nvPr/>
            </p:nvSpPr>
            <p:spPr>
              <a:xfrm>
                <a:off x="3797300" y="2470150"/>
                <a:ext cx="749300" cy="1"/>
              </a:xfrm>
              <a:custGeom>
                <a:avLst/>
                <a:gdLst/>
                <a:ahLst/>
                <a:cxnLst/>
                <a:rect l="0" t="0" r="r" b="b"/>
                <a:pathLst>
                  <a:path w="749300" h="1" fill="none" stroke="1" extrusionOk="0">
                    <a:moveTo>
                      <a:pt x="0" y="0"/>
                    </a:moveTo>
                    <a:lnTo>
                      <a:pt x="749300" y="0"/>
                    </a:lnTo>
                  </a:path>
                </a:pathLst>
              </a:custGeom>
              <a:noFill/>
              <a:ln w="19050" cap="flat" cmpd="sng" algn="ctr">
                <a:solidFill>
                  <a:srgbClr val="51776A"/>
                </a:solidFill>
                <a:prstDash val="solid"/>
                <a:miter lim="400000"/>
                <a:headEnd type="none" w="med" len="med"/>
                <a:tailEnd type="none" w="med" len="med"/>
              </a:ln>
            </p:spPr>
          </p:sp>
          <p:grpSp>
            <p:nvGrpSpPr>
              <p:cNvPr id="1008" name="splitfocus-data end"/>
              <p:cNvGrpSpPr/>
              <p:nvPr/>
            </p:nvGrpSpPr>
            <p:grpSpPr>
              <a:xfrm>
                <a:off x="4413250" y="2393950"/>
                <a:ext cx="152400" cy="152400"/>
                <a:chOff x="4413250" y="2393950"/>
                <a:chExt cx="152400" cy="152400"/>
              </a:xfrm>
            </p:grpSpPr>
            <p:sp>
              <p:nvSpPr>
                <p:cNvPr id="1009" name="path · 2"/>
                <p:cNvSpPr/>
                <p:nvPr/>
              </p:nvSpPr>
              <p:spPr>
                <a:xfrm>
                  <a:off x="4413250" y="239395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51776A"/>
                </a:solidFill>
                <a:ln>
                  <a:noFill/>
                </a:ln>
              </p:spPr>
            </p:sp>
          </p:grpSp>
        </p:grpSp>
        <p:sp>
          <p:nvSpPr>
            <p:cNvPr id="1010" name="path · 3"/>
            <p:cNvSpPr/>
            <p:nvPr/>
          </p:nvSpPr>
          <p:spPr>
            <a:xfrm>
              <a:off x="2273300" y="3028950"/>
              <a:ext cx="7645400" cy="463550"/>
            </a:xfrm>
            <a:custGeom>
              <a:avLst/>
              <a:gdLst/>
              <a:ahLst/>
              <a:cxnLst/>
              <a:rect l="0" t="0" r="r" b="b"/>
              <a:pathLst>
                <a:path w="7645400" h="463550" fill="none" stroke="1" extrusionOk="0">
                  <a:moveTo>
                    <a:pt x="4095750" y="0"/>
                  </a:moveTo>
                  <a:lnTo>
                    <a:pt x="4095750" y="463550"/>
                  </a:lnTo>
                  <a:moveTo>
                    <a:pt x="0" y="463550"/>
                  </a:moveTo>
                  <a:lnTo>
                    <a:pt x="7645400" y="463550"/>
                  </a:lnTo>
                </a:path>
              </a:pathLst>
            </a:custGeom>
            <a:noFill/>
            <a:ln w="19050" cap="flat" cmpd="sng" algn="ctr">
              <a:solidFill>
                <a:srgbClr val="51776A"/>
              </a:solidFill>
              <a:prstDash val="solid"/>
              <a:miter lim="400000"/>
              <a:headEnd type="none" w="med" len="med"/>
              <a:tailEnd type="none" w="med" len="med"/>
            </a:ln>
          </p:spPr>
        </p:sp>
        <p:grpSp>
          <p:nvGrpSpPr>
            <p:cNvPr id="1011" name="path · 4 + arrowhead"/>
            <p:cNvGrpSpPr/>
            <p:nvPr/>
          </p:nvGrpSpPr>
          <p:grpSpPr>
            <a:xfrm>
              <a:off x="2197100" y="3492500"/>
              <a:ext cx="152400" cy="336550"/>
              <a:chOff x="2197100" y="3492500"/>
              <a:chExt cx="152400" cy="336550"/>
            </a:xfrm>
          </p:grpSpPr>
          <p:sp>
            <p:nvSpPr>
              <p:cNvPr id="1012" name="path · 4"/>
              <p:cNvSpPr/>
              <p:nvPr/>
            </p:nvSpPr>
            <p:spPr>
              <a:xfrm>
                <a:off x="22733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3" name="splitfocus-data end"/>
              <p:cNvGrpSpPr/>
              <p:nvPr/>
            </p:nvGrpSpPr>
            <p:grpSpPr>
              <a:xfrm>
                <a:off x="2197100" y="3676650"/>
                <a:ext cx="152400" cy="152400"/>
                <a:chOff x="2197100" y="3676650"/>
                <a:chExt cx="152400" cy="152400"/>
              </a:xfrm>
            </p:grpSpPr>
            <p:sp>
              <p:nvSpPr>
                <p:cNvPr id="1014" name="path · 5"/>
                <p:cNvSpPr/>
                <p:nvPr/>
              </p:nvSpPr>
              <p:spPr>
                <a:xfrm>
                  <a:off x="21971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5" name="path · 6 + arrowhead"/>
            <p:cNvGrpSpPr/>
            <p:nvPr/>
          </p:nvGrpSpPr>
          <p:grpSpPr>
            <a:xfrm>
              <a:off x="6019800" y="3492500"/>
              <a:ext cx="152400" cy="336550"/>
              <a:chOff x="6019800" y="3492500"/>
              <a:chExt cx="152400" cy="336550"/>
            </a:xfrm>
          </p:grpSpPr>
          <p:sp>
            <p:nvSpPr>
              <p:cNvPr id="1016" name="path · 6"/>
              <p:cNvSpPr/>
              <p:nvPr/>
            </p:nvSpPr>
            <p:spPr>
              <a:xfrm>
                <a:off x="60960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7" name="splitfocus-data end"/>
              <p:cNvGrpSpPr/>
              <p:nvPr/>
            </p:nvGrpSpPr>
            <p:grpSpPr>
              <a:xfrm>
                <a:off x="6019800" y="3676650"/>
                <a:ext cx="152400" cy="152400"/>
                <a:chOff x="6019800" y="3676650"/>
                <a:chExt cx="152400" cy="152400"/>
              </a:xfrm>
            </p:grpSpPr>
            <p:sp>
              <p:nvSpPr>
                <p:cNvPr id="1018" name="path · 7"/>
                <p:cNvSpPr/>
                <p:nvPr/>
              </p:nvSpPr>
              <p:spPr>
                <a:xfrm>
                  <a:off x="60198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9" name="path · 8 + arrowhead"/>
            <p:cNvGrpSpPr/>
            <p:nvPr/>
          </p:nvGrpSpPr>
          <p:grpSpPr>
            <a:xfrm>
              <a:off x="9842500" y="3492500"/>
              <a:ext cx="152400" cy="336550"/>
              <a:chOff x="9842500" y="3492500"/>
              <a:chExt cx="152400" cy="336550"/>
            </a:xfrm>
          </p:grpSpPr>
          <p:sp>
            <p:nvSpPr>
              <p:cNvPr id="1020" name="path · 8"/>
              <p:cNvSpPr/>
              <p:nvPr/>
            </p:nvSpPr>
            <p:spPr>
              <a:xfrm>
                <a:off x="99187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21" name="splitfocus-data end"/>
              <p:cNvGrpSpPr/>
              <p:nvPr/>
            </p:nvGrpSpPr>
            <p:grpSpPr>
              <a:xfrm>
                <a:off x="9842500" y="3676650"/>
                <a:ext cx="152400" cy="152400"/>
                <a:chOff x="9842500" y="3676650"/>
                <a:chExt cx="152400" cy="152400"/>
              </a:xfrm>
            </p:grpSpPr>
            <p:sp>
              <p:nvSpPr>
                <p:cNvPr id="1022" name="path · 9"/>
                <p:cNvSpPr/>
                <p:nvPr/>
              </p:nvSpPr>
              <p:spPr>
                <a:xfrm>
                  <a:off x="98425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grpSp>
        <p:nvGrpSpPr>
          <p:cNvPr id="1048" name="28 · node lilac: Decision-time snapshot"/>
          <p:cNvGrpSpPr/>
          <p:nvPr/>
        </p:nvGrpSpPr>
        <p:grpSpPr>
          <a:xfrm>
            <a:off x="558800" y="1917702"/>
            <a:ext cx="3238498" cy="1111248"/>
            <a:chOff x="558800" y="1917702"/>
            <a:chExt cx="3238498" cy="1111248"/>
          </a:xfrm>
        </p:grpSpPr>
        <p:sp>
          <p:nvSpPr>
            <p:cNvPr id="1023" name="28 · node lilac · surface [p28-e0009]"/>
            <p:cNvSpPr/>
            <p:nvPr/>
          </p:nvSpPr>
          <p:spPr>
            <a:xfrm>
              <a:off x="558800" y="1917702"/>
              <a:ext cx="3238498" cy="1111248"/>
            </a:xfrm>
            <a:prstGeom prst="roundRect">
              <a:avLst>
                <a:gd name="adj" fmla="val 12571"/>
              </a:avLst>
            </a:prstGeom>
            <a:solidFill>
              <a:srgbClr val="EAE6FA"/>
            </a:solidFill>
            <a:ln>
              <a:noFill/>
            </a:ln>
          </p:spPr>
        </p:sp>
        <p:sp>
          <p:nvSpPr>
            <p:cNvPr id="1024" name="28 · strong: Decision-time snapshot [p28-text-0015]" descr="Native editable Unicode text; authored line breaks retained."/>
            <p:cNvSpPr txBox="1"/>
            <p:nvPr/>
          </p:nvSpPr>
          <p:spPr>
            <a:xfrm>
              <a:off x="723900" y="2026959"/>
              <a:ext cx="2920998"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Decision-time snapshot</a:t>
              </a:r>
              <a:endParaRPr lang="en-US" sz="1700" b="1" i="0" kern="0" spc="0" dirty="0">
                <a:solidFill>
                  <a:srgbClr val="032D60"/>
                </a:solidFill>
                <a:latin typeface="Salesforce Sans"/>
                <a:ea typeface="Salesforce Sans"/>
                <a:cs typeface="Salesforce Sans"/>
              </a:endParaRPr>
            </a:p>
          </p:txBody>
        </p:sp>
        <p:sp>
          <p:nvSpPr>
            <p:cNvPr id="1025" name="28 · small: Inputs stop at the decision. Versioned records and labels. [p28-text-0016]" descr="Native editable Unicode text; authored line breaks retained."/>
            <p:cNvSpPr txBox="1"/>
            <p:nvPr/>
          </p:nvSpPr>
          <p:spPr>
            <a:xfrm>
              <a:off x="723900" y="2397570"/>
              <a:ext cx="2920998"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Inputs stop at the decision.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Versioned records and labels.</a:t>
              </a:r>
              <a:endParaRPr lang="en-US" sz="1500" b="0" i="0" kern="0" spc="0" dirty="0">
                <a:solidFill>
                  <a:srgbClr val="032D60"/>
                </a:solidFill>
                <a:latin typeface="Salesforce Sans"/>
                <a:ea typeface="Salesforce Sans"/>
                <a:cs typeface="Salesforce Sans"/>
              </a:endParaRPr>
            </a:p>
          </p:txBody>
        </p:sp>
      </p:grpSp>
      <p:grpSp>
        <p:nvGrpSpPr>
          <p:cNvPr id="1049" name="28 · node sand: Group, then split"/>
          <p:cNvGrpSpPr/>
          <p:nvPr/>
        </p:nvGrpSpPr>
        <p:grpSpPr>
          <a:xfrm>
            <a:off x="4591055" y="1917702"/>
            <a:ext cx="3556001" cy="1111248"/>
            <a:chOff x="4591055" y="1917702"/>
            <a:chExt cx="3556001" cy="1111248"/>
          </a:xfrm>
        </p:grpSpPr>
        <p:sp>
          <p:nvSpPr>
            <p:cNvPr id="1026" name="28 · node sand · surface [p28-e0013]"/>
            <p:cNvSpPr/>
            <p:nvPr/>
          </p:nvSpPr>
          <p:spPr>
            <a:xfrm>
              <a:off x="4591055" y="1917702"/>
              <a:ext cx="3556001" cy="1111248"/>
            </a:xfrm>
            <a:prstGeom prst="roundRect">
              <a:avLst>
                <a:gd name="adj" fmla="val 12571"/>
              </a:avLst>
            </a:prstGeom>
            <a:solidFill>
              <a:srgbClr val="FBF0CF"/>
            </a:solidFill>
            <a:ln>
              <a:noFill/>
            </a:ln>
          </p:spPr>
        </p:sp>
        <p:sp>
          <p:nvSpPr>
            <p:cNvPr id="1027" name="28 · strong: Group, then split [p28-text-0017]" descr="Native editable Unicode text; authored line breaks retained."/>
            <p:cNvSpPr txBox="1"/>
            <p:nvPr/>
          </p:nvSpPr>
          <p:spPr>
            <a:xfrm>
              <a:off x="4756155" y="2026959"/>
              <a:ext cx="3238501"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Group, then split</a:t>
              </a:r>
              <a:endParaRPr lang="en-US" sz="1700" b="1" i="0" kern="0" spc="0" dirty="0">
                <a:solidFill>
                  <a:srgbClr val="032D60"/>
                </a:solidFill>
                <a:latin typeface="Salesforce Sans"/>
                <a:ea typeface="Salesforce Sans"/>
                <a:cs typeface="Salesforce Sans"/>
              </a:endParaRPr>
            </a:p>
          </p:txBody>
        </p:sp>
        <p:sp>
          <p:nvSpPr>
            <p:cNvPr id="1028" name="28 · small: Before augmentation. Preserve record relationships. [p28-text-0018]" descr="Native editable Unicode text; authored line breaks retained."/>
            <p:cNvSpPr txBox="1"/>
            <p:nvPr/>
          </p:nvSpPr>
          <p:spPr>
            <a:xfrm>
              <a:off x="4756155" y="2397570"/>
              <a:ext cx="32385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Before augmentation.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Preserve record relationships.</a:t>
              </a:r>
              <a:endParaRPr lang="en-US" sz="1500" b="0" i="0" kern="0" spc="0" dirty="0">
                <a:solidFill>
                  <a:srgbClr val="032D60"/>
                </a:solidFill>
                <a:latin typeface="Salesforce Sans"/>
                <a:ea typeface="Salesforce Sans"/>
                <a:cs typeface="Salesforce Sans"/>
              </a:endParaRPr>
            </a:p>
          </p:txBody>
        </p:sp>
      </p:grpSp>
      <p:grpSp>
        <p:nvGrpSpPr>
          <p:cNvPr id="1050" name="28 · node peach: Family rule"/>
          <p:cNvGrpSpPr/>
          <p:nvPr/>
        </p:nvGrpSpPr>
        <p:grpSpPr>
          <a:xfrm>
            <a:off x="8940803" y="1917702"/>
            <a:ext cx="2692397" cy="1111248"/>
            <a:chOff x="8940803" y="1917702"/>
            <a:chExt cx="2692397" cy="1111248"/>
          </a:xfrm>
        </p:grpSpPr>
        <p:sp>
          <p:nvSpPr>
            <p:cNvPr id="1029" name="28 · node peach · surface [p28-e0017]"/>
            <p:cNvSpPr/>
            <p:nvPr/>
          </p:nvSpPr>
          <p:spPr>
            <a:xfrm>
              <a:off x="8940803" y="1917702"/>
              <a:ext cx="2692397" cy="1111248"/>
            </a:xfrm>
            <a:prstGeom prst="roundRect">
              <a:avLst>
                <a:gd name="adj" fmla="val 12571"/>
              </a:avLst>
            </a:prstGeom>
            <a:solidFill>
              <a:srgbClr val="FBE5DF"/>
            </a:solidFill>
            <a:ln>
              <a:noFill/>
            </a:ln>
          </p:spPr>
        </p:sp>
        <p:sp>
          <p:nvSpPr>
            <p:cNvPr id="1030" name="28 · strong: Family rule [p28-text-0019]" descr="Native editable Unicode text; authored line breaks retained."/>
            <p:cNvSpPr txBox="1"/>
            <p:nvPr/>
          </p:nvSpPr>
          <p:spPr>
            <a:xfrm>
              <a:off x="9105903" y="2026959"/>
              <a:ext cx="2374897"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Family rule</a:t>
              </a:r>
              <a:endParaRPr lang="en-US" sz="1700" b="1" i="0" kern="0" spc="0" dirty="0">
                <a:solidFill>
                  <a:srgbClr val="032D60"/>
                </a:solidFill>
                <a:latin typeface="Salesforce Sans"/>
                <a:ea typeface="Salesforce Sans"/>
                <a:cs typeface="Salesforce Sans"/>
              </a:endParaRPr>
            </a:p>
          </p:txBody>
        </p:sp>
        <p:sp>
          <p:nvSpPr>
            <p:cNvPr id="1031" name="28 · small: Source + its variants stay in one partition. [p28-text-0020]" descr="Native editable Unicode text; authored line breaks retained."/>
            <p:cNvSpPr txBox="1"/>
            <p:nvPr/>
          </p:nvSpPr>
          <p:spPr>
            <a:xfrm>
              <a:off x="9105903" y="2397570"/>
              <a:ext cx="23748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Source + its variants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stay in one partition.</a:t>
              </a:r>
              <a:endParaRPr lang="en-US" sz="1500" b="0" i="0" kern="0" spc="0" dirty="0">
                <a:solidFill>
                  <a:srgbClr val="032D60"/>
                </a:solidFill>
                <a:latin typeface="Salesforce Sans"/>
                <a:ea typeface="Salesforce Sans"/>
                <a:cs typeface="Salesforce Sans"/>
              </a:endParaRPr>
            </a:p>
          </p:txBody>
        </p:sp>
      </p:grpSp>
      <p:sp>
        <p:nvSpPr>
          <p:cNvPr id="1032" name="28 · node label: Separate sample partitions [p28-text-0021]" descr="Native editable Unicode text; authored line breaks retained."/>
          <p:cNvSpPr txBox="1"/>
          <p:nvPr/>
        </p:nvSpPr>
        <p:spPr>
          <a:xfrm>
            <a:off x="558800" y="3182573"/>
            <a:ext cx="2552702" cy="22923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55"/>
              </a:lnSpc>
              <a:spcBef>
                <a:spcPts val="0"/>
              </a:spcBef>
              <a:spcAft>
                <a:spcPts val="0"/>
              </a:spcAft>
              <a:buNone/>
            </a:pPr>
            <a:r>
              <a:rPr lang="en-US" sz="1350" b="0" i="0" kern="0" spc="0" dirty="0">
                <a:solidFill>
                  <a:srgbClr val="032D60"/>
                </a:solidFill>
                <a:latin typeface="Salesforce Sans"/>
                <a:ea typeface="Salesforce Sans"/>
                <a:cs typeface="Salesforce Sans"/>
              </a:rPr>
              <a:t>Separate sample partitions</a:t>
            </a:r>
            <a:endParaRPr lang="en-US" sz="1350" b="0" i="0" kern="0" spc="0" dirty="0">
              <a:solidFill>
                <a:srgbClr val="032D60"/>
              </a:solidFill>
              <a:latin typeface="Salesforce Sans"/>
              <a:ea typeface="Salesforce Sans"/>
              <a:cs typeface="Salesforce Sans"/>
            </a:endParaRPr>
          </a:p>
        </p:txBody>
      </p:sp>
      <p:grpSp>
        <p:nvGrpSpPr>
          <p:cNvPr id="1051" name="28 · node mint: Train"/>
          <p:cNvGrpSpPr/>
          <p:nvPr/>
        </p:nvGrpSpPr>
        <p:grpSpPr>
          <a:xfrm>
            <a:off x="558800" y="3854448"/>
            <a:ext cx="3429000" cy="1524001"/>
            <a:chOff x="558800" y="3854448"/>
            <a:chExt cx="3429000" cy="1524001"/>
          </a:xfrm>
        </p:grpSpPr>
        <p:sp>
          <p:nvSpPr>
            <p:cNvPr id="1033" name="28 · node mint · surface [p28-e0022]"/>
            <p:cNvSpPr/>
            <p:nvPr/>
          </p:nvSpPr>
          <p:spPr>
            <a:xfrm>
              <a:off x="558800" y="3854448"/>
              <a:ext cx="3429000" cy="1524001"/>
            </a:xfrm>
            <a:prstGeom prst="roundRect">
              <a:avLst>
                <a:gd name="adj" fmla="val 9167"/>
              </a:avLst>
            </a:prstGeom>
            <a:solidFill>
              <a:srgbClr val="DDF3ED"/>
            </a:solidFill>
            <a:ln>
              <a:noFill/>
            </a:ln>
          </p:spPr>
        </p:sp>
        <p:sp>
          <p:nvSpPr>
            <p:cNvPr id="1034" name="28 · strong: Train [p28-text-0022]" descr="Native editable Unicode text; authored line breaks retained."/>
            <p:cNvSpPr txBox="1"/>
            <p:nvPr/>
          </p:nvSpPr>
          <p:spPr>
            <a:xfrm>
              <a:off x="723900" y="4017075"/>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Train</a:t>
              </a:r>
              <a:endParaRPr lang="en-US" sz="2000" b="1" i="0" kern="0" spc="0" dirty="0">
                <a:solidFill>
                  <a:srgbClr val="032D60"/>
                </a:solidFill>
                <a:latin typeface="Salesforce Sans"/>
                <a:ea typeface="Salesforce Sans"/>
                <a:cs typeface="Salesforce Sans"/>
              </a:endParaRPr>
            </a:p>
          </p:txBody>
        </p:sp>
        <p:sp>
          <p:nvSpPr>
            <p:cNvPr id="1035" name="28 · small: Fit permitted components. Adaptation is optional. Augment training data only. [p28-text-0023]" descr="Native editable Unicode text; authored line breaks retained."/>
            <p:cNvSpPr txBox="1"/>
            <p:nvPr/>
          </p:nvSpPr>
          <p:spPr>
            <a:xfrm>
              <a:off x="723900" y="4434014"/>
              <a:ext cx="3111500"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Fit permitted components.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Adaptation is optional.</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Augment training data only.</a:t>
              </a:r>
              <a:endParaRPr lang="en-US" sz="1500" b="0" i="0" kern="0" spc="0" dirty="0">
                <a:solidFill>
                  <a:srgbClr val="032D60"/>
                </a:solidFill>
                <a:latin typeface="Salesforce Sans"/>
                <a:ea typeface="Salesforce Sans"/>
                <a:cs typeface="Salesforce Sans"/>
              </a:endParaRPr>
            </a:p>
          </p:txBody>
        </p:sp>
      </p:grpSp>
      <p:grpSp>
        <p:nvGrpSpPr>
          <p:cNvPr id="1052" name="28 · node sand: Development"/>
          <p:cNvGrpSpPr/>
          <p:nvPr/>
        </p:nvGrpSpPr>
        <p:grpSpPr>
          <a:xfrm>
            <a:off x="4381495" y="3854448"/>
            <a:ext cx="3429000" cy="1524001"/>
            <a:chOff x="4381495" y="3854448"/>
            <a:chExt cx="3429000" cy="1524001"/>
          </a:xfrm>
        </p:grpSpPr>
        <p:sp>
          <p:nvSpPr>
            <p:cNvPr id="1036" name="28 · node sand · surface [p28-e0027]"/>
            <p:cNvSpPr/>
            <p:nvPr/>
          </p:nvSpPr>
          <p:spPr>
            <a:xfrm>
              <a:off x="4381495" y="3854448"/>
              <a:ext cx="3429000" cy="1524001"/>
            </a:xfrm>
            <a:prstGeom prst="roundRect">
              <a:avLst>
                <a:gd name="adj" fmla="val 9167"/>
              </a:avLst>
            </a:prstGeom>
            <a:solidFill>
              <a:srgbClr val="FBF0CF"/>
            </a:solidFill>
            <a:ln>
              <a:noFill/>
            </a:ln>
          </p:spPr>
        </p:sp>
        <p:sp>
          <p:nvSpPr>
            <p:cNvPr id="1037" name="28 · strong: Development [p28-text-0024]" descr="Native editable Unicode text; authored line breaks retained."/>
            <p:cNvSpPr txBox="1"/>
            <p:nvPr/>
          </p:nvSpPr>
          <p:spPr>
            <a:xfrm>
              <a:off x="4546595"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Development</a:t>
              </a:r>
              <a:endParaRPr lang="en-US" sz="2000" b="1" i="0" kern="0" spc="0" dirty="0">
                <a:solidFill>
                  <a:srgbClr val="032D60"/>
                </a:solidFill>
                <a:latin typeface="Salesforce Sans"/>
                <a:ea typeface="Salesforce Sans"/>
                <a:cs typeface="Salesforce Sans"/>
              </a:endParaRPr>
            </a:p>
          </p:txBody>
        </p:sp>
        <p:sp>
          <p:nvSpPr>
            <p:cNvPr id="1038" name="28 · small: Use separate subsets for calibration and gate selection. [p28-text-0025]" descr="Native editable Unicode text; authored line breaks retained."/>
            <p:cNvSpPr txBox="1"/>
            <p:nvPr/>
          </p:nvSpPr>
          <p:spPr>
            <a:xfrm>
              <a:off x="4546595"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separate subsets for</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calibration and gate selection.</a:t>
              </a:r>
              <a:endParaRPr lang="en-US" sz="1500" b="0" i="0" kern="0" spc="0" dirty="0">
                <a:solidFill>
                  <a:srgbClr val="032D60"/>
                </a:solidFill>
                <a:latin typeface="Salesforce Sans"/>
                <a:ea typeface="Salesforce Sans"/>
                <a:cs typeface="Salesforce Sans"/>
              </a:endParaRPr>
            </a:p>
          </p:txBody>
        </p:sp>
      </p:grpSp>
      <p:grpSp>
        <p:nvGrpSpPr>
          <p:cNvPr id="1053" name="28 · node blue: Locked test"/>
          <p:cNvGrpSpPr/>
          <p:nvPr/>
        </p:nvGrpSpPr>
        <p:grpSpPr>
          <a:xfrm>
            <a:off x="8204200" y="3854448"/>
            <a:ext cx="3429000" cy="1524001"/>
            <a:chOff x="8204200" y="3854448"/>
            <a:chExt cx="3429000" cy="1524001"/>
          </a:xfrm>
        </p:grpSpPr>
        <p:sp>
          <p:nvSpPr>
            <p:cNvPr id="1039" name="28 · node blue · surface [p28-e0031]"/>
            <p:cNvSpPr/>
            <p:nvPr/>
          </p:nvSpPr>
          <p:spPr>
            <a:xfrm>
              <a:off x="8204200" y="3854448"/>
              <a:ext cx="3429000" cy="1524001"/>
            </a:xfrm>
            <a:prstGeom prst="roundRect">
              <a:avLst>
                <a:gd name="adj" fmla="val 9167"/>
              </a:avLst>
            </a:prstGeom>
            <a:solidFill>
              <a:srgbClr val="DCEEFE"/>
            </a:solidFill>
            <a:ln>
              <a:noFill/>
            </a:ln>
          </p:spPr>
        </p:sp>
        <p:sp>
          <p:nvSpPr>
            <p:cNvPr id="1040" name="28 · strong: Locked test [p28-text-0026]" descr="Native editable Unicode text; authored line breaks retained."/>
            <p:cNvSpPr txBox="1"/>
            <p:nvPr/>
          </p:nvSpPr>
          <p:spPr>
            <a:xfrm>
              <a:off x="8369300"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Locked test</a:t>
              </a:r>
              <a:endParaRPr lang="en-US" sz="2000" b="1" i="0" kern="0" spc="0" dirty="0">
                <a:solidFill>
                  <a:srgbClr val="032D60"/>
                </a:solidFill>
                <a:latin typeface="Salesforce Sans"/>
                <a:ea typeface="Salesforce Sans"/>
                <a:cs typeface="Salesforce Sans"/>
              </a:endParaRPr>
            </a:p>
          </p:txBody>
        </p:sp>
        <p:sp>
          <p:nvSpPr>
            <p:cNvPr id="1041" name="28 · small: Keep examples untouched. No fitting or gate tuning. [p28-text-0027]" descr="Native editable Unicode text; authored line breaks retained."/>
            <p:cNvSpPr txBox="1"/>
            <p:nvPr/>
          </p:nvSpPr>
          <p:spPr>
            <a:xfrm>
              <a:off x="8369300"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examples untouched.</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No fitting or gate tuning.</a:t>
              </a:r>
              <a:endParaRPr lang="en-US" sz="1500" b="0" i="0" kern="0" spc="0" dirty="0">
                <a:solidFill>
                  <a:srgbClr val="032D60"/>
                </a:solidFill>
                <a:latin typeface="Salesforce Sans"/>
                <a:ea typeface="Salesforce Sans"/>
                <a:cs typeface="Salesforce Sans"/>
              </a:endParaRPr>
            </a:p>
          </p:txBody>
        </p:sp>
      </p:grpSp>
      <p:sp>
        <p:nvSpPr>
          <p:cNvPr id="1042" name="28 · node label: Route labels use decision-time evidence; later outcomes belong to separate tar [p28-text-0028]" descr="Native editable Unicode text; authored line breaks retained."/>
          <p:cNvSpPr txBox="1"/>
          <p:nvPr/>
        </p:nvSpPr>
        <p:spPr>
          <a:xfrm>
            <a:off x="558800" y="5678613"/>
            <a:ext cx="11087100"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Route labels use decision-time evidence; later outcomes belong to separate targets.</a:t>
            </a:r>
            <a:endParaRPr lang="en-US" sz="1500" b="0" i="0" kern="0" spc="0" dirty="0">
              <a:solidFill>
                <a:srgbClr val="032D60"/>
              </a:solidFill>
              <a:latin typeface="Salesforce Sans"/>
              <a:ea typeface="Salesforce Sans"/>
              <a:cs typeface="Salesforce Sans"/>
            </a:endParaRPr>
          </a:p>
        </p:txBody>
      </p:sp>
      <p:grpSp>
        <p:nvGrpSpPr>
          <p:cNvPr id="1054" name="28 · source-line: Tutorial evaluation protocol"/>
          <p:cNvGrpSpPr/>
          <p:nvPr/>
        </p:nvGrpSpPr>
        <p:grpSpPr>
          <a:xfrm>
            <a:off x="558800" y="6037898"/>
            <a:ext cx="11087100" cy="284456"/>
            <a:chOff x="558800" y="6037898"/>
            <a:chExt cx="11087100" cy="284456"/>
          </a:xfrm>
        </p:grpSpPr>
        <p:sp>
          <p:nvSpPr>
            <p:cNvPr id="1043" name="28 · source-line · top border [p28-e003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28 · span: Tutorial evaluation protocol [p28-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5" name="28 · span: Proposed task development; adaptation only where supported [p28-text-0030]" descr="Native editable Unicode text; authored line breaks retained."/>
            <p:cNvSpPr txBox="1"/>
            <p:nvPr/>
          </p:nvSpPr>
          <p:spPr>
            <a:xfrm>
              <a:off x="8134530" y="6153126"/>
              <a:ext cx="35113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task development; adaptation only where supported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9.xml><?xml version="1.0" encoding="utf-8"?>
<p:sld xmlns:a="http://schemas.openxmlformats.org/drawingml/2006/main" xmlns:p="http://schemas.openxmlformats.org/presentationml/2006/main">
  <p:cSld name="Freeze the workflow before earning release">
    <p:bg>
      <p:bgPr>
        <a:solidFill>
          <a:srgbClr val="FFFFFF"/>
        </a:solidFill>
      </p:bgPr>
    </p:bg>
    <p:spTree>
      <p:nvGrpSpPr>
        <p:cNvPr id="1" name=""/>
        <p:cNvGrpSpPr/>
        <p:nvPr/>
      </p:nvGrpSpPr>
      <p:grpSpPr>
        <a:xfrm>
          <a:off x="0" y="0"/>
          <a:ext cx="0" cy="0"/>
          <a:chOff x="0" y="0"/>
          <a:chExt cx="0" cy="0"/>
        </a:xfrm>
      </p:grpSpPr>
      <p:sp>
        <p:nvSpPr>
          <p:cNvPr id="1000" name="29 · slide light · surface [p2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2" name="29 · chrome-min: DISAGGREGATED INTELLIGENCE"/>
          <p:cNvGrpSpPr/>
          <p:nvPr/>
        </p:nvGrpSpPr>
        <p:grpSpPr>
          <a:xfrm>
            <a:off x="558800" y="356053"/>
            <a:ext cx="11087100" cy="187325"/>
            <a:chOff x="558800" y="356053"/>
            <a:chExt cx="11087100" cy="187325"/>
          </a:xfrm>
        </p:grpSpPr>
        <p:sp>
          <p:nvSpPr>
            <p:cNvPr id="1001" name="29 · l: DISAGGREGATED INTELLIGENCE [p29-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9 · r: 29 / 36 [p29-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29 / 36</a:t>
              </a:r>
              <a:endParaRPr lang="en-US" sz="950" b="1" i="0" kern="0" spc="65" dirty="0">
                <a:solidFill>
                  <a:srgbClr val="022AC0"/>
                </a:solidFill>
                <a:latin typeface="Salesforce Sans"/>
                <a:ea typeface="Salesforce Sans"/>
                <a:cs typeface="Salesforce Sans"/>
              </a:endParaRPr>
            </a:p>
          </p:txBody>
        </p:sp>
      </p:grpSp>
      <p:grpSp>
        <p:nvGrpSpPr>
          <p:cNvPr id="1053" name="29 · deck-head: 08 / TRAINING PIPELINE — QUALIFY THE CANDIDATE"/>
          <p:cNvGrpSpPr/>
          <p:nvPr/>
        </p:nvGrpSpPr>
        <p:grpSpPr>
          <a:xfrm>
            <a:off x="558800" y="775901"/>
            <a:ext cx="11087100" cy="871263"/>
            <a:chOff x="558800" y="775901"/>
            <a:chExt cx="11087100" cy="871263"/>
          </a:xfrm>
        </p:grpSpPr>
        <p:sp>
          <p:nvSpPr>
            <p:cNvPr id="1003" name="29 · training-release-eyebrow: 08 / TRAINING PIPELINE — QUALIFY THE CANDIDATE [p29-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QUALIFY THE CANDIDATE</a:t>
              </a:r>
              <a:endParaRPr lang="en-US" sz="1050" b="1" i="0" kern="0" spc="68" dirty="0">
                <a:solidFill>
                  <a:srgbClr val="022AC0"/>
                </a:solidFill>
                <a:latin typeface="Salesforce Sans"/>
                <a:ea typeface="Salesforce Sans"/>
                <a:cs typeface="Salesforce Sans"/>
              </a:endParaRPr>
            </a:p>
          </p:txBody>
        </p:sp>
        <p:sp>
          <p:nvSpPr>
            <p:cNvPr id="1004" name="29 · training-release-title: Freeze the workflow before earning release [p29-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Freeze the workflow before earning release</a:t>
              </a:r>
              <a:endParaRPr lang="en-US" sz="3600" b="1" i="0" kern="0" spc="-95" dirty="0">
                <a:solidFill>
                  <a:srgbClr val="022AC0"/>
                </a:solidFill>
                <a:latin typeface="Manrope"/>
                <a:ea typeface="Manrope"/>
                <a:cs typeface="Manrope"/>
              </a:endParaRPr>
            </a:p>
          </p:txBody>
        </p:sp>
      </p:grpSp>
      <p:grpSp>
        <p:nvGrpSpPr>
          <p:cNvPr id="1005" name="29 · svg · drawing [p29-e0008]"/>
          <p:cNvGrpSpPr/>
          <p:nvPr/>
        </p:nvGrpSpPr>
        <p:grpSpPr>
          <a:xfrm>
            <a:off x="3543300" y="2438400"/>
            <a:ext cx="6629400" cy="2971800"/>
            <a:chOff x="3543300" y="2438400"/>
            <a:chExt cx="6629400" cy="2971800"/>
          </a:xfrm>
        </p:grpSpPr>
        <p:grpSp>
          <p:nvGrpSpPr>
            <p:cNvPr id="1006" name="path · 1 + arrowhead"/>
            <p:cNvGrpSpPr/>
            <p:nvPr/>
          </p:nvGrpSpPr>
          <p:grpSpPr>
            <a:xfrm>
              <a:off x="5975350" y="2438400"/>
              <a:ext cx="152400" cy="342900"/>
              <a:chOff x="5975350" y="2438400"/>
              <a:chExt cx="152400" cy="342900"/>
            </a:xfrm>
          </p:grpSpPr>
          <p:sp>
            <p:nvSpPr>
              <p:cNvPr id="1007" name="path · 1"/>
              <p:cNvSpPr/>
              <p:nvPr/>
            </p:nvSpPr>
            <p:spPr>
              <a:xfrm>
                <a:off x="6051550" y="2438400"/>
                <a:ext cx="1" cy="323850"/>
              </a:xfrm>
              <a:custGeom>
                <a:avLst/>
                <a:gdLst/>
                <a:ahLst/>
                <a:cxnLst/>
                <a:rect l="0" t="0" r="r" b="b"/>
                <a:pathLst>
                  <a:path w="1" h="323850" fill="none" stroke="1" extrusionOk="0">
                    <a:moveTo>
                      <a:pt x="0" y="0"/>
                    </a:moveTo>
                    <a:lnTo>
                      <a:pt x="0" y="323850"/>
                    </a:lnTo>
                  </a:path>
                </a:pathLst>
              </a:custGeom>
              <a:noFill/>
              <a:ln w="19050" cap="flat" cmpd="sng" algn="ctr">
                <a:solidFill>
                  <a:srgbClr val="51776A"/>
                </a:solidFill>
                <a:prstDash val="solid"/>
                <a:miter lim="400000"/>
                <a:headEnd type="none" w="med" len="med"/>
                <a:tailEnd type="none" w="med" len="med"/>
              </a:ln>
            </p:spPr>
          </p:sp>
          <p:grpSp>
            <p:nvGrpSpPr>
              <p:cNvPr id="1008" name="releasefocus-data end"/>
              <p:cNvGrpSpPr/>
              <p:nvPr/>
            </p:nvGrpSpPr>
            <p:grpSpPr>
              <a:xfrm>
                <a:off x="5975350" y="2628900"/>
                <a:ext cx="152400" cy="152400"/>
                <a:chOff x="5975350" y="2628900"/>
                <a:chExt cx="152400" cy="152400"/>
              </a:xfrm>
            </p:grpSpPr>
            <p:sp>
              <p:nvSpPr>
                <p:cNvPr id="1009" name="path · 2"/>
                <p:cNvSpPr/>
                <p:nvPr/>
              </p:nvSpPr>
              <p:spPr>
                <a:xfrm>
                  <a:off x="5975350" y="26289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0" name="path · 3 + arrowhead"/>
            <p:cNvGrpSpPr/>
            <p:nvPr/>
          </p:nvGrpSpPr>
          <p:grpSpPr>
            <a:xfrm>
              <a:off x="3543300" y="3479800"/>
              <a:ext cx="895350" cy="152400"/>
              <a:chOff x="3543300" y="3479800"/>
              <a:chExt cx="895350" cy="152400"/>
            </a:xfrm>
          </p:grpSpPr>
          <p:sp>
            <p:nvSpPr>
              <p:cNvPr id="1011" name="path · 3"/>
              <p:cNvSpPr/>
              <p:nvPr/>
            </p:nvSpPr>
            <p:spPr>
              <a:xfrm>
                <a:off x="354330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737DAC"/>
                </a:solidFill>
                <a:custDash>
                  <a:ds d="366667" sp="266667"/>
                </a:custDash>
                <a:miter lim="400000"/>
                <a:headEnd type="none" w="med" len="med"/>
                <a:tailEnd type="none" w="med" len="med"/>
              </a:ln>
            </p:spPr>
          </p:sp>
          <p:grpSp>
            <p:nvGrpSpPr>
              <p:cNvPr id="1012" name="releasefocus-artifact end"/>
              <p:cNvGrpSpPr/>
              <p:nvPr/>
            </p:nvGrpSpPr>
            <p:grpSpPr>
              <a:xfrm>
                <a:off x="4286250" y="3479800"/>
                <a:ext cx="152400" cy="152400"/>
                <a:chOff x="4286250" y="3479800"/>
                <a:chExt cx="152400" cy="152400"/>
              </a:xfrm>
            </p:grpSpPr>
            <p:sp>
              <p:nvSpPr>
                <p:cNvPr id="1013" name="path · 4"/>
                <p:cNvSpPr/>
                <p:nvPr/>
              </p:nvSpPr>
              <p:spPr>
                <a:xfrm>
                  <a:off x="428625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737DAC"/>
                </a:solidFill>
                <a:ln>
                  <a:noFill/>
                </a:ln>
              </p:spPr>
            </p:sp>
          </p:grpSp>
        </p:grpSp>
        <p:grpSp>
          <p:nvGrpSpPr>
            <p:cNvPr id="1014" name="path · 5 + arrowhead"/>
            <p:cNvGrpSpPr/>
            <p:nvPr/>
          </p:nvGrpSpPr>
          <p:grpSpPr>
            <a:xfrm>
              <a:off x="7639050" y="3479800"/>
              <a:ext cx="895350" cy="152400"/>
              <a:chOff x="7639050" y="3479800"/>
              <a:chExt cx="895350" cy="152400"/>
            </a:xfrm>
          </p:grpSpPr>
          <p:sp>
            <p:nvSpPr>
              <p:cNvPr id="1015" name="path · 5"/>
              <p:cNvSpPr/>
              <p:nvPr/>
            </p:nvSpPr>
            <p:spPr>
              <a:xfrm>
                <a:off x="763905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243E42"/>
                </a:solidFill>
                <a:prstDash val="solid"/>
                <a:miter lim="400000"/>
                <a:headEnd type="none" w="med" len="med"/>
                <a:tailEnd type="none" w="med" len="med"/>
              </a:ln>
            </p:spPr>
          </p:sp>
          <p:grpSp>
            <p:nvGrpSpPr>
              <p:cNvPr id="1016" name="releasefocus-gate end"/>
              <p:cNvGrpSpPr/>
              <p:nvPr/>
            </p:nvGrpSpPr>
            <p:grpSpPr>
              <a:xfrm>
                <a:off x="8382000" y="3479800"/>
                <a:ext cx="152400" cy="152400"/>
                <a:chOff x="8382000" y="3479800"/>
                <a:chExt cx="152400" cy="152400"/>
              </a:xfrm>
            </p:grpSpPr>
            <p:sp>
              <p:nvSpPr>
                <p:cNvPr id="1017" name="path · 6"/>
                <p:cNvSpPr/>
                <p:nvPr/>
              </p:nvSpPr>
              <p:spPr>
                <a:xfrm>
                  <a:off x="838200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243E42"/>
                </a:solidFill>
                <a:ln>
                  <a:noFill/>
                </a:ln>
              </p:spPr>
            </p:sp>
          </p:grpSp>
        </p:grpSp>
        <p:grpSp>
          <p:nvGrpSpPr>
            <p:cNvPr id="1018" name="path · 7 + arrowhead"/>
            <p:cNvGrpSpPr/>
            <p:nvPr/>
          </p:nvGrpSpPr>
          <p:grpSpPr>
            <a:xfrm>
              <a:off x="10020300" y="4394200"/>
              <a:ext cx="152400" cy="355600"/>
              <a:chOff x="10020300" y="4394200"/>
              <a:chExt cx="152400" cy="355600"/>
            </a:xfrm>
          </p:grpSpPr>
          <p:sp>
            <p:nvSpPr>
              <p:cNvPr id="1019" name="path · 7"/>
              <p:cNvSpPr/>
              <p:nvPr/>
            </p:nvSpPr>
            <p:spPr>
              <a:xfrm>
                <a:off x="10096500" y="4394200"/>
                <a:ext cx="1" cy="336550"/>
              </a:xfrm>
              <a:custGeom>
                <a:avLst/>
                <a:gdLst/>
                <a:ahLst/>
                <a:cxnLst/>
                <a:rect l="0" t="0" r="r" b="b"/>
                <a:pathLst>
                  <a:path w="1" h="336550" fill="none" stroke="1" extrusionOk="0">
                    <a:moveTo>
                      <a:pt x="0" y="0"/>
                    </a:moveTo>
                    <a:lnTo>
                      <a:pt x="0" y="336550"/>
                    </a:lnTo>
                  </a:path>
                </a:pathLst>
              </a:custGeom>
              <a:noFill/>
              <a:ln w="19050" cap="flat" cmpd="sng" algn="ctr">
                <a:solidFill>
                  <a:srgbClr val="243E42"/>
                </a:solidFill>
                <a:prstDash val="solid"/>
                <a:miter lim="400000"/>
                <a:headEnd type="none" w="med" len="med"/>
                <a:tailEnd type="none" w="med" len="med"/>
              </a:ln>
            </p:spPr>
          </p:sp>
          <p:grpSp>
            <p:nvGrpSpPr>
              <p:cNvPr id="1020" name="releasefocus-gate end"/>
              <p:cNvGrpSpPr/>
              <p:nvPr/>
            </p:nvGrpSpPr>
            <p:grpSpPr>
              <a:xfrm>
                <a:off x="10020300" y="4597400"/>
                <a:ext cx="152400" cy="152400"/>
                <a:chOff x="10020300" y="4597400"/>
                <a:chExt cx="152400" cy="152400"/>
              </a:xfrm>
            </p:grpSpPr>
            <p:sp>
              <p:nvSpPr>
                <p:cNvPr id="1021" name="path · 8"/>
                <p:cNvSpPr/>
                <p:nvPr/>
              </p:nvSpPr>
              <p:spPr>
                <a:xfrm>
                  <a:off x="10020300" y="45974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243E42"/>
                </a:solidFill>
                <a:ln>
                  <a:noFill/>
                </a:ln>
              </p:spPr>
            </p:sp>
          </p:grpSp>
        </p:grpSp>
        <p:grpSp>
          <p:nvGrpSpPr>
            <p:cNvPr id="1022" name="path · 9 + arrowhead"/>
            <p:cNvGrpSpPr/>
            <p:nvPr/>
          </p:nvGrpSpPr>
          <p:grpSpPr>
            <a:xfrm>
              <a:off x="7664450" y="5257800"/>
              <a:ext cx="895350" cy="152400"/>
              <a:chOff x="7664450" y="5257800"/>
              <a:chExt cx="895350" cy="152400"/>
            </a:xfrm>
          </p:grpSpPr>
          <p:sp>
            <p:nvSpPr>
              <p:cNvPr id="1023" name="path · 9"/>
              <p:cNvSpPr/>
              <p:nvPr/>
            </p:nvSpPr>
            <p:spPr>
              <a:xfrm>
                <a:off x="7683500" y="5334000"/>
                <a:ext cx="876300" cy="1"/>
              </a:xfrm>
              <a:custGeom>
                <a:avLst/>
                <a:gdLst/>
                <a:ahLst/>
                <a:cxnLst/>
                <a:rect l="0" t="0" r="r" b="b"/>
                <a:pathLst>
                  <a:path w="876300" h="1" fill="none" stroke="1" extrusionOk="0">
                    <a:moveTo>
                      <a:pt x="876300" y="0"/>
                    </a:moveTo>
                    <a:lnTo>
                      <a:pt x="0" y="0"/>
                    </a:lnTo>
                  </a:path>
                </a:pathLst>
              </a:custGeom>
              <a:noFill/>
              <a:ln w="19050" cap="rnd" cmpd="sng" algn="ctr">
                <a:solidFill>
                  <a:srgbClr val="AD7357"/>
                </a:solidFill>
                <a:custDash>
                  <a:ds d="66667" sp="300000"/>
                </a:custDash>
                <a:miter lim="400000"/>
                <a:headEnd type="none" w="med" len="med"/>
                <a:tailEnd type="none" w="med" len="med"/>
              </a:ln>
            </p:spPr>
          </p:sp>
          <p:grpSp>
            <p:nvGrpSpPr>
              <p:cNvPr id="1024" name="releasefocus-feedback end"/>
              <p:cNvGrpSpPr/>
              <p:nvPr/>
            </p:nvGrpSpPr>
            <p:grpSpPr>
              <a:xfrm>
                <a:off x="7664450" y="5257800"/>
                <a:ext cx="152400" cy="152400"/>
                <a:chOff x="7664450" y="5257800"/>
                <a:chExt cx="152400" cy="152400"/>
              </a:xfrm>
            </p:grpSpPr>
            <p:sp>
              <p:nvSpPr>
                <p:cNvPr id="1025" name="path · 10"/>
                <p:cNvSpPr/>
                <p:nvPr/>
              </p:nvSpPr>
              <p:spPr>
                <a:xfrm>
                  <a:off x="7664450" y="5257800"/>
                  <a:ext cx="152400" cy="152400"/>
                </a:xfrm>
                <a:custGeom>
                  <a:avLst/>
                  <a:gdLst/>
                  <a:ahLst/>
                  <a:cxnLst/>
                  <a:rect l="0" t="0" r="r" b="b"/>
                  <a:pathLst>
                    <a:path w="152400" h="152400" fill="norm" stroke="0" extrusionOk="0">
                      <a:moveTo>
                        <a:pt x="152400" y="152400"/>
                      </a:moveTo>
                      <a:lnTo>
                        <a:pt x="0" y="76200"/>
                      </a:lnTo>
                      <a:lnTo>
                        <a:pt x="152400" y="0"/>
                      </a:lnTo>
                      <a:close/>
                    </a:path>
                  </a:pathLst>
                </a:custGeom>
                <a:solidFill>
                  <a:srgbClr val="AD7357"/>
                </a:solidFill>
                <a:ln>
                  <a:noFill/>
                </a:ln>
              </p:spPr>
            </p:sp>
          </p:grpSp>
        </p:grpSp>
      </p:grpSp>
      <p:sp>
        <p:nvSpPr>
          <p:cNvPr id="1026" name="29 · node label: Freeze the selected candidate [p29-text-0015]" descr="Native editable Unicode text; authored line breaks retained."/>
          <p:cNvSpPr txBox="1"/>
          <p:nvPr/>
        </p:nvSpPr>
        <p:spPr>
          <a:xfrm>
            <a:off x="558800" y="2309940"/>
            <a:ext cx="2997195"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Freeze the selected candidate</a:t>
            </a:r>
            <a:endParaRPr lang="en-US" sz="1500" b="0" i="0" kern="0" spc="0" dirty="0">
              <a:solidFill>
                <a:srgbClr val="032D60"/>
              </a:solidFill>
              <a:latin typeface="Salesforce Sans"/>
              <a:ea typeface="Salesforce Sans"/>
              <a:cs typeface="Salesforce Sans"/>
            </a:endParaRPr>
          </a:p>
        </p:txBody>
      </p:sp>
      <p:grpSp>
        <p:nvGrpSpPr>
          <p:cNvPr id="1054" name="29 · node blue: Untouched test cases"/>
          <p:cNvGrpSpPr/>
          <p:nvPr/>
        </p:nvGrpSpPr>
        <p:grpSpPr>
          <a:xfrm>
            <a:off x="4464054" y="1917702"/>
            <a:ext cx="3174997" cy="520700"/>
            <a:chOff x="4464054" y="1917702"/>
            <a:chExt cx="3174997" cy="520700"/>
          </a:xfrm>
        </p:grpSpPr>
        <p:sp>
          <p:nvSpPr>
            <p:cNvPr id="1027" name="29 · node blue · surface [p29-e0010]"/>
            <p:cNvSpPr/>
            <p:nvPr/>
          </p:nvSpPr>
          <p:spPr>
            <a:xfrm>
              <a:off x="4464054" y="1917702"/>
              <a:ext cx="3174997" cy="520700"/>
            </a:xfrm>
            <a:prstGeom prst="roundRect">
              <a:avLst>
                <a:gd name="adj" fmla="val 26829"/>
              </a:avLst>
            </a:prstGeom>
            <a:solidFill>
              <a:srgbClr val="DCEEFE"/>
            </a:solidFill>
            <a:ln>
              <a:noFill/>
            </a:ln>
          </p:spPr>
        </p:sp>
        <p:sp>
          <p:nvSpPr>
            <p:cNvPr id="1028" name="29 · strong: Untouched test cases [p29-text-0016]" descr="Native editable Unicode text; authored line breaks retained."/>
            <p:cNvSpPr txBox="1"/>
            <p:nvPr/>
          </p:nvSpPr>
          <p:spPr>
            <a:xfrm>
              <a:off x="4629154" y="2055941"/>
              <a:ext cx="2857497"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25"/>
                </a:lnSpc>
                <a:spcBef>
                  <a:spcPts val="0"/>
                </a:spcBef>
                <a:spcAft>
                  <a:spcPts val="0"/>
                </a:spcAft>
                <a:buNone/>
              </a:pPr>
              <a:r>
                <a:rPr lang="en-US" sz="1500" b="1" i="0" kern="0" spc="0" dirty="0">
                  <a:solidFill>
                    <a:srgbClr val="032D60"/>
                  </a:solidFill>
                  <a:latin typeface="Salesforce Sans"/>
                  <a:ea typeface="Salesforce Sans"/>
                  <a:cs typeface="Salesforce Sans"/>
                </a:rPr>
                <a:t>Untouched test cases</a:t>
              </a:r>
              <a:endParaRPr lang="en-US" sz="1500" b="1" i="0" kern="0" spc="0" dirty="0">
                <a:solidFill>
                  <a:srgbClr val="032D60"/>
                </a:solidFill>
                <a:latin typeface="Salesforce Sans"/>
                <a:ea typeface="Salesforce Sans"/>
                <a:cs typeface="Salesforce Sans"/>
              </a:endParaRPr>
            </a:p>
          </p:txBody>
        </p:sp>
      </p:grpSp>
      <p:grpSp>
        <p:nvGrpSpPr>
          <p:cNvPr id="1055" name="29 · node lilac: Frozen artifacts"/>
          <p:cNvGrpSpPr/>
          <p:nvPr/>
        </p:nvGrpSpPr>
        <p:grpSpPr>
          <a:xfrm>
            <a:off x="558800" y="2806702"/>
            <a:ext cx="2984495" cy="1587499"/>
            <a:chOff x="558800" y="2806702"/>
            <a:chExt cx="2984495" cy="1587499"/>
          </a:xfrm>
        </p:grpSpPr>
        <p:sp>
          <p:nvSpPr>
            <p:cNvPr id="1029" name="29 · node lilac · surface [p29-e0012]"/>
            <p:cNvSpPr/>
            <p:nvPr/>
          </p:nvSpPr>
          <p:spPr>
            <a:xfrm>
              <a:off x="558800" y="2806702"/>
              <a:ext cx="2984495" cy="1587499"/>
            </a:xfrm>
            <a:prstGeom prst="roundRect">
              <a:avLst>
                <a:gd name="adj" fmla="val 8800"/>
              </a:avLst>
            </a:prstGeom>
            <a:solidFill>
              <a:srgbClr val="EAE6FA"/>
            </a:solidFill>
            <a:ln>
              <a:noFill/>
            </a:ln>
          </p:spPr>
        </p:sp>
        <p:sp>
          <p:nvSpPr>
            <p:cNvPr id="1030" name="29 · strong: Frozen artifacts [p29-text-0017]" descr="Native editable Unicode text; authored line breaks retained."/>
            <p:cNvSpPr txBox="1"/>
            <p:nvPr/>
          </p:nvSpPr>
          <p:spPr>
            <a:xfrm>
              <a:off x="723900" y="3009216"/>
              <a:ext cx="2666995"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Frozen artifacts</a:t>
              </a:r>
              <a:endParaRPr lang="en-US" sz="1900" b="1" i="0" kern="0" spc="0" dirty="0">
                <a:solidFill>
                  <a:srgbClr val="032D60"/>
                </a:solidFill>
                <a:latin typeface="Salesforce Sans"/>
                <a:ea typeface="Salesforce Sans"/>
                <a:cs typeface="Salesforce Sans"/>
              </a:endParaRPr>
            </a:p>
          </p:txBody>
        </p:sp>
        <p:sp>
          <p:nvSpPr>
            <p:cNvPr id="1031" name="29 · small: Model and transforms. Decision definitions. Routing policy and gates. [p29-text-0018]" descr="Native editable Unicode text; authored line breaks retained."/>
            <p:cNvSpPr txBox="1"/>
            <p:nvPr/>
          </p:nvSpPr>
          <p:spPr>
            <a:xfrm>
              <a:off x="723900" y="3410714"/>
              <a:ext cx="2666995"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Model and transforms.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Decision definitions.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Routing policy and gates.</a:t>
              </a:r>
              <a:endParaRPr lang="en-US" sz="1500" b="0" i="0" kern="0" spc="0" dirty="0">
                <a:solidFill>
                  <a:srgbClr val="032D60"/>
                </a:solidFill>
                <a:latin typeface="Salesforce Sans"/>
                <a:ea typeface="Salesforce Sans"/>
                <a:cs typeface="Salesforce Sans"/>
              </a:endParaRPr>
            </a:p>
          </p:txBody>
        </p:sp>
      </p:grpSp>
      <p:sp>
        <p:nvSpPr>
          <p:cNvPr id="1032" name="29 · node label: Artifacts [p29-text-0019]" descr="Native editable Unicode text; authored line breaks retained."/>
          <p:cNvSpPr txBox="1"/>
          <p:nvPr/>
        </p:nvSpPr>
        <p:spPr>
          <a:xfrm>
            <a:off x="3594105" y="3192995"/>
            <a:ext cx="850899"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Artifacts</a:t>
            </a:r>
            <a:endParaRPr lang="en-US" sz="1300" b="0" i="0" kern="0" spc="0" dirty="0">
              <a:solidFill>
                <a:srgbClr val="032D60"/>
              </a:solidFill>
              <a:latin typeface="Salesforce Sans"/>
              <a:ea typeface="Salesforce Sans"/>
              <a:cs typeface="Salesforce Sans"/>
            </a:endParaRPr>
          </a:p>
        </p:txBody>
      </p:sp>
      <p:grpSp>
        <p:nvGrpSpPr>
          <p:cNvPr id="1056" name="29 · node blue: Locked evaluation"/>
          <p:cNvGrpSpPr/>
          <p:nvPr/>
        </p:nvGrpSpPr>
        <p:grpSpPr>
          <a:xfrm>
            <a:off x="4464054" y="2806702"/>
            <a:ext cx="3174997" cy="1587499"/>
            <a:chOff x="4464054" y="2806702"/>
            <a:chExt cx="3174997" cy="1587499"/>
          </a:xfrm>
        </p:grpSpPr>
        <p:sp>
          <p:nvSpPr>
            <p:cNvPr id="1033" name="29 · node blue · surface [p29-e0018]"/>
            <p:cNvSpPr/>
            <p:nvPr/>
          </p:nvSpPr>
          <p:spPr>
            <a:xfrm>
              <a:off x="4464054" y="2806702"/>
              <a:ext cx="3174997" cy="1587499"/>
            </a:xfrm>
            <a:prstGeom prst="roundRect">
              <a:avLst>
                <a:gd name="adj" fmla="val 8800"/>
              </a:avLst>
            </a:prstGeom>
            <a:solidFill>
              <a:srgbClr val="DCEEFE"/>
            </a:solidFill>
            <a:ln>
              <a:noFill/>
            </a:ln>
          </p:spPr>
        </p:sp>
        <p:sp>
          <p:nvSpPr>
            <p:cNvPr id="1034" name="29 · strong: Locked evaluation [p29-text-0020]" descr="Native editable Unicode text; authored line breaks retained."/>
            <p:cNvSpPr txBox="1"/>
            <p:nvPr/>
          </p:nvSpPr>
          <p:spPr>
            <a:xfrm>
              <a:off x="4629154" y="3009216"/>
              <a:ext cx="2857497"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Locked evaluation</a:t>
              </a:r>
              <a:endParaRPr lang="en-US" sz="1900" b="1" i="0" kern="0" spc="0" dirty="0">
                <a:solidFill>
                  <a:srgbClr val="032D60"/>
                </a:solidFill>
                <a:latin typeface="Salesforce Sans"/>
                <a:ea typeface="Salesforce Sans"/>
                <a:cs typeface="Salesforce Sans"/>
              </a:endParaRPr>
            </a:p>
          </p:txBody>
        </p:sp>
        <p:sp>
          <p:nvSpPr>
            <p:cNvPr id="1035" name="29 · small: Paired decision comparison. Use untouched examples. Predeclare offline gates. [p29-text-0021]" descr="Native editable Unicode text; authored line breaks retained."/>
            <p:cNvSpPr txBox="1"/>
            <p:nvPr/>
          </p:nvSpPr>
          <p:spPr>
            <a:xfrm>
              <a:off x="4629154" y="3410714"/>
              <a:ext cx="2857497"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Paired decision comparison.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untouched examples.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Predeclare offline gates.</a:t>
              </a:r>
              <a:endParaRPr lang="en-US" sz="1500" b="0" i="0" kern="0" spc="0" dirty="0">
                <a:solidFill>
                  <a:srgbClr val="032D60"/>
                </a:solidFill>
                <a:latin typeface="Salesforce Sans"/>
                <a:ea typeface="Salesforce Sans"/>
                <a:cs typeface="Salesforce Sans"/>
              </a:endParaRPr>
            </a:p>
          </p:txBody>
        </p:sp>
      </p:grpSp>
      <p:sp>
        <p:nvSpPr>
          <p:cNvPr id="1036" name="29 · node label: Pass gates [p29-text-0022]" descr="Native editable Unicode text; authored line breaks retained."/>
          <p:cNvSpPr txBox="1"/>
          <p:nvPr/>
        </p:nvSpPr>
        <p:spPr>
          <a:xfrm>
            <a:off x="7677147" y="3192995"/>
            <a:ext cx="895352"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Pass gates</a:t>
            </a:r>
            <a:endParaRPr lang="en-US" sz="1300" b="0" i="0" kern="0" spc="0" dirty="0">
              <a:solidFill>
                <a:srgbClr val="032D60"/>
              </a:solidFill>
              <a:latin typeface="Salesforce Sans"/>
              <a:ea typeface="Salesforce Sans"/>
              <a:cs typeface="Salesforce Sans"/>
            </a:endParaRPr>
          </a:p>
        </p:txBody>
      </p:sp>
      <p:grpSp>
        <p:nvGrpSpPr>
          <p:cNvPr id="1057" name="29 · node mint: Randomized pilot"/>
          <p:cNvGrpSpPr/>
          <p:nvPr/>
        </p:nvGrpSpPr>
        <p:grpSpPr>
          <a:xfrm>
            <a:off x="8559799" y="2806702"/>
            <a:ext cx="3073401" cy="1587499"/>
            <a:chOff x="8559799" y="2806702"/>
            <a:chExt cx="3073401" cy="1587499"/>
          </a:xfrm>
        </p:grpSpPr>
        <p:sp>
          <p:nvSpPr>
            <p:cNvPr id="1037" name="29 · node mint · surface [p29-e0024]"/>
            <p:cNvSpPr/>
            <p:nvPr/>
          </p:nvSpPr>
          <p:spPr>
            <a:xfrm>
              <a:off x="8559799" y="2806702"/>
              <a:ext cx="3073401" cy="1587499"/>
            </a:xfrm>
            <a:prstGeom prst="roundRect">
              <a:avLst>
                <a:gd name="adj" fmla="val 8800"/>
              </a:avLst>
            </a:prstGeom>
            <a:solidFill>
              <a:srgbClr val="DDF3ED"/>
            </a:solidFill>
            <a:ln>
              <a:noFill/>
            </a:ln>
          </p:spPr>
        </p:sp>
        <p:sp>
          <p:nvSpPr>
            <p:cNvPr id="1038" name="29 · strong: Randomized pilot [p29-text-0023]" descr="Native editable Unicode text; authored line breaks retained."/>
            <p:cNvSpPr txBox="1"/>
            <p:nvPr/>
          </p:nvSpPr>
          <p:spPr>
            <a:xfrm>
              <a:off x="8724899" y="3009216"/>
              <a:ext cx="2755901"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Randomized pilot</a:t>
              </a:r>
              <a:endParaRPr lang="en-US" sz="1900" b="1" i="0" kern="0" spc="0" dirty="0">
                <a:solidFill>
                  <a:srgbClr val="032D60"/>
                </a:solidFill>
                <a:latin typeface="Salesforce Sans"/>
                <a:ea typeface="Salesforce Sans"/>
                <a:cs typeface="Salesforce Sans"/>
              </a:endParaRPr>
            </a:p>
          </p:txBody>
        </p:sp>
        <p:sp>
          <p:nvSpPr>
            <p:cNvPr id="1039" name="29 · small: Compare complete cases. Quality, cost, and latency. Keep assignment consistent [p29-text-0024]" descr="Native editable Unicode text; authored line breaks retained."/>
            <p:cNvSpPr txBox="1"/>
            <p:nvPr/>
          </p:nvSpPr>
          <p:spPr>
            <a:xfrm>
              <a:off x="8724899" y="3410714"/>
              <a:ext cx="2755901"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Compare complete cases.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Quality, cost, and latency.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assignment consistent.</a:t>
              </a:r>
              <a:endParaRPr lang="en-US" sz="1500" b="0" i="0" kern="0" spc="0" dirty="0">
                <a:solidFill>
                  <a:srgbClr val="032D60"/>
                </a:solidFill>
                <a:latin typeface="Salesforce Sans"/>
                <a:ea typeface="Salesforce Sans"/>
                <a:cs typeface="Salesforce Sans"/>
              </a:endParaRPr>
            </a:p>
          </p:txBody>
        </p:sp>
      </p:grpSp>
      <p:grpSp>
        <p:nvGrpSpPr>
          <p:cNvPr id="1058" name="29 · node mint: Broader rollout"/>
          <p:cNvGrpSpPr/>
          <p:nvPr/>
        </p:nvGrpSpPr>
        <p:grpSpPr>
          <a:xfrm>
            <a:off x="8559799" y="4775199"/>
            <a:ext cx="3073401" cy="1174750"/>
            <a:chOff x="8559799" y="4775199"/>
            <a:chExt cx="3073401" cy="1174750"/>
          </a:xfrm>
        </p:grpSpPr>
        <p:sp>
          <p:nvSpPr>
            <p:cNvPr id="1040" name="29 · node mint · surface [p29-e0029]"/>
            <p:cNvSpPr/>
            <p:nvPr/>
          </p:nvSpPr>
          <p:spPr>
            <a:xfrm>
              <a:off x="8559799" y="4775199"/>
              <a:ext cx="3073401" cy="1174750"/>
            </a:xfrm>
            <a:prstGeom prst="roundRect">
              <a:avLst>
                <a:gd name="adj" fmla="val 11892"/>
              </a:avLst>
            </a:prstGeom>
            <a:solidFill>
              <a:srgbClr val="DDF3ED"/>
            </a:solidFill>
            <a:ln>
              <a:noFill/>
            </a:ln>
          </p:spPr>
        </p:sp>
        <p:sp>
          <p:nvSpPr>
            <p:cNvPr id="1041" name="29 · strong: Broader rollout [p29-text-0025]" descr="Native editable Unicode text; authored line breaks retained."/>
            <p:cNvSpPr txBox="1"/>
            <p:nvPr/>
          </p:nvSpPr>
          <p:spPr>
            <a:xfrm>
              <a:off x="8724899" y="4908066"/>
              <a:ext cx="2755901"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Broader rollout</a:t>
              </a:r>
              <a:endParaRPr lang="en-US" sz="1800" b="1" i="0" kern="0" spc="0" dirty="0">
                <a:solidFill>
                  <a:srgbClr val="032D60"/>
                </a:solidFill>
                <a:latin typeface="Salesforce Sans"/>
                <a:ea typeface="Salesforce Sans"/>
                <a:cs typeface="Salesforce Sans"/>
              </a:endParaRPr>
            </a:p>
          </p:txBody>
        </p:sp>
        <p:sp>
          <p:nvSpPr>
            <p:cNvPr id="1042" name="29 · small: Only if pilot gates pass. Track unfinished work. [p29-text-0026]" descr="Native editable Unicode text; authored line breaks retained."/>
            <p:cNvSpPr txBox="1"/>
            <p:nvPr/>
          </p:nvSpPr>
          <p:spPr>
            <a:xfrm>
              <a:off x="8724899" y="5294121"/>
              <a:ext cx="27559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Only if pilot gates pass.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Track unfinished work.</a:t>
              </a:r>
              <a:endParaRPr lang="en-US" sz="1500" b="0" i="0" kern="0" spc="0" dirty="0">
                <a:solidFill>
                  <a:srgbClr val="032D60"/>
                </a:solidFill>
                <a:latin typeface="Salesforce Sans"/>
                <a:ea typeface="Salesforce Sans"/>
                <a:cs typeface="Salesforce Sans"/>
              </a:endParaRPr>
            </a:p>
          </p:txBody>
        </p:sp>
      </p:grpSp>
      <p:sp>
        <p:nvSpPr>
          <p:cNvPr id="1043" name="29 · node label: Feedback [p29-text-0027]" descr="Native editable Unicode text; authored line breaks retained."/>
          <p:cNvSpPr txBox="1"/>
          <p:nvPr/>
        </p:nvSpPr>
        <p:spPr>
          <a:xfrm>
            <a:off x="7753350" y="4932893"/>
            <a:ext cx="806447"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Feedback</a:t>
            </a:r>
            <a:endParaRPr lang="en-US" sz="1300" b="0" i="0" kern="0" spc="0" dirty="0">
              <a:solidFill>
                <a:srgbClr val="032D60"/>
              </a:solidFill>
              <a:latin typeface="Salesforce Sans"/>
              <a:ea typeface="Salesforce Sans"/>
              <a:cs typeface="Salesforce Sans"/>
            </a:endParaRPr>
          </a:p>
        </p:txBody>
      </p:sp>
      <p:grpSp>
        <p:nvGrpSpPr>
          <p:cNvPr id="1059" name="29 · node peach: Next dataset"/>
          <p:cNvGrpSpPr/>
          <p:nvPr/>
        </p:nvGrpSpPr>
        <p:grpSpPr>
          <a:xfrm>
            <a:off x="4464054" y="4775199"/>
            <a:ext cx="3174997" cy="1174750"/>
            <a:chOff x="4464054" y="4775199"/>
            <a:chExt cx="3174997" cy="1174750"/>
          </a:xfrm>
        </p:grpSpPr>
        <p:sp>
          <p:nvSpPr>
            <p:cNvPr id="1044" name="29 · node peach · surface [p29-e0034]"/>
            <p:cNvSpPr/>
            <p:nvPr/>
          </p:nvSpPr>
          <p:spPr>
            <a:xfrm>
              <a:off x="4464054" y="4775199"/>
              <a:ext cx="3174997" cy="1174750"/>
            </a:xfrm>
            <a:prstGeom prst="roundRect">
              <a:avLst>
                <a:gd name="adj" fmla="val 11892"/>
              </a:avLst>
            </a:prstGeom>
            <a:solidFill>
              <a:srgbClr val="FBE5DF"/>
            </a:solidFill>
            <a:ln>
              <a:noFill/>
            </a:ln>
          </p:spPr>
        </p:sp>
        <p:sp>
          <p:nvSpPr>
            <p:cNvPr id="1045" name="29 · strong: Next dataset [p29-text-0028]" descr="Native editable Unicode text; authored line breaks retained."/>
            <p:cNvSpPr txBox="1"/>
            <p:nvPr/>
          </p:nvSpPr>
          <p:spPr>
            <a:xfrm>
              <a:off x="4629154" y="4908066"/>
              <a:ext cx="2857497"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Next dataset</a:t>
              </a:r>
              <a:endParaRPr lang="en-US" sz="1800" b="1" i="0" kern="0" spc="0" dirty="0">
                <a:solidFill>
                  <a:srgbClr val="032D60"/>
                </a:solidFill>
                <a:latin typeface="Salesforce Sans"/>
                <a:ea typeface="Salesforce Sans"/>
                <a:cs typeface="Salesforce Sans"/>
              </a:endParaRPr>
            </a:p>
          </p:txBody>
        </p:sp>
        <p:sp>
          <p:nvSpPr>
            <p:cNvPr id="1046" name="29 · small: Reviewed feedback only. Fresh tests for new claims. [p29-text-0029]" descr="Native editable Unicode text; authored line breaks retained."/>
            <p:cNvSpPr txBox="1"/>
            <p:nvPr/>
          </p:nvSpPr>
          <p:spPr>
            <a:xfrm>
              <a:off x="4629154" y="5294121"/>
              <a:ext cx="28574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Reviewed feedback only.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Fresh tests for new claims.</a:t>
              </a:r>
              <a:endParaRPr lang="en-US" sz="1500" b="0" i="0" kern="0" spc="0" dirty="0">
                <a:solidFill>
                  <a:srgbClr val="032D60"/>
                </a:solidFill>
                <a:latin typeface="Salesforce Sans"/>
                <a:ea typeface="Salesforce Sans"/>
                <a:cs typeface="Salesforce Sans"/>
              </a:endParaRPr>
            </a:p>
          </p:txBody>
        </p:sp>
      </p:grpSp>
      <p:grpSp>
        <p:nvGrpSpPr>
          <p:cNvPr id="1060" name="29 · node label: A revision starts a new candidate."/>
          <p:cNvGrpSpPr/>
          <p:nvPr/>
        </p:nvGrpSpPr>
        <p:grpSpPr>
          <a:xfrm>
            <a:off x="558800" y="4959183"/>
            <a:ext cx="3441700" cy="912471"/>
            <a:chOff x="558800" y="4959183"/>
            <a:chExt cx="3441700" cy="912471"/>
          </a:xfrm>
        </p:grpSpPr>
        <p:sp>
          <p:nvSpPr>
            <p:cNvPr id="1047" name="29 · strong: A revision starts a new candidate. [p29-text-0030]" descr="Native editable Unicode text; authored line breaks retained."/>
            <p:cNvSpPr txBox="1"/>
            <p:nvPr/>
          </p:nvSpPr>
          <p:spPr>
            <a:xfrm>
              <a:off x="558800" y="4959183"/>
              <a:ext cx="3441700" cy="56230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revision starts</a:t>
              </a:r>
              <a:endParaRPr lang="en-US" sz="1800" b="1" i="0" kern="0" spc="0" dirty="0">
                <a:solidFill>
                  <a:srgbClr val="032D60"/>
                </a:solidFill>
                <a:latin typeface="Salesforce Sans"/>
                <a:ea typeface="Salesforce Sans"/>
                <a:cs typeface="Salesforce Sans"/>
              </a:endParaRPr>
            </a:p>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new candidate.</a:t>
              </a:r>
              <a:endParaRPr lang="en-US" sz="1800" b="1" i="0" kern="0" spc="0" dirty="0">
                <a:solidFill>
                  <a:srgbClr val="032D60"/>
                </a:solidFill>
                <a:latin typeface="Salesforce Sans"/>
                <a:ea typeface="Salesforce Sans"/>
                <a:cs typeface="Salesforce Sans"/>
              </a:endParaRPr>
            </a:p>
          </p:txBody>
        </p:sp>
        <p:sp>
          <p:nvSpPr>
            <p:cNvPr id="1048" name="29 · small: Retest before a new claim. [p29-text-0031]" descr="Native editable Unicode text; authored line breaks retained."/>
            <p:cNvSpPr txBox="1"/>
            <p:nvPr/>
          </p:nvSpPr>
          <p:spPr>
            <a:xfrm>
              <a:off x="558800" y="5608129"/>
              <a:ext cx="3441700" cy="2635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Retest before a new claim.</a:t>
              </a:r>
              <a:endParaRPr lang="en-US" sz="1500" b="0" i="0" kern="0" spc="0" dirty="0">
                <a:solidFill>
                  <a:srgbClr val="032D60"/>
                </a:solidFill>
                <a:latin typeface="Salesforce Sans"/>
                <a:ea typeface="Salesforce Sans"/>
                <a:cs typeface="Salesforce Sans"/>
              </a:endParaRPr>
            </a:p>
          </p:txBody>
        </p:sp>
      </p:grpSp>
      <p:grpSp>
        <p:nvGrpSpPr>
          <p:cNvPr id="1061" name="29 · source-line: Tutorial evaluation protocol"/>
          <p:cNvGrpSpPr/>
          <p:nvPr/>
        </p:nvGrpSpPr>
        <p:grpSpPr>
          <a:xfrm>
            <a:off x="558800" y="6037898"/>
            <a:ext cx="11087100" cy="284456"/>
            <a:chOff x="558800" y="6037898"/>
            <a:chExt cx="11087100" cy="284456"/>
          </a:xfrm>
        </p:grpSpPr>
        <p:sp>
          <p:nvSpPr>
            <p:cNvPr id="1049" name="29 · source-line · top border [p29-e0041]"/>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0" name="29 · span: Tutorial evaluation protocol [p29-text-0032]"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51" name="29 · span: Proposed qualification gates; no measured deployment result [p29-text-0033]" descr="Native editable Unicode text; authored line breaks retained."/>
            <p:cNvSpPr txBox="1"/>
            <p:nvPr/>
          </p:nvSpPr>
          <p:spPr>
            <a:xfrm>
              <a:off x="8191605" y="6153126"/>
              <a:ext cx="345429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qualification gates; no measured deployment result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Choose the split that matches the claim">
    <p:bg>
      <p:bgPr>
        <a:solidFill>
          <a:srgbClr val="FFFFFF"/>
        </a:solidFill>
      </p:bgPr>
    </p:bg>
    <p:spTree>
      <p:nvGrpSpPr>
        <p:cNvPr id="1" name=""/>
        <p:cNvGrpSpPr/>
        <p:nvPr/>
      </p:nvGrpSpPr>
      <p:grpSpPr>
        <a:xfrm>
          <a:off x="0" y="0"/>
          <a:ext cx="0" cy="0"/>
          <a:chOff x="0" y="0"/>
          <a:chExt cx="0" cy="0"/>
        </a:xfrm>
      </p:grpSpPr>
      <p:sp>
        <p:nvSpPr>
          <p:cNvPr id="1000" name="30 · slide hero light · surface [p30-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8" name="30 · chrome-min: DISAGGREGATED INTELLIGENCE"/>
          <p:cNvGrpSpPr/>
          <p:nvPr/>
        </p:nvGrpSpPr>
        <p:grpSpPr>
          <a:xfrm>
            <a:off x="558800" y="356053"/>
            <a:ext cx="11087100" cy="187325"/>
            <a:chOff x="558800" y="356053"/>
            <a:chExt cx="11087100" cy="187325"/>
          </a:xfrm>
        </p:grpSpPr>
        <p:sp>
          <p:nvSpPr>
            <p:cNvPr id="1001" name="30 · l: DISAGGREGATED INTELLIGENCE [p30-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0 · r: 30 / 36 [p30-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30 / 36</a:t>
              </a:r>
              <a:endParaRPr lang="en-US" sz="950" b="1" i="0" kern="0" spc="65" dirty="0">
                <a:solidFill>
                  <a:srgbClr val="022AC0"/>
                </a:solidFill>
                <a:latin typeface="Salesforce Sans"/>
                <a:ea typeface="Salesforce Sans"/>
                <a:cs typeface="Salesforce Sans"/>
              </a:endParaRPr>
            </a:p>
          </p:txBody>
        </p:sp>
      </p:grpSp>
      <p:grpSp>
        <p:nvGrpSpPr>
          <p:cNvPr id="1029" name="30 · deck-head: 08 / GENERALIZATION"/>
          <p:cNvGrpSpPr/>
          <p:nvPr/>
        </p:nvGrpSpPr>
        <p:grpSpPr>
          <a:xfrm>
            <a:off x="558800" y="775901"/>
            <a:ext cx="11087100" cy="871263"/>
            <a:chOff x="558800" y="775901"/>
            <a:chExt cx="11087100" cy="871263"/>
          </a:xfrm>
        </p:grpSpPr>
        <p:sp>
          <p:nvSpPr>
            <p:cNvPr id="1003" name="30 · splits-eyebrow: 08 / GENERALIZATION [p30-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GENERALIZATION</a:t>
              </a:r>
              <a:endParaRPr lang="en-US" sz="1050" b="1" i="0" kern="0" spc="68" dirty="0">
                <a:solidFill>
                  <a:srgbClr val="022AC0"/>
                </a:solidFill>
                <a:latin typeface="Salesforce Sans"/>
                <a:ea typeface="Salesforce Sans"/>
                <a:cs typeface="Salesforce Sans"/>
              </a:endParaRPr>
            </a:p>
          </p:txBody>
        </p:sp>
        <p:sp>
          <p:nvSpPr>
            <p:cNvPr id="1004" name="30 · splits-title: Choose the split that matches the claim [p30-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Choose the split that matches the claim</a:t>
              </a:r>
              <a:endParaRPr lang="en-US" sz="3600" b="1" i="0" kern="0" spc="-95" dirty="0">
                <a:solidFill>
                  <a:srgbClr val="022AC0"/>
                </a:solidFill>
                <a:latin typeface="Manrope"/>
                <a:ea typeface="Manrope"/>
                <a:cs typeface="Manrope"/>
              </a:endParaRPr>
            </a:p>
          </p:txBody>
        </p:sp>
      </p:grpSp>
      <p:grpSp>
        <p:nvGrpSpPr>
          <p:cNvPr id="1030" name="30 · card mint: "/>
          <p:cNvGrpSpPr/>
          <p:nvPr/>
        </p:nvGrpSpPr>
        <p:grpSpPr>
          <a:xfrm>
            <a:off x="558800" y="1930400"/>
            <a:ext cx="5232400" cy="2536952"/>
            <a:chOff x="558800" y="1930400"/>
            <a:chExt cx="5232400" cy="2536952"/>
          </a:xfrm>
        </p:grpSpPr>
        <p:sp>
          <p:nvSpPr>
            <p:cNvPr id="1005" name="30 · card mint · surface [p30-e0008]"/>
            <p:cNvSpPr/>
            <p:nvPr/>
          </p:nvSpPr>
          <p:spPr>
            <a:xfrm>
              <a:off x="558800" y="1930400"/>
              <a:ext cx="5232400" cy="2536952"/>
            </a:xfrm>
            <a:prstGeom prst="roundRect">
              <a:avLst>
                <a:gd name="adj" fmla="val 5507"/>
              </a:avLst>
            </a:prstGeom>
            <a:solidFill>
              <a:srgbClr val="DDF3ED"/>
            </a:solidFill>
            <a:ln>
              <a:noFill/>
            </a:ln>
          </p:spPr>
        </p:sp>
        <p:sp>
          <p:nvSpPr>
            <p:cNvPr id="1006" name="30 · card mint · outline [p30-e0008]"/>
            <p:cNvSpPr/>
            <p:nvPr/>
          </p:nvSpPr>
          <p:spPr>
            <a:xfrm>
              <a:off x="561975" y="1933575"/>
              <a:ext cx="5226050" cy="2530602"/>
            </a:xfrm>
            <a:prstGeom prst="roundRect">
              <a:avLst>
                <a:gd name="adj" fmla="val 5395"/>
              </a:avLst>
            </a:prstGeom>
            <a:noFill/>
            <a:ln w="6350" algn="ctr">
              <a:solidFill>
                <a:srgbClr val="FFFFFF">
                  <a:alpha val="85098"/>
                </a:srgbClr>
              </a:solidFill>
              <a:prstDash val="solid"/>
            </a:ln>
          </p:spPr>
        </p:sp>
      </p:grpSp>
      <p:sp>
        <p:nvSpPr>
          <p:cNvPr id="1007" name="30 · pill · surface [p30-e0009]"/>
          <p:cNvSpPr/>
          <p:nvPr/>
        </p:nvSpPr>
        <p:spPr>
          <a:xfrm>
            <a:off x="825500" y="3082925"/>
            <a:ext cx="704850" cy="358775"/>
          </a:xfrm>
          <a:prstGeom prst="roundRect">
            <a:avLst>
              <a:gd name="adj" fmla="val 35398"/>
            </a:avLst>
          </a:prstGeom>
          <a:solidFill>
            <a:srgbClr val="EAE6FA"/>
          </a:solidFill>
          <a:ln>
            <a:noFill/>
          </a:ln>
        </p:spPr>
      </p:sp>
      <p:sp>
        <p:nvSpPr>
          <p:cNvPr id="1008" name="30 · pill · surface [p30-e0010]"/>
          <p:cNvSpPr/>
          <p:nvPr/>
        </p:nvSpPr>
        <p:spPr>
          <a:xfrm>
            <a:off x="1746250" y="3082925"/>
            <a:ext cx="514350" cy="358775"/>
          </a:xfrm>
          <a:prstGeom prst="roundRect">
            <a:avLst>
              <a:gd name="adj" fmla="val 35398"/>
            </a:avLst>
          </a:prstGeom>
          <a:solidFill>
            <a:srgbClr val="EAE6FA"/>
          </a:solidFill>
          <a:ln>
            <a:noFill/>
          </a:ln>
        </p:spPr>
      </p:sp>
      <p:sp>
        <p:nvSpPr>
          <p:cNvPr id="1009" name="30 · pill · surface [p30-e0011]"/>
          <p:cNvSpPr/>
          <p:nvPr/>
        </p:nvSpPr>
        <p:spPr>
          <a:xfrm>
            <a:off x="2476500" y="3082925"/>
            <a:ext cx="704850" cy="358775"/>
          </a:xfrm>
          <a:prstGeom prst="roundRect">
            <a:avLst>
              <a:gd name="adj" fmla="val 35398"/>
            </a:avLst>
          </a:prstGeom>
          <a:solidFill>
            <a:srgbClr val="EAE6FA"/>
          </a:solidFill>
          <a:ln>
            <a:noFill/>
          </a:ln>
        </p:spPr>
      </p:sp>
      <p:grpSp>
        <p:nvGrpSpPr>
          <p:cNvPr id="1031" name="30 · card blue: "/>
          <p:cNvGrpSpPr/>
          <p:nvPr/>
        </p:nvGrpSpPr>
        <p:grpSpPr>
          <a:xfrm>
            <a:off x="6426200" y="1930400"/>
            <a:ext cx="5105400" cy="2578227"/>
            <a:chOff x="6426200" y="1930400"/>
            <a:chExt cx="5105400" cy="2578227"/>
          </a:xfrm>
        </p:grpSpPr>
        <p:sp>
          <p:nvSpPr>
            <p:cNvPr id="1010" name="30 · card blue · surface [p30-e0012]"/>
            <p:cNvSpPr/>
            <p:nvPr/>
          </p:nvSpPr>
          <p:spPr>
            <a:xfrm>
              <a:off x="6426200" y="1930400"/>
              <a:ext cx="5105400" cy="2578227"/>
            </a:xfrm>
            <a:prstGeom prst="roundRect">
              <a:avLst>
                <a:gd name="adj" fmla="val 5418"/>
              </a:avLst>
            </a:prstGeom>
            <a:solidFill>
              <a:srgbClr val="DCEEFE"/>
            </a:solidFill>
            <a:ln>
              <a:noFill/>
            </a:ln>
          </p:spPr>
        </p:sp>
        <p:sp>
          <p:nvSpPr>
            <p:cNvPr id="1011" name="30 · card blue · outline [p30-e0012]"/>
            <p:cNvSpPr/>
            <p:nvPr/>
          </p:nvSpPr>
          <p:spPr>
            <a:xfrm>
              <a:off x="6429375" y="1933575"/>
              <a:ext cx="5099050" cy="2571877"/>
            </a:xfrm>
            <a:prstGeom prst="roundRect">
              <a:avLst>
                <a:gd name="adj" fmla="val 5308"/>
              </a:avLst>
            </a:prstGeom>
            <a:noFill/>
            <a:ln w="6350" algn="ctr">
              <a:solidFill>
                <a:srgbClr val="FFFFFF">
                  <a:alpha val="85098"/>
                </a:srgbClr>
              </a:solidFill>
              <a:prstDash val="solid"/>
            </a:ln>
          </p:spPr>
        </p:sp>
        <p:sp>
          <p:nvSpPr>
            <p:cNvPr id="1012" name="30 · span · left border [p30-e0013]"/>
            <p:cNvSpPr/>
            <p:nvPr/>
          </p:nvSpPr>
          <p:spPr>
            <a:xfrm>
              <a:off x="8101298" y="3076575"/>
              <a:ext cx="6" cy="412750"/>
            </a:xfrm>
            <a:custGeom>
              <a:avLst/>
              <a:gdLst/>
              <a:ahLst/>
              <a:cxnLst/>
              <a:rect l="0" t="0" r="r" b="b"/>
              <a:pathLst>
                <a:path w="6" h="412750" fill="none" stroke="1">
                  <a:moveTo>
                    <a:pt x="0" y="0"/>
                  </a:moveTo>
                  <a:lnTo>
                    <a:pt x="0" y="412750"/>
                  </a:lnTo>
                </a:path>
              </a:pathLst>
            </a:custGeom>
            <a:noFill/>
            <a:ln w="25400" cap="flat">
              <a:solidFill>
                <a:srgbClr val="032D60"/>
              </a:solidFill>
              <a:prstDash val="solid"/>
            </a:ln>
          </p:spPr>
        </p:sp>
      </p:grpSp>
      <p:sp>
        <p:nvSpPr>
          <p:cNvPr id="1013" name="30 · splits-text-1: Keep account families intact. [p30-text-0015]"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account families intact.</a:t>
            </a:r>
            <a:endParaRPr lang="en-US" sz="2000" b="1" i="0" kern="0" spc="-38" dirty="0">
              <a:solidFill>
                <a:srgbClr val="022AC0"/>
              </a:solidFill>
              <a:latin typeface="Manrope"/>
              <a:ea typeface="Manrope"/>
              <a:cs typeface="Manrope"/>
            </a:endParaRPr>
          </a:p>
        </p:txBody>
      </p:sp>
      <p:sp>
        <p:nvSpPr>
          <p:cNvPr id="1014" name="30 · pill: A A A [p30-text-0016]" descr="Native editable Unicode text; authored line breaks retained."/>
          <p:cNvSpPr txBox="1"/>
          <p:nvPr/>
        </p:nvSpPr>
        <p:spPr>
          <a:xfrm>
            <a:off x="939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A A A</a:t>
            </a:r>
            <a:endParaRPr lang="en-US" sz="1250" b="0" i="0" kern="0" spc="0" dirty="0">
              <a:solidFill>
                <a:srgbClr val="032D60"/>
              </a:solidFill>
              <a:latin typeface="IBM Plex Mono"/>
              <a:ea typeface="IBM Plex Mono"/>
              <a:cs typeface="IBM Plex Mono"/>
            </a:endParaRPr>
          </a:p>
        </p:txBody>
      </p:sp>
      <p:sp>
        <p:nvSpPr>
          <p:cNvPr id="1015" name="30 · pill: B B [p30-text-0017]" descr="Native editable Unicode text; authored line breaks retained."/>
          <p:cNvSpPr txBox="1"/>
          <p:nvPr/>
        </p:nvSpPr>
        <p:spPr>
          <a:xfrm>
            <a:off x="1860550" y="3159125"/>
            <a:ext cx="2984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B B</a:t>
            </a:r>
            <a:endParaRPr lang="en-US" sz="1250" b="0" i="0" kern="0" spc="0" dirty="0">
              <a:solidFill>
                <a:srgbClr val="032D60"/>
              </a:solidFill>
              <a:latin typeface="IBM Plex Mono"/>
              <a:ea typeface="IBM Plex Mono"/>
              <a:cs typeface="IBM Plex Mono"/>
            </a:endParaRPr>
          </a:p>
        </p:txBody>
      </p:sp>
      <p:sp>
        <p:nvSpPr>
          <p:cNvPr id="1016" name="30 · pill: C C C [p30-text-0018]" descr="Native editable Unicode text; authored line breaks retained."/>
          <p:cNvSpPr txBox="1"/>
          <p:nvPr/>
        </p:nvSpPr>
        <p:spPr>
          <a:xfrm>
            <a:off x="2590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C C C</a:t>
            </a:r>
            <a:endParaRPr lang="en-US" sz="1250" b="0" i="0" kern="0" spc="0" dirty="0">
              <a:solidFill>
                <a:srgbClr val="032D60"/>
              </a:solidFill>
              <a:latin typeface="IBM Plex Mono"/>
              <a:ea typeface="IBM Plex Mono"/>
              <a:cs typeface="IBM Plex Mono"/>
            </a:endParaRPr>
          </a:p>
        </p:txBody>
      </p:sp>
      <p:sp>
        <p:nvSpPr>
          <p:cNvPr id="1017" name="30 · splits-text-2: Related cases and variants stay in one partition. [p30-text-0019]" descr="Native editable Unicode text; authored line breaks retained."/>
          <p:cNvSpPr txBox="1"/>
          <p:nvPr/>
        </p:nvSpPr>
        <p:spPr>
          <a:xfrm>
            <a:off x="781050" y="3727017"/>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Related cases and variants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stay in one partition.</a:t>
            </a:r>
            <a:endParaRPr lang="en-US" sz="1400" b="0" i="0" kern="0" spc="0" dirty="0">
              <a:solidFill>
                <a:srgbClr val="032D60"/>
              </a:solidFill>
              <a:latin typeface="Salesforce Sans"/>
              <a:ea typeface="Salesforce Sans"/>
              <a:cs typeface="Salesforce Sans"/>
            </a:endParaRPr>
          </a:p>
        </p:txBody>
      </p:sp>
      <p:grpSp>
        <p:nvGrpSpPr>
          <p:cNvPr id="1032" name="30 · card blue: Reserve a later-time cohort."/>
          <p:cNvGrpSpPr/>
          <p:nvPr/>
        </p:nvGrpSpPr>
        <p:grpSpPr>
          <a:xfrm>
            <a:off x="6648450" y="2486534"/>
            <a:ext cx="4673600" cy="1793060"/>
            <a:chOff x="6648450" y="2486534"/>
            <a:chExt cx="4673600" cy="1793060"/>
          </a:xfrm>
        </p:grpSpPr>
        <p:sp>
          <p:nvSpPr>
            <p:cNvPr id="1018" name="30 · splits-text-3: Reserve a later-time cohort. [p30-text-0020]"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Reserve a later-time cohort.</a:t>
              </a:r>
              <a:endParaRPr lang="en-US" sz="2000" b="1" i="0" kern="0" spc="-38" dirty="0">
                <a:solidFill>
                  <a:srgbClr val="022AC0"/>
                </a:solidFill>
                <a:latin typeface="Manrope"/>
                <a:ea typeface="Manrope"/>
                <a:cs typeface="Manrope"/>
              </a:endParaRPr>
            </a:p>
          </p:txBody>
        </p:sp>
        <p:sp>
          <p:nvSpPr>
            <p:cNvPr id="1019" name="30 · div: Earlier cases [p30-text-0021]" descr="Native editable Unicode text; authored line breaks retained."/>
            <p:cNvSpPr txBox="1"/>
            <p:nvPr/>
          </p:nvSpPr>
          <p:spPr>
            <a:xfrm>
              <a:off x="6648450" y="3175633"/>
              <a:ext cx="1300448"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Earlier cases</a:t>
              </a:r>
              <a:endParaRPr lang="en-US" sz="1300" b="0" i="0" kern="0" spc="0" dirty="0">
                <a:solidFill>
                  <a:srgbClr val="032D60"/>
                </a:solidFill>
                <a:latin typeface="IBM Plex Mono"/>
                <a:ea typeface="IBM Plex Mono"/>
                <a:cs typeface="IBM Plex Mono"/>
              </a:endParaRPr>
            </a:p>
          </p:txBody>
        </p:sp>
        <p:sp>
          <p:nvSpPr>
            <p:cNvPr id="1020" name="30 · span · left border [p30-e0022]"/>
            <p:cNvSpPr/>
            <p:nvPr/>
          </p:nvSpPr>
          <p:spPr>
            <a:xfrm>
              <a:off x="8279098" y="3101342"/>
              <a:ext cx="6" cy="165100"/>
            </a:xfrm>
            <a:custGeom>
              <a:avLst/>
              <a:gdLst/>
              <a:ahLst/>
              <a:cxnLst/>
              <a:rect l="0" t="0" r="r" b="b"/>
              <a:pathLst>
                <a:path w="6" h="165100" fill="none" stroke="1">
                  <a:moveTo>
                    <a:pt x="0" y="0"/>
                  </a:moveTo>
                  <a:lnTo>
                    <a:pt x="0" y="165100"/>
                  </a:lnTo>
                </a:path>
              </a:pathLst>
            </a:custGeom>
            <a:noFill/>
            <a:ln w="25400" cap="flat">
              <a:solidFill>
                <a:srgbClr val="032D60"/>
              </a:solidFill>
              <a:prstDash val="solid"/>
            </a:ln>
          </p:spPr>
        </p:sp>
        <p:sp>
          <p:nvSpPr>
            <p:cNvPr id="1021" name="30 · div: Later test [p30-text-0022]" descr="Native editable Unicode text; authored line breaks retained."/>
            <p:cNvSpPr txBox="1"/>
            <p:nvPr/>
          </p:nvSpPr>
          <p:spPr>
            <a:xfrm>
              <a:off x="8596598" y="3175633"/>
              <a:ext cx="1003275"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Later test</a:t>
              </a:r>
              <a:endParaRPr lang="en-US" sz="1300" b="0" i="0" kern="0" spc="0" dirty="0">
                <a:solidFill>
                  <a:srgbClr val="032D60"/>
                </a:solidFill>
                <a:latin typeface="IBM Plex Mono"/>
                <a:ea typeface="IBM Plex Mono"/>
                <a:cs typeface="IBM Plex Mono"/>
              </a:endParaRPr>
            </a:p>
          </p:txBody>
        </p:sp>
        <p:sp>
          <p:nvSpPr>
            <p:cNvPr id="1022" name="30 · splits-text-4: Declare boundary exclusions and duplicate handling. [p30-text-0023]" descr="Native editable Unicode text; authored line breaks retained."/>
            <p:cNvSpPr txBox="1"/>
            <p:nvPr/>
          </p:nvSpPr>
          <p:spPr>
            <a:xfrm>
              <a:off x="6648450" y="376829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Declare boundary exclusions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duplicate handling.</a:t>
              </a:r>
              <a:endParaRPr lang="en-US" sz="1400" b="0" i="0" kern="0" spc="0" dirty="0">
                <a:solidFill>
                  <a:srgbClr val="032D60"/>
                </a:solidFill>
                <a:latin typeface="Salesforce Sans"/>
                <a:ea typeface="Salesforce Sans"/>
                <a:cs typeface="Salesforce Sans"/>
              </a:endParaRPr>
            </a:p>
          </p:txBody>
        </p:sp>
      </p:grpSp>
      <p:sp>
        <p:nvSpPr>
          <p:cNvPr id="1023" name="30 · tag: UNSEEN ACCOUNTS [p30-text-0024]"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UNSEEN ACCOUNTS</a:t>
            </a:r>
            <a:endParaRPr lang="en-US" sz="1050" b="0" i="0" kern="0" spc="50" dirty="0">
              <a:solidFill>
                <a:srgbClr val="022AC0">
                  <a:alpha val="85000"/>
                </a:srgbClr>
              </a:solidFill>
              <a:latin typeface="IBM Plex Mono"/>
              <a:ea typeface="IBM Plex Mono"/>
              <a:cs typeface="IBM Plex Mono"/>
            </a:endParaRPr>
          </a:p>
        </p:txBody>
      </p:sp>
      <p:sp>
        <p:nvSpPr>
          <p:cNvPr id="1024" name="30 · tag: FUTURE TRAFFIC [p30-text-0025]"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FUTURE TRAFFIC</a:t>
            </a:r>
            <a:endParaRPr lang="en-US" sz="1050" b="0" i="0" kern="0" spc="50" dirty="0">
              <a:solidFill>
                <a:srgbClr val="022AC0">
                  <a:alpha val="85000"/>
                </a:srgbClr>
              </a:solidFill>
              <a:latin typeface="IBM Plex Mono"/>
              <a:ea typeface="IBM Plex Mono"/>
              <a:cs typeface="IBM Plex Mono"/>
            </a:endParaRPr>
          </a:p>
        </p:txBody>
      </p:sp>
      <p:grpSp>
        <p:nvGrpSpPr>
          <p:cNvPr id="1033" name="30 · source-line: Tutorial evaluation protocol · Jev-as-a-Judge"/>
          <p:cNvGrpSpPr/>
          <p:nvPr/>
        </p:nvGrpSpPr>
        <p:grpSpPr>
          <a:xfrm>
            <a:off x="558800" y="6037898"/>
            <a:ext cx="11087100" cy="284456"/>
            <a:chOff x="558800" y="6037898"/>
            <a:chExt cx="11087100" cy="284456"/>
          </a:xfrm>
        </p:grpSpPr>
        <p:sp>
          <p:nvSpPr>
            <p:cNvPr id="1025" name="30 · source-line · top border [p30-e0028]"/>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6" name="30 · span: Tutorial evaluation protocol · Jev-as-a-Judge [p30-text-0026]" descr="Native editable Unicode text; authored line breaks retained."/>
            <p:cNvSpPr txBox="1"/>
            <p:nvPr/>
          </p:nvSpPr>
          <p:spPr>
            <a:xfrm>
              <a:off x="558800" y="6153126"/>
              <a:ext cx="2434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3" tooltip="Jev-as-a-Judge"/>
                </a:rPr>
                <a:t>Jev-as-a-Judge</a:t>
              </a:r>
              <a:endParaRPr lang="en-US" sz="950" b="0" i="0" kern="0" spc="0" dirty="0" u="sng">
                <a:solidFill>
                  <a:srgbClr val="315A7A"/>
                </a:solidFill>
                <a:latin typeface="Salesforce Sans"/>
                <a:ea typeface="Salesforce Sans"/>
                <a:cs typeface="Salesforce Sans"/>
              </a:endParaRPr>
            </a:p>
          </p:txBody>
        </p:sp>
        <p:sp>
          <p:nvSpPr>
            <p:cNvPr id="1027" name="30 · span: Evaluation design; no completed experiment [p30-text-0027]" descr="Native editable Unicode text; authored line breaks retained."/>
            <p:cNvSpPr txBox="1"/>
            <p:nvPr/>
          </p:nvSpPr>
          <p:spPr>
            <a:xfrm>
              <a:off x="9124838" y="6153126"/>
              <a:ext cx="25210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Evaluation design; no completed experiment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1.xml><?xml version="1.0" encoding="utf-8"?>
<p:sld xmlns:a="http://schemas.openxmlformats.org/drawingml/2006/main" xmlns:p="http://schemas.openxmlformats.org/presentationml/2006/main">
  <p:cSld name="Lower cost must come with acceptable quality">
    <p:bg>
      <p:bgPr>
        <a:solidFill>
          <a:srgbClr val="FFFFFF"/>
        </a:solidFill>
      </p:bgPr>
    </p:bg>
    <p:spTree>
      <p:nvGrpSpPr>
        <p:cNvPr id="1" name=""/>
        <p:cNvGrpSpPr/>
        <p:nvPr/>
      </p:nvGrpSpPr>
      <p:grpSpPr>
        <a:xfrm>
          <a:off x="0" y="0"/>
          <a:ext cx="0" cy="0"/>
          <a:chOff x="0" y="0"/>
          <a:chExt cx="0" cy="0"/>
        </a:xfrm>
      </p:grpSpPr>
      <p:sp>
        <p:nvSpPr>
          <p:cNvPr id="1000" name="31 · slide dark · surface [p3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31 · chrome-min: DISAGGREGATED INTELLIGENCE"/>
          <p:cNvGrpSpPr/>
          <p:nvPr/>
        </p:nvGrpSpPr>
        <p:grpSpPr>
          <a:xfrm>
            <a:off x="558800" y="356053"/>
            <a:ext cx="11087100" cy="187325"/>
            <a:chOff x="558800" y="356053"/>
            <a:chExt cx="11087100" cy="187325"/>
          </a:xfrm>
        </p:grpSpPr>
        <p:sp>
          <p:nvSpPr>
            <p:cNvPr id="1001" name="31 · l: DISAGGREGATED INTELLIGENCE [p3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1 · r: 31 / 36 [p3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31 / 36</a:t>
              </a:r>
              <a:endParaRPr lang="en-US" sz="950" b="1" i="0" kern="0" spc="65" dirty="0">
                <a:solidFill>
                  <a:srgbClr val="022AC0"/>
                </a:solidFill>
                <a:latin typeface="Salesforce Sans"/>
                <a:ea typeface="Salesforce Sans"/>
                <a:cs typeface="Salesforce Sans"/>
              </a:endParaRPr>
            </a:p>
          </p:txBody>
        </p:sp>
      </p:grpSp>
      <p:grpSp>
        <p:nvGrpSpPr>
          <p:cNvPr id="1042" name="31 · deck-head: 09 / STEP 8 · EARN ROLLOUT"/>
          <p:cNvGrpSpPr/>
          <p:nvPr/>
        </p:nvGrpSpPr>
        <p:grpSpPr>
          <a:xfrm>
            <a:off x="558800" y="775901"/>
            <a:ext cx="11087100" cy="871263"/>
            <a:chOff x="558800" y="775901"/>
            <a:chExt cx="11087100" cy="871263"/>
          </a:xfrm>
        </p:grpSpPr>
        <p:sp>
          <p:nvSpPr>
            <p:cNvPr id="1003" name="31 · acceptance-eyebrow: 09 / STEP 8 · EARN ROLLOUT [p31-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STEP 8 · EARN ROLLOUT</a:t>
              </a:r>
              <a:endParaRPr lang="en-US" sz="1050" b="1" i="0" kern="0" spc="68" dirty="0">
                <a:solidFill>
                  <a:srgbClr val="022AC0"/>
                </a:solidFill>
                <a:latin typeface="Salesforce Sans"/>
                <a:ea typeface="Salesforce Sans"/>
                <a:cs typeface="Salesforce Sans"/>
              </a:endParaRPr>
            </a:p>
          </p:txBody>
        </p:sp>
        <p:sp>
          <p:nvSpPr>
            <p:cNvPr id="1004" name="31 · acceptance-title: Lower cost must come with acceptable quality [p31-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Lower cost must come with acceptable quality</a:t>
              </a:r>
              <a:endParaRPr lang="en-US" sz="3600" b="1" i="0" kern="0" spc="-95" dirty="0">
                <a:solidFill>
                  <a:srgbClr val="022AC0"/>
                </a:solidFill>
                <a:latin typeface="Manrope"/>
                <a:ea typeface="Manrope"/>
                <a:cs typeface="Manrope"/>
              </a:endParaRPr>
            </a:p>
          </p:txBody>
        </p:sp>
      </p:grpSp>
      <p:sp>
        <p:nvSpPr>
          <p:cNvPr id="1005" name="31 · div · surface [p31-e0008]"/>
          <p:cNvSpPr/>
          <p:nvPr/>
        </p:nvSpPr>
        <p:spPr>
          <a:xfrm>
            <a:off x="558800" y="2197100"/>
            <a:ext cx="5448300" cy="2298700"/>
          </a:xfrm>
          <a:prstGeom prst="rect">
            <a:avLst/>
          </a:prstGeom>
          <a:solidFill>
            <a:srgbClr val="FFFFFF"/>
          </a:solidFill>
          <a:ln>
            <a:noFill/>
          </a:ln>
        </p:spPr>
      </p:sp>
      <p:sp>
        <p:nvSpPr>
          <p:cNvPr id="1006" name="31 · div · surface [p31-e0009]"/>
          <p:cNvSpPr/>
          <p:nvPr/>
        </p:nvSpPr>
        <p:spPr>
          <a:xfrm>
            <a:off x="6184900" y="2197100"/>
            <a:ext cx="5448300" cy="2298700"/>
          </a:xfrm>
          <a:prstGeom prst="rect">
            <a:avLst/>
          </a:prstGeom>
          <a:solidFill>
            <a:srgbClr val="FFFFFF"/>
          </a:solidFill>
          <a:ln>
            <a:noFill/>
          </a:ln>
        </p:spPr>
      </p:sp>
      <p:sp>
        <p:nvSpPr>
          <p:cNvPr id="1007" name="31 · div · surface [p31-e0010]"/>
          <p:cNvSpPr/>
          <p:nvPr/>
        </p:nvSpPr>
        <p:spPr>
          <a:xfrm>
            <a:off x="558800" y="4597400"/>
            <a:ext cx="11074400" cy="596900"/>
          </a:xfrm>
          <a:prstGeom prst="rect">
            <a:avLst/>
          </a:prstGeom>
          <a:solidFill>
            <a:srgbClr val="FBF0CF"/>
          </a:solidFill>
          <a:ln>
            <a:noFill/>
          </a:ln>
        </p:spPr>
      </p:sp>
      <p:sp>
        <p:nvSpPr>
          <p:cNvPr id="1008" name="31 · div · surface [p31-e0011]"/>
          <p:cNvSpPr/>
          <p:nvPr/>
        </p:nvSpPr>
        <p:spPr>
          <a:xfrm>
            <a:off x="558800" y="5295900"/>
            <a:ext cx="5448300" cy="685800"/>
          </a:xfrm>
          <a:prstGeom prst="rect">
            <a:avLst/>
          </a:prstGeom>
          <a:solidFill>
            <a:srgbClr val="FBE5DF"/>
          </a:solidFill>
          <a:ln>
            <a:noFill/>
          </a:ln>
        </p:spPr>
      </p:sp>
      <p:sp>
        <p:nvSpPr>
          <p:cNvPr id="1009" name="31 · div · surface [p31-e0012]"/>
          <p:cNvSpPr/>
          <p:nvPr/>
        </p:nvSpPr>
        <p:spPr>
          <a:xfrm>
            <a:off x="6184900" y="5295900"/>
            <a:ext cx="5448300" cy="685800"/>
          </a:xfrm>
          <a:prstGeom prst="rect">
            <a:avLst/>
          </a:prstGeom>
          <a:solidFill>
            <a:srgbClr val="DCEEFE"/>
          </a:solidFill>
          <a:ln>
            <a:noFill/>
          </a:ln>
        </p:spPr>
      </p:sp>
      <p:sp>
        <p:nvSpPr>
          <p:cNvPr id="1010" name="31 · acceptance-text-1: Schematic decision rule · no measured results [p31-text-0015]" descr="Native editable Unicode text; authored line breaks retained."/>
          <p:cNvSpPr txBox="1"/>
          <p:nvPr/>
        </p:nvSpPr>
        <p:spPr>
          <a:xfrm>
            <a:off x="558800" y="1855799"/>
            <a:ext cx="11087100" cy="2476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Schematic decision rule · no measured results</a:t>
            </a:r>
            <a:endParaRPr lang="en-US" sz="1400" b="0" i="0" kern="0" spc="0" dirty="0">
              <a:solidFill>
                <a:srgbClr val="032D60"/>
              </a:solidFill>
              <a:latin typeface="Salesforce Sans"/>
              <a:ea typeface="Salesforce Sans"/>
              <a:cs typeface="Salesforce Sans"/>
            </a:endParaRPr>
          </a:p>
        </p:txBody>
      </p:sp>
      <p:sp>
        <p:nvSpPr>
          <p:cNvPr id="1011" name="31 · acceptance-text-2: Quality: upper end must stay below the limit [p31-text-0016]" descr="Native editable Unicode text; authored line breaks retained."/>
          <p:cNvSpPr txBox="1"/>
          <p:nvPr/>
        </p:nvSpPr>
        <p:spPr>
          <a:xfrm>
            <a:off x="7112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Quality: upper end must stay below the limit</a:t>
            </a:r>
            <a:endParaRPr lang="en-US" sz="1600" b="1" i="0" kern="0" spc="-38" dirty="0">
              <a:solidFill>
                <a:srgbClr val="022AC0"/>
              </a:solidFill>
              <a:latin typeface="Manrope"/>
              <a:ea typeface="Manrope"/>
              <a:cs typeface="Manrope"/>
            </a:endParaRPr>
          </a:p>
        </p:txBody>
      </p:sp>
      <p:sp>
        <p:nvSpPr>
          <p:cNvPr id="1012" name="31 · acceptance-text-3: This range crosses the margin. Quality remains uncertain. [p31-text-0017]" descr="Native editable Unicode text; authored line breaks retained."/>
          <p:cNvSpPr txBox="1"/>
          <p:nvPr/>
        </p:nvSpPr>
        <p:spPr>
          <a:xfrm>
            <a:off x="7112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crosses the margin.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Quality remains uncertain.</a:t>
            </a:r>
            <a:endParaRPr lang="en-US" sz="1400" b="1" i="0" kern="0" spc="0" dirty="0">
              <a:solidFill>
                <a:srgbClr val="032D60"/>
              </a:solidFill>
              <a:latin typeface="Salesforce Sans"/>
              <a:ea typeface="Salesforce Sans"/>
              <a:cs typeface="Salesforce Sans"/>
            </a:endParaRPr>
          </a:p>
        </p:txBody>
      </p:sp>
      <p:sp>
        <p:nvSpPr>
          <p:cNvPr id="1013" name="31 · acceptance-text-4: Cost: lower end must exceed the target [p31-text-0018]" descr="Native editable Unicode text; authored line breaks retained."/>
          <p:cNvSpPr txBox="1"/>
          <p:nvPr/>
        </p:nvSpPr>
        <p:spPr>
          <a:xfrm>
            <a:off x="63373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Cost: lower end must exceed the target</a:t>
            </a:r>
            <a:endParaRPr lang="en-US" sz="1600" b="1" i="0" kern="0" spc="-38" dirty="0">
              <a:solidFill>
                <a:srgbClr val="022AC0"/>
              </a:solidFill>
              <a:latin typeface="Manrope"/>
              <a:ea typeface="Manrope"/>
              <a:cs typeface="Manrope"/>
            </a:endParaRPr>
          </a:p>
        </p:txBody>
      </p:sp>
      <p:sp>
        <p:nvSpPr>
          <p:cNvPr id="1014" name="31 · acceptance-text-5: This range clears the required gain. Cost passes; rollout still waits. [p31-text-0019]" descr="Native editable Unicode text; authored line breaks retained."/>
          <p:cNvSpPr txBox="1"/>
          <p:nvPr/>
        </p:nvSpPr>
        <p:spPr>
          <a:xfrm>
            <a:off x="63373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clears the required gain.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Cost passes; rollout still waits.</a:t>
            </a:r>
            <a:endParaRPr lang="en-US" sz="1400" b="1" i="0" kern="0" spc="0" dirty="0">
              <a:solidFill>
                <a:srgbClr val="032D60"/>
              </a:solidFill>
              <a:latin typeface="Salesforce Sans"/>
              <a:ea typeface="Salesforce Sans"/>
              <a:cs typeface="Salesforce Sans"/>
            </a:endParaRPr>
          </a:p>
        </p:txBody>
      </p:sp>
      <p:sp>
        <p:nvSpPr>
          <p:cNvPr id="1015" name="31 · acceptance-text-6: Count the whole case: exchange authorized + cable return active = incomplete a [p31-text-0020]" descr="Native editable Unicode text; authored line breaks retained."/>
          <p:cNvSpPr txBox="1"/>
          <p:nvPr/>
        </p:nvSpPr>
        <p:spPr>
          <a:xfrm>
            <a:off x="723900" y="4675199"/>
            <a:ext cx="5399150" cy="44765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80"/>
              </a:lnSpc>
              <a:spcBef>
                <a:spcPts val="0"/>
              </a:spcBef>
              <a:spcAft>
                <a:spcPts val="0"/>
              </a:spcAft>
              <a:buNone/>
            </a:pPr>
            <a:r>
              <a:rPr lang="en-US" sz="1400" b="1" i="0" kern="0" spc="0" dirty="0">
                <a:solidFill>
                  <a:srgbClr val="032D60"/>
                </a:solidFill>
                <a:latin typeface="Salesforce Sans"/>
                <a:ea typeface="Salesforce Sans"/>
                <a:cs typeface="Salesforce Sans"/>
              </a:rPr>
              <a:t>Count the whole case:</a:t>
            </a:r>
            <a:r>
              <a:rPr lang="en-US" sz="1400" b="0" i="0" kern="0" spc="0" dirty="0">
                <a:solidFill>
                  <a:srgbClr val="032D60"/>
                </a:solidFill>
                <a:latin typeface="Salesforce Sans"/>
                <a:ea typeface="Salesforce Sans"/>
                <a:cs typeface="Salesforce Sans"/>
              </a:rPr>
              <a:t xml:space="preserve"> exchange authorized + cable return active</a:t>
            </a:r>
            <a:endParaRPr lang="en-US" sz="1400" b="0" i="0" kern="0" spc="0" dirty="0">
              <a:solidFill>
                <a:srgbClr val="032D60"/>
              </a:solidFill>
              <a:latin typeface="Salesforce Sans"/>
              <a:ea typeface="Salesforce Sans"/>
              <a:cs typeface="Salesforce Sans"/>
            </a:endParaRPr>
          </a:p>
          <a:p>
            <a:pPr marL="0" marR="0" indent="0" algn="l" fontAlgn="base">
              <a:lnSpc>
                <a:spcPts val="1680"/>
              </a:lnSpc>
              <a:spcBef>
                <a:spcPts val="0"/>
              </a:spcBef>
              <a:spcAft>
                <a:spcPts val="0"/>
              </a:spcAft>
              <a:buNone/>
            </a:pPr>
            <a:r>
              <a:rPr lang="en-US" sz="1400" b="0" i="0" kern="0" spc="0" dirty="0">
                <a:solidFill>
                  <a:srgbClr val="032D60"/>
                </a:solidFill>
                <a:latin typeface="Salesforce Sans"/>
                <a:ea typeface="Salesforce Sans"/>
                <a:cs typeface="Salesforce Sans"/>
              </a:rPr>
              <a:t>= incomplete at the deadline.</a:t>
            </a:r>
            <a:endParaRPr lang="en-US" sz="1400" b="0" i="0" kern="0" spc="0" dirty="0">
              <a:solidFill>
                <a:srgbClr val="032D60"/>
              </a:solidFill>
              <a:latin typeface="Salesforce Sans"/>
              <a:ea typeface="Salesforce Sans"/>
              <a:cs typeface="Salesforce Sans"/>
            </a:endParaRPr>
          </a:p>
        </p:txBody>
      </p:sp>
      <p:sp>
        <p:nvSpPr>
          <p:cNvPr id="1016" name="31 · acceptance-text-7: Harm limits must also pass. Assess all cases and the same relevant cohort. [p31-text-0021]" descr="Native editable Unicode text; authored line breaks retained."/>
          <p:cNvSpPr txBox="1"/>
          <p:nvPr/>
        </p:nvSpPr>
        <p:spPr>
          <a:xfrm>
            <a:off x="7112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Harm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Assess all cases and the same relevant cohort.</a:t>
            </a:r>
            <a:endParaRPr lang="en-US" sz="1350" b="0" i="0" kern="0" spc="0" dirty="0">
              <a:solidFill>
                <a:srgbClr val="032D60"/>
              </a:solidFill>
              <a:latin typeface="Salesforce Sans"/>
              <a:ea typeface="Salesforce Sans"/>
              <a:cs typeface="Salesforce Sans"/>
            </a:endParaRPr>
          </a:p>
        </p:txBody>
      </p:sp>
      <p:sp>
        <p:nvSpPr>
          <p:cNvPr id="1017" name="31 · acceptance-text-8: Latency limits must also pass. Include unfinished cases and resolution time. [p31-text-0022]" descr="Native editable Unicode text; authored line breaks retained."/>
          <p:cNvSpPr txBox="1"/>
          <p:nvPr/>
        </p:nvSpPr>
        <p:spPr>
          <a:xfrm>
            <a:off x="63373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Latency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Include unfinished cases and resolution time.</a:t>
            </a:r>
            <a:endParaRPr lang="en-US" sz="1350" b="0" i="0" kern="0" spc="0" dirty="0">
              <a:solidFill>
                <a:srgbClr val="032D60"/>
              </a:solidFill>
              <a:latin typeface="Salesforce Sans"/>
              <a:ea typeface="Salesforce Sans"/>
              <a:cs typeface="Salesforce Sans"/>
            </a:endParaRPr>
          </a:p>
        </p:txBody>
      </p:sp>
      <p:grpSp>
        <p:nvGrpSpPr>
          <p:cNvPr id="1018" name="31 · svg · drawing [p31-e0027]"/>
          <p:cNvGrpSpPr/>
          <p:nvPr/>
        </p:nvGrpSpPr>
        <p:grpSpPr>
          <a:xfrm>
            <a:off x="908050" y="2872740"/>
            <a:ext cx="4749800" cy="527050"/>
            <a:chOff x="908050" y="2872740"/>
            <a:chExt cx="4749800" cy="527050"/>
          </a:xfrm>
        </p:grpSpPr>
        <p:sp>
          <p:nvSpPr>
            <p:cNvPr id="1019" name="rect · 1"/>
            <p:cNvSpPr/>
            <p:nvPr/>
          </p:nvSpPr>
          <p:spPr>
            <a:xfrm>
              <a:off x="908050" y="2936240"/>
              <a:ext cx="3009900" cy="279400"/>
            </a:xfrm>
            <a:prstGeom prst="rect">
              <a:avLst/>
            </a:prstGeom>
            <a:solidFill>
              <a:srgbClr val="D3E8DF"/>
            </a:solidFill>
            <a:ln>
              <a:noFill/>
            </a:ln>
          </p:spPr>
        </p:sp>
        <p:sp>
          <p:nvSpPr>
            <p:cNvPr id="1020" name="rect · 2"/>
            <p:cNvSpPr/>
            <p:nvPr/>
          </p:nvSpPr>
          <p:spPr>
            <a:xfrm>
              <a:off x="3917950" y="2936240"/>
              <a:ext cx="1739900" cy="279400"/>
            </a:xfrm>
            <a:prstGeom prst="rect">
              <a:avLst/>
            </a:prstGeom>
            <a:solidFill>
              <a:srgbClr val="F2D8CB"/>
            </a:solidFill>
            <a:ln>
              <a:noFill/>
            </a:ln>
          </p:spPr>
        </p:sp>
        <p:sp>
          <p:nvSpPr>
            <p:cNvPr id="1021" name="line · 3"/>
            <p:cNvSpPr/>
            <p:nvPr/>
          </p:nvSpPr>
          <p:spPr>
            <a:xfrm>
              <a:off x="2393950" y="3075940"/>
              <a:ext cx="2349500" cy="1"/>
            </a:xfrm>
            <a:custGeom>
              <a:avLst/>
              <a:gdLst/>
              <a:ahLst/>
              <a:cxnLst/>
              <a:rect l="0" t="0" r="r" b="b"/>
              <a:pathLst>
                <a:path w="2349500" h="1" fill="none" stroke="1" extrusionOk="0">
                  <a:moveTo>
                    <a:pt x="0" y="0"/>
                  </a:moveTo>
                  <a:lnTo>
                    <a:pt x="2349500" y="0"/>
                  </a:lnTo>
                </a:path>
              </a:pathLst>
            </a:custGeom>
            <a:noFill/>
            <a:ln w="44450" cap="flat" cmpd="sng" algn="ctr">
              <a:solidFill>
                <a:srgbClr val="243E42"/>
              </a:solidFill>
              <a:prstDash val="solid"/>
              <a:miter lim="400000"/>
              <a:headEnd type="none" w="med" len="med"/>
              <a:tailEnd type="none" w="med" len="med"/>
            </a:ln>
          </p:spPr>
        </p:sp>
        <p:sp>
          <p:nvSpPr>
            <p:cNvPr id="1022" name="path · 4"/>
            <p:cNvSpPr/>
            <p:nvPr/>
          </p:nvSpPr>
          <p:spPr>
            <a:xfrm>
              <a:off x="2393950" y="2974340"/>
              <a:ext cx="2349500" cy="203200"/>
            </a:xfrm>
            <a:custGeom>
              <a:avLst/>
              <a:gdLst/>
              <a:ahLst/>
              <a:cxnLst/>
              <a:rect l="0" t="0" r="r" b="b"/>
              <a:pathLst>
                <a:path w="2349500" h="203200" fill="norm" stroke="1" extrusionOk="0">
                  <a:moveTo>
                    <a:pt x="0" y="0"/>
                  </a:moveTo>
                  <a:lnTo>
                    <a:pt x="0" y="203200"/>
                  </a:lnTo>
                  <a:moveTo>
                    <a:pt x="2349500" y="0"/>
                  </a:moveTo>
                  <a:lnTo>
                    <a:pt x="23495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23" name="line · 5"/>
            <p:cNvSpPr/>
            <p:nvPr/>
          </p:nvSpPr>
          <p:spPr>
            <a:xfrm>
              <a:off x="39179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24" name="path · 6"/>
            <p:cNvSpPr/>
            <p:nvPr/>
          </p:nvSpPr>
          <p:spPr>
            <a:xfrm>
              <a:off x="9080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25" name="31 · span: Uncertainty range [p31-text-0023]" descr="Native editable Unicode text; authored line breaks retained."/>
          <p:cNvSpPr txBox="1"/>
          <p:nvPr/>
        </p:nvSpPr>
        <p:spPr>
          <a:xfrm>
            <a:off x="8783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26" name="31 · span: Allowed loss [p31-text-0024]" descr="Native editable Unicode text; authored line breaks retained."/>
          <p:cNvSpPr txBox="1"/>
          <p:nvPr/>
        </p:nvSpPr>
        <p:spPr>
          <a:xfrm>
            <a:off x="3450893" y="3420961"/>
            <a:ext cx="962689"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Allowed loss</a:t>
            </a:r>
            <a:endParaRPr lang="en-US" sz="1300" b="0" i="0" kern="0" spc="0" dirty="0">
              <a:solidFill>
                <a:srgbClr val="032D60"/>
              </a:solidFill>
              <a:latin typeface="Salesforce Sans"/>
              <a:ea typeface="Salesforce Sans"/>
              <a:cs typeface="Salesforce Sans"/>
            </a:endParaRPr>
          </a:p>
        </p:txBody>
      </p:sp>
      <p:sp>
        <p:nvSpPr>
          <p:cNvPr id="1027" name="31 · span: More quality loss → [p31-text-0025]" descr="Native editable Unicode text; authored line breaks retained."/>
          <p:cNvSpPr txBox="1"/>
          <p:nvPr/>
        </p:nvSpPr>
        <p:spPr>
          <a:xfrm>
            <a:off x="4184955" y="3624161"/>
            <a:ext cx="1515281"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quality loss →</a:t>
            </a:r>
            <a:endParaRPr lang="en-US" sz="1300" b="0" i="0" kern="0" spc="0" dirty="0">
              <a:solidFill>
                <a:srgbClr val="032D60"/>
              </a:solidFill>
              <a:latin typeface="Salesforce Sans"/>
              <a:ea typeface="Salesforce Sans"/>
              <a:cs typeface="Salesforce Sans"/>
            </a:endParaRPr>
          </a:p>
        </p:txBody>
      </p:sp>
      <p:grpSp>
        <p:nvGrpSpPr>
          <p:cNvPr id="1028" name="31 · svg · drawing [p31-e0031]"/>
          <p:cNvGrpSpPr/>
          <p:nvPr/>
        </p:nvGrpSpPr>
        <p:grpSpPr>
          <a:xfrm>
            <a:off x="6534150" y="2872740"/>
            <a:ext cx="4749800" cy="527050"/>
            <a:chOff x="6534150" y="2872740"/>
            <a:chExt cx="4749800" cy="527050"/>
          </a:xfrm>
        </p:grpSpPr>
        <p:sp>
          <p:nvSpPr>
            <p:cNvPr id="1029" name="rect · 1"/>
            <p:cNvSpPr/>
            <p:nvPr/>
          </p:nvSpPr>
          <p:spPr>
            <a:xfrm>
              <a:off x="6534150" y="2936240"/>
              <a:ext cx="1676400" cy="279400"/>
            </a:xfrm>
            <a:prstGeom prst="rect">
              <a:avLst/>
            </a:prstGeom>
            <a:solidFill>
              <a:srgbClr val="F5E6B9"/>
            </a:solidFill>
            <a:ln>
              <a:noFill/>
            </a:ln>
          </p:spPr>
        </p:sp>
        <p:sp>
          <p:nvSpPr>
            <p:cNvPr id="1030" name="rect · 2"/>
            <p:cNvSpPr/>
            <p:nvPr/>
          </p:nvSpPr>
          <p:spPr>
            <a:xfrm>
              <a:off x="8210550" y="2936240"/>
              <a:ext cx="3073400" cy="279400"/>
            </a:xfrm>
            <a:prstGeom prst="rect">
              <a:avLst/>
            </a:prstGeom>
            <a:solidFill>
              <a:srgbClr val="D3E8DF"/>
            </a:solidFill>
            <a:ln>
              <a:noFill/>
            </a:ln>
          </p:spPr>
        </p:sp>
        <p:sp>
          <p:nvSpPr>
            <p:cNvPr id="1031" name="line · 3"/>
            <p:cNvSpPr/>
            <p:nvPr/>
          </p:nvSpPr>
          <p:spPr>
            <a:xfrm>
              <a:off x="9036050" y="3075940"/>
              <a:ext cx="1651000" cy="1"/>
            </a:xfrm>
            <a:custGeom>
              <a:avLst/>
              <a:gdLst/>
              <a:ahLst/>
              <a:cxnLst/>
              <a:rect l="0" t="0" r="r" b="b"/>
              <a:pathLst>
                <a:path w="1651000" h="1" fill="none" stroke="1" extrusionOk="0">
                  <a:moveTo>
                    <a:pt x="0" y="0"/>
                  </a:moveTo>
                  <a:lnTo>
                    <a:pt x="1651000" y="0"/>
                  </a:lnTo>
                </a:path>
              </a:pathLst>
            </a:custGeom>
            <a:noFill/>
            <a:ln w="44450" cap="flat" cmpd="sng" algn="ctr">
              <a:solidFill>
                <a:srgbClr val="243E42"/>
              </a:solidFill>
              <a:prstDash val="solid"/>
              <a:miter lim="400000"/>
              <a:headEnd type="none" w="med" len="med"/>
              <a:tailEnd type="none" w="med" len="med"/>
            </a:ln>
          </p:spPr>
        </p:sp>
        <p:sp>
          <p:nvSpPr>
            <p:cNvPr id="1032" name="path · 4"/>
            <p:cNvSpPr/>
            <p:nvPr/>
          </p:nvSpPr>
          <p:spPr>
            <a:xfrm>
              <a:off x="9036050" y="2974340"/>
              <a:ext cx="1651000" cy="203200"/>
            </a:xfrm>
            <a:custGeom>
              <a:avLst/>
              <a:gdLst/>
              <a:ahLst/>
              <a:cxnLst/>
              <a:rect l="0" t="0" r="r" b="b"/>
              <a:pathLst>
                <a:path w="1651000" h="203200" fill="norm" stroke="1" extrusionOk="0">
                  <a:moveTo>
                    <a:pt x="0" y="0"/>
                  </a:moveTo>
                  <a:lnTo>
                    <a:pt x="0" y="203200"/>
                  </a:lnTo>
                  <a:moveTo>
                    <a:pt x="1651000" y="0"/>
                  </a:moveTo>
                  <a:lnTo>
                    <a:pt x="16510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33" name="line · 5"/>
            <p:cNvSpPr/>
            <p:nvPr/>
          </p:nvSpPr>
          <p:spPr>
            <a:xfrm>
              <a:off x="82105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34" name="path · 6"/>
            <p:cNvSpPr/>
            <p:nvPr/>
          </p:nvSpPr>
          <p:spPr>
            <a:xfrm>
              <a:off x="65341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35" name="31 · span: Uncertainty range [p31-text-0026]" descr="Native editable Unicode text; authored line breaks retained."/>
          <p:cNvSpPr txBox="1"/>
          <p:nvPr/>
        </p:nvSpPr>
        <p:spPr>
          <a:xfrm>
            <a:off x="65044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36" name="31 · span: Required saving [p31-text-0027]" descr="Native editable Unicode text; authored line breaks retained."/>
          <p:cNvSpPr txBox="1"/>
          <p:nvPr/>
        </p:nvSpPr>
        <p:spPr>
          <a:xfrm>
            <a:off x="7596560" y="3420961"/>
            <a:ext cx="1223218"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Required saving</a:t>
            </a:r>
            <a:endParaRPr lang="en-US" sz="1300" b="0" i="0" kern="0" spc="0" dirty="0">
              <a:solidFill>
                <a:srgbClr val="032D60"/>
              </a:solidFill>
              <a:latin typeface="Salesforce Sans"/>
              <a:ea typeface="Salesforce Sans"/>
              <a:cs typeface="Salesforce Sans"/>
            </a:endParaRPr>
          </a:p>
        </p:txBody>
      </p:sp>
      <p:sp>
        <p:nvSpPr>
          <p:cNvPr id="1037" name="31 · span: More saving per case → [p31-text-0028]" descr="Native editable Unicode text; authored line breaks retained."/>
          <p:cNvSpPr txBox="1"/>
          <p:nvPr/>
        </p:nvSpPr>
        <p:spPr>
          <a:xfrm>
            <a:off x="9504624" y="3624161"/>
            <a:ext cx="182171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saving per case →</a:t>
            </a:r>
            <a:endParaRPr lang="en-US" sz="1300" b="0" i="0" kern="0" spc="0" dirty="0">
              <a:solidFill>
                <a:srgbClr val="032D60"/>
              </a:solidFill>
              <a:latin typeface="Salesforce Sans"/>
              <a:ea typeface="Salesforce Sans"/>
              <a:cs typeface="Salesforce Sans"/>
            </a:endParaRPr>
          </a:p>
        </p:txBody>
      </p:sp>
      <p:grpSp>
        <p:nvGrpSpPr>
          <p:cNvPr id="1043" name="31 · source-line: Tutorial evaluation protocol"/>
          <p:cNvGrpSpPr/>
          <p:nvPr/>
        </p:nvGrpSpPr>
        <p:grpSpPr>
          <a:xfrm>
            <a:off x="558800" y="6037898"/>
            <a:ext cx="11087100" cy="284456"/>
            <a:chOff x="558800" y="6037898"/>
            <a:chExt cx="11087100" cy="284456"/>
          </a:xfrm>
        </p:grpSpPr>
        <p:sp>
          <p:nvSpPr>
            <p:cNvPr id="1038" name="31 · source-line · top border [p31-e003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31 · span: Tutorial evaluation protocol [p31-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0" name="31 · span: Schematic acceptance rule; no empirical intervals [p31-text-0030]" descr="Native editable Unicode text; authored line breaks retained."/>
            <p:cNvSpPr txBox="1"/>
            <p:nvPr/>
          </p:nvSpPr>
          <p:spPr>
            <a:xfrm>
              <a:off x="8869797" y="6153126"/>
              <a:ext cx="27761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Schematic acceptance rule; no empirical intervals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2.xml><?xml version="1.0" encoding="utf-8"?>
<p:sld xmlns:a="http://schemas.openxmlformats.org/drawingml/2006/main" xmlns:p="http://schemas.openxmlformats.org/presentationml/2006/main">
  <p:cSld name="Evaluate the decision, then the service">
    <p:bg>
      <p:bgPr>
        <a:solidFill>
          <a:srgbClr val="FFFFFF"/>
        </a:solidFill>
      </p:bgPr>
    </p:bg>
    <p:spTree>
      <p:nvGrpSpPr>
        <p:cNvPr id="1" name=""/>
        <p:cNvGrpSpPr/>
        <p:nvPr/>
      </p:nvGrpSpPr>
      <p:grpSpPr>
        <a:xfrm>
          <a:off x="0" y="0"/>
          <a:ext cx="0" cy="0"/>
          <a:chOff x="0" y="0"/>
          <a:chExt cx="0" cy="0"/>
        </a:xfrm>
      </p:grpSpPr>
      <p:sp>
        <p:nvSpPr>
          <p:cNvPr id="1000" name="32 · slide light · surface [p3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32 · chrome-min: DISAGGREGATED INTELLIGENCE"/>
          <p:cNvGrpSpPr/>
          <p:nvPr/>
        </p:nvGrpSpPr>
        <p:grpSpPr>
          <a:xfrm>
            <a:off x="558800" y="356053"/>
            <a:ext cx="11087100" cy="187325"/>
            <a:chOff x="558800" y="356053"/>
            <a:chExt cx="11087100" cy="187325"/>
          </a:xfrm>
        </p:grpSpPr>
        <p:sp>
          <p:nvSpPr>
            <p:cNvPr id="1001" name="32 · l: DISAGGREGATED INTELLIGENCE [p32-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2 · r: 32 / 36 [p32-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32 / 36</a:t>
              </a:r>
              <a:endParaRPr lang="en-US" sz="950" b="1" i="0" kern="0" spc="65" dirty="0">
                <a:solidFill>
                  <a:srgbClr val="022AC0"/>
                </a:solidFill>
                <a:latin typeface="Salesforce Sans"/>
                <a:ea typeface="Salesforce Sans"/>
                <a:cs typeface="Salesforce Sans"/>
              </a:endParaRPr>
            </a:p>
          </p:txBody>
        </p:sp>
      </p:grpSp>
      <p:grpSp>
        <p:nvGrpSpPr>
          <p:cNvPr id="1023" name="32 · deck-head: 09 / TWO EXPERIMENTS"/>
          <p:cNvGrpSpPr/>
          <p:nvPr/>
        </p:nvGrpSpPr>
        <p:grpSpPr>
          <a:xfrm>
            <a:off x="558800" y="775901"/>
            <a:ext cx="11087100" cy="871263"/>
            <a:chOff x="558800" y="775901"/>
            <a:chExt cx="11087100" cy="871263"/>
          </a:xfrm>
        </p:grpSpPr>
        <p:sp>
          <p:nvSpPr>
            <p:cNvPr id="1003" name="32 · evaluation-eyebrow: 09 / TWO EXPERIMENTS [p32-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TWO EXPERIMENTS</a:t>
              </a:r>
              <a:endParaRPr lang="en-US" sz="1050" b="1" i="0" kern="0" spc="68" dirty="0">
                <a:solidFill>
                  <a:srgbClr val="022AC0"/>
                </a:solidFill>
                <a:latin typeface="Salesforce Sans"/>
                <a:ea typeface="Salesforce Sans"/>
                <a:cs typeface="Salesforce Sans"/>
              </a:endParaRPr>
            </a:p>
          </p:txBody>
        </p:sp>
        <p:sp>
          <p:nvSpPr>
            <p:cNvPr id="1004" name="32 · evaluation-title: Evaluate the decision, then the service [p32-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Evaluate the decision, then the service</a:t>
              </a:r>
              <a:endParaRPr lang="en-US" sz="3600" b="1" i="0" kern="0" spc="-95" dirty="0">
                <a:solidFill>
                  <a:srgbClr val="022AC0"/>
                </a:solidFill>
                <a:latin typeface="Manrope"/>
                <a:ea typeface="Manrope"/>
                <a:cs typeface="Manrope"/>
              </a:endParaRPr>
            </a:p>
          </p:txBody>
        </p:sp>
      </p:grpSp>
      <p:grpSp>
        <p:nvGrpSpPr>
          <p:cNvPr id="1024" name="32 · card lilac: "/>
          <p:cNvGrpSpPr/>
          <p:nvPr/>
        </p:nvGrpSpPr>
        <p:grpSpPr>
          <a:xfrm>
            <a:off x="558800" y="1930400"/>
            <a:ext cx="5232400" cy="2783078"/>
            <a:chOff x="558800" y="1930400"/>
            <a:chExt cx="5232400" cy="2783078"/>
          </a:xfrm>
        </p:grpSpPr>
        <p:sp>
          <p:nvSpPr>
            <p:cNvPr id="1005" name="32 · card lilac · surface [p32-e0008]"/>
            <p:cNvSpPr/>
            <p:nvPr/>
          </p:nvSpPr>
          <p:spPr>
            <a:xfrm>
              <a:off x="558800" y="1930400"/>
              <a:ext cx="5232400" cy="2783078"/>
            </a:xfrm>
            <a:prstGeom prst="roundRect">
              <a:avLst>
                <a:gd name="adj" fmla="val 5020"/>
              </a:avLst>
            </a:prstGeom>
            <a:solidFill>
              <a:srgbClr val="EAE6FA"/>
            </a:solidFill>
            <a:ln>
              <a:noFill/>
            </a:ln>
          </p:spPr>
        </p:sp>
        <p:sp>
          <p:nvSpPr>
            <p:cNvPr id="1006" name="32 · card lilac · outline [p32-e0008]"/>
            <p:cNvSpPr/>
            <p:nvPr/>
          </p:nvSpPr>
          <p:spPr>
            <a:xfrm>
              <a:off x="561975" y="1933575"/>
              <a:ext cx="5226050" cy="2776728"/>
            </a:xfrm>
            <a:prstGeom prst="roundRect">
              <a:avLst>
                <a:gd name="adj" fmla="val 4917"/>
              </a:avLst>
            </a:prstGeom>
            <a:noFill/>
            <a:ln w="6350" algn="ctr">
              <a:solidFill>
                <a:srgbClr val="FFFFFF">
                  <a:alpha val="85098"/>
                </a:srgbClr>
              </a:solidFill>
              <a:prstDash val="solid"/>
            </a:ln>
          </p:spPr>
        </p:sp>
        <p:sp>
          <p:nvSpPr>
            <p:cNvPr id="1007" name="32 · rule-line · surface [p32-e0009]"/>
            <p:cNvSpPr/>
            <p:nvPr/>
          </p:nvSpPr>
          <p:spPr>
            <a:xfrm>
              <a:off x="781050" y="3840353"/>
              <a:ext cx="4787900" cy="6350"/>
            </a:xfrm>
            <a:prstGeom prst="rect">
              <a:avLst/>
            </a:prstGeom>
            <a:solidFill>
              <a:srgbClr val="A9CBDC"/>
            </a:solidFill>
            <a:ln>
              <a:noFill/>
            </a:ln>
          </p:spPr>
        </p:sp>
      </p:grpSp>
      <p:grpSp>
        <p:nvGrpSpPr>
          <p:cNvPr id="1025" name="32 · card mint: "/>
          <p:cNvGrpSpPr/>
          <p:nvPr/>
        </p:nvGrpSpPr>
        <p:grpSpPr>
          <a:xfrm>
            <a:off x="6426200" y="1930400"/>
            <a:ext cx="5105400" cy="2783078"/>
            <a:chOff x="6426200" y="1930400"/>
            <a:chExt cx="5105400" cy="2783078"/>
          </a:xfrm>
        </p:grpSpPr>
        <p:sp>
          <p:nvSpPr>
            <p:cNvPr id="1008" name="32 · card mint · surface [p32-e0010]"/>
            <p:cNvSpPr/>
            <p:nvPr/>
          </p:nvSpPr>
          <p:spPr>
            <a:xfrm>
              <a:off x="6426200" y="1930400"/>
              <a:ext cx="5105400" cy="2783078"/>
            </a:xfrm>
            <a:prstGeom prst="roundRect">
              <a:avLst>
                <a:gd name="adj" fmla="val 5020"/>
              </a:avLst>
            </a:prstGeom>
            <a:solidFill>
              <a:srgbClr val="DDF3ED"/>
            </a:solidFill>
            <a:ln>
              <a:noFill/>
            </a:ln>
          </p:spPr>
        </p:sp>
        <p:sp>
          <p:nvSpPr>
            <p:cNvPr id="1009" name="32 · card mint · outline [p32-e0010]"/>
            <p:cNvSpPr/>
            <p:nvPr/>
          </p:nvSpPr>
          <p:spPr>
            <a:xfrm>
              <a:off x="6429375" y="1933575"/>
              <a:ext cx="5099050" cy="2776728"/>
            </a:xfrm>
            <a:prstGeom prst="roundRect">
              <a:avLst>
                <a:gd name="adj" fmla="val 4917"/>
              </a:avLst>
            </a:prstGeom>
            <a:noFill/>
            <a:ln w="6350" algn="ctr">
              <a:solidFill>
                <a:srgbClr val="FFFFFF">
                  <a:alpha val="85098"/>
                </a:srgbClr>
              </a:solidFill>
              <a:prstDash val="solid"/>
            </a:ln>
          </p:spPr>
        </p:sp>
        <p:sp>
          <p:nvSpPr>
            <p:cNvPr id="1010" name="32 · rule-line · surface [p32-e0011]"/>
            <p:cNvSpPr/>
            <p:nvPr/>
          </p:nvSpPr>
          <p:spPr>
            <a:xfrm>
              <a:off x="6648450" y="3840353"/>
              <a:ext cx="4660900" cy="6350"/>
            </a:xfrm>
            <a:prstGeom prst="rect">
              <a:avLst/>
            </a:prstGeom>
            <a:solidFill>
              <a:srgbClr val="A9CBDC"/>
            </a:solidFill>
            <a:ln>
              <a:noFill/>
            </a:ln>
          </p:spPr>
        </p:sp>
      </p:grpSp>
      <p:grpSp>
        <p:nvGrpSpPr>
          <p:cNvPr id="1026" name="32 · card lilac: Evaluate the decision."/>
          <p:cNvGrpSpPr/>
          <p:nvPr/>
        </p:nvGrpSpPr>
        <p:grpSpPr>
          <a:xfrm>
            <a:off x="781050" y="2486534"/>
            <a:ext cx="4800600" cy="1998979"/>
            <a:chOff x="781050" y="2486534"/>
            <a:chExt cx="4800600" cy="1998979"/>
          </a:xfrm>
        </p:grpSpPr>
        <p:sp>
          <p:nvSpPr>
            <p:cNvPr id="1011" name="32 · evaluation-text-1: Evaluate the decision. [p32-text-0012]"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decision.</a:t>
              </a:r>
              <a:endParaRPr lang="en-US" sz="2000" b="1" i="0" kern="0" spc="-38" dirty="0">
                <a:solidFill>
                  <a:srgbClr val="022AC0"/>
                </a:solidFill>
                <a:latin typeface="Manrope"/>
                <a:ea typeface="Manrope"/>
                <a:cs typeface="Manrope"/>
              </a:endParaRPr>
            </a:p>
          </p:txBody>
        </p:sp>
        <p:sp>
          <p:nvSpPr>
            <p:cNvPr id="1012" name="32 · evaluation-text-2: Same held-out snapshots. Same route question. Fixed permissions and tools. [p32-text-0013]"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held-out snapshots.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route question.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Fixed permissions and tools.</a:t>
              </a:r>
              <a:endParaRPr lang="en-US" sz="1400" b="0" i="0" kern="0" spc="0" dirty="0">
                <a:solidFill>
                  <a:srgbClr val="032D60"/>
                </a:solidFill>
                <a:latin typeface="Salesforce Sans"/>
                <a:ea typeface="Salesforce Sans"/>
                <a:cs typeface="Salesforce Sans"/>
              </a:endParaRPr>
            </a:p>
          </p:txBody>
        </p:sp>
        <p:sp>
          <p:nvSpPr>
            <p:cNvPr id="1013" name="32 · evaluation-text-3: Each model’s gate is selected on development data. [p32-text-0014]" descr="Native editable Unicode text; authored line breaks retained."/>
            <p:cNvSpPr txBox="1"/>
            <p:nvPr/>
          </p:nvSpPr>
          <p:spPr>
            <a:xfrm>
              <a:off x="781050" y="4018789"/>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Each model’s gate is selected</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on development data.</a:t>
              </a:r>
              <a:endParaRPr lang="en-US" sz="1250" b="0" i="0" kern="0" spc="0" dirty="0">
                <a:solidFill>
                  <a:srgbClr val="032D60"/>
                </a:solidFill>
                <a:latin typeface="Salesforce Sans"/>
                <a:ea typeface="Salesforce Sans"/>
                <a:cs typeface="Salesforce Sans"/>
              </a:endParaRPr>
            </a:p>
          </p:txBody>
        </p:sp>
      </p:grpSp>
      <p:grpSp>
        <p:nvGrpSpPr>
          <p:cNvPr id="1027" name="32 · card mint: Evaluate the complete case."/>
          <p:cNvGrpSpPr/>
          <p:nvPr/>
        </p:nvGrpSpPr>
        <p:grpSpPr>
          <a:xfrm>
            <a:off x="6648450" y="2486534"/>
            <a:ext cx="4673600" cy="1998979"/>
            <a:chOff x="6648450" y="2486534"/>
            <a:chExt cx="4673600" cy="1998979"/>
          </a:xfrm>
        </p:grpSpPr>
        <p:sp>
          <p:nvSpPr>
            <p:cNvPr id="1014" name="32 · evaluation-text-4: Evaluate the complete case. [p32-text-0015]"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complete case.</a:t>
              </a:r>
              <a:endParaRPr lang="en-US" sz="2000" b="1" i="0" kern="0" spc="-38" dirty="0">
                <a:solidFill>
                  <a:srgbClr val="022AC0"/>
                </a:solidFill>
                <a:latin typeface="Manrope"/>
                <a:ea typeface="Manrope"/>
                <a:cs typeface="Manrope"/>
              </a:endParaRPr>
            </a:p>
          </p:txBody>
        </p:sp>
        <p:sp>
          <p:nvSpPr>
            <p:cNvPr id="1015" name="32 · evaluation-text-5: Randomized case/account assignment. Consistent treatment and horizon. Costs, q [p32-text-0016]" descr="Native editable Unicode text; authored line breaks retained."/>
            <p:cNvSpPr txBox="1"/>
            <p:nvPr/>
          </p:nvSpPr>
          <p:spPr>
            <a:xfrm>
              <a:off x="6648450" y="2936442"/>
              <a:ext cx="4673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Randomized case/account assignment.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Consistent treatment and horizon.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Costs, queues, and unresolved work.</a:t>
              </a:r>
              <a:endParaRPr lang="en-US" sz="1400" b="0" i="0" kern="0" spc="0" dirty="0">
                <a:solidFill>
                  <a:srgbClr val="032D60"/>
                </a:solidFill>
                <a:latin typeface="Salesforce Sans"/>
                <a:ea typeface="Salesforce Sans"/>
                <a:cs typeface="Salesforce Sans"/>
              </a:endParaRPr>
            </a:p>
          </p:txBody>
        </p:sp>
        <p:sp>
          <p:nvSpPr>
            <p:cNvPr id="1016" name="32 · evaluation-text-6: Pilot evidence must precede wider rollout. [p32-text-0017]" descr="Native editable Unicode text; authored line breaks retained."/>
            <p:cNvSpPr txBox="1"/>
            <p:nvPr/>
          </p:nvSpPr>
          <p:spPr>
            <a:xfrm>
              <a:off x="6648450" y="4018789"/>
              <a:ext cx="4673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Pilot evidence must precede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wider rollout.</a:t>
              </a:r>
              <a:endParaRPr lang="en-US" sz="1250" b="0" i="0" kern="0" spc="0" dirty="0">
                <a:solidFill>
                  <a:srgbClr val="032D60"/>
                </a:solidFill>
                <a:latin typeface="Salesforce Sans"/>
                <a:ea typeface="Salesforce Sans"/>
                <a:cs typeface="Salesforce Sans"/>
              </a:endParaRPr>
            </a:p>
          </p:txBody>
        </p:sp>
      </p:grpSp>
      <p:sp>
        <p:nvSpPr>
          <p:cNvPr id="1017" name="32 · tag: PAIRED OFFLINE COMPARISON [p32-text-0018]"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PAIRED OFFLINE COMPARISON</a:t>
            </a:r>
            <a:endParaRPr lang="en-US" sz="1050" b="0" i="0" kern="0" spc="50" dirty="0">
              <a:solidFill>
                <a:srgbClr val="022AC0">
                  <a:alpha val="85000"/>
                </a:srgbClr>
              </a:solidFill>
              <a:latin typeface="IBM Plex Mono"/>
              <a:ea typeface="IBM Plex Mono"/>
              <a:cs typeface="IBM Plex Mono"/>
            </a:endParaRPr>
          </a:p>
        </p:txBody>
      </p:sp>
      <p:sp>
        <p:nvSpPr>
          <p:cNvPr id="1018" name="32 · tag: CONTROLLED SERVICE PILOT [p32-text-0019]"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SERVICE PILOT</a:t>
            </a:r>
            <a:endParaRPr lang="en-US" sz="1050" b="0" i="0" kern="0" spc="50" dirty="0">
              <a:solidFill>
                <a:srgbClr val="022AC0">
                  <a:alpha val="85000"/>
                </a:srgbClr>
              </a:solidFill>
              <a:latin typeface="IBM Plex Mono"/>
              <a:ea typeface="IBM Plex Mono"/>
              <a:cs typeface="IBM Plex Mono"/>
            </a:endParaRPr>
          </a:p>
        </p:txBody>
      </p:sp>
      <p:grpSp>
        <p:nvGrpSpPr>
          <p:cNvPr id="1028" name="32 · source-line: Tutorial evaluation protocol"/>
          <p:cNvGrpSpPr/>
          <p:nvPr/>
        </p:nvGrpSpPr>
        <p:grpSpPr>
          <a:xfrm>
            <a:off x="558800" y="6037898"/>
            <a:ext cx="11087100" cy="284456"/>
            <a:chOff x="558800" y="6037898"/>
            <a:chExt cx="11087100" cy="284456"/>
          </a:xfrm>
        </p:grpSpPr>
        <p:sp>
          <p:nvSpPr>
            <p:cNvPr id="1019" name="32 · source-line · top border [p3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32 · span: Tutorial evaluation protocol [p32-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1" name="32 · span: Proposed controlled evaluation [p32-text-0021]" descr="Native editable Unicode text; authored line breaks retained."/>
            <p:cNvSpPr txBox="1"/>
            <p:nvPr/>
          </p:nvSpPr>
          <p:spPr>
            <a:xfrm>
              <a:off x="9886876" y="6153126"/>
              <a:ext cx="175902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controlled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Diagnose the boundary that failed">
    <p:bg>
      <p:bgPr>
        <a:solidFill>
          <a:srgbClr val="FFFFFF"/>
        </a:solidFill>
      </p:bgPr>
    </p:bg>
    <p:spTree>
      <p:nvGrpSpPr>
        <p:cNvPr id="1" name=""/>
        <p:cNvGrpSpPr/>
        <p:nvPr/>
      </p:nvGrpSpPr>
      <p:grpSpPr>
        <a:xfrm>
          <a:off x="0" y="0"/>
          <a:ext cx="0" cy="0"/>
          <a:chOff x="0" y="0"/>
          <a:chExt cx="0" cy="0"/>
        </a:xfrm>
      </p:grpSpPr>
      <p:sp>
        <p:nvSpPr>
          <p:cNvPr id="1000" name="33 · slide light · surface [p3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3 · chrome-min: DISAGGREGATED INTELLIGENCE"/>
          <p:cNvGrpSpPr/>
          <p:nvPr/>
        </p:nvGrpSpPr>
        <p:grpSpPr>
          <a:xfrm>
            <a:off x="558800" y="356053"/>
            <a:ext cx="11087100" cy="187325"/>
            <a:chOff x="558800" y="356053"/>
            <a:chExt cx="11087100" cy="187325"/>
          </a:xfrm>
        </p:grpSpPr>
        <p:sp>
          <p:nvSpPr>
            <p:cNvPr id="1001" name="33 · l: DISAGGREGATED INTELLIGENCE [p33-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3 · r: 33 / 36 [p33-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33 / 36</a:t>
              </a:r>
              <a:endParaRPr lang="en-US" sz="950" b="1" i="0" kern="0" spc="65" dirty="0">
                <a:solidFill>
                  <a:srgbClr val="022AC0"/>
                </a:solidFill>
                <a:latin typeface="Salesforce Sans"/>
                <a:ea typeface="Salesforce Sans"/>
                <a:cs typeface="Salesforce Sans"/>
              </a:endParaRPr>
            </a:p>
          </p:txBody>
        </p:sp>
      </p:grpSp>
      <p:grpSp>
        <p:nvGrpSpPr>
          <p:cNvPr id="1037" name="33 · deck-head: 09 / IMPROVE THE RESPONSIBLE COMPONENT"/>
          <p:cNvGrpSpPr/>
          <p:nvPr/>
        </p:nvGrpSpPr>
        <p:grpSpPr>
          <a:xfrm>
            <a:off x="558800" y="775901"/>
            <a:ext cx="11087100" cy="871263"/>
            <a:chOff x="558800" y="775901"/>
            <a:chExt cx="11087100" cy="871263"/>
          </a:xfrm>
        </p:grpSpPr>
        <p:sp>
          <p:nvSpPr>
            <p:cNvPr id="1003" name="33 · diagnosis-eyebrow: 09 / IMPROVE THE RESPONSIBLE COMPONENT [p33-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IMPROVE THE RESPONSIBLE COMPONENT</a:t>
              </a:r>
              <a:endParaRPr lang="en-US" sz="1050" b="1" i="0" kern="0" spc="68" dirty="0">
                <a:solidFill>
                  <a:srgbClr val="022AC0"/>
                </a:solidFill>
                <a:latin typeface="Salesforce Sans"/>
                <a:ea typeface="Salesforce Sans"/>
                <a:cs typeface="Salesforce Sans"/>
              </a:endParaRPr>
            </a:p>
          </p:txBody>
        </p:sp>
        <p:sp>
          <p:nvSpPr>
            <p:cNvPr id="1004" name="33 · diagnosis-title: Diagnose the boundary that failed [p33-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Diagnose the boundary that failed</a:t>
              </a:r>
              <a:endParaRPr lang="en-US" sz="3600" b="1" i="0" kern="0" spc="-95" dirty="0">
                <a:solidFill>
                  <a:srgbClr val="022AC0"/>
                </a:solidFill>
                <a:latin typeface="Manrope"/>
                <a:ea typeface="Manrope"/>
                <a:cs typeface="Manrope"/>
              </a:endParaRPr>
            </a:p>
          </p:txBody>
        </p:sp>
      </p:grpSp>
      <p:grpSp>
        <p:nvGrpSpPr>
          <p:cNvPr id="1005" name="33 · svg · drawing [p33-e0008]"/>
          <p:cNvGrpSpPr/>
          <p:nvPr/>
        </p:nvGrpSpPr>
        <p:grpSpPr>
          <a:xfrm>
            <a:off x="2116138" y="2641912"/>
            <a:ext cx="7890510" cy="1113072"/>
            <a:chOff x="2116138" y="2641912"/>
            <a:chExt cx="7890510" cy="1113072"/>
          </a:xfrm>
        </p:grpSpPr>
        <p:grpSp>
          <p:nvGrpSpPr>
            <p:cNvPr id="1006" name="path · 1 + arrowhead"/>
            <p:cNvGrpSpPr/>
            <p:nvPr/>
          </p:nvGrpSpPr>
          <p:grpSpPr>
            <a:xfrm>
              <a:off x="2116138" y="2641912"/>
              <a:ext cx="3979862" cy="1113072"/>
              <a:chOff x="2116138" y="2641912"/>
              <a:chExt cx="3979862" cy="1113072"/>
            </a:xfrm>
          </p:grpSpPr>
          <p:sp>
            <p:nvSpPr>
              <p:cNvPr id="1007" name="path · 1"/>
              <p:cNvSpPr/>
              <p:nvPr/>
            </p:nvSpPr>
            <p:spPr>
              <a:xfrm>
                <a:off x="2185352" y="2641912"/>
                <a:ext cx="3910648" cy="1095948"/>
              </a:xfrm>
              <a:custGeom>
                <a:avLst/>
                <a:gdLst/>
                <a:ahLst/>
                <a:cxnLst/>
                <a:rect l="0" t="0" r="r" b="b"/>
                <a:pathLst>
                  <a:path w="3910648" h="1095948" fill="none" stroke="1" extrusionOk="0">
                    <a:moveTo>
                      <a:pt x="3910648" y="0"/>
                    </a:moveTo>
                    <a:lnTo>
                      <a:pt x="3910648" y="582222"/>
                    </a:lnTo>
                    <a:lnTo>
                      <a:pt x="0" y="582222"/>
                    </a:lnTo>
                    <a:lnTo>
                      <a:pt x="0" y="1095948"/>
                    </a:lnTo>
                  </a:path>
                </a:pathLst>
              </a:custGeom>
              <a:noFill/>
              <a:ln w="15875" cap="flat" cmpd="sng" algn="ctr">
                <a:solidFill>
                  <a:srgbClr val="789B8E"/>
                </a:solidFill>
                <a:prstDash val="solid"/>
                <a:miter lim="400000"/>
                <a:headEnd type="none" w="med" len="med"/>
                <a:tailEnd type="none" w="med" len="med"/>
              </a:ln>
            </p:spPr>
          </p:sp>
          <p:grpSp>
            <p:nvGrpSpPr>
              <p:cNvPr id="1008" name="arr10 end"/>
              <p:cNvGrpSpPr/>
              <p:nvPr/>
            </p:nvGrpSpPr>
            <p:grpSpPr>
              <a:xfrm>
                <a:off x="2116138" y="3617991"/>
                <a:ext cx="138430" cy="136993"/>
                <a:chOff x="2116138" y="3617991"/>
                <a:chExt cx="138430" cy="136993"/>
              </a:xfrm>
            </p:grpSpPr>
            <p:sp>
              <p:nvSpPr>
                <p:cNvPr id="1009" name="path · 2"/>
                <p:cNvSpPr/>
                <p:nvPr/>
              </p:nvSpPr>
              <p:spPr>
                <a:xfrm>
                  <a:off x="211613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nvGrpSpPr>
            <p:cNvPr id="1010" name="path · 3 + arrowhead"/>
            <p:cNvGrpSpPr/>
            <p:nvPr/>
          </p:nvGrpSpPr>
          <p:grpSpPr>
            <a:xfrm>
              <a:off x="6026785" y="3224134"/>
              <a:ext cx="138430" cy="530850"/>
              <a:chOff x="6026785" y="3224134"/>
              <a:chExt cx="138430" cy="530850"/>
            </a:xfrm>
          </p:grpSpPr>
          <p:sp>
            <p:nvSpPr>
              <p:cNvPr id="1011" name="path · 3"/>
              <p:cNvSpPr/>
              <p:nvPr/>
            </p:nvSpPr>
            <p:spPr>
              <a:xfrm>
                <a:off x="6096000" y="3224134"/>
                <a:ext cx="1" cy="513725"/>
              </a:xfrm>
              <a:custGeom>
                <a:avLst/>
                <a:gdLst/>
                <a:ahLst/>
                <a:cxnLst/>
                <a:rect l="0" t="0" r="r" b="b"/>
                <a:pathLst>
                  <a:path w="1" h="513725" fill="none" stroke="1" extrusionOk="0">
                    <a:moveTo>
                      <a:pt x="0" y="0"/>
                    </a:moveTo>
                    <a:lnTo>
                      <a:pt x="0" y="513726"/>
                    </a:lnTo>
                  </a:path>
                </a:pathLst>
              </a:custGeom>
              <a:noFill/>
              <a:ln w="15875" cap="flat" cmpd="sng" algn="ctr">
                <a:solidFill>
                  <a:srgbClr val="789B8E"/>
                </a:solidFill>
                <a:prstDash val="solid"/>
                <a:miter lim="400000"/>
                <a:headEnd type="none" w="med" len="med"/>
                <a:tailEnd type="none" w="med" len="med"/>
              </a:ln>
            </p:spPr>
          </p:sp>
          <p:grpSp>
            <p:nvGrpSpPr>
              <p:cNvPr id="1012" name="arr10 end"/>
              <p:cNvGrpSpPr/>
              <p:nvPr/>
            </p:nvGrpSpPr>
            <p:grpSpPr>
              <a:xfrm>
                <a:off x="6026785" y="3617991"/>
                <a:ext cx="138430" cy="136993"/>
                <a:chOff x="6026785" y="3617991"/>
                <a:chExt cx="138430" cy="136993"/>
              </a:xfrm>
            </p:grpSpPr>
            <p:sp>
              <p:nvSpPr>
                <p:cNvPr id="1013" name="path · 4"/>
                <p:cNvSpPr/>
                <p:nvPr/>
              </p:nvSpPr>
              <p:spPr>
                <a:xfrm>
                  <a:off x="6026785" y="3617991"/>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nvGrpSpPr>
            <p:cNvPr id="1014" name="path · 5 + arrowhead"/>
            <p:cNvGrpSpPr/>
            <p:nvPr/>
          </p:nvGrpSpPr>
          <p:grpSpPr>
            <a:xfrm>
              <a:off x="6096000" y="3224134"/>
              <a:ext cx="3910648" cy="530850"/>
              <a:chOff x="6096000" y="3224134"/>
              <a:chExt cx="3910648" cy="530850"/>
            </a:xfrm>
          </p:grpSpPr>
          <p:sp>
            <p:nvSpPr>
              <p:cNvPr id="1015" name="path · 5"/>
              <p:cNvSpPr/>
              <p:nvPr/>
            </p:nvSpPr>
            <p:spPr>
              <a:xfrm>
                <a:off x="6096000" y="3224134"/>
                <a:ext cx="3841433" cy="513725"/>
              </a:xfrm>
              <a:custGeom>
                <a:avLst/>
                <a:gdLst/>
                <a:ahLst/>
                <a:cxnLst/>
                <a:rect l="0" t="0" r="r" b="b"/>
                <a:pathLst>
                  <a:path w="3841433" h="513725" fill="none" stroke="1" extrusionOk="0">
                    <a:moveTo>
                      <a:pt x="0" y="0"/>
                    </a:moveTo>
                    <a:lnTo>
                      <a:pt x="3841432" y="0"/>
                    </a:lnTo>
                    <a:lnTo>
                      <a:pt x="3841432" y="513726"/>
                    </a:lnTo>
                  </a:path>
                </a:pathLst>
              </a:custGeom>
              <a:noFill/>
              <a:ln w="15875" cap="flat" cmpd="sng" algn="ctr">
                <a:solidFill>
                  <a:srgbClr val="789B8E"/>
                </a:solidFill>
                <a:prstDash val="solid"/>
                <a:miter lim="400000"/>
                <a:headEnd type="none" w="med" len="med"/>
                <a:tailEnd type="none" w="med" len="med"/>
              </a:ln>
            </p:spPr>
          </p:sp>
          <p:grpSp>
            <p:nvGrpSpPr>
              <p:cNvPr id="1016" name="arr10 end"/>
              <p:cNvGrpSpPr/>
              <p:nvPr/>
            </p:nvGrpSpPr>
            <p:grpSpPr>
              <a:xfrm>
                <a:off x="9868218" y="3617991"/>
                <a:ext cx="138430" cy="136993"/>
                <a:chOff x="9868218" y="3617991"/>
                <a:chExt cx="138430" cy="136993"/>
              </a:xfrm>
            </p:grpSpPr>
            <p:sp>
              <p:nvSpPr>
                <p:cNvPr id="1017" name="path · 6"/>
                <p:cNvSpPr/>
                <p:nvPr/>
              </p:nvSpPr>
              <p:spPr>
                <a:xfrm>
                  <a:off x="986821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grpSp>
        <p:nvGrpSpPr>
          <p:cNvPr id="1038" name="33 · node peach: Exchange authorized; cable task lost"/>
          <p:cNvGrpSpPr/>
          <p:nvPr/>
        </p:nvGrpSpPr>
        <p:grpSpPr>
          <a:xfrm>
            <a:off x="3742690" y="1854200"/>
            <a:ext cx="4775835" cy="787693"/>
            <a:chOff x="3742690" y="1854200"/>
            <a:chExt cx="4775835" cy="787693"/>
          </a:xfrm>
        </p:grpSpPr>
        <p:sp>
          <p:nvSpPr>
            <p:cNvPr id="1018" name="33 · node peach · surface [p33-e0009]"/>
            <p:cNvSpPr/>
            <p:nvPr/>
          </p:nvSpPr>
          <p:spPr>
            <a:xfrm>
              <a:off x="3742690" y="1854200"/>
              <a:ext cx="4775835" cy="787693"/>
            </a:xfrm>
            <a:prstGeom prst="roundRect">
              <a:avLst>
                <a:gd name="adj" fmla="val 17735"/>
              </a:avLst>
            </a:prstGeom>
            <a:solidFill>
              <a:srgbClr val="FBE5DF"/>
            </a:solidFill>
            <a:ln>
              <a:noFill/>
            </a:ln>
          </p:spPr>
        </p:sp>
        <p:sp>
          <p:nvSpPr>
            <p:cNvPr id="1019" name="33 · strong: Exchange authorized; cable task lost [p33-text-0013]" descr="Native editable Unicode text; authored line breaks retained."/>
            <p:cNvSpPr txBox="1"/>
            <p:nvPr/>
          </p:nvSpPr>
          <p:spPr>
            <a:xfrm>
              <a:off x="3920490" y="1997610"/>
              <a:ext cx="443293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authorized; cable task lost</a:t>
              </a:r>
              <a:endParaRPr lang="en-US" sz="1450" b="1" i="0" kern="0" spc="0" dirty="0">
                <a:solidFill>
                  <a:srgbClr val="032D60"/>
                </a:solidFill>
                <a:latin typeface="Salesforce Sans"/>
                <a:ea typeface="Salesforce Sans"/>
                <a:cs typeface="Salesforce Sans"/>
              </a:endParaRPr>
            </a:p>
          </p:txBody>
        </p:sp>
        <p:sp>
          <p:nvSpPr>
            <p:cNvPr id="1020" name="33 · small: Inspect the recorded route and state changes [p33-text-0014]" descr="Native editable Unicode text; authored line breaks retained."/>
            <p:cNvSpPr txBox="1"/>
            <p:nvPr/>
          </p:nvSpPr>
          <p:spPr>
            <a:xfrm>
              <a:off x="3920490" y="2308930"/>
              <a:ext cx="443293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recorded route and state changes</a:t>
              </a:r>
              <a:endParaRPr lang="en-US" sz="1100" b="0" i="0" kern="0" spc="0" dirty="0">
                <a:solidFill>
                  <a:srgbClr val="032D60"/>
                </a:solidFill>
                <a:latin typeface="Salesforce Sans"/>
                <a:ea typeface="Salesforce Sans"/>
                <a:cs typeface="Salesforce Sans"/>
              </a:endParaRPr>
            </a:p>
          </p:txBody>
        </p:sp>
      </p:grpSp>
      <p:grpSp>
        <p:nvGrpSpPr>
          <p:cNvPr id="1039" name="33 · node lilac: ONLY EXCHANGE RECORDED"/>
          <p:cNvGrpSpPr/>
          <p:nvPr/>
        </p:nvGrpSpPr>
        <p:grpSpPr>
          <a:xfrm>
            <a:off x="558800" y="3772123"/>
            <a:ext cx="3253105" cy="1575428"/>
            <a:chOff x="558800" y="3772123"/>
            <a:chExt cx="3253105" cy="1575428"/>
          </a:xfrm>
        </p:grpSpPr>
        <p:sp>
          <p:nvSpPr>
            <p:cNvPr id="1021" name="33 · node lilac · surface [p33-e0012]"/>
            <p:cNvSpPr/>
            <p:nvPr/>
          </p:nvSpPr>
          <p:spPr>
            <a:xfrm>
              <a:off x="558800" y="3772123"/>
              <a:ext cx="3253105" cy="1575428"/>
            </a:xfrm>
            <a:prstGeom prst="roundRect">
              <a:avLst>
                <a:gd name="adj" fmla="val 8867"/>
              </a:avLst>
            </a:prstGeom>
            <a:solidFill>
              <a:srgbClr val="EAE6FA"/>
            </a:solidFill>
            <a:ln>
              <a:noFill/>
            </a:ln>
          </p:spPr>
        </p:sp>
        <p:sp>
          <p:nvSpPr>
            <p:cNvPr id="1022" name="33 · mini: ONLY EXCHANGE RECORDED [p33-text-0015]" descr="Native editable Unicode text; authored line breaks retained."/>
            <p:cNvSpPr txBox="1"/>
            <p:nvPr/>
          </p:nvSpPr>
          <p:spPr>
            <a:xfrm>
              <a:off x="73660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ONLY EXCHANGE RECORDED</a:t>
              </a:r>
              <a:endParaRPr lang="en-US" sz="950" b="0" i="0" kern="0" spc="50" dirty="0">
                <a:solidFill>
                  <a:srgbClr val="022AC0"/>
                </a:solidFill>
                <a:latin typeface="IBM Plex Mono"/>
                <a:ea typeface="IBM Plex Mono"/>
                <a:cs typeface="IBM Plex Mono"/>
              </a:endParaRPr>
            </a:p>
          </p:txBody>
        </p:sp>
        <p:sp>
          <p:nvSpPr>
            <p:cNvPr id="1023" name="33 · strong: Decision boundary [p33-text-0016]" descr="Native editable Unicode text; authored line breaks retained."/>
            <p:cNvSpPr txBox="1"/>
            <p:nvPr/>
          </p:nvSpPr>
          <p:spPr>
            <a:xfrm>
              <a:off x="73660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Decision boundary</a:t>
              </a:r>
              <a:endParaRPr lang="en-US" sz="1450" b="1" i="0" kern="0" spc="0" dirty="0">
                <a:solidFill>
                  <a:srgbClr val="032D60"/>
                </a:solidFill>
                <a:latin typeface="Salesforce Sans"/>
                <a:ea typeface="Salesforce Sans"/>
                <a:cs typeface="Salesforce Sans"/>
              </a:endParaRPr>
            </a:p>
          </p:txBody>
        </p:sp>
        <p:sp>
          <p:nvSpPr>
            <p:cNvPr id="1024" name="33 · small: Inspect input evidence, labels, and category definition. [p33-text-0017]" descr="Native editable Unicode text; authored line breaks retained."/>
            <p:cNvSpPr txBox="1"/>
            <p:nvPr/>
          </p:nvSpPr>
          <p:spPr>
            <a:xfrm>
              <a:off x="73660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input evidence,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labels, and category definition.</a:t>
              </a:r>
              <a:endParaRPr lang="en-US" sz="1100" b="0" i="0" kern="0" spc="0" dirty="0">
                <a:solidFill>
                  <a:srgbClr val="032D60"/>
                </a:solidFill>
                <a:latin typeface="Salesforce Sans"/>
                <a:ea typeface="Salesforce Sans"/>
                <a:cs typeface="Salesforce Sans"/>
              </a:endParaRPr>
            </a:p>
          </p:txBody>
        </p:sp>
      </p:grpSp>
      <p:grpSp>
        <p:nvGrpSpPr>
          <p:cNvPr id="1040" name="33 · node mint: BOTH TASKS RECORDED"/>
          <p:cNvGrpSpPr/>
          <p:nvPr/>
        </p:nvGrpSpPr>
        <p:grpSpPr>
          <a:xfrm>
            <a:off x="4434840" y="3772123"/>
            <a:ext cx="3253105" cy="1575428"/>
            <a:chOff x="4434840" y="3772123"/>
            <a:chExt cx="3253105" cy="1575428"/>
          </a:xfrm>
        </p:grpSpPr>
        <p:sp>
          <p:nvSpPr>
            <p:cNvPr id="1025" name="33 · node mint · surface [p33-e0017]"/>
            <p:cNvSpPr/>
            <p:nvPr/>
          </p:nvSpPr>
          <p:spPr>
            <a:xfrm>
              <a:off x="4434840" y="3772123"/>
              <a:ext cx="3253105" cy="1575428"/>
            </a:xfrm>
            <a:prstGeom prst="roundRect">
              <a:avLst>
                <a:gd name="adj" fmla="val 8867"/>
              </a:avLst>
            </a:prstGeom>
            <a:solidFill>
              <a:srgbClr val="DDF3ED"/>
            </a:solidFill>
            <a:ln>
              <a:noFill/>
            </a:ln>
          </p:spPr>
        </p:sp>
        <p:sp>
          <p:nvSpPr>
            <p:cNvPr id="1026" name="33 · mini: BOTH TASKS RECORDED [p33-text-0018]" descr="Native editable Unicode text; authored line breaks retained."/>
            <p:cNvSpPr txBox="1"/>
            <p:nvPr/>
          </p:nvSpPr>
          <p:spPr>
            <a:xfrm>
              <a:off x="461264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BOTH TASKS RECORDED</a:t>
              </a:r>
              <a:endParaRPr lang="en-US" sz="950" b="0" i="0" kern="0" spc="50" dirty="0">
                <a:solidFill>
                  <a:srgbClr val="022AC0"/>
                </a:solidFill>
                <a:latin typeface="IBM Plex Mono"/>
                <a:ea typeface="IBM Plex Mono"/>
                <a:cs typeface="IBM Plex Mono"/>
              </a:endParaRPr>
            </a:p>
          </p:txBody>
        </p:sp>
        <p:sp>
          <p:nvSpPr>
            <p:cNvPr id="1027" name="33 · strong: Workflow boundary [p33-text-0019]" descr="Native editable Unicode text; authored line breaks retained."/>
            <p:cNvSpPr txBox="1"/>
            <p:nvPr/>
          </p:nvSpPr>
          <p:spPr>
            <a:xfrm>
              <a:off x="461264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Workflow boundary</a:t>
              </a:r>
              <a:endParaRPr lang="en-US" sz="1450" b="1" i="0" kern="0" spc="0" dirty="0">
                <a:solidFill>
                  <a:srgbClr val="032D60"/>
                </a:solidFill>
                <a:latin typeface="Salesforce Sans"/>
                <a:ea typeface="Salesforce Sans"/>
                <a:cs typeface="Salesforce Sans"/>
              </a:endParaRPr>
            </a:p>
          </p:txBody>
        </p:sp>
        <p:sp>
          <p:nvSpPr>
            <p:cNvPr id="1028" name="33 · small: Inspect the transition that dropped the pending task. [p33-text-0020]" descr="Native editable Unicode text; authored line breaks retained."/>
            <p:cNvSpPr txBox="1"/>
            <p:nvPr/>
          </p:nvSpPr>
          <p:spPr>
            <a:xfrm>
              <a:off x="461264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transition that</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dropped the pending task.</a:t>
              </a:r>
              <a:endParaRPr lang="en-US" sz="1100" b="0" i="0" kern="0" spc="0" dirty="0">
                <a:solidFill>
                  <a:srgbClr val="032D60"/>
                </a:solidFill>
                <a:latin typeface="Salesforce Sans"/>
                <a:ea typeface="Salesforce Sans"/>
                <a:cs typeface="Salesforce Sans"/>
              </a:endParaRPr>
            </a:p>
          </p:txBody>
        </p:sp>
      </p:grpSp>
      <p:grpSp>
        <p:nvGrpSpPr>
          <p:cNvPr id="1041" name="33 · node blue: TRACE LOOKS CORRECT"/>
          <p:cNvGrpSpPr/>
          <p:nvPr/>
        </p:nvGrpSpPr>
        <p:grpSpPr>
          <a:xfrm>
            <a:off x="8310880" y="3772123"/>
            <a:ext cx="3253105" cy="1575428"/>
            <a:chOff x="8310880" y="3772123"/>
            <a:chExt cx="3253105" cy="1575428"/>
          </a:xfrm>
        </p:grpSpPr>
        <p:sp>
          <p:nvSpPr>
            <p:cNvPr id="1029" name="33 · node blue · surface [p33-e0022]"/>
            <p:cNvSpPr/>
            <p:nvPr/>
          </p:nvSpPr>
          <p:spPr>
            <a:xfrm>
              <a:off x="8310880" y="3772123"/>
              <a:ext cx="3253105" cy="1575428"/>
            </a:xfrm>
            <a:prstGeom prst="roundRect">
              <a:avLst>
                <a:gd name="adj" fmla="val 8867"/>
              </a:avLst>
            </a:prstGeom>
            <a:solidFill>
              <a:srgbClr val="DCEEFE"/>
            </a:solidFill>
            <a:ln>
              <a:noFill/>
            </a:ln>
          </p:spPr>
        </p:sp>
        <p:sp>
          <p:nvSpPr>
            <p:cNvPr id="1030" name="33 · mini: TRACE LOOKS CORRECT [p33-text-0021]" descr="Native editable Unicode text; authored line breaks retained."/>
            <p:cNvSpPr txBox="1"/>
            <p:nvPr/>
          </p:nvSpPr>
          <p:spPr>
            <a:xfrm>
              <a:off x="848868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TRACE LOOKS CORRECT</a:t>
              </a:r>
              <a:endParaRPr lang="en-US" sz="950" b="0" i="0" kern="0" spc="50" dirty="0">
                <a:solidFill>
                  <a:srgbClr val="022AC0"/>
                </a:solidFill>
                <a:latin typeface="IBM Plex Mono"/>
                <a:ea typeface="IBM Plex Mono"/>
                <a:cs typeface="IBM Plex Mono"/>
              </a:endParaRPr>
            </a:p>
          </p:txBody>
        </p:sp>
        <p:sp>
          <p:nvSpPr>
            <p:cNvPr id="1031" name="33 · strong: Outcome boundary [p33-text-0022]" descr="Native editable Unicode text; authored line breaks retained."/>
            <p:cNvSpPr txBox="1"/>
            <p:nvPr/>
          </p:nvSpPr>
          <p:spPr>
            <a:xfrm>
              <a:off x="848868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Outcome boundary</a:t>
              </a:r>
              <a:endParaRPr lang="en-US" sz="1450" b="1" i="0" kern="0" spc="0" dirty="0">
                <a:solidFill>
                  <a:srgbClr val="032D60"/>
                </a:solidFill>
                <a:latin typeface="Salesforce Sans"/>
                <a:ea typeface="Salesforce Sans"/>
                <a:cs typeface="Salesforce Sans"/>
              </a:endParaRPr>
            </a:p>
          </p:txBody>
        </p:sp>
        <p:sp>
          <p:nvSpPr>
            <p:cNvPr id="1032" name="33 · small: Inspect services and the resolution condition. [p33-text-0023]" descr="Native editable Unicode text; authored line breaks retained."/>
            <p:cNvSpPr txBox="1"/>
            <p:nvPr/>
          </p:nvSpPr>
          <p:spPr>
            <a:xfrm>
              <a:off x="848868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services and the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resolution condition.</a:t>
              </a:r>
              <a:endParaRPr lang="en-US" sz="1100" b="0" i="0" kern="0" spc="0" dirty="0">
                <a:solidFill>
                  <a:srgbClr val="032D60"/>
                </a:solidFill>
                <a:latin typeface="Salesforce Sans"/>
                <a:ea typeface="Salesforce Sans"/>
                <a:cs typeface="Salesforce Sans"/>
              </a:endParaRPr>
            </a:p>
          </p:txBody>
        </p:sp>
      </p:grpSp>
      <p:grpSp>
        <p:nvGrpSpPr>
          <p:cNvPr id="1042" name="33 · source-line: Jev in LangSmith Evals · Jev-as-a-Judge"/>
          <p:cNvGrpSpPr/>
          <p:nvPr/>
        </p:nvGrpSpPr>
        <p:grpSpPr>
          <a:xfrm>
            <a:off x="558800" y="6037898"/>
            <a:ext cx="11087100" cy="284456"/>
            <a:chOff x="558800" y="6037898"/>
            <a:chExt cx="11087100" cy="284456"/>
          </a:xfrm>
        </p:grpSpPr>
        <p:sp>
          <p:nvSpPr>
            <p:cNvPr id="1033" name="33 · source-line · top border [p33-e002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3 · span: Jev in LangSmith Evals · Jev-as-a-Judge [p33-text-0024]" descr="Native editable Unicode text; authored line breaks retained."/>
            <p:cNvSpPr txBox="1"/>
            <p:nvPr/>
          </p:nvSpPr>
          <p:spPr>
            <a:xfrm>
              <a:off x="558800" y="6153126"/>
              <a:ext cx="21505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in LangSmith Evals"/>
                </a:rPr>
                <a:t>Jev in LangSmith Evals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Jev-as-a-Judge"/>
                </a:rPr>
                <a:t>Jev-as-a-Judge</a:t>
              </a:r>
              <a:endParaRPr lang="en-US" sz="950" b="0" i="0" kern="0" spc="0" dirty="0" u="sng">
                <a:solidFill>
                  <a:srgbClr val="315A7A"/>
                </a:solidFill>
                <a:latin typeface="Salesforce Sans"/>
                <a:ea typeface="Salesforce Sans"/>
                <a:cs typeface="Salesforce Sans"/>
              </a:endParaRPr>
            </a:p>
          </p:txBody>
        </p:sp>
        <p:sp>
          <p:nvSpPr>
            <p:cNvPr id="1035" name="33 · span: Constructed failure diagnosis [p33-text-0025]" descr="Native editable Unicode text; authored line breaks retained."/>
            <p:cNvSpPr txBox="1"/>
            <p:nvPr/>
          </p:nvSpPr>
          <p:spPr>
            <a:xfrm>
              <a:off x="10006701" y="6153126"/>
              <a:ext cx="16391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failure diagnosis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Start with one decision that changes the path">
    <p:bg>
      <p:bgPr>
        <a:solidFill>
          <a:srgbClr val="FFFFFF"/>
        </a:solidFill>
      </p:bgPr>
    </p:bg>
    <p:spTree>
      <p:nvGrpSpPr>
        <p:cNvPr id="1" name=""/>
        <p:cNvGrpSpPr/>
        <p:nvPr/>
      </p:nvGrpSpPr>
      <p:grpSpPr>
        <a:xfrm>
          <a:off x="0" y="0"/>
          <a:ext cx="0" cy="0"/>
          <a:chOff x="0" y="0"/>
          <a:chExt cx="0" cy="0"/>
        </a:xfrm>
      </p:grpSpPr>
      <p:sp>
        <p:nvSpPr>
          <p:cNvPr id="1000" name="34 · slide hero dark split · surface [p3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0" name="34 · chrome-min: DISAGGREGATED INTELLIGENCE"/>
          <p:cNvGrpSpPr/>
          <p:nvPr/>
        </p:nvGrpSpPr>
        <p:grpSpPr>
          <a:xfrm>
            <a:off x="558800" y="356053"/>
            <a:ext cx="11087100" cy="187325"/>
            <a:chOff x="558800" y="356053"/>
            <a:chExt cx="11087100" cy="187325"/>
          </a:xfrm>
        </p:grpSpPr>
        <p:sp>
          <p:nvSpPr>
            <p:cNvPr id="1001" name="34 · l: DISAGGREGATED INTELLIGENCE [p34-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4 · r: 34 / 36 [p34-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34 / 36</a:t>
              </a:r>
              <a:endParaRPr lang="en-US" sz="950" b="1" i="0" kern="0" spc="65" dirty="0">
                <a:solidFill>
                  <a:srgbClr val="022AC0"/>
                </a:solidFill>
                <a:latin typeface="Salesforce Sans"/>
                <a:ea typeface="Salesforce Sans"/>
                <a:cs typeface="Salesforce Sans"/>
              </a:endParaRPr>
            </a:p>
          </p:txBody>
        </p:sp>
      </p:grpSp>
      <p:grpSp>
        <p:nvGrpSpPr>
          <p:cNvPr id="1021" name="34 · deck-head: 10 / BUILD, MEASURE, REVISE"/>
          <p:cNvGrpSpPr/>
          <p:nvPr/>
        </p:nvGrpSpPr>
        <p:grpSpPr>
          <a:xfrm>
            <a:off x="558800" y="775901"/>
            <a:ext cx="11087100" cy="871263"/>
            <a:chOff x="558800" y="775901"/>
            <a:chExt cx="11087100" cy="871263"/>
          </a:xfrm>
        </p:grpSpPr>
        <p:sp>
          <p:nvSpPr>
            <p:cNvPr id="1003" name="34 · close-eyebrow: 10 / BUILD, MEASURE, REVISE [p34-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10 / BUILD, MEASURE, REVISE</a:t>
              </a:r>
              <a:endParaRPr lang="en-US" sz="1050" b="1" i="0" kern="0" spc="68" dirty="0">
                <a:solidFill>
                  <a:srgbClr val="022AC0"/>
                </a:solidFill>
                <a:latin typeface="Salesforce Sans"/>
                <a:ea typeface="Salesforce Sans"/>
                <a:cs typeface="Salesforce Sans"/>
              </a:endParaRPr>
            </a:p>
          </p:txBody>
        </p:sp>
        <p:sp>
          <p:nvSpPr>
            <p:cNvPr id="1004" name="34 · close-title: Start with one decision that changes the path [p34-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one decision that changes the path</a:t>
              </a:r>
              <a:endParaRPr lang="en-US" sz="3600" b="1" i="0" kern="0" spc="-95" dirty="0">
                <a:solidFill>
                  <a:srgbClr val="022AC0"/>
                </a:solidFill>
                <a:latin typeface="Manrope"/>
                <a:ea typeface="Manrope"/>
                <a:cs typeface="Manrope"/>
              </a:endParaRPr>
            </a:p>
          </p:txBody>
        </p:sp>
      </p:grpSp>
      <p:sp>
        <p:nvSpPr>
          <p:cNvPr id="1005" name="34 · step · bottom border [p34-e0008]"/>
          <p:cNvSpPr/>
          <p:nvPr/>
        </p:nvSpPr>
        <p:spPr>
          <a:xfrm>
            <a:off x="6350000" y="30773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6" name="34 · step · bottom border [p34-e0009]"/>
          <p:cNvSpPr/>
          <p:nvPr/>
        </p:nvSpPr>
        <p:spPr>
          <a:xfrm>
            <a:off x="6350000" y="36525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7" name="34 · step · bottom border [p34-e0010]"/>
          <p:cNvSpPr/>
          <p:nvPr/>
        </p:nvSpPr>
        <p:spPr>
          <a:xfrm>
            <a:off x="6350000" y="4227792"/>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8" name="34 · step · bottom border [p34-e0011]"/>
          <p:cNvSpPr/>
          <p:nvPr/>
        </p:nvSpPr>
        <p:spPr>
          <a:xfrm>
            <a:off x="6350000" y="48030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9" name="34 · step · bottom border [p34-e0012]"/>
          <p:cNvSpPr/>
          <p:nvPr/>
        </p:nvSpPr>
        <p:spPr>
          <a:xfrm>
            <a:off x="6350000" y="53782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10" name="34 · h2: Specialize judgment. Author the controls. Keep every task accounted for. [p34-text-0013]" descr="Native editable Unicode text; authored line breaks retained."/>
          <p:cNvSpPr txBox="1"/>
          <p:nvPr/>
        </p:nvSpPr>
        <p:spPr>
          <a:xfrm>
            <a:off x="558800" y="2336954"/>
            <a:ext cx="5295900" cy="22768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Specialize judgment.</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Author the controls.</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Keep every task</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accounted for.</a:t>
            </a:r>
            <a:endParaRPr lang="en-US" sz="3600" b="1" i="0" kern="0" spc="-90" dirty="0">
              <a:solidFill>
                <a:srgbClr val="022AC0"/>
              </a:solidFill>
              <a:latin typeface="Manrope"/>
              <a:ea typeface="Manrope"/>
              <a:cs typeface="Manrope"/>
            </a:endParaRPr>
          </a:p>
        </p:txBody>
      </p:sp>
      <p:sp>
        <p:nvSpPr>
          <p:cNvPr id="1011" name="34 · step: 01Write one bounded route question. [p34-text-0014]" descr="Native editable Unicode text; authored line breaks retained."/>
          <p:cNvSpPr txBox="1"/>
          <p:nvPr/>
        </p:nvSpPr>
        <p:spPr>
          <a:xfrm>
            <a:off x="6350000" y="26513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01</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Write one bounded route question.</a:t>
            </a:r>
            <a:endParaRPr lang="en-US" sz="1700" b="0" i="0" kern="0" spc="0" dirty="0">
              <a:solidFill>
                <a:srgbClr val="032D60"/>
              </a:solidFill>
              <a:latin typeface="Salesforce Sans"/>
              <a:ea typeface="Salesforce Sans"/>
              <a:cs typeface="Salesforce Sans"/>
            </a:endParaRPr>
          </a:p>
        </p:txBody>
      </p:sp>
      <p:sp>
        <p:nvSpPr>
          <p:cNvPr id="1012" name="34 · step: 02Label remedies, units and relationships. [p34-text-0015]" descr="Native editable Unicode text; authored line breaks retained."/>
          <p:cNvSpPr txBox="1"/>
          <p:nvPr/>
        </p:nvSpPr>
        <p:spPr>
          <a:xfrm>
            <a:off x="6350000" y="32265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02</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Label remedies, units and relationships.</a:t>
            </a:r>
            <a:endParaRPr lang="en-US" sz="1700" b="0" i="0" kern="0" spc="0" dirty="0">
              <a:solidFill>
                <a:srgbClr val="032D60"/>
              </a:solidFill>
              <a:latin typeface="Salesforce Sans"/>
              <a:ea typeface="Salesforce Sans"/>
              <a:cs typeface="Salesforce Sans"/>
            </a:endParaRPr>
          </a:p>
        </p:txBody>
      </p:sp>
      <p:sp>
        <p:nvSpPr>
          <p:cNvPr id="1013" name="34 · step: 03Declare the node’s input view. [p34-text-0016]" descr="Native editable Unicode text; authored line breaks retained."/>
          <p:cNvSpPr txBox="1"/>
          <p:nvPr/>
        </p:nvSpPr>
        <p:spPr>
          <a:xfrm>
            <a:off x="6350000" y="3801783"/>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03</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Declare the node’s input view.</a:t>
            </a:r>
            <a:endParaRPr lang="en-US" sz="1700" b="0" i="0" kern="0" spc="0" dirty="0">
              <a:solidFill>
                <a:srgbClr val="032D60"/>
              </a:solidFill>
              <a:latin typeface="Salesforce Sans"/>
              <a:ea typeface="Salesforce Sans"/>
              <a:cs typeface="Salesforce Sans"/>
            </a:endParaRPr>
          </a:p>
        </p:txBody>
      </p:sp>
      <p:sp>
        <p:nvSpPr>
          <p:cNvPr id="1014" name="34 · step: 04Draw the guarded failure route. [p34-text-0017]" descr="Native editable Unicode text; authored line breaks retained."/>
          <p:cNvSpPr txBox="1"/>
          <p:nvPr/>
        </p:nvSpPr>
        <p:spPr>
          <a:xfrm>
            <a:off x="6350000" y="43770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04</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Draw the guarded failure route.</a:t>
            </a:r>
            <a:endParaRPr lang="en-US" sz="1700" b="0" i="0" kern="0" spc="0" dirty="0">
              <a:solidFill>
                <a:srgbClr val="032D60"/>
              </a:solidFill>
              <a:latin typeface="Salesforce Sans"/>
              <a:ea typeface="Salesforce Sans"/>
              <a:cs typeface="Salesforce Sans"/>
            </a:endParaRPr>
          </a:p>
        </p:txBody>
      </p:sp>
      <p:sp>
        <p:nvSpPr>
          <p:cNvPr id="1015" name="34 · step: 05Define complete-case acceptance. [p34-text-0018]" descr="Native editable Unicode text; authored line breaks retained."/>
          <p:cNvSpPr txBox="1"/>
          <p:nvPr/>
        </p:nvSpPr>
        <p:spPr>
          <a:xfrm>
            <a:off x="6350000" y="49522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05</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Define complete-case acceptance.</a:t>
            </a:r>
            <a:endParaRPr lang="en-US" sz="1700" b="0" i="0" kern="0" spc="0" dirty="0">
              <a:solidFill>
                <a:srgbClr val="032D60"/>
              </a:solidFill>
              <a:latin typeface="Salesforce Sans"/>
              <a:ea typeface="Salesforce Sans"/>
              <a:cs typeface="Salesforce Sans"/>
            </a:endParaRPr>
          </a:p>
        </p:txBody>
      </p:sp>
      <p:sp>
        <p:nvSpPr>
          <p:cNvPr id="1016" name="34 · close-text-1: Agentforce coordinates the work within quality, cost and latency limits. [p34-text-0019]" descr="Native editable Unicode text; authored line breaks retained."/>
          <p:cNvSpPr txBox="1"/>
          <p:nvPr/>
        </p:nvSpPr>
        <p:spPr>
          <a:xfrm>
            <a:off x="558800" y="4850397"/>
            <a:ext cx="52959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Agentforce coordinates the work</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within quality, cost and latency limits.</a:t>
            </a:r>
            <a:endParaRPr lang="en-US" sz="1900" b="0" i="0" kern="0" spc="-10" dirty="0">
              <a:solidFill>
                <a:srgbClr val="032D60">
                  <a:alpha val="86000"/>
                </a:srgbClr>
              </a:solidFill>
              <a:latin typeface="Salesforce Sans"/>
              <a:ea typeface="Salesforce Sans"/>
              <a:cs typeface="Salesforce Sans"/>
            </a:endParaRPr>
          </a:p>
        </p:txBody>
      </p:sp>
      <p:grpSp>
        <p:nvGrpSpPr>
          <p:cNvPr id="1022" name="34 · source-line: Agent Graph / guided determinism · AgentScript control plane · Composable A"/>
          <p:cNvGrpSpPr/>
          <p:nvPr/>
        </p:nvGrpSpPr>
        <p:grpSpPr>
          <a:xfrm>
            <a:off x="558800" y="6037898"/>
            <a:ext cx="11087100" cy="284456"/>
            <a:chOff x="558800" y="6037898"/>
            <a:chExt cx="11087100" cy="284456"/>
          </a:xfrm>
        </p:grpSpPr>
        <p:sp>
          <p:nvSpPr>
            <p:cNvPr id="1017" name="34 · source-line · top border [p34-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34 · span: Agent Graph / guided determinism · AgentScript control plane · Composable AI · [p34-text-0020]" descr="Native editable Unicode text; authored line breaks retained."/>
            <p:cNvSpPr txBox="1"/>
            <p:nvPr/>
          </p:nvSpPr>
          <p:spPr>
            <a:xfrm>
              <a:off x="558800" y="6153126"/>
              <a:ext cx="700712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Throughline source check</a:t>
              </a:r>
              <a:endParaRPr lang="en-US" sz="950" b="0" i="0" kern="0" spc="0" dirty="0" u="sng">
                <a:solidFill>
                  <a:srgbClr val="315A7A"/>
                </a:solidFill>
                <a:latin typeface="Salesforce Sans"/>
                <a:ea typeface="Salesforce Sans"/>
                <a:cs typeface="Salesforce Sans"/>
              </a:endParaRPr>
            </a:p>
          </p:txBody>
        </p:sp>
        <p:sp>
          <p:nvSpPr>
            <p:cNvPr id="1019" name="34 · span: Synthesis [p34-text-0021]" descr="Native editable Unicode text; authored line breaks retained."/>
            <p:cNvSpPr txBox="1"/>
            <p:nvPr/>
          </p:nvSpPr>
          <p:spPr>
            <a:xfrm>
              <a:off x="11111985" y="6153126"/>
              <a:ext cx="53391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Read the evidence behind the architecture">
    <p:bg>
      <p:bgPr>
        <a:solidFill>
          <a:srgbClr val="FFFFFF"/>
        </a:solidFill>
      </p:bgPr>
    </p:bg>
    <p:spTree>
      <p:nvGrpSpPr>
        <p:cNvPr id="1" name=""/>
        <p:cNvGrpSpPr/>
        <p:nvPr/>
      </p:nvGrpSpPr>
      <p:grpSpPr>
        <a:xfrm>
          <a:off x="0" y="0"/>
          <a:ext cx="0" cy="0"/>
          <a:chOff x="0" y="0"/>
          <a:chExt cx="0" cy="0"/>
        </a:xfrm>
      </p:grpSpPr>
      <p:sp>
        <p:nvSpPr>
          <p:cNvPr id="1000" name="35 · slide light · surface [p3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5 · chrome-min: DISAGGREGATED INTELLIGENCE"/>
          <p:cNvGrpSpPr/>
          <p:nvPr/>
        </p:nvGrpSpPr>
        <p:grpSpPr>
          <a:xfrm>
            <a:off x="558800" y="356053"/>
            <a:ext cx="11087100" cy="187325"/>
            <a:chOff x="558800" y="356053"/>
            <a:chExt cx="11087100" cy="187325"/>
          </a:xfrm>
        </p:grpSpPr>
        <p:sp>
          <p:nvSpPr>
            <p:cNvPr id="1001" name="35 · l: DISAGGREGATED INTELLIGENCE [p35-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5 · r: 35 / 36 [p35-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35 / 36</a:t>
              </a:r>
              <a:endParaRPr lang="en-US" sz="950" b="1" i="0" kern="0" spc="65" dirty="0">
                <a:solidFill>
                  <a:srgbClr val="022AC0"/>
                </a:solidFill>
                <a:latin typeface="Salesforce Sans"/>
                <a:ea typeface="Salesforce Sans"/>
                <a:cs typeface="Salesforce Sans"/>
              </a:endParaRPr>
            </a:p>
          </p:txBody>
        </p:sp>
      </p:grpSp>
      <p:grpSp>
        <p:nvGrpSpPr>
          <p:cNvPr id="1037" name="35 · deck-head: REFERENCE / FURTHER STUDY"/>
          <p:cNvGrpSpPr/>
          <p:nvPr/>
        </p:nvGrpSpPr>
        <p:grpSpPr>
          <a:xfrm>
            <a:off x="558800" y="775901"/>
            <a:ext cx="11087100" cy="871263"/>
            <a:chOff x="558800" y="775901"/>
            <a:chExt cx="11087100" cy="871263"/>
          </a:xfrm>
        </p:grpSpPr>
        <p:sp>
          <p:nvSpPr>
            <p:cNvPr id="1003" name="35 · sources-eyebrow: REFERENCE / FURTHER STUDY [p35-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REFERENCE / FURTHER STUDY</a:t>
              </a:r>
              <a:endParaRPr lang="en-US" sz="1050" b="1" i="0" kern="0" spc="68" dirty="0">
                <a:solidFill>
                  <a:srgbClr val="022AC0"/>
                </a:solidFill>
                <a:latin typeface="Salesforce Sans"/>
                <a:ea typeface="Salesforce Sans"/>
                <a:cs typeface="Salesforce Sans"/>
              </a:endParaRPr>
            </a:p>
          </p:txBody>
        </p:sp>
        <p:sp>
          <p:nvSpPr>
            <p:cNvPr id="1004" name="35 · sources-title: Read the evidence behind the architecture [p35-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Read the evidence behind the architecture</a:t>
              </a:r>
              <a:endParaRPr lang="en-US" sz="3600" b="1" i="0" kern="0" spc="-95" dirty="0">
                <a:solidFill>
                  <a:srgbClr val="022AC0"/>
                </a:solidFill>
                <a:latin typeface="Manrope"/>
                <a:ea typeface="Manrope"/>
                <a:cs typeface="Manrope"/>
              </a:endParaRPr>
            </a:p>
          </p:txBody>
        </p:sp>
      </p:grpSp>
      <p:grpSp>
        <p:nvGrpSpPr>
          <p:cNvPr id="1038" name="35 · brief-card: "/>
          <p:cNvGrpSpPr/>
          <p:nvPr/>
        </p:nvGrpSpPr>
        <p:grpSpPr>
          <a:xfrm>
            <a:off x="558800" y="1854200"/>
            <a:ext cx="3581400" cy="4178300"/>
            <a:chOff x="558800" y="1854200"/>
            <a:chExt cx="3581400" cy="4178300"/>
          </a:xfrm>
        </p:grpSpPr>
        <p:sp>
          <p:nvSpPr>
            <p:cNvPr id="1005" name="35 · brief-card · surface [p35-e0008]"/>
            <p:cNvSpPr/>
            <p:nvPr/>
          </p:nvSpPr>
          <p:spPr>
            <a:xfrm>
              <a:off x="558800" y="1854200"/>
              <a:ext cx="3581400" cy="4178300"/>
            </a:xfrm>
            <a:prstGeom prst="roundRect">
              <a:avLst>
                <a:gd name="adj" fmla="val 3901"/>
              </a:avLst>
            </a:prstGeom>
            <a:solidFill>
              <a:srgbClr val="FFFFFF">
                <a:alpha val="39608"/>
              </a:srgbClr>
            </a:solidFill>
            <a:ln>
              <a:noFill/>
            </a:ln>
          </p:spPr>
        </p:sp>
        <p:sp>
          <p:nvSpPr>
            <p:cNvPr id="1006" name="35 · brief-card · outline [p35-e0008]"/>
            <p:cNvSpPr/>
            <p:nvPr/>
          </p:nvSpPr>
          <p:spPr>
            <a:xfrm>
              <a:off x="561975" y="1857375"/>
              <a:ext cx="3575050" cy="4171950"/>
            </a:xfrm>
            <a:prstGeom prst="roundRect">
              <a:avLst>
                <a:gd name="adj" fmla="val 3819"/>
              </a:avLst>
            </a:prstGeom>
            <a:noFill/>
            <a:ln w="6350" algn="ctr">
              <a:solidFill>
                <a:srgbClr val="FFFFFF">
                  <a:alpha val="85098"/>
                </a:srgbClr>
              </a:solidFill>
              <a:prstDash val="solid"/>
            </a:ln>
          </p:spPr>
        </p:sp>
      </p:grpSp>
      <p:grpSp>
        <p:nvGrpSpPr>
          <p:cNvPr id="1039" name="35 · brief-card: "/>
          <p:cNvGrpSpPr/>
          <p:nvPr/>
        </p:nvGrpSpPr>
        <p:grpSpPr>
          <a:xfrm>
            <a:off x="4305300" y="1854200"/>
            <a:ext cx="3581400" cy="4178300"/>
            <a:chOff x="4305300" y="1854200"/>
            <a:chExt cx="3581400" cy="4178300"/>
          </a:xfrm>
        </p:grpSpPr>
        <p:sp>
          <p:nvSpPr>
            <p:cNvPr id="1007" name="35 · brief-card · surface [p35-e0009]"/>
            <p:cNvSpPr/>
            <p:nvPr/>
          </p:nvSpPr>
          <p:spPr>
            <a:xfrm>
              <a:off x="4305300" y="1854200"/>
              <a:ext cx="3581400" cy="4178300"/>
            </a:xfrm>
            <a:prstGeom prst="roundRect">
              <a:avLst>
                <a:gd name="adj" fmla="val 3901"/>
              </a:avLst>
            </a:prstGeom>
            <a:solidFill>
              <a:srgbClr val="FFFFFF">
                <a:alpha val="39608"/>
              </a:srgbClr>
            </a:solidFill>
            <a:ln>
              <a:noFill/>
            </a:ln>
          </p:spPr>
        </p:sp>
        <p:sp>
          <p:nvSpPr>
            <p:cNvPr id="1008" name="35 · brief-card · outline [p35-e0009]"/>
            <p:cNvSpPr/>
            <p:nvPr/>
          </p:nvSpPr>
          <p:spPr>
            <a:xfrm>
              <a:off x="4308475" y="1857375"/>
              <a:ext cx="3575050" cy="4171950"/>
            </a:xfrm>
            <a:prstGeom prst="roundRect">
              <a:avLst>
                <a:gd name="adj" fmla="val 3819"/>
              </a:avLst>
            </a:prstGeom>
            <a:noFill/>
            <a:ln w="6350" algn="ctr">
              <a:solidFill>
                <a:srgbClr val="FFFFFF">
                  <a:alpha val="85098"/>
                </a:srgbClr>
              </a:solidFill>
              <a:prstDash val="solid"/>
            </a:ln>
          </p:spPr>
        </p:sp>
      </p:grpSp>
      <p:grpSp>
        <p:nvGrpSpPr>
          <p:cNvPr id="1040" name="35 · brief-card: "/>
          <p:cNvGrpSpPr/>
          <p:nvPr/>
        </p:nvGrpSpPr>
        <p:grpSpPr>
          <a:xfrm>
            <a:off x="8051800" y="1854200"/>
            <a:ext cx="3581400" cy="4178300"/>
            <a:chOff x="8051800" y="1854200"/>
            <a:chExt cx="3581400" cy="4178300"/>
          </a:xfrm>
        </p:grpSpPr>
        <p:sp>
          <p:nvSpPr>
            <p:cNvPr id="1009" name="35 · brief-card · surface [p35-e0010]"/>
            <p:cNvSpPr/>
            <p:nvPr/>
          </p:nvSpPr>
          <p:spPr>
            <a:xfrm>
              <a:off x="8051800" y="1854200"/>
              <a:ext cx="3581400" cy="4178300"/>
            </a:xfrm>
            <a:prstGeom prst="roundRect">
              <a:avLst>
                <a:gd name="adj" fmla="val 3901"/>
              </a:avLst>
            </a:prstGeom>
            <a:solidFill>
              <a:srgbClr val="FFFFFF">
                <a:alpha val="39608"/>
              </a:srgbClr>
            </a:solidFill>
            <a:ln>
              <a:noFill/>
            </a:ln>
          </p:spPr>
        </p:sp>
        <p:sp>
          <p:nvSpPr>
            <p:cNvPr id="1010" name="35 · brief-card · outline [p35-e0010]"/>
            <p:cNvSpPr/>
            <p:nvPr/>
          </p:nvSpPr>
          <p:spPr>
            <a:xfrm>
              <a:off x="8054975" y="1857375"/>
              <a:ext cx="3575050" cy="4171950"/>
            </a:xfrm>
            <a:prstGeom prst="roundRect">
              <a:avLst>
                <a:gd name="adj" fmla="val 3819"/>
              </a:avLst>
            </a:prstGeom>
            <a:noFill/>
            <a:ln w="6350" algn="ctr">
              <a:solidFill>
                <a:srgbClr val="FFFFFF">
                  <a:alpha val="85098"/>
                </a:srgbClr>
              </a:solidFill>
              <a:prstDash val="solid"/>
            </a:ln>
          </p:spPr>
        </p:sp>
      </p:grpSp>
      <p:grpSp>
        <p:nvGrpSpPr>
          <p:cNvPr id="1041" name="35 · brief-card: Salesforce control"/>
          <p:cNvGrpSpPr/>
          <p:nvPr/>
        </p:nvGrpSpPr>
        <p:grpSpPr>
          <a:xfrm>
            <a:off x="793750" y="2027429"/>
            <a:ext cx="3124200" cy="2455195"/>
            <a:chOff x="793750" y="2027429"/>
            <a:chExt cx="3124200" cy="2455195"/>
          </a:xfrm>
        </p:grpSpPr>
        <p:sp>
          <p:nvSpPr>
            <p:cNvPr id="1011" name="35 · sources-text-1: Salesforce control [p35-text-0011]" descr="Native editable Unicode text; authored line breaks retained."/>
            <p:cNvSpPr txBox="1"/>
            <p:nvPr/>
          </p:nvSpPr>
          <p:spPr>
            <a:xfrm>
              <a:off x="793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Salesforce control</a:t>
              </a:r>
              <a:endParaRPr lang="en-US" sz="2000" b="1" i="0" kern="0" spc="-38" dirty="0">
                <a:solidFill>
                  <a:srgbClr val="022AC0"/>
                </a:solidFill>
                <a:latin typeface="Manrope"/>
                <a:ea typeface="Manrope"/>
                <a:cs typeface="Manrope"/>
              </a:endParaRPr>
            </a:p>
          </p:txBody>
        </p:sp>
        <p:sp>
          <p:nvSpPr>
            <p:cNvPr id="1012" name="35 · li: Agent Graph / guided determinism ↗ [p35-text-0012]" descr="Native editable Unicode text; authored line breaks retained."/>
            <p:cNvSpPr txBox="1"/>
            <p:nvPr/>
          </p:nvSpPr>
          <p:spPr>
            <a:xfrm>
              <a:off x="793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3" tooltip="Agent Graph / guided determinism ↗"/>
                </a:rPr>
                <a:t>Agent Graph / guided determinism ↗</a:t>
              </a:r>
              <a:endParaRPr lang="en-US" sz="1250" b="0" i="0" kern="0" spc="0" dirty="0" u="sng">
                <a:solidFill>
                  <a:srgbClr val="032D60"/>
                </a:solidFill>
                <a:latin typeface="Salesforce Sans"/>
                <a:ea typeface="Salesforce Sans"/>
                <a:cs typeface="Salesforce Sans"/>
              </a:endParaRPr>
            </a:p>
          </p:txBody>
        </p:sp>
        <p:sp>
          <p:nvSpPr>
            <p:cNvPr id="1013" name="35 · li: Reliable enterprise agents ↗ [p35-text-0013]" descr="Native editable Unicode text; authored line breaks retained."/>
            <p:cNvSpPr txBox="1"/>
            <p:nvPr/>
          </p:nvSpPr>
          <p:spPr>
            <a:xfrm>
              <a:off x="793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4" tooltip="Reliable enterprise agents ↗"/>
                </a:rPr>
                <a:t>Reliable enterprise agents ↗</a:t>
              </a:r>
              <a:endParaRPr lang="en-US" sz="1250" b="0" i="0" kern="0" spc="0" dirty="0" u="sng">
                <a:solidFill>
                  <a:srgbClr val="032D60"/>
                </a:solidFill>
                <a:latin typeface="Salesforce Sans"/>
                <a:ea typeface="Salesforce Sans"/>
                <a:cs typeface="Salesforce Sans"/>
              </a:endParaRPr>
            </a:p>
          </p:txBody>
        </p:sp>
        <p:sp>
          <p:nvSpPr>
            <p:cNvPr id="1014" name="35 · li: AgentScript control plane ↗ [p35-text-0014]" descr="Native editable Unicode text; authored line breaks retained."/>
            <p:cNvSpPr txBox="1"/>
            <p:nvPr/>
          </p:nvSpPr>
          <p:spPr>
            <a:xfrm>
              <a:off x="793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5" tooltip="AgentScript control plane ↗"/>
                </a:rPr>
                <a:t>AgentScript control plane ↗</a:t>
              </a:r>
              <a:endParaRPr lang="en-US" sz="1250" b="0" i="0" kern="0" spc="0" dirty="0" u="sng">
                <a:solidFill>
                  <a:srgbClr val="032D60"/>
                </a:solidFill>
                <a:latin typeface="Salesforce Sans"/>
                <a:ea typeface="Salesforce Sans"/>
                <a:cs typeface="Salesforce Sans"/>
              </a:endParaRPr>
            </a:p>
          </p:txBody>
        </p:sp>
        <p:sp>
          <p:nvSpPr>
            <p:cNvPr id="1015" name="35 · li: AgentScript specification ↗ [p35-text-0015]" descr="Native editable Unicode text; authored line breaks retained."/>
            <p:cNvSpPr txBox="1"/>
            <p:nvPr/>
          </p:nvSpPr>
          <p:spPr>
            <a:xfrm>
              <a:off x="793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6" tooltip="AgentScript specification ↗"/>
                </a:rPr>
                <a:t>AgentScript specification ↗</a:t>
              </a:r>
              <a:endParaRPr lang="en-US" sz="1250" b="0" i="0" kern="0" spc="0" dirty="0" u="sng">
                <a:solidFill>
                  <a:srgbClr val="032D60"/>
                </a:solidFill>
                <a:latin typeface="Salesforce Sans"/>
                <a:ea typeface="Salesforce Sans"/>
                <a:cs typeface="Salesforce Sans"/>
              </a:endParaRPr>
            </a:p>
          </p:txBody>
        </p:sp>
        <p:sp>
          <p:nvSpPr>
            <p:cNvPr id="1016" name="35 · li: All sources and claim boundaries ↗ [p35-text-0016]" descr="Native editable Unicode text; authored line breaks retained."/>
            <p:cNvSpPr txBox="1"/>
            <p:nvPr/>
          </p:nvSpPr>
          <p:spPr>
            <a:xfrm>
              <a:off x="793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All sources and claim boundaries ↗</a:t>
              </a:r>
              <a:endParaRPr lang="en-US" sz="1250" b="0" i="0" kern="0" spc="0" dirty="0" u="sng">
                <a:solidFill>
                  <a:srgbClr val="032D60"/>
                </a:solidFill>
                <a:latin typeface="Salesforce Sans"/>
                <a:ea typeface="Salesforce Sans"/>
                <a:cs typeface="Salesforce Sans"/>
              </a:endParaRPr>
            </a:p>
          </p:txBody>
        </p:sp>
        <p:sp>
          <p:nvSpPr>
            <p:cNvPr id="1017" name="35 · li: Tutorial handout and notes ↗ [p35-text-0017]" descr="Native editable Unicode text; authored line breaks retained."/>
            <p:cNvSpPr txBox="1"/>
            <p:nvPr/>
          </p:nvSpPr>
          <p:spPr>
            <a:xfrm>
              <a:off x="793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Tutorial handout and notes ↗</a:t>
              </a:r>
              <a:endParaRPr lang="en-US" sz="1250" b="0" i="0" kern="0" spc="0" dirty="0" u="sng">
                <a:solidFill>
                  <a:srgbClr val="032D60"/>
                </a:solidFill>
                <a:latin typeface="Salesforce Sans"/>
                <a:ea typeface="Salesforce Sans"/>
                <a:cs typeface="Salesforce Sans"/>
              </a:endParaRPr>
            </a:p>
          </p:txBody>
        </p:sp>
      </p:grpSp>
      <p:grpSp>
        <p:nvGrpSpPr>
          <p:cNvPr id="1042" name="35 · brief-card: Agent architecture"/>
          <p:cNvGrpSpPr/>
          <p:nvPr/>
        </p:nvGrpSpPr>
        <p:grpSpPr>
          <a:xfrm>
            <a:off x="4540250" y="2027429"/>
            <a:ext cx="3124200" cy="2102770"/>
            <a:chOff x="4540250" y="2027429"/>
            <a:chExt cx="3124200" cy="2102770"/>
          </a:xfrm>
        </p:grpSpPr>
        <p:sp>
          <p:nvSpPr>
            <p:cNvPr id="1018" name="35 · sources-text-2: Agent architecture [p35-text-0018]" descr="Native editable Unicode text; authored line breaks retained."/>
            <p:cNvSpPr txBox="1"/>
            <p:nvPr/>
          </p:nvSpPr>
          <p:spPr>
            <a:xfrm>
              <a:off x="45402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Agent architecture</a:t>
              </a:r>
              <a:endParaRPr lang="en-US" sz="2000" b="1" i="0" kern="0" spc="-38" dirty="0">
                <a:solidFill>
                  <a:srgbClr val="022AC0"/>
                </a:solidFill>
                <a:latin typeface="Manrope"/>
                <a:ea typeface="Manrope"/>
                <a:cs typeface="Manrope"/>
              </a:endParaRPr>
            </a:p>
          </p:txBody>
        </p:sp>
        <p:sp>
          <p:nvSpPr>
            <p:cNvPr id="1019" name="35 · li: Jev + LangGraph ↗ [p35-text-0019]" descr="Native editable Unicode text; authored line breaks retained."/>
            <p:cNvSpPr txBox="1"/>
            <p:nvPr/>
          </p:nvSpPr>
          <p:spPr>
            <a:xfrm>
              <a:off x="45402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7" tooltip="Jev + LangGraph ↗"/>
                </a:rPr>
                <a:t>Jev + LangGraph ↗</a:t>
              </a:r>
              <a:endParaRPr lang="en-US" sz="1250" b="0" i="0" kern="0" spc="0" dirty="0" u="sng">
                <a:solidFill>
                  <a:srgbClr val="032D60"/>
                </a:solidFill>
                <a:latin typeface="Salesforce Sans"/>
                <a:ea typeface="Salesforce Sans"/>
                <a:cs typeface="Salesforce Sans"/>
              </a:endParaRPr>
            </a:p>
          </p:txBody>
        </p:sp>
        <p:sp>
          <p:nvSpPr>
            <p:cNvPr id="1020" name="35 · li: A harness with Jev ↗ [p35-text-0020]" descr="Native editable Unicode text; authored line breaks retained."/>
            <p:cNvSpPr txBox="1"/>
            <p:nvPr/>
          </p:nvSpPr>
          <p:spPr>
            <a:xfrm>
              <a:off x="45402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8" tooltip="A harness with Jev ↗"/>
                </a:rPr>
                <a:t>A harness with Jev ↗</a:t>
              </a:r>
              <a:endParaRPr lang="en-US" sz="1250" b="0" i="0" kern="0" spc="0" dirty="0" u="sng">
                <a:solidFill>
                  <a:srgbClr val="032D60"/>
                </a:solidFill>
                <a:latin typeface="Salesforce Sans"/>
                <a:ea typeface="Salesforce Sans"/>
                <a:cs typeface="Salesforce Sans"/>
              </a:endParaRPr>
            </a:p>
          </p:txBody>
        </p:sp>
        <p:sp>
          <p:nvSpPr>
            <p:cNvPr id="1021" name="35 · li: Jev in LangSmith Evals ↗ [p35-text-0021]" descr="Native editable Unicode text; authored line breaks retained."/>
            <p:cNvSpPr txBox="1"/>
            <p:nvPr/>
          </p:nvSpPr>
          <p:spPr>
            <a:xfrm>
              <a:off x="45402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9" tooltip="Jev in LangSmith Evals ↗"/>
                </a:rPr>
                <a:t>Jev in LangSmith Evals ↗</a:t>
              </a:r>
              <a:endParaRPr lang="en-US" sz="1250" b="0" i="0" kern="0" spc="0" dirty="0" u="sng">
                <a:solidFill>
                  <a:srgbClr val="032D60"/>
                </a:solidFill>
                <a:latin typeface="Salesforce Sans"/>
                <a:ea typeface="Salesforce Sans"/>
                <a:cs typeface="Salesforce Sans"/>
              </a:endParaRPr>
            </a:p>
          </p:txBody>
        </p:sp>
        <p:sp>
          <p:nvSpPr>
            <p:cNvPr id="1022" name="35 · li: Jev-as-a-Judge ↗ [p35-text-0022]" descr="Native editable Unicode text; authored line breaks retained."/>
            <p:cNvSpPr txBox="1"/>
            <p:nvPr/>
          </p:nvSpPr>
          <p:spPr>
            <a:xfrm>
              <a:off x="45402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0" tooltip="Jev-as-a-Judge ↗"/>
                </a:rPr>
                <a:t>Jev-as-a-Judge ↗</a:t>
              </a:r>
              <a:endParaRPr lang="en-US" sz="1250" b="0" i="0" kern="0" spc="0" dirty="0" u="sng">
                <a:solidFill>
                  <a:srgbClr val="032D60"/>
                </a:solidFill>
                <a:latin typeface="Salesforce Sans"/>
                <a:ea typeface="Salesforce Sans"/>
                <a:cs typeface="Salesforce Sans"/>
              </a:endParaRPr>
            </a:p>
          </p:txBody>
        </p:sp>
        <p:sp>
          <p:nvSpPr>
            <p:cNvPr id="1023" name="35 · li: Runtime, framework, harness ↗ [p35-text-0023]" descr="Native editable Unicode text; authored line breaks retained."/>
            <p:cNvSpPr txBox="1"/>
            <p:nvPr/>
          </p:nvSpPr>
          <p:spPr>
            <a:xfrm>
              <a:off x="45402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1" tooltip="Runtime, framework, harness ↗"/>
                </a:rPr>
                <a:t>Runtime, framework, harness ↗</a:t>
              </a:r>
              <a:endParaRPr lang="en-US" sz="1250" b="0" i="0" kern="0" spc="0" dirty="0" u="sng">
                <a:solidFill>
                  <a:srgbClr val="032D60"/>
                </a:solidFill>
                <a:latin typeface="Salesforce Sans"/>
                <a:ea typeface="Salesforce Sans"/>
                <a:cs typeface="Salesforce Sans"/>
              </a:endParaRPr>
            </a:p>
          </p:txBody>
        </p:sp>
      </p:grpSp>
      <p:grpSp>
        <p:nvGrpSpPr>
          <p:cNvPr id="1043" name="35 · brief-card: Decision patterns"/>
          <p:cNvGrpSpPr/>
          <p:nvPr/>
        </p:nvGrpSpPr>
        <p:grpSpPr>
          <a:xfrm>
            <a:off x="8286750" y="2027429"/>
            <a:ext cx="3124200" cy="3160045"/>
            <a:chOff x="8286750" y="2027429"/>
            <a:chExt cx="3124200" cy="3160045"/>
          </a:xfrm>
        </p:grpSpPr>
        <p:sp>
          <p:nvSpPr>
            <p:cNvPr id="1024" name="35 · sources-text-3: Decision patterns [p35-text-0024]" descr="Native editable Unicode text; authored line breaks retained."/>
            <p:cNvSpPr txBox="1"/>
            <p:nvPr/>
          </p:nvSpPr>
          <p:spPr>
            <a:xfrm>
              <a:off x="8286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Decision patterns</a:t>
              </a:r>
              <a:endParaRPr lang="en-US" sz="2000" b="1" i="0" kern="0" spc="-38" dirty="0">
                <a:solidFill>
                  <a:srgbClr val="022AC0"/>
                </a:solidFill>
                <a:latin typeface="Manrope"/>
                <a:ea typeface="Manrope"/>
                <a:cs typeface="Manrope"/>
              </a:endParaRPr>
            </a:p>
          </p:txBody>
        </p:sp>
        <p:sp>
          <p:nvSpPr>
            <p:cNvPr id="1025" name="35 · li: Composable AI ↗ [p35-text-0025]" descr="Native editable Unicode text; authored line breaks retained."/>
            <p:cNvSpPr txBox="1"/>
            <p:nvPr/>
          </p:nvSpPr>
          <p:spPr>
            <a:xfrm>
              <a:off x="8286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2" tooltip="Composable AI ↗"/>
                </a:rPr>
                <a:t>Composable AI ↗</a:t>
              </a:r>
              <a:endParaRPr lang="en-US" sz="1250" b="0" i="0" kern="0" spc="0" dirty="0" u="sng">
                <a:solidFill>
                  <a:srgbClr val="032D60"/>
                </a:solidFill>
                <a:latin typeface="Salesforce Sans"/>
                <a:ea typeface="Salesforce Sans"/>
                <a:cs typeface="Salesforce Sans"/>
              </a:endParaRPr>
            </a:p>
          </p:txBody>
        </p:sp>
        <p:sp>
          <p:nvSpPr>
            <p:cNvPr id="1026" name="35 · li: TypeSafe quickstart ↗ [p35-text-0026]" descr="Native editable Unicode text; authored line breaks retained."/>
            <p:cNvSpPr txBox="1"/>
            <p:nvPr/>
          </p:nvSpPr>
          <p:spPr>
            <a:xfrm>
              <a:off x="8286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3" tooltip="TypeSafe quickstart ↗"/>
                </a:rPr>
                <a:t>TypeSafe quickstart ↗</a:t>
              </a:r>
              <a:endParaRPr lang="en-US" sz="1250" b="0" i="0" kern="0" spc="0" dirty="0" u="sng">
                <a:solidFill>
                  <a:srgbClr val="032D60"/>
                </a:solidFill>
                <a:latin typeface="Salesforce Sans"/>
                <a:ea typeface="Salesforce Sans"/>
                <a:cs typeface="Salesforce Sans"/>
              </a:endParaRPr>
            </a:p>
          </p:txBody>
        </p:sp>
        <p:sp>
          <p:nvSpPr>
            <p:cNvPr id="1027" name="35 · li: Confidence routing ↗ [p35-text-0027]" descr="Native editable Unicode text; authored line breaks retained."/>
            <p:cNvSpPr txBox="1"/>
            <p:nvPr/>
          </p:nvSpPr>
          <p:spPr>
            <a:xfrm>
              <a:off x="8286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4" tooltip="Confidence routing ↗"/>
                </a:rPr>
                <a:t>Confidence routing ↗</a:t>
              </a:r>
              <a:endParaRPr lang="en-US" sz="1250" b="0" i="0" kern="0" spc="0" dirty="0" u="sng">
                <a:solidFill>
                  <a:srgbClr val="032D60"/>
                </a:solidFill>
                <a:latin typeface="Salesforce Sans"/>
                <a:ea typeface="Salesforce Sans"/>
                <a:cs typeface="Salesforce Sans"/>
              </a:endParaRPr>
            </a:p>
          </p:txBody>
        </p:sp>
        <p:sp>
          <p:nvSpPr>
            <p:cNvPr id="1028" name="35 · li: Intent routing ↗ [p35-text-0028]" descr="Native editable Unicode text; authored line breaks retained."/>
            <p:cNvSpPr txBox="1"/>
            <p:nvPr/>
          </p:nvSpPr>
          <p:spPr>
            <a:xfrm>
              <a:off x="8286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5" tooltip="Intent routing ↗"/>
                </a:rPr>
                <a:t>Intent routing ↗</a:t>
              </a:r>
              <a:endParaRPr lang="en-US" sz="1250" b="0" i="0" kern="0" spc="0" dirty="0" u="sng">
                <a:solidFill>
                  <a:srgbClr val="032D60"/>
                </a:solidFill>
                <a:latin typeface="Salesforce Sans"/>
                <a:ea typeface="Salesforce Sans"/>
                <a:cs typeface="Salesforce Sans"/>
              </a:endParaRPr>
            </a:p>
          </p:txBody>
        </p:sp>
        <p:sp>
          <p:nvSpPr>
            <p:cNvPr id="1029" name="35 · li: Structured decision criteria ↗ [p35-text-0029]" descr="Native editable Unicode text; authored line breaks retained."/>
            <p:cNvSpPr txBox="1"/>
            <p:nvPr/>
          </p:nvSpPr>
          <p:spPr>
            <a:xfrm>
              <a:off x="8286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6" tooltip="Structured decision criteria ↗"/>
                </a:rPr>
                <a:t>Structured decision criteria ↗</a:t>
              </a:r>
              <a:endParaRPr lang="en-US" sz="1250" b="0" i="0" kern="0" spc="0" dirty="0" u="sng">
                <a:solidFill>
                  <a:srgbClr val="032D60"/>
                </a:solidFill>
                <a:latin typeface="Salesforce Sans"/>
                <a:ea typeface="Salesforce Sans"/>
                <a:cs typeface="Salesforce Sans"/>
              </a:endParaRPr>
            </a:p>
          </p:txBody>
        </p:sp>
        <p:sp>
          <p:nvSpPr>
            <p:cNvPr id="1030" name="35 · li: Building with System One ↗ [p35-text-0030]" descr="Native editable Unicode text; authored line breaks retained."/>
            <p:cNvSpPr txBox="1"/>
            <p:nvPr/>
          </p:nvSpPr>
          <p:spPr>
            <a:xfrm>
              <a:off x="8286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7" tooltip="Building with System One ↗"/>
                </a:rPr>
                <a:t>Building with System One ↗</a:t>
              </a:r>
              <a:endParaRPr lang="en-US" sz="1250" b="0" i="0" kern="0" spc="0" dirty="0" u="sng">
                <a:solidFill>
                  <a:srgbClr val="032D60"/>
                </a:solidFill>
                <a:latin typeface="Salesforce Sans"/>
                <a:ea typeface="Salesforce Sans"/>
                <a:cs typeface="Salesforce Sans"/>
              </a:endParaRPr>
            </a:p>
          </p:txBody>
        </p:sp>
        <p:sp>
          <p:nvSpPr>
            <p:cNvPr id="1031" name="35 · li: Aftercare walkthrough + evaluation ↗ [p35-text-0031]" descr="Native editable Unicode text; authored line breaks retained."/>
            <p:cNvSpPr txBox="1"/>
            <p:nvPr/>
          </p:nvSpPr>
          <p:spPr>
            <a:xfrm>
              <a:off x="8286750" y="46032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Aftercare walkthrough + evaluation ↗</a:t>
              </a:r>
              <a:endParaRPr lang="en-US" sz="1250" b="0" i="0" kern="0" spc="0" dirty="0" u="sng">
                <a:solidFill>
                  <a:srgbClr val="032D60"/>
                </a:solidFill>
                <a:latin typeface="Salesforce Sans"/>
                <a:ea typeface="Salesforce Sans"/>
                <a:cs typeface="Salesforce Sans"/>
              </a:endParaRPr>
            </a:p>
          </p:txBody>
        </p:sp>
        <p:sp>
          <p:nvSpPr>
            <p:cNvPr id="1032" name="35 · li: Full training pipeline ↗ [p35-text-0032]" descr="Native editable Unicode text; authored line breaks retained."/>
            <p:cNvSpPr txBox="1"/>
            <p:nvPr/>
          </p:nvSpPr>
          <p:spPr>
            <a:xfrm>
              <a:off x="8286750" y="49556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Full training pipeline ↗</a:t>
              </a:r>
              <a:endParaRPr lang="en-US" sz="1250" b="0" i="0" kern="0" spc="0" dirty="0" u="sng">
                <a:solidFill>
                  <a:srgbClr val="032D60"/>
                </a:solidFill>
                <a:latin typeface="Salesforce Sans"/>
                <a:ea typeface="Salesforce Sans"/>
                <a:cs typeface="Salesforce Sans"/>
              </a:endParaRPr>
            </a:p>
          </p:txBody>
        </p:sp>
      </p:grpSp>
      <p:grpSp>
        <p:nvGrpSpPr>
          <p:cNvPr id="1044" name="35 · source-line: Guided determinism tutorial · Confidence semantics"/>
          <p:cNvGrpSpPr/>
          <p:nvPr/>
        </p:nvGrpSpPr>
        <p:grpSpPr>
          <a:xfrm>
            <a:off x="558800" y="6037898"/>
            <a:ext cx="11087100" cy="284456"/>
            <a:chOff x="558800" y="6037898"/>
            <a:chExt cx="11087100" cy="284456"/>
          </a:xfrm>
        </p:grpSpPr>
        <p:sp>
          <p:nvSpPr>
            <p:cNvPr id="1033" name="35 · source-line · top border [p35-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5 · span: Guided determinism tutorial · Confidence semantics [p35-text-0033]" descr="Native editable Unicode text; authored line breaks retained."/>
            <p:cNvSpPr txBox="1"/>
            <p:nvPr/>
          </p:nvSpPr>
          <p:spPr>
            <a:xfrm>
              <a:off x="558800" y="6153126"/>
              <a:ext cx="29358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18" tooltip="Guided determinism tutorial"/>
                </a:rPr>
                <a:t>Guided determinism tutorial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19"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35" name="35 · span: Sources link to original pages [p35-text-0034]" descr="Native editable Unicode text; authored line breaks retained."/>
            <p:cNvSpPr txBox="1"/>
            <p:nvPr/>
          </p:nvSpPr>
          <p:spPr>
            <a:xfrm>
              <a:off x="10011873" y="6153126"/>
              <a:ext cx="163402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Sources link to original pages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6.xml><?xml version="1.0" encoding="utf-8"?>
<p:sld xmlns:a="http://schemas.openxmlformats.org/drawingml/2006/main" xmlns:p="http://schemas.openxmlformats.org/presentationml/2006/main">
  <p:cSld name="Reuse the visual vocabulary in another workflow">
    <p:bg>
      <p:bgPr>
        <a:solidFill>
          <a:srgbClr val="FFFFFF"/>
        </a:solidFill>
      </p:bgPr>
    </p:bg>
    <p:spTree>
      <p:nvGrpSpPr>
        <p:cNvPr id="1" name=""/>
        <p:cNvGrpSpPr/>
        <p:nvPr/>
      </p:nvGrpSpPr>
      <p:grpSpPr>
        <a:xfrm>
          <a:off x="0" y="0"/>
          <a:ext cx="0" cy="0"/>
          <a:chOff x="0" y="0"/>
          <a:chExt cx="0" cy="0"/>
        </a:xfrm>
      </p:grpSpPr>
      <p:sp>
        <p:nvSpPr>
          <p:cNvPr id="1000" name="36 · slide light · surface [p3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41" name="36 · chrome-min: DISAGGREGATED INTELLIGENCE"/>
          <p:cNvGrpSpPr/>
          <p:nvPr/>
        </p:nvGrpSpPr>
        <p:grpSpPr>
          <a:xfrm>
            <a:off x="558800" y="356053"/>
            <a:ext cx="11087100" cy="187325"/>
            <a:chOff x="558800" y="356053"/>
            <a:chExt cx="11087100" cy="187325"/>
          </a:xfrm>
        </p:grpSpPr>
        <p:sp>
          <p:nvSpPr>
            <p:cNvPr id="1001" name="36 · l: DISAGGREGATED INTELLIGENCE [p3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6 · r: 36 / 36 [p3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36 / 36</a:t>
              </a:r>
              <a:endParaRPr lang="en-US" sz="950" b="1" i="0" kern="0" spc="65" dirty="0">
                <a:solidFill>
                  <a:srgbClr val="022AC0"/>
                </a:solidFill>
                <a:latin typeface="Salesforce Sans"/>
                <a:ea typeface="Salesforce Sans"/>
                <a:cs typeface="Salesforce Sans"/>
              </a:endParaRPr>
            </a:p>
          </p:txBody>
        </p:sp>
      </p:grpSp>
      <p:grpSp>
        <p:nvGrpSpPr>
          <p:cNvPr id="1142" name="36 · deck-head: APPENDIX / A REUSABLE VISUAL VOCABULARY"/>
          <p:cNvGrpSpPr/>
          <p:nvPr/>
        </p:nvGrpSpPr>
        <p:grpSpPr>
          <a:xfrm>
            <a:off x="558800" y="775901"/>
            <a:ext cx="11087100" cy="871263"/>
            <a:chOff x="558800" y="775901"/>
            <a:chExt cx="11087100" cy="871263"/>
          </a:xfrm>
        </p:grpSpPr>
        <p:sp>
          <p:nvSpPr>
            <p:cNvPr id="1003" name="36 · returns-components-eyebrow: APPENDIX / A REUSABLE VISUAL VOCABULARY [p3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APPENDIX / A REUSABLE VISUAL VOCABULARY</a:t>
              </a:r>
              <a:endParaRPr lang="en-US" sz="1050" b="1" i="0" kern="0" spc="68" dirty="0">
                <a:solidFill>
                  <a:srgbClr val="022AC0"/>
                </a:solidFill>
                <a:latin typeface="Salesforce Sans"/>
                <a:ea typeface="Salesforce Sans"/>
                <a:cs typeface="Salesforce Sans"/>
              </a:endParaRPr>
            </a:p>
          </p:txBody>
        </p:sp>
        <p:sp>
          <p:nvSpPr>
            <p:cNvPr id="1004" name="36 · returns-components-title: Reuse the visual vocabulary in another workflow [p3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Reuse the visual vocabulary in another workflow</a:t>
              </a:r>
              <a:endParaRPr lang="en-US" sz="3600" b="1" i="0" kern="0" spc="-95" dirty="0">
                <a:solidFill>
                  <a:srgbClr val="022AC0"/>
                </a:solidFill>
                <a:latin typeface="Manrope"/>
                <a:ea typeface="Manrope"/>
                <a:cs typeface="Manrope"/>
              </a:endParaRPr>
            </a:p>
          </p:txBody>
        </p:sp>
      </p:grpSp>
      <p:grpSp>
        <p:nvGrpSpPr>
          <p:cNvPr id="1005" name="36 · img · drawing [p3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auth · 10"/>
            <p:cNvGrpSpPr/>
            <p:nvPr/>
          </p:nvGrpSpPr>
          <p:grpSpPr>
            <a:xfrm>
              <a:off x="1016071" y="2175228"/>
              <a:ext cx="1053959" cy="917081"/>
              <a:chOff x="1016071" y="2175228"/>
              <a:chExt cx="1053959" cy="917081"/>
            </a:xfrm>
          </p:grpSpPr>
          <p:sp>
            <p:nvSpPr>
              <p:cNvPr id="1008" name="rect · 2"/>
              <p:cNvSpPr/>
              <p:nvPr/>
            </p:nvSpPr>
            <p:spPr>
              <a:xfrm>
                <a:off x="1016071" y="2175228"/>
                <a:ext cx="937613" cy="766516"/>
              </a:xfrm>
              <a:prstGeom prst="roundRect">
                <a:avLst>
                  <a:gd name="adj" fmla="val 11607"/>
                </a:avLst>
              </a:prstGeom>
              <a:solidFill>
                <a:srgbClr val="FFFFFF"/>
              </a:solidFill>
              <a:ln w="15057" cap="rnd" cmpd="sng" algn="ctr">
                <a:solidFill>
                  <a:srgbClr val="243E42"/>
                </a:solidFill>
                <a:prstDash val="solid"/>
                <a:round/>
                <a:headEnd type="none" w="med" len="med"/>
                <a:tailEnd type="none" w="med" len="med"/>
              </a:ln>
            </p:spPr>
          </p:sp>
          <p:sp>
            <p:nvSpPr>
              <p:cNvPr id="1009" name="path · 3"/>
              <p:cNvSpPr/>
              <p:nvPr/>
            </p:nvSpPr>
            <p:spPr>
              <a:xfrm>
                <a:off x="1016071" y="2175228"/>
                <a:ext cx="937613" cy="171097"/>
              </a:xfrm>
              <a:custGeom>
                <a:avLst/>
                <a:gdLst/>
                <a:ahLst/>
                <a:cxnLst/>
                <a:rect l="0" t="0" r="r" b="b"/>
                <a:pathLst>
                  <a:path w="937613" h="171097" fill="norm" stroke="1" extrusionOk="0">
                    <a:moveTo>
                      <a:pt x="88970" y="0"/>
                    </a:moveTo>
                    <a:lnTo>
                      <a:pt x="848642" y="0"/>
                    </a:lnTo>
                    <a:quadBezTo>
                      <a:pt x="937612" y="0"/>
                      <a:pt x="937612" y="88970"/>
                    </a:quadBezTo>
                    <a:lnTo>
                      <a:pt x="937612" y="171097"/>
                    </a:lnTo>
                    <a:lnTo>
                      <a:pt x="0" y="171097"/>
                    </a:lnTo>
                    <a:lnTo>
                      <a:pt x="0" y="88970"/>
                    </a:lnTo>
                    <a:quadBezTo>
                      <a:pt x="0" y="0"/>
                      <a:pt x="88970" y="0"/>
                    </a:quadBezTo>
                  </a:path>
                </a:pathLst>
              </a:custGeom>
              <a:solidFill>
                <a:srgbClr val="E2EEF3"/>
              </a:solidFill>
              <a:ln w="15057" cap="rnd" cmpd="sng" algn="ctr">
                <a:solidFill>
                  <a:srgbClr val="243E42"/>
                </a:solidFill>
                <a:prstDash val="solid"/>
                <a:round/>
                <a:headEnd type="none" w="med" len="med"/>
                <a:tailEnd type="none" w="med" len="med"/>
              </a:ln>
            </p:spPr>
          </p:sp>
          <p:sp>
            <p:nvSpPr>
              <p:cNvPr id="1010" name="circle · 4"/>
              <p:cNvSpPr/>
              <p:nvPr/>
            </p:nvSpPr>
            <p:spPr>
              <a:xfrm>
                <a:off x="1194012" y="2469515"/>
                <a:ext cx="164253" cy="164253"/>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11" name="path · 5"/>
              <p:cNvSpPr/>
              <p:nvPr/>
            </p:nvSpPr>
            <p:spPr>
              <a:xfrm>
                <a:off x="1139261" y="2592705"/>
                <a:ext cx="273756" cy="198473"/>
              </a:xfrm>
              <a:custGeom>
                <a:avLst/>
                <a:gdLst/>
                <a:ahLst/>
                <a:cxnLst/>
                <a:rect l="0" t="0" r="r" b="b"/>
                <a:pathLst>
                  <a:path w="273756" h="198473" fill="norm" stroke="1" extrusionOk="0">
                    <a:moveTo>
                      <a:pt x="0" y="198473"/>
                    </a:moveTo>
                    <a:lnTo>
                      <a:pt x="0" y="136878"/>
                    </a:lnTo>
                    <a:quadBezTo>
                      <a:pt x="0" y="0"/>
                      <a:pt x="136877" y="0"/>
                    </a:quadBezTo>
                    <a:quadBezTo>
                      <a:pt x="273755" y="0"/>
                      <a:pt x="273755" y="136878"/>
                    </a:quadBezTo>
                    <a:lnTo>
                      <a:pt x="273755" y="198473"/>
                    </a:lnTo>
                  </a:path>
                </a:pathLst>
              </a:custGeom>
              <a:solidFill>
                <a:srgbClr val="E2EEF3"/>
              </a:solidFill>
              <a:ln w="15057" cap="rnd" cmpd="sng" algn="ctr">
                <a:solidFill>
                  <a:srgbClr val="243E42"/>
                </a:solidFill>
                <a:prstDash val="solid"/>
                <a:round/>
                <a:headEnd type="none" w="med" len="med"/>
                <a:tailEnd type="none" w="med" len="med"/>
              </a:ln>
            </p:spPr>
          </p:sp>
          <p:sp>
            <p:nvSpPr>
              <p:cNvPr id="1012" name="path · 6"/>
              <p:cNvSpPr/>
              <p:nvPr/>
            </p:nvSpPr>
            <p:spPr>
              <a:xfrm>
                <a:off x="1125573" y="2476359"/>
                <a:ext cx="684389" cy="383258"/>
              </a:xfrm>
              <a:custGeom>
                <a:avLst/>
                <a:gdLst/>
                <a:ahLst/>
                <a:cxnLst/>
                <a:rect l="0" t="0" r="r" b="b"/>
                <a:pathLst>
                  <a:path w="684389" h="383258" fill="none" stroke="1" extrusionOk="0">
                    <a:moveTo>
                      <a:pt x="396945" y="0"/>
                    </a:moveTo>
                    <a:lnTo>
                      <a:pt x="684389" y="0"/>
                    </a:lnTo>
                    <a:moveTo>
                      <a:pt x="396945" y="109502"/>
                    </a:moveTo>
                    <a:lnTo>
                      <a:pt x="581730" y="109502"/>
                    </a:lnTo>
                    <a:moveTo>
                      <a:pt x="0" y="383258"/>
                    </a:moveTo>
                    <a:lnTo>
                      <a:pt x="328506" y="383258"/>
                    </a:lnTo>
                  </a:path>
                </a:pathLst>
              </a:custGeom>
              <a:noFill/>
              <a:ln w="27376" cap="rnd" cmpd="sng" algn="ctr">
                <a:solidFill>
                  <a:srgbClr val="243E42"/>
                </a:solidFill>
                <a:prstDash val="solid"/>
                <a:round/>
                <a:headEnd type="none" w="med" len="med"/>
                <a:tailEnd type="none" w="med" len="med"/>
              </a:ln>
            </p:spPr>
          </p:sp>
          <p:sp>
            <p:nvSpPr>
              <p:cNvPr id="1013" name="path · 7"/>
              <p:cNvSpPr/>
              <p:nvPr/>
            </p:nvSpPr>
            <p:spPr>
              <a:xfrm>
                <a:off x="1618333" y="2579017"/>
                <a:ext cx="451697" cy="513292"/>
              </a:xfrm>
              <a:custGeom>
                <a:avLst/>
                <a:gdLst/>
                <a:ahLst/>
                <a:cxnLst/>
                <a:rect l="0" t="0" r="r" b="b"/>
                <a:pathLst>
                  <a:path w="451697" h="513292" fill="norm" stroke="1" extrusionOk="0">
                    <a:moveTo>
                      <a:pt x="225848" y="0"/>
                    </a:moveTo>
                    <a:lnTo>
                      <a:pt x="451696" y="82127"/>
                    </a:lnTo>
                    <a:lnTo>
                      <a:pt x="451696" y="253224"/>
                    </a:lnTo>
                    <a:quadBezTo>
                      <a:pt x="451696" y="410634"/>
                      <a:pt x="225848" y="513292"/>
                    </a:quadBezTo>
                    <a:quadBezTo>
                      <a:pt x="0" y="410634"/>
                      <a:pt x="0" y="253224"/>
                    </a:quadBezTo>
                    <a:lnTo>
                      <a:pt x="0" y="82127"/>
                    </a:lnTo>
                    <a:close/>
                  </a:path>
                </a:pathLst>
              </a:custGeom>
              <a:solidFill>
                <a:srgbClr val="E2EEF3"/>
              </a:solidFill>
              <a:ln w="15057" cap="rnd" cmpd="sng" algn="ctr">
                <a:solidFill>
                  <a:srgbClr val="243E42"/>
                </a:solidFill>
                <a:prstDash val="solid"/>
                <a:round/>
                <a:headEnd type="none" w="med" len="med"/>
                <a:tailEnd type="none" w="med" len="med"/>
              </a:ln>
            </p:spPr>
          </p:sp>
          <p:sp>
            <p:nvSpPr>
              <p:cNvPr id="1014" name="circle · 8"/>
              <p:cNvSpPr/>
              <p:nvPr/>
            </p:nvSpPr>
            <p:spPr>
              <a:xfrm>
                <a:off x="1789430" y="2729583"/>
                <a:ext cx="109502" cy="109502"/>
              </a:xfrm>
              <a:prstGeom prst="ellipse">
                <a:avLst/>
              </a:prstGeom>
              <a:solidFill>
                <a:srgbClr val="FFFFFF"/>
              </a:solidFill>
              <a:ln w="15057" cap="rnd" cmpd="sng" algn="ctr">
                <a:solidFill>
                  <a:srgbClr val="243E42"/>
                </a:solidFill>
                <a:prstDash val="solid"/>
                <a:round/>
                <a:headEnd type="none" w="med" len="med"/>
                <a:tailEnd type="none" w="med" len="med"/>
              </a:ln>
            </p:spPr>
          </p:sp>
          <p:sp>
            <p:nvSpPr>
              <p:cNvPr id="1015" name="path · 9"/>
              <p:cNvSpPr/>
              <p:nvPr/>
            </p:nvSpPr>
            <p:spPr>
              <a:xfrm>
                <a:off x="1844181" y="2832241"/>
                <a:ext cx="1" cy="109502"/>
              </a:xfrm>
              <a:custGeom>
                <a:avLst/>
                <a:gdLst/>
                <a:ahLst/>
                <a:cxnLst/>
                <a:rect l="0" t="0" r="r" b="b"/>
                <a:pathLst>
                  <a:path w="1" h="109502" fill="none" stroke="1" extrusionOk="0">
                    <a:moveTo>
                      <a:pt x="0" y="0"/>
                    </a:moveTo>
                    <a:lnTo>
                      <a:pt x="0" y="109502"/>
                    </a:lnTo>
                  </a:path>
                </a:pathLst>
              </a:custGeom>
              <a:noFill/>
              <a:ln w="34219" cap="rnd" cmpd="sng" algn="ctr">
                <a:solidFill>
                  <a:srgbClr val="243E42"/>
                </a:solidFill>
                <a:prstDash val="solid"/>
                <a:round/>
                <a:headEnd type="none" w="med" len="med"/>
                <a:tailEnd type="none" w="med" len="med"/>
              </a:ln>
            </p:spPr>
          </p:sp>
        </p:grpSp>
        <p:grpSp>
          <p:nvGrpSpPr>
            <p:cNvPr id="1016" name="library-label-auth · 12"/>
            <p:cNvGrpSpPr/>
            <p:nvPr/>
          </p:nvGrpSpPr>
          <p:grpSpPr>
            <a:xfrm>
              <a:off x="984250" y="3340100"/>
              <a:ext cx="1117600" cy="196850"/>
              <a:chOff x="984250" y="3340100"/>
              <a:chExt cx="1117600" cy="196850"/>
            </a:xfrm>
          </p:grpSpPr>
          <p:sp>
            <p:nvSpPr>
              <p:cNvPr id="1017" name="text · 11"/>
              <p:cNvSpPr txBox="1"/>
              <p:nvPr/>
            </p:nvSpPr>
            <p:spPr>
              <a:xfrm>
                <a:off x="982662" y="3340100"/>
                <a:ext cx="1120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Identity gate</a:t>
                </a:r>
                <a:endParaRPr lang="en-US" sz="1500"/>
              </a:p>
            </p:txBody>
          </p:sp>
        </p:grpSp>
        <p:grpSp>
          <p:nvGrpSpPr>
            <p:cNvPr id="1018" name="signin · 23"/>
            <p:cNvGrpSpPr/>
            <p:nvPr/>
          </p:nvGrpSpPr>
          <p:grpSpPr>
            <a:xfrm>
              <a:off x="2825327" y="2154696"/>
              <a:ext cx="1060803" cy="807579"/>
              <a:chOff x="2825327" y="2154696"/>
              <a:chExt cx="1060803" cy="807579"/>
            </a:xfrm>
          </p:grpSpPr>
          <p:sp>
            <p:nvSpPr>
              <p:cNvPr id="1019" name="rect · 13"/>
              <p:cNvSpPr/>
              <p:nvPr/>
            </p:nvSpPr>
            <p:spPr>
              <a:xfrm>
                <a:off x="2975892" y="2154696"/>
                <a:ext cx="910237" cy="807579"/>
              </a:xfrm>
              <a:prstGeom prst="roundRect">
                <a:avLst>
                  <a:gd name="adj" fmla="val 11017"/>
                </a:avLst>
              </a:prstGeom>
              <a:solidFill>
                <a:srgbClr val="FFFFFF"/>
              </a:solidFill>
              <a:ln w="15057" cap="rnd" cmpd="sng" algn="ctr">
                <a:solidFill>
                  <a:srgbClr val="243E42"/>
                </a:solidFill>
                <a:prstDash val="solid"/>
                <a:round/>
                <a:headEnd type="none" w="med" len="med"/>
                <a:tailEnd type="none" w="med" len="med"/>
              </a:ln>
            </p:spPr>
          </p:sp>
          <p:sp>
            <p:nvSpPr>
              <p:cNvPr id="1020" name="path · 14"/>
              <p:cNvSpPr/>
              <p:nvPr/>
            </p:nvSpPr>
            <p:spPr>
              <a:xfrm>
                <a:off x="2975892" y="2154696"/>
                <a:ext cx="910237" cy="184785"/>
              </a:xfrm>
              <a:custGeom>
                <a:avLst/>
                <a:gdLst/>
                <a:ahLst/>
                <a:cxnLst/>
                <a:rect l="0" t="0" r="r" b="b"/>
                <a:pathLst>
                  <a:path w="910237" h="184785" fill="norm" stroke="1" extrusionOk="0">
                    <a:moveTo>
                      <a:pt x="88971" y="0"/>
                    </a:moveTo>
                    <a:lnTo>
                      <a:pt x="821267" y="0"/>
                    </a:lnTo>
                    <a:quadBezTo>
                      <a:pt x="910237" y="0"/>
                      <a:pt x="910237" y="88971"/>
                    </a:quadBezTo>
                    <a:lnTo>
                      <a:pt x="910237" y="184785"/>
                    </a:lnTo>
                    <a:lnTo>
                      <a:pt x="0" y="184785"/>
                    </a:lnTo>
                    <a:lnTo>
                      <a:pt x="0" y="88971"/>
                    </a:lnTo>
                    <a:quadBezTo>
                      <a:pt x="0" y="0"/>
                      <a:pt x="88971" y="0"/>
                    </a:quadBezTo>
                    <a:close/>
                  </a:path>
                </a:pathLst>
              </a:custGeom>
              <a:solidFill>
                <a:srgbClr val="E2EEF3"/>
              </a:solidFill>
              <a:ln w="15057" cap="rnd" cmpd="sng" algn="ctr">
                <a:solidFill>
                  <a:srgbClr val="243E42"/>
                </a:solidFill>
                <a:prstDash val="solid"/>
                <a:round/>
                <a:headEnd type="none" w="med" len="med"/>
                <a:tailEnd type="none" w="med" len="med"/>
              </a:ln>
            </p:spPr>
          </p:sp>
          <p:sp>
            <p:nvSpPr>
              <p:cNvPr id="1021" name="circle · 15"/>
              <p:cNvSpPr/>
              <p:nvPr/>
            </p:nvSpPr>
            <p:spPr>
              <a:xfrm>
                <a:off x="3051175" y="2229979"/>
                <a:ext cx="41063" cy="41063"/>
              </a:xfrm>
              <a:prstGeom prst="ellipse">
                <a:avLst/>
              </a:prstGeom>
              <a:solidFill>
                <a:srgbClr val="243E42"/>
              </a:solidFill>
              <a:ln>
                <a:noFill/>
              </a:ln>
            </p:spPr>
          </p:sp>
          <p:sp>
            <p:nvSpPr>
              <p:cNvPr id="1022" name="circle · 16"/>
              <p:cNvSpPr/>
              <p:nvPr/>
            </p:nvSpPr>
            <p:spPr>
              <a:xfrm>
                <a:off x="3140146" y="2229979"/>
                <a:ext cx="41063" cy="41063"/>
              </a:xfrm>
              <a:prstGeom prst="ellipse">
                <a:avLst/>
              </a:prstGeom>
              <a:solidFill>
                <a:srgbClr val="243E42"/>
              </a:solidFill>
              <a:ln>
                <a:noFill/>
              </a:ln>
            </p:spPr>
          </p:sp>
          <p:sp>
            <p:nvSpPr>
              <p:cNvPr id="1023" name="path · 17"/>
              <p:cNvSpPr/>
              <p:nvPr/>
            </p:nvSpPr>
            <p:spPr>
              <a:xfrm>
                <a:off x="3372838" y="2339481"/>
                <a:ext cx="219004" cy="177941"/>
              </a:xfrm>
              <a:custGeom>
                <a:avLst/>
                <a:gdLst/>
                <a:ahLst/>
                <a:cxnLst/>
                <a:rect l="0" t="0" r="r" b="b"/>
                <a:pathLst>
                  <a:path w="219004" h="177941" fill="none" stroke="1" extrusionOk="0">
                    <a:moveTo>
                      <a:pt x="0" y="177941"/>
                    </a:moveTo>
                    <a:lnTo>
                      <a:pt x="0" y="109502"/>
                    </a:lnTo>
                    <a:cubicBezTo>
                      <a:pt x="0" y="49026"/>
                      <a:pt x="49026" y="0"/>
                      <a:pt x="109502" y="0"/>
                    </a:cubicBezTo>
                    <a:cubicBezTo>
                      <a:pt x="169978" y="0"/>
                      <a:pt x="219004" y="49026"/>
                      <a:pt x="219004" y="109502"/>
                    </a:cubicBezTo>
                    <a:lnTo>
                      <a:pt x="219004" y="177941"/>
                    </a:lnTo>
                  </a:path>
                </a:pathLst>
              </a:custGeom>
              <a:noFill/>
              <a:ln w="34219" cap="rnd" cmpd="sng" algn="ctr">
                <a:solidFill>
                  <a:srgbClr val="243E42"/>
                </a:solidFill>
                <a:prstDash val="solid"/>
                <a:round/>
                <a:headEnd type="none" w="med" len="med"/>
                <a:tailEnd type="none" w="med" len="med"/>
              </a:ln>
            </p:spPr>
          </p:sp>
          <p:sp>
            <p:nvSpPr>
              <p:cNvPr id="1024" name="rect · 18"/>
              <p:cNvSpPr/>
              <p:nvPr/>
            </p:nvSpPr>
            <p:spPr>
              <a:xfrm>
                <a:off x="3324931" y="2510578"/>
                <a:ext cx="314819" cy="253224"/>
              </a:xfrm>
              <a:prstGeom prst="roundRect">
                <a:avLst>
                  <a:gd name="adj" fmla="val 18919"/>
                </a:avLst>
              </a:prstGeom>
              <a:solidFill>
                <a:srgbClr val="F6EAC8"/>
              </a:solidFill>
              <a:ln w="15057" cap="rnd" cmpd="sng" algn="ctr">
                <a:solidFill>
                  <a:srgbClr val="243E42"/>
                </a:solidFill>
                <a:prstDash val="solid"/>
                <a:round/>
                <a:headEnd type="none" w="med" len="med"/>
                <a:tailEnd type="none" w="med" len="med"/>
              </a:ln>
            </p:spPr>
          </p:sp>
          <p:sp>
            <p:nvSpPr>
              <p:cNvPr id="1025" name="circle · 19"/>
              <p:cNvSpPr/>
              <p:nvPr/>
            </p:nvSpPr>
            <p:spPr>
              <a:xfrm>
                <a:off x="3454964" y="2585861"/>
                <a:ext cx="54751" cy="54751"/>
              </a:xfrm>
              <a:prstGeom prst="ellipse">
                <a:avLst/>
              </a:prstGeom>
              <a:solidFill>
                <a:srgbClr val="7A6025"/>
              </a:solidFill>
              <a:ln>
                <a:noFill/>
              </a:ln>
            </p:spPr>
          </p:sp>
          <p:sp>
            <p:nvSpPr>
              <p:cNvPr id="1026" name="path · 20"/>
              <p:cNvSpPr/>
              <p:nvPr/>
            </p:nvSpPr>
            <p:spPr>
              <a:xfrm>
                <a:off x="3482340" y="2626924"/>
                <a:ext cx="1" cy="61595"/>
              </a:xfrm>
              <a:custGeom>
                <a:avLst/>
                <a:gdLst/>
                <a:ahLst/>
                <a:cxnLst/>
                <a:rect l="0" t="0" r="r" b="b"/>
                <a:pathLst>
                  <a:path w="1" h="61595" fill="none" stroke="1" extrusionOk="0">
                    <a:moveTo>
                      <a:pt x="0" y="0"/>
                    </a:moveTo>
                    <a:lnTo>
                      <a:pt x="0" y="61595"/>
                    </a:lnTo>
                  </a:path>
                </a:pathLst>
              </a:custGeom>
              <a:noFill/>
              <a:ln w="20532" cap="rnd" cmpd="sng" algn="ctr">
                <a:solidFill>
                  <a:srgbClr val="7A6025"/>
                </a:solidFill>
                <a:prstDash val="solid"/>
                <a:round/>
                <a:headEnd type="none" w="med" len="med"/>
                <a:tailEnd type="none" w="med" len="med"/>
              </a:ln>
            </p:spPr>
          </p:sp>
          <p:sp>
            <p:nvSpPr>
              <p:cNvPr id="1027" name="path · 21"/>
              <p:cNvSpPr/>
              <p:nvPr/>
            </p:nvSpPr>
            <p:spPr>
              <a:xfrm>
                <a:off x="2825327" y="2695363"/>
                <a:ext cx="438009" cy="232692"/>
              </a:xfrm>
              <a:custGeom>
                <a:avLst/>
                <a:gdLst/>
                <a:ahLst/>
                <a:cxnLst/>
                <a:rect l="0" t="0" r="r" b="b"/>
                <a:pathLst>
                  <a:path w="438009" h="232692" fill="none" stroke="1" extrusionOk="0">
                    <a:moveTo>
                      <a:pt x="0" y="116346"/>
                    </a:moveTo>
                    <a:lnTo>
                      <a:pt x="431165" y="116346"/>
                    </a:lnTo>
                    <a:moveTo>
                      <a:pt x="321662" y="0"/>
                    </a:moveTo>
                    <a:lnTo>
                      <a:pt x="438009" y="116346"/>
                    </a:lnTo>
                    <a:lnTo>
                      <a:pt x="321662" y="232693"/>
                    </a:lnTo>
                  </a:path>
                </a:pathLst>
              </a:custGeom>
              <a:noFill/>
              <a:ln w="47907" cap="rnd" cmpd="sng" algn="ctr">
                <a:solidFill>
                  <a:srgbClr val="2E6653"/>
                </a:solidFill>
                <a:prstDash val="solid"/>
                <a:round/>
                <a:headEnd type="none" w="med" len="med"/>
                <a:tailEnd type="none" w="med" len="med"/>
              </a:ln>
            </p:spPr>
          </p:sp>
          <p:sp>
            <p:nvSpPr>
              <p:cNvPr id="1028" name="path · 22"/>
              <p:cNvSpPr/>
              <p:nvPr/>
            </p:nvSpPr>
            <p:spPr>
              <a:xfrm>
                <a:off x="3365994" y="2852773"/>
                <a:ext cx="287443" cy="1"/>
              </a:xfrm>
              <a:custGeom>
                <a:avLst/>
                <a:gdLst/>
                <a:ahLst/>
                <a:cxnLst/>
                <a:rect l="0" t="0" r="r" b="b"/>
                <a:pathLst>
                  <a:path w="287443" h="1" fill="none" stroke="1" extrusionOk="0">
                    <a:moveTo>
                      <a:pt x="0" y="0"/>
                    </a:moveTo>
                    <a:lnTo>
                      <a:pt x="287443" y="0"/>
                    </a:lnTo>
                  </a:path>
                </a:pathLst>
              </a:custGeom>
              <a:noFill/>
              <a:ln w="27376" cap="rnd" cmpd="sng" algn="ctr">
                <a:solidFill>
                  <a:srgbClr val="2E6653"/>
                </a:solidFill>
                <a:prstDash val="solid"/>
                <a:round/>
                <a:headEnd type="none" w="med" len="med"/>
                <a:tailEnd type="none" w="med" len="med"/>
              </a:ln>
            </p:spPr>
          </p:sp>
        </p:grpSp>
        <p:grpSp>
          <p:nvGrpSpPr>
            <p:cNvPr id="1029" name="library-label-signin · 25"/>
            <p:cNvGrpSpPr/>
            <p:nvPr/>
          </p:nvGrpSpPr>
          <p:grpSpPr>
            <a:xfrm>
              <a:off x="3048000" y="3340100"/>
              <a:ext cx="622300" cy="196850"/>
              <a:chOff x="3048000" y="3340100"/>
              <a:chExt cx="622300" cy="196850"/>
            </a:xfrm>
          </p:grpSpPr>
          <p:sp>
            <p:nvSpPr>
              <p:cNvPr id="1030" name="text · 24"/>
              <p:cNvSpPr txBox="1"/>
              <p:nvPr/>
            </p:nvSpPr>
            <p:spPr>
              <a:xfrm>
                <a:off x="3046412" y="334010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031" name="whole-kit · 34"/>
            <p:cNvGrpSpPr/>
            <p:nvPr/>
          </p:nvGrpSpPr>
          <p:grpSpPr>
            <a:xfrm>
              <a:off x="4600363" y="2175228"/>
              <a:ext cx="1149773" cy="917081"/>
              <a:chOff x="4600363" y="2175228"/>
              <a:chExt cx="1149773" cy="917081"/>
            </a:xfrm>
          </p:grpSpPr>
          <p:sp>
            <p:nvSpPr>
              <p:cNvPr id="1032" name="path · 26"/>
              <p:cNvSpPr/>
              <p:nvPr/>
            </p:nvSpPr>
            <p:spPr>
              <a:xfrm>
                <a:off x="4661958" y="2407920"/>
                <a:ext cx="1012896" cy="376414"/>
              </a:xfrm>
              <a:custGeom>
                <a:avLst/>
                <a:gdLst/>
                <a:ahLst/>
                <a:cxnLst/>
                <a:rect l="0" t="0" r="r" b="b"/>
                <a:pathLst>
                  <a:path w="1012896" h="376414" fill="norm" stroke="1" extrusionOk="0">
                    <a:moveTo>
                      <a:pt x="0" y="150566"/>
                    </a:moveTo>
                    <a:lnTo>
                      <a:pt x="465385" y="0"/>
                    </a:lnTo>
                    <a:lnTo>
                      <a:pt x="1012896" y="212161"/>
                    </a:lnTo>
                    <a:lnTo>
                      <a:pt x="547511"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033" name="path · 27"/>
              <p:cNvSpPr/>
              <p:nvPr/>
            </p:nvSpPr>
            <p:spPr>
              <a:xfrm>
                <a:off x="4661958" y="2558486"/>
                <a:ext cx="1012896" cy="533823"/>
              </a:xfrm>
              <a:custGeom>
                <a:avLst/>
                <a:gdLst/>
                <a:ahLst/>
                <a:cxnLst/>
                <a:rect l="0" t="0" r="r" b="b"/>
                <a:pathLst>
                  <a:path w="1012896" h="533823" fill="norm" stroke="1" extrusionOk="0">
                    <a:moveTo>
                      <a:pt x="0" y="0"/>
                    </a:moveTo>
                    <a:lnTo>
                      <a:pt x="547511" y="225848"/>
                    </a:lnTo>
                    <a:lnTo>
                      <a:pt x="547511" y="533823"/>
                    </a:lnTo>
                    <a:lnTo>
                      <a:pt x="0" y="314818"/>
                    </a:lnTo>
                    <a:close/>
                    <a:moveTo>
                      <a:pt x="547511" y="225848"/>
                    </a:moveTo>
                    <a:lnTo>
                      <a:pt x="1012896" y="61595"/>
                    </a:lnTo>
                    <a:lnTo>
                      <a:pt x="1012896" y="362726"/>
                    </a:lnTo>
                    <a:lnTo>
                      <a:pt x="547511" y="533823"/>
                    </a:lnTo>
                    <a:close/>
                  </a:path>
                </a:pathLst>
              </a:custGeom>
              <a:solidFill>
                <a:srgbClr val="F6EAC8"/>
              </a:solidFill>
              <a:ln w="15057" cap="rnd" cmpd="sng" algn="ctr">
                <a:solidFill>
                  <a:srgbClr val="243E42"/>
                </a:solidFill>
                <a:prstDash val="solid"/>
                <a:round/>
                <a:headEnd type="none" w="med" len="med"/>
                <a:tailEnd type="none" w="med" len="med"/>
              </a:ln>
            </p:spPr>
          </p:sp>
          <p:sp>
            <p:nvSpPr>
              <p:cNvPr id="1034" name="path · 28"/>
              <p:cNvSpPr/>
              <p:nvPr/>
            </p:nvSpPr>
            <p:spPr>
              <a:xfrm>
                <a:off x="4600363" y="2257354"/>
                <a:ext cx="1149773" cy="362726"/>
              </a:xfrm>
              <a:custGeom>
                <a:avLst/>
                <a:gdLst/>
                <a:ahLst/>
                <a:cxnLst/>
                <a:rect l="0" t="0" r="r" b="b"/>
                <a:pathLst>
                  <a:path w="1149773" h="362726" fill="norm" stroke="1" extrusionOk="0">
                    <a:moveTo>
                      <a:pt x="61595" y="301132"/>
                    </a:moveTo>
                    <a:lnTo>
                      <a:pt x="0" y="150566"/>
                    </a:lnTo>
                    <a:lnTo>
                      <a:pt x="465385" y="0"/>
                    </a:lnTo>
                    <a:lnTo>
                      <a:pt x="526980" y="150566"/>
                    </a:lnTo>
                    <a:moveTo>
                      <a:pt x="1074491" y="362727"/>
                    </a:moveTo>
                    <a:lnTo>
                      <a:pt x="1149774" y="198473"/>
                    </a:lnTo>
                    <a:lnTo>
                      <a:pt x="602263" y="0"/>
                    </a:lnTo>
                    <a:lnTo>
                      <a:pt x="526980" y="150566"/>
                    </a:lnTo>
                  </a:path>
                </a:pathLst>
              </a:custGeom>
              <a:solidFill>
                <a:srgbClr val="FFFFFF"/>
              </a:solidFill>
              <a:ln w="15057" cap="rnd" cmpd="sng" algn="ctr">
                <a:solidFill>
                  <a:srgbClr val="243E42"/>
                </a:solidFill>
                <a:prstDash val="solid"/>
                <a:round/>
                <a:headEnd type="none" w="med" len="med"/>
                <a:tailEnd type="none" w="med" len="med"/>
              </a:ln>
            </p:spPr>
          </p:sp>
          <p:sp>
            <p:nvSpPr>
              <p:cNvPr id="1035" name="path · 29"/>
              <p:cNvSpPr/>
              <p:nvPr/>
            </p:nvSpPr>
            <p:spPr>
              <a:xfrm>
                <a:off x="4880963" y="2175228"/>
                <a:ext cx="369570" cy="349038"/>
              </a:xfrm>
              <a:custGeom>
                <a:avLst/>
                <a:gdLst/>
                <a:ahLst/>
                <a:cxnLst/>
                <a:rect l="0" t="0" r="r" b="b"/>
                <a:pathLst>
                  <a:path w="369570" h="349038" fill="none" stroke="1" extrusionOk="0">
                    <a:moveTo>
                      <a:pt x="0" y="349038"/>
                    </a:moveTo>
                    <a:lnTo>
                      <a:pt x="0" y="184785"/>
                    </a:lnTo>
                    <a:cubicBezTo>
                      <a:pt x="0" y="82731"/>
                      <a:pt x="82731" y="0"/>
                      <a:pt x="184785" y="0"/>
                    </a:cubicBezTo>
                    <a:cubicBezTo>
                      <a:pt x="286839" y="0"/>
                      <a:pt x="369570" y="82731"/>
                      <a:pt x="369570" y="184785"/>
                    </a:cubicBezTo>
                    <a:lnTo>
                      <a:pt x="369570" y="349038"/>
                    </a:lnTo>
                  </a:path>
                </a:pathLst>
              </a:custGeom>
              <a:noFill/>
              <a:ln w="41063" cap="rnd" cmpd="sng" algn="ctr">
                <a:solidFill>
                  <a:srgbClr val="665180"/>
                </a:solidFill>
                <a:prstDash val="solid"/>
                <a:round/>
                <a:headEnd type="none" w="med" len="med"/>
                <a:tailEnd type="none" w="med" len="med"/>
              </a:ln>
            </p:spPr>
          </p:sp>
          <p:sp>
            <p:nvSpPr>
              <p:cNvPr id="1036" name="rect · 30"/>
              <p:cNvSpPr/>
              <p:nvPr/>
            </p:nvSpPr>
            <p:spPr>
              <a:xfrm>
                <a:off x="483305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7" name="rect · 31"/>
              <p:cNvSpPr/>
              <p:nvPr/>
            </p:nvSpPr>
            <p:spPr>
              <a:xfrm>
                <a:off x="520262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8" name="path · 32"/>
              <p:cNvSpPr/>
              <p:nvPr/>
            </p:nvSpPr>
            <p:spPr>
              <a:xfrm>
                <a:off x="5339503" y="2366857"/>
                <a:ext cx="232692" cy="273756"/>
              </a:xfrm>
              <a:custGeom>
                <a:avLst/>
                <a:gdLst/>
                <a:ahLst/>
                <a:cxnLst/>
                <a:rect l="0" t="0" r="r" b="b"/>
                <a:pathLst>
                  <a:path w="232692" h="273756" fill="none" stroke="1" extrusionOk="0">
                    <a:moveTo>
                      <a:pt x="0" y="116346"/>
                    </a:moveTo>
                    <a:quadBezTo>
                      <a:pt x="232693" y="0"/>
                      <a:pt x="184785" y="177941"/>
                    </a:quadBezTo>
                    <a:quadBezTo>
                      <a:pt x="150566" y="273755"/>
                      <a:pt x="34220" y="232692"/>
                    </a:quadBezTo>
                  </a:path>
                </a:pathLst>
              </a:custGeom>
              <a:noFill/>
              <a:ln w="27376" cap="rnd" cmpd="sng" algn="ctr">
                <a:solidFill>
                  <a:srgbClr val="2E6653"/>
                </a:solidFill>
                <a:prstDash val="solid"/>
                <a:round/>
                <a:headEnd type="none" w="med" len="med"/>
                <a:tailEnd type="none" w="med" len="med"/>
              </a:ln>
            </p:spPr>
          </p:sp>
          <p:sp>
            <p:nvSpPr>
              <p:cNvPr id="1039" name="path · 33"/>
              <p:cNvSpPr/>
              <p:nvPr/>
            </p:nvSpPr>
            <p:spPr>
              <a:xfrm>
                <a:off x="5325816" y="2448983"/>
                <a:ext cx="88971" cy="88971"/>
              </a:xfrm>
              <a:custGeom>
                <a:avLst/>
                <a:gdLst/>
                <a:ahLst/>
                <a:cxnLst/>
                <a:rect l="0" t="0" r="r" b="b"/>
                <a:pathLst>
                  <a:path w="88971" h="88971" fill="norm" stroke="1" extrusionOk="0">
                    <a:moveTo>
                      <a:pt x="0" y="34220"/>
                    </a:moveTo>
                    <a:lnTo>
                      <a:pt x="54751" y="0"/>
                    </a:lnTo>
                    <a:lnTo>
                      <a:pt x="88970" y="54751"/>
                    </a:lnTo>
                    <a:lnTo>
                      <a:pt x="34219" y="88971"/>
                    </a:lnTo>
                    <a:close/>
                  </a:path>
                </a:pathLst>
              </a:custGeom>
              <a:solidFill>
                <a:srgbClr val="D7EBE1"/>
              </a:solidFill>
              <a:ln w="15057" cap="rnd" cmpd="sng" algn="ctr">
                <a:solidFill>
                  <a:srgbClr val="243E42"/>
                </a:solidFill>
                <a:prstDash val="solid"/>
                <a:round/>
                <a:headEnd type="none" w="med" len="med"/>
                <a:tailEnd type="none" w="med" len="med"/>
              </a:ln>
            </p:spPr>
          </p:sp>
        </p:grpSp>
        <p:grpSp>
          <p:nvGrpSpPr>
            <p:cNvPr id="1040" name="library-label-whole-kit · 36"/>
            <p:cNvGrpSpPr/>
            <p:nvPr/>
          </p:nvGrpSpPr>
          <p:grpSpPr>
            <a:xfrm>
              <a:off x="4756150" y="3340100"/>
              <a:ext cx="838200" cy="196850"/>
              <a:chOff x="4756150" y="3340100"/>
              <a:chExt cx="838200" cy="196850"/>
            </a:xfrm>
          </p:grpSpPr>
          <p:sp>
            <p:nvSpPr>
              <p:cNvPr id="1041" name="text · 35"/>
              <p:cNvSpPr txBox="1"/>
              <p:nvPr/>
            </p:nvSpPr>
            <p:spPr>
              <a:xfrm>
                <a:off x="4754562" y="3340100"/>
                <a:ext cx="8413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 kit</a:t>
                </a:r>
                <a:endParaRPr lang="en-US" sz="1500"/>
              </a:p>
            </p:txBody>
          </p:sp>
        </p:grpSp>
        <p:grpSp>
          <p:nvGrpSpPr>
            <p:cNvPr id="1042" name="exchange · 42"/>
            <p:cNvGrpSpPr/>
            <p:nvPr/>
          </p:nvGrpSpPr>
          <p:grpSpPr>
            <a:xfrm>
              <a:off x="6498590" y="2045194"/>
              <a:ext cx="985520" cy="1081334"/>
              <a:chOff x="6498590" y="2045194"/>
              <a:chExt cx="985520" cy="1081334"/>
            </a:xfrm>
          </p:grpSpPr>
          <p:sp>
            <p:nvSpPr>
              <p:cNvPr id="1043" name="path · 37"/>
              <p:cNvSpPr/>
              <p:nvPr/>
            </p:nvSpPr>
            <p:spPr>
              <a:xfrm>
                <a:off x="6601248" y="2045194"/>
                <a:ext cx="547511" cy="219004"/>
              </a:xfrm>
              <a:custGeom>
                <a:avLst/>
                <a:gdLst/>
                <a:ahLst/>
                <a:cxnLst/>
                <a:rect l="0" t="0" r="r" b="b"/>
                <a:pathLst>
                  <a:path w="547511" h="219004" fill="none" stroke="1" extrusionOk="0">
                    <a:moveTo>
                      <a:pt x="0" y="219004"/>
                    </a:moveTo>
                    <a:quadBezTo>
                      <a:pt x="116346" y="61595"/>
                      <a:pt x="307975" y="61595"/>
                    </a:quadBezTo>
                    <a:lnTo>
                      <a:pt x="540668" y="61595"/>
                    </a:lnTo>
                    <a:moveTo>
                      <a:pt x="458541" y="0"/>
                    </a:moveTo>
                    <a:lnTo>
                      <a:pt x="547511" y="61595"/>
                    </a:lnTo>
                    <a:lnTo>
                      <a:pt x="458541" y="130034"/>
                    </a:lnTo>
                  </a:path>
                </a:pathLst>
              </a:custGeom>
              <a:noFill/>
              <a:ln w="34219" cap="rnd" cmpd="sng" algn="ctr">
                <a:solidFill>
                  <a:srgbClr val="2E6653"/>
                </a:solidFill>
                <a:prstDash val="solid"/>
                <a:round/>
                <a:headEnd type="none" w="med" len="med"/>
                <a:tailEnd type="none" w="med" len="med"/>
              </a:ln>
            </p:spPr>
          </p:sp>
          <p:sp>
            <p:nvSpPr>
              <p:cNvPr id="1044" name="path · 38"/>
              <p:cNvSpPr/>
              <p:nvPr/>
            </p:nvSpPr>
            <p:spPr>
              <a:xfrm>
                <a:off x="6498590" y="2380544"/>
                <a:ext cx="485916" cy="561199"/>
              </a:xfrm>
              <a:custGeom>
                <a:avLst/>
                <a:gdLst/>
                <a:ahLst/>
                <a:cxnLst/>
                <a:rect l="0" t="0" r="r" b="b"/>
                <a:pathLst>
                  <a:path w="485916" h="561199" fill="norm" stroke="1" extrusionOk="0">
                    <a:moveTo>
                      <a:pt x="0" y="102659"/>
                    </a:moveTo>
                    <a:lnTo>
                      <a:pt x="246380" y="0"/>
                    </a:lnTo>
                    <a:lnTo>
                      <a:pt x="485916" y="116347"/>
                    </a:lnTo>
                    <a:lnTo>
                      <a:pt x="239536" y="225849"/>
                    </a:lnTo>
                    <a:close/>
                    <a:moveTo>
                      <a:pt x="0" y="102659"/>
                    </a:moveTo>
                    <a:lnTo>
                      <a:pt x="239536" y="225849"/>
                    </a:lnTo>
                    <a:lnTo>
                      <a:pt x="239536" y="561199"/>
                    </a:lnTo>
                    <a:lnTo>
                      <a:pt x="0" y="438009"/>
                    </a:lnTo>
                    <a:close/>
                    <a:moveTo>
                      <a:pt x="239536" y="225849"/>
                    </a:moveTo>
                    <a:lnTo>
                      <a:pt x="485916" y="116347"/>
                    </a:lnTo>
                    <a:lnTo>
                      <a:pt x="485916" y="438009"/>
                    </a:lnTo>
                    <a:lnTo>
                      <a:pt x="239536" y="561199"/>
                    </a:lnTo>
                    <a:close/>
                  </a:path>
                </a:pathLst>
              </a:custGeom>
              <a:solidFill>
                <a:srgbClr val="E8E0F3"/>
              </a:solidFill>
              <a:ln w="15057" cap="rnd" cmpd="sng" algn="ctr">
                <a:solidFill>
                  <a:srgbClr val="243E42"/>
                </a:solidFill>
                <a:prstDash val="solid"/>
                <a:round/>
                <a:headEnd type="none" w="med" len="med"/>
                <a:tailEnd type="none" w="med" len="med"/>
              </a:ln>
            </p:spPr>
          </p:sp>
          <p:sp>
            <p:nvSpPr>
              <p:cNvPr id="1045" name="path · 39"/>
              <p:cNvSpPr/>
              <p:nvPr/>
            </p:nvSpPr>
            <p:spPr>
              <a:xfrm>
                <a:off x="6998194" y="2407920"/>
                <a:ext cx="485916" cy="561199"/>
              </a:xfrm>
              <a:custGeom>
                <a:avLst/>
                <a:gdLst/>
                <a:ahLst/>
                <a:cxnLst/>
                <a:rect l="0" t="0" r="r" b="b"/>
                <a:pathLst>
                  <a:path w="485916" h="561199" fill="norm" stroke="1" extrusionOk="0">
                    <a:moveTo>
                      <a:pt x="0" y="102658"/>
                    </a:moveTo>
                    <a:lnTo>
                      <a:pt x="246380" y="0"/>
                    </a:lnTo>
                    <a:lnTo>
                      <a:pt x="485916" y="116346"/>
                    </a:lnTo>
                    <a:lnTo>
                      <a:pt x="239536" y="225848"/>
                    </a:lnTo>
                    <a:close/>
                    <a:moveTo>
                      <a:pt x="0" y="102658"/>
                    </a:moveTo>
                    <a:lnTo>
                      <a:pt x="239536" y="225848"/>
                    </a:lnTo>
                    <a:lnTo>
                      <a:pt x="239536" y="561199"/>
                    </a:lnTo>
                    <a:lnTo>
                      <a:pt x="0" y="438009"/>
                    </a:lnTo>
                    <a:close/>
                    <a:moveTo>
                      <a:pt x="239536" y="225848"/>
                    </a:moveTo>
                    <a:lnTo>
                      <a:pt x="485916" y="116346"/>
                    </a:lnTo>
                    <a:lnTo>
                      <a:pt x="485916" y="438009"/>
                    </a:lnTo>
                    <a:lnTo>
                      <a:pt x="239536" y="561199"/>
                    </a:lnTo>
                    <a:close/>
                  </a:path>
                </a:pathLst>
              </a:custGeom>
              <a:solidFill>
                <a:srgbClr val="E2EEF3"/>
              </a:solidFill>
              <a:ln w="15057" cap="rnd" cmpd="sng" algn="ctr">
                <a:solidFill>
                  <a:srgbClr val="243E42"/>
                </a:solidFill>
                <a:prstDash val="solid"/>
                <a:round/>
                <a:headEnd type="none" w="med" len="med"/>
                <a:tailEnd type="none" w="med" len="med"/>
              </a:ln>
            </p:spPr>
          </p:sp>
          <p:sp>
            <p:nvSpPr>
              <p:cNvPr id="1046" name="path · 40"/>
              <p:cNvSpPr/>
              <p:nvPr/>
            </p:nvSpPr>
            <p:spPr>
              <a:xfrm>
                <a:off x="6580717" y="2414764"/>
                <a:ext cx="800735" cy="307975"/>
              </a:xfrm>
              <a:custGeom>
                <a:avLst/>
                <a:gdLst/>
                <a:ahLst/>
                <a:cxnLst/>
                <a:rect l="0" t="0" r="r" b="b"/>
                <a:pathLst>
                  <a:path w="800735" h="307975" fill="norm" stroke="1" extrusionOk="0">
                    <a:moveTo>
                      <a:pt x="82126" y="0"/>
                    </a:moveTo>
                    <a:lnTo>
                      <a:pt x="307975" y="123190"/>
                    </a:lnTo>
                    <a:lnTo>
                      <a:pt x="307975" y="253224"/>
                    </a:lnTo>
                    <a:lnTo>
                      <a:pt x="225848" y="287443"/>
                    </a:lnTo>
                    <a:lnTo>
                      <a:pt x="225848" y="150565"/>
                    </a:lnTo>
                    <a:lnTo>
                      <a:pt x="0" y="41063"/>
                    </a:lnTo>
                    <a:moveTo>
                      <a:pt x="581730" y="27375"/>
                    </a:moveTo>
                    <a:lnTo>
                      <a:pt x="800735" y="143722"/>
                    </a:lnTo>
                    <a:lnTo>
                      <a:pt x="800735" y="273755"/>
                    </a:lnTo>
                    <a:lnTo>
                      <a:pt x="718608" y="307975"/>
                    </a:lnTo>
                    <a:lnTo>
                      <a:pt x="718608" y="177941"/>
                    </a:lnTo>
                    <a:lnTo>
                      <a:pt x="492760" y="68439"/>
                    </a:lnTo>
                  </a:path>
                </a:pathLst>
              </a:custGeom>
              <a:solidFill>
                <a:srgbClr val="FFFFFF"/>
              </a:solidFill>
              <a:ln w="15057" cap="rnd" cmpd="sng" algn="ctr">
                <a:solidFill>
                  <a:srgbClr val="243E42"/>
                </a:solidFill>
                <a:prstDash val="solid"/>
                <a:round/>
                <a:headEnd type="none" w="med" len="med"/>
                <a:tailEnd type="none" w="med" len="med"/>
              </a:ln>
            </p:spPr>
          </p:sp>
          <p:sp>
            <p:nvSpPr>
              <p:cNvPr id="1047" name="path · 41"/>
              <p:cNvSpPr/>
              <p:nvPr/>
            </p:nvSpPr>
            <p:spPr>
              <a:xfrm>
                <a:off x="6881848" y="2955431"/>
                <a:ext cx="506448" cy="171097"/>
              </a:xfrm>
              <a:custGeom>
                <a:avLst/>
                <a:gdLst/>
                <a:ahLst/>
                <a:cxnLst/>
                <a:rect l="0" t="0" r="r" b="b"/>
                <a:pathLst>
                  <a:path w="506448" h="171097" fill="none" stroke="1" extrusionOk="0">
                    <a:moveTo>
                      <a:pt x="506448" y="0"/>
                    </a:moveTo>
                    <a:quadBezTo>
                      <a:pt x="390101" y="109502"/>
                      <a:pt x="239536" y="109502"/>
                    </a:quadBezTo>
                    <a:lnTo>
                      <a:pt x="6844" y="109502"/>
                    </a:lnTo>
                    <a:moveTo>
                      <a:pt x="88970" y="41063"/>
                    </a:moveTo>
                    <a:lnTo>
                      <a:pt x="0" y="109502"/>
                    </a:lnTo>
                    <a:lnTo>
                      <a:pt x="88970" y="171097"/>
                    </a:lnTo>
                  </a:path>
                </a:pathLst>
              </a:custGeom>
              <a:noFill/>
              <a:ln w="34219" cap="rnd" cmpd="sng" algn="ctr">
                <a:solidFill>
                  <a:srgbClr val="2E6653"/>
                </a:solidFill>
                <a:prstDash val="solid"/>
                <a:round/>
                <a:headEnd type="none" w="med" len="med"/>
                <a:tailEnd type="none" w="med" len="med"/>
              </a:ln>
            </p:spPr>
          </p:sp>
        </p:grpSp>
        <p:grpSp>
          <p:nvGrpSpPr>
            <p:cNvPr id="1048" name="library-label-exchange · 44"/>
            <p:cNvGrpSpPr/>
            <p:nvPr/>
          </p:nvGrpSpPr>
          <p:grpSpPr>
            <a:xfrm>
              <a:off x="6540500" y="3340100"/>
              <a:ext cx="901700" cy="196850"/>
              <a:chOff x="6540500" y="3340100"/>
              <a:chExt cx="901700" cy="196850"/>
            </a:xfrm>
          </p:grpSpPr>
          <p:sp>
            <p:nvSpPr>
              <p:cNvPr id="1049" name="text · 43"/>
              <p:cNvSpPr txBox="1"/>
              <p:nvPr/>
            </p:nvSpPr>
            <p:spPr>
              <a:xfrm>
                <a:off x="6538912" y="3340100"/>
                <a:ext cx="904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grpSp>
        <p:grpSp>
          <p:nvGrpSpPr>
            <p:cNvPr id="1050" name="kit-part · 52"/>
            <p:cNvGrpSpPr/>
            <p:nvPr/>
          </p:nvGrpSpPr>
          <p:grpSpPr>
            <a:xfrm>
              <a:off x="8307846" y="2161540"/>
              <a:ext cx="1053959" cy="958144"/>
              <a:chOff x="8307846" y="2161540"/>
              <a:chExt cx="1053959" cy="958144"/>
            </a:xfrm>
          </p:grpSpPr>
          <p:sp>
            <p:nvSpPr>
              <p:cNvPr id="1051" name="path · 45"/>
              <p:cNvSpPr/>
              <p:nvPr/>
            </p:nvSpPr>
            <p:spPr>
              <a:xfrm>
                <a:off x="8307846" y="2161540"/>
                <a:ext cx="711764" cy="698077"/>
              </a:xfrm>
              <a:custGeom>
                <a:avLst/>
                <a:gdLst/>
                <a:ahLst/>
                <a:cxnLst/>
                <a:rect l="0" t="0" r="r" b="b"/>
                <a:pathLst>
                  <a:path w="711764" h="698077" fill="norm" stroke="1" extrusionOk="0">
                    <a:moveTo>
                      <a:pt x="0" y="0"/>
                    </a:moveTo>
                    <a:lnTo>
                      <a:pt x="711765" y="0"/>
                    </a:lnTo>
                    <a:lnTo>
                      <a:pt x="711765" y="698077"/>
                    </a:lnTo>
                    <a:lnTo>
                      <a:pt x="0" y="698077"/>
                    </a:lnTo>
                    <a:close/>
                  </a:path>
                </a:pathLst>
              </a:custGeom>
              <a:solidFill>
                <a:srgbClr val="E2EEF3"/>
              </a:solidFill>
              <a:ln w="15057" cap="rnd" cmpd="sng" algn="ctr">
                <a:solidFill>
                  <a:srgbClr val="243E42"/>
                </a:solidFill>
                <a:custDash>
                  <a:ds d="272727" sp="272727"/>
                </a:custDash>
                <a:round/>
                <a:headEnd type="none" w="med" len="med"/>
                <a:tailEnd type="none" w="med" len="med"/>
              </a:ln>
            </p:spPr>
          </p:sp>
          <p:sp>
            <p:nvSpPr>
              <p:cNvPr id="1052" name="path · 46"/>
              <p:cNvSpPr/>
              <p:nvPr/>
            </p:nvSpPr>
            <p:spPr>
              <a:xfrm>
                <a:off x="8451568" y="2216291"/>
                <a:ext cx="369570" cy="314819"/>
              </a:xfrm>
              <a:custGeom>
                <a:avLst/>
                <a:gdLst/>
                <a:ahLst/>
                <a:cxnLst/>
                <a:rect l="0" t="0" r="r" b="b"/>
                <a:pathLst>
                  <a:path w="369570" h="314819" fill="none" stroke="1" extrusionOk="0">
                    <a:moveTo>
                      <a:pt x="0" y="314819"/>
                    </a:moveTo>
                    <a:lnTo>
                      <a:pt x="0" y="184785"/>
                    </a:lnTo>
                    <a:cubicBezTo>
                      <a:pt x="0" y="82731"/>
                      <a:pt x="82731" y="0"/>
                      <a:pt x="184785" y="0"/>
                    </a:cubicBezTo>
                    <a:cubicBezTo>
                      <a:pt x="286839" y="0"/>
                      <a:pt x="369570" y="82731"/>
                      <a:pt x="369570" y="184785"/>
                    </a:cubicBezTo>
                    <a:lnTo>
                      <a:pt x="369570" y="314819"/>
                    </a:lnTo>
                  </a:path>
                </a:pathLst>
              </a:custGeom>
              <a:noFill/>
              <a:ln w="41063" cap="rnd" cmpd="sng" algn="ctr">
                <a:solidFill>
                  <a:srgbClr val="665180"/>
                </a:solidFill>
                <a:prstDash val="solid"/>
                <a:round/>
                <a:headEnd type="none" w="med" len="med"/>
                <a:tailEnd type="none" w="med" len="med"/>
              </a:ln>
            </p:spPr>
          </p:sp>
          <p:sp>
            <p:nvSpPr>
              <p:cNvPr id="1053" name="rect · 47"/>
              <p:cNvSpPr/>
              <p:nvPr/>
            </p:nvSpPr>
            <p:spPr>
              <a:xfrm>
                <a:off x="839681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4" name="rect · 48"/>
              <p:cNvSpPr/>
              <p:nvPr/>
            </p:nvSpPr>
            <p:spPr>
              <a:xfrm>
                <a:off x="876638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5" name="circle · 49"/>
              <p:cNvSpPr/>
              <p:nvPr/>
            </p:nvSpPr>
            <p:spPr>
              <a:xfrm>
                <a:off x="8718479" y="2476359"/>
                <a:ext cx="643326" cy="643326"/>
              </a:xfrm>
              <a:prstGeom prst="ellipse">
                <a:avLst/>
              </a:prstGeom>
              <a:solidFill>
                <a:srgbClr val="D7EBE1"/>
              </a:solidFill>
              <a:ln w="20532" cap="rnd" cmpd="sng" algn="ctr">
                <a:solidFill>
                  <a:srgbClr val="2E6653"/>
                </a:solidFill>
                <a:prstDash val="solid"/>
                <a:round/>
                <a:headEnd type="none" w="med" len="med"/>
                <a:tailEnd type="none" w="med" len="med"/>
              </a:ln>
            </p:spPr>
          </p:sp>
          <p:sp>
            <p:nvSpPr>
              <p:cNvPr id="1056" name="path · 50"/>
              <p:cNvSpPr/>
              <p:nvPr/>
            </p:nvSpPr>
            <p:spPr>
              <a:xfrm>
                <a:off x="8848513" y="2503734"/>
                <a:ext cx="472228" cy="492760"/>
              </a:xfrm>
              <a:custGeom>
                <a:avLst/>
                <a:gdLst/>
                <a:ahLst/>
                <a:cxnLst/>
                <a:rect l="0" t="0" r="r" b="b"/>
                <a:pathLst>
                  <a:path w="472228" h="492760" fill="none" stroke="1" extrusionOk="0">
                    <a:moveTo>
                      <a:pt x="54751" y="246380"/>
                    </a:moveTo>
                    <a:cubicBezTo>
                      <a:pt x="239536" y="0"/>
                      <a:pt x="472229" y="349039"/>
                      <a:pt x="212161" y="431165"/>
                    </a:cubicBezTo>
                    <a:cubicBezTo>
                      <a:pt x="6844" y="492760"/>
                      <a:pt x="0" y="342195"/>
                      <a:pt x="136878" y="314819"/>
                    </a:cubicBezTo>
                  </a:path>
                </a:pathLst>
              </a:custGeom>
              <a:noFill/>
              <a:ln w="34219" cap="rnd" cmpd="sng" algn="ctr">
                <a:solidFill>
                  <a:srgbClr val="2E6653"/>
                </a:solidFill>
                <a:prstDash val="solid"/>
                <a:round/>
                <a:headEnd type="none" w="med" len="med"/>
                <a:tailEnd type="none" w="med" len="med"/>
              </a:ln>
            </p:spPr>
          </p:sp>
          <p:sp>
            <p:nvSpPr>
              <p:cNvPr id="1057" name="path · 51"/>
              <p:cNvSpPr/>
              <p:nvPr/>
            </p:nvSpPr>
            <p:spPr>
              <a:xfrm>
                <a:off x="8821138" y="2729583"/>
                <a:ext cx="260068" cy="130034"/>
              </a:xfrm>
              <a:custGeom>
                <a:avLst/>
                <a:gdLst/>
                <a:ahLst/>
                <a:cxnLst/>
                <a:rect l="0" t="0" r="r" b="b"/>
                <a:pathLst>
                  <a:path w="260068" h="130034" fill="norm" stroke="1" extrusionOk="0">
                    <a:moveTo>
                      <a:pt x="47907" y="0"/>
                    </a:moveTo>
                    <a:lnTo>
                      <a:pt x="123190" y="47907"/>
                    </a:lnTo>
                    <a:lnTo>
                      <a:pt x="75283" y="130034"/>
                    </a:lnTo>
                    <a:lnTo>
                      <a:pt x="0" y="82126"/>
                    </a:lnTo>
                    <a:close/>
                    <a:moveTo>
                      <a:pt x="171097" y="54751"/>
                    </a:moveTo>
                    <a:lnTo>
                      <a:pt x="260068" y="54751"/>
                    </a:lnTo>
                    <a:lnTo>
                      <a:pt x="260068" y="116346"/>
                    </a:lnTo>
                    <a:lnTo>
                      <a:pt x="171097" y="116346"/>
                    </a:lnTo>
                    <a:close/>
                  </a:path>
                </a:pathLst>
              </a:custGeom>
              <a:solidFill>
                <a:srgbClr val="FFFFFF"/>
              </a:solidFill>
              <a:ln w="15057" cap="rnd" cmpd="sng" algn="ctr">
                <a:solidFill>
                  <a:srgbClr val="2E6653"/>
                </a:solidFill>
                <a:prstDash val="solid"/>
                <a:round/>
                <a:headEnd type="none" w="med" len="med"/>
                <a:tailEnd type="none" w="med" len="med"/>
              </a:ln>
            </p:spPr>
          </p:sp>
        </p:grpSp>
        <p:grpSp>
          <p:nvGrpSpPr>
            <p:cNvPr id="1058" name="library-label-kit-part · 54"/>
            <p:cNvGrpSpPr/>
            <p:nvPr/>
          </p:nvGrpSpPr>
          <p:grpSpPr>
            <a:xfrm>
              <a:off x="8474075" y="3340100"/>
              <a:ext cx="666750" cy="196850"/>
              <a:chOff x="8474075" y="3340100"/>
              <a:chExt cx="666750" cy="196850"/>
            </a:xfrm>
          </p:grpSpPr>
          <p:sp>
            <p:nvSpPr>
              <p:cNvPr id="1059" name="text · 53"/>
              <p:cNvSpPr txBox="1"/>
              <p:nvPr/>
            </p:nvSpPr>
            <p:spPr>
              <a:xfrm>
                <a:off x="8472487" y="3340100"/>
                <a:ext cx="6699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 part</a:t>
                </a:r>
                <a:endParaRPr lang="en-US" sz="1500"/>
              </a:p>
            </p:txBody>
          </p:sp>
        </p:grpSp>
        <p:grpSp>
          <p:nvGrpSpPr>
            <p:cNvPr id="1060" name="inventory · 61"/>
            <p:cNvGrpSpPr/>
            <p:nvPr/>
          </p:nvGrpSpPr>
          <p:grpSpPr>
            <a:xfrm>
              <a:off x="10130790" y="2175228"/>
              <a:ext cx="985520" cy="889706"/>
              <a:chOff x="10130790" y="2175228"/>
              <a:chExt cx="985520" cy="889706"/>
            </a:xfrm>
          </p:grpSpPr>
          <p:sp>
            <p:nvSpPr>
              <p:cNvPr id="1061" name="path · 55"/>
              <p:cNvSpPr/>
              <p:nvPr/>
            </p:nvSpPr>
            <p:spPr>
              <a:xfrm>
                <a:off x="10130790" y="2175228"/>
                <a:ext cx="985520" cy="889706"/>
              </a:xfrm>
              <a:custGeom>
                <a:avLst/>
                <a:gdLst/>
                <a:ahLst/>
                <a:cxnLst/>
                <a:rect l="0" t="0" r="r" b="b"/>
                <a:pathLst>
                  <a:path w="985520" h="889706" fill="none" stroke="1" extrusionOk="0">
                    <a:moveTo>
                      <a:pt x="0" y="0"/>
                    </a:moveTo>
                    <a:lnTo>
                      <a:pt x="0" y="889705"/>
                    </a:lnTo>
                    <a:moveTo>
                      <a:pt x="985520" y="0"/>
                    </a:moveTo>
                    <a:lnTo>
                      <a:pt x="985520" y="889705"/>
                    </a:lnTo>
                    <a:moveTo>
                      <a:pt x="0" y="369570"/>
                    </a:moveTo>
                    <a:lnTo>
                      <a:pt x="985520" y="369570"/>
                    </a:lnTo>
                    <a:moveTo>
                      <a:pt x="0" y="793891"/>
                    </a:moveTo>
                    <a:lnTo>
                      <a:pt x="985520" y="793891"/>
                    </a:lnTo>
                  </a:path>
                </a:pathLst>
              </a:custGeom>
              <a:noFill/>
              <a:ln w="34219" cap="rnd" cmpd="sng" algn="ctr">
                <a:solidFill>
                  <a:srgbClr val="243E42"/>
                </a:solidFill>
                <a:prstDash val="solid"/>
                <a:round/>
                <a:headEnd type="none" w="med" len="med"/>
                <a:tailEnd type="none" w="med" len="med"/>
              </a:ln>
            </p:spPr>
          </p:sp>
          <p:sp>
            <p:nvSpPr>
              <p:cNvPr id="1062" name="path · 56"/>
              <p:cNvSpPr/>
              <p:nvPr/>
            </p:nvSpPr>
            <p:spPr>
              <a:xfrm>
                <a:off x="10226604" y="2243667"/>
                <a:ext cx="773359" cy="294287"/>
              </a:xfrm>
              <a:custGeom>
                <a:avLst/>
                <a:gdLst/>
                <a:ahLst/>
                <a:cxnLst/>
                <a:rect l="0" t="0" r="r" b="b"/>
                <a:pathLst>
                  <a:path w="773359" h="294287" fill="norm" stroke="1" extrusionOk="0">
                    <a:moveTo>
                      <a:pt x="0" y="0"/>
                    </a:moveTo>
                    <a:lnTo>
                      <a:pt x="294288" y="0"/>
                    </a:lnTo>
                    <a:lnTo>
                      <a:pt x="294288" y="294287"/>
                    </a:lnTo>
                    <a:lnTo>
                      <a:pt x="0" y="294287"/>
                    </a:lnTo>
                    <a:close/>
                    <a:moveTo>
                      <a:pt x="424322" y="0"/>
                    </a:moveTo>
                    <a:lnTo>
                      <a:pt x="773360" y="0"/>
                    </a:lnTo>
                    <a:lnTo>
                      <a:pt x="773360" y="294287"/>
                    </a:lnTo>
                    <a:lnTo>
                      <a:pt x="424322" y="294287"/>
                    </a:lnTo>
                    <a:close/>
                  </a:path>
                </a:pathLst>
              </a:custGeom>
              <a:solidFill>
                <a:srgbClr val="E2EEF3"/>
              </a:solidFill>
              <a:ln w="15057" cap="rnd" cmpd="sng" algn="ctr">
                <a:solidFill>
                  <a:srgbClr val="243E42"/>
                </a:solidFill>
                <a:prstDash val="solid"/>
                <a:round/>
                <a:headEnd type="none" w="med" len="med"/>
                <a:tailEnd type="none" w="med" len="med"/>
              </a:ln>
            </p:spPr>
          </p:sp>
          <p:sp>
            <p:nvSpPr>
              <p:cNvPr id="1063" name="path · 57"/>
              <p:cNvSpPr/>
              <p:nvPr/>
            </p:nvSpPr>
            <p:spPr>
              <a:xfrm>
                <a:off x="10336107" y="2243667"/>
                <a:ext cx="526979" cy="88971"/>
              </a:xfrm>
              <a:custGeom>
                <a:avLst/>
                <a:gdLst/>
                <a:ahLst/>
                <a:cxnLst/>
                <a:rect l="0" t="0" r="r" b="b"/>
                <a:pathLst>
                  <a:path w="526979" h="88971" fill="norm" stroke="1" extrusionOk="0">
                    <a:moveTo>
                      <a:pt x="0" y="0"/>
                    </a:moveTo>
                    <a:lnTo>
                      <a:pt x="0" y="88970"/>
                    </a:lnTo>
                    <a:lnTo>
                      <a:pt x="82126" y="88970"/>
                    </a:lnTo>
                    <a:lnTo>
                      <a:pt x="82126" y="0"/>
                    </a:lnTo>
                    <a:moveTo>
                      <a:pt x="438009" y="0"/>
                    </a:moveTo>
                    <a:lnTo>
                      <a:pt x="438009" y="88970"/>
                    </a:lnTo>
                    <a:lnTo>
                      <a:pt x="526979" y="88970"/>
                    </a:lnTo>
                    <a:lnTo>
                      <a:pt x="526979" y="0"/>
                    </a:lnTo>
                  </a:path>
                </a:pathLst>
              </a:custGeom>
              <a:solidFill>
                <a:srgbClr val="FFFFFF"/>
              </a:solidFill>
              <a:ln w="15057" cap="rnd" cmpd="sng" algn="ctr">
                <a:solidFill>
                  <a:srgbClr val="243E42"/>
                </a:solidFill>
                <a:prstDash val="solid"/>
                <a:round/>
                <a:headEnd type="none" w="med" len="med"/>
                <a:tailEnd type="none" w="med" len="med"/>
              </a:ln>
            </p:spPr>
          </p:sp>
          <p:sp>
            <p:nvSpPr>
              <p:cNvPr id="1064" name="path · 58"/>
              <p:cNvSpPr/>
              <p:nvPr/>
            </p:nvSpPr>
            <p:spPr>
              <a:xfrm>
                <a:off x="10226604" y="2661144"/>
                <a:ext cx="773359" cy="301131"/>
              </a:xfrm>
              <a:custGeom>
                <a:avLst/>
                <a:gdLst/>
                <a:ahLst/>
                <a:cxnLst/>
                <a:rect l="0" t="0" r="r" b="b"/>
                <a:pathLst>
                  <a:path w="773359" h="301131" fill="norm" stroke="1" extrusionOk="0">
                    <a:moveTo>
                      <a:pt x="0" y="0"/>
                    </a:moveTo>
                    <a:lnTo>
                      <a:pt x="376414" y="0"/>
                    </a:lnTo>
                    <a:lnTo>
                      <a:pt x="376414" y="301131"/>
                    </a:lnTo>
                    <a:lnTo>
                      <a:pt x="0" y="301131"/>
                    </a:lnTo>
                    <a:close/>
                    <a:moveTo>
                      <a:pt x="499604" y="0"/>
                    </a:moveTo>
                    <a:lnTo>
                      <a:pt x="773360" y="0"/>
                    </a:lnTo>
                    <a:lnTo>
                      <a:pt x="773360" y="301131"/>
                    </a:lnTo>
                    <a:lnTo>
                      <a:pt x="499604" y="301131"/>
                    </a:lnTo>
                    <a:close/>
                  </a:path>
                </a:pathLst>
              </a:custGeom>
              <a:solidFill>
                <a:srgbClr val="F6EAC8"/>
              </a:solidFill>
              <a:ln w="15057" cap="rnd" cmpd="sng" algn="ctr">
                <a:solidFill>
                  <a:srgbClr val="243E42"/>
                </a:solidFill>
                <a:prstDash val="solid"/>
                <a:round/>
                <a:headEnd type="none" w="med" len="med"/>
                <a:tailEnd type="none" w="med" len="med"/>
              </a:ln>
            </p:spPr>
          </p:sp>
          <p:sp>
            <p:nvSpPr>
              <p:cNvPr id="1065" name="path · 59"/>
              <p:cNvSpPr/>
              <p:nvPr/>
            </p:nvSpPr>
            <p:spPr>
              <a:xfrm>
                <a:off x="10363482" y="2661144"/>
                <a:ext cx="540667" cy="102658"/>
              </a:xfrm>
              <a:custGeom>
                <a:avLst/>
                <a:gdLst/>
                <a:ahLst/>
                <a:cxnLst/>
                <a:rect l="0" t="0" r="r" b="b"/>
                <a:pathLst>
                  <a:path w="540667" h="102658" fill="norm" stroke="1" extrusionOk="0">
                    <a:moveTo>
                      <a:pt x="0" y="0"/>
                    </a:moveTo>
                    <a:lnTo>
                      <a:pt x="0" y="102658"/>
                    </a:lnTo>
                    <a:lnTo>
                      <a:pt x="88971" y="102658"/>
                    </a:lnTo>
                    <a:lnTo>
                      <a:pt x="88971" y="0"/>
                    </a:lnTo>
                    <a:moveTo>
                      <a:pt x="451697" y="0"/>
                    </a:moveTo>
                    <a:lnTo>
                      <a:pt x="451697" y="102658"/>
                    </a:lnTo>
                    <a:lnTo>
                      <a:pt x="540667" y="102658"/>
                    </a:lnTo>
                    <a:lnTo>
                      <a:pt x="540667" y="0"/>
                    </a:lnTo>
                  </a:path>
                </a:pathLst>
              </a:custGeom>
              <a:solidFill>
                <a:srgbClr val="FFFFFF"/>
              </a:solidFill>
              <a:ln w="15057" cap="rnd" cmpd="sng" algn="ctr">
                <a:solidFill>
                  <a:srgbClr val="243E42"/>
                </a:solidFill>
                <a:prstDash val="solid"/>
                <a:round/>
                <a:headEnd type="none" w="med" len="med"/>
                <a:tailEnd type="none" w="med" len="med"/>
              </a:ln>
            </p:spPr>
          </p:sp>
          <p:sp>
            <p:nvSpPr>
              <p:cNvPr id="1066" name="path · 60"/>
              <p:cNvSpPr/>
              <p:nvPr/>
            </p:nvSpPr>
            <p:spPr>
              <a:xfrm>
                <a:off x="10260824" y="2873304"/>
                <a:ext cx="643326" cy="1"/>
              </a:xfrm>
              <a:custGeom>
                <a:avLst/>
                <a:gdLst/>
                <a:ahLst/>
                <a:cxnLst/>
                <a:rect l="0" t="0" r="r" b="b"/>
                <a:pathLst>
                  <a:path w="643326" h="1" fill="none" stroke="1" extrusionOk="0">
                    <a:moveTo>
                      <a:pt x="0" y="0"/>
                    </a:moveTo>
                    <a:lnTo>
                      <a:pt x="219004" y="0"/>
                    </a:lnTo>
                    <a:moveTo>
                      <a:pt x="479072" y="0"/>
                    </a:moveTo>
                    <a:lnTo>
                      <a:pt x="643325" y="0"/>
                    </a:lnTo>
                  </a:path>
                </a:pathLst>
              </a:custGeom>
              <a:noFill/>
              <a:ln w="20532" cap="rnd" cmpd="sng" algn="ctr">
                <a:solidFill>
                  <a:srgbClr val="243E42"/>
                </a:solidFill>
                <a:prstDash val="solid"/>
                <a:round/>
                <a:headEnd type="none" w="med" len="med"/>
                <a:tailEnd type="none" w="med" len="med"/>
              </a:ln>
            </p:spPr>
          </p:sp>
        </p:grpSp>
        <p:grpSp>
          <p:nvGrpSpPr>
            <p:cNvPr id="1067" name="library-label-inventory · 63"/>
            <p:cNvGrpSpPr/>
            <p:nvPr/>
          </p:nvGrpSpPr>
          <p:grpSpPr>
            <a:xfrm>
              <a:off x="10194925" y="3340100"/>
              <a:ext cx="857250" cy="196850"/>
              <a:chOff x="10194925" y="3340100"/>
              <a:chExt cx="857250" cy="196850"/>
            </a:xfrm>
          </p:grpSpPr>
          <p:sp>
            <p:nvSpPr>
              <p:cNvPr id="1068" name="text · 62"/>
              <p:cNvSpPr txBox="1"/>
              <p:nvPr/>
            </p:nvSpPr>
            <p:spPr>
              <a:xfrm>
                <a:off x="10193337" y="3340100"/>
                <a:ext cx="8604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Inventory</a:t>
                </a:r>
                <a:endParaRPr lang="en-US" sz="1500"/>
              </a:p>
            </p:txBody>
          </p:sp>
        </p:grpSp>
        <p:grpSp>
          <p:nvGrpSpPr>
            <p:cNvPr id="1069" name="system-one · 70"/>
            <p:cNvGrpSpPr/>
            <p:nvPr/>
          </p:nvGrpSpPr>
          <p:grpSpPr>
            <a:xfrm>
              <a:off x="1091353" y="4008896"/>
              <a:ext cx="910237" cy="862330"/>
              <a:chOff x="1091353" y="4008896"/>
              <a:chExt cx="910237" cy="862330"/>
            </a:xfrm>
          </p:grpSpPr>
          <p:sp>
            <p:nvSpPr>
              <p:cNvPr id="1070" name="path · 64"/>
              <p:cNvSpPr/>
              <p:nvPr/>
            </p:nvSpPr>
            <p:spPr>
              <a:xfrm>
                <a:off x="1091353" y="400889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71" name="rect · 65"/>
              <p:cNvSpPr/>
              <p:nvPr/>
            </p:nvSpPr>
            <p:spPr>
              <a:xfrm>
                <a:off x="1214543" y="412524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72" name="path · 66"/>
              <p:cNvSpPr/>
              <p:nvPr/>
            </p:nvSpPr>
            <p:spPr>
              <a:xfrm>
                <a:off x="1365109" y="428949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73" name="circle · 67"/>
              <p:cNvSpPr/>
              <p:nvPr/>
            </p:nvSpPr>
            <p:spPr>
              <a:xfrm>
                <a:off x="1303514" y="439899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4" name="circle · 68"/>
              <p:cNvSpPr/>
              <p:nvPr/>
            </p:nvSpPr>
            <p:spPr>
              <a:xfrm>
                <a:off x="1679928" y="424843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5" name="circle · 69"/>
              <p:cNvSpPr/>
              <p:nvPr/>
            </p:nvSpPr>
            <p:spPr>
              <a:xfrm>
                <a:off x="1679928" y="454956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grpSp>
          <p:nvGrpSpPr>
            <p:cNvPr id="1076" name="library-label-system-one · 72"/>
            <p:cNvGrpSpPr/>
            <p:nvPr/>
          </p:nvGrpSpPr>
          <p:grpSpPr>
            <a:xfrm>
              <a:off x="990600" y="5194300"/>
              <a:ext cx="1104900" cy="196850"/>
              <a:chOff x="990600" y="5194300"/>
              <a:chExt cx="1104900" cy="196850"/>
            </a:xfrm>
          </p:grpSpPr>
          <p:sp>
            <p:nvSpPr>
              <p:cNvPr id="1077" name="text · 71"/>
              <p:cNvSpPr txBox="1"/>
              <p:nvPr/>
            </p:nvSpPr>
            <p:spPr>
              <a:xfrm>
                <a:off x="989012" y="5194300"/>
                <a:ext cx="1108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System One</a:t>
                </a:r>
                <a:endParaRPr lang="en-US" sz="1500"/>
              </a:p>
            </p:txBody>
          </p:sp>
        </p:grpSp>
        <p:grpSp>
          <p:nvGrpSpPr>
            <p:cNvPr id="1078" name="frontier · 84"/>
            <p:cNvGrpSpPr/>
            <p:nvPr/>
          </p:nvGrpSpPr>
          <p:grpSpPr>
            <a:xfrm>
              <a:off x="2791107" y="3960989"/>
              <a:ext cx="1136086" cy="964988"/>
              <a:chOff x="2791107" y="3960989"/>
              <a:chExt cx="1136086" cy="964988"/>
            </a:xfrm>
          </p:grpSpPr>
          <p:sp>
            <p:nvSpPr>
              <p:cNvPr id="1079" name="path · 73"/>
              <p:cNvSpPr/>
              <p:nvPr/>
            </p:nvSpPr>
            <p:spPr>
              <a:xfrm>
                <a:off x="2791107" y="3960989"/>
                <a:ext cx="1136086" cy="964988"/>
              </a:xfrm>
              <a:custGeom>
                <a:avLst/>
                <a:gdLst/>
                <a:ahLst/>
                <a:cxnLst/>
                <a:rect l="0" t="0" r="r" b="b"/>
                <a:pathLst>
                  <a:path w="1136086" h="964988" fill="none" stroke="1" extrusionOk="0">
                    <a:moveTo>
                      <a:pt x="232692" y="0"/>
                    </a:moveTo>
                    <a:lnTo>
                      <a:pt x="232692" y="143722"/>
                    </a:lnTo>
                    <a:moveTo>
                      <a:pt x="403790" y="0"/>
                    </a:moveTo>
                    <a:lnTo>
                      <a:pt x="403790" y="143722"/>
                    </a:lnTo>
                    <a:moveTo>
                      <a:pt x="581731" y="0"/>
                    </a:moveTo>
                    <a:lnTo>
                      <a:pt x="581731" y="143722"/>
                    </a:lnTo>
                    <a:moveTo>
                      <a:pt x="759672" y="0"/>
                    </a:moveTo>
                    <a:lnTo>
                      <a:pt x="759672" y="143722"/>
                    </a:lnTo>
                    <a:moveTo>
                      <a:pt x="930769" y="0"/>
                    </a:moveTo>
                    <a:lnTo>
                      <a:pt x="930769" y="143722"/>
                    </a:lnTo>
                    <a:moveTo>
                      <a:pt x="232692" y="821267"/>
                    </a:moveTo>
                    <a:lnTo>
                      <a:pt x="232692" y="964988"/>
                    </a:lnTo>
                    <a:moveTo>
                      <a:pt x="403790" y="821267"/>
                    </a:moveTo>
                    <a:lnTo>
                      <a:pt x="403790" y="964988"/>
                    </a:lnTo>
                    <a:moveTo>
                      <a:pt x="581731" y="821267"/>
                    </a:moveTo>
                    <a:lnTo>
                      <a:pt x="581731" y="964988"/>
                    </a:lnTo>
                    <a:moveTo>
                      <a:pt x="759672" y="821267"/>
                    </a:moveTo>
                    <a:lnTo>
                      <a:pt x="759672" y="964988"/>
                    </a:lnTo>
                    <a:moveTo>
                      <a:pt x="930769" y="821267"/>
                    </a:moveTo>
                    <a:lnTo>
                      <a:pt x="930769" y="964988"/>
                    </a:lnTo>
                    <a:moveTo>
                      <a:pt x="0" y="294287"/>
                    </a:moveTo>
                    <a:lnTo>
                      <a:pt x="136878" y="294287"/>
                    </a:lnTo>
                    <a:moveTo>
                      <a:pt x="0" y="472228"/>
                    </a:moveTo>
                    <a:lnTo>
                      <a:pt x="136878" y="472228"/>
                    </a:lnTo>
                    <a:moveTo>
                      <a:pt x="0" y="657013"/>
                    </a:moveTo>
                    <a:lnTo>
                      <a:pt x="136878" y="657013"/>
                    </a:lnTo>
                    <a:moveTo>
                      <a:pt x="1006052" y="294287"/>
                    </a:moveTo>
                    <a:lnTo>
                      <a:pt x="1136086" y="294287"/>
                    </a:lnTo>
                    <a:moveTo>
                      <a:pt x="1006052" y="472228"/>
                    </a:moveTo>
                    <a:lnTo>
                      <a:pt x="1136086" y="472228"/>
                    </a:lnTo>
                    <a:moveTo>
                      <a:pt x="1006052" y="657013"/>
                    </a:moveTo>
                    <a:lnTo>
                      <a:pt x="1136086" y="657013"/>
                    </a:lnTo>
                  </a:path>
                </a:pathLst>
              </a:custGeom>
              <a:noFill/>
              <a:ln w="34219" cap="rnd" cmpd="sng" algn="ctr">
                <a:solidFill>
                  <a:srgbClr val="665180"/>
                </a:solidFill>
                <a:prstDash val="solid"/>
                <a:round/>
                <a:headEnd type="none" w="med" len="med"/>
                <a:tailEnd type="none" w="med" len="med"/>
              </a:ln>
            </p:spPr>
          </p:sp>
          <p:sp>
            <p:nvSpPr>
              <p:cNvPr id="1080" name="rect · 74"/>
              <p:cNvSpPr/>
              <p:nvPr/>
            </p:nvSpPr>
            <p:spPr>
              <a:xfrm>
                <a:off x="2900609" y="4063647"/>
                <a:ext cx="917081" cy="752828"/>
              </a:xfrm>
              <a:prstGeom prst="roundRect">
                <a:avLst>
                  <a:gd name="adj" fmla="val 21818"/>
                </a:avLst>
              </a:prstGeom>
              <a:solidFill>
                <a:srgbClr val="E8E0F3"/>
              </a:solidFill>
              <a:ln w="20532" cap="rnd" cmpd="sng" algn="ctr">
                <a:solidFill>
                  <a:srgbClr val="665180"/>
                </a:solidFill>
                <a:prstDash val="solid"/>
                <a:round/>
                <a:headEnd type="none" w="med" len="med"/>
                <a:tailEnd type="none" w="med" len="med"/>
              </a:ln>
            </p:spPr>
          </p:sp>
          <p:sp>
            <p:nvSpPr>
              <p:cNvPr id="1081" name="rect · 75"/>
              <p:cNvSpPr/>
              <p:nvPr/>
            </p:nvSpPr>
            <p:spPr>
              <a:xfrm>
                <a:off x="2982736" y="4145774"/>
                <a:ext cx="752828" cy="588574"/>
              </a:xfrm>
              <a:prstGeom prst="roundRect">
                <a:avLst>
                  <a:gd name="adj" fmla="val 18605"/>
                </a:avLst>
              </a:prstGeom>
              <a:solidFill>
                <a:srgbClr val="FFFFFF"/>
              </a:solidFill>
              <a:ln w="15057" cap="rnd" cmpd="sng" algn="ctr">
                <a:solidFill>
                  <a:srgbClr val="665180"/>
                </a:solidFill>
                <a:prstDash val="solid"/>
                <a:round/>
                <a:headEnd type="none" w="med" len="med"/>
                <a:tailEnd type="none" w="med" len="med"/>
              </a:ln>
            </p:spPr>
          </p:sp>
          <p:sp>
            <p:nvSpPr>
              <p:cNvPr id="1082" name="path · 76"/>
              <p:cNvSpPr/>
              <p:nvPr/>
            </p:nvSpPr>
            <p:spPr>
              <a:xfrm>
                <a:off x="3078551" y="4241588"/>
                <a:ext cx="554355" cy="369570"/>
              </a:xfrm>
              <a:custGeom>
                <a:avLst/>
                <a:gdLst/>
                <a:ahLst/>
                <a:cxnLst/>
                <a:rect l="0" t="0" r="r" b="b"/>
                <a:pathLst>
                  <a:path w="554355" h="369570" fill="none" stroke="1" extrusionOk="0">
                    <a:moveTo>
                      <a:pt x="0" y="82127"/>
                    </a:moveTo>
                    <a:lnTo>
                      <a:pt x="205316" y="0"/>
                    </a:lnTo>
                    <a:lnTo>
                      <a:pt x="403789" y="68439"/>
                    </a:lnTo>
                    <a:lnTo>
                      <a:pt x="554355" y="273756"/>
                    </a:lnTo>
                    <a:lnTo>
                      <a:pt x="294287" y="369570"/>
                    </a:lnTo>
                    <a:lnTo>
                      <a:pt x="116346" y="246380"/>
                    </a:lnTo>
                    <a:lnTo>
                      <a:pt x="0" y="82127"/>
                    </a:lnTo>
                    <a:moveTo>
                      <a:pt x="205316" y="0"/>
                    </a:moveTo>
                    <a:lnTo>
                      <a:pt x="294287" y="369570"/>
                    </a:lnTo>
                    <a:moveTo>
                      <a:pt x="403789" y="68439"/>
                    </a:moveTo>
                    <a:lnTo>
                      <a:pt x="116346" y="246380"/>
                    </a:lnTo>
                    <a:moveTo>
                      <a:pt x="554355" y="273756"/>
                    </a:moveTo>
                    <a:lnTo>
                      <a:pt x="0" y="82127"/>
                    </a:lnTo>
                  </a:path>
                </a:pathLst>
              </a:custGeom>
              <a:noFill/>
              <a:ln w="15741" cap="rnd" cmpd="sng" algn="ctr">
                <a:solidFill>
                  <a:srgbClr val="665180"/>
                </a:solidFill>
                <a:prstDash val="solid"/>
                <a:round/>
                <a:headEnd type="none" w="med" len="med"/>
                <a:tailEnd type="none" w="med" len="med"/>
              </a:ln>
            </p:spPr>
          </p:sp>
          <p:grpSp>
            <p:nvGrpSpPr>
              <p:cNvPr id="1083" name="g · 83"/>
              <p:cNvGrpSpPr/>
              <p:nvPr/>
            </p:nvGrpSpPr>
            <p:grpSpPr>
              <a:xfrm>
                <a:off x="3030643" y="4193681"/>
                <a:ext cx="650169" cy="465384"/>
                <a:chOff x="3030643" y="4193681"/>
                <a:chExt cx="650169" cy="465384"/>
              </a:xfrm>
            </p:grpSpPr>
            <p:sp>
              <p:nvSpPr>
                <p:cNvPr id="1084" name="circle · 77"/>
                <p:cNvSpPr/>
                <p:nvPr/>
              </p:nvSpPr>
              <p:spPr>
                <a:xfrm>
                  <a:off x="3030643" y="4275808"/>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5" name="circle · 78"/>
                <p:cNvSpPr/>
                <p:nvPr/>
              </p:nvSpPr>
              <p:spPr>
                <a:xfrm>
                  <a:off x="3235960" y="419368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6" name="circle · 79"/>
                <p:cNvSpPr/>
                <p:nvPr/>
              </p:nvSpPr>
              <p:spPr>
                <a:xfrm>
                  <a:off x="3434433" y="4262120"/>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7" name="circle · 80"/>
                <p:cNvSpPr/>
                <p:nvPr/>
              </p:nvSpPr>
              <p:spPr>
                <a:xfrm>
                  <a:off x="3584998" y="4467437"/>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8" name="circle · 81"/>
                <p:cNvSpPr/>
                <p:nvPr/>
              </p:nvSpPr>
              <p:spPr>
                <a:xfrm>
                  <a:off x="3324931" y="456325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9" name="circle · 82"/>
                <p:cNvSpPr/>
                <p:nvPr/>
              </p:nvSpPr>
              <p:spPr>
                <a:xfrm>
                  <a:off x="3146989" y="444006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grpSp>
        </p:grpSp>
        <p:grpSp>
          <p:nvGrpSpPr>
            <p:cNvPr id="1090" name="library-label-frontier · 86"/>
            <p:cNvGrpSpPr/>
            <p:nvPr/>
          </p:nvGrpSpPr>
          <p:grpSpPr>
            <a:xfrm>
              <a:off x="2781300" y="5194300"/>
              <a:ext cx="1155700" cy="196850"/>
              <a:chOff x="2781300" y="5194300"/>
              <a:chExt cx="1155700" cy="196850"/>
            </a:xfrm>
          </p:grpSpPr>
          <p:sp>
            <p:nvSpPr>
              <p:cNvPr id="1091" name="text · 85"/>
              <p:cNvSpPr txBox="1"/>
              <p:nvPr/>
            </p:nvSpPr>
            <p:spPr>
              <a:xfrm>
                <a:off x="2779712" y="5194300"/>
                <a:ext cx="1158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Frontier LLM</a:t>
                </a:r>
                <a:endParaRPr lang="en-US" sz="1500"/>
              </a:p>
            </p:txBody>
          </p:sp>
        </p:grpSp>
        <p:grpSp>
          <p:nvGrpSpPr>
            <p:cNvPr id="1092" name="review · 98"/>
            <p:cNvGrpSpPr/>
            <p:nvPr/>
          </p:nvGrpSpPr>
          <p:grpSpPr>
            <a:xfrm>
              <a:off x="4655114" y="4138930"/>
              <a:ext cx="1074491" cy="793891"/>
              <a:chOff x="4655114" y="4138930"/>
              <a:chExt cx="1074491" cy="793891"/>
            </a:xfrm>
          </p:grpSpPr>
          <p:sp>
            <p:nvSpPr>
              <p:cNvPr id="1093" name="path · 87"/>
              <p:cNvSpPr/>
              <p:nvPr/>
            </p:nvSpPr>
            <p:spPr>
              <a:xfrm>
                <a:off x="4655114" y="4522188"/>
                <a:ext cx="499604" cy="410633"/>
              </a:xfrm>
              <a:custGeom>
                <a:avLst/>
                <a:gdLst/>
                <a:ahLst/>
                <a:cxnLst/>
                <a:rect l="0" t="0" r="r" b="b"/>
                <a:pathLst>
                  <a:path w="499604" h="410633" fill="norm" stroke="1" extrusionOk="0">
                    <a:moveTo>
                      <a:pt x="0" y="410633"/>
                    </a:moveTo>
                    <a:lnTo>
                      <a:pt x="0" y="212160"/>
                    </a:lnTo>
                    <a:quadBezTo>
                      <a:pt x="6844" y="0"/>
                      <a:pt x="232693" y="0"/>
                    </a:quadBezTo>
                    <a:quadBezTo>
                      <a:pt x="458541" y="0"/>
                      <a:pt x="499604" y="212160"/>
                    </a:quadBezTo>
                    <a:lnTo>
                      <a:pt x="499604" y="410633"/>
                    </a:lnTo>
                    <a:close/>
                  </a:path>
                </a:pathLst>
              </a:custGeom>
              <a:solidFill>
                <a:srgbClr val="E2EEF3"/>
              </a:solidFill>
              <a:ln w="15057" cap="rnd" cmpd="sng" algn="ctr">
                <a:solidFill>
                  <a:srgbClr val="243E42"/>
                </a:solidFill>
                <a:prstDash val="solid"/>
                <a:round/>
                <a:headEnd type="none" w="med" len="med"/>
                <a:tailEnd type="none" w="med" len="med"/>
              </a:ln>
            </p:spPr>
          </p:sp>
          <p:sp>
            <p:nvSpPr>
              <p:cNvPr id="1094" name="circle · 88"/>
              <p:cNvSpPr/>
              <p:nvPr/>
            </p:nvSpPr>
            <p:spPr>
              <a:xfrm>
                <a:off x="4723553" y="4200525"/>
                <a:ext cx="328507" cy="328507"/>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95" name="path · 89"/>
              <p:cNvSpPr/>
              <p:nvPr/>
            </p:nvSpPr>
            <p:spPr>
              <a:xfrm>
                <a:off x="4709866" y="4152618"/>
                <a:ext cx="355882" cy="198473"/>
              </a:xfrm>
              <a:custGeom>
                <a:avLst/>
                <a:gdLst/>
                <a:ahLst/>
                <a:cxnLst/>
                <a:rect l="0" t="0" r="r" b="b"/>
                <a:pathLst>
                  <a:path w="355882" h="198473" fill="norm" stroke="1" extrusionOk="0">
                    <a:moveTo>
                      <a:pt x="27375" y="191629"/>
                    </a:moveTo>
                    <a:quadBezTo>
                      <a:pt x="0" y="6844"/>
                      <a:pt x="198472" y="0"/>
                    </a:quadBezTo>
                    <a:quadBezTo>
                      <a:pt x="355882" y="27375"/>
                      <a:pt x="342194" y="198473"/>
                    </a:quadBezTo>
                    <a:lnTo>
                      <a:pt x="239536" y="123190"/>
                    </a:lnTo>
                    <a:quadBezTo>
                      <a:pt x="157409" y="191629"/>
                      <a:pt x="27375" y="191629"/>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96" name="path · 90"/>
              <p:cNvSpPr/>
              <p:nvPr/>
            </p:nvSpPr>
            <p:spPr>
              <a:xfrm>
                <a:off x="4846743" y="4371622"/>
                <a:ext cx="164253" cy="109502"/>
              </a:xfrm>
              <a:custGeom>
                <a:avLst/>
                <a:gdLst/>
                <a:ahLst/>
                <a:cxnLst/>
                <a:rect l="0" t="0" r="r" b="b"/>
                <a:pathLst>
                  <a:path w="164253" h="109502" fill="none" stroke="1" extrusionOk="0">
                    <a:moveTo>
                      <a:pt x="0" y="0"/>
                    </a:moveTo>
                    <a:lnTo>
                      <a:pt x="68439" y="0"/>
                    </a:lnTo>
                    <a:moveTo>
                      <a:pt x="95815" y="0"/>
                    </a:moveTo>
                    <a:lnTo>
                      <a:pt x="164254" y="0"/>
                    </a:lnTo>
                    <a:moveTo>
                      <a:pt x="27376" y="88971"/>
                    </a:moveTo>
                    <a:quadBezTo>
                      <a:pt x="75283" y="109502"/>
                      <a:pt x="109503" y="82127"/>
                    </a:quadBezTo>
                  </a:path>
                </a:pathLst>
              </a:custGeom>
              <a:noFill/>
              <a:ln w="15057" cap="rnd" cmpd="sng" algn="ctr">
                <a:solidFill>
                  <a:srgbClr val="243E42"/>
                </a:solidFill>
                <a:prstDash val="solid"/>
                <a:round/>
                <a:headEnd type="none" w="med" len="med"/>
                <a:tailEnd type="none" w="med" len="med"/>
              </a:ln>
            </p:spPr>
          </p:sp>
          <p:sp>
            <p:nvSpPr>
              <p:cNvPr id="1097" name="circle · 91"/>
              <p:cNvSpPr/>
              <p:nvPr/>
            </p:nvSpPr>
            <p:spPr>
              <a:xfrm>
                <a:off x="4819368"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8" name="circle · 92"/>
              <p:cNvSpPr/>
              <p:nvPr/>
            </p:nvSpPr>
            <p:spPr>
              <a:xfrm>
                <a:off x="4935714"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9" name="path · 93"/>
              <p:cNvSpPr/>
              <p:nvPr/>
            </p:nvSpPr>
            <p:spPr>
              <a:xfrm>
                <a:off x="5154718" y="4138930"/>
                <a:ext cx="451697" cy="663857"/>
              </a:xfrm>
              <a:custGeom>
                <a:avLst/>
                <a:gdLst/>
                <a:ahLst/>
                <a:cxnLst/>
                <a:rect l="0" t="0" r="r" b="b"/>
                <a:pathLst>
                  <a:path w="451697" h="663857" fill="norm" stroke="1" extrusionOk="0">
                    <a:moveTo>
                      <a:pt x="0" y="0"/>
                    </a:moveTo>
                    <a:lnTo>
                      <a:pt x="314819" y="0"/>
                    </a:lnTo>
                    <a:lnTo>
                      <a:pt x="451697" y="136878"/>
                    </a:lnTo>
                    <a:lnTo>
                      <a:pt x="451697" y="663857"/>
                    </a:lnTo>
                    <a:lnTo>
                      <a:pt x="0" y="663857"/>
                    </a:lnTo>
                    <a:close/>
                  </a:path>
                </a:pathLst>
              </a:custGeom>
              <a:solidFill>
                <a:srgbClr val="FFFFFF"/>
              </a:solidFill>
              <a:ln w="15057" cap="rnd" cmpd="sng" algn="ctr">
                <a:solidFill>
                  <a:srgbClr val="243E42"/>
                </a:solidFill>
                <a:prstDash val="solid"/>
                <a:round/>
                <a:headEnd type="none" w="med" len="med"/>
                <a:tailEnd type="none" w="med" len="med"/>
              </a:ln>
            </p:spPr>
          </p:sp>
          <p:sp>
            <p:nvSpPr>
              <p:cNvPr id="1100" name="path · 94"/>
              <p:cNvSpPr/>
              <p:nvPr/>
            </p:nvSpPr>
            <p:spPr>
              <a:xfrm>
                <a:off x="5236845" y="4138930"/>
                <a:ext cx="369570" cy="410633"/>
              </a:xfrm>
              <a:custGeom>
                <a:avLst/>
                <a:gdLst/>
                <a:ahLst/>
                <a:cxnLst/>
                <a:rect l="0" t="0" r="r" b="b"/>
                <a:pathLst>
                  <a:path w="369570" h="410633" fill="none" stroke="1" extrusionOk="0">
                    <a:moveTo>
                      <a:pt x="232692" y="0"/>
                    </a:moveTo>
                    <a:lnTo>
                      <a:pt x="232692" y="136878"/>
                    </a:lnTo>
                    <a:lnTo>
                      <a:pt x="369570" y="136878"/>
                    </a:lnTo>
                    <a:moveTo>
                      <a:pt x="0" y="239536"/>
                    </a:moveTo>
                    <a:lnTo>
                      <a:pt x="246380" y="239536"/>
                    </a:lnTo>
                    <a:moveTo>
                      <a:pt x="0" y="321663"/>
                    </a:moveTo>
                    <a:lnTo>
                      <a:pt x="157409" y="321663"/>
                    </a:lnTo>
                    <a:moveTo>
                      <a:pt x="0" y="410633"/>
                    </a:moveTo>
                    <a:lnTo>
                      <a:pt x="184785" y="410633"/>
                    </a:lnTo>
                  </a:path>
                </a:pathLst>
              </a:custGeom>
              <a:noFill/>
              <a:ln w="15057" cap="rnd" cmpd="sng" algn="ctr">
                <a:solidFill>
                  <a:srgbClr val="243E42"/>
                </a:solidFill>
                <a:prstDash val="solid"/>
                <a:round/>
                <a:headEnd type="none" w="med" len="med"/>
                <a:tailEnd type="none" w="med" len="med"/>
              </a:ln>
            </p:spPr>
          </p:sp>
          <p:sp>
            <p:nvSpPr>
              <p:cNvPr id="1101" name="circle · 95"/>
              <p:cNvSpPr/>
              <p:nvPr/>
            </p:nvSpPr>
            <p:spPr>
              <a:xfrm>
                <a:off x="5284752" y="4426373"/>
                <a:ext cx="342194" cy="342194"/>
              </a:xfrm>
              <a:prstGeom prst="ellipse">
                <a:avLst/>
              </a:prstGeom>
              <a:solidFill>
                <a:srgbClr val="F6EAC8">
                  <a:alpha val="75000"/>
                </a:srgbClr>
              </a:solidFill>
              <a:ln w="27376" cap="rnd" cmpd="sng" algn="ctr">
                <a:solidFill>
                  <a:srgbClr val="7A6025"/>
                </a:solidFill>
                <a:prstDash val="solid"/>
                <a:round/>
                <a:headEnd type="none" w="med" len="med"/>
                <a:tailEnd type="none" w="med" len="med"/>
              </a:ln>
            </p:spPr>
          </p:sp>
          <p:sp>
            <p:nvSpPr>
              <p:cNvPr id="1102" name="path · 96"/>
              <p:cNvSpPr/>
              <p:nvPr/>
            </p:nvSpPr>
            <p:spPr>
              <a:xfrm>
                <a:off x="5572196" y="4727504"/>
                <a:ext cx="157409" cy="171097"/>
              </a:xfrm>
              <a:custGeom>
                <a:avLst/>
                <a:gdLst/>
                <a:ahLst/>
                <a:cxnLst/>
                <a:rect l="0" t="0" r="r" b="b"/>
                <a:pathLst>
                  <a:path w="157409" h="171097" fill="none" stroke="1" extrusionOk="0">
                    <a:moveTo>
                      <a:pt x="0" y="0"/>
                    </a:moveTo>
                    <a:lnTo>
                      <a:pt x="157409" y="171098"/>
                    </a:lnTo>
                  </a:path>
                </a:pathLst>
              </a:custGeom>
              <a:noFill/>
              <a:ln w="68439" cap="rnd" cmpd="sng" algn="ctr">
                <a:solidFill>
                  <a:srgbClr val="7A6025"/>
                </a:solidFill>
                <a:prstDash val="solid"/>
                <a:round/>
                <a:headEnd type="none" w="med" len="med"/>
                <a:tailEnd type="none" w="med" len="med"/>
              </a:ln>
            </p:spPr>
          </p:sp>
          <p:sp>
            <p:nvSpPr>
              <p:cNvPr id="1103" name="path · 97"/>
              <p:cNvSpPr/>
              <p:nvPr/>
            </p:nvSpPr>
            <p:spPr>
              <a:xfrm>
                <a:off x="5373723" y="4515344"/>
                <a:ext cx="164253" cy="130034"/>
              </a:xfrm>
              <a:custGeom>
                <a:avLst/>
                <a:gdLst/>
                <a:ahLst/>
                <a:cxnLst/>
                <a:rect l="0" t="0" r="r" b="b"/>
                <a:pathLst>
                  <a:path w="164253" h="130034" fill="none" stroke="1" extrusionOk="0">
                    <a:moveTo>
                      <a:pt x="0" y="75283"/>
                    </a:moveTo>
                    <a:lnTo>
                      <a:pt x="54751" y="130034"/>
                    </a:lnTo>
                    <a:lnTo>
                      <a:pt x="164253" y="0"/>
                    </a:lnTo>
                  </a:path>
                </a:pathLst>
              </a:custGeom>
              <a:noFill/>
              <a:ln w="27376" cap="rnd" cmpd="sng" algn="ctr">
                <a:solidFill>
                  <a:srgbClr val="2E6653"/>
                </a:solidFill>
                <a:prstDash val="solid"/>
                <a:round/>
                <a:headEnd type="none" w="med" len="med"/>
                <a:tailEnd type="none" w="med" len="med"/>
              </a:ln>
            </p:spPr>
          </p:sp>
        </p:grpSp>
        <p:grpSp>
          <p:nvGrpSpPr>
            <p:cNvPr id="1104" name="library-label-review · 100"/>
            <p:cNvGrpSpPr/>
            <p:nvPr/>
          </p:nvGrpSpPr>
          <p:grpSpPr>
            <a:xfrm>
              <a:off x="4527550" y="5194300"/>
              <a:ext cx="1295400" cy="196850"/>
              <a:chOff x="4527550" y="5194300"/>
              <a:chExt cx="1295400" cy="196850"/>
            </a:xfrm>
          </p:grpSpPr>
          <p:sp>
            <p:nvSpPr>
              <p:cNvPr id="1105" name="text · 99"/>
              <p:cNvSpPr txBox="1"/>
              <p:nvPr/>
            </p:nvSpPr>
            <p:spPr>
              <a:xfrm>
                <a:off x="4525962" y="5194300"/>
                <a:ext cx="1298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Human review</a:t>
                </a:r>
                <a:endParaRPr lang="en-US" sz="1500"/>
              </a:p>
            </p:txBody>
          </p:sp>
        </p:grpSp>
        <p:grpSp>
          <p:nvGrpSpPr>
            <p:cNvPr id="1106" name="customer · 115"/>
            <p:cNvGrpSpPr/>
            <p:nvPr/>
          </p:nvGrpSpPr>
          <p:grpSpPr>
            <a:xfrm>
              <a:off x="6553341" y="3919926"/>
              <a:ext cx="903393" cy="1047115"/>
              <a:chOff x="6553341" y="3919926"/>
              <a:chExt cx="903393" cy="1047115"/>
            </a:xfrm>
          </p:grpSpPr>
          <p:sp>
            <p:nvSpPr>
              <p:cNvPr id="1107" name="ellipse · 101"/>
              <p:cNvSpPr/>
              <p:nvPr/>
            </p:nvSpPr>
            <p:spPr>
              <a:xfrm>
                <a:off x="6553341" y="4884914"/>
                <a:ext cx="903393" cy="82127"/>
              </a:xfrm>
              <a:prstGeom prst="ellipse">
                <a:avLst/>
              </a:prstGeom>
              <a:solidFill>
                <a:srgbClr val="E2EEF3"/>
              </a:solidFill>
              <a:ln>
                <a:noFill/>
              </a:ln>
            </p:spPr>
          </p:sp>
          <p:sp>
            <p:nvSpPr>
              <p:cNvPr id="1108" name="path · 102"/>
              <p:cNvSpPr/>
              <p:nvPr/>
            </p:nvSpPr>
            <p:spPr>
              <a:xfrm>
                <a:off x="6758658" y="4611158"/>
                <a:ext cx="533823" cy="273756"/>
              </a:xfrm>
              <a:custGeom>
                <a:avLst/>
                <a:gdLst/>
                <a:ahLst/>
                <a:cxnLst/>
                <a:rect l="0" t="0" r="r" b="b"/>
                <a:pathLst>
                  <a:path w="533823" h="273756" fill="norm" stroke="1" extrusionOk="0">
                    <a:moveTo>
                      <a:pt x="27375" y="54751"/>
                    </a:moveTo>
                    <a:lnTo>
                      <a:pt x="0" y="273756"/>
                    </a:lnTo>
                    <a:lnTo>
                      <a:pt x="150565" y="273756"/>
                    </a:lnTo>
                    <a:lnTo>
                      <a:pt x="198473" y="68439"/>
                    </a:lnTo>
                    <a:moveTo>
                      <a:pt x="349038" y="54751"/>
                    </a:moveTo>
                    <a:lnTo>
                      <a:pt x="396945" y="273756"/>
                    </a:lnTo>
                    <a:lnTo>
                      <a:pt x="533823" y="273756"/>
                    </a:lnTo>
                    <a:lnTo>
                      <a:pt x="424321" y="0"/>
                    </a:lnTo>
                  </a:path>
                </a:pathLst>
              </a:custGeom>
              <a:solidFill>
                <a:srgbClr val="243E42"/>
              </a:solidFill>
              <a:ln w="15057" cap="rnd" cmpd="sng" algn="ctr">
                <a:solidFill>
                  <a:srgbClr val="243E42"/>
                </a:solidFill>
                <a:prstDash val="solid"/>
                <a:round/>
                <a:headEnd type="none" w="med" len="med"/>
                <a:tailEnd type="none" w="med" len="med"/>
              </a:ln>
            </p:spPr>
          </p:sp>
          <p:sp>
            <p:nvSpPr>
              <p:cNvPr id="1109" name="path · 103"/>
              <p:cNvSpPr/>
              <p:nvPr/>
            </p:nvSpPr>
            <p:spPr>
              <a:xfrm>
                <a:off x="6690219" y="4891758"/>
                <a:ext cx="677545" cy="47907"/>
              </a:xfrm>
              <a:custGeom>
                <a:avLst/>
                <a:gdLst/>
                <a:ahLst/>
                <a:cxnLst/>
                <a:rect l="0" t="0" r="r" b="b"/>
                <a:pathLst>
                  <a:path w="677545" h="47907" fill="norm" stroke="1" extrusionOk="0">
                    <a:moveTo>
                      <a:pt x="47907" y="0"/>
                    </a:moveTo>
                    <a:lnTo>
                      <a:pt x="225848" y="0"/>
                    </a:lnTo>
                    <a:lnTo>
                      <a:pt x="225848" y="47907"/>
                    </a:lnTo>
                    <a:lnTo>
                      <a:pt x="0" y="47907"/>
                    </a:lnTo>
                    <a:cubicBezTo>
                      <a:pt x="0" y="20531"/>
                      <a:pt x="20532" y="6844"/>
                      <a:pt x="47907" y="0"/>
                    </a:cubicBezTo>
                    <a:moveTo>
                      <a:pt x="458540" y="0"/>
                    </a:moveTo>
                    <a:lnTo>
                      <a:pt x="622794" y="0"/>
                    </a:lnTo>
                    <a:lnTo>
                      <a:pt x="677545" y="47907"/>
                    </a:lnTo>
                    <a:lnTo>
                      <a:pt x="458540" y="47907"/>
                    </a:lnTo>
                    <a:close/>
                  </a:path>
                </a:pathLst>
              </a:custGeom>
              <a:solidFill>
                <a:srgbClr val="FFFFFF"/>
              </a:solidFill>
              <a:ln w="15057" cap="rnd" cmpd="sng" algn="ctr">
                <a:solidFill>
                  <a:srgbClr val="243E42"/>
                </a:solidFill>
                <a:prstDash val="solid"/>
                <a:round/>
                <a:headEnd type="none" w="med" len="med"/>
                <a:tailEnd type="none" w="med" len="med"/>
              </a:ln>
            </p:spPr>
          </p:sp>
          <p:sp>
            <p:nvSpPr>
              <p:cNvPr id="1110" name="path · 104"/>
              <p:cNvSpPr/>
              <p:nvPr/>
            </p:nvSpPr>
            <p:spPr>
              <a:xfrm>
                <a:off x="6731282" y="4248432"/>
                <a:ext cx="499604" cy="472228"/>
              </a:xfrm>
              <a:custGeom>
                <a:avLst/>
                <a:gdLst/>
                <a:ahLst/>
                <a:cxnLst/>
                <a:rect l="0" t="0" r="r" b="b"/>
                <a:pathLst>
                  <a:path w="499604" h="472228" fill="norm" stroke="1" extrusionOk="0">
                    <a:moveTo>
                      <a:pt x="0" y="123190"/>
                    </a:moveTo>
                    <a:quadBezTo>
                      <a:pt x="41064" y="6844"/>
                      <a:pt x="198473" y="0"/>
                    </a:quadBezTo>
                    <a:lnTo>
                      <a:pt x="307975" y="0"/>
                    </a:lnTo>
                    <a:quadBezTo>
                      <a:pt x="465385" y="13688"/>
                      <a:pt x="499604" y="157410"/>
                    </a:quadBezTo>
                    <a:lnTo>
                      <a:pt x="438009" y="472229"/>
                    </a:lnTo>
                    <a:lnTo>
                      <a:pt x="68439" y="472229"/>
                    </a:lnTo>
                    <a:close/>
                  </a:path>
                </a:pathLst>
              </a:custGeom>
              <a:solidFill>
                <a:srgbClr val="E2EEF3"/>
              </a:solidFill>
              <a:ln w="15057" cap="rnd" cmpd="sng" algn="ctr">
                <a:solidFill>
                  <a:srgbClr val="243E42"/>
                </a:solidFill>
                <a:prstDash val="solid"/>
                <a:round/>
                <a:headEnd type="none" w="med" len="med"/>
                <a:tailEnd type="none" w="med" len="med"/>
              </a:ln>
            </p:spPr>
          </p:sp>
          <p:sp>
            <p:nvSpPr>
              <p:cNvPr id="1111" name="path · 105"/>
              <p:cNvSpPr/>
              <p:nvPr/>
            </p:nvSpPr>
            <p:spPr>
              <a:xfrm>
                <a:off x="6690219" y="4303183"/>
                <a:ext cx="602262" cy="301131"/>
              </a:xfrm>
              <a:custGeom>
                <a:avLst/>
                <a:gdLst/>
                <a:ahLst/>
                <a:cxnLst/>
                <a:rect l="0" t="0" r="r" b="b"/>
                <a:pathLst>
                  <a:path w="602262" h="301131" fill="none" stroke="1" extrusionOk="0">
                    <a:moveTo>
                      <a:pt x="116346" y="13688"/>
                    </a:moveTo>
                    <a:lnTo>
                      <a:pt x="0" y="143722"/>
                    </a:lnTo>
                    <a:lnTo>
                      <a:pt x="102658" y="280600"/>
                    </a:lnTo>
                    <a:moveTo>
                      <a:pt x="451697" y="0"/>
                    </a:moveTo>
                    <a:lnTo>
                      <a:pt x="602262" y="150566"/>
                    </a:lnTo>
                    <a:lnTo>
                      <a:pt x="547511" y="301131"/>
                    </a:lnTo>
                  </a:path>
                </a:pathLst>
              </a:custGeom>
              <a:noFill/>
              <a:ln w="61595" cap="rnd" cmpd="sng" algn="ctr">
                <a:solidFill>
                  <a:srgbClr val="E2EEF3"/>
                </a:solidFill>
                <a:prstDash val="solid"/>
                <a:round/>
                <a:headEnd type="none" w="med" len="med"/>
                <a:tailEnd type="none" w="med" len="med"/>
              </a:ln>
            </p:spPr>
          </p:sp>
          <p:sp>
            <p:nvSpPr>
              <p:cNvPr id="1112" name="circle · 106"/>
              <p:cNvSpPr/>
              <p:nvPr/>
            </p:nvSpPr>
            <p:spPr>
              <a:xfrm>
                <a:off x="6806565" y="3960989"/>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13" name="path · 107"/>
              <p:cNvSpPr/>
              <p:nvPr/>
            </p:nvSpPr>
            <p:spPr>
              <a:xfrm>
                <a:off x="6779189" y="3919926"/>
                <a:ext cx="369570" cy="191629"/>
              </a:xfrm>
              <a:custGeom>
                <a:avLst/>
                <a:gdLst/>
                <a:ahLst/>
                <a:cxnLst/>
                <a:rect l="0" t="0" r="r" b="b"/>
                <a:pathLst>
                  <a:path w="369570" h="191629" fill="norm" stroke="1" extrusionOk="0">
                    <a:moveTo>
                      <a:pt x="34220" y="177941"/>
                    </a:moveTo>
                    <a:quadBezTo>
                      <a:pt x="0" y="13687"/>
                      <a:pt x="177942" y="6843"/>
                    </a:quadBezTo>
                    <a:quadBezTo>
                      <a:pt x="369570" y="0"/>
                      <a:pt x="355883" y="191628"/>
                    </a:quadBezTo>
                    <a:lnTo>
                      <a:pt x="287444" y="150565"/>
                    </a:lnTo>
                    <a:lnTo>
                      <a:pt x="266912" y="68438"/>
                    </a:lnTo>
                    <a:quadBezTo>
                      <a:pt x="177942" y="143721"/>
                      <a:pt x="34220" y="136877"/>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114" name="path · 108"/>
              <p:cNvSpPr/>
              <p:nvPr/>
            </p:nvSpPr>
            <p:spPr>
              <a:xfrm>
                <a:off x="6943443" y="4097867"/>
                <a:ext cx="102658" cy="47907"/>
              </a:xfrm>
              <a:custGeom>
                <a:avLst/>
                <a:gdLst/>
                <a:ahLst/>
                <a:cxnLst/>
                <a:rect l="0" t="0" r="r" b="b"/>
                <a:pathLst>
                  <a:path w="102658" h="47907" fill="none" stroke="1" extrusionOk="0">
                    <a:moveTo>
                      <a:pt x="0" y="0"/>
                    </a:moveTo>
                    <a:lnTo>
                      <a:pt x="0" y="47907"/>
                    </a:lnTo>
                    <a:moveTo>
                      <a:pt x="102658" y="0"/>
                    </a:moveTo>
                    <a:lnTo>
                      <a:pt x="102658" y="47907"/>
                    </a:lnTo>
                  </a:path>
                </a:pathLst>
              </a:custGeom>
              <a:noFill/>
              <a:ln w="17794" cap="rnd" cmpd="sng" algn="ctr">
                <a:solidFill>
                  <a:srgbClr val="243E42"/>
                </a:solidFill>
                <a:prstDash val="solid"/>
                <a:round/>
                <a:headEnd type="none" w="med" len="med"/>
                <a:tailEnd type="none" w="med" len="med"/>
              </a:ln>
            </p:spPr>
          </p:sp>
          <p:sp>
            <p:nvSpPr>
              <p:cNvPr id="1115" name="path · 109"/>
              <p:cNvSpPr/>
              <p:nvPr/>
            </p:nvSpPr>
            <p:spPr>
              <a:xfrm>
                <a:off x="6950287" y="4186837"/>
                <a:ext cx="75283" cy="34219"/>
              </a:xfrm>
              <a:custGeom>
                <a:avLst/>
                <a:gdLst/>
                <a:ahLst/>
                <a:cxnLst/>
                <a:rect l="0" t="0" r="r" b="b"/>
                <a:pathLst>
                  <a:path w="75283" h="34219" fill="none" stroke="1" extrusionOk="0">
                    <a:moveTo>
                      <a:pt x="0" y="6844"/>
                    </a:moveTo>
                    <a:quadBezTo>
                      <a:pt x="41063" y="34220"/>
                      <a:pt x="75282" y="0"/>
                    </a:quadBezTo>
                  </a:path>
                </a:pathLst>
              </a:custGeom>
              <a:noFill/>
              <a:ln w="15057" cap="rnd" cmpd="sng" algn="ctr">
                <a:solidFill>
                  <a:srgbClr val="243E42"/>
                </a:solidFill>
                <a:prstDash val="solid"/>
                <a:round/>
                <a:headEnd type="none" w="med" len="med"/>
                <a:tailEnd type="none" w="med" len="med"/>
              </a:ln>
            </p:spPr>
          </p:sp>
          <p:sp>
            <p:nvSpPr>
              <p:cNvPr id="1116" name="path · 110"/>
              <p:cNvSpPr/>
              <p:nvPr/>
            </p:nvSpPr>
            <p:spPr>
              <a:xfrm>
                <a:off x="6751814" y="4398998"/>
                <a:ext cx="602262" cy="266912"/>
              </a:xfrm>
              <a:custGeom>
                <a:avLst/>
                <a:gdLst/>
                <a:ahLst/>
                <a:cxnLst/>
                <a:rect l="0" t="0" r="r" b="b"/>
                <a:pathLst>
                  <a:path w="602262" h="266912" fill="norm" stroke="1" extrusionOk="0">
                    <a:moveTo>
                      <a:pt x="0" y="123190"/>
                    </a:moveTo>
                    <a:lnTo>
                      <a:pt x="369570" y="0"/>
                    </a:lnTo>
                    <a:lnTo>
                      <a:pt x="602262" y="130034"/>
                    </a:lnTo>
                    <a:lnTo>
                      <a:pt x="232692" y="266911"/>
                    </a:lnTo>
                    <a:close/>
                  </a:path>
                </a:pathLst>
              </a:custGeom>
              <a:solidFill>
                <a:srgbClr val="F6EAC8"/>
              </a:solidFill>
              <a:ln w="15057" cap="rnd" cmpd="sng" algn="ctr">
                <a:solidFill>
                  <a:srgbClr val="243E42"/>
                </a:solidFill>
                <a:prstDash val="solid"/>
                <a:round/>
                <a:headEnd type="none" w="med" len="med"/>
                <a:tailEnd type="none" w="med" len="med"/>
              </a:ln>
            </p:spPr>
          </p:sp>
          <p:sp>
            <p:nvSpPr>
              <p:cNvPr id="1117" name="path · 111"/>
              <p:cNvSpPr/>
              <p:nvPr/>
            </p:nvSpPr>
            <p:spPr>
              <a:xfrm>
                <a:off x="6751814" y="4522188"/>
                <a:ext cx="602262" cy="376414"/>
              </a:xfrm>
              <a:custGeom>
                <a:avLst/>
                <a:gdLst/>
                <a:ahLst/>
                <a:cxnLst/>
                <a:rect l="0" t="0" r="r" b="b"/>
                <a:pathLst>
                  <a:path w="602262" h="376414" fill="norm" stroke="1" extrusionOk="0">
                    <a:moveTo>
                      <a:pt x="0" y="0"/>
                    </a:moveTo>
                    <a:lnTo>
                      <a:pt x="232692" y="143721"/>
                    </a:lnTo>
                    <a:lnTo>
                      <a:pt x="232692" y="376414"/>
                    </a:lnTo>
                    <a:lnTo>
                      <a:pt x="0" y="239536"/>
                    </a:lnTo>
                    <a:close/>
                    <a:moveTo>
                      <a:pt x="232692" y="143721"/>
                    </a:moveTo>
                    <a:lnTo>
                      <a:pt x="602262" y="6844"/>
                    </a:lnTo>
                    <a:lnTo>
                      <a:pt x="602262" y="246380"/>
                    </a:lnTo>
                    <a:lnTo>
                      <a:pt x="232692"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118" name="path · 112"/>
              <p:cNvSpPr/>
              <p:nvPr/>
            </p:nvSpPr>
            <p:spPr>
              <a:xfrm>
                <a:off x="6854472" y="4467437"/>
                <a:ext cx="314819" cy="273756"/>
              </a:xfrm>
              <a:custGeom>
                <a:avLst/>
                <a:gdLst/>
                <a:ahLst/>
                <a:cxnLst/>
                <a:rect l="0" t="0" r="r" b="b"/>
                <a:pathLst>
                  <a:path w="314819" h="273756" fill="norm" stroke="1" extrusionOk="0">
                    <a:moveTo>
                      <a:pt x="68439" y="0"/>
                    </a:moveTo>
                    <a:lnTo>
                      <a:pt x="314819" y="136877"/>
                    </a:lnTo>
                    <a:lnTo>
                      <a:pt x="314819" y="246380"/>
                    </a:lnTo>
                    <a:lnTo>
                      <a:pt x="246380" y="273755"/>
                    </a:lnTo>
                    <a:lnTo>
                      <a:pt x="246380" y="164253"/>
                    </a:lnTo>
                    <a:lnTo>
                      <a:pt x="0" y="27375"/>
                    </a:lnTo>
                  </a:path>
                </a:pathLst>
              </a:custGeom>
              <a:solidFill>
                <a:srgbClr val="FFFFFF"/>
              </a:solidFill>
              <a:ln w="15057" cap="rnd" cmpd="sng" algn="ctr">
                <a:solidFill>
                  <a:srgbClr val="243E42"/>
                </a:solidFill>
                <a:prstDash val="solid"/>
                <a:round/>
                <a:headEnd type="none" w="med" len="med"/>
                <a:tailEnd type="none" w="med" len="med"/>
              </a:ln>
            </p:spPr>
          </p:sp>
          <p:sp>
            <p:nvSpPr>
              <p:cNvPr id="1119" name="circle · 113"/>
              <p:cNvSpPr/>
              <p:nvPr/>
            </p:nvSpPr>
            <p:spPr>
              <a:xfrm>
                <a:off x="6738126" y="4522188"/>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20" name="circle · 114"/>
              <p:cNvSpPr/>
              <p:nvPr/>
            </p:nvSpPr>
            <p:spPr>
              <a:xfrm>
                <a:off x="7224042" y="4549563"/>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grpSp>
        <p:grpSp>
          <p:nvGrpSpPr>
            <p:cNvPr id="1121" name="library-label-customer · 117"/>
            <p:cNvGrpSpPr/>
            <p:nvPr/>
          </p:nvGrpSpPr>
          <p:grpSpPr>
            <a:xfrm>
              <a:off x="6543675" y="5194300"/>
              <a:ext cx="895350" cy="196850"/>
              <a:chOff x="6543675" y="5194300"/>
              <a:chExt cx="895350" cy="196850"/>
            </a:xfrm>
          </p:grpSpPr>
          <p:sp>
            <p:nvSpPr>
              <p:cNvPr id="1122" name="text · 116"/>
              <p:cNvSpPr txBox="1"/>
              <p:nvPr/>
            </p:nvSpPr>
            <p:spPr>
              <a:xfrm>
                <a:off x="6542087" y="5194300"/>
                <a:ext cx="8985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Customer</a:t>
                </a:r>
                <a:endParaRPr lang="en-US" sz="1500"/>
              </a:p>
            </p:txBody>
          </p:sp>
        </p:grpSp>
        <p:grpSp>
          <p:nvGrpSpPr>
            <p:cNvPr id="1123" name="commit · 124"/>
            <p:cNvGrpSpPr/>
            <p:nvPr/>
          </p:nvGrpSpPr>
          <p:grpSpPr>
            <a:xfrm>
              <a:off x="8383129" y="3974677"/>
              <a:ext cx="978676" cy="971832"/>
              <a:chOff x="8383129" y="3974677"/>
              <a:chExt cx="978676" cy="971832"/>
            </a:xfrm>
          </p:grpSpPr>
          <p:sp>
            <p:nvSpPr>
              <p:cNvPr id="1124" name="path · 118"/>
              <p:cNvSpPr/>
              <p:nvPr/>
            </p:nvSpPr>
            <p:spPr>
              <a:xfrm>
                <a:off x="8383129" y="3974677"/>
                <a:ext cx="807579" cy="944457"/>
              </a:xfrm>
              <a:custGeom>
                <a:avLst/>
                <a:gdLst/>
                <a:ahLst/>
                <a:cxnLst/>
                <a:rect l="0" t="0" r="r" b="b"/>
                <a:pathLst>
                  <a:path w="807579" h="944457" fill="norm" stroke="1" extrusionOk="0">
                    <a:moveTo>
                      <a:pt x="0" y="0"/>
                    </a:moveTo>
                    <a:lnTo>
                      <a:pt x="622794" y="0"/>
                    </a:lnTo>
                    <a:lnTo>
                      <a:pt x="807579" y="184785"/>
                    </a:lnTo>
                    <a:lnTo>
                      <a:pt x="807579" y="944456"/>
                    </a:lnTo>
                    <a:lnTo>
                      <a:pt x="0" y="944456"/>
                    </a:lnTo>
                    <a:close/>
                  </a:path>
                </a:pathLst>
              </a:custGeom>
              <a:solidFill>
                <a:srgbClr val="FFFFFF"/>
              </a:solidFill>
              <a:ln w="15057" cap="rnd" cmpd="sng" algn="ctr">
                <a:solidFill>
                  <a:srgbClr val="243E42"/>
                </a:solidFill>
                <a:prstDash val="solid"/>
                <a:round/>
                <a:headEnd type="none" w="med" len="med"/>
                <a:tailEnd type="none" w="med" len="med"/>
              </a:ln>
            </p:spPr>
          </p:sp>
          <p:sp>
            <p:nvSpPr>
              <p:cNvPr id="1125" name="path · 119"/>
              <p:cNvSpPr/>
              <p:nvPr/>
            </p:nvSpPr>
            <p:spPr>
              <a:xfrm>
                <a:off x="9005923" y="3974677"/>
                <a:ext cx="184785" cy="184785"/>
              </a:xfrm>
              <a:custGeom>
                <a:avLst/>
                <a:gdLst/>
                <a:ahLst/>
                <a:cxnLst/>
                <a:rect l="0" t="0" r="r" b="b"/>
                <a:pathLst>
                  <a:path w="184785" h="184785" fill="norm" stroke="1" extrusionOk="0">
                    <a:moveTo>
                      <a:pt x="0" y="0"/>
                    </a:moveTo>
                    <a:lnTo>
                      <a:pt x="0" y="184785"/>
                    </a:lnTo>
                    <a:lnTo>
                      <a:pt x="184785" y="184785"/>
                    </a:lnTo>
                  </a:path>
                </a:pathLst>
              </a:custGeom>
              <a:solidFill>
                <a:srgbClr val="E2EEF3"/>
              </a:solidFill>
              <a:ln w="15057" cap="rnd" cmpd="sng" algn="ctr">
                <a:solidFill>
                  <a:srgbClr val="243E42"/>
                </a:solidFill>
                <a:prstDash val="solid"/>
                <a:round/>
                <a:headEnd type="none" w="med" len="med"/>
                <a:tailEnd type="none" w="med" len="med"/>
              </a:ln>
            </p:spPr>
          </p:sp>
          <p:sp>
            <p:nvSpPr>
              <p:cNvPr id="1126" name="path · 120"/>
              <p:cNvSpPr/>
              <p:nvPr/>
            </p:nvSpPr>
            <p:spPr>
              <a:xfrm>
                <a:off x="8492631" y="4248432"/>
                <a:ext cx="533823" cy="219004"/>
              </a:xfrm>
              <a:custGeom>
                <a:avLst/>
                <a:gdLst/>
                <a:ahLst/>
                <a:cxnLst/>
                <a:rect l="0" t="0" r="r" b="b"/>
                <a:pathLst>
                  <a:path w="533823" h="219004" fill="none" stroke="1" extrusionOk="0">
                    <a:moveTo>
                      <a:pt x="0" y="0"/>
                    </a:moveTo>
                    <a:lnTo>
                      <a:pt x="533823" y="0"/>
                    </a:lnTo>
                    <a:moveTo>
                      <a:pt x="0" y="109502"/>
                    </a:moveTo>
                    <a:lnTo>
                      <a:pt x="403790" y="109502"/>
                    </a:lnTo>
                    <a:moveTo>
                      <a:pt x="0" y="219005"/>
                    </a:moveTo>
                    <a:lnTo>
                      <a:pt x="321663" y="219005"/>
                    </a:lnTo>
                  </a:path>
                </a:pathLst>
              </a:custGeom>
              <a:noFill/>
              <a:ln w="27376" cap="rnd" cmpd="sng" algn="ctr">
                <a:solidFill>
                  <a:srgbClr val="355F72"/>
                </a:solidFill>
                <a:prstDash val="solid"/>
                <a:round/>
                <a:headEnd type="none" w="med" len="med"/>
                <a:tailEnd type="none" w="med" len="med"/>
              </a:ln>
            </p:spPr>
          </p:sp>
          <p:sp>
            <p:nvSpPr>
              <p:cNvPr id="1127" name="path · 121"/>
              <p:cNvSpPr/>
              <p:nvPr/>
            </p:nvSpPr>
            <p:spPr>
              <a:xfrm>
                <a:off x="8492631" y="4652222"/>
                <a:ext cx="314819" cy="150566"/>
              </a:xfrm>
              <a:custGeom>
                <a:avLst/>
                <a:gdLst/>
                <a:ahLst/>
                <a:cxnLst/>
                <a:rect l="0" t="0" r="r" b="b"/>
                <a:pathLst>
                  <a:path w="314819" h="150566" fill="none" stroke="1" extrusionOk="0">
                    <a:moveTo>
                      <a:pt x="0" y="0"/>
                    </a:moveTo>
                    <a:lnTo>
                      <a:pt x="0" y="150565"/>
                    </a:lnTo>
                    <a:moveTo>
                      <a:pt x="41063" y="0"/>
                    </a:moveTo>
                    <a:lnTo>
                      <a:pt x="41063" y="150565"/>
                    </a:lnTo>
                    <a:moveTo>
                      <a:pt x="88971" y="0"/>
                    </a:moveTo>
                    <a:lnTo>
                      <a:pt x="88971" y="150565"/>
                    </a:lnTo>
                    <a:moveTo>
                      <a:pt x="157410" y="0"/>
                    </a:moveTo>
                    <a:lnTo>
                      <a:pt x="157410" y="150565"/>
                    </a:lnTo>
                    <a:moveTo>
                      <a:pt x="205317" y="0"/>
                    </a:moveTo>
                    <a:lnTo>
                      <a:pt x="205317" y="150565"/>
                    </a:lnTo>
                    <a:moveTo>
                      <a:pt x="246380" y="0"/>
                    </a:moveTo>
                    <a:lnTo>
                      <a:pt x="246380" y="150565"/>
                    </a:lnTo>
                    <a:moveTo>
                      <a:pt x="314819" y="0"/>
                    </a:moveTo>
                    <a:lnTo>
                      <a:pt x="314819" y="150565"/>
                    </a:lnTo>
                  </a:path>
                </a:pathLst>
              </a:custGeom>
              <a:noFill/>
              <a:ln w="20532" cap="rnd" cmpd="sng" algn="ctr">
                <a:solidFill>
                  <a:srgbClr val="243E42"/>
                </a:solidFill>
                <a:prstDash val="solid"/>
                <a:round/>
                <a:headEnd type="none" w="med" len="med"/>
                <a:tailEnd type="none" w="med" len="med"/>
              </a:ln>
            </p:spPr>
          </p:sp>
          <p:sp>
            <p:nvSpPr>
              <p:cNvPr id="1128" name="path · 122"/>
              <p:cNvSpPr/>
              <p:nvPr/>
            </p:nvSpPr>
            <p:spPr>
              <a:xfrm>
                <a:off x="8923796" y="4426373"/>
                <a:ext cx="438009" cy="520136"/>
              </a:xfrm>
              <a:custGeom>
                <a:avLst/>
                <a:gdLst/>
                <a:ahLst/>
                <a:cxnLst/>
                <a:rect l="0" t="0" r="r" b="b"/>
                <a:pathLst>
                  <a:path w="438009" h="520136" fill="norm" stroke="1" extrusionOk="0">
                    <a:moveTo>
                      <a:pt x="219005" y="0"/>
                    </a:moveTo>
                    <a:lnTo>
                      <a:pt x="438009" y="75283"/>
                    </a:lnTo>
                    <a:lnTo>
                      <a:pt x="438009" y="253224"/>
                    </a:lnTo>
                    <a:quadBezTo>
                      <a:pt x="438009" y="403790"/>
                      <a:pt x="219005" y="520136"/>
                    </a:quadBezTo>
                    <a:quadBezTo>
                      <a:pt x="0" y="403790"/>
                      <a:pt x="0" y="253224"/>
                    </a:quadBezTo>
                    <a:lnTo>
                      <a:pt x="0" y="75283"/>
                    </a:lnTo>
                    <a:close/>
                  </a:path>
                </a:pathLst>
              </a:custGeom>
              <a:solidFill>
                <a:srgbClr val="D7EBE1"/>
              </a:solidFill>
              <a:ln w="15057" cap="rnd" cmpd="sng" algn="ctr">
                <a:solidFill>
                  <a:srgbClr val="2E6653"/>
                </a:solidFill>
                <a:prstDash val="solid"/>
                <a:round/>
                <a:headEnd type="none" w="med" len="med"/>
                <a:tailEnd type="none" w="med" len="med"/>
              </a:ln>
            </p:spPr>
          </p:sp>
          <p:sp>
            <p:nvSpPr>
              <p:cNvPr id="1129" name="path · 123"/>
              <p:cNvSpPr/>
              <p:nvPr/>
            </p:nvSpPr>
            <p:spPr>
              <a:xfrm>
                <a:off x="9026454" y="4563251"/>
                <a:ext cx="232692" cy="177941"/>
              </a:xfrm>
              <a:custGeom>
                <a:avLst/>
                <a:gdLst/>
                <a:ahLst/>
                <a:cxnLst/>
                <a:rect l="0" t="0" r="r" b="b"/>
                <a:pathLst>
                  <a:path w="232692" h="177941" fill="none" stroke="1" extrusionOk="0">
                    <a:moveTo>
                      <a:pt x="0" y="102658"/>
                    </a:moveTo>
                    <a:lnTo>
                      <a:pt x="75283" y="177941"/>
                    </a:lnTo>
                    <a:lnTo>
                      <a:pt x="232693" y="0"/>
                    </a:lnTo>
                  </a:path>
                </a:pathLst>
              </a:custGeom>
              <a:noFill/>
              <a:ln w="34219" cap="rnd" cmpd="sng" algn="ctr">
                <a:solidFill>
                  <a:srgbClr val="2E6653"/>
                </a:solidFill>
                <a:prstDash val="solid"/>
                <a:round/>
                <a:headEnd type="none" w="med" len="med"/>
                <a:tailEnd type="none" w="med" len="med"/>
              </a:ln>
            </p:spPr>
          </p:sp>
        </p:grpSp>
        <p:grpSp>
          <p:nvGrpSpPr>
            <p:cNvPr id="1130" name="library-label-commit · 126"/>
            <p:cNvGrpSpPr/>
            <p:nvPr/>
          </p:nvGrpSpPr>
          <p:grpSpPr>
            <a:xfrm>
              <a:off x="8178800" y="5194300"/>
              <a:ext cx="1257300" cy="196850"/>
              <a:chOff x="8178800" y="5194300"/>
              <a:chExt cx="1257300" cy="196850"/>
            </a:xfrm>
          </p:grpSpPr>
          <p:sp>
            <p:nvSpPr>
              <p:cNvPr id="1131" name="text · 125"/>
              <p:cNvSpPr txBox="1"/>
              <p:nvPr/>
            </p:nvSpPr>
            <p:spPr>
              <a:xfrm>
                <a:off x="8177212" y="51943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Service result</a:t>
                </a:r>
                <a:endParaRPr lang="en-US" sz="1500"/>
              </a:p>
            </p:txBody>
          </p:sp>
        </p:grpSp>
        <p:grpSp>
          <p:nvGrpSpPr>
            <p:cNvPr id="1132" name="hold · 130"/>
            <p:cNvGrpSpPr/>
            <p:nvPr/>
          </p:nvGrpSpPr>
          <p:grpSpPr>
            <a:xfrm>
              <a:off x="10212917" y="4029428"/>
              <a:ext cx="821267" cy="821267"/>
              <a:chOff x="10212917" y="4029428"/>
              <a:chExt cx="821267" cy="821267"/>
            </a:xfrm>
          </p:grpSpPr>
          <p:sp>
            <p:nvSpPr>
              <p:cNvPr id="1133" name="circle · 127"/>
              <p:cNvSpPr/>
              <p:nvPr/>
            </p:nvSpPr>
            <p:spPr>
              <a:xfrm>
                <a:off x="10212917" y="4029428"/>
                <a:ext cx="821267" cy="821267"/>
              </a:xfrm>
              <a:prstGeom prst="ellipse">
                <a:avLst/>
              </a:prstGeom>
              <a:solidFill>
                <a:srgbClr val="F6EAC8"/>
              </a:solidFill>
              <a:ln w="20532" cap="rnd" cmpd="sng" algn="ctr">
                <a:solidFill>
                  <a:srgbClr val="7A6025"/>
                </a:solidFill>
                <a:prstDash val="solid"/>
                <a:round/>
                <a:headEnd type="none" w="med" len="med"/>
                <a:tailEnd type="none" w="med" len="med"/>
              </a:ln>
            </p:spPr>
          </p:sp>
          <p:sp>
            <p:nvSpPr>
              <p:cNvPr id="1134" name="rect · 128"/>
              <p:cNvSpPr/>
              <p:nvPr/>
            </p:nvSpPr>
            <p:spPr>
              <a:xfrm>
                <a:off x="10445609" y="4221057"/>
                <a:ext cx="123190" cy="444853"/>
              </a:xfrm>
              <a:prstGeom prst="roundRect">
                <a:avLst>
                  <a:gd name="adj" fmla="val 22222"/>
                </a:avLst>
              </a:prstGeom>
              <a:solidFill>
                <a:srgbClr val="7A6025"/>
              </a:solidFill>
              <a:ln>
                <a:noFill/>
              </a:ln>
            </p:spPr>
          </p:sp>
          <p:sp>
            <p:nvSpPr>
              <p:cNvPr id="1135" name="rect · 129"/>
              <p:cNvSpPr/>
              <p:nvPr/>
            </p:nvSpPr>
            <p:spPr>
              <a:xfrm>
                <a:off x="10685145" y="4221057"/>
                <a:ext cx="123190" cy="444853"/>
              </a:xfrm>
              <a:prstGeom prst="roundRect">
                <a:avLst>
                  <a:gd name="adj" fmla="val 22222"/>
                </a:avLst>
              </a:prstGeom>
              <a:solidFill>
                <a:srgbClr val="7A6025"/>
              </a:solidFill>
              <a:ln>
                <a:noFill/>
              </a:ln>
            </p:spPr>
          </p:sp>
        </p:grpSp>
        <p:grpSp>
          <p:nvGrpSpPr>
            <p:cNvPr id="1136" name="library-label-hold · 132"/>
            <p:cNvGrpSpPr/>
            <p:nvPr/>
          </p:nvGrpSpPr>
          <p:grpSpPr>
            <a:xfrm>
              <a:off x="10414000" y="5194300"/>
              <a:ext cx="419100" cy="196850"/>
              <a:chOff x="10414000" y="5194300"/>
              <a:chExt cx="419100" cy="196850"/>
            </a:xfrm>
          </p:grpSpPr>
          <p:sp>
            <p:nvSpPr>
              <p:cNvPr id="1137" name="text · 131"/>
              <p:cNvSpPr txBox="1"/>
              <p:nvPr/>
            </p:nvSpPr>
            <p:spPr>
              <a:xfrm>
                <a:off x="10412412" y="519430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Hold</a:t>
                </a:r>
                <a:endParaRPr lang="en-US" sz="1500"/>
              </a:p>
            </p:txBody>
          </p:sp>
        </p:grpSp>
      </p:grpSp>
      <p:grpSp>
        <p:nvGrpSpPr>
          <p:cNvPr id="1143" name="36 · source-line: Reusable vector components"/>
          <p:cNvGrpSpPr/>
          <p:nvPr/>
        </p:nvGrpSpPr>
        <p:grpSpPr>
          <a:xfrm>
            <a:off x="558800" y="6037898"/>
            <a:ext cx="11087100" cy="284456"/>
            <a:chOff x="558800" y="6037898"/>
            <a:chExt cx="11087100" cy="284456"/>
          </a:xfrm>
        </p:grpSpPr>
        <p:sp>
          <p:nvSpPr>
            <p:cNvPr id="1138" name="36 · source-line · top border [p3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39" name="36 · span: Reusable vector components [p36-text-0009]" descr="Native editable Unicode text; authored line breaks retained."/>
            <p:cNvSpPr txBox="1"/>
            <p:nvPr/>
          </p:nvSpPr>
          <p:spPr>
            <a:xfrm>
              <a:off x="558800" y="6153126"/>
              <a:ext cx="16387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Reusable vector components</a:t>
              </a:r>
              <a:endParaRPr lang="en-US" sz="950" b="0" i="0" kern="0" spc="0" dirty="0" u="sng">
                <a:solidFill>
                  <a:srgbClr val="315A7A"/>
                </a:solidFill>
                <a:latin typeface="Salesforce Sans"/>
                <a:ea typeface="Salesforce Sans"/>
                <a:cs typeface="Salesforce Sans"/>
              </a:endParaRPr>
            </a:p>
          </p:txBody>
        </p:sp>
        <p:sp>
          <p:nvSpPr>
            <p:cNvPr id="1140" name="36 · span: Reusable vector objects · optional appendix [p36-text-0010]" descr="Native editable Unicode text; authored line breaks retained."/>
            <p:cNvSpPr txBox="1"/>
            <p:nvPr/>
          </p:nvSpPr>
          <p:spPr>
            <a:xfrm>
              <a:off x="9188289" y="6153126"/>
              <a:ext cx="245761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Reusable vector objects · optional appendix</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lesforc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