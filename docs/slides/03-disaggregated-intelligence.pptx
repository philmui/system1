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System One is a useful engineering term for specialized models that answer bounded questions. It is not a claim about human cognition.
• The tutorial will construct a service workflow, inspect its failure boundaries, and define how reliability, cost, and speed would be evaluated.
• The Salesforce composition is proposed. Public sources do not establish a koa-action SDK, training interface, or measured benchmark.
Transition: First connect the architecture to the four benefits we want.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Composable AI
https://typesafe.ai/manifesto
SLIDE TEXT REFERENCE
DISAGGREGATED INTELLIGENCE
01 / 34
Disaggregated
intelligence
Enterprise reasoning with
koa-action, Agent Graph
and AgentScript.
Specialized decisions, explicit workflows,
and reasoning where the case needs it.
AUTHORED CONTROLS
AgentScript
STATE + TRANSITIONS
Agent Graph
koa-action
Bounded judgment
Reasoning model
Open-ended work
Services
Facts + authority
Agent Graph / guided determinism · Composable AI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Significantly lower decision cost and faster inference are the opportunity behind specialization. Their size must be established for the deployed workload.
• Reliability means acceptable outcomes. Predictability includes output-shape contracts, permitted paths, and repeated-answer variation. Assess those separately from semantic correctness.
• The same complete customer case remains the unit of value. Extra handoffs can consume a primitive-level saving.
Transition: Follow one case through the rest of the tutorial.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Composable AI
https://typesafe.ai/manifesto
SLIDE TEXT REFERENCE
DISAGGREGATED INTELLIGENCE
02 / 34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Ask the audience to name the invariant: neither request should disappear when the agent changes topics.
• A task may be resolved, withdrawn by the customer, or handed off with ownership recorded. These are different statuses; handoff does not equal resolution.
• This is a constructed example used to explain state and routing, not a reported customer deployment.
Transition: Assign an owner to each kind of work.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03 / 34
01 / SERVICE INVARIANT
One customer, two obligations
“Why was I charged twice,
and why is my service down?”
One message creates two obligations.
The case ledger
Invoice
Requested
Pending
Outage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AgentScript is the authoring and control language; Agent Graph is the managed runtime that executes configured behavior.
• The models produce interpretations or explanations. Backend services retain authority over access and writes, while human review is an explicit branch.
• The diagram denotes coordination, not ownership of every component by a model. Each case invokes only the components its configured path needs.
Transition: Now move process rules from prose into inspectable structure.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04 / 34
01 / ARCHITECTURE
Give each responsibility an owner
AgentScript
Defines contracts, sequencing, availability, and bound inputs
Agent Graph
Executes the workflow and retains task state
INTERPRET
koa-action
System One: bounded decisions
REASON
Generative model
Open-ended reasoning
+ grounded explanation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Topology encodes procedural domain knowledge: which step may run, what must precede it, and where its input facts come from.
• The transformation does not remove all domain knowledge from prompts. Category definitions and authorized facts remain necessary within model calls.
• A graph can enforce a poor process consistently. Review and test the topology itself.
Transition: Apply that idea to a product return with the same business safeguards in both architectures.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 Graph / guided determinism
https://engineering.salesforce.com/agentforces-agent-graph-toward-guided-determinism-with-hybrid-reasoning/
SLIDE TEXT REFERENCE
DISAGGREGATED INTELLIGENCE
05 / 34
02 / ENCODE THE SEQUENCE
Process knowledge becomes topology
A PROCESS BURIED IN INSTRUCTIONS
Before explaining an invoice, verify account access. Retrieve the invoice only when access is allowed. Keep the outage pending.
Definitions and evidence still belong in node context.
Verify caller + account access
Retrieve authorized invoice facts
Explain using those facts
Stop invoice path
Access recovery
or defined help route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return, two allocations of intelligence
Section: 02
Purpose: Make the allocation of inference visible while holding service safeguards constant.
Suggested speaking time: 1.2 minutes
TALKING POINTS
• Begin with the same request: I want to return these headphones. Read the five aligned checkpoints across the two panels: authenticate, match the receipt, route the reason, apply policy and shipping, then confirm and authorize.
• The left is the selected wrapper design: a frontier model repeatedly proposes the next step, then consumes the tool result. A well-designed wrapper can still enforce every business safeguard through its services. The purple reason card is model output; the blue operations are trusted services.
• On the right, AgentScript configures Agent Graph to execute the known dependencies. Only the semantic question is assigned to a System One model. koa-action and Jev illustrate that role; this does not establish a common schema or native Salesforce adapter.
• This view shows the routine path. One bounded call is the count in this schematic, not a benchmark or a promise about every deployment. Ordinary customer messages may use templates. Any additional generated response must be counted in the service cost.
• Keep authentication and ownership authoritative. An unverified customer signs in; denial stops protected work. A receipt mismatch goes to verification, not more powerful model reasoning. The return service rechecks access, policy and quantity before creating an authorization.
Transition: Expand the exception branch to see when frontier reasoning is actually justified.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AgentScript control plane
https://www.salesforce.com/blog/agent-script-control-plane/
LOCAL COMPANION REFERENCES
Full return comparison — diagrams/returns-comparison.svg
These identifiers refer to the accompanying repository and are not broken file hyperlinks.
SLIDE TEXT REFERENCE
DISAGGREGATED INTELLIGENCE
06 / 34
02 / A WORKED RETURN
One return, two allocations of intelligence
Jev + LangGraph · AgentScript control plane · Full return comparison
Proposed architecture · routine path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Frontier reasoning needs an explicit gate
Section: 02
Purpose: Show frontier reasoning as a gated interpretation branch with no shortcut to authorization.
Suggested speaking time: 1.5 minutes
TALKING POINTS
• Identity and purchase ownership are already verified before the part of the graph shown here. The branch labels routine, unclear and complex are proposed application categories, not provider response fields.
• Ask one useful clarification and run known mandatory policy checks before any frontier call. Resolved clarification returns directly to policy. A known deadline or item-rule failure declines the standard request. Missing required facts remain pending; inference cannot replace evidence.
• Suppose a request mixes a completed repair, an open replacement offer and a conditional return. Verify the repair and replacement records first. If the facts are available but the remaining customer intent still needs substantive interpretation, a scoped frontier proposal can assist an authorized reviewer.
• The frontier receives authorized facts and the remaining question. Human validation may establish a routine return, another requested task, or a need to hold. Only verified information re-enters the same policy. No policy-override mechanism exists in this teaching flow.
• Invalid or timed-out model outputs take bounded technical recovery and then human handling, not an unbounded reasoning loop. Preserve any other requested task through the return branch. A successful backend write, not a recommendation, is the final authorization.
Transition: Now make the business rule concrete: loyalty changes eligibility and shipping independently of the model.
POWERPOINT EXPORT
This edition preserves the HTML slide design as one outlined SVG graphic with an embedded PNG fallback. Slide text is vector artwork, not editable PowerPoint paragraphs. Speaker notes remain editable. Use the companion HTML for interaction.
WEB REFERENCES
Intent routing
https://docs.typesafe.ai/patterns/intent-routing
AgentScript control plane
https://www.salesforce.com/blog/agent-script-control-plane/
LOCAL COMPANION REFERENCES
Return policy illustration — diagrams/returns-policy.svg
These identifiers refer to the accompanying repository and are not broken file hyperlinks.
SLIDE TEXT REFERENCE
DISAGGREGATED INTELLIGENCE
07 / 34
02 / ESCALATE THE REMAINING QUESTION
Frontier reasoning needs an explicit gate
Intent routing · AgentScript control plane · Return policy illustration
Illustrative flow · no policy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Loyalty changes the window and the fee
Section: 02
Purpose: Separate trusted eligibility and fee rules from semantic interpretation and from transaction success.
Suggested speaking time: 1.2 minutes
TALKING POINTS
• These tiers, deadlines, fees and worked examples are invented for teaching. Both architectures use exactly the same versioned merchant policy and service requirements.
• The identity and order services establish the customer, owned receipt, item and available unreturned quantity. Tier comes from a current authorized membership lookup. An unknown tier does not default to Standard. Missing facts and manual review hold the case.
• Compare the immutable request-received timestamp to the authoritative delivery deadline in the declared merchant time zone. Clarification time must not turn an on-time request into a late request.
• Standard day 18 receives a five-dollar quote; Plus day 45 receives a waived-shipping quote. Standard day 45 is outside the ordinary window, so frontier reasoning has nothing to change about that known policy result.
• For an eligible return, obtain confirmation of item, quantity and shipping terms. The backend rechecks current access, policy, tier and quantity; changed terms require renewed confirmation. Use a stable idempotency key and reconcile an unknown write outcome before retrying. Return authorized means the service issued a return ID and the confirmed shipping label. Inspection and any refund settlement happen later. Semantic judgment chooses a route, while rules and service results establish the business outcome.
Transition: With the worked graph in view, locate its runtime and configuration within the broader agent harness.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Return policy illustration — diagrams/returns-policy.svg
Return walkthrough · blog 08 — blog/08-building-prod.md
These identifiers refer to the accompanying repository and are not broken file hyperlinks.
SLIDE TEXT REFERENCE
DISAGGREGATED INTELLIGENCE
08 / 34
02 / AN EXPLICIT MERCHANT POLICY
Loyalty changes the window and the fee
Return policy illustration · Return walkthrough · blog 08
Invented policy and cases · no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LangChain distinguishes its framework, LangGraph runtime, and Deep Agents harness. The comparison helps locate responsibilities.
• In this Salesforce example the configured agent is the broader harness, with Agent Graph providing runtime execution and AgentScript authoring control.
• This is an architectural analogy, not LangGraph API compatibility or a claim that Agent Graph ships Deep Agents defaults. The public AgentScript repo contains tooling, not the managed runtime.
Transition: Define the first decision before selecting its integration.
POWERPOINT EXPORT
This edition preserves the HTML slide design as one outlined SVG graphic with an embedded PNG fallback. Slide text is vector artwork, not editable PowerPoint paragraphs. Speaker notes remain editable. Use the companion HTML for interaction.
WEB REFERENCES
Runtime, framework, harness
https://www.langchain.com/blog/deep-agents-vs-langchain-vs-langgraph
AgentScript control plane
https://www.salesforce.com/blog/agent-script-control-plane/
SLIDE TEXT REFERENCE
DISAGGREGATED INTELLIGENCE
09 / 34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decision contract
Section: 03
Purpose: Give a bounded task a testable contract.
Suggested speaking time: 1 minutes
TALKING POINTS
• The labels are application choices, not a documented koa-action response schema. Mixed and unclear are first-class outcomes.
• Provide positive and negative examples at the category boundaries. The same contract controls labeling and evaluation.
• A timeout or malformed result must not default into a business transaction. Specify its fallback separately from semantic ambiguity.
Transition: Match the question to the right primitive.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Intent routing
https://docs.typesafe.ai/patterns/intent-routing
Structured decision criteria
https://docs.typesafe.ai/primitives/advanced
SLIDE TEXT REFERENCE
DISAGGREGATED INTELLIGENCE
10 / 34
03 / STEP 1
Start with a decision contract
QUESTION + INPUT
Which service route
is supported now?
Conversation so far
+ service category definitions.
APPLICATION LABELS · BOUNDARY EXAMPLES
“Charged twice.”	billing
“Charged twice; service down.”	mixed
“Something is wrong.”	unclear
Allowed answers
billingtechnicalaccount_accessmixedunclear
Valid but unclear
Ask within a clarification budget.
Timeout or invalid output
Bound retries; then hand off safely.
Neither path authorizes a transaction.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Noul
https://docs.typesafe.ai/primitives/noul
Score
https://docs.typesafe.ai/primitives/score
SLIDE TEXT REFERENCE
DISAGGREGATED INTELLIGENCE
11 / 34
03 / SYSTEM ONE CAPABILITIES
Four bounded decisions, four contracts
01
Classification
Which route?
Select a category.
02
Noul
Cancellation requested?
Assess a yes/no proposition.
03
Scoring
How urgent?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Noul
https://docs.typesafe.ai/primitives/noul
Score
https://docs.typesafe.ai/primitives/score
SLIDE TEXT REFERENCE
DISAGGREGATED INTELLIGENCE
12 / 34
03 / GIVE EVERY NUMBER A MEANING
Probability and intensity answer different questions
NOUL · TYPESAFE SEMANTICS
Was cancellation requested?
A probability-valued
yes/no judgment.
An uncertain answer does not mean
“a medium amount of cancellation.”
SCORE · ILLUSTRATIVE RUBRIC
How urgent is the issue?
Can wait
Work disrupted
Critical service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The waveform is illustrative. The task asks whether a spoken turn has ended using only the available prefix.
• Future speech may establish the reference label, but it must not become part of the earlier input.
• Measure premature cutoff and delay separately. Keep all prefixes of a conversation together when splitting data.
Transition: Next decide which decisions may run in parallel.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13 / 34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Independent questions can read the same snapshot; a later step that needs a new fact must wait for that fact.
• This is a workflow-design pattern, not a claim about a native koa-action batching API.
• Parallel question execution does not imply statistically independent errors. Missing evidence can affect several judgments at once.
Transition: Make each node’s evidence window explicit.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A harness with Jev
https://www.langchain.com/blog/building-a-harness-with-jev
SLIDE TEXT REFERENCE
DISAGGREGATED INTELLIGENCE
14 / 34
04 / STEP 2
Split work along information dependencies
Same decision-time snapshot
Intent
Which route?
Cancellation
Requested or not?
Independent execution can still produce correlated errors.
Verify account access
Retrieve invoice facts
Explain the invoice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Graph design determines what information exists before a node runs and which part of state it receives.
• A customer-provided account identifier does not become a verified identity because it appears in a model output.
• Narrowing context can reduce unnecessary processing, but removing a required fact can reduce quality. Version and evaluate the context selection.
Transition: Use that state to preserve the mixed request.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15 / 34
04 / CONTEXT IS PART OF TOPOLOGY
Each node sees a different view of the case
Conversation prefix + category definitions
Route decision
Trusted principal + account relationship
Access check
Request + authorized invoice facts
Explanation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The application records requested, active, resolved, and handed-off task states separately.
• An explanation is an event, not a proof of resolution. The completion rule should reference the actual business outcome or customer confirmation.
• The clarification loop has a time or turn budget. A handoff retains outstanding work and receiving ownership.
Transition: This is where neural interpretation meets explicit control.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16 / 34
04 / STEP 3
State preserves work across a branch
Route = mixed
Record invoice + outage as pending
Clarify priority
Ask which task to start
Billing active
Outage remains pending
Outage active
Resume once billing is resolved
Recorded handoff
Retain all outstanding work
billing selected
no choice
within budget
billing
resolved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rules and state.
• Guided determinism describes constraints on the effect of model judgments. It does not guarantee perfect classification, identical prose, or eventual completion.
• The configuration and the model can evolve independently when their boundary is explicit and tested.
Transition: Three AgentScript concepts make that boundary concrete.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17 / 34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These are language constructs, not a runnable integration. Action definitions, dialect, and deployment configuration are omitted.
• An availability guard controls the offered action set. Required verification belongs in deterministic procedure logic and must also be enforced by the business service.
• Bind trusted account context rather than allowing model extraction to establish authority. No email-found lookup alone is sufficient authentication.
• The left sketch is language-neutral design pseudocode, not valid AgentScript syntax or a documented adapter. It connects the required procedure, failure route, action gate and trusted argument binding to this case.
Transition: Walk the proposed request through all of its owners.
POWERPOINT EXPORT
This edition preserves the HTML slide design as one outlined SVG graphic with an embedded PNG fallback. Slide text is vector artwork, not editable PowerPoint paragraphs. Speaker notes remain editable. Use the companion HTML for interaction.
WEB REFERENCES
AgentScript control plane
https://www.salesforce.com/blog/agent-script-control-plane/
AgentScript specification
https://github.com/salesforce/agentscript/blob/main/SPEC.md
SLIDE TEXT REFERENCE
DISAGGREGATED INTELLIGENCE
18 / 34
05 / STEP 4
Availability and required execution differ
DESIGN PSEUDOCODE
Control around
the model choice.
access = checkAccess(trustedAccount)
if access != allowed: go to recovery
facts = loadInvoice(trustedAccount)
offer explain(facts) when factsReady
keep outage.pending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billing path preserves the outage task
Section: 05
Purpose: Follow a constructed mixed-intent case and distinguish completion from accepted handoff.
Suggested speaking time: 1.6 minutes
TALKING POINTS
• The same customer asks about an invoice and an outage. The constructed classifier output is mixed, so the graph records two pending obligations.
• Advance to Explain: delivering the response leaves the invoice awaiting confirmation. Only the next event meets this example’s resolution condition.
• The graph resumes the outage task, then an identified queue accepts the handoff. The outage remains unresolved; the whole customer case is not yet complete.
• At the handoff, point out that the workflow preserved work and recorded a receiving owner. The service still owes the customer an outage outcome.
Transition: Now design the non-happy paths.
POWERPOINT EXPORT
This edition preserves the HTML slide design as one outlined SVG graphic with an embedded PNG fallback. Slide text is vector artwork, not editable PowerPoint paragraphs. Speaker notes remain editable. Use the companion HTML for interaction.
STATIC TRACE: Event 8 of 8. Invoice: Resolved; outage: Handed off. Technical support accepts the handoff; the outage remains unresolved.
Walkthrough: capture both requested obligations, prioritize billing, verify access, retrieve authorized facts, explain, confirm resolution, and resume the unresolved outage. The last state records technical support accepting the handoff; it does not claim the outage is resolved.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19 / 34
05 / STEP 5
A billing path preserves the outage task
1
Interpret
koa-action
2
Prioritize
Customer
3
Verify
Service
4
Retrieve
Lookup
5
Explain
Reasoning
6
Confirm
Customer
7
Resume
Graph
8
Handoff
Queue accepts
Technical support accepts the handoff; the outage remains unresolved.
INVOICE
Resolved
Resolution requires
customer confirmation.
OUTAGE
Handed off
Accepted handoff preserves ownership.
It still leaves work unresolved.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specification
https://github.com/salesforce/agentscript/blob/main/SPEC.md
SLIDE TEXT REFERENCE
DISAGGREGATED INTELLIGENCE
20 / 34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TypeSafe defines Choice and Score confidence from distribution concentration. Noul has no separate confidence field.
• The picture is schematic and does not display a returned koa-action distribution. Any provider signal needs a specified meaning and local validation.
• A score cannot authorize a business action. Numerical gates are application operating points, not universal constants.
Transition: Explore what a stricter gate does to a small labeled sample.
POWERPOINT EXPORT
This edition preserves the HTML slide design as one outlined SVG graphic with an embedded PNG fallback. Slide text is vector artwork, not editable PowerPoint paragraphs. Speaker notes remain editable. Use the companion HTML for interaction.
WEB REFERENCES
Confidence routing
https://docs.typesafe.ai/patterns/confidence-routing
Confidence semantics
https://docs.typesafe.ai/confidence
SLIDE TEXT REFERENCE
DISAGGREGATED INTELLIGENCE
21 / 34
06 / INSPECT THE SIGNAL
Confidence needs evidence in your domain
A concentrated distribution
Billing
Tech
Mixed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This edition preserves the HTML slide design as one outlined SVG graphic with an embedded PNG fallback. Slide text is vector artwork, not editable PowerPoint paragraphs. Speaker notes remain editable. Use the companion HTML for interaction.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22 / 34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the routing call replaced by a specialized decision. G does not include the later model call that explains the invoice. Every constant is invented for teaching.
• At p=0.20, candidate routing cost is 0.27 of one baseline unit. At p=0.93 the paths break even; at p=1, adding a decision makes the routing stage 7% more expensive.
• Whole-case savings must include any changed explanations, tools, retries, human work and unresolved obligations. Added development and maintenance investment also needs an explicit volume and horizon.
• The review queue in the previous synthetic gate example and the general-model routing fallback G here are different destinations. Measure the actual destination chosen by each workflow.
Transition: Inference latency has an equally important boundary.
POWERPOINT EXPORT
This edition preserves the HTML slide design as one outlined SVG graphic with an embedded PNG fallback. Slide text is vector artwork, not editable PowerPoint paragraphs. Speaker notes remain editable. Use the companion HTML for interaction.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23 / 34
06 / INTERACTIVE BREAK-EVEN
Savings depend on avoiding expensive work
ROUTING STEP ONLY · INVENTED UNIT COSTS
Baseline = G
Candidate = D + O + pG
G = 1.00 expensive routing call
D = 0.03 specialized decision
O = 0.04 added orchestration
Routes still using G: 20%
HYPOTHETICAL ROUTING-STAGE ARITHMETIC
Baseline
Candidate
73% lower
0.27 normalized units
Break-even: D + O = (1 − p)G
Later explanation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Specialized inference can shorten a repeated semantic step. A faster classifier does not by itself establish faster service resolution.
• Client-observed call latency includes transport and retries; parallel branches affect critical-path duration differently from serial dependencies.
• Measure distribution tails as well as typical latency at the relevant load. Include unfinished cases when reporting resolution, rather than averaging completed cases alone.
Transition: Apply the control model to a deliberately incomplete design.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SLIDE TEXT REFERENCE
DISAGGREGATED INTELLIGENCE
24 / 34
06 / MEASURE THE CRITICAL PATH
Fast inference helps the path that uses it
Fast decision
Measure call latency
Authorized lookup
Required dependency
Explanation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Allow a short pause before revealing the repair. The initial diagram is intentionally incomplete.
• The strongest answer identifies both authored ordering and independent backend enforcement. Raising the classifier threshold alone does not repair the design.
• Also retain pending tasks and specify a bounded fallback. A credit operation has consequences outside the model response.
Transition: Training examples must respect the same decision boundaries.
POWERPOINT EXPORT
This edition preserves the HTML slide design as one outlined SVG graphic with an embedded PNG fallback. Slide text is vector artwork, not editable PowerPoint paragraphs. Speaker notes remain editable. Use the companion HTML for interaction.
STATIC EXERCISE: the repair is revealed. Before showing the repair, ask what is missing between a predicted credit request and a financial action. The repair verifies account access, checks policy, and enforces authorization in the service. The diagram size correction is export-only for the first HTML edition.
WEB REFERENCES
Reliable enterprise agents
https://engineering.salesforce.com/building-enterprise-ai-agents-that-are-both-autonomous-and-reliable/
AgentScript control plane
https://www.salesforce.com/blog/agent-script-control-plane/
SLIDE TEXT REFERENCE
DISAGGREGATED INTELLIGENCE
25 / 34
07 / EXERCISE
Find the missing boundary
Credit requested
Strong model score
Issue credit
Business transaction
Verify access
Trusted principal and account context.
Check policy
Required procedure before the action.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routing node could actually access at the timestamp.
• Use independently adjudicated route labels, including mixed and unclear cases. Reviewers labeling the next step see the decision-time evidence.
• Record redaction, filtering, and derived examples. Preserving the source does not mean transformations leave the model-visible distribution unchanged.
Transition: Separate fitting and selection from final evaluation.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26 / 34
08 / STEP 6
Begin the dataset at the decision boundary
At decision time
INPUT SNAPSHOT
Conversation prefix
Trusted facts available then
Current policy version
REFERENCE LABEL
Next route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27 / 34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28 / 34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LOCAL COMPANION REFERENCES
Tutorial evaluation protocol — blog/08-building-prod.md
These identifiers refer to the accompanying repository and are not broken file hyperlinks.
SLIDE TEXT REFERENCE
DISAGGREGATED INTELLIGENCE
29 / 34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ranges are schematic shapes, not results, effect sizes, or measurement precision. Their only purpose is to show how a predeclared limit is compared with an uncertainty bound. Limits and the analysis method must be chosen before testing.
• On the left, the upper bound on the increase in failed-case rate reaches beyond the maximum allowed loss. Quality has not passed even if the point estimate might look reassuring. On the right, the lower bound on saving per incoming case clears the minimum required gain. Both conditions must pass before rollout, so this candidate waits.
• The worked trace has an invoice resolved and an outage handed off with work still outstanding. At the fixed service deadline that is an incomplete case. An incorrect outcome or any unresolved requested task counts as a failed case; count each incoming case once.
• Consequential-action limits and response/resolution latency limits are additional gates. Assess harmful actions across all incoming cases and an independently defined relevant cohort shared by both systems. Record unresolved cases rather than averaging only completed service.
• The formal joint null is unacceptable quality loss OR insufficient saving. Failure to find a significant quality difference is insufficient evidence of acceptable equivalence. Predeclare sample size, grouping, and the uncertainty method; retain the statistical detail in the companion notes.
Transition: First isolate the decision on held-out snapshots, then measure the whole service in a controlled pilot.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30 / 34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invoice resolved + outage pending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31 / 34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A wrong route can motivate better decision data. A correct mixed route followed by dropped state calls for a workflow repair.
• Offline semantic judges can prioritize traces, but require validation against independent references. Repeatability is a separate property from correctness.
• Sample apparent successes as well as escalations. A post-run evaluation score cannot prevent an action that has already happened.
Transition: Finish by identifying one worthwhile first change.
POWERPOINT EXPORT
This edition preserves the HTML slide design as one outlined SVG graphic with an embedded PNG fallback. Slide text is vector artwork, not editable PowerPoint paragraphs. Speaker notes remain editable. Use the companion HTML for interaction.
WEB REFERENCES
Jev in LangSmith Evals
https://www.langchain.com/blog/jev-is-now-available-in-langsmith-evals
Jev-as-a-Judge
https://www.langchain.com/blog/jev-agent-evals-langsmith
SLIDE TEXT REFERENCE
DISAGGREGATED INTELLIGENCE
32 / 34
09 / IMPROVE THE RESPONSIBLE COMPONENT
Diagnose the boundary that failed
Invoice explained; outage lost
Inspect the recorded route and state changes
ROUTE = BILLING
Decision boundary
Inspect input evidence,
labels, and category definition.
ROUTE = MIXED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tutorial’s central claim is an allocation principle: specialize judgment where it earns its place, retain general reasoning where needed, and make control explicit.
• Predictable contracts and runtime paths create an inspectable system; correctness and economics still require evidence from complete cases.
• The next engineering artifact is a decision contract and a small graph, followed by held-out evaluation and a controlled pilot.
• Build assignment: draft the route question, mixed and unclear examples, the node’s input view, its guarded failure edge, and a full-case acceptance rule. The handout records this compact artifact.
Transition: Use the source notes and full blog for the details behind this tutorial.
POWERPOINT EXPORT
This edition preserves the HTML slide design as one outlined SVG graphic with an embedded PNG fallback. Slide text is vector artwork, not editable PowerPoint paragraphs. Speaker notes remain editable. Use the companion HTML for interaction.
WEB REFERENCES
Composable AI
https://typesafe.ai/manifesto
Agent Graph / guided determinism
https://engineering.salesforce.com/agentforces-agent-graph-toward-guided-determinism-with-hybrid-reasoning/
SLIDE TEXT REFERENCE
DISAGGREGATED INTELLIGENCE
33 / 34
10 / BUILD, MEASURE, REVISE
Start with one decision that changes the path
Give each decision
a purpose.
Give the workflow
a contract.
Complete both customer requests
within the reliability and cost limits.
01Write one bounded route question.
02Label mixed and unclear examples.
03Declare the node’s input view.
04Draw the guarded failure route.
05Define complete-case acceptance.
Composable AI · Agent Graph / guided determinism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complete research ledger covers all sixteen requested web resources plus the final local blog and supplementary primary documentation.
• The Salesforce stack roles are grounded in the user brief and public graph/language resources; integration examples and training protocols remain proposals.
• No koa-action benchmark, SDK contract, fine-tuning access, or native adapter is asserted. The diagrams and numeric interactions are independently authored teaching examples.
Transition: End of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Tutorial evaluation protocol ↗ — blog/07-building-prod.md
Full training pipeline ↗ — assets/training-pipeline.svg
These identifiers refer to the accompanying repository and are not broken file hyperlinks.
SLIDE TEXT REFERENCE
DISAGGREGATED INTELLIGENCE
34 / 34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Tutorial evaluation protocol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typesafe.ai/manifesto" TargetMode="External"/><Relationship Id="rId1" Type="http://schemas.openxmlformats.org/officeDocument/2006/relationships/image" Target="../media/image-1-1.png"/><Relationship Id="rId2" Type="http://schemas.openxmlformats.org/officeDocument/2006/relationships/image" Target="../media/image-1-2.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typesafe.ai/manifesto" TargetMode="External"/><Relationship Id="rId1" Type="http://schemas.openxmlformats.org/officeDocument/2006/relationships/image" Target="../media/image-2-1.png"/><Relationship Id="rId2"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1.png"/><Relationship Id="rId2" Type="http://schemas.openxmlformats.org/officeDocument/2006/relationships/image" Target="../media/image-3-2.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4-1.png"/><Relationship Id="rId2" Type="http://schemas.openxmlformats.org/officeDocument/2006/relationships/image" Target="../media/image-4-2.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5-1.png"/><Relationship Id="rId2" Type="http://schemas.openxmlformats.org/officeDocument/2006/relationships/image" Target="../media/image-5-2.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6-1.png"/><Relationship Id="rId2" Type="http://schemas.openxmlformats.org/officeDocument/2006/relationships/image" Target="../media/image-6-2.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docs.typesafe.ai/patterns/intent-rout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7-1.png"/><Relationship Id="rId2" Type="http://schemas.openxmlformats.org/officeDocument/2006/relationships/image" Target="../media/image-7-2.sv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www.langchain.com/blog/deep-agents-vs-langchain-vs-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9-1.png"/><Relationship Id="rId2" Type="http://schemas.openxmlformats.org/officeDocument/2006/relationships/image" Target="../media/image-9-2.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atterns/intent-routing" TargetMode="External"/><Relationship Id="rId5" Type="http://schemas.openxmlformats.org/officeDocument/2006/relationships/hyperlink" Target="https://docs.typesafe.ai/primitives/advanced" TargetMode="External"/><Relationship Id="rId1" Type="http://schemas.openxmlformats.org/officeDocument/2006/relationships/image" Target="../media/image-10-1.png"/><Relationship Id="rId2" Type="http://schemas.openxmlformats.org/officeDocument/2006/relationships/image" Target="../media/image-10-2.sv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rimitives/noul" TargetMode="External"/><Relationship Id="rId5" Type="http://schemas.openxmlformats.org/officeDocument/2006/relationships/hyperlink" Target="https://docs.typesafe.ai/primitives/score" TargetMode="External"/><Relationship Id="rId1" Type="http://schemas.openxmlformats.org/officeDocument/2006/relationships/image" Target="../media/image-11-1.png"/><Relationship Id="rId2" Type="http://schemas.openxmlformats.org/officeDocument/2006/relationships/image" Target="../media/image-11-2.sv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docs.typesafe.ai/primitives/noul" TargetMode="External"/><Relationship Id="rId4" Type="http://schemas.openxmlformats.org/officeDocument/2006/relationships/hyperlink" Target="https://docs.typesafe.ai/primitives/score" TargetMode="External"/><Relationship Id="rId1" Type="http://schemas.openxmlformats.org/officeDocument/2006/relationships/image" Target="../media/image-12-1.png"/><Relationship Id="rId2" Type="http://schemas.openxmlformats.org/officeDocument/2006/relationships/image" Target="../media/image-12-2.sv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13-1.png"/><Relationship Id="rId2" Type="http://schemas.openxmlformats.org/officeDocument/2006/relationships/image" Target="../media/image-13-2.sv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4" Type="http://schemas.openxmlformats.org/officeDocument/2006/relationships/hyperlink" Target="https://www.langchain.com/blog/building-a-harness-with-jev" TargetMode="External"/><Relationship Id="rId1" Type="http://schemas.openxmlformats.org/officeDocument/2006/relationships/image" Target="../media/image-14-1.png"/><Relationship Id="rId2" Type="http://schemas.openxmlformats.org/officeDocument/2006/relationships/image" Target="../media/image-14-2.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concepts/how-to-build-with-system-one" TargetMode="External"/><Relationship Id="rId1" Type="http://schemas.openxmlformats.org/officeDocument/2006/relationships/image" Target="../media/image-15-1.png"/><Relationship Id="rId2" Type="http://schemas.openxmlformats.org/officeDocument/2006/relationships/image" Target="../media/image-15-2.sv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16-1.png"/><Relationship Id="rId2" Type="http://schemas.openxmlformats.org/officeDocument/2006/relationships/image" Target="../media/image-16-2.sv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7-1.png"/><Relationship Id="rId2" Type="http://schemas.openxmlformats.org/officeDocument/2006/relationships/image" Target="../media/image-17-2.sv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www.salesforce.com/blog/agent-script-control-plan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8-1.png"/><Relationship Id="rId2" Type="http://schemas.openxmlformats.org/officeDocument/2006/relationships/image" Target="../media/image-18-2.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19-1.png"/><Relationship Id="rId2" Type="http://schemas.openxmlformats.org/officeDocument/2006/relationships/image" Target="../media/image-19-2.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20-1.png"/><Relationship Id="rId2" Type="http://schemas.openxmlformats.org/officeDocument/2006/relationships/image" Target="../media/image-20-2.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1-1.png"/><Relationship Id="rId2" Type="http://schemas.openxmlformats.org/officeDocument/2006/relationships/image" Target="../media/image-21-2.sv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2-1.png"/><Relationship Id="rId2" Type="http://schemas.openxmlformats.org/officeDocument/2006/relationships/image" Target="../media/image-22-2.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docs.typesafe.ai/concepts/how-to-build-with-system-one" TargetMode="External"/><Relationship Id="rId1" Type="http://schemas.openxmlformats.org/officeDocument/2006/relationships/image" Target="../media/image-23-1.png"/><Relationship Id="rId2" Type="http://schemas.openxmlformats.org/officeDocument/2006/relationships/image" Target="../media/image-23-2.sv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1" Type="http://schemas.openxmlformats.org/officeDocument/2006/relationships/image" Target="../media/image-24-1.png"/><Relationship Id="rId2" Type="http://schemas.openxmlformats.org/officeDocument/2006/relationships/image" Target="../media/image-24-2.sv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25-1.png"/><Relationship Id="rId2" Type="http://schemas.openxmlformats.org/officeDocument/2006/relationships/image" Target="../media/image-25-2.sv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29-1.png"/><Relationship Id="rId2" Type="http://schemas.openxmlformats.org/officeDocument/2006/relationships/image" Target="../media/image-29-2.sv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www.langchain.com/blog/jev-is-now-available-in-langsmith-evals" TargetMode="External"/><Relationship Id="rId4" Type="http://schemas.openxmlformats.org/officeDocument/2006/relationships/hyperlink" Target="https://www.langchain.com/blog/jev-agent-evals-langsmith" TargetMode="External"/><Relationship Id="rId1" Type="http://schemas.openxmlformats.org/officeDocument/2006/relationships/image" Target="../media/image-32-1.png"/><Relationship Id="rId2" Type="http://schemas.openxmlformats.org/officeDocument/2006/relationships/image" Target="../media/image-32-2.sv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3-1.png"/><Relationship Id="rId2" Type="http://schemas.openxmlformats.org/officeDocument/2006/relationships/image" Target="../media/image-33-2.sv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5" Type="http://schemas.openxmlformats.org/officeDocument/2006/relationships/hyperlink" Target="https://www.salesforce.com/blog/agent-script-control-plane/" TargetMode="External"/><Relationship Id="rId6" Type="http://schemas.openxmlformats.org/officeDocument/2006/relationships/hyperlink" Target="https://github.com/salesforce/agentscript/blob/main/SPEC.md" TargetMode="External"/><Relationship Id="rId7" Type="http://schemas.openxmlformats.org/officeDocument/2006/relationships/hyperlink" Target="https://www.langchain.com/blog/building-prod-with-jev-and-langgraph" TargetMode="External"/><Relationship Id="rId8" Type="http://schemas.openxmlformats.org/officeDocument/2006/relationships/hyperlink" Target="https://www.langchain.com/blog/building-a-harness-with-jev" TargetMode="External"/><Relationship Id="rId9" Type="http://schemas.openxmlformats.org/officeDocument/2006/relationships/hyperlink" Target="https://www.langchain.com/blog/jev-is-now-available-in-langsmith-evals" TargetMode="External"/><Relationship Id="rId10" Type="http://schemas.openxmlformats.org/officeDocument/2006/relationships/hyperlink" Target="https://www.langchain.com/blog/jev-agent-evals-langsmith" TargetMode="External"/><Relationship Id="rId11" Type="http://schemas.openxmlformats.org/officeDocument/2006/relationships/hyperlink" Target="https://www.langchain.com/blog/deep-agents-vs-langchain-vs-langgraph" TargetMode="External"/><Relationship Id="rId12" Type="http://schemas.openxmlformats.org/officeDocument/2006/relationships/hyperlink" Target="https://typesafe.ai/manifesto" TargetMode="External"/><Relationship Id="rId13" Type="http://schemas.openxmlformats.org/officeDocument/2006/relationships/hyperlink" Target="https://docs.typesafe.ai/introduction/quickstart" TargetMode="External"/><Relationship Id="rId14" Type="http://schemas.openxmlformats.org/officeDocument/2006/relationships/hyperlink" Target="https://docs.typesafe.ai/patterns/confidence-routing" TargetMode="External"/><Relationship Id="rId15" Type="http://schemas.openxmlformats.org/officeDocument/2006/relationships/hyperlink" Target="https://docs.typesafe.ai/patterns/intent-routing" TargetMode="External"/><Relationship Id="rId16" Type="http://schemas.openxmlformats.org/officeDocument/2006/relationships/hyperlink" Target="https://docs.typesafe.ai/primitives/advanced" TargetMode="External"/><Relationship Id="rId17" Type="http://schemas.openxmlformats.org/officeDocument/2006/relationships/hyperlink" Target="https://docs.typesafe.ai/concepts/how-to-build-with-system-one" TargetMode="External"/><Relationship Id="rId18" Type="http://schemas.openxmlformats.org/officeDocument/2006/relationships/hyperlink" Target="https://everythingagents.org/topics/guided-determinism" TargetMode="External"/><Relationship Id="rId19" Type="http://schemas.openxmlformats.org/officeDocument/2006/relationships/hyperlink" Target="https://docs.typesafe.ai/confidence" TargetMode="External"/><Relationship Id="rId1" Type="http://schemas.openxmlformats.org/officeDocument/2006/relationships/image" Target="../media/image-34-1.png"/><Relationship Id="rId2" Type="http://schemas.openxmlformats.org/officeDocument/2006/relationships/image" Target="../media/image-34-2.svg"/><Relationship Id="rId20" Type="http://schemas.openxmlformats.org/officeDocument/2006/relationships/slideLayout" Target="../slideLayouts/slideLayout1.xml"/><Relationship Id="rId21"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pening — outlined slide artwork" descr="Disaggregated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2656483"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enefits — outlined slide artwork" descr="Four benefits. One service to meas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1605756"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case — outlined slide artwork" descr="One customer, two obliga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wnership — outlined slide artwork" descr="Give each responsibility an own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opology — outlined slide artwork" descr="Process knowledge becomes topolog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60575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returns-comparison — outlined slide artwork" descr="One return, two allocations of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1605756"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returns-fallback — outlined slide artwork" descr="Frontier reasoning needs an explicit gat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Intent routing">
            <a:hlinkClick r:id="rId3" tooltip="Intent routing"/>
          </p:cNvPr>
          <p:cNvSpPr/>
          <p:nvPr/>
        </p:nvSpPr>
        <p:spPr>
          <a:xfrm>
            <a:off x="558800" y="6140450"/>
            <a:ext cx="812602"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1451868"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returns-policy — outlined slide artwork" descr="Loyalty changes the window and the fe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layers — outlined slide artwork" descr="A runtime sits beneath the harnes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untime, framework, harness">
            <a:hlinkClick r:id="rId3" tooltip="Runtime, framework, harness"/>
          </p:cNvPr>
          <p:cNvSpPr/>
          <p:nvPr/>
        </p:nvSpPr>
        <p:spPr>
          <a:xfrm>
            <a:off x="558800" y="6140450"/>
            <a:ext cx="171628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355552"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contract — outlined slide artwork" descr="Start with a decision contrac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Intent routing">
            <a:hlinkClick r:id="rId4" tooltip="Intent routing"/>
          </p:cNvPr>
          <p:cNvSpPr/>
          <p:nvPr/>
        </p:nvSpPr>
        <p:spPr>
          <a:xfrm>
            <a:off x="1821259" y="6140450"/>
            <a:ext cx="812602" cy="171450"/>
          </a:xfrm>
          <a:prstGeom prst="rect">
            <a:avLst/>
          </a:prstGeom>
          <a:solidFill>
            <a:srgbClr val="FFFFFF">
              <a:alpha val="0"/>
            </a:srgbClr>
          </a:solidFill>
          <a:ln w="12700">
            <a:solidFill>
              <a:srgbClr val="333333">
                <a:alpha val="0"/>
              </a:srgbClr>
            </a:solidFill>
            <a:prstDash val="solid"/>
          </a:ln>
        </p:spPr>
      </p:sp>
      <p:sp>
        <p:nvSpPr>
          <p:cNvPr id="5" name="Source: Structured decision criteria">
            <a:hlinkClick r:id="rId5" tooltip="Structured decision criteria"/>
          </p:cNvPr>
          <p:cNvSpPr/>
          <p:nvPr/>
        </p:nvSpPr>
        <p:spPr>
          <a:xfrm>
            <a:off x="2714327" y="6140450"/>
            <a:ext cx="161756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primitives — outlined slide artwork" descr="Four bounded decisions, four contract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Noul">
            <a:hlinkClick r:id="rId4" tooltip="Noul"/>
          </p:cNvPr>
          <p:cNvSpPr/>
          <p:nvPr/>
        </p:nvSpPr>
        <p:spPr>
          <a:xfrm>
            <a:off x="1821259" y="6140450"/>
            <a:ext cx="270073" cy="171450"/>
          </a:xfrm>
          <a:prstGeom prst="rect">
            <a:avLst/>
          </a:prstGeom>
          <a:solidFill>
            <a:srgbClr val="FFFFFF">
              <a:alpha val="0"/>
            </a:srgbClr>
          </a:solidFill>
          <a:ln w="12700">
            <a:solidFill>
              <a:srgbClr val="333333">
                <a:alpha val="0"/>
              </a:srgbClr>
            </a:solidFill>
            <a:prstDash val="solid"/>
          </a:ln>
        </p:spPr>
      </p:sp>
      <p:sp>
        <p:nvSpPr>
          <p:cNvPr id="5" name="Source: Score">
            <a:hlinkClick r:id="rId5" tooltip="Score"/>
          </p:cNvPr>
          <p:cNvSpPr/>
          <p:nvPr/>
        </p:nvSpPr>
        <p:spPr>
          <a:xfrm>
            <a:off x="2171799"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semantics — outlined slide artwork" descr="Probability and intensity answer different ques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Noul">
            <a:hlinkClick r:id="rId3" tooltip="Noul"/>
          </p:cNvPr>
          <p:cNvSpPr/>
          <p:nvPr/>
        </p:nvSpPr>
        <p:spPr>
          <a:xfrm>
            <a:off x="558800" y="6140450"/>
            <a:ext cx="270073" cy="171450"/>
          </a:xfrm>
          <a:prstGeom prst="rect">
            <a:avLst/>
          </a:prstGeom>
          <a:solidFill>
            <a:srgbClr val="FFFFFF">
              <a:alpha val="0"/>
            </a:srgbClr>
          </a:solidFill>
          <a:ln w="12700">
            <a:solidFill>
              <a:srgbClr val="333333">
                <a:alpha val="0"/>
              </a:srgbClr>
            </a:solidFill>
            <a:prstDash val="solid"/>
          </a:ln>
        </p:spPr>
      </p:sp>
      <p:sp>
        <p:nvSpPr>
          <p:cNvPr id="4" name="Source: Score">
            <a:hlinkClick r:id="rId4" tooltip="Score"/>
          </p:cNvPr>
          <p:cNvSpPr/>
          <p:nvPr/>
        </p:nvSpPr>
        <p:spPr>
          <a:xfrm>
            <a:off x="909340"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endpointing — outlined slide artwork" descr="Endpointing is a decision in tim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dependencies — outlined slide artwork" descr="Split work along information dependencie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
        <p:nvSpPr>
          <p:cNvPr id="4" name="Source: A harness with Jev">
            <a:hlinkClick r:id="rId4" tooltip="A harness with Jev"/>
          </p:cNvPr>
          <p:cNvSpPr/>
          <p:nvPr/>
        </p:nvSpPr>
        <p:spPr>
          <a:xfrm>
            <a:off x="2131318" y="6140450"/>
            <a:ext cx="108922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context — outlined slide artwork" descr="Each node sees a different view of the c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
        <p:nvSpPr>
          <p:cNvPr id="5" name="Source: Building with System One">
            <a:hlinkClick r:id="rId5" tooltip="Building with System One"/>
          </p:cNvPr>
          <p:cNvSpPr/>
          <p:nvPr/>
        </p:nvSpPr>
        <p:spPr>
          <a:xfrm>
            <a:off x="4251027"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mixed — outlined slide artwork" descr="State preserves work across a branc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guided — outlined slide artwork" descr="Guided determinism gives uncertainty a pl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agentscript — outlined slide artwork" descr="Availability and required execution diff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Script control plane">
            <a:hlinkClick r:id="rId3" tooltip="AgentScript control plane"/>
          </p:cNvPr>
          <p:cNvSpPr/>
          <p:nvPr/>
        </p:nvSpPr>
        <p:spPr>
          <a:xfrm>
            <a:off x="558800" y="6140450"/>
            <a:ext cx="1514078"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5334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trace — outlined slide artwork" descr="A billing path preserves the outage tas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Reliable enterprise agents">
            <a:hlinkClick r:id="rId4" tooltip="Reliable enterprise agents"/>
          </p:cNvPr>
          <p:cNvSpPr/>
          <p:nvPr/>
        </p:nvSpPr>
        <p:spPr>
          <a:xfrm>
            <a:off x="2656483" y="6140450"/>
            <a:ext cx="154701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failures — outlined slide artwork" descr="Failure routes are part of the progra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8628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confidence — outlined slide artwork" descr="Confidence needs evidence in your domai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gate — outlined slide artwork" descr="A stricter gate moves work somewhe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economics — outlined slide artwork" descr="Savings depend on avoiding expensive wor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Building with System One">
            <a:hlinkClick r:id="rId4" tooltip="Building with System One"/>
          </p:cNvPr>
          <p:cNvSpPr/>
          <p:nvPr/>
        </p:nvSpPr>
        <p:spPr>
          <a:xfrm>
            <a:off x="1522016"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latency — outlined slide artwork" descr="Fast inference helps the path that uses i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exercise — outlined slide artwork" descr="Find the missing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186285"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dataset — outlined slide artwork" descr="Begin the dataset at the decision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training-partitions — outlined slide artwork" descr="Split examples before developing the decisio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training-release — outlined slide artwork" descr="Freeze the workflow before earning rele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splits — outlined slide artwork" descr="Choose the split that matches the clai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2252365"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acceptance — outlined slide artwork" descr="Lower cost must come with acceptable quali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evaluation — outlined slide artwork" descr="Evaluate the decision, then the servi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diagnosis — outlined slide artwork" descr="Diagnose the boundary that failed.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in LangSmith Evals">
            <a:hlinkClick r:id="rId3" tooltip="Jev in LangSmith Evals"/>
          </p:cNvPr>
          <p:cNvSpPr/>
          <p:nvPr/>
        </p:nvSpPr>
        <p:spPr>
          <a:xfrm>
            <a:off x="558800" y="6140450"/>
            <a:ext cx="1317526" cy="171450"/>
          </a:xfrm>
          <a:prstGeom prst="rect">
            <a:avLst/>
          </a:prstGeom>
          <a:solidFill>
            <a:srgbClr val="FFFFFF">
              <a:alpha val="0"/>
            </a:srgbClr>
          </a:solidFill>
          <a:ln w="12700">
            <a:solidFill>
              <a:srgbClr val="333333">
                <a:alpha val="0"/>
              </a:srgbClr>
            </a:solidFill>
            <a:prstDash val="solid"/>
          </a:ln>
        </p:spPr>
      </p:sp>
      <p:sp>
        <p:nvSpPr>
          <p:cNvPr id="4" name="Source: Jev-as-a-Judge">
            <a:hlinkClick r:id="rId4" tooltip="Jev-as-a-Judge"/>
          </p:cNvPr>
          <p:cNvSpPr/>
          <p:nvPr/>
        </p:nvSpPr>
        <p:spPr>
          <a:xfrm>
            <a:off x="1956792"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close — outlined slide artwork" descr="Start with one decision that changes the pat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52201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sources — outlined slide artwork" descr="Read the evidence behind the architect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
            <a:hlinkClick r:id="rId3" tooltip="Agent Graph / guided determinism ↗"/>
          </p:cNvPr>
          <p:cNvSpPr/>
          <p:nvPr/>
        </p:nvSpPr>
        <p:spPr>
          <a:xfrm>
            <a:off x="787400" y="2471341"/>
            <a:ext cx="2712045" cy="222250"/>
          </a:xfrm>
          <a:prstGeom prst="rect">
            <a:avLst/>
          </a:prstGeom>
          <a:solidFill>
            <a:srgbClr val="FFFFFF">
              <a:alpha val="0"/>
            </a:srgbClr>
          </a:solidFill>
          <a:ln w="12700">
            <a:solidFill>
              <a:srgbClr val="333333">
                <a:alpha val="0"/>
              </a:srgbClr>
            </a:solidFill>
            <a:prstDash val="solid"/>
          </a:ln>
        </p:spPr>
      </p:sp>
      <p:sp>
        <p:nvSpPr>
          <p:cNvPr id="4" name="Source: Reliable enterprise agents ↗">
            <a:hlinkClick r:id="rId4" tooltip="Reliable enterprise agents ↗"/>
          </p:cNvPr>
          <p:cNvSpPr/>
          <p:nvPr/>
        </p:nvSpPr>
        <p:spPr>
          <a:xfrm>
            <a:off x="787400" y="2823766"/>
            <a:ext cx="2124273" cy="222250"/>
          </a:xfrm>
          <a:prstGeom prst="rect">
            <a:avLst/>
          </a:prstGeom>
          <a:solidFill>
            <a:srgbClr val="FFFFFF">
              <a:alpha val="0"/>
            </a:srgbClr>
          </a:solidFill>
          <a:ln w="12700">
            <a:solidFill>
              <a:srgbClr val="333333">
                <a:alpha val="0"/>
              </a:srgbClr>
            </a:solidFill>
            <a:prstDash val="solid"/>
          </a:ln>
        </p:spPr>
      </p:sp>
      <p:sp>
        <p:nvSpPr>
          <p:cNvPr id="5" name="Source: AgentScript control plane ↗">
            <a:hlinkClick r:id="rId5" tooltip="AgentScript control plane ↗"/>
          </p:cNvPr>
          <p:cNvSpPr/>
          <p:nvPr/>
        </p:nvSpPr>
        <p:spPr>
          <a:xfrm>
            <a:off x="787400" y="3176191"/>
            <a:ext cx="2083098" cy="222250"/>
          </a:xfrm>
          <a:prstGeom prst="rect">
            <a:avLst/>
          </a:prstGeom>
          <a:solidFill>
            <a:srgbClr val="FFFFFF">
              <a:alpha val="0"/>
            </a:srgbClr>
          </a:solidFill>
          <a:ln w="12700">
            <a:solidFill>
              <a:srgbClr val="333333">
                <a:alpha val="0"/>
              </a:srgbClr>
            </a:solidFill>
            <a:prstDash val="solid"/>
          </a:ln>
        </p:spPr>
      </p:sp>
      <p:sp>
        <p:nvSpPr>
          <p:cNvPr id="6" name="Source: AgentScript specification ↗">
            <a:hlinkClick r:id="rId6" tooltip="AgentScript specification ↗"/>
          </p:cNvPr>
          <p:cNvSpPr/>
          <p:nvPr/>
        </p:nvSpPr>
        <p:spPr>
          <a:xfrm>
            <a:off x="787400" y="3528616"/>
            <a:ext cx="2074763" cy="222250"/>
          </a:xfrm>
          <a:prstGeom prst="rect">
            <a:avLst/>
          </a:prstGeom>
          <a:solidFill>
            <a:srgbClr val="FFFFFF">
              <a:alpha val="0"/>
            </a:srgbClr>
          </a:solidFill>
          <a:ln w="12700">
            <a:solidFill>
              <a:srgbClr val="333333">
                <a:alpha val="0"/>
              </a:srgbClr>
            </a:solidFill>
            <a:prstDash val="solid"/>
          </a:ln>
        </p:spPr>
      </p:sp>
      <p:sp>
        <p:nvSpPr>
          <p:cNvPr id="7" name="Source: Jev + LangGraph ↗">
            <a:hlinkClick r:id="rId7" tooltip="Jev + LangGraph ↗"/>
          </p:cNvPr>
          <p:cNvSpPr/>
          <p:nvPr/>
        </p:nvSpPr>
        <p:spPr>
          <a:xfrm>
            <a:off x="4533900" y="2471341"/>
            <a:ext cx="1398587" cy="222250"/>
          </a:xfrm>
          <a:prstGeom prst="rect">
            <a:avLst/>
          </a:prstGeom>
          <a:solidFill>
            <a:srgbClr val="FFFFFF">
              <a:alpha val="0"/>
            </a:srgbClr>
          </a:solidFill>
          <a:ln w="12700">
            <a:solidFill>
              <a:srgbClr val="333333">
                <a:alpha val="0"/>
              </a:srgbClr>
            </a:solidFill>
            <a:prstDash val="solid"/>
          </a:ln>
        </p:spPr>
      </p:sp>
      <p:sp>
        <p:nvSpPr>
          <p:cNvPr id="8" name="Source: A harness with Jev ↗">
            <a:hlinkClick r:id="rId8" tooltip="A harness with Jev ↗"/>
          </p:cNvPr>
          <p:cNvSpPr/>
          <p:nvPr/>
        </p:nvSpPr>
        <p:spPr>
          <a:xfrm>
            <a:off x="4533900" y="2823766"/>
            <a:ext cx="1551980" cy="222250"/>
          </a:xfrm>
          <a:prstGeom prst="rect">
            <a:avLst/>
          </a:prstGeom>
          <a:solidFill>
            <a:srgbClr val="FFFFFF">
              <a:alpha val="0"/>
            </a:srgbClr>
          </a:solidFill>
          <a:ln w="12700">
            <a:solidFill>
              <a:srgbClr val="333333">
                <a:alpha val="0"/>
              </a:srgbClr>
            </a:solidFill>
            <a:prstDash val="solid"/>
          </a:ln>
        </p:spPr>
      </p:sp>
      <p:sp>
        <p:nvSpPr>
          <p:cNvPr id="9" name="Source: Jev in LangSmith Evals ↗">
            <a:hlinkClick r:id="rId9" tooltip="Jev in LangSmith Evals ↗"/>
          </p:cNvPr>
          <p:cNvSpPr/>
          <p:nvPr/>
        </p:nvSpPr>
        <p:spPr>
          <a:xfrm>
            <a:off x="4533900" y="3176191"/>
            <a:ext cx="1837432" cy="222250"/>
          </a:xfrm>
          <a:prstGeom prst="rect">
            <a:avLst/>
          </a:prstGeom>
          <a:solidFill>
            <a:srgbClr val="FFFFFF">
              <a:alpha val="0"/>
            </a:srgbClr>
          </a:solidFill>
          <a:ln w="12700">
            <a:solidFill>
              <a:srgbClr val="333333">
                <a:alpha val="0"/>
              </a:srgbClr>
            </a:solidFill>
            <a:prstDash val="solid"/>
          </a:ln>
        </p:spPr>
      </p:sp>
      <p:sp>
        <p:nvSpPr>
          <p:cNvPr id="10" name="Source: Jev-as-a-Judge ↗">
            <a:hlinkClick r:id="rId10" tooltip="Jev-as-a-Judge ↗"/>
          </p:cNvPr>
          <p:cNvSpPr/>
          <p:nvPr/>
        </p:nvSpPr>
        <p:spPr>
          <a:xfrm>
            <a:off x="4533900" y="3528616"/>
            <a:ext cx="1345902" cy="222250"/>
          </a:xfrm>
          <a:prstGeom prst="rect">
            <a:avLst/>
          </a:prstGeom>
          <a:solidFill>
            <a:srgbClr val="FFFFFF">
              <a:alpha val="0"/>
            </a:srgbClr>
          </a:solidFill>
          <a:ln w="12700">
            <a:solidFill>
              <a:srgbClr val="333333">
                <a:alpha val="0"/>
              </a:srgbClr>
            </a:solidFill>
            <a:prstDash val="solid"/>
          </a:ln>
        </p:spPr>
      </p:sp>
      <p:sp>
        <p:nvSpPr>
          <p:cNvPr id="11" name="Source: Runtime, framework, harness ↗">
            <a:hlinkClick r:id="rId11" tooltip="Runtime, framework, harness ↗"/>
          </p:cNvPr>
          <p:cNvSpPr/>
          <p:nvPr/>
        </p:nvSpPr>
        <p:spPr>
          <a:xfrm>
            <a:off x="4533900" y="3881041"/>
            <a:ext cx="2335808" cy="222250"/>
          </a:xfrm>
          <a:prstGeom prst="rect">
            <a:avLst/>
          </a:prstGeom>
          <a:solidFill>
            <a:srgbClr val="FFFFFF">
              <a:alpha val="0"/>
            </a:srgbClr>
          </a:solidFill>
          <a:ln w="12700">
            <a:solidFill>
              <a:srgbClr val="333333">
                <a:alpha val="0"/>
              </a:srgbClr>
            </a:solidFill>
            <a:prstDash val="solid"/>
          </a:ln>
        </p:spPr>
      </p:sp>
      <p:sp>
        <p:nvSpPr>
          <p:cNvPr id="12" name="Source: Composable AI ↗">
            <a:hlinkClick r:id="rId12" tooltip="Composable AI ↗"/>
          </p:cNvPr>
          <p:cNvSpPr/>
          <p:nvPr/>
        </p:nvSpPr>
        <p:spPr>
          <a:xfrm>
            <a:off x="8280400" y="2471341"/>
            <a:ext cx="1293912" cy="222250"/>
          </a:xfrm>
          <a:prstGeom prst="rect">
            <a:avLst/>
          </a:prstGeom>
          <a:solidFill>
            <a:srgbClr val="FFFFFF">
              <a:alpha val="0"/>
            </a:srgbClr>
          </a:solidFill>
          <a:ln w="12700">
            <a:solidFill>
              <a:srgbClr val="333333">
                <a:alpha val="0"/>
              </a:srgbClr>
            </a:solidFill>
            <a:prstDash val="solid"/>
          </a:ln>
        </p:spPr>
      </p:sp>
      <p:sp>
        <p:nvSpPr>
          <p:cNvPr id="13" name="Source: TypeSafe quickstart ↗">
            <a:hlinkClick r:id="rId13" tooltip="TypeSafe quickstart ↗"/>
          </p:cNvPr>
          <p:cNvSpPr/>
          <p:nvPr/>
        </p:nvSpPr>
        <p:spPr>
          <a:xfrm>
            <a:off x="8280400" y="2823766"/>
            <a:ext cx="1667966" cy="222250"/>
          </a:xfrm>
          <a:prstGeom prst="rect">
            <a:avLst/>
          </a:prstGeom>
          <a:solidFill>
            <a:srgbClr val="FFFFFF">
              <a:alpha val="0"/>
            </a:srgbClr>
          </a:solidFill>
          <a:ln w="12700">
            <a:solidFill>
              <a:srgbClr val="333333">
                <a:alpha val="0"/>
              </a:srgbClr>
            </a:solidFill>
            <a:prstDash val="solid"/>
          </a:ln>
        </p:spPr>
      </p:sp>
      <p:sp>
        <p:nvSpPr>
          <p:cNvPr id="14" name="Source: Confidence routing ↗">
            <a:hlinkClick r:id="rId14" tooltip="Confidence routing ↗"/>
          </p:cNvPr>
          <p:cNvSpPr/>
          <p:nvPr/>
        </p:nvSpPr>
        <p:spPr>
          <a:xfrm>
            <a:off x="8280400" y="3176191"/>
            <a:ext cx="1622227" cy="222250"/>
          </a:xfrm>
          <a:prstGeom prst="rect">
            <a:avLst/>
          </a:prstGeom>
          <a:solidFill>
            <a:srgbClr val="FFFFFF">
              <a:alpha val="0"/>
            </a:srgbClr>
          </a:solidFill>
          <a:ln w="12700">
            <a:solidFill>
              <a:srgbClr val="333333">
                <a:alpha val="0"/>
              </a:srgbClr>
            </a:solidFill>
            <a:prstDash val="solid"/>
          </a:ln>
        </p:spPr>
      </p:sp>
      <p:sp>
        <p:nvSpPr>
          <p:cNvPr id="15" name="Source: Intent routing ↗">
            <a:hlinkClick r:id="rId15" tooltip="Intent routing ↗"/>
          </p:cNvPr>
          <p:cNvSpPr/>
          <p:nvPr/>
        </p:nvSpPr>
        <p:spPr>
          <a:xfrm>
            <a:off x="8280400" y="3528616"/>
            <a:ext cx="1206202" cy="222250"/>
          </a:xfrm>
          <a:prstGeom prst="rect">
            <a:avLst/>
          </a:prstGeom>
          <a:solidFill>
            <a:srgbClr val="FFFFFF">
              <a:alpha val="0"/>
            </a:srgbClr>
          </a:solidFill>
          <a:ln w="12700">
            <a:solidFill>
              <a:srgbClr val="333333">
                <a:alpha val="0"/>
              </a:srgbClr>
            </a:solidFill>
            <a:prstDash val="solid"/>
          </a:ln>
        </p:spPr>
      </p:sp>
      <p:sp>
        <p:nvSpPr>
          <p:cNvPr id="16" name="Source: Structured decision criteria ↗">
            <a:hlinkClick r:id="rId16" tooltip="Structured decision criteria ↗"/>
          </p:cNvPr>
          <p:cNvSpPr/>
          <p:nvPr/>
        </p:nvSpPr>
        <p:spPr>
          <a:xfrm>
            <a:off x="8280400" y="3881041"/>
            <a:ext cx="2212479" cy="222250"/>
          </a:xfrm>
          <a:prstGeom prst="rect">
            <a:avLst/>
          </a:prstGeom>
          <a:solidFill>
            <a:srgbClr val="FFFFFF">
              <a:alpha val="0"/>
            </a:srgbClr>
          </a:solidFill>
          <a:ln w="12700">
            <a:solidFill>
              <a:srgbClr val="333333">
                <a:alpha val="0"/>
              </a:srgbClr>
            </a:solidFill>
            <a:prstDash val="solid"/>
          </a:ln>
        </p:spPr>
      </p:sp>
      <p:sp>
        <p:nvSpPr>
          <p:cNvPr id="17" name="Source: Building with System One ↗">
            <a:hlinkClick r:id="rId17" tooltip="Building with System One ↗"/>
          </p:cNvPr>
          <p:cNvSpPr/>
          <p:nvPr/>
        </p:nvSpPr>
        <p:spPr>
          <a:xfrm>
            <a:off x="8280400" y="4233466"/>
            <a:ext cx="2055515" cy="222250"/>
          </a:xfrm>
          <a:prstGeom prst="rect">
            <a:avLst/>
          </a:prstGeom>
          <a:solidFill>
            <a:srgbClr val="FFFFFF">
              <a:alpha val="0"/>
            </a:srgbClr>
          </a:solidFill>
          <a:ln w="12700">
            <a:solidFill>
              <a:srgbClr val="333333">
                <a:alpha val="0"/>
              </a:srgbClr>
            </a:solidFill>
            <a:prstDash val="solid"/>
          </a:ln>
        </p:spPr>
      </p:sp>
      <p:sp>
        <p:nvSpPr>
          <p:cNvPr id="18" name="Source: Guided determinism tutorial">
            <a:hlinkClick r:id="rId18" tooltip="Guided determinism tutorial"/>
          </p:cNvPr>
          <p:cNvSpPr/>
          <p:nvPr/>
        </p:nvSpPr>
        <p:spPr>
          <a:xfrm>
            <a:off x="558800" y="6140450"/>
            <a:ext cx="1647329" cy="171450"/>
          </a:xfrm>
          <a:prstGeom prst="rect">
            <a:avLst/>
          </a:prstGeom>
          <a:solidFill>
            <a:srgbClr val="FFFFFF">
              <a:alpha val="0"/>
            </a:srgbClr>
          </a:solidFill>
          <a:ln w="12700">
            <a:solidFill>
              <a:srgbClr val="333333">
                <a:alpha val="0"/>
              </a:srgbClr>
            </a:solidFill>
            <a:prstDash val="solid"/>
          </a:ln>
        </p:spPr>
      </p:sp>
      <p:sp>
        <p:nvSpPr>
          <p:cNvPr id="19" name="Source: Confidence semantics">
            <a:hlinkClick r:id="rId19" tooltip="Confidence semantics"/>
          </p:cNvPr>
          <p:cNvSpPr/>
          <p:nvPr/>
        </p:nvSpPr>
        <p:spPr>
          <a:xfrm>
            <a:off x="2286595"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koa-action, Agent Graph &amp; AgentScript · v3</dc:title>
  <dc:subject>Disaggregated intelligence for enterprise agentic reasoning</dc:subject>
  <dc:creator>Salesforce · tutorial</dc:creator>
  <cp:lastModifiedBy>Salesforce · tutorial</cp:lastModifiedBy>
  <cp:revision>1</cp:revision>
  <dcterms:created xsi:type="dcterms:W3CDTF">2026-09-29T07:31:09Z</dcterms:created>
  <dcterms:modified xsi:type="dcterms:W3CDTF">2026-09-29T07:31:09Z</dcterms:modified>
</cp:coreProperties>
</file>