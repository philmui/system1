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System One is a useful engineering term for specialized models that answer bounded questions. It is not a claim about human cognition.
• The tutorial will construct a service workflow, inspect its failure boundaries, and define how reliability, cost, and speed would be evaluated.
• The Salesforce composition is proposed. Public sources do not establish a koa-action SDK, training interface, or measured benchmark.
Transition: First connect the architecture to the four benefits we want.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Composable AI
https://typesafe.ai/manifesto
SLIDE TEXT REFERENCE
DISAGGREGATED INTELLIGENCE
01 / 30
Disaggregated
intelligence
Enterprise reasoning with
koa-action, Agent Graph
and AgentScript.
Reliability and cost start with
how you allocate the work.
AUTHORED CONTROLS
AgentScript
STATE + TRANSITIONS
Agent Graph
koa-action
Bounded judgment
Reasoning model
Open-ended work
Services
Facts + authority
Agent Graph / guided determinism · Composable AI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Significantly lower decision cost and faster inference are the opportunity behind specialization. Their size must be established for the deployed workload.
• Reliability means acceptable outcomes. Predictability includes stable output contracts and controlled paths; it is not proof that the semantic answer is correct.
• The same complete customer case remains the unit of value. Extra handoffs can consume a primitive-level saving.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30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Ask the audience to name the invariant: neither request should disappear when the agent changes topics.
• A task may be resolved, withdrawn by the customer, or handed off with ownership recorded. These are different statuses; handoff does not equal resolution.
• This is a constructed example used to explain state and routing, not a reported customer deployment.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30
01 / SERVICE INVARIANT
One customer, two obligations
“Why was I charged twice,
and why is my service down?”
One message creates two obligations.
The case ledger
Invoice
Requested
Pending
Outage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AgentScript is the authoring and control language; Agent Graph is the managed runtime that executes configured behavior.
• The models produce interpretations or explanations. Backend services retain authority over access and writes, while human review is an explicit branch.
• The diagram denotes coordination, not ownership of every component by a model. Each case invokes only the components its configured path needs.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30
01 / ARCHITECTURE
Give each responsibility an owner
AgentScript
Defines contracts, sequencing, availability, and bound inputs
Agent Graph
Executes the workflow and retains task state
INTERPRET
koa-action
Bounded semantic decisions
REASON
Generative model
Unfamiliar explanations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Topology encodes procedural domain knowledge: which step may run, what must precede it, and where its input facts come from.
• The transformation does not remove all domain knowledge from prompts. Category definitions and authorized facts remain necessary within model calls.
• A graph can enforce a poor process consistently. Review and test the topology itself.
Transition: Locate the runtime within the broader agent harness.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30
02 / ENCODE THE SEQUENCE
Process knowledge becomes topology
A PROCESS BURIED IN INSTRUCTIONS
Before explaining an invoice, check account access. Keep other requests pending. Retrieve the invoice first. Do not infer the balance.
Definitions and evidence still belong in node context.
Verify caller + account access
Retrieve authorized invoice facts
Explain the charge using those facts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LangChain distinguishes its framework, LangGraph runtime, and Deep Agents harness. The comparison helps locate responsibilities.
• In this Salesforce example the configured agent is the broader harness, with Agent Graph providing runtime execution and AgentScript authoring control.
• This is an architectural analogy, not LangGraph API compatibility or a claim that Agent Graph ships Deep Agents defaults. The public AgentScript repo contains tooling, not the managed runtime.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06 / 30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decision contract
Section: 03
Purpose: Give a bounded task a testable contract.
Suggested speaking time: 1 minutes
TALKING POINTS
• The labels are application choices, not a documented koa-action response schema. Mixed and unclear are first-class outcomes.
• Provide positive and negative examples at the category boundaries. The same contract controls labeling and evaluation.
• A timeout or malformed result must not default into a business transaction. Specify its fallback separately from semantic ambiguity.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07 / 30
03 / STEP 1
Start with a decision contract
QUESTION
Which service route
is supported now?
Read the conversation so far
and the relevant service context.
Version the question and category definitions.
Allowed answers
billingtechnicalaccount_accessmixedunclear
UNUSABLE OR AMBIGUOUS RESULT
Clarify within a budget,
then use an explicit handoff.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The user brief supplies classification, noul, scoring, and semantic endpointing as koa-action capabilities.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08 / 30
03 / SYSTEM ONE CAPABILITIES
Four bounded decisions, four contracts
01
Classification
Which route?
Select a category.
02
Noul
Cancellation requested?
Assess a yes/no proposition.
03
Scoring
How urgent?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09 / 30
03 / GIVE EVERY NUMBER A MEANING
Probability and intensity answer different questions
NOUL · TYPESAFE SEMANTICS
Was cancellation requested?
A probability-valued
yes/no judgment.
An uncertain answer does not mean
“a medium amount of cancellation.”
SCORE · ILLUSTRATIVE RUBRIC
How urgent is the issue?
Can wait
Work disrupted
Critical service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The waveform is illustrative. The task asks whether a spoken turn has ended using only the available prefix.
• Future speech may establish the reference label, but it must not become part of the earlier input.
• Measure premature cutoff and delay separately. Keep all prefixes of a conversation together when splitting data.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10 / 30
03 / A PREFIX IS THE INPUT
Endpointing is a decision in time
Available audio prefix
Future audio
DECISION NOW
Cut too early
The customer is interrupted.
Wait too long
The response is delayed.
Keep the boundary
Future audio supplies labels only.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Independent questions can read the same snapshot; a later step that needs a new fact must wait for that fact.
• This is a workflow-design pattern, not a claim about a native koa-action batching API.
• Parallel question execution does not imply statistically independent errors. Missing evidence can affect several judgments at once.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11 / 30
04 / STEP 2
Split work along information dependencies
Same decision-time snapshot
Intent
Which route?
Cancellation
Requested or not?
Independent execution can still produce correlated errors.
Verify account access
Retrieve invoice facts
Explain the invoice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Graph design determines what information exists before a node runs and which part of state it receives.
• A customer-provided account identifier does not become a verified identity because it appears in a model output.
• Narrowing context can reduce unnecessary processing, but removing a required fact can reduce quality. Version and evaluate the context selection.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12 / 30
04 / CONTEXT IS PART OF TOPOLOGY
Each node sees a different view of the case
CASE STATE
Conversation
Trusted identity
Invoice facts
Pending tasks
Route decision
Reads the request + category definitions
Access check
Reads trusted principal + account relationship
Explanation
Reads the request + authorized invoice facts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The application records requested, active, resolved, and handed-off task states separately.
• An explanation is an event, not a proof of resolution. The completion rule should reference the actual business outcome or customer confirmation.
• The clarification loop has a time or turn budget. A handoff retains outstanding work and receiving ownership.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13 / 30
04 / STEP 3
State preserves work across a branch
Route = mixed
Both requests retained
Clarify priority
Customer chooses billing
Billing active
Explain, then check resolution
Outage pending
Resume or record explicit reprioritization
Clarification budget
Then a recorded handoff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rules and state.
• Guided determinism describes constraints on the effect of model judgments. It does not guarantee perfect classification, identical prose, or eventual completion.
• The configuration and the model can evolve independently when their boundary is explicit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14 / 30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These are language constructs, not a runnable integration. Action definitions, dialect, and deployment configuration are omitted.
• An availability guard controls the offered action set. Required verification belongs in deterministic procedure logic and must also be enforced by the business service.
• Bind trusted account context rather than allowing model extraction to establish authority. No email-found lookup alone is sufficient authentication.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15 / 30
05 / STEP 4
Availability and required execution differ
THE SERVICE BOUNDARY
A model signal
cannot grant
account access.
The backend rechecks
the caller and policy
before a write.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complete service trace
Section: 05
Purpose: Make ordered state transitions concrete.
Suggested speaking time: 1.4 minutes
TALKING POINTS
• This is an interactive constructed trace. Advance through owners and watch both ledger entries.
• In the favorable path the customer confirms the invoice explanation. Without confirmation or another declared resolution condition, it stays open.
• An accepted handoff records ownership and work remaining; it should not be counted as a resolved task.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6 of 6. Invoice: Resolved; outage: Active. The workflow resumes the outage task.
Walkthrough: capture both requested obligations, prioritize billing, verify access, retrieve authorized facts, explain, confirm resolution, and resume the unresolved outage. The last state leaves the outage active and unresolved.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16 / 30
05 / STEP 5
Follow one complete service trace
1
Interpret
koa-action
2
Prioritize
Customer + graph
3
Verify
Trusted service
4
Retrieve
Authorized lookup
5
Explain
Reasoning model
6
Resume
Agent Graph
INVOICE
Resolved
The workflow resumes the outage task.
OUTAGE
Active
Retained throughout the billing path.
Event 6 of 6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17 / 30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TypeSafe defines Choice and Score confidence from distribution concentration. Noul has no separate confidence field.
• The picture is schematic and does not display a returned koa-action distribution. Any provider signal needs a specified meaning and local validation.
• A score cannot authorize a business action. Numerical gates are application operating points, not universal constants.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18 / 30
06 / INSPECT THE SIGNAL
Confidence needs evidence in your domain
A concentrated distribution
Billing
Tech
Mixed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1.3 minutes
TALKING POINTS
• All twelve cases and their scores are constructed teaching data. The signal is uncalibrated and is not a real koa-action field.
• Automatic coverage is accepted cases divided by twelve. Automatic error uses only accepted cases; at zero accepted cases it is undefined.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automated;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19 / 30
06 / INTERACTIVE OPERATING POINT
A stricter gate moves work somewhere
Twelve labeled examples
×
0.99
✓
0.96
✓
0.92
✓
0.88
×
0.85
✓
0.81
✓
0.76
✓
0.70
×
0.66
✓
0.60
✓
0.55
×
0.51
✓ correct route · × wrong route
Faded examples go to review.
SYNTHETIC SAMPLE / UNCALIBRATED SIGNAL
Automatic-route threshold: 0.75
58%
Coverage
29%
Auto error
5
To review
Inspect the high-scoring mistake.
A stricter gate need not remove it.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Avoided work must exceed added work
Section: 06
Purpose: Explain conditional economics with transparent algebra.
Suggested speaking time: 1.3 minutes
TALKING POINTS
• The numbers are arbitrary normalized units for illustration, not prices, measurements, or a koa-action performance estimate.
• The model assumes the same generative-stage cost G whenever invoked. Candidate cost is decision cost plus added orchestration plus p times G.
• When p approaches one, the added decision can make the path more expensive. Evaluate whole-case costs separately, including tools, retries, human handling, and unresolved obligations.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20 / 30
06 / INTERACTIVE BREAK-EVEN
Avoided work must exceed added work
NORMALIZED DECISION-PATH MODEL
Baseline = G
Candidate = D + O + pG
G = 1.00 generative-stage unit
D = 0.03 decision cost
O = 0.04 orchestration overhead
Fraction still using G: 20%
Baseline
Candidate
73% lower
0.27 normalized units
Break-even: D + O &lt; (1 − p)G
Excludes changed service and human costs.
Composable AI · Building with System One
Illustrative arithmetic;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Specialized inference can shorten a repeated semantic step. A faster classifier does not by itself establish faster service resolution.
• Client-observed call latency includes transport and retries; parallel branches affect critical-path duration differently from serial dependencies.
• Measure distribution tails as well as typical latency at the relevant load. Include unfinished cases when reporting resolution,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21 / 30
06 / MEASURE THE CRITICAL PATH
Fast inference helps the path that uses it
Fast decision
Measure call latency
Authorized lookup
Required dependency
Explanation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Allow a short pause before revealing the repair. The initial diagram is intentionally incomplete.
• The strongest answer identifies both authored ordering and independent backend enforcement. Raising the classifier threshold alone does not repair the design.
• Also retain pending tasks and specify a bounded fallback. A credit operation has consequences outside the model response.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Before showing the repair, ask what is missing between a predicted credit request and a financial action. The repair verifies account access, checks policy, and enforces authorization in the service. The diagram size correction is export-only for the first HTML edition.
WEB REFERENCES
Reliable enterprise agents
https://engineering.salesforce.com/building-enterprise-ai-agents-that-are-both-autonomous-and-reliable/
AgentScript control plane
https://www.salesforce.com/blog/agent-script-control-plane/
SLIDE TEXT REFERENCE
DISAGGREGATED INTELLIGENCE
22 / 30
07 / EXERCISE
Find the missing boundary
Credit requested
Strong model score
Issue credit
Business transaction
Verify access
Trusted principal and account context.
Check policy
Required procedure before the action.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routing node could actually access at the timestamp.
• Use independently adjudicated route labels, including mixed and unclear cases. Reviewers labeling the next step see the decision-time evidence.
• Record redaction, filtering, and derived examples. Preserving the source does not mean transformations leave the model-visible distribution unchanged.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23 / 30
08 / STEP 6
Begin the dataset at the decision boundary
At decision time
INPUT SNAPSHOT
Conversation prefix
Trusted facts available then
Current policy version
REFERENCE LABEL
Next route supported by that evidence.
After the decision
LATER TURNS AND OUTCOMES
Useful for separate outcome labels.
Excluded from the earlier input.
Preserve order,
relationships,
and provenance.
Building with System One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pipeline that protects the test
Section: 08
Purpose: Explain the complete leakage-resistant task-development pipeline.
Suggested speaking time: 1.3 minutes
TALKING POINTS
• This is a proposed development pipeline, not koa-action pretraining. Direct adaptation is optional and conditional on supported access.
• Train data fits permitted components. Development data uses separate calibration and gate-selection subsets. Locked test data evaluates the frozen model and policy.
• Offline gates qualify the candidate for a randomized service pilot. Broader rollout needs pilot quality and economic evidence; reviewed feedback enters only a future dataset.
Transition: The split itself must match the deployment claim.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24 / 30
08 / STEP 7
Build a pipeline that protects the test
Group before augmentation.
Test a frozen candidate.
Pilot before wider rollout.
Building with System One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SLIDE TEXT REFERENCE
DISAGGREGATED INTELLIGENCE
25 / 30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Predeclare what would earn a rollout
Section: 09
Purpose: Make reliability and cost a joint acceptance question.
Suggested speaking time: 1 minutes
TALKING POINTS
• The null is unacceptable quality loss OR insufficient saving. A nonsignificant quality difference does not establish acceptable equivalence.
• Define a failed case as an incorrect outcome or any requested task unresolved by the fixed deadline. Count every incoming case once.
• Choose sample size and uncertainty methods before testing. Define consequential-error cohorts from independent evidence, not each model’s selected action branch.
Transition: Use offline and service experiments for different questions.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SLIDE TEXT REFERENCE
DISAGGREGATED INTELLIGENCE
26 / 30
09 / STEP 8
Predeclare what would earn a rollout
MUST PASS
Quality
Upper uncertainty bound on failure-rate increase
&lt; allowed margin
MUST PASS
Cost
Lower uncertainty bound on saving per incoming case
&gt; required gain
MUST PASS
Consequences
Separate limits for harmful actions, assessed on fixed cohorts.
MUST PASS
Latency
Required response and resolution constraints, including unfinished cases.
Reliable enterprise agents
Proposed acceptance criteria; no measured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SLIDE TEXT REFERENCE
DISAGGREGATED INTELLIGENCE
27 / 30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Jev-as-a-Judge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A wrong route can motivate better decision data. A correct mixed route followed by dropped state calls for a workflow repair.
• Offline semantic judges can prioritize traces, but require validation against independent references. Repeatability is a separate property from correctness.
• Sample apparent successes as well as escalations. A post-run evaluation score cannot prevent an action that has already happened.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28 / 30
09 / IMPROVE THE RESPONSIBLE COMPONENT
Diagnose the boundary that failed
Invoice explained; outage lost
Inspect the recorded route and state changes
ROUTE = BILLING
Decision boundary
Inspect input evidence,
labels, and category definition.
ROUTE = MIXED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tutorial’s central claim is an allocation principle: specialize judgment where it earns its place, retain general reasoning where needed, and make control explicit.
• Predictable contracts and runtime paths create an inspectable system; correctness and economics still require evidence from complete cases.
• The next engineering artifact is a decision contract and a small graph, followed by held-out evaluation and a controlled pilot.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Composable AI
https://typesafe.ai/manifesto
Agent Graph / guided determinism
https://engineering.salesforce.com/agentforces-agent-graph-toward-guided-determinism-with-hybrid-reasoning/
SLIDE TEXT REFERENCE
DISAGGREGATED INTELLIGENCE
29 / 30
10 / BUILD, MEASURE, REVISE
Start with one decision that changes the path
Give each decision
a purpose.
Give the workflow
a contract.
Complete both customer requests
within the reliability and cost limits.
01Choose a bounded decision.
02Define its evidence and outputs.
03Encode sequence and state in the graph.
04Keep authority in trusted services.
05Earn expansion with measured outcomes.
Composable AI · Agent Graph / guided determinism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complete research ledger covers all sixteen requested web resources plus the final local blog and supplementary primary documentation.
• The Salesforce stack roles are grounded in the user brief and public graph/language resources; integration examples and training protocols remain proposals.
• No koa-action benchmark, SDK contract, fine-tuning access, or native adapter is asserted. The diagrams and numeric interactions are independently authored teaching examples.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SLIDE TEXT REFERENCE
DISAGGREGATED INTELLIGENCE
30 / 30
REFERENCE / FURTHER STUDY
Read the evidence behind the architecture
Salesforce control
Agent Graph / guided determinism ↗
Reliable enterprise agents ↗
AgentScript control plane ↗
AgentScript specification ↗
Agent architecture
Jev + LangGraph ↗
A harness with Jev ↗
Jev in LangSmith Evals ↗
Jev-as-a-Judge ↗
Runtime, framework, harness ↗
Decision patterns
Composable AI ↗
TypeSafe quickstart ↗
Confidence routing ↗
Intent routing ↗
Structured decision criteria ↗
Building with System One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typesafe.ai/manifesto" TargetMode="External"/><Relationship Id="rId1" Type="http://schemas.openxmlformats.org/officeDocument/2006/relationships/image" Target="../media/image-1-1.png"/><Relationship Id="rId2" Type="http://schemas.openxmlformats.org/officeDocument/2006/relationships/image" Target="../media/image-1-2.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6-1.png"/><Relationship Id="rId2" Type="http://schemas.openxmlformats.org/officeDocument/2006/relationships/image" Target="../media/image-6-2.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7-1.png"/><Relationship Id="rId2" Type="http://schemas.openxmlformats.org/officeDocument/2006/relationships/image" Target="../media/image-7-2.sv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8-1.png"/><Relationship Id="rId2" Type="http://schemas.openxmlformats.org/officeDocument/2006/relationships/image" Target="../media/image-8-2.sv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9-1.png"/><Relationship Id="rId2" Type="http://schemas.openxmlformats.org/officeDocument/2006/relationships/image" Target="../media/image-9-2.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0-1.png"/><Relationship Id="rId2" Type="http://schemas.openxmlformats.org/officeDocument/2006/relationships/image" Target="../media/image-10-2.sv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1-1.png"/><Relationship Id="rId2" Type="http://schemas.openxmlformats.org/officeDocument/2006/relationships/image" Target="../media/image-11-2.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2-1.png"/><Relationship Id="rId2" Type="http://schemas.openxmlformats.org/officeDocument/2006/relationships/image" Target="../media/image-12-2.sv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3-1.png"/><Relationship Id="rId2" Type="http://schemas.openxmlformats.org/officeDocument/2006/relationships/image" Target="../media/image-13-2.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4-1.png"/><Relationship Id="rId2" Type="http://schemas.openxmlformats.org/officeDocument/2006/relationships/image" Target="../media/image-14-2.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5-1.png"/><Relationship Id="rId2" Type="http://schemas.openxmlformats.org/officeDocument/2006/relationships/image" Target="../media/image-15-2.sv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16-1.png"/><Relationship Id="rId2" Type="http://schemas.openxmlformats.org/officeDocument/2006/relationships/image" Target="../media/image-16-2.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7-1.png"/><Relationship Id="rId2" Type="http://schemas.openxmlformats.org/officeDocument/2006/relationships/image" Target="../media/image-17-2.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1-1.png"/><Relationship Id="rId2" Type="http://schemas.openxmlformats.org/officeDocument/2006/relationships/image" Target="../media/image-21-2.sv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23-1.png"/><Relationship Id="rId2" Type="http://schemas.openxmlformats.org/officeDocument/2006/relationships/image" Target="../media/image-23-2.sv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24-1.png"/><Relationship Id="rId2" Type="http://schemas.openxmlformats.org/officeDocument/2006/relationships/image" Target="../media/image-24-2.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5-1.png"/><Relationship Id="rId2" Type="http://schemas.openxmlformats.org/officeDocument/2006/relationships/image" Target="../media/image-25-2.sv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26-1.png"/><Relationship Id="rId2" Type="http://schemas.openxmlformats.org/officeDocument/2006/relationships/image" Target="../media/image-26-2.sv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7-1.png"/><Relationship Id="rId2" Type="http://schemas.openxmlformats.org/officeDocument/2006/relationships/image" Target="../media/image-27-2.sv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28-1.png"/><Relationship Id="rId2" Type="http://schemas.openxmlformats.org/officeDocument/2006/relationships/image" Target="../media/image-28-2.sv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29-1.png"/><Relationship Id="rId2" Type="http://schemas.openxmlformats.org/officeDocument/2006/relationships/image" Target="../media/image-29-2.sv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0-1.png"/><Relationship Id="rId2" Type="http://schemas.openxmlformats.org/officeDocument/2006/relationships/image" Target="../media/image-30-2.svg"/><Relationship Id="rId20" Type="http://schemas.openxmlformats.org/officeDocument/2006/relationships/slideLayout" Target="../slideLayouts/slideLayout1.xml"/><Relationship Id="rId21"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2656483"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605756"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60575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0450"/>
            <a:ext cx="171628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355552"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contract — outlined slide artwork" descr="Start with a decision contrac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821259" y="6140450"/>
            <a:ext cx="812602" cy="171450"/>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714327" y="6140450"/>
            <a:ext cx="161756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821259" y="6140450"/>
            <a:ext cx="270073" cy="171450"/>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71799"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0450"/>
            <a:ext cx="270073" cy="171450"/>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09340"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131318" y="6140450"/>
            <a:ext cx="108922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251027"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0450"/>
            <a:ext cx="1514078"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5334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trace — outlined slide artwork" descr="Follow one complete service tr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56483"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8628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economics — outlined slide artwork" descr="Avoided work must exceed added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22016"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186285"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training — outlined slide artwork" descr="Build a pipeline that protects the tes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558800"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acceptance — outlined slide artwork" descr="Predeclare what would earn a rollou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558800"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0450"/>
            <a:ext cx="1317526" cy="171450"/>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56792"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2201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87400" y="2471341"/>
            <a:ext cx="2712045" cy="222250"/>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87400" y="2823766"/>
            <a:ext cx="2124273" cy="222250"/>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87400" y="3176191"/>
            <a:ext cx="2083098" cy="222250"/>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87400" y="3528616"/>
            <a:ext cx="2074763" cy="222250"/>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33900" y="2471341"/>
            <a:ext cx="1398587" cy="222250"/>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33900" y="2823766"/>
            <a:ext cx="1551980" cy="222250"/>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33900" y="3176191"/>
            <a:ext cx="1837432" cy="222250"/>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33900" y="3528616"/>
            <a:ext cx="1345902" cy="222250"/>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33900" y="3881041"/>
            <a:ext cx="2335808" cy="222250"/>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0400" y="2471341"/>
            <a:ext cx="1293912" cy="222250"/>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0400" y="2823766"/>
            <a:ext cx="1667966" cy="222250"/>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0400" y="3176191"/>
            <a:ext cx="1622227" cy="222250"/>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0400" y="3528616"/>
            <a:ext cx="1206202" cy="222250"/>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0400" y="3881041"/>
            <a:ext cx="2212479" cy="222250"/>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0400" y="4233466"/>
            <a:ext cx="2055515" cy="222250"/>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0450"/>
            <a:ext cx="1647329" cy="171450"/>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86595"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koa-action, Agent Graph &amp; AgentScript · v1</dc:title>
  <dc:subject>Disaggregated intelligence for enterprise agentic reasoning</dc:subject>
  <dc:creator>Salesforce · tutorial</dc:creator>
  <cp:lastModifiedBy>Salesforce · tutorial</cp:lastModifiedBy>
  <cp:revision>1</cp:revision>
  <dcterms:created xsi:type="dcterms:W3CDTF">2026-09-29T05:44:38Z</dcterms:created>
  <dcterms:modified xsi:type="dcterms:W3CDTF">2026-09-29T05:44:38Z</dcterms:modified>
</cp:coreProperties>
</file>