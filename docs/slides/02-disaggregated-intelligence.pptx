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Disaggregated intelligence
Section: Enterprise AI
Purpose: Introduce disaggregated intelligence as an engineering allocation problem.
Suggested speaking time: 0.7 minutes
TALKING POINTS
• System One is a useful engineering term for specialized models that answer bounded questions. It is not a claim about human cognition.
• The tutorial will construct a service workflow, inspect its failure boundaries, and define how reliability, cost, and speed would be evaluated.
• The Salesforce composition is proposed. Public sources do not establish a koa-action SDK, training interface, or measured benchmark.
Transition: First connect the architecture to the four benefits we want.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Composable AI
https://typesafe.ai/manifesto
SLIDE TEXT REFERENCE
DISAGGREGATED INTELLIGENCE
01 / 31
Disaggregated
intelligence
Enterprise reasoning with
koa-action, Agent Graph
and AgentScript.
Specialized decisions, explicit workflows,
and reasoning where the case needs it.
AUTHORED CONTROLS
AgentScript
STATE + TRANSITIONS
Agent Graph
koa-action
Bounded judgment
Reasoning model
Open-ended work
Services
Facts + authority
Agent Graph / guided determinism · Composable AI
Proposed Salesforce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benefits. One service to measure.
Section: 01
Purpose: Connect requested benefits to concrete mechanisms.
Suggested speaking time: 1 minutes
TALKING POINTS
• Significantly lower decision cost and faster inference are the opportunity behind specialization. Their size must be established for the deployed workload.
• Reliability means acceptable outcomes. Predictability includes output-shape contracts, permitted paths, and repeated-answer variation. Assess those separately from semantic correctness.
• The same complete customer case remains the unit of value. Extra handoffs can consume a primitive-level saving.
Transition: Follow one case through the rest of the tutorial.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Composable AI
https://typesafe.ai/manifesto
SLIDE TEXT REFERENCE
DISAGGREGATED INTELLIGENCE
02 / 31
01 / ALLOCATE INTELLIGENCE
Four benefits. One service to measure.
CORRECT OUTCOMES
Reliability
Test decisions and enforce required checks.
CONTROLLED VARIATION
Predictability
Bound outputs, paths, and recovery behavior.
LESS TOTAL WORK
Lower cost
Avoid expensive work that the case does not need.
SHORTER CRITICAL PATH
Faster inference
Use short decision steps on frequent routes.
Jev + LangGraph · Composable AI
Mechanisms and objectives; no koa-action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customer, two obligations
Section: 01
Purpose: Establish the recurring case and its invariant.
Suggested speaking time: 1.1 minutes
TALKING POINTS
• Ask the audience to name the invariant: neither request should disappear when the agent changes topics.
• A task may be resolved, withdrawn by the customer, or handed off with ownership recorded. These are different statuses; handoff does not equal resolution.
• This is a constructed example used to explain state and routing, not a reported customer deployment.
Transition: Assign an owner to each kind of work.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SLIDE TEXT REFERENCE
DISAGGREGATED INTELLIGENCE
03 / 31
01 / SERVICE INVARIANT
One customer, two obligations
“Why was I charged twice,
and why is my service down?”
One message creates two obligations.
The case ledger
Invoice
Requested
Pending
Outage
Requested
Pending
What must survive
every transition?
Agent Graph / guided determinism
Constructed service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responsibility an owner
Section: 01
Purpose: Distinguish models, execution, configuration, and authority.
Suggested speaking time: 1 minutes
TALKING POINTS
• AgentScript is the authoring and control language; Agent Graph is the managed runtime that executes configured behavior.
• The models produce interpretations or explanations. Backend services retain authority over access and writes, while human review is an explicit branch.
• The diagram denotes coordination, not ownership of every component by a model. Each case invokes only the components its configured path needs.
Transition: Now move process rules from prose into inspectable structure.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SLIDE TEXT REFERENCE
DISAGGREGATED INTELLIGENCE
04 / 31
01 / ARCHITECTURE
Give each responsibility an owner
AgentScript
Defines contracts, sequencing, availability, and bound inputs
Agent Graph
Executes the workflow and retains task state
INTERPRET
koa-action
System One: bounded decisions
REASON
Generative model
Open-ended reasoning
+ grounded explanation
ACT
Backend services
Authoritative facts + permissions
REVIEW
Human path
When policy or ambiguity requires it
Agent Graph / guided determinism · AgentScript control plane
Proposed composition; no native adapter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knowledge becomes topology
Section: 02
Purpose: Teach which decisions, in which order, over which state.
Suggested speaking time: 1 minutes
TALKING POINTS
• Topology encodes procedural domain knowledge: which step may run, what must precede it, and where its input facts come from.
• The transformation does not remove all domain knowledge from prompts. Category definitions and authorized facts remain necessary within model calls.
• A graph can enforce a poor process consistently. Review and test the topology itself.
Transition: Locate the runtime within the broader agent harness.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Agent Graph / guided determinism
https://engineering.salesforce.com/agentforces-agent-graph-toward-guided-determinism-with-hybrid-reasoning/
SLIDE TEXT REFERENCE
DISAGGREGATED INTELLIGENCE
05 / 31
02 / ENCODE THE SEQUENCE
Process knowledge becomes topology
A PROCESS BURIED IN INSTRUCTIONS
Before explaining an invoice, verify account access. Retrieve the invoice only when access is allowed. Keep the outage pending.
Definitions and evidence still belong in node context.
Verify caller + account access
Retrieve authorized invoice facts
Explain using those facts
Stop invoice path
Access recovery
or defined help route
verified
denied or
unavailable
facts available
Jev + LangGraph · Agent Graph / guided determinism
Architectural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runtime sits beneath the harness
Section: 02
Purpose: Prevent runtime/harness/configuration conflation.
Suggested speaking time: 1 minutes
TALKING POINTS
• LangChain distinguishes its framework, LangGraph runtime, and Deep Agents harness. The comparison helps locate responsibilities.
• In this Salesforce example the configured agent is the broader harness, with Agent Graph providing runtime execution and AgentScript authoring control.
• This is an architectural analogy, not LangGraph API compatibility or a claim that Agent Graph ships Deep Agents defaults. The public AgentScript repo contains tooling, not the managed runtime.
Transition: Define the first decision before selecting its integration.
POWERPOINT EXPORT
This edition preserves the HTML slide design as one outlined SVG graphic with an embedded PNG fallback. Slide text is vector artwork, not editable PowerPoint paragraphs. Speaker notes remain editable. Use the companion HTML for interaction.
WEB REFERENCES
Runtime, framework, harness
https://www.langchain.com/blog/deep-agents-vs-langchain-vs-langgraph
AgentScript control plane
https://www.salesforce.com/blog/agent-script-control-plane/
SLIDE TEXT REFERENCE
DISAGGREGATED INTELLIGENCE
06 / 31
02 / KEEP THE LAYERS DISTINCT
A runtime sits beneath the harness
Harness
The agent loop, context strategy, tools, and operating policy.
Example in LangChain’s stack: Deep Agents.
Runtime
State transitions and the execution of the configured workflow.
Agent Graph is analogous at this layer to LangGraph.
Configuration
The authored rules and bindings that shape behavior.
AgentScript configures Salesforce’s runtime.
Runtime, framework, harness · AgentScript control plane
Architectural comparison, not API equivalence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decision contract
Section: 03
Purpose: Give a bounded task a testable contract.
Suggested speaking time: 1 minutes
TALKING POINTS
• The labels are application choices, not a documented koa-action response schema. Mixed and unclear are first-class outcomes.
• Provide positive and negative examples at the category boundaries. The same contract controls labeling and evaluation.
• A timeout or malformed result must not default into a business transaction. Specify its fallback separately from semantic ambiguity.
Transition: Match the question to the right primitive.
POWERPOINT EXPORT
This edition preserves the HTML slide design as one outlined SVG graphic with an embedded PNG fallback. Slide text is vector artwork, not editable PowerPoint paragraphs. Speaker notes remain editable. Use the companion HTML for interaction.
WEB REFERENCES
TypeSafe quickstart
https://docs.typesafe.ai/introduction/quickstart
Intent routing
https://docs.typesafe.ai/patterns/intent-routing
Structured decision criteria
https://docs.typesafe.ai/primitives/advanced
SLIDE TEXT REFERENCE
DISAGGREGATED INTELLIGENCE
07 / 31
03 / STEP 1
Start with a decision contract
QUESTION + INPUT
Which service route
is supported now?
Conversation so far
+ service category definitions.
APPLICATION LABELS · BOUNDARY EXAMPLES
“Charged twice.”	billing
“Charged twice; service down.”	mixed
“Something is wrong.”	unclear
Allowed answers
billingtechnicalaccount_accessmixedunclear
Valid but unclear
Ask within a clarification budget.
Timeout or invalid output
Bound retries; then hand off safely.
Neither path authorizes a transaction.
TypeSafe quickstart · Intent routing · Structured decision criteria
Illustrative application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bounded decisions, four contracts
Section: 03
Purpose: Cover the four user-specified koa-action capabilities.
Suggested speaking time: 1 minutes
TALKING POINTS
• The user brief supplies classification, noul, scoring, and semantic endpointing as koa-action capabilities.
• TypeSafe documents analogous decision concepts, but its SDK fields, batching, calibration, and training claims do not define a Salesforce interface.
• Each primitive needs its own target and error measure. A rubric score and the probability of a binary proposition are not interchangeable.
Transition: Make that semantic distinction tangible.
POWERPOINT EXPORT
This edition preserves the HTML slide design as one outlined SVG graphic with an embedded PNG fallback. Slide text is vector artwork, not editable PowerPoint paragraphs. Speaker notes remain editable. Use the companion HTML for interaction.
WEB REFERENCES
TypeSafe quickstart
https://docs.typesafe.ai/introduction/quickstart
Noul
https://docs.typesafe.ai/primitives/noul
Score
https://docs.typesafe.ai/primitives/score
SLIDE TEXT REFERENCE
DISAGGREGATED INTELLIGENCE
08 / 31
03 / SYSTEM ONE CAPABILITIES
Four bounded decisions, four contracts
01
Classification
Which route?
Select a category.
02
Noul
Cancellation requested?
Assess a yes/no proposition.
03
Scoring
How urgent?
Use an anchored rubric.
04
Endpointing
Has the turn ended?
Judge the available prefix.
TypeSafe quickstart · Noul · Score
koa-action capabilities: supplied brief; interfaces unspecified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and intensity answer different questions
Section: 03
Purpose: Explain binary proposition estimates versus severity rubrics.
Suggested speaking time: 1 minutes
TALKING POINTS
• TypeSafe’s Noul is the probability of the yes answer; its Score uses ordered rubric levels and can be fractional.
• A mean rubric score can hide different distributions. Preserve the output meaning that the downstream rule actually uses.
• The corresponding koa-action fields, ranges, and calibration require their own verified contract. No numeric Salesforce response is shown here.
Transition: A decision about when to respond has an additional time boundary.
POWERPOINT EXPORT
This edition preserves the HTML slide design as one outlined SVG graphic with an embedded PNG fallback. Slide text is vector artwork, not editable PowerPoint paragraphs. Speaker notes remain editable. Use the companion HTML for interaction.
WEB REFERENCES
Noul
https://docs.typesafe.ai/primitives/noul
Score
https://docs.typesafe.ai/primitives/score
SLIDE TEXT REFERENCE
DISAGGREGATED INTELLIGENCE
09 / 31
03 / GIVE EVERY NUMBER A MEANING
Probability and intensity answer different questions
NOUL · TYPESAFE SEMANTICS
Was cancellation requested?
A probability-valued
yes/no judgment.
An uncertain answer does not mean
“a medium amount of cancellation.”
SCORE · ILLUSTRATIVE RUBRIC
How urgent is the issue?
Can wait
Work disrupted
Critical service blocked
Noul · Score
TypeSafe semantics / proposed Salesforce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Endpointing is a decision in time
Section: 03
Purpose: Explain semantic endpointing and temporal leakage.
Suggested speaking time: 1 minutes
TALKING POINTS
• The waveform is illustrative. The task asks whether a spoken turn has ended using only the available prefix.
• Future speech may establish the reference label, but it must not become part of the earlier input.
• Measure premature cutoff and delay separately. Keep all prefixes of a conversation together when splitting data.
Transition: Next decide which decisions may run in parallel.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SLIDE TEXT REFERENCE
DISAGGREGATED INTELLIGENCE
10 / 31
03 / A PREFIX IS THE INPUT
Endpointing is a decision in time
Available audio prefix
Future audio
DECISION NOW
Cut too early
The customer is interrupted.
Wait too long
The response is delayed.
Keep the boundary
Future audio may label the prefix.
It cannot enter the input.
Building with System One
Illustrative waveform; proposed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work along information dependencies
Section: 04
Purpose: Separate execution independence from causality.
Suggested speaking time: 1 minutes
TALKING POINTS
• Independent questions can read the same snapshot; a later step that needs a new fact must wait for that fact.
• This is a workflow-design pattern, not a claim about a native koa-action batching API.
• Parallel question execution does not imply statistically independent errors. Missing evidence can affect several judgments at once.
Transition: Make each node’s evidence window explicit.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A harness with Jev
https://www.langchain.com/blog/building-a-harness-with-jev
SLIDE TEXT REFERENCE
DISAGGREGATED INTELLIGENCE
11 / 31
04 / STEP 2
Split work along information dependencies
Same decision-time snapshot
Intent
Which route?
Cancellation
Requested or not?
Independent execution can still produce correlated errors.
Verify account access
Retrieve invoice facts
Explain the invoice
Building with System One · A harness with Jev
Proposed scheduling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sees a different view of the case
Section: 04
Purpose: Teach context boundaries as authored data dependencies.
Suggested speaking time: 1 minutes
TALKING POINTS
• Graph design determines what information exists before a node runs and which part of state it receives.
• A customer-provided account identifier does not become a verified identity because it appears in a model output.
• Narrowing context can reduce unnecessary processing, but removing a required fact can reduce quality. Version and evaluate the context selection.
Transition: Use that state to preserve the mixed request.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Building with System One
https://docs.typesafe.ai/concepts/how-to-build-with-system-one
SLIDE TEXT REFERENCE
DISAGGREGATED INTELLIGENCE
12 / 31
04 / CONTEXT IS PART OF TOPOLOGY
Each node sees a different view of the case
Conversation prefix + category definitions
Route decision
Trusted principal + account relationship
Access check
Request + authorized invoice facts
Explanation
A node receives its declared input view; task state remains in the graph.
Agent Graph / guided determinism · AgentScript control plane · Building with System One
Proposed node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preserves work across a branch
Section: 04
Purpose: Make persistent obligations visible.
Suggested speaking time: 1 minutes
TALKING POINTS
• The application records requested, active, resolved, and handed-off task states separately.
• An explanation is an event, not a proof of resolution. The completion rule should reference the actual business outcome or customer confirmation.
• The clarification loop has a time or turn budget. A handoff retains outstanding work and receiving ownership.
Transition: This is where neural interpretation meets explicit control.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SLIDE TEXT REFERENCE
DISAGGREGATED INTELLIGENCE
13 / 31
04 / STEP 3
State preserves work across a branch
Route = mixed
Record invoice + outage as pending
Clarify priority
Ask which task to start
Billing active
Outage remains pending
Outage active
Resume once billing is resolved
Recorded handoff
Retain all outstanding work
billing selected
no choice
within budget
billing
resolved
Agent Graph / guided determinism
Constructed mixed-request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determinism gives uncertainty a place
Section: 05
Purpose: Explain neuro-symbolic reasoning in plain terms.
Suggested speaking time: 1 minutes
TALKING POINTS
• Neuro-symbolic reasoning combines learned interpretation with explicit software rules and state.
• Guided determinism describes constraints on the effect of model judgments. It does not guarantee perfect classification, identical prose, or eventual completion.
• The configuration and the model can evolve independently when their boundary is explicit and tested.
Transition: Three AgentScript concepts make that boundary concrete.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SLIDE TEXT REFERENCE
DISAGGREGATED INTELLIGENCE
14 / 31
05 / NEURO-SYMBOLIC REASONING
Guided determinism gives uncertainty a place
Neural interpretation
inside an authored process.
AgentScript defines where model choice is available.
Agent Graph executes the configured transitions.
Interpretation
Fallible semantic judgment.
Procedure
Required steps and state changes.
Authority
Enforced by trusted services.
Agent Graph / guided determinism · AgentScript control plane
Documented architecture; illustrative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and required execution differ
Section: 05
Purpose: Teach precise AgentScript control semantics.
Suggested speaking time: 1 minutes
TALKING POINTS
• These are language constructs, not a runnable integration. Action definitions, dialect, and deployment configuration are omitted.
• An availability guard controls the offered action set. Required verification belongs in deterministic procedure logic and must also be enforced by the business service.
• Bind trusted account context rather than allowing model extraction to establish authority. No email-found lookup alone is sufficient authentication.
• The left sketch is language-neutral design pseudocode, not valid AgentScript syntax or a documented adapter. It connects the required procedure, failure route, action gate and trusted argument binding to this case.
Transition: Walk the proposed request through all of its owners.
POWERPOINT EXPORT
This edition preserves the HTML slide design as one outlined SVG graphic with an embedded PNG fallback. Slide text is vector artwork, not editable PowerPoint paragraphs. Speaker notes remain editable. Use the companion HTML for interaction.
WEB REFERENCES
AgentScript control plane
https://www.salesforce.com/blog/agent-script-control-plane/
AgentScript specification
https://github.com/salesforce/agentscript/blob/main/SPEC.md
SLIDE TEXT REFERENCE
DISAGGREGATED INTELLIGENCE
15 / 31
05 / STEP 4
Availability and required execution differ
DESIGN PSEUDOCODE
Control around
the model choice.
access = checkAccess(trustedAccount)
if access != allowed: go to recovery
facts = loadInvoice(trustedAccount)
offer explain(facts) when factsReady
keep outage.pending
Backend services also enforce access.
This is an authoring sketch, not runnable syntax.
REQUIRED WORK
run / procedure
Use explicit procedure logic for checks that must execute.
PERMITTED CHOICES
available when
Filter which actions the model may select. Availability does not force selection.
CONTROLLED ARGUMENTS
with / bound input
Bind consequential inputs from trusted state.
AgentScript control plane · AgentScript specification
Verified constructs; no executable koa-action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billing path preserves the outage task
Section: 05
Purpose: Follow a constructed mixed-intent case and distinguish completion from accepted handoff.
Suggested speaking time: 1.6 minutes
TALKING POINTS
• The same customer asks about an invoice and an outage. The constructed classifier output is mixed, so the graph records two pending obligations.
• Advance to Explain: delivering the response leaves the invoice awaiting confirmation. Only the next event meets this example’s resolution condition.
• The graph resumes the outage task, then an identified queue accepts the handoff. The outage remains unresolved; the whole customer case is not yet complete.
Transition: Now design the non-happy paths.
POWERPOINT EXPORT
This edition preserves the HTML slide design as one outlined SVG graphic with an embedded PNG fallback. Slide text is vector artwork, not editable PowerPoint paragraphs. Speaker notes remain editable. Use the companion HTML for interaction.
STATIC TRACE: Event 8 of 8. Invoice: Resolved; outage: Handed off. Technical support accepts the handoff; the outage remains unresolved.
Walkthrough: capture both requested obligations, prioritize billing, verify access, retrieve authorized facts, explain, confirm resolution, and resume the unresolved outage. The last state records technical support accepting the handoff; it does not claim the outage is resolved.
WEB REFERENCES
Agent Graph / guided determinism
https://engineering.salesforce.com/agentforces-agent-graph-toward-guided-determinism-with-hybrid-reasoning/
Reliable enterprise agents
https://engineering.salesforce.com/building-enterprise-ai-agents-that-are-both-autonomous-and-reliable/
SLIDE TEXT REFERENCE
DISAGGREGATED INTELLIGENCE
16 / 31
05 / STEP 5
A billing path preserves the outage task
1
Interpret
koa-action
2
Prioritize
Customer
3
Verify
Service
4
Retrieve
Lookup
5
Explain
Reasoning
6
Confirm
Customer
7
Resume
Graph
8
Handoff
Queue accepts
INVOICE
Resolved
Technical support accepts the handoff; the outage remains unresolved.
OUTAGE
Handed off
Accepted handoff preserves ownership.
It still leaves work unresolved.
Event 8 of 8
Agent Graph / guided determinism · Reliable enterprise agents
Constructed trace · final static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routes are part of the program
Section: 05
Purpose: Connect reliability to failure contracts.
Suggested speaking time: 1 minutes
TALKING POINTS
• A graph needs meaningful timeout, invalid-output, and handoff routes rather than a default business action.
• A resumed workflow can reuse a recorded decision, but this alone does not guarantee exactly-once external side effects.
• Transaction-specific safeguards belong in the service performing the write. Recovery must retain the unfinished tasks.
Transition: A valid decision can still be semantically wrong.
POWERPOINT EXPORT
This edition preserves the HTML slide design as one outlined SVG graphic with an embedded PNG fallback. Slide text is vector artwork, not editable PowerPoint paragraphs. Speaker notes remain editable. Use the companion HTML for interaction.
WEB REFERENCES
Reliable enterprise agents
https://engineering.salesforce.com/building-enterprise-ai-agents-that-are-both-autonomous-and-reliable/
AgentScript specification
https://github.com/salesforce/agentscript/blob/main/SPEC.md
SLIDE TEXT REFERENCE
DISAGGREGATED INTELLIGENCE
17 / 31
05 / RECOVER WITHOUT LOSING THE CASE
Failure routes are part of the program
CONTRACT FAILURE
Invalid output
Validate the result before branching. Use a defined fallback.
DEPENDENCY FAILURE
Timeout
Bound retries and retain every pending obligation.
AUTHORITY BOUNDARY
Unauthorized write
The service rejects the action under current policy.
SIDE EFFECT
Repeated write
Use transaction safeguards; record the actual result.
Reliable enterprise agents · AgentScript specification
Proposed failure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needs evidence in your domain
Section: 06
Purpose: Distinguish signal concentration from correctness and permission.
Suggested speaking time: 1 minutes
TALKING POINTS
• TypeSafe defines Choice and Score confidence from distribution concentration. Noul has no separate confidence field.
• The picture is schematic and does not display a returned koa-action distribution. Any provider signal needs a specified meaning and local validation.
• A score cannot authorize a business action. Numerical gates are application operating points, not universal constants.
Transition: Explore what a stricter gate does to a small labeled sample.
POWERPOINT EXPORT
This edition preserves the HTML slide design as one outlined SVG graphic with an embedded PNG fallback. Slide text is vector artwork, not editable PowerPoint paragraphs. Speaker notes remain editable. Use the companion HTML for interaction.
WEB REFERENCES
Confidence routing
https://docs.typesafe.ai/patterns/confidence-routing
Confidence semantics
https://docs.typesafe.ai/confidence
SLIDE TEXT REFERENCE
DISAGGREGATED INTELLIGENCE
18 / 31
06 / INSPECT THE SIGNAL
Confidence needs evidence in your domain
A concentrated distribution
Billing
Tech
Mixed
Illustrative output shape.
The highest option can still be wrong.
VALIDATE LOCALLY
Compare signals
with adjudicated labels.
Choose gates on development data.
Report error alongside coverage.
Identity, permissions, and policy
remain separate checks.
Confidence routing · Confidence semantics
Illustrative distribution; no calibration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stricter gate moves work somewhere
Section: 06
Purpose: Teach selection, error rate, and coverage without fabricated evidence.
Suggested speaking time: 1.6 minutes
TALKING POINTS
• All twelve cases and their scores are constructed teaching data. The signal is uncalibrated and is not a real koa-action field.
• Automatic coverage is accepted cases divided by twelve. Automatic error uses only accepted cases; at zero accepted cases it is undefined.
• A high-scoring error remains when the threshold rises. Escalations still consume capacity, and errors need not decline monotonically on this sample.
Transition: Next account for the work that the routing gate adds and avoids.
POWERPOINT EXPORT
This edition preserves the HTML slide design as one outlined SVG graphic with an embedded PNG fallback. Slide text is vector artwork, not editable PowerPoint paragraphs. Speaker notes remain editable. Use the companion HTML for interaction.
STATIC CONFIDENCE EXAMPLE: threshold 0.75. The twelve examples and scores are constructed teaching data. The HTML slider changes which examples are automated; a high-scoring mistake can survive a stricter gate. Threshold selection requires independent calibration and evaluation.
WEB REFERENCES
Confidence routing
https://docs.typesafe.ai/patterns/confidence-routing
Confidence semantics
https://docs.typesafe.ai/confidence
SLIDE TEXT REFERENCE
DISAGGREGATED INTELLIGENCE
19 / 31
06 / INTERACTIVE OPERATING POINT
A stricter gate moves work somewhere
Twelve constructed examples
×
0.99
✓
0.96
✓
0.92
✓
0.88
×
0.85
✓
0.81
✓
0.76
✓
0.70
×
0.66
✓
0.60
✓
0.55
×
0.51
✓ correct route · × wrong route
Faded examples go to review.
SYNTHETIC SAMPLE / UNCALIBRATED SIGNAL
Automatic-route threshold: 0.75
58%
7 / 12 automated
29%
2 / 7 wrong
5
To review
A high-scoring mistake can survive the gate.
Review consumes capacity and can add delay.
Confidence routing · Confidence semantics
Synthetic teaching data; drag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depend on avoiding expensive work
Section: 06
Purpose: Explain conditional economics with transparent algebra.
Suggested speaking time: 1.6 minutes
TALKING POINTS
• This isolates the routing call replaced by a specialized decision. G does not include the later model call that explains the invoice. Every constant is invented for teaching.
• At p=0.20, candidate routing cost is 0.27 of one baseline unit. At p=0.93 the paths break even; at p=1, adding a decision makes the routing stage 7% more expensive.
• Whole-case savings must include any changed explanations, tools, retries, human work and unresolved obligations. Added development and maintenance investment also needs an explicit volume and horizon.
Transition: Inference latency has an equally important boundary.
POWERPOINT EXPORT
This edition preserves the HTML slide design as one outlined SVG graphic with an embedded PNG fallback. Slide text is vector artwork, not editable PowerPoint paragraphs. Speaker notes remain editable. Use the companion HTML for interaction.
STATIC COST EXAMPLE: 20% of routes still use the expensive routing stage. With invented normalized units G=1, D=0.03 and O=0.04, candidate cost is 0.27 versus 1.00 (73% lower for this routing stage only). At 93% fallback the candidate breaks even; at 100% it costs 1.07, or 7% more. This excludes later explanation, service work and changed human costs; it is not a vendor benchmark.
WEB REFERENCES
Composable AI
https://typesafe.ai/manifesto
Building with System One
https://docs.typesafe.ai/concepts/how-to-build-with-system-one
SLIDE TEXT REFERENCE
DISAGGREGATED INTELLIGENCE
20 / 31
06 / INTERACTIVE BREAK-EVEN
Savings depend on avoiding expensive work
ROUTING STEP ONLY · INVENTED UNIT COSTS
Baseline = G
Candidate = D + O + pG
G = 1.00 expensive routing call
D = 0.03 specialized decision
O = 0.04 added orchestration
Routes still using G: 20%
HYPOTHETICAL ROUTING-STAGE ARITHMETIC
Baseline
Candidate
73% lower
0.27 normalized units
Break-even: D + O = (1 − p)G
Later explanation and service work excluded.
Composable AI · Building with System One
Illustrative arithmetic; no measured cost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inference helps the path that uses it
Section: 06
Purpose: Separate primitive speed from workflow speed.
Suggested speaking time: 1 minutes
TALKING POINTS
• Specialized inference can shorten a repeated semantic step. A faster classifier does not by itself establish faster service resolution.
• Client-observed call latency includes transport and retries; parallel branches affect critical-path duration differently from serial dependencies.
• Measure distribution tails as well as typical latency at the relevant load. Include unfinished cases when reporting resolution, rather than averaging completed cases alone.
Transition: Apply the control model to a deliberately incomplete design.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SLIDE TEXT REFERENCE
DISAGGREGATED INTELLIGENCE
21 / 31
06 / MEASURE THE CRITICAL PATH
Fast inference helps the path that uses it
Fast decision
Measure call latency
Authorized lookup
Required dependency
Explanation
Measure response latency
Review queue + human handling
Can dominate the time to resolution
Track decision time, response time, and time to completed service separately.
Jev + LangGraph
Mechanism illustration; no timing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missing boundary
Section: 07
Purpose: Check whether the learner can separate prediction from authority.
Suggested speaking time: 1.3 minutes
TALKING POINTS
• Allow a short pause before revealing the repair. The initial diagram is intentionally incomplete.
• The strongest answer identifies both authored ordering and independent backend enforcement. Raising the classifier threshold alone does not repair the design.
• Also retain pending tasks and specify a bounded fallback. A credit operation has consequences outside the model response.
Transition: Training examples must respect the same decision boundaries.
POWERPOINT EXPORT
This edition preserves the HTML slide design as one outlined SVG graphic with an embedded PNG fallback. Slide text is vector artwork, not editable PowerPoint paragraphs. Speaker notes remain editable. Use the companion HTML for interaction.
STATIC EXERCISE: the repair is revealed. Before showing the repair, ask what is missing between a predicted credit request and a financial action. The repair verifies account access, checks policy, and enforces authorization in the service. The diagram size correction is export-only for the first HTML edition.
WEB REFERENCES
Reliable enterprise agents
https://engineering.salesforce.com/building-enterprise-ai-agents-that-are-both-autonomous-and-reliable/
AgentScript control plane
https://www.salesforce.com/blog/agent-script-control-plane/
SLIDE TEXT REFERENCE
DISAGGREGATED INTELLIGENCE
22 / 31
07 / EXERCISE
Find the missing boundary
Credit requested
Strong model score
Issue credit
Business transaction
Verify access
Trusted principal and account context.
Check policy
Required procedure before the action.
Enforce in service
Recheck authorization and record outcome.
Reliable enterprise agents · AgentScript control plane
Constructed design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the dataset at the decision boundary
Section: 08
Purpose: Prevent future information leaking into model features.
Suggested speaking time: 1 minutes
TALKING POINTS
• Freeze the source snapshot and reconstruct what the routing node could actually access at the timestamp.
• Use independently adjudicated route labels, including mixed and unclear cases. Reviewers labeling the next step see the decision-time evidence.
• Record redaction, filtering, and derived examples. Preserving the source does not mean transformations leave the model-visible distribution unchanged.
Transition: Separate fitting and selection from final evaluation.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blog/07-building-prod.md
These identifiers refer to the accompanying repository and are not broken file hyperlinks.
SLIDE TEXT REFERENCE
DISAGGREGATED INTELLIGENCE
23 / 31
08 / STEP 6
Begin the dataset at the decision boundary
At decision time
INPUT SNAPSHOT
Conversation prefix
Trusted facts available then
Current policy version
REFERENCE LABEL
Next route supported by that evidence.
After the decision
LATER TURNS AND OUTCOMES
Useful for separate outcome labels.
Excluded from the earlier input.
Preserve order,
relationships,
and provenance.
Tutorial evaluation protocol
Proposed development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examples before developing the decision
Section: 08
Purpose: Show independent data partitions and keep related examples together before fitting or augmentation.
Suggested speaking time: 1.1 minutes
TALKING POINTS
• This is proposed task development, not a description of koa-action foundation-model training or a supported fine-tuning interface. If direct adaptation is unavailable, retain the fixed model and develop its application configuration.
• Inputs contain only the conversation prefix and trusted state available at the decision time. Later observations may establish the label; they cannot appear in the earlier model input. Preserve timestamps, record order, and the derivation manifest.
• Group related cases and duplicates before assigning partitions. Create augmentations afterward and keep every variant in its source partition. Account-level groups and later-time cohorts answer different generalization questions.
• Fit learned transforms and any permitted adaptation on training data. Separate calibration fitting from gate selection within development data. The locked test is excluded from all iteration. The solid branches carry different samples, not successive copies of one dataset.
Transition: Now follow the frozen artifacts and the evidence needed for release.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blog/07-building-prod.md
These identifiers refer to the accompanying repository and are not broken file hyperlinks.
SLIDE TEXT REFERENCE
DISAGGREGATED INTELLIGENCE
24 / 31
08 / TRAINING PIPELINE — PRESERVE THE PARTITIONS
Split examples before developing the decision
Decision-time snapshot
Inputs stop at the decision.
Versioned records and labels.
Group, then split
Before augmentation.
Preserve record relationships.
Family rule
Source + its variants
stay in one partition.
Separate sample partitions
Train
Fit permitted components.
Adaptation is optional.
Augment training data only.
Development
Use separate subsets for
calibration and gate selection.
Locked test
Keep examples untouched.
No fitting or gate tuning.
Later outcomes may supply labels; they never enter the earlier model input.
Tutorial evaluation protocol
Proposed task development; adaptation only where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the workflow before earning release
Section: 08
Purpose: Separate model artifacts, locked evaluation, and live-service qualification.
Suggested speaking time: 1.1 minutes
TALKING POINTS
• The purple dashed arrow carries frozen model and configuration artifacts. A separate green arrow carries untouched examples into the locked evaluation. The artifacts include model version, learned transforms, decision definitions, thresholds, and the workflow policy.
• Passing offline gates qualifies the candidate for a randomized service pilot. The black arrows indicate release qualification; the offline test examples do not become the pilot traffic. Use equivalent permissions, tools, and service requirements for the baseline and candidate.
• Predeclare the pilot assignment unit, observation horizon, failure definition, quality margin, minimum worthwhile saving, and latency limits. Keep related cases assigned consistently and account for interference through shared review queues.
• Roll out only when the predefined pilot gates pass. Track cost per incoming case beside resolution and automatic coverage, including unfinished work. Reviewed feedback goes to a future dataset. If tuning follows a failure, evaluate the new candidate with fresh untouched evidence.
• The full standalone illustration remains available as assets/training-pipeline.svg and assets/training-pipeline.png; these focus views enlarge its two teaching responsibilities without changing its semantics.
Transition: Choose the grouping or time split that matches the deployment claim.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blog/07-building-prod.md
These identifiers refer to the accompanying repository and are not broken file hyperlinks.
SLIDE TEXT REFERENCE
DISAGGREGATED INTELLIGENCE
25 / 31
08 / TRAINING PIPELINE — QUALIFY THE CANDIDATE
Freeze the workflow before earning release
Freeze the selected candidate
Untouched test cases
Frozen artifacts
Model and transforms.
Decision definitions.
Routing policy and gates.
Artifacts
Locked evaluation
Paired decision comparison.
Use untouched examples.
Predeclare offline gates.
Pass gates
Randomized pilot
Compare complete cases.
Quality, cost, and latency.
Keep assignment consistent.
Broader rollout
Only if pilot gates pass.
Track unfinished work.
Feedback
Next dataset
Reviewed feedback only.
Fresh tests for new claims.
A revision starts
a new candidate.
Retest before a new claim.
Tutorial evaluation protocol
Proposed qualification gates; no measured deployment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split that matches the claim
Section: 08
Purpose: Distinguish independent cases from repeated observations.
Suggested speaking time: 1 minutes
TALKING POINTS
• Unseen-account performance and future-traffic performance are different claims and may need separate tests.
• Assign related cases and near duplicates together, and generate training augmentations only after partitioning.
• One conversation evaluated many times still represents one customer situation. Repeated judgments estimate repeatability, not generalization over new cases.
Transition: Define what evidence would earn a rollout.
POWERPOINT EXPORT
This edition preserves the HTML slide design as one outlined SVG graphic with an embedded PNG fallback. Slide text is vector artwork, not editable PowerPoint paragraphs. Speaker notes remain editable. Use the companion HTML for interaction.
WEB REFERENCES
Jev-as-a-Judge
https://www.langchain.com/blog/jev-agent-evals-langsmith
LOCAL COMPANION REFERENCES
Tutorial evaluation protocol — blog/07-building-prod.md
These identifiers refer to the accompanying repository and are not broken file hyperlinks.
SLIDE TEXT REFERENCE
DISAGGREGATED INTELLIGENCE
26 / 31
08 / GENERALIZATION
Choose the split that matches the claim
UNSEEN ACCOUNTS
Keep account families intact.
A A A
B B
C C C
Related cases and variants
stay in one partition.
FUTURE TRAFFIC
Reserve a later-time cohort.
Earlier cases
Later test
Declare boundary exclusions
and duplicate handling.
Tutorial evaluation protocol · Jev-as-a-Judge
Evaluation design; no completed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cost must come with acceptable quality
Section: 09
Purpose: Explain the joint acceptance rule with schematic intervals and the whole-case outcome.
Suggested speaking time: 2 minutes
TALKING POINTS
• These ranges are schematic shapes, not results, effect sizes, or measurement precision. Their only purpose is to show how a predeclared limit is compared with an uncertainty bound. Limits and the analysis method must be chosen before testing.
• On the left, the upper bound on the increase in failed-case rate reaches beyond the maximum allowed loss. Quality has not passed even if the point estimate might look reassuring. On the right, the lower bound on saving per incoming case clears the minimum required gain. Both conditions must pass before rollout, so this candidate waits.
• The worked trace has an invoice resolved and an outage handed off with work still outstanding. At the fixed service deadline that is an incomplete case. An incorrect outcome or any unresolved requested task counts as a failed case; count each incoming case once.
• Consequential-action limits and response/resolution latency limits are additional gates. Assess harmful actions across all incoming cases and an independently defined relevant cohort shared by both systems. Record unresolved cases rather than averaging only completed service.
• The formal joint null is unacceptable quality loss OR insufficient saving. Failure to find a significant quality difference is insufficient evidence of acceptable equivalence. Predeclare sample size, grouping, and the uncertainty method; retain the statistical detail in the companion notes.
Transition: First isolate the decision on held-out snapshots, then measure the whole service in a controlled pilot.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blog/07-building-prod.md
These identifiers refer to the accompanying repository and are not broken file hyperlinks.
SLIDE TEXT REFERENCE
DISAGGREGATED INTELLIGENCE
27 / 31
09 / STEP 8 · EARN ROLLOUT
Lower cost must come with acceptable quality
Schematic decision rule · no measured results
Quality: upper end must stay below the limit
Uncertainty range
Allowed loss
More quality loss →
This range crosses the margin.
Quality remains uncertain.
Cost: lower end must exceed the target
Uncertainty range
Required saving
More saving per case →
This range clears the required gain.
Cost passes; rollout still waits.
Count the whole case: invoice resolved + outage pending
= incomplete at the deadline.
Harm limits must also pass.
Assess all cases and the same relevant cohort.
Latency limits must also pass.
Include unfinished cases and resolution time.
Tutorial evaluation protocol
Schematic acceptance rule; no empirical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the decision, then the service
Section: 09
Purpose: Prevent offline results being overextended to service economics.
Suggested speaking time: 1.5 minutes
TALKING POINTS
• Offline replay isolates the bounded decision. It cannot estimate how changed dialogue affects customers or how escalations affect queue capacity.
• In the pilot, keep assignment stable and account for related cases and interference through shared queues. Use the same observation horizon in both arms.
• Report observed operating cost per incoming case with resolution and coverage. Disclose setup and maintenance costs separately; total ownership estimates need an explicit volume and horizon.
Transition: When an outcome fails, diagnose the responsible boundary.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blog/07-building-prod.md
These identifiers refer to the accompanying repository and are not broken file hyperlinks.
SLIDE TEXT REFERENCE
DISAGGREGATED INTELLIGENCE
28 / 31
09 / TWO EXPERIMENTS
Evaluate the decision, then the service
PAIRED OFFLINE COMPARISON
Evaluate the decision.
Same held-out snapshots.
Same route question.
Fixed permissions and tools.
Each model’s gate is selected
on development data.
CONTROLLED SERVICE PILOT
Evaluate the complete case.
Randomized case/account assignment.
Consistent treatment and horizon.
Costs, queues, and unresolved work.
Pilot evidence must precede
wider rollout.
Tutorial evaluation protocol
Proposed controlled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the boundary that failed
Section: 09
Purpose: Connect disaggregation to targeted learning from failure.
Suggested speaking time: 1 minutes
TALKING POINTS
• A wrong route can motivate better decision data. A correct mixed route followed by dropped state calls for a workflow repair.
• Offline semantic judges can prioritize traces, but require validation against independent references. Repeatability is a separate property from correctness.
• Sample apparent successes as well as escalations. A post-run evaluation score cannot prevent an action that has already happened.
Transition: Finish by identifying one worthwhile first change.
POWERPOINT EXPORT
This edition preserves the HTML slide design as one outlined SVG graphic with an embedded PNG fallback. Slide text is vector artwork, not editable PowerPoint paragraphs. Speaker notes remain editable. Use the companion HTML for interaction.
WEB REFERENCES
Jev in LangSmith Evals
https://www.langchain.com/blog/jev-is-now-available-in-langsmith-evals
Jev-as-a-Judge
https://www.langchain.com/blog/jev-agent-evals-langsmith
SLIDE TEXT REFERENCE
DISAGGREGATED INTELLIGENCE
29 / 31
09 / IMPROVE THE RESPONSIBLE COMPONENT
Diagnose the boundary that failed
Invoice explained; outage lost
Inspect the recorded route and state changes
ROUTE = BILLING
Decision boundary
Inspect input evidence,
labels, and category definition.
ROUTE = MIXED
Workflow boundary
Inspect the transition that
dropped the pending task.
TRACE LOOKS CORRECT
Outcome boundary
Inspect services and the
resolution condition.
Jev in LangSmith Evals · Jev-as-a-Judge
Constructed failure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one decision that changes the path
Section: 10
Purpose: Give the audience a bounded practical next step.
Suggested speaking time: 0.7 minutes
TALKING POINTS
• The tutorial’s central claim is an allocation principle: specialize judgment where it earns its place, retain general reasoning where needed, and make control explicit.
• Predictable contracts and runtime paths create an inspectable system; correctness and economics still require evidence from complete cases.
• The next engineering artifact is a decision contract and a small graph, followed by held-out evaluation and a controlled pilot.
Transition: Use the source notes and full blog for the details behind this tutorial.
POWERPOINT EXPORT
This edition preserves the HTML slide design as one outlined SVG graphic with an embedded PNG fallback. Slide text is vector artwork, not editable PowerPoint paragraphs. Speaker notes remain editable. Use the companion HTML for interaction.
WEB REFERENCES
Composable AI
https://typesafe.ai/manifesto
Agent Graph / guided determinism
https://engineering.salesforce.com/agentforces-agent-graph-toward-guided-determinism-with-hybrid-reasoning/
SLIDE TEXT REFERENCE
DISAGGREGATED INTELLIGENCE
30 / 31
10 / BUILD, MEASURE, REVISE
Start with one decision that changes the path
Give each decision
a purpose.
Give the workflow
a contract.
Complete both customer requests
within the reliability and cost limits.
01Choose a bounded decision.
02Define its evidence and outputs.
03Encode sequence and state in the graph.
04Keep authority in trusted services.
05Earn expansion with measured outcomes.
Composable AI · Agent Graph / guided determinism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evidence behind the architecture
Section: Reference
Purpose: Provide inspectable source provenance and product boundaries.
Suggested speaking time: 0.5 minutes
TALKING POINTS
• The complete research ledger covers all sixteen requested web resources plus the final local blog and supplementary primary documentation.
• The Salesforce stack roles are grounded in the user brief and public graph/language resources; integration examples and training protocols remain proposals.
• No koa-action benchmark, SDK contract, fine-tuning access, or native adapter is asserted. The diagrams and numeric interactions are independently authored teaching examples.
Transition: End of tutorial.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
https://engineering.salesforce.com/agentforces-agent-graph-toward-guided-determinism-with-hybrid-reasoning/
Reliable enterprise agents ↗
https://engineering.salesforce.com/building-enterprise-ai-agents-that-are-both-autonomous-and-reliable/
AgentScript control plane ↗
https://www.salesforce.com/blog/agent-script-control-plane/
AgentScript specification ↗
https://github.com/salesforce/agentscript/blob/main/SPEC.md
Jev + LangGraph ↗
https://www.langchain.com/blog/building-prod-with-jev-and-langgraph
A harness with Jev ↗
https://www.langchain.com/blog/building-a-harness-with-jev
Jev in LangSmith Evals ↗
https://www.langchain.com/blog/jev-is-now-available-in-langsmith-evals
Jev-as-a-Judge ↗
https://www.langchain.com/blog/jev-agent-evals-langsmith
Runtime, framework, harness ↗
https://www.langchain.com/blog/deep-agents-vs-langchain-vs-langgraph
Composable AI ↗
https://typesafe.ai/manifesto
TypeSafe quickstart ↗
https://docs.typesafe.ai/introduction/quickstart
Confidence routing ↗
https://docs.typesafe.ai/patterns/confidence-routing
Intent routing ↗
https://docs.typesafe.ai/patterns/intent-routing
Structured decision criteria ↗
https://docs.typesafe.ai/primitives/advanced
Building with System One ↗
https://docs.typesafe.ai/concepts/how-to-build-with-system-one
Guided determinism tutorial
https://everythingagents.org/topics/guided-determinism
Confidence semantics
https://docs.typesafe.ai/confidence
LOCAL COMPANION REFERENCES
Tutorial evaluation protocol ↗ — blog/07-building-prod.md
Full training pipeline ↗ — assets/training-pipeline.svg
These identifiers refer to the accompanying repository and are not broken file hyperlinks.
SLIDE TEXT REFERENCE
DISAGGREGATED INTELLIGENCE
31 / 31
REFERENCE / FURTHER STUDY
Read the evidence behind the architecture
Salesforce control
Agent Graph / guided determinism ↗
Reliable enterprise agents ↗
AgentScript control plane ↗
AgentScript specification ↗
Agent architecture
Jev + LangGraph ↗
A harness with Jev ↗
Jev in LangSmith Evals ↗
Jev-as-a-Judge ↗
Runtime, framework, harness ↗
Decision patterns
Composable AI ↗
TypeSafe quickstart ↗
Confidence routing ↗
Intent routing ↗
Structured decision criteria ↗
Building with System One ↗
Tutorial evaluation protocol ↗
Full training pipeline ↗
Guided determinism tutorial · Confidence semantics
Sources link to original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typesafe.ai/manifesto" TargetMode="External"/><Relationship Id="rId1" Type="http://schemas.openxmlformats.org/officeDocument/2006/relationships/image" Target="../media/image-1-1.png"/><Relationship Id="rId2" Type="http://schemas.openxmlformats.org/officeDocument/2006/relationships/image" Target="../media/image-1-2.sv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typesafe.ai/manifesto" TargetMode="External"/><Relationship Id="rId1" Type="http://schemas.openxmlformats.org/officeDocument/2006/relationships/image" Target="../media/image-2-1.png"/><Relationship Id="rId2" Type="http://schemas.openxmlformats.org/officeDocument/2006/relationships/image" Target="../media/image-2-2.sv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3-1.png"/><Relationship Id="rId2" Type="http://schemas.openxmlformats.org/officeDocument/2006/relationships/image" Target="../media/image-3-2.sv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4-1.png"/><Relationship Id="rId2" Type="http://schemas.openxmlformats.org/officeDocument/2006/relationships/image" Target="../media/image-4-2.sv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5-1.png"/><Relationship Id="rId2" Type="http://schemas.openxmlformats.org/officeDocument/2006/relationships/image" Target="../media/image-5-2.sv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www.langchain.com/blog/deep-agents-vs-langchain-vs-langgraph"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6-1.png"/><Relationship Id="rId2" Type="http://schemas.openxmlformats.org/officeDocument/2006/relationships/image" Target="../media/image-6-2.sv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docs.typesafe.ai/introduction/quickstart" TargetMode="External"/><Relationship Id="rId4" Type="http://schemas.openxmlformats.org/officeDocument/2006/relationships/hyperlink" Target="https://docs.typesafe.ai/patterns/intent-routing" TargetMode="External"/><Relationship Id="rId5" Type="http://schemas.openxmlformats.org/officeDocument/2006/relationships/hyperlink" Target="https://docs.typesafe.ai/primitives/advanced" TargetMode="External"/><Relationship Id="rId1" Type="http://schemas.openxmlformats.org/officeDocument/2006/relationships/image" Target="../media/image-7-1.png"/><Relationship Id="rId2" Type="http://schemas.openxmlformats.org/officeDocument/2006/relationships/image" Target="../media/image-7-2.sv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docs.typesafe.ai/introduction/quickstart" TargetMode="External"/><Relationship Id="rId4" Type="http://schemas.openxmlformats.org/officeDocument/2006/relationships/hyperlink" Target="https://docs.typesafe.ai/primitives/noul" TargetMode="External"/><Relationship Id="rId5" Type="http://schemas.openxmlformats.org/officeDocument/2006/relationships/hyperlink" Target="https://docs.typesafe.ai/primitives/score" TargetMode="External"/><Relationship Id="rId1" Type="http://schemas.openxmlformats.org/officeDocument/2006/relationships/image" Target="../media/image-8-1.png"/><Relationship Id="rId2" Type="http://schemas.openxmlformats.org/officeDocument/2006/relationships/image" Target="../media/image-8-2.sv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docs.typesafe.ai/primitives/noul" TargetMode="External"/><Relationship Id="rId4" Type="http://schemas.openxmlformats.org/officeDocument/2006/relationships/hyperlink" Target="https://docs.typesafe.ai/primitives/score" TargetMode="External"/><Relationship Id="rId1" Type="http://schemas.openxmlformats.org/officeDocument/2006/relationships/image" Target="../media/image-9-1.png"/><Relationship Id="rId2" Type="http://schemas.openxmlformats.org/officeDocument/2006/relationships/image" Target="../media/image-9-2.sv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1" Type="http://schemas.openxmlformats.org/officeDocument/2006/relationships/image" Target="../media/image-10-1.png"/><Relationship Id="rId2" Type="http://schemas.openxmlformats.org/officeDocument/2006/relationships/image" Target="../media/image-10-2.sv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4" Type="http://schemas.openxmlformats.org/officeDocument/2006/relationships/hyperlink" Target="https://www.langchain.com/blog/building-a-harness-with-jev" TargetMode="External"/><Relationship Id="rId1" Type="http://schemas.openxmlformats.org/officeDocument/2006/relationships/image" Target="../media/image-11-1.png"/><Relationship Id="rId2" Type="http://schemas.openxmlformats.org/officeDocument/2006/relationships/image" Target="../media/image-11-2.sv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5" Type="http://schemas.openxmlformats.org/officeDocument/2006/relationships/hyperlink" Target="https://docs.typesafe.ai/concepts/how-to-build-with-system-one" TargetMode="External"/><Relationship Id="rId1" Type="http://schemas.openxmlformats.org/officeDocument/2006/relationships/image" Target="../media/image-12-1.png"/><Relationship Id="rId2" Type="http://schemas.openxmlformats.org/officeDocument/2006/relationships/image" Target="../media/image-12-2.sv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13-1.png"/><Relationship Id="rId2" Type="http://schemas.openxmlformats.org/officeDocument/2006/relationships/image" Target="../media/image-13-2.sv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14-1.png"/><Relationship Id="rId2" Type="http://schemas.openxmlformats.org/officeDocument/2006/relationships/image" Target="../media/image-14-2.sv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www.salesforce.com/blog/agent-script-control-plane/" TargetMode="External"/><Relationship Id="rId4" Type="http://schemas.openxmlformats.org/officeDocument/2006/relationships/hyperlink" Target="https://github.com/salesforce/agentscript/blob/main/SPEC.md" TargetMode="External"/><Relationship Id="rId1" Type="http://schemas.openxmlformats.org/officeDocument/2006/relationships/image" Target="../media/image-15-1.png"/><Relationship Id="rId2" Type="http://schemas.openxmlformats.org/officeDocument/2006/relationships/image" Target="../media/image-15-2.sv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engineering.salesforce.com/building-enterprise-ai-agents-that-are-both-autonomous-and-reliable/" TargetMode="External"/><Relationship Id="rId1" Type="http://schemas.openxmlformats.org/officeDocument/2006/relationships/image" Target="../media/image-16-1.png"/><Relationship Id="rId2" Type="http://schemas.openxmlformats.org/officeDocument/2006/relationships/image" Target="../media/image-16-2.sv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github.com/salesforce/agentscript/blob/main/SPEC.md" TargetMode="External"/><Relationship Id="rId1" Type="http://schemas.openxmlformats.org/officeDocument/2006/relationships/image" Target="../media/image-17-1.png"/><Relationship Id="rId2" Type="http://schemas.openxmlformats.org/officeDocument/2006/relationships/image" Target="../media/image-17-2.sv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hyperlink" Target="https://docs.typesafe.ai/patterns/confidence-routing" TargetMode="External"/><Relationship Id="rId4" Type="http://schemas.openxmlformats.org/officeDocument/2006/relationships/hyperlink" Target="https://docs.typesafe.ai/confidence" TargetMode="External"/><Relationship Id="rId1" Type="http://schemas.openxmlformats.org/officeDocument/2006/relationships/image" Target="../media/image-18-1.png"/><Relationship Id="rId2" Type="http://schemas.openxmlformats.org/officeDocument/2006/relationships/image" Target="../media/image-18-2.sv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docs.typesafe.ai/patterns/confidence-routing" TargetMode="External"/><Relationship Id="rId4" Type="http://schemas.openxmlformats.org/officeDocument/2006/relationships/hyperlink" Target="https://docs.typesafe.ai/confidence" TargetMode="External"/><Relationship Id="rId1" Type="http://schemas.openxmlformats.org/officeDocument/2006/relationships/image" Target="../media/image-19-1.png"/><Relationship Id="rId2" Type="http://schemas.openxmlformats.org/officeDocument/2006/relationships/image" Target="../media/image-19-2.sv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hyperlink" Target="https://typesafe.ai/manifesto" TargetMode="External"/><Relationship Id="rId4" Type="http://schemas.openxmlformats.org/officeDocument/2006/relationships/hyperlink" Target="https://docs.typesafe.ai/concepts/how-to-build-with-system-one" TargetMode="External"/><Relationship Id="rId1" Type="http://schemas.openxmlformats.org/officeDocument/2006/relationships/image" Target="../media/image-20-1.png"/><Relationship Id="rId2" Type="http://schemas.openxmlformats.org/officeDocument/2006/relationships/image" Target="../media/image-20-2.sv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1" Type="http://schemas.openxmlformats.org/officeDocument/2006/relationships/image" Target="../media/image-21-1.png"/><Relationship Id="rId2" Type="http://schemas.openxmlformats.org/officeDocument/2006/relationships/image" Target="../media/image-21-2.sv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22-1.png"/><Relationship Id="rId2" Type="http://schemas.openxmlformats.org/officeDocument/2006/relationships/image" Target="../media/image-22-2.sv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hyperlink" Target="https://www.langchain.com/blog/jev-agent-evals-langsmith" TargetMode="External"/><Relationship Id="rId1" Type="http://schemas.openxmlformats.org/officeDocument/2006/relationships/image" Target="../media/image-26-1.png"/><Relationship Id="rId2" Type="http://schemas.openxmlformats.org/officeDocument/2006/relationships/image" Target="../media/image-26-2.sv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hyperlink" Target="https://www.langchain.com/blog/jev-is-now-available-in-langsmith-evals" TargetMode="External"/><Relationship Id="rId4" Type="http://schemas.openxmlformats.org/officeDocument/2006/relationships/hyperlink" Target="https://www.langchain.com/blog/jev-agent-evals-langsmith" TargetMode="External"/><Relationship Id="rId1" Type="http://schemas.openxmlformats.org/officeDocument/2006/relationships/image" Target="../media/image-29-1.png"/><Relationship Id="rId2" Type="http://schemas.openxmlformats.org/officeDocument/2006/relationships/image" Target="../media/image-29-2.sv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hyperlink" Target="https://typesafe.ai/manifesto" TargetMode="External"/><Relationship Id="rId4"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30-1.png"/><Relationship Id="rId2" Type="http://schemas.openxmlformats.org/officeDocument/2006/relationships/image" Target="../media/image-30-2.sv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engineering.salesforce.com/building-enterprise-ai-agents-that-are-both-autonomous-and-reliable/" TargetMode="External"/><Relationship Id="rId5" Type="http://schemas.openxmlformats.org/officeDocument/2006/relationships/hyperlink" Target="https://www.salesforce.com/blog/agent-script-control-plane/" TargetMode="External"/><Relationship Id="rId6" Type="http://schemas.openxmlformats.org/officeDocument/2006/relationships/hyperlink" Target="https://github.com/salesforce/agentscript/blob/main/SPEC.md" TargetMode="External"/><Relationship Id="rId7" Type="http://schemas.openxmlformats.org/officeDocument/2006/relationships/hyperlink" Target="https://www.langchain.com/blog/building-prod-with-jev-and-langgraph" TargetMode="External"/><Relationship Id="rId8" Type="http://schemas.openxmlformats.org/officeDocument/2006/relationships/hyperlink" Target="https://www.langchain.com/blog/building-a-harness-with-jev" TargetMode="External"/><Relationship Id="rId9" Type="http://schemas.openxmlformats.org/officeDocument/2006/relationships/hyperlink" Target="https://www.langchain.com/blog/jev-is-now-available-in-langsmith-evals" TargetMode="External"/><Relationship Id="rId10" Type="http://schemas.openxmlformats.org/officeDocument/2006/relationships/hyperlink" Target="https://www.langchain.com/blog/jev-agent-evals-langsmith" TargetMode="External"/><Relationship Id="rId11" Type="http://schemas.openxmlformats.org/officeDocument/2006/relationships/hyperlink" Target="https://www.langchain.com/blog/deep-agents-vs-langchain-vs-langgraph" TargetMode="External"/><Relationship Id="rId12" Type="http://schemas.openxmlformats.org/officeDocument/2006/relationships/hyperlink" Target="https://typesafe.ai/manifesto" TargetMode="External"/><Relationship Id="rId13" Type="http://schemas.openxmlformats.org/officeDocument/2006/relationships/hyperlink" Target="https://docs.typesafe.ai/introduction/quickstart" TargetMode="External"/><Relationship Id="rId14" Type="http://schemas.openxmlformats.org/officeDocument/2006/relationships/hyperlink" Target="https://docs.typesafe.ai/patterns/confidence-routing" TargetMode="External"/><Relationship Id="rId15" Type="http://schemas.openxmlformats.org/officeDocument/2006/relationships/hyperlink" Target="https://docs.typesafe.ai/patterns/intent-routing" TargetMode="External"/><Relationship Id="rId16" Type="http://schemas.openxmlformats.org/officeDocument/2006/relationships/hyperlink" Target="https://docs.typesafe.ai/primitives/advanced" TargetMode="External"/><Relationship Id="rId17" Type="http://schemas.openxmlformats.org/officeDocument/2006/relationships/hyperlink" Target="https://docs.typesafe.ai/concepts/how-to-build-with-system-one" TargetMode="External"/><Relationship Id="rId18" Type="http://schemas.openxmlformats.org/officeDocument/2006/relationships/hyperlink" Target="https://everythingagents.org/topics/guided-determinism" TargetMode="External"/><Relationship Id="rId19" Type="http://schemas.openxmlformats.org/officeDocument/2006/relationships/hyperlink" Target="https://docs.typesafe.ai/confidence" TargetMode="External"/><Relationship Id="rId1" Type="http://schemas.openxmlformats.org/officeDocument/2006/relationships/image" Target="../media/image-31-1.png"/><Relationship Id="rId2" Type="http://schemas.openxmlformats.org/officeDocument/2006/relationships/image" Target="../media/image-31-2.svg"/><Relationship Id="rId20" Type="http://schemas.openxmlformats.org/officeDocument/2006/relationships/slideLayout" Target="../slideLayouts/slideLayout1.xml"/><Relationship Id="rId21"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opening — outlined slide artwork" descr="Disaggregated intelligen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Composable AI">
            <a:hlinkClick r:id="rId4" tooltip="Composable AI"/>
          </p:cNvPr>
          <p:cNvSpPr/>
          <p:nvPr/>
        </p:nvSpPr>
        <p:spPr>
          <a:xfrm>
            <a:off x="2656483" y="6140450"/>
            <a:ext cx="88274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benefits — outlined slide artwork" descr="Four benefits. One service to measu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
        <p:nvSpPr>
          <p:cNvPr id="4" name="Source: Composable AI">
            <a:hlinkClick r:id="rId4" tooltip="Composable AI"/>
          </p:cNvPr>
          <p:cNvSpPr/>
          <p:nvPr/>
        </p:nvSpPr>
        <p:spPr>
          <a:xfrm>
            <a:off x="1605756" y="6140450"/>
            <a:ext cx="88274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case — outlined slide artwork" descr="One customer, two obligation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ownership — outlined slide artwork" descr="Give each responsibility an owner.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topology — outlined slide artwork" descr="Process knowledge becomes topolog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
        <p:nvSpPr>
          <p:cNvPr id="4" name="Source: Agent Graph / guided determinism">
            <a:hlinkClick r:id="rId4" tooltip="Agent Graph / guided determinism"/>
          </p:cNvPr>
          <p:cNvSpPr/>
          <p:nvPr/>
        </p:nvSpPr>
        <p:spPr>
          <a:xfrm>
            <a:off x="1605756"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layers — outlined slide artwork" descr="A runtime sits beneath the harnes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untime, framework, harness">
            <a:hlinkClick r:id="rId3" tooltip="Runtime, framework, harness"/>
          </p:cNvPr>
          <p:cNvSpPr/>
          <p:nvPr/>
        </p:nvSpPr>
        <p:spPr>
          <a:xfrm>
            <a:off x="558800" y="6140450"/>
            <a:ext cx="171628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355552"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contract — outlined slide artwork" descr="Start with a decision contract.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TypeSafe quickstart">
            <a:hlinkClick r:id="rId3" tooltip="TypeSafe quickstart"/>
          </p:cNvPr>
          <p:cNvSpPr/>
          <p:nvPr/>
        </p:nvSpPr>
        <p:spPr>
          <a:xfrm>
            <a:off x="558800" y="6140450"/>
            <a:ext cx="1181993" cy="171450"/>
          </a:xfrm>
          <a:prstGeom prst="rect">
            <a:avLst/>
          </a:prstGeom>
          <a:solidFill>
            <a:srgbClr val="FFFFFF">
              <a:alpha val="0"/>
            </a:srgbClr>
          </a:solidFill>
          <a:ln w="12700">
            <a:solidFill>
              <a:srgbClr val="333333">
                <a:alpha val="0"/>
              </a:srgbClr>
            </a:solidFill>
            <a:prstDash val="solid"/>
          </a:ln>
        </p:spPr>
      </p:sp>
      <p:sp>
        <p:nvSpPr>
          <p:cNvPr id="4" name="Source: Intent routing">
            <a:hlinkClick r:id="rId4" tooltip="Intent routing"/>
          </p:cNvPr>
          <p:cNvSpPr/>
          <p:nvPr/>
        </p:nvSpPr>
        <p:spPr>
          <a:xfrm>
            <a:off x="1821259" y="6140450"/>
            <a:ext cx="812602" cy="171450"/>
          </a:xfrm>
          <a:prstGeom prst="rect">
            <a:avLst/>
          </a:prstGeom>
          <a:solidFill>
            <a:srgbClr val="FFFFFF">
              <a:alpha val="0"/>
            </a:srgbClr>
          </a:solidFill>
          <a:ln w="12700">
            <a:solidFill>
              <a:srgbClr val="333333">
                <a:alpha val="0"/>
              </a:srgbClr>
            </a:solidFill>
            <a:prstDash val="solid"/>
          </a:ln>
        </p:spPr>
      </p:sp>
      <p:sp>
        <p:nvSpPr>
          <p:cNvPr id="5" name="Source: Structured decision criteria">
            <a:hlinkClick r:id="rId5" tooltip="Structured decision criteria"/>
          </p:cNvPr>
          <p:cNvSpPr/>
          <p:nvPr/>
        </p:nvSpPr>
        <p:spPr>
          <a:xfrm>
            <a:off x="2714327" y="6140450"/>
            <a:ext cx="161756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primitives — outlined slide artwork" descr="Four bounded decisions, four contract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TypeSafe quickstart">
            <a:hlinkClick r:id="rId3" tooltip="TypeSafe quickstart"/>
          </p:cNvPr>
          <p:cNvSpPr/>
          <p:nvPr/>
        </p:nvSpPr>
        <p:spPr>
          <a:xfrm>
            <a:off x="558800" y="6140450"/>
            <a:ext cx="1181993" cy="171450"/>
          </a:xfrm>
          <a:prstGeom prst="rect">
            <a:avLst/>
          </a:prstGeom>
          <a:solidFill>
            <a:srgbClr val="FFFFFF">
              <a:alpha val="0"/>
            </a:srgbClr>
          </a:solidFill>
          <a:ln w="12700">
            <a:solidFill>
              <a:srgbClr val="333333">
                <a:alpha val="0"/>
              </a:srgbClr>
            </a:solidFill>
            <a:prstDash val="solid"/>
          </a:ln>
        </p:spPr>
      </p:sp>
      <p:sp>
        <p:nvSpPr>
          <p:cNvPr id="4" name="Source: Noul">
            <a:hlinkClick r:id="rId4" tooltip="Noul"/>
          </p:cNvPr>
          <p:cNvSpPr/>
          <p:nvPr/>
        </p:nvSpPr>
        <p:spPr>
          <a:xfrm>
            <a:off x="1821259" y="6140450"/>
            <a:ext cx="270073" cy="171450"/>
          </a:xfrm>
          <a:prstGeom prst="rect">
            <a:avLst/>
          </a:prstGeom>
          <a:solidFill>
            <a:srgbClr val="FFFFFF">
              <a:alpha val="0"/>
            </a:srgbClr>
          </a:solidFill>
          <a:ln w="12700">
            <a:solidFill>
              <a:srgbClr val="333333">
                <a:alpha val="0"/>
              </a:srgbClr>
            </a:solidFill>
            <a:prstDash val="solid"/>
          </a:ln>
        </p:spPr>
      </p:sp>
      <p:sp>
        <p:nvSpPr>
          <p:cNvPr id="5" name="Source: Score">
            <a:hlinkClick r:id="rId5" tooltip="Score"/>
          </p:cNvPr>
          <p:cNvSpPr/>
          <p:nvPr/>
        </p:nvSpPr>
        <p:spPr>
          <a:xfrm>
            <a:off x="2171799" y="6140450"/>
            <a:ext cx="34379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semantics — outlined slide artwork" descr="Probability and intensity answer different question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Noul">
            <a:hlinkClick r:id="rId3" tooltip="Noul"/>
          </p:cNvPr>
          <p:cNvSpPr/>
          <p:nvPr/>
        </p:nvSpPr>
        <p:spPr>
          <a:xfrm>
            <a:off x="558800" y="6140450"/>
            <a:ext cx="270073" cy="171450"/>
          </a:xfrm>
          <a:prstGeom prst="rect">
            <a:avLst/>
          </a:prstGeom>
          <a:solidFill>
            <a:srgbClr val="FFFFFF">
              <a:alpha val="0"/>
            </a:srgbClr>
          </a:solidFill>
          <a:ln w="12700">
            <a:solidFill>
              <a:srgbClr val="333333">
                <a:alpha val="0"/>
              </a:srgbClr>
            </a:solidFill>
            <a:prstDash val="solid"/>
          </a:ln>
        </p:spPr>
      </p:sp>
      <p:sp>
        <p:nvSpPr>
          <p:cNvPr id="4" name="Source: Score">
            <a:hlinkClick r:id="rId4" tooltip="Score"/>
          </p:cNvPr>
          <p:cNvSpPr/>
          <p:nvPr/>
        </p:nvSpPr>
        <p:spPr>
          <a:xfrm>
            <a:off x="909340" y="6140450"/>
            <a:ext cx="34379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endpointing — outlined slide artwork" descr="Endpointing is a decision in tim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dependencies — outlined slide artwork" descr="Split work along information dependencie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0450"/>
            <a:ext cx="1492052" cy="171450"/>
          </a:xfrm>
          <a:prstGeom prst="rect">
            <a:avLst/>
          </a:prstGeom>
          <a:solidFill>
            <a:srgbClr val="FFFFFF">
              <a:alpha val="0"/>
            </a:srgbClr>
          </a:solidFill>
          <a:ln w="12700">
            <a:solidFill>
              <a:srgbClr val="333333">
                <a:alpha val="0"/>
              </a:srgbClr>
            </a:solidFill>
            <a:prstDash val="solid"/>
          </a:ln>
        </p:spPr>
      </p:sp>
      <p:sp>
        <p:nvSpPr>
          <p:cNvPr id="4" name="Source: A harness with Jev">
            <a:hlinkClick r:id="rId4" tooltip="A harness with Jev"/>
          </p:cNvPr>
          <p:cNvSpPr/>
          <p:nvPr/>
        </p:nvSpPr>
        <p:spPr>
          <a:xfrm>
            <a:off x="2131318" y="6140450"/>
            <a:ext cx="108922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context — outlined slide artwork" descr="Each node sees a different view of the cas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
        <p:nvSpPr>
          <p:cNvPr id="5" name="Source: Building with System One">
            <a:hlinkClick r:id="rId5" tooltip="Building with System One"/>
          </p:cNvPr>
          <p:cNvSpPr/>
          <p:nvPr/>
        </p:nvSpPr>
        <p:spPr>
          <a:xfrm>
            <a:off x="4251027"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mixed — outlined slide artwork" descr="State preserves work across a branch.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guided — outlined slide artwork" descr="Guided determinism gives uncertainty a pla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agentscript — outlined slide artwork" descr="Availability and required execution differ.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Script control plane">
            <a:hlinkClick r:id="rId3" tooltip="AgentScript control plane"/>
          </p:cNvPr>
          <p:cNvSpPr/>
          <p:nvPr/>
        </p:nvSpPr>
        <p:spPr>
          <a:xfrm>
            <a:off x="558800" y="6140450"/>
            <a:ext cx="1514078" cy="171450"/>
          </a:xfrm>
          <a:prstGeom prst="rect">
            <a:avLst/>
          </a:prstGeom>
          <a:solidFill>
            <a:srgbClr val="FFFFFF">
              <a:alpha val="0"/>
            </a:srgbClr>
          </a:solidFill>
          <a:ln w="12700">
            <a:solidFill>
              <a:srgbClr val="333333">
                <a:alpha val="0"/>
              </a:srgbClr>
            </a:solidFill>
            <a:prstDash val="solid"/>
          </a:ln>
        </p:spPr>
      </p:sp>
      <p:sp>
        <p:nvSpPr>
          <p:cNvPr id="4" name="Source: AgentScript specification">
            <a:hlinkClick r:id="rId4" tooltip="AgentScript specification"/>
          </p:cNvPr>
          <p:cNvSpPr/>
          <p:nvPr/>
        </p:nvSpPr>
        <p:spPr>
          <a:xfrm>
            <a:off x="2153345" y="6140450"/>
            <a:ext cx="150743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trace — outlined slide artwork" descr="A billing path preserves the outage task.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Reliable enterprise agents">
            <a:hlinkClick r:id="rId4" tooltip="Reliable enterprise agents"/>
          </p:cNvPr>
          <p:cNvSpPr/>
          <p:nvPr/>
        </p:nvSpPr>
        <p:spPr>
          <a:xfrm>
            <a:off x="2656483" y="6140450"/>
            <a:ext cx="154701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failures — outlined slide artwork" descr="Failure routes are part of the program.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0450"/>
            <a:ext cx="1547019" cy="171450"/>
          </a:xfrm>
          <a:prstGeom prst="rect">
            <a:avLst/>
          </a:prstGeom>
          <a:solidFill>
            <a:srgbClr val="FFFFFF">
              <a:alpha val="0"/>
            </a:srgbClr>
          </a:solidFill>
          <a:ln w="12700">
            <a:solidFill>
              <a:srgbClr val="333333">
                <a:alpha val="0"/>
              </a:srgbClr>
            </a:solidFill>
            <a:prstDash val="solid"/>
          </a:ln>
        </p:spPr>
      </p:sp>
      <p:sp>
        <p:nvSpPr>
          <p:cNvPr id="4" name="Source: AgentScript specification">
            <a:hlinkClick r:id="rId4" tooltip="AgentScript specification"/>
          </p:cNvPr>
          <p:cNvSpPr/>
          <p:nvPr/>
        </p:nvSpPr>
        <p:spPr>
          <a:xfrm>
            <a:off x="2186285" y="6140450"/>
            <a:ext cx="150743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confidence — outlined slide artwork" descr="Confidence needs evidence in your domai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nfidence routing">
            <a:hlinkClick r:id="rId3" tooltip="Confidence routing"/>
          </p:cNvPr>
          <p:cNvSpPr/>
          <p:nvPr/>
        </p:nvSpPr>
        <p:spPr>
          <a:xfrm>
            <a:off x="558800" y="6140450"/>
            <a:ext cx="1145381" cy="171450"/>
          </a:xfrm>
          <a:prstGeom prst="rect">
            <a:avLst/>
          </a:prstGeom>
          <a:solidFill>
            <a:srgbClr val="FFFFFF">
              <a:alpha val="0"/>
            </a:srgbClr>
          </a:solidFill>
          <a:ln w="12700">
            <a:solidFill>
              <a:srgbClr val="333333">
                <a:alpha val="0"/>
              </a:srgbClr>
            </a:solidFill>
            <a:prstDash val="solid"/>
          </a:ln>
        </p:spPr>
      </p:sp>
      <p:sp>
        <p:nvSpPr>
          <p:cNvPr id="4" name="Source: Confidence semantics">
            <a:hlinkClick r:id="rId4" tooltip="Confidence semantics"/>
          </p:cNvPr>
          <p:cNvSpPr/>
          <p:nvPr/>
        </p:nvSpPr>
        <p:spPr>
          <a:xfrm>
            <a:off x="1784648"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gate — outlined slide artwork" descr="A stricter gate moves work somewhe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nfidence routing">
            <a:hlinkClick r:id="rId3" tooltip="Confidence routing"/>
          </p:cNvPr>
          <p:cNvSpPr/>
          <p:nvPr/>
        </p:nvSpPr>
        <p:spPr>
          <a:xfrm>
            <a:off x="558800" y="6140450"/>
            <a:ext cx="1145381" cy="171450"/>
          </a:xfrm>
          <a:prstGeom prst="rect">
            <a:avLst/>
          </a:prstGeom>
          <a:solidFill>
            <a:srgbClr val="FFFFFF">
              <a:alpha val="0"/>
            </a:srgbClr>
          </a:solidFill>
          <a:ln w="12700">
            <a:solidFill>
              <a:srgbClr val="333333">
                <a:alpha val="0"/>
              </a:srgbClr>
            </a:solidFill>
            <a:prstDash val="solid"/>
          </a:ln>
        </p:spPr>
      </p:sp>
      <p:sp>
        <p:nvSpPr>
          <p:cNvPr id="4" name="Source: Confidence semantics">
            <a:hlinkClick r:id="rId4" tooltip="Confidence semantics"/>
          </p:cNvPr>
          <p:cNvSpPr/>
          <p:nvPr/>
        </p:nvSpPr>
        <p:spPr>
          <a:xfrm>
            <a:off x="1784648"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economics — outlined slide artwork" descr="Savings depend on avoiding expensive work.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mposable AI">
            <a:hlinkClick r:id="rId3" tooltip="Composable AI"/>
          </p:cNvPr>
          <p:cNvSpPr/>
          <p:nvPr/>
        </p:nvSpPr>
        <p:spPr>
          <a:xfrm>
            <a:off x="558800" y="6140450"/>
            <a:ext cx="882749" cy="171450"/>
          </a:xfrm>
          <a:prstGeom prst="rect">
            <a:avLst/>
          </a:prstGeom>
          <a:solidFill>
            <a:srgbClr val="FFFFFF">
              <a:alpha val="0"/>
            </a:srgbClr>
          </a:solidFill>
          <a:ln w="12700">
            <a:solidFill>
              <a:srgbClr val="333333">
                <a:alpha val="0"/>
              </a:srgbClr>
            </a:solidFill>
            <a:prstDash val="solid"/>
          </a:ln>
        </p:spPr>
      </p:sp>
      <p:sp>
        <p:nvSpPr>
          <p:cNvPr id="4" name="Source: Building with System One">
            <a:hlinkClick r:id="rId4" tooltip="Building with System One"/>
          </p:cNvPr>
          <p:cNvSpPr/>
          <p:nvPr/>
        </p:nvSpPr>
        <p:spPr>
          <a:xfrm>
            <a:off x="1522016"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latency — outlined slide artwork" descr="Fast inference helps the path that uses it.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exercise — outlined slide artwork" descr="Find the missing boundar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0450"/>
            <a:ext cx="1547019"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186285"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dataset — outlined slide artwork" descr="Begin the dataset at the decision boundar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training-partitions — outlined slide artwork" descr="Split examples before developing the decisio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training-release — outlined slide artwork" descr="Freeze the workflow before earning releas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splits — outlined slide artwork" descr="Choose the split that matches the claim.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as-a-Judge">
            <a:hlinkClick r:id="rId3" tooltip="Jev-as-a-Judge"/>
          </p:cNvPr>
          <p:cNvSpPr/>
          <p:nvPr/>
        </p:nvSpPr>
        <p:spPr>
          <a:xfrm>
            <a:off x="2252365" y="6140450"/>
            <a:ext cx="92432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acceptance — outlined slide artwork" descr="Lower cost must come with acceptable qualit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evaluation — outlined slide artwork" descr="Evaluate the decision, then the servi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diagnosis — outlined slide artwork" descr="Diagnose the boundary that failed.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in LangSmith Evals">
            <a:hlinkClick r:id="rId3" tooltip="Jev in LangSmith Evals"/>
          </p:cNvPr>
          <p:cNvSpPr/>
          <p:nvPr/>
        </p:nvSpPr>
        <p:spPr>
          <a:xfrm>
            <a:off x="558800" y="6140450"/>
            <a:ext cx="1317526" cy="171450"/>
          </a:xfrm>
          <a:prstGeom prst="rect">
            <a:avLst/>
          </a:prstGeom>
          <a:solidFill>
            <a:srgbClr val="FFFFFF">
              <a:alpha val="0"/>
            </a:srgbClr>
          </a:solidFill>
          <a:ln w="12700">
            <a:solidFill>
              <a:srgbClr val="333333">
                <a:alpha val="0"/>
              </a:srgbClr>
            </a:solidFill>
            <a:prstDash val="solid"/>
          </a:ln>
        </p:spPr>
      </p:sp>
      <p:sp>
        <p:nvSpPr>
          <p:cNvPr id="4" name="Source: Jev-as-a-Judge">
            <a:hlinkClick r:id="rId4" tooltip="Jev-as-a-Judge"/>
          </p:cNvPr>
          <p:cNvSpPr/>
          <p:nvPr/>
        </p:nvSpPr>
        <p:spPr>
          <a:xfrm>
            <a:off x="1956792" y="6140450"/>
            <a:ext cx="92432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close — outlined slide artwork" descr="Start with one decision that changes the path.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mposable AI">
            <a:hlinkClick r:id="rId3" tooltip="Composable AI"/>
          </p:cNvPr>
          <p:cNvSpPr/>
          <p:nvPr/>
        </p:nvSpPr>
        <p:spPr>
          <a:xfrm>
            <a:off x="558800" y="6140450"/>
            <a:ext cx="882749" cy="171450"/>
          </a:xfrm>
          <a:prstGeom prst="rect">
            <a:avLst/>
          </a:prstGeom>
          <a:solidFill>
            <a:srgbClr val="FFFFFF">
              <a:alpha val="0"/>
            </a:srgbClr>
          </a:solidFill>
          <a:ln w="12700">
            <a:solidFill>
              <a:srgbClr val="333333">
                <a:alpha val="0"/>
              </a:srgbClr>
            </a:solidFill>
            <a:prstDash val="solid"/>
          </a:ln>
        </p:spPr>
      </p:sp>
      <p:sp>
        <p:nvSpPr>
          <p:cNvPr id="4" name="Source: Agent Graph / guided determinism">
            <a:hlinkClick r:id="rId4" tooltip="Agent Graph / guided determinism"/>
          </p:cNvPr>
          <p:cNvSpPr/>
          <p:nvPr/>
        </p:nvSpPr>
        <p:spPr>
          <a:xfrm>
            <a:off x="1522016"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sources — outlined slide artwork" descr="Read the evidence behind the architectu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
            <a:hlinkClick r:id="rId3" tooltip="Agent Graph / guided determinism ↗"/>
          </p:cNvPr>
          <p:cNvSpPr/>
          <p:nvPr/>
        </p:nvSpPr>
        <p:spPr>
          <a:xfrm>
            <a:off x="787400" y="2471341"/>
            <a:ext cx="2712045" cy="222250"/>
          </a:xfrm>
          <a:prstGeom prst="rect">
            <a:avLst/>
          </a:prstGeom>
          <a:solidFill>
            <a:srgbClr val="FFFFFF">
              <a:alpha val="0"/>
            </a:srgbClr>
          </a:solidFill>
          <a:ln w="12700">
            <a:solidFill>
              <a:srgbClr val="333333">
                <a:alpha val="0"/>
              </a:srgbClr>
            </a:solidFill>
            <a:prstDash val="solid"/>
          </a:ln>
        </p:spPr>
      </p:sp>
      <p:sp>
        <p:nvSpPr>
          <p:cNvPr id="4" name="Source: Reliable enterprise agents ↗">
            <a:hlinkClick r:id="rId4" tooltip="Reliable enterprise agents ↗"/>
          </p:cNvPr>
          <p:cNvSpPr/>
          <p:nvPr/>
        </p:nvSpPr>
        <p:spPr>
          <a:xfrm>
            <a:off x="787400" y="2823766"/>
            <a:ext cx="2124273" cy="222250"/>
          </a:xfrm>
          <a:prstGeom prst="rect">
            <a:avLst/>
          </a:prstGeom>
          <a:solidFill>
            <a:srgbClr val="FFFFFF">
              <a:alpha val="0"/>
            </a:srgbClr>
          </a:solidFill>
          <a:ln w="12700">
            <a:solidFill>
              <a:srgbClr val="333333">
                <a:alpha val="0"/>
              </a:srgbClr>
            </a:solidFill>
            <a:prstDash val="solid"/>
          </a:ln>
        </p:spPr>
      </p:sp>
      <p:sp>
        <p:nvSpPr>
          <p:cNvPr id="5" name="Source: AgentScript control plane ↗">
            <a:hlinkClick r:id="rId5" tooltip="AgentScript control plane ↗"/>
          </p:cNvPr>
          <p:cNvSpPr/>
          <p:nvPr/>
        </p:nvSpPr>
        <p:spPr>
          <a:xfrm>
            <a:off x="787400" y="3176191"/>
            <a:ext cx="2083098" cy="222250"/>
          </a:xfrm>
          <a:prstGeom prst="rect">
            <a:avLst/>
          </a:prstGeom>
          <a:solidFill>
            <a:srgbClr val="FFFFFF">
              <a:alpha val="0"/>
            </a:srgbClr>
          </a:solidFill>
          <a:ln w="12700">
            <a:solidFill>
              <a:srgbClr val="333333">
                <a:alpha val="0"/>
              </a:srgbClr>
            </a:solidFill>
            <a:prstDash val="solid"/>
          </a:ln>
        </p:spPr>
      </p:sp>
      <p:sp>
        <p:nvSpPr>
          <p:cNvPr id="6" name="Source: AgentScript specification ↗">
            <a:hlinkClick r:id="rId6" tooltip="AgentScript specification ↗"/>
          </p:cNvPr>
          <p:cNvSpPr/>
          <p:nvPr/>
        </p:nvSpPr>
        <p:spPr>
          <a:xfrm>
            <a:off x="787400" y="3528616"/>
            <a:ext cx="2074763" cy="222250"/>
          </a:xfrm>
          <a:prstGeom prst="rect">
            <a:avLst/>
          </a:prstGeom>
          <a:solidFill>
            <a:srgbClr val="FFFFFF">
              <a:alpha val="0"/>
            </a:srgbClr>
          </a:solidFill>
          <a:ln w="12700">
            <a:solidFill>
              <a:srgbClr val="333333">
                <a:alpha val="0"/>
              </a:srgbClr>
            </a:solidFill>
            <a:prstDash val="solid"/>
          </a:ln>
        </p:spPr>
      </p:sp>
      <p:sp>
        <p:nvSpPr>
          <p:cNvPr id="7" name="Source: Jev + LangGraph ↗">
            <a:hlinkClick r:id="rId7" tooltip="Jev + LangGraph ↗"/>
          </p:cNvPr>
          <p:cNvSpPr/>
          <p:nvPr/>
        </p:nvSpPr>
        <p:spPr>
          <a:xfrm>
            <a:off x="4533900" y="2471341"/>
            <a:ext cx="1398587" cy="222250"/>
          </a:xfrm>
          <a:prstGeom prst="rect">
            <a:avLst/>
          </a:prstGeom>
          <a:solidFill>
            <a:srgbClr val="FFFFFF">
              <a:alpha val="0"/>
            </a:srgbClr>
          </a:solidFill>
          <a:ln w="12700">
            <a:solidFill>
              <a:srgbClr val="333333">
                <a:alpha val="0"/>
              </a:srgbClr>
            </a:solidFill>
            <a:prstDash val="solid"/>
          </a:ln>
        </p:spPr>
      </p:sp>
      <p:sp>
        <p:nvSpPr>
          <p:cNvPr id="8" name="Source: A harness with Jev ↗">
            <a:hlinkClick r:id="rId8" tooltip="A harness with Jev ↗"/>
          </p:cNvPr>
          <p:cNvSpPr/>
          <p:nvPr/>
        </p:nvSpPr>
        <p:spPr>
          <a:xfrm>
            <a:off x="4533900" y="2823766"/>
            <a:ext cx="1551980" cy="222250"/>
          </a:xfrm>
          <a:prstGeom prst="rect">
            <a:avLst/>
          </a:prstGeom>
          <a:solidFill>
            <a:srgbClr val="FFFFFF">
              <a:alpha val="0"/>
            </a:srgbClr>
          </a:solidFill>
          <a:ln w="12700">
            <a:solidFill>
              <a:srgbClr val="333333">
                <a:alpha val="0"/>
              </a:srgbClr>
            </a:solidFill>
            <a:prstDash val="solid"/>
          </a:ln>
        </p:spPr>
      </p:sp>
      <p:sp>
        <p:nvSpPr>
          <p:cNvPr id="9" name="Source: Jev in LangSmith Evals ↗">
            <a:hlinkClick r:id="rId9" tooltip="Jev in LangSmith Evals ↗"/>
          </p:cNvPr>
          <p:cNvSpPr/>
          <p:nvPr/>
        </p:nvSpPr>
        <p:spPr>
          <a:xfrm>
            <a:off x="4533900" y="3176191"/>
            <a:ext cx="1837432" cy="222250"/>
          </a:xfrm>
          <a:prstGeom prst="rect">
            <a:avLst/>
          </a:prstGeom>
          <a:solidFill>
            <a:srgbClr val="FFFFFF">
              <a:alpha val="0"/>
            </a:srgbClr>
          </a:solidFill>
          <a:ln w="12700">
            <a:solidFill>
              <a:srgbClr val="333333">
                <a:alpha val="0"/>
              </a:srgbClr>
            </a:solidFill>
            <a:prstDash val="solid"/>
          </a:ln>
        </p:spPr>
      </p:sp>
      <p:sp>
        <p:nvSpPr>
          <p:cNvPr id="10" name="Source: Jev-as-a-Judge ↗">
            <a:hlinkClick r:id="rId10" tooltip="Jev-as-a-Judge ↗"/>
          </p:cNvPr>
          <p:cNvSpPr/>
          <p:nvPr/>
        </p:nvSpPr>
        <p:spPr>
          <a:xfrm>
            <a:off x="4533900" y="3528616"/>
            <a:ext cx="1345902" cy="222250"/>
          </a:xfrm>
          <a:prstGeom prst="rect">
            <a:avLst/>
          </a:prstGeom>
          <a:solidFill>
            <a:srgbClr val="FFFFFF">
              <a:alpha val="0"/>
            </a:srgbClr>
          </a:solidFill>
          <a:ln w="12700">
            <a:solidFill>
              <a:srgbClr val="333333">
                <a:alpha val="0"/>
              </a:srgbClr>
            </a:solidFill>
            <a:prstDash val="solid"/>
          </a:ln>
        </p:spPr>
      </p:sp>
      <p:sp>
        <p:nvSpPr>
          <p:cNvPr id="11" name="Source: Runtime, framework, harness ↗">
            <a:hlinkClick r:id="rId11" tooltip="Runtime, framework, harness ↗"/>
          </p:cNvPr>
          <p:cNvSpPr/>
          <p:nvPr/>
        </p:nvSpPr>
        <p:spPr>
          <a:xfrm>
            <a:off x="4533900" y="3881041"/>
            <a:ext cx="2335808" cy="222250"/>
          </a:xfrm>
          <a:prstGeom prst="rect">
            <a:avLst/>
          </a:prstGeom>
          <a:solidFill>
            <a:srgbClr val="FFFFFF">
              <a:alpha val="0"/>
            </a:srgbClr>
          </a:solidFill>
          <a:ln w="12700">
            <a:solidFill>
              <a:srgbClr val="333333">
                <a:alpha val="0"/>
              </a:srgbClr>
            </a:solidFill>
            <a:prstDash val="solid"/>
          </a:ln>
        </p:spPr>
      </p:sp>
      <p:sp>
        <p:nvSpPr>
          <p:cNvPr id="12" name="Source: Composable AI ↗">
            <a:hlinkClick r:id="rId12" tooltip="Composable AI ↗"/>
          </p:cNvPr>
          <p:cNvSpPr/>
          <p:nvPr/>
        </p:nvSpPr>
        <p:spPr>
          <a:xfrm>
            <a:off x="8280400" y="2471341"/>
            <a:ext cx="1293912" cy="222250"/>
          </a:xfrm>
          <a:prstGeom prst="rect">
            <a:avLst/>
          </a:prstGeom>
          <a:solidFill>
            <a:srgbClr val="FFFFFF">
              <a:alpha val="0"/>
            </a:srgbClr>
          </a:solidFill>
          <a:ln w="12700">
            <a:solidFill>
              <a:srgbClr val="333333">
                <a:alpha val="0"/>
              </a:srgbClr>
            </a:solidFill>
            <a:prstDash val="solid"/>
          </a:ln>
        </p:spPr>
      </p:sp>
      <p:sp>
        <p:nvSpPr>
          <p:cNvPr id="13" name="Source: TypeSafe quickstart ↗">
            <a:hlinkClick r:id="rId13" tooltip="TypeSafe quickstart ↗"/>
          </p:cNvPr>
          <p:cNvSpPr/>
          <p:nvPr/>
        </p:nvSpPr>
        <p:spPr>
          <a:xfrm>
            <a:off x="8280400" y="2823766"/>
            <a:ext cx="1667966" cy="222250"/>
          </a:xfrm>
          <a:prstGeom prst="rect">
            <a:avLst/>
          </a:prstGeom>
          <a:solidFill>
            <a:srgbClr val="FFFFFF">
              <a:alpha val="0"/>
            </a:srgbClr>
          </a:solidFill>
          <a:ln w="12700">
            <a:solidFill>
              <a:srgbClr val="333333">
                <a:alpha val="0"/>
              </a:srgbClr>
            </a:solidFill>
            <a:prstDash val="solid"/>
          </a:ln>
        </p:spPr>
      </p:sp>
      <p:sp>
        <p:nvSpPr>
          <p:cNvPr id="14" name="Source: Confidence routing ↗">
            <a:hlinkClick r:id="rId14" tooltip="Confidence routing ↗"/>
          </p:cNvPr>
          <p:cNvSpPr/>
          <p:nvPr/>
        </p:nvSpPr>
        <p:spPr>
          <a:xfrm>
            <a:off x="8280400" y="3176191"/>
            <a:ext cx="1622227" cy="222250"/>
          </a:xfrm>
          <a:prstGeom prst="rect">
            <a:avLst/>
          </a:prstGeom>
          <a:solidFill>
            <a:srgbClr val="FFFFFF">
              <a:alpha val="0"/>
            </a:srgbClr>
          </a:solidFill>
          <a:ln w="12700">
            <a:solidFill>
              <a:srgbClr val="333333">
                <a:alpha val="0"/>
              </a:srgbClr>
            </a:solidFill>
            <a:prstDash val="solid"/>
          </a:ln>
        </p:spPr>
      </p:sp>
      <p:sp>
        <p:nvSpPr>
          <p:cNvPr id="15" name="Source: Intent routing ↗">
            <a:hlinkClick r:id="rId15" tooltip="Intent routing ↗"/>
          </p:cNvPr>
          <p:cNvSpPr/>
          <p:nvPr/>
        </p:nvSpPr>
        <p:spPr>
          <a:xfrm>
            <a:off x="8280400" y="3528616"/>
            <a:ext cx="1206202" cy="222250"/>
          </a:xfrm>
          <a:prstGeom prst="rect">
            <a:avLst/>
          </a:prstGeom>
          <a:solidFill>
            <a:srgbClr val="FFFFFF">
              <a:alpha val="0"/>
            </a:srgbClr>
          </a:solidFill>
          <a:ln w="12700">
            <a:solidFill>
              <a:srgbClr val="333333">
                <a:alpha val="0"/>
              </a:srgbClr>
            </a:solidFill>
            <a:prstDash val="solid"/>
          </a:ln>
        </p:spPr>
      </p:sp>
      <p:sp>
        <p:nvSpPr>
          <p:cNvPr id="16" name="Source: Structured decision criteria ↗">
            <a:hlinkClick r:id="rId16" tooltip="Structured decision criteria ↗"/>
          </p:cNvPr>
          <p:cNvSpPr/>
          <p:nvPr/>
        </p:nvSpPr>
        <p:spPr>
          <a:xfrm>
            <a:off x="8280400" y="3881041"/>
            <a:ext cx="2212479" cy="222250"/>
          </a:xfrm>
          <a:prstGeom prst="rect">
            <a:avLst/>
          </a:prstGeom>
          <a:solidFill>
            <a:srgbClr val="FFFFFF">
              <a:alpha val="0"/>
            </a:srgbClr>
          </a:solidFill>
          <a:ln w="12700">
            <a:solidFill>
              <a:srgbClr val="333333">
                <a:alpha val="0"/>
              </a:srgbClr>
            </a:solidFill>
            <a:prstDash val="solid"/>
          </a:ln>
        </p:spPr>
      </p:sp>
      <p:sp>
        <p:nvSpPr>
          <p:cNvPr id="17" name="Source: Building with System One ↗">
            <a:hlinkClick r:id="rId17" tooltip="Building with System One ↗"/>
          </p:cNvPr>
          <p:cNvSpPr/>
          <p:nvPr/>
        </p:nvSpPr>
        <p:spPr>
          <a:xfrm>
            <a:off x="8280400" y="4233466"/>
            <a:ext cx="2055515" cy="222250"/>
          </a:xfrm>
          <a:prstGeom prst="rect">
            <a:avLst/>
          </a:prstGeom>
          <a:solidFill>
            <a:srgbClr val="FFFFFF">
              <a:alpha val="0"/>
            </a:srgbClr>
          </a:solidFill>
          <a:ln w="12700">
            <a:solidFill>
              <a:srgbClr val="333333">
                <a:alpha val="0"/>
              </a:srgbClr>
            </a:solidFill>
            <a:prstDash val="solid"/>
          </a:ln>
        </p:spPr>
      </p:sp>
      <p:sp>
        <p:nvSpPr>
          <p:cNvPr id="18" name="Source: Guided determinism tutorial">
            <a:hlinkClick r:id="rId18" tooltip="Guided determinism tutorial"/>
          </p:cNvPr>
          <p:cNvSpPr/>
          <p:nvPr/>
        </p:nvSpPr>
        <p:spPr>
          <a:xfrm>
            <a:off x="558800" y="6140450"/>
            <a:ext cx="1647329" cy="171450"/>
          </a:xfrm>
          <a:prstGeom prst="rect">
            <a:avLst/>
          </a:prstGeom>
          <a:solidFill>
            <a:srgbClr val="FFFFFF">
              <a:alpha val="0"/>
            </a:srgbClr>
          </a:solidFill>
          <a:ln w="12700">
            <a:solidFill>
              <a:srgbClr val="333333">
                <a:alpha val="0"/>
              </a:srgbClr>
            </a:solidFill>
            <a:prstDash val="solid"/>
          </a:ln>
        </p:spPr>
      </p:sp>
      <p:sp>
        <p:nvSpPr>
          <p:cNvPr id="19" name="Source: Confidence semantics">
            <a:hlinkClick r:id="rId19" tooltip="Confidence semantics"/>
          </p:cNvPr>
          <p:cNvSpPr/>
          <p:nvPr/>
        </p:nvSpPr>
        <p:spPr>
          <a:xfrm>
            <a:off x="2286595"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Salesforce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Disaggregated intelligence — koa-action, Agent Graph &amp; AgentScript · v2</dc:title>
  <dc:subject>Disaggregated intelligence for enterprise agentic reasoning</dc:subject>
  <dc:creator>Salesforce · tutorial</dc:creator>
  <cp:lastModifiedBy>Salesforce · tutorial</cp:lastModifiedBy>
  <cp:revision>1</cp:revision>
  <dcterms:created xsi:type="dcterms:W3CDTF">2026-09-29T05:45:41Z</dcterms:created>
  <dcterms:modified xsi:type="dcterms:W3CDTF">2026-09-29T05:45:41Z</dcterms:modified>
</cp:coreProperties>
</file>